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[1회차] 전략적 재고운영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6699"/>
                </a:solidFill>
              </a:defRPr>
            </a:pPr>
            <a:r>
              <a:t>Kraljic Matrix와 자재계획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난이도: 중급 | 소요시간: 45분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🎯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840480" cy="1645920"/>
          </a:xfrm>
          <a:prstGeom prst="rect">
            <a:avLst/>
          </a:prstGeom>
          <a:solidFill>
            <a:srgbClr val="E6F0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/>
            </a:pPr>
            <a:r>
              <a:t>JIT에서 JIC로의</a:t>
            </a:r>
          </a:p>
          <a:p>
            <a:r>
              <a:t>패러다임 전환 이해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828800"/>
            <a:ext cx="3840480" cy="1645920"/>
          </a:xfrm>
          <a:prstGeom prst="rect">
            <a:avLst/>
          </a:prstGeom>
          <a:solidFill>
            <a:srgbClr val="F0FFF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/>
            </a:pPr>
            <a:r>
              <a:t>전략적 재고운영의</a:t>
            </a:r>
          </a:p>
          <a:p>
            <a:r>
              <a:t>핵심 개념 습득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3840480" cy="1645920"/>
          </a:xfrm>
          <a:prstGeom prst="rect">
            <a:avLst/>
          </a:prstGeom>
          <a:solidFill>
            <a:srgbClr val="FFF5E6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/>
            </a:pPr>
            <a:r>
              <a:t>Kraljic Matrix를 활용한</a:t>
            </a:r>
          </a:p>
          <a:p>
            <a:r>
              <a:t>자재 포트폴리오 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840480"/>
            <a:ext cx="3840480" cy="1645920"/>
          </a:xfrm>
          <a:prstGeom prst="rect">
            <a:avLst/>
          </a:prstGeom>
          <a:solidFill>
            <a:srgbClr val="FAF0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/>
            </a:pPr>
            <a:r>
              <a:t>자재군별 관리 철학과</a:t>
            </a:r>
          </a:p>
          <a:p>
            <a:r>
              <a:t>계획 방법론 이해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📋 1회차 구성 (MECE)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패러다임의 전환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JIT → JIC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Kraljic Matrix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프레임워크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4대 자재군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특성 및 관리 철학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6400800" cy="73152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자재계획 방법론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전체 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5. 통합 KPI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프레임워크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패러다임의 전환: JIT vs JIC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JIT (과거)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371600"/>
            <a:ext cx="3840480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JIC (현재/미래)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3840480" cy="548640"/>
          </a:xfrm>
          <a:prstGeom prst="rect">
            <a:avLst/>
          </a:prstGeom>
          <a:solidFill>
            <a:srgbClr val="FFEBEB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재고 = 낭비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2103120"/>
            <a:ext cx="3840480" cy="548640"/>
          </a:xfrm>
          <a:prstGeom prst="rect">
            <a:avLst/>
          </a:prstGeom>
          <a:solidFill>
            <a:srgbClr val="EBFF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재고 = 전략적 자산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88920"/>
            <a:ext cx="3840480" cy="548640"/>
          </a:xfrm>
          <a:prstGeom prst="rect">
            <a:avLst/>
          </a:prstGeom>
          <a:solidFill>
            <a:srgbClr val="FFEBEB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재고 최소화 (Zero)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788920"/>
            <a:ext cx="3840480" cy="548640"/>
          </a:xfrm>
          <a:prstGeom prst="rect">
            <a:avLst/>
          </a:prstGeom>
          <a:solidFill>
            <a:srgbClr val="EBFF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최적 재고 (Optimal)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840480" cy="548640"/>
          </a:xfrm>
          <a:prstGeom prst="rect">
            <a:avLst/>
          </a:prstGeom>
          <a:solidFill>
            <a:srgbClr val="FFEBEB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효율성 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474720"/>
            <a:ext cx="3840480" cy="548640"/>
          </a:xfrm>
          <a:prstGeom prst="rect">
            <a:avLst/>
          </a:prstGeom>
          <a:solidFill>
            <a:srgbClr val="EBFF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회복력 우선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3840480" cy="548640"/>
          </a:xfrm>
          <a:prstGeom prst="rect">
            <a:avLst/>
          </a:prstGeom>
          <a:solidFill>
            <a:srgbClr val="FFEBEB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리스크 무시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4160520"/>
            <a:ext cx="3840480" cy="548640"/>
          </a:xfrm>
          <a:prstGeom prst="rect">
            <a:avLst/>
          </a:prstGeom>
          <a:solidFill>
            <a:srgbClr val="EBFF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리스크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3840480" cy="548640"/>
          </a:xfrm>
          <a:prstGeom prst="rect">
            <a:avLst/>
          </a:prstGeom>
          <a:solidFill>
            <a:srgbClr val="FFEBEB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글로벌 최적화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846320"/>
            <a:ext cx="3840480" cy="548640"/>
          </a:xfrm>
          <a:prstGeom prst="rect">
            <a:avLst/>
          </a:prstGeom>
          <a:solidFill>
            <a:srgbClr val="EBFF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지역 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32120"/>
            <a:ext cx="3840480" cy="548640"/>
          </a:xfrm>
          <a:prstGeom prst="rect">
            <a:avLst/>
          </a:prstGeom>
          <a:solidFill>
            <a:srgbClr val="FFEBEB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안전재고 1-2주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5532120"/>
            <a:ext cx="3840480" cy="548640"/>
          </a:xfrm>
          <a:prstGeom prst="rect">
            <a:avLst/>
          </a:prstGeom>
          <a:solidFill>
            <a:srgbClr val="EBFF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lvl="1">
              <a:defRPr sz="1300"/>
            </a:pPr>
            <a:r>
              <a:t>안전재고 차별화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Kraljic Matrix: 2×2 자재 포트폴리오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286000"/>
            <a:ext cx="2194560" cy="2194560"/>
          </a:xfrm>
          <a:prstGeom prst="rect">
            <a:avLst/>
          </a:prstGeom>
          <a:solidFill>
            <a:srgbClr val="FFC8C8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🔴 병목자재</a:t>
            </a:r>
          </a:p>
          <a:p>
            <a:pPr algn="ctr">
              <a:defRPr sz="1200"/>
            </a:pPr>
            <a:r>
              <a:t>높은 리스크</a:t>
            </a:r>
            <a:br/>
            <a:r>
              <a:t>낮은 금액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286000"/>
            <a:ext cx="2194560" cy="2194560"/>
          </a:xfrm>
          <a:prstGeom prst="rect">
            <a:avLst/>
          </a:prstGeom>
          <a:solidFill>
            <a:srgbClr val="E6C8FF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🟣 전략자재</a:t>
            </a:r>
          </a:p>
          <a:p>
            <a:pPr algn="ctr">
              <a:defRPr sz="1200"/>
            </a:pPr>
            <a:r>
              <a:t>높은 리스크</a:t>
            </a:r>
            <a:br/>
            <a:r>
              <a:t>높은 금액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572000"/>
            <a:ext cx="2194560" cy="2194560"/>
          </a:xfrm>
          <a:prstGeom prst="rect">
            <a:avLst/>
          </a:prstGeom>
          <a:solidFill>
            <a:srgbClr val="F0F0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⚪ 일상자재</a:t>
            </a:r>
          </a:p>
          <a:p>
            <a:pPr algn="ctr">
              <a:defRPr sz="1200"/>
            </a:pPr>
            <a:r>
              <a:t>낮은 리스크</a:t>
            </a:r>
            <a:br/>
            <a:r>
              <a:t>낮은 금액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572000"/>
            <a:ext cx="2194560" cy="2194560"/>
          </a:xfrm>
          <a:prstGeom prst="rect">
            <a:avLst/>
          </a:prstGeom>
          <a:solidFill>
            <a:srgbClr val="C8FFC8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🟢 레버리지자재</a:t>
            </a:r>
          </a:p>
          <a:p>
            <a:pPr algn="ctr">
              <a:defRPr sz="1200"/>
            </a:pPr>
            <a:r>
              <a:t>낮은 리스크</a:t>
            </a:r>
            <a:br/>
            <a:r>
              <a:t>높은 금액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37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구매</a:t>
            </a:r>
            <a:br/>
            <a:r>
              <a:t>금액</a:t>
            </a:r>
            <a:br/>
            <a: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공급 리스크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4대 자재군: 차별화된 관리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3931920" cy="2011680"/>
          </a:xfrm>
          <a:prstGeom prst="rect">
            <a:avLst/>
          </a:prstGeom>
          <a:solidFill>
            <a:srgbClr val="FFC8C8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82880"/>
          <a:lstStyle/>
          <a:p>
            <a:pPr algn="ctr">
              <a:defRPr sz="1800" b="1"/>
            </a:pPr>
            <a:r>
              <a:t>🔴 병목자재</a:t>
            </a:r>
          </a:p>
          <a:p>
            <a:br/>
            <a:pPr algn="ctr">
              <a:defRPr sz="1400"/>
            </a:pPr>
            <a:r>
              <a:t>목표: 공급 확보</a:t>
            </a:r>
          </a:p>
          <a:p>
            <a:br/>
            <a:pPr algn="ctr">
              <a:defRPr sz="1200"/>
            </a:pPr>
            <a:r>
              <a:t>전략: ROP</a:t>
            </a:r>
            <a:br/>
            <a:r>
              <a:t>높은 안전재고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931920" cy="2011680"/>
          </a:xfrm>
          <a:prstGeom prst="rect">
            <a:avLst/>
          </a:prstGeom>
          <a:solidFill>
            <a:srgbClr val="C8FFC8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82880"/>
          <a:lstStyle/>
          <a:p>
            <a:pPr algn="ctr">
              <a:defRPr sz="1800" b="1"/>
            </a:pPr>
            <a:r>
              <a:t>🟢 레버리지자재</a:t>
            </a:r>
          </a:p>
          <a:p>
            <a:br/>
            <a:pPr algn="ctr">
              <a:defRPr sz="1400"/>
            </a:pPr>
            <a:r>
              <a:t>목표: 원가 절감</a:t>
            </a:r>
          </a:p>
          <a:p>
            <a:br/>
            <a:pPr algn="ctr">
              <a:defRPr sz="1200"/>
            </a:pPr>
            <a:r>
              <a:t>전략: MRP</a:t>
            </a:r>
            <a:br/>
            <a:r>
              <a:t>경쟁 입찰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0"/>
            <a:ext cx="3931920" cy="2011680"/>
          </a:xfrm>
          <a:prstGeom prst="rect">
            <a:avLst/>
          </a:prstGeom>
          <a:solidFill>
            <a:srgbClr val="E6C8FF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82880"/>
          <a:lstStyle/>
          <a:p>
            <a:pPr algn="ctr">
              <a:defRPr sz="1800" b="1"/>
            </a:pPr>
            <a:r>
              <a:t>🟣 전략자재</a:t>
            </a:r>
          </a:p>
          <a:p>
            <a:br/>
            <a:pPr algn="ctr">
              <a:defRPr sz="1400"/>
            </a:pPr>
            <a:r>
              <a:t>목표: 파트너십</a:t>
            </a:r>
          </a:p>
          <a:p>
            <a:br/>
            <a:pPr algn="ctr">
              <a:defRPr sz="1200"/>
            </a:pPr>
            <a:r>
              <a:t>전략: 하이브리드</a:t>
            </a:r>
            <a:br/>
            <a:r>
              <a:t>장기 계약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3931920" cy="2011680"/>
          </a:xfrm>
          <a:prstGeom prst="rect">
            <a:avLst/>
          </a:prstGeom>
          <a:solidFill>
            <a:srgbClr val="F0F0F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 lIns="182880"/>
          <a:lstStyle/>
          <a:p>
            <a:pPr algn="ctr">
              <a:defRPr sz="1800" b="1"/>
            </a:pPr>
            <a:r>
              <a:t>⚪ 일상자재</a:t>
            </a:r>
          </a:p>
          <a:p>
            <a:br/>
            <a:pPr algn="ctr">
              <a:defRPr sz="1400"/>
            </a:pPr>
            <a:r>
              <a:t>목표: 효율화</a:t>
            </a:r>
          </a:p>
          <a:p>
            <a:br/>
            <a:pPr algn="ctr">
              <a:defRPr sz="1200"/>
            </a:pPr>
            <a:r>
              <a:t>전략: 자동화</a:t>
            </a:r>
            <a:br/>
            <a:r>
              <a:t>VMI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
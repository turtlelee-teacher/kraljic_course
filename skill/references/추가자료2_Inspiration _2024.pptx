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xlsm" ContentType="application/vnd.ms-excel.sheet.macroEnabled.12"/>
  <Default Extension="bin" ContentType="application/vnd.openxmlformats-officedocument.oleObject"/>
  <Default Extension="emf" ContentType="image/x-emf"/>
  <Default Extension="png" ContentType="image/png"/>
  <Default Extension="wmf" ContentType="image/x-wmf"/>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
<p:presentation xmlns:r="http://schemas.openxmlformats.org/officeDocument/2006/relationships" xmlns:a="http://schemas.openxmlformats.org/drawingml/2006/main" xmlns:p="http://schemas.openxmlformats.org/presentationml/2006/main" removePersonalInfoOnSave="1" compatMode="1" saveSubsetFonts="1">
  <p:sldMasterIdLst>
    <p:sldMasterId id="2147483648" r:id="rId1"/>
  </p:sldMasterIdLst>
  <p:notesMasterIdLst>
    <p:notesMasterId r:id="rId2"/>
  </p:notesMasterIdLst>
  <p:handoutMasterIdLst>
    <p:handoutMasterId r:id="rId3"/>
  </p:handoutMasterIdLst>
  <p:sldIdLst>
    <p:sldId id="887" r:id="rId4"/>
    <p:sldId id="888" r:id="rId5"/>
    <p:sldId id="948" r:id="rId6"/>
    <p:sldId id="883" r:id="rId7"/>
    <p:sldId id="884" r:id="rId8"/>
    <p:sldId id="885" r:id="rId9"/>
    <p:sldId id="889" r:id="rId10"/>
    <p:sldId id="890" r:id="rId11"/>
    <p:sldId id="891" r:id="rId12"/>
    <p:sldId id="892" r:id="rId13"/>
    <p:sldId id="893" r:id="rId14"/>
    <p:sldId id="894" r:id="rId15"/>
    <p:sldId id="896" r:id="rId16"/>
    <p:sldId id="897" r:id="rId17"/>
    <p:sldId id="898" r:id="rId18"/>
    <p:sldId id="902" r:id="rId19"/>
    <p:sldId id="903" r:id="rId20"/>
    <p:sldId id="905" r:id="rId21"/>
    <p:sldId id="906" r:id="rId22"/>
    <p:sldId id="907" r:id="rId23"/>
    <p:sldId id="909" r:id="rId24"/>
    <p:sldId id="911" r:id="rId25"/>
    <p:sldId id="912" r:id="rId26"/>
    <p:sldId id="913" r:id="rId27"/>
    <p:sldId id="914" r:id="rId28"/>
    <p:sldId id="915" r:id="rId29"/>
    <p:sldId id="917" r:id="rId30"/>
    <p:sldId id="918" r:id="rId31"/>
    <p:sldId id="919" r:id="rId32"/>
    <p:sldId id="920" r:id="rId33"/>
    <p:sldId id="923" r:id="rId34"/>
    <p:sldId id="925" r:id="rId35"/>
    <p:sldId id="926" r:id="rId36"/>
    <p:sldId id="929" r:id="rId37"/>
    <p:sldId id="930" r:id="rId38"/>
    <p:sldId id="931" r:id="rId39"/>
    <p:sldId id="935" r:id="rId40"/>
    <p:sldId id="936" r:id="rId41"/>
    <p:sldId id="945" r:id="rId42"/>
    <p:sldId id="949" r:id="rId43"/>
  </p:sldIdLst>
  <p:sldSz cx="9906000" cy="6858000" type="A4"/>
  <p:notesSz cx="7315200" cy="9601200"/>
  <p:custDataLst>
    <p:tags r:id="rId44"/>
  </p:custDataLst>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가는각진제목체" panose="02030600000101010101" pitchFamily="18" charset="-127"/>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가는각진제목체" panose="02030600000101010101" pitchFamily="18" charset="-127"/>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가는각진제목체" panose="02030600000101010101" pitchFamily="18" charset="-127"/>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가는각진제목체" panose="02030600000101010101" pitchFamily="18" charset="-127"/>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가는각진제목체" panose="02030600000101010101" pitchFamily="18" charset="-127"/>
        <a:cs typeface="+mn-cs"/>
      </a:defRPr>
    </a:lvl5pPr>
    <a:lvl6pPr marL="2286000" algn="l" defTabSz="914400" rtl="0" eaLnBrk="1" latinLnBrk="1" hangingPunct="1">
      <a:defRPr sz="1400" b="1" kern="1200">
        <a:solidFill>
          <a:schemeClr val="tx1"/>
        </a:solidFill>
        <a:latin typeface="Arial" panose="020b0604020202020204" pitchFamily="34" charset="0"/>
        <a:ea typeface="가는각진제목체" panose="02030600000101010101" pitchFamily="18" charset="-127"/>
        <a:cs typeface="+mn-cs"/>
      </a:defRPr>
    </a:lvl6pPr>
    <a:lvl7pPr marL="2743200" algn="l" defTabSz="914400" rtl="0" eaLnBrk="1" latinLnBrk="1" hangingPunct="1">
      <a:defRPr sz="1400" b="1" kern="1200">
        <a:solidFill>
          <a:schemeClr val="tx1"/>
        </a:solidFill>
        <a:latin typeface="Arial" panose="020b0604020202020204" pitchFamily="34" charset="0"/>
        <a:ea typeface="가는각진제목체" panose="02030600000101010101" pitchFamily="18" charset="-127"/>
        <a:cs typeface="+mn-cs"/>
      </a:defRPr>
    </a:lvl7pPr>
    <a:lvl8pPr marL="3200400" algn="l" defTabSz="914400" rtl="0" eaLnBrk="1" latinLnBrk="1" hangingPunct="1">
      <a:defRPr sz="1400" b="1" kern="1200">
        <a:solidFill>
          <a:schemeClr val="tx1"/>
        </a:solidFill>
        <a:latin typeface="Arial" panose="020b0604020202020204" pitchFamily="34" charset="0"/>
        <a:ea typeface="가는각진제목체" panose="02030600000101010101" pitchFamily="18" charset="-127"/>
        <a:cs typeface="+mn-cs"/>
      </a:defRPr>
    </a:lvl8pPr>
    <a:lvl9pPr marL="3657600" algn="l" defTabSz="914400" rtl="0" eaLnBrk="1" latinLnBrk="1" hangingPunct="1">
      <a:defRPr sz="1400" b="1" kern="1200">
        <a:solidFill>
          <a:schemeClr val="tx1"/>
        </a:solidFill>
        <a:latin typeface="Arial" panose="020b0604020202020204" pitchFamily="34" charset="0"/>
        <a:ea typeface="가는각진제목체" panose="02030600000101010101" pitchFamily="18" charset="-127"/>
        <a:cs typeface="+mn-cs"/>
      </a:defRPr>
    </a:lvl9pPr>
  </p:defaultTextStyle>
  <p:extLst>
    <p:ext uri="{EFAFB233-063F-42B5-8137-9DF3F51BA10A}">
      <p15:sldGuideLst xmlns:p15="http://schemas.microsoft.com/office/powerpoint/2012/main">
        <p15:guide id="1" orient="horz" pos="970">
          <p15:clr>
            <a:srgbClr val="A4A3A4"/>
          </p15:clr>
        </p15:guide>
        <p15:guide id="2" pos="153">
          <p15:clr>
            <a:srgbClr val="A4A3A4"/>
          </p15:clr>
        </p15:guide>
        <p15:guide id="3" pos="6084">
          <p15:clr>
            <a:srgbClr val="A4A3A4"/>
          </p15:clr>
        </p15:guide>
        <p15:guide id="4" pos="3128">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92" autoAdjust="0"/>
    <p:restoredTop sz="94595" autoAdjust="0"/>
  </p:normalViewPr>
  <p:slideViewPr>
    <p:cSldViewPr snapToGrid="0">
      <p:cViewPr>
        <p:scale>
          <a:sx n="129" d="100"/>
          <a:sy n="129" d="100"/>
        </p:scale>
        <p:origin x="496" y="144"/>
      </p:cViewPr>
      <p:guideLst>
        <p:guide orient="horz" pos="970"/>
        <p:guide pos="153"/>
        <p:guide pos="6084"/>
        <p:guide pos="3128"/>
      </p:guideLst>
    </p:cSldViewPr>
  </p:slideViewPr>
  <p:notesTextViewPr>
    <p:cViewPr>
      <p:scale>
        <a:sx n="100" d="100"/>
        <a:sy n="100" d="100"/>
      </p:scale>
      <p:origin x="0" y="0"/>
    </p:cViewPr>
  </p:notesTextViewPr>
  <p:sorterViewPr>
    <p:cViewPr>
      <p:scale>
        <a:sx n="33" d="100"/>
        <a:sy n="33"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slide" Target="slides/slide36.xml" /><Relationship Id="rId4" Type="http://schemas.openxmlformats.org/officeDocument/2006/relationships/slide" Target="slides/slide1.xml" /><Relationship Id="rId40" Type="http://schemas.openxmlformats.org/officeDocument/2006/relationships/slide" Target="slides/slide37.xml" /><Relationship Id="rId41" Type="http://schemas.openxmlformats.org/officeDocument/2006/relationships/slide" Target="slides/slide38.xml" /><Relationship Id="rId42" Type="http://schemas.openxmlformats.org/officeDocument/2006/relationships/slide" Target="slides/slide39.xml" /><Relationship Id="rId43" Type="http://schemas.openxmlformats.org/officeDocument/2006/relationships/slide" Target="slides/slide40.xml" /><Relationship Id="rId44" Type="http://schemas.openxmlformats.org/officeDocument/2006/relationships/tags" Target="tags/tag5.xml" /><Relationship Id="rId45" Type="http://schemas.openxmlformats.org/officeDocument/2006/relationships/presProps" Target="presProps.xml" /><Relationship Id="rId46" Type="http://schemas.openxmlformats.org/officeDocument/2006/relationships/viewProps" Target="viewProps.xml" /><Relationship Id="rId47" Type="http://schemas.openxmlformats.org/officeDocument/2006/relationships/theme" Target="theme/theme1.xml" /><Relationship Id="rId48" Type="http://schemas.openxmlformats.org/officeDocument/2006/relationships/tableStyles" Target="tableStyles.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8.xlsm"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18.xlsm"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19.xlsm"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2727273404598236"/>
          <c:y val="0.0486486479640007"/>
          <c:w val="0.9595959782600403"/>
          <c:h val="0.7513513565063477"/>
        </c:manualLayout>
      </c:layout>
      <c:barChart>
        <c:barDir val="col"/>
        <c:grouping val="stacked"/>
        <c:varyColors val="0"/>
        <c:ser>
          <c:idx val="1"/>
          <c:order val="0"/>
          <c:tx>
            <c:strRef>
              <c:f>Sheet1!$A$2</c:f>
              <c:strCache>
                <c:ptCount val="1"/>
                <c:pt idx="0">
                  <c:v>Software</c:v>
                </c:pt>
              </c:strCache>
            </c:strRef>
          </c:tx>
          <c:spPr>
            <a:solidFill>
              <a:srgbClr val="B9B9B9"/>
            </a:solidFill>
            <a:ln w="12610">
              <a:solidFill>
                <a:srgbClr val="000000"/>
              </a:solidFill>
              <a:prstDash val="solid"/>
            </a:ln>
          </c:spPr>
          <c:invertIfNegative val="0"/>
          <c:dLbls>
            <c:dLbl>
              <c:idx val="0"/>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1"/>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2"/>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3"/>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DBB-884B-94BE-B85397D8759F}"/>
                </c:ext>
              </c:extLst>
            </c:dLbl>
            <c:spPr>
              <a:noFill/>
              <a:ln w="25220">
                <a:noFill/>
              </a:ln>
            </c:spPr>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showLeaderLines val="0"/>
            <c:extLst/>
          </c:dLbls>
          <c:cat>
            <c:numRef>
              <c:f>Sheet1!$B$1:$E$1</c:f>
              <c:numCache>
                <c:formatCode>General</c:formatCode>
                <c:ptCount val="4"/>
                <c:pt idx="0">
                  <c:v>2007</c:v>
                </c:pt>
                <c:pt idx="1">
                  <c:v>2008</c:v>
                </c:pt>
                <c:pt idx="2">
                  <c:v>2009</c:v>
                </c:pt>
                <c:pt idx="3">
                  <c:v>2010</c:v>
                </c:pt>
              </c:numCache>
            </c:numRef>
          </c:cat>
          <c:val>
            <c:numRef>
              <c:f>Sheet1!$B$2:$E$2</c:f>
              <c:numCache>
                <c:formatCode>General</c:formatCode>
                <c:ptCount val="4"/>
                <c:pt idx="0">
                  <c:v>0.3</c:v>
                </c:pt>
                <c:pt idx="1">
                  <c:v>1.2</c:v>
                </c:pt>
                <c:pt idx="2">
                  <c:v>1</c:v>
                </c:pt>
                <c:pt idx="3">
                  <c:v>0</c:v>
                </c:pt>
              </c:numCache>
            </c:numRef>
          </c:val>
          <c:extLst>
            <c:ext xmlns:c16="http://schemas.microsoft.com/office/drawing/2014/chart" uri="{C3380CC4-5D6E-409C-BE32-E72D297353CC}">
              <c16:uniqueId val="{00000001-BDBB-884B-94BE-B85397D8759F}"/>
            </c:ext>
          </c:extLst>
        </c:ser>
        <c:ser>
          <c:idx val="2"/>
          <c:order val="1"/>
          <c:tx>
            <c:strRef>
              <c:f>Sheet1!$A$3</c:f>
              <c:strCache>
                <c:ptCount val="1"/>
                <c:pt idx="0">
                  <c:v>Services</c:v>
                </c:pt>
              </c:strCache>
            </c:strRef>
          </c:tx>
          <c:spPr>
            <a:solidFill>
              <a:srgbClr val="DCDCDC"/>
            </a:solidFill>
            <a:ln w="12610">
              <a:solidFill>
                <a:srgbClr val="000000"/>
              </a:solidFill>
              <a:prstDash val="solid"/>
            </a:ln>
          </c:spPr>
          <c:invertIfNegative val="0"/>
          <c:dLbls>
            <c:dLbl>
              <c:idx val="0"/>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1"/>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2"/>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3"/>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DBB-884B-94BE-B85397D8759F}"/>
                </c:ext>
              </c:extLst>
            </c:dLbl>
            <c:spPr>
              <a:noFill/>
              <a:ln w="25220">
                <a:noFill/>
              </a:ln>
            </c:spPr>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showLeaderLines val="0"/>
            <c:extLst/>
          </c:dLbls>
          <c:cat>
            <c:numRef>
              <c:f>Sheet1!$B$1:$E$1</c:f>
              <c:numCache>
                <c:formatCode>General</c:formatCode>
                <c:ptCount val="4"/>
                <c:pt idx="0">
                  <c:v>2007</c:v>
                </c:pt>
                <c:pt idx="1">
                  <c:v>2008</c:v>
                </c:pt>
                <c:pt idx="2">
                  <c:v>2009</c:v>
                </c:pt>
                <c:pt idx="3">
                  <c:v>2010</c:v>
                </c:pt>
              </c:numCache>
            </c:numRef>
          </c:cat>
          <c:val>
            <c:numRef>
              <c:f>Sheet1!$B$3:$E$3</c:f>
              <c:numCache>
                <c:formatCode>0.0</c:formatCode>
                <c:ptCount val="4"/>
                <c:pt idx="0">
                  <c:v>1.4</c:v>
                </c:pt>
                <c:pt idx="1">
                  <c:v>2.4</c:v>
                </c:pt>
                <c:pt idx="2" formatCode="General">
                  <c:v>0.8</c:v>
                </c:pt>
                <c:pt idx="3" formatCode="General">
                  <c:v>0</c:v>
                </c:pt>
              </c:numCache>
            </c:numRef>
          </c:val>
          <c:extLst>
            <c:ext xmlns:c16="http://schemas.microsoft.com/office/drawing/2014/chart" uri="{C3380CC4-5D6E-409C-BE32-E72D297353CC}">
              <c16:uniqueId val="{00000003-BDBB-884B-94BE-B85397D8759F}"/>
            </c:ext>
          </c:extLst>
        </c:ser>
        <c:ser>
          <c:idx val="3"/>
          <c:order val="2"/>
          <c:tx>
            <c:strRef>
              <c:f>Sheet1!$A$4</c:f>
              <c:strCache>
                <c:ptCount val="1"/>
                <c:pt idx="0">
                  <c:v>Hardware</c:v>
                </c:pt>
              </c:strCache>
            </c:strRef>
          </c:tx>
          <c:spPr>
            <a:solidFill>
              <a:srgbClr val="FFFFFF"/>
            </a:solidFill>
            <a:ln w="12610">
              <a:solidFill>
                <a:srgbClr val="000000"/>
              </a:solidFill>
              <a:prstDash val="solid"/>
            </a:ln>
          </c:spPr>
          <c:invertIfNegative val="0"/>
          <c:dLbls>
            <c:dLbl>
              <c:idx val="0"/>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extLst/>
            </c:dLbl>
            <c:dLbl>
              <c:idx val="1"/>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DBB-884B-94BE-B85397D8759F}"/>
                </c:ext>
              </c:extLst>
            </c:dLbl>
            <c:dLbl>
              <c:idx val="2"/>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DBB-884B-94BE-B85397D8759F}"/>
                </c:ext>
              </c:extLst>
            </c:dLbl>
            <c:dLbl>
              <c:idx val="3"/>
              <c:numFmt formatCode="" sourceLinked="1"/>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DBB-884B-94BE-B85397D8759F}"/>
                </c:ext>
              </c:extLst>
            </c:dLbl>
            <c:spPr>
              <a:noFill/>
              <a:ln w="25220">
                <a:noFill/>
              </a:ln>
            </c:spPr>
            <c:txPr>
              <a:bodyPr wrap="square" lIns="38100" tIns="19050" rIns="38100" bIns="19050" anchor="ctr">
                <a:spAutoFit/>
              </a:bodyPr>
              <a:p>
                <a:pPr>
                  <a:defRPr sz="993" b="0" i="0" u="none" strike="noStrike" baseline="0" smtId="4294967295">
                    <a:solidFill>
                      <a:srgbClr val="000000"/>
                    </a:solidFill>
                    <a:latin typeface="Arial"/>
                    <a:ea typeface="Arial"/>
                    <a:cs typeface="Arial"/>
                  </a:defRPr>
                </a:pPr>
                <a:endParaRPr sz="993" b="0"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showLeaderLines val="0"/>
            <c:extLst/>
          </c:dLbls>
          <c:cat>
            <c:numRef>
              <c:f>Sheet1!$B$1:$E$1</c:f>
              <c:numCache>
                <c:formatCode>General</c:formatCode>
                <c:ptCount val="4"/>
                <c:pt idx="0">
                  <c:v>2007</c:v>
                </c:pt>
                <c:pt idx="1">
                  <c:v>2008</c:v>
                </c:pt>
                <c:pt idx="2">
                  <c:v>2009</c:v>
                </c:pt>
                <c:pt idx="3">
                  <c:v>2010</c:v>
                </c:pt>
              </c:numCache>
            </c:numRef>
          </c:cat>
          <c:val>
            <c:numRef>
              <c:f>Sheet1!$B$4:$E$4</c:f>
              <c:numCache>
                <c:formatCode>General</c:formatCode>
                <c:ptCount val="4"/>
                <c:pt idx="0">
                  <c:v>2.2</c:v>
                </c:pt>
                <c:pt idx="1">
                  <c:v>0</c:v>
                </c:pt>
                <c:pt idx="2">
                  <c:v>0</c:v>
                </c:pt>
                <c:pt idx="3">
                  <c:v>0</c:v>
                </c:pt>
              </c:numCache>
            </c:numRef>
          </c:val>
          <c:extLst>
            <c:ext xmlns:c16="http://schemas.microsoft.com/office/drawing/2014/chart" uri="{C3380CC4-5D6E-409C-BE32-E72D297353CC}">
              <c16:uniqueId val="{00000007-BDBB-884B-94BE-B85397D8759F}"/>
            </c:ext>
          </c:extLst>
        </c:ser>
        <c:dLbls>
          <c:showLegendKey val="0"/>
          <c:showVal val="0"/>
          <c:showCatName val="0"/>
          <c:showSerName val="0"/>
          <c:showPercent val="0"/>
          <c:showBubbleSize val="0"/>
          <c:showLeaderLines val="0"/>
        </c:dLbls>
        <c:gapWidth/>
        <c:overlap val="100"/>
        <c:axId val="1059022352"/>
        <c:axId val="1"/>
      </c:barChart>
      <c:catAx>
        <c:axId val="1059022352"/>
        <c:scaling>
          <c:orientation/>
        </c:scaling>
        <c:delete val="1"/>
        <c:axPos val="b"/>
        <c:numFmt formatCode="General" sourceLinked="1"/>
        <c:majorTickMark val="out"/>
        <c:minorTickMark val="none"/>
        <c:crossAx val="1"/>
        <c:auto val="0"/>
        <c:lblAlgn val="ctr"/>
        <c:lblOffset/>
        <c:tickLblSkip val="1"/>
        <c:tickMarkSkip val="1"/>
        <c:noMultiLvlLbl val="0"/>
      </c:catAx>
      <c:valAx>
        <c:axId val="1"/>
        <c:scaling>
          <c:orientation/>
        </c:scaling>
        <c:delete val="0"/>
        <c:axPos val="l"/>
        <c:numFmt formatCode="General" sourceLinked="1"/>
        <c:majorTickMark val="none"/>
        <c:minorTickMark val="none"/>
        <c:tickLblPos val="none"/>
        <c:spPr>
          <a:ln w="6305">
            <a:noFill/>
          </a:ln>
        </c:spPr>
        <c:crossAx val="1059022352"/>
        <c:crosses val="autoZero"/>
        <c:crossBetween val="between"/>
      </c:valAx>
      <c:spPr>
        <a:noFill/>
        <a:ln w="25220">
          <a:noFill/>
        </a:ln>
      </c:spPr>
    </c:plotArea>
    <c:plotVisOnly val="1"/>
    <c:dispBlanksAs val="gap"/>
    <c:showDLblsOverMax val="0"/>
  </c:chart>
  <c:spPr>
    <a:noFill/>
    <a:ln>
      <a:noFill/>
    </a:ln>
  </c:spPr>
  <c:txPr>
    <a:bodyPr/>
    <a:p>
      <a:pPr>
        <a:defRPr sz="1191" b="1" i="0" u="none" strike="noStrike" baseline="0" smtId="4294967295">
          <a:solidFill>
            <a:srgbClr val="000000"/>
          </a:solidFill>
          <a:latin typeface="Arial"/>
          <a:ea typeface="Arial"/>
          <a:cs typeface="Arial"/>
        </a:defRPr>
      </a:pPr>
      <a:endParaRPr sz="1191" b="1" i="0" u="none" strike="noStrike" baseline="0" smtId="4294967295">
        <a:solidFill>
          <a:srgbClr val="000000"/>
        </a:solidFill>
        <a:latin typeface="Arial"/>
        <a:ea typeface="Arial"/>
        <a:cs typeface="Arial"/>
      </a:endParaRPr>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181818176060915"/>
          <c:y val="0.04149377718567848"/>
          <c:w val="0.9709091186523438"/>
          <c:h val="0.9626556038856506"/>
        </c:manualLayout>
      </c:layout>
      <c:barChart>
        <c:barDir val="col"/>
        <c:grouping val="stacked"/>
        <c:varyColors val="0"/>
        <c:ser>
          <c:idx val="1"/>
          <c:order val="0"/>
          <c:tx>
            <c:strRef>
              <c:f>Sheet1!$A$2</c:f>
              <c:strCache>
                <c:ptCount val="1"/>
                <c:pt idx="0">
                  <c:v>West</c:v>
                </c:pt>
              </c:strCache>
            </c:strRef>
          </c:tx>
          <c:spPr>
            <a:solidFill>
              <a:srgbClr val="969696"/>
            </a:solidFill>
            <a:ln w="16182">
              <a:solidFill>
                <a:schemeClr val="tx1"/>
              </a:solidFill>
              <a:prstDash val="solid"/>
            </a:ln>
          </c:spPr>
          <c:invertIfNegative val="0"/>
          <c:dPt>
            <c:idx val="3"/>
            <c:invertIfNegative val="0"/>
            <c:spPr>
              <a:solidFill>
                <a:srgbClr val="0070C0"/>
              </a:solidFill>
              <a:ln w="16182">
                <a:solidFill>
                  <a:schemeClr val="tx1"/>
                </a:solidFill>
                <a:prstDash val="solid"/>
              </a:ln>
            </c:spPr>
            <c:extLst>
              <c:ext xmlns:c16="http://schemas.microsoft.com/office/drawing/2014/chart" uri="{C3380CC4-5D6E-409C-BE32-E72D297353CC}">
                <c16:uniqueId val="{00000000-48F3-E04D-9A28-2DFA3564143F}"/>
              </c:ext>
            </c:extLst>
          </c:dPt>
          <c:dPt>
            <c:idx val="4"/>
            <c:invertIfNegative val="0"/>
            <c:spPr>
              <a:solidFill>
                <a:srgbClr val="0070C0"/>
              </a:solidFill>
              <a:ln w="16182">
                <a:solidFill>
                  <a:schemeClr val="tx1"/>
                </a:solidFill>
                <a:prstDash val="solid"/>
              </a:ln>
            </c:spPr>
            <c:extLst>
              <c:ext xmlns:c16="http://schemas.microsoft.com/office/drawing/2014/chart" uri="{C3380CC4-5D6E-409C-BE32-E72D297353CC}">
                <c16:uniqueId val="{00000001-48F3-E04D-9A28-2DFA3564143F}"/>
              </c:ext>
            </c:extLst>
          </c:dPt>
          <c:dLbls>
            <c:dLbl>
              <c:idx val="0"/>
              <c:layout>
                <c:manualLayout>
                  <c:x val="0.00594977056607604"/>
                  <c:y val="-0.2957819402217865"/>
                </c:manualLayout>
              </c:layout>
              <c:numFmt formatCode="#,##0.0" sourceLinked="0"/>
              <c:spPr>
                <a:noFill/>
                <a:ln w="32362">
                  <a:noFill/>
                </a:ln>
              </c:spPr>
              <c:txPr>
                <a:bodyPr/>
                <a:p>
                  <a:pPr>
                    <a:defRPr sz="1527" b="1" i="0" u="none" strike="noStrike" baseline="0" smtId="4294967295">
                      <a:solidFill>
                        <a:srgbClr val="000000"/>
                      </a:solidFill>
                      <a:latin typeface="Arial"/>
                      <a:ea typeface="Arial"/>
                      <a:cs typeface="Arial"/>
                    </a:defRPr>
                  </a:pPr>
                  <a:endParaRPr sz="1527" b="1" i="0" u="none" strike="noStrike" baseline="0" smtId="4294967295">
                    <a:solidFill>
                      <a:srgbClr val="000000"/>
                    </a:solidFill>
                    <a:latin typeface="Arial"/>
                    <a:ea typeface="Arial"/>
                    <a:cs typeface="Arial"/>
                  </a:endParaRP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F3-E04D-9A28-2DFA3564143F}"/>
                </c:ext>
              </c:extLst>
            </c:dLbl>
            <c:dLbl>
              <c:idx val="1"/>
              <c:layout>
                <c:manualLayout>
                  <c:x val="0.008131498470902443"/>
                  <c:y val="-0.25760775804519653"/>
                </c:manualLayout>
              </c:layout>
              <c:numFmt formatCode="#,##0.0" sourceLinked="0"/>
              <c:spPr>
                <a:noFill/>
                <a:ln w="32362">
                  <a:noFill/>
                </a:ln>
              </c:spPr>
              <c:txPr>
                <a:bodyPr/>
                <a:p>
                  <a:pPr>
                    <a:defRPr sz="1527" b="1" i="0" u="none" strike="noStrike" baseline="0" smtId="4294967295">
                      <a:solidFill>
                        <a:srgbClr val="000000"/>
                      </a:solidFill>
                      <a:latin typeface="Arial"/>
                      <a:ea typeface="Arial"/>
                      <a:cs typeface="Arial"/>
                    </a:defRPr>
                  </a:pPr>
                  <a:endParaRPr sz="1527" b="1" i="0" u="none" strike="noStrike" baseline="0" smtId="4294967295">
                    <a:solidFill>
                      <a:srgbClr val="000000"/>
                    </a:solidFill>
                    <a:latin typeface="Arial"/>
                    <a:ea typeface="Arial"/>
                    <a:cs typeface="Arial"/>
                  </a:endParaRP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F3-E04D-9A28-2DFA3564143F}"/>
                </c:ext>
              </c:extLst>
            </c:dLbl>
            <c:dLbl>
              <c:idx val="2"/>
              <c:layout>
                <c:manualLayout>
                  <c:x val="0.006677214056253433"/>
                  <c:y val="-0.22330622375011444"/>
                </c:manualLayout>
              </c:layout>
              <c:numFmt formatCode="#,##0.0" sourceLinked="0"/>
              <c:spPr>
                <a:noFill/>
                <a:ln w="32362">
                  <a:noFill/>
                </a:ln>
              </c:spPr>
              <c:txPr>
                <a:bodyPr/>
                <a:p>
                  <a:pPr>
                    <a:defRPr sz="1527" b="1" i="0" u="none" strike="noStrike" baseline="0" smtId="4294967295">
                      <a:solidFill>
                        <a:srgbClr val="000000"/>
                      </a:solidFill>
                      <a:latin typeface="Arial"/>
                      <a:ea typeface="Arial"/>
                      <a:cs typeface="Arial"/>
                    </a:defRPr>
                  </a:pPr>
                  <a:endParaRPr sz="1527" b="1" i="0" u="none" strike="noStrike" baseline="0" smtId="4294967295">
                    <a:solidFill>
                      <a:srgbClr val="000000"/>
                    </a:solidFill>
                    <a:latin typeface="Arial"/>
                    <a:ea typeface="Arial"/>
                    <a:cs typeface="Arial"/>
                  </a:endParaRP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F3-E04D-9A28-2DFA3564143F}"/>
                </c:ext>
              </c:extLst>
            </c:dLbl>
            <c:dLbl>
              <c:idx val="3"/>
              <c:layout>
                <c:manualLayout>
                  <c:x val="0.0015862144064158201"/>
                  <c:y val="-0.2484792321920395"/>
                </c:manualLayout>
              </c:layout>
              <c:numFmt formatCode="#,##0.0" sourceLinked="0"/>
              <c:spPr>
                <a:noFill/>
                <a:ln w="32362">
                  <a:noFill/>
                </a:ln>
              </c:spPr>
              <c:txPr>
                <a:bodyPr/>
                <a:p>
                  <a:pPr>
                    <a:defRPr sz="1527" b="1" i="0" u="none" strike="noStrike" baseline="0" smtId="4294967295">
                      <a:solidFill>
                        <a:srgbClr val="000000"/>
                      </a:solidFill>
                      <a:latin typeface="Arial"/>
                      <a:ea typeface="Arial"/>
                      <a:cs typeface="Arial"/>
                    </a:defRPr>
                  </a:pPr>
                  <a:endParaRPr sz="1527" b="1" i="0" u="none" strike="noStrike" baseline="0" smtId="4294967295">
                    <a:solidFill>
                      <a:srgbClr val="000000"/>
                    </a:solidFill>
                    <a:latin typeface="Arial"/>
                    <a:ea typeface="Arial"/>
                    <a:cs typeface="Arial"/>
                  </a:endParaRP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F3-E04D-9A28-2DFA3564143F}"/>
                </c:ext>
              </c:extLst>
            </c:dLbl>
            <c:dLbl>
              <c:idx val="4"/>
              <c:layout>
                <c:manualLayout>
                  <c:x val="0.0037679418455809355"/>
                  <c:y val="-0.27392852306365967"/>
                </c:manualLayout>
              </c:layout>
              <c:numFmt formatCode="#,##0.0" sourceLinked="0"/>
              <c:spPr>
                <a:noFill/>
                <a:ln w="32362">
                  <a:noFill/>
                </a:ln>
              </c:spPr>
              <c:txPr>
                <a:bodyPr/>
                <a:p>
                  <a:pPr>
                    <a:defRPr sz="1527" b="1" i="0" u="none" strike="noStrike" baseline="0" smtId="4294967295">
                      <a:solidFill>
                        <a:srgbClr val="000000"/>
                      </a:solidFill>
                      <a:latin typeface="Arial"/>
                      <a:ea typeface="Arial"/>
                      <a:cs typeface="Arial"/>
                    </a:defRPr>
                  </a:pPr>
                  <a:endParaRPr sz="1527" b="1" i="0" u="none" strike="noStrike" baseline="0" smtId="4294967295">
                    <a:solidFill>
                      <a:srgbClr val="000000"/>
                    </a:solidFill>
                    <a:latin typeface="Arial"/>
                    <a:ea typeface="Arial"/>
                    <a:cs typeface="Arial"/>
                  </a:endParaRPr>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F3-E04D-9A28-2DFA3564143F}"/>
                </c:ext>
              </c:extLst>
            </c:dLbl>
            <c:numFmt formatCode="#,##0.0" sourceLinked="0"/>
            <c:spPr>
              <a:noFill/>
              <a:ln w="32362">
                <a:noFill/>
              </a:ln>
            </c:spPr>
            <c:txPr>
              <a:bodyPr wrap="square" lIns="38100" tIns="19050" rIns="38100" bIns="19050" anchor="ctr">
                <a:spAutoFit/>
              </a:bodyPr>
              <a:p>
                <a:pPr>
                  <a:defRPr sz="1527" b="1" i="0" u="none" strike="noStrike" baseline="0" smtId="4294967295">
                    <a:solidFill>
                      <a:srgbClr val="000000"/>
                    </a:solidFill>
                    <a:latin typeface="Arial"/>
                    <a:ea typeface="Arial"/>
                    <a:cs typeface="Arial"/>
                  </a:defRPr>
                </a:pPr>
                <a:endParaRPr sz="1527" b="1" i="0" u="none" strike="noStrike" baseline="0" smtId="4294967295">
                  <a:solidFill>
                    <a:srgbClr val="000000"/>
                  </a:solidFill>
                  <a:latin typeface="Arial"/>
                  <a:ea typeface="Arial"/>
                  <a:cs typeface="Arial"/>
                </a:endParaRPr>
              </a:p>
            </c:txPr>
            <c:showLegendKey val="0"/>
            <c:showVal val="1"/>
            <c:showCatName val="0"/>
            <c:showSerName val="0"/>
            <c:showPercent val="0"/>
            <c:showBubbleSize val="0"/>
            <c:showLeaderLines val="0"/>
            <c:extLst/>
          </c:dLbls>
          <c:cat>
            <c:numRef>
              <c:f>Sheet1!$B$1:$F$1</c:f>
              <c:numCache>
                <c:formatCode>General</c:formatCode>
                <c:ptCount val="5"/>
                <c:pt idx="0">
                  <c:v>2002</c:v>
                </c:pt>
                <c:pt idx="1">
                  <c:v>2003</c:v>
                </c:pt>
                <c:pt idx="2">
                  <c:v>2004</c:v>
                </c:pt>
                <c:pt idx="3">
                  <c:v>2005</c:v>
                </c:pt>
                <c:pt idx="4">
                  <c:v>2006</c:v>
                </c:pt>
              </c:numCache>
            </c:numRef>
          </c:cat>
          <c:val>
            <c:numRef>
              <c:f>Sheet1!$B$2:$F$2</c:f>
              <c:numCache>
                <c:formatCode>General</c:formatCode>
                <c:ptCount val="5"/>
                <c:pt idx="0">
                  <c:v>5.6</c:v>
                </c:pt>
                <c:pt idx="1">
                  <c:v>5</c:v>
                </c:pt>
                <c:pt idx="2">
                  <c:v>4.2</c:v>
                </c:pt>
                <c:pt idx="3">
                  <c:v>4.4</c:v>
                </c:pt>
                <c:pt idx="4">
                  <c:v>4.8</c:v>
                </c:pt>
              </c:numCache>
            </c:numRef>
          </c:val>
          <c:extLst>
            <c:ext xmlns:c16="http://schemas.microsoft.com/office/drawing/2014/chart" uri="{C3380CC4-5D6E-409C-BE32-E72D297353CC}">
              <c16:uniqueId val="{00000005-48F3-E04D-9A28-2DFA3564143F}"/>
            </c:ext>
          </c:extLst>
        </c:ser>
        <c:ser>
          <c:idx val="2"/>
          <c:order val="1"/>
          <c:spPr>
            <a:solidFill>
              <a:srgbClr val="969696"/>
            </a:solidFill>
            <a:ln w="32362">
              <a:noFill/>
            </a:ln>
          </c:spPr>
          <c:invertIfNegative val="0"/>
          <c:cat>
            <c:numRef>
              <c:f>Sheet1!$B$1:$F$1</c:f>
              <c:numCache>
                <c:formatCode>General</c:formatCode>
                <c:ptCount val="5"/>
                <c:pt idx="0">
                  <c:v>2002</c:v>
                </c:pt>
                <c:pt idx="1">
                  <c:v>2003</c:v>
                </c:pt>
                <c:pt idx="2">
                  <c:v>2004</c:v>
                </c:pt>
                <c:pt idx="3">
                  <c:v>2005</c:v>
                </c:pt>
                <c:pt idx="4">
                  <c:v>2006</c:v>
                </c:pt>
              </c:numCache>
            </c:numRef>
          </c:cat>
          <c:val>
            <c:numRef>
              <c:f>Sheet1!$B$3:$F$3</c:f>
              <c:numCache>
                <c:formatCode>General</c:formatCode>
                <c:ptCount val="0"/>
              </c:numCache>
            </c:numRef>
          </c:val>
          <c:extLst>
            <c:ext xmlns:c16="http://schemas.microsoft.com/office/drawing/2014/chart" uri="{C3380CC4-5D6E-409C-BE32-E72D297353CC}">
              <c16:uniqueId val="{00000006-48F3-E04D-9A28-2DFA3564143F}"/>
            </c:ext>
          </c:extLst>
        </c:ser>
        <c:dLbls>
          <c:showLegendKey val="0"/>
          <c:showVal val="0"/>
          <c:showCatName val="0"/>
          <c:showSerName val="0"/>
          <c:showPercent val="0"/>
          <c:showBubbleSize val="0"/>
          <c:showLeaderLines val="0"/>
        </c:dLbls>
        <c:gapWidth val="100"/>
        <c:overlap val="100"/>
        <c:axId val="1419366832"/>
        <c:axId val="1"/>
      </c:barChart>
      <c:catAx>
        <c:axId val="1419366832"/>
        <c:scaling>
          <c:orientation/>
        </c:scaling>
        <c:delete val="0"/>
        <c:axPos val="b"/>
        <c:numFmt formatCode="General" sourceLinked="1"/>
        <c:majorTickMark val="out"/>
        <c:minorTickMark val="none"/>
        <c:spPr>
          <a:ln w="16182">
            <a:solidFill>
              <a:schemeClr val="tx1"/>
            </a:solidFill>
            <a:prstDash val="solid"/>
          </a:ln>
        </c:spPr>
        <c:txPr>
          <a:bodyPr rot="0" vert="horz"/>
          <a:p>
            <a:pPr>
              <a:defRPr sz="1273" b="1" i="0" u="none" strike="noStrike" baseline="0" smtId="4294967295">
                <a:solidFill>
                  <a:srgbClr val="000000"/>
                </a:solidFill>
                <a:latin typeface="Arial"/>
                <a:ea typeface="Arial"/>
                <a:cs typeface="Arial"/>
              </a:defRPr>
            </a:pPr>
            <a:endParaRPr sz="1273" b="1" i="0" u="none" strike="noStrike" baseline="0" smtId="4294967295">
              <a:solidFill>
                <a:srgbClr val="000000"/>
              </a:solidFill>
              <a:latin typeface="Arial"/>
              <a:ea typeface="Arial"/>
              <a:cs typeface="Arial"/>
            </a:endParaRPr>
          </a:p>
        </c:txPr>
        <c:crossAx val="1"/>
        <c:crosses val="autoZero"/>
        <c:auto val="0"/>
        <c:lblAlgn val="ctr"/>
        <c:lblOffset/>
        <c:tickLblSkip val="1"/>
        <c:tickMarkSkip val="1"/>
        <c:noMultiLvlLbl val="0"/>
      </c:catAx>
      <c:valAx>
        <c:axId val="1"/>
        <c:scaling>
          <c:orientation/>
          <c:max val="8"/>
          <c:min val="-4"/>
        </c:scaling>
        <c:delete val="0"/>
        <c:axPos val="l"/>
        <c:numFmt formatCode="General" sourceLinked="1"/>
        <c:majorTickMark val="none"/>
        <c:minorTickMark val="none"/>
        <c:tickLblPos val="none"/>
        <c:spPr>
          <a:ln w="8091">
            <a:noFill/>
          </a:ln>
        </c:spPr>
        <c:crossAx val="1419366832"/>
        <c:crosses val="autoZero"/>
        <c:crossBetween val="between"/>
        <c:majorUnit val="1"/>
        <c:minorUnit val="0.1"/>
      </c:valAx>
      <c:spPr>
        <a:noFill/>
        <a:ln w="24320">
          <a:noFill/>
        </a:ln>
      </c:spPr>
    </c:plotArea>
    <c:plotVisOnly val="1"/>
    <c:dispBlanksAs val="gap"/>
    <c:showDLblsOverMax val="0"/>
  </c:chart>
  <c:spPr>
    <a:noFill/>
    <a:ln>
      <a:noFill/>
    </a:ln>
  </c:spPr>
  <c:txPr>
    <a:bodyPr/>
    <a:p>
      <a:pPr>
        <a:defRPr sz="1020" b="0" i="0" u="none" strike="noStrike" baseline="0" smtId="4294967295">
          <a:solidFill>
            <a:srgbClr val="000000"/>
          </a:solidFill>
          <a:latin typeface="Arial"/>
          <a:ea typeface="Arial"/>
          <a:cs typeface="Arial"/>
        </a:defRPr>
      </a:pPr>
      <a:endParaRPr sz="1020" b="0" i="0" u="none" strike="noStrike" baseline="0" smtId="4294967295">
        <a:solidFill>
          <a:srgbClr val="000000"/>
        </a:solidFill>
        <a:latin typeface="Arial"/>
        <a:ea typeface="Arial"/>
        <a:cs typeface="Arial"/>
      </a:endParaRPr>
    </a:p>
  </c:txPr>
  <c:externalData r:id="rId1">
    <c:autoUpdate val="0"/>
  </c:externalData>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19157087430357933"/>
          <c:y val="0.05494505539536476"/>
          <c:w val="0.969348669052124"/>
          <c:h val="0.6868131756782532"/>
        </c:manualLayout>
      </c:layout>
      <c:barChart>
        <c:barDir val="col"/>
        <c:grouping val="clustered"/>
        <c:varyColors val="0"/>
        <c:ser>
          <c:idx val="1"/>
          <c:order val="0"/>
          <c:tx>
            <c:strRef>
              <c:f>Sheet1!$A$2</c:f>
              <c:strCache>
                <c:ptCount val="1"/>
                <c:pt idx="0">
                  <c:v>West</c:v>
                </c:pt>
              </c:strCache>
            </c:strRef>
          </c:tx>
          <c:spPr>
            <a:solidFill>
              <a:srgbClr val="969696"/>
            </a:solidFill>
            <a:ln w="32180">
              <a:noFill/>
            </a:ln>
          </c:spPr>
          <c:invertIfNegative val="0"/>
          <c:dPt>
            <c:idx val="0"/>
            <c:invertIfNegative val="0"/>
            <c:spPr>
              <a:solidFill>
                <a:srgbClr val="969696"/>
              </a:solidFill>
              <a:ln w="16091">
                <a:solidFill>
                  <a:schemeClr val="tx1"/>
                </a:solidFill>
                <a:prstDash val="solid"/>
              </a:ln>
            </c:spPr>
            <c:extLst>
              <c:ext xmlns:c16="http://schemas.microsoft.com/office/drawing/2014/chart" uri="{C3380CC4-5D6E-409C-BE32-E72D297353CC}">
                <c16:uniqueId val="{00000000-5E72-ED43-9B7F-DE50CF8E5FB6}"/>
              </c:ext>
            </c:extLst>
          </c:dPt>
          <c:dPt>
            <c:idx val="1"/>
            <c:invertIfNegative val="0"/>
            <c:spPr>
              <a:solidFill>
                <a:srgbClr val="969696"/>
              </a:solidFill>
              <a:ln w="16091">
                <a:solidFill>
                  <a:schemeClr val="tx1"/>
                </a:solidFill>
                <a:prstDash val="solid"/>
              </a:ln>
            </c:spPr>
            <c:extLst>
              <c:ext xmlns:c16="http://schemas.microsoft.com/office/drawing/2014/chart" uri="{C3380CC4-5D6E-409C-BE32-E72D297353CC}">
                <c16:uniqueId val="{00000001-5E72-ED43-9B7F-DE50CF8E5FB6}"/>
              </c:ext>
            </c:extLst>
          </c:dPt>
          <c:dPt>
            <c:idx val="2"/>
            <c:invertIfNegative val="0"/>
            <c:spPr>
              <a:solidFill>
                <a:srgbClr val="0070C0"/>
              </a:solidFill>
              <a:ln w="16091">
                <a:solidFill>
                  <a:schemeClr val="tx1"/>
                </a:solidFill>
                <a:prstDash val="solid"/>
              </a:ln>
            </c:spPr>
            <c:extLst>
              <c:ext xmlns:c16="http://schemas.microsoft.com/office/drawing/2014/chart" uri="{C3380CC4-5D6E-409C-BE32-E72D297353CC}">
                <c16:uniqueId val="{00000002-5E72-ED43-9B7F-DE50CF8E5FB6}"/>
              </c:ext>
            </c:extLst>
          </c:dPt>
          <c:dPt>
            <c:idx val="3"/>
            <c:invertIfNegative val="0"/>
            <c:spPr>
              <a:solidFill>
                <a:srgbClr val="0070C0"/>
              </a:solidFill>
              <a:ln w="16091">
                <a:solidFill>
                  <a:schemeClr val="tx1"/>
                </a:solidFill>
                <a:prstDash val="solid"/>
              </a:ln>
            </c:spPr>
            <c:extLst>
              <c:ext xmlns:c16="http://schemas.microsoft.com/office/drawing/2014/chart" uri="{C3380CC4-5D6E-409C-BE32-E72D297353CC}">
                <c16:uniqueId val="{00000003-5E72-ED43-9B7F-DE50CF8E5FB6}"/>
              </c:ext>
            </c:extLst>
          </c:dPt>
          <c:dPt>
            <c:idx val="4"/>
            <c:invertIfNegative val="0"/>
            <c:spPr>
              <a:solidFill>
                <a:srgbClr val="0070C0"/>
              </a:solidFill>
              <a:ln w="16091">
                <a:solidFill>
                  <a:schemeClr val="tx1"/>
                </a:solidFill>
                <a:prstDash val="solid"/>
              </a:ln>
            </c:spPr>
            <c:extLst>
              <c:ext xmlns:c16="http://schemas.microsoft.com/office/drawing/2014/chart" uri="{C3380CC4-5D6E-409C-BE32-E72D297353CC}">
                <c16:uniqueId val="{00000004-5E72-ED43-9B7F-DE50CF8E5FB6}"/>
              </c:ext>
            </c:extLst>
          </c:dPt>
          <c:dLbls>
            <c:dLbl>
              <c:idx val="0"/>
              <c:numFmt formatCode="#,##0.0" sourceLinked="0"/>
              <c:spPr>
                <a:noFill/>
                <a:ln w="32180">
                  <a:noFill/>
                </a:ln>
              </c:spPr>
              <c:txPr>
                <a:bodyPr/>
                <a:p>
                  <a:pPr>
                    <a:defRPr sz="1521" b="1" i="0" u="none" strike="noStrike" baseline="0" smtId="4294967295">
                      <a:solidFill>
                        <a:srgbClr val="000000"/>
                      </a:solidFill>
                      <a:latin typeface="Arial"/>
                      <a:ea typeface="Arial"/>
                      <a:cs typeface="Arial"/>
                    </a:defRPr>
                  </a:pPr>
                  <a:endParaRPr sz="1521" b="1" i="0" u="none" strike="noStrike" baseline="0" smtId="4294967295">
                    <a:solidFill>
                      <a:srgbClr val="000000"/>
                    </a:solidFill>
                    <a:latin typeface="Arial"/>
                    <a:ea typeface="Arial"/>
                    <a:cs typeface="Arial"/>
                  </a:endParaRP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E72-ED43-9B7F-DE50CF8E5FB6}"/>
                </c:ext>
              </c:extLst>
            </c:dLbl>
            <c:dLbl>
              <c:idx val="1"/>
              <c:numFmt formatCode="#,##0.0" sourceLinked="0"/>
              <c:spPr>
                <a:noFill/>
                <a:ln w="32180">
                  <a:noFill/>
                </a:ln>
              </c:spPr>
              <c:txPr>
                <a:bodyPr/>
                <a:p>
                  <a:pPr>
                    <a:defRPr sz="1521" b="1" i="0" u="none" strike="noStrike" baseline="0" smtId="4294967295">
                      <a:solidFill>
                        <a:srgbClr val="000000"/>
                      </a:solidFill>
                      <a:latin typeface="Arial"/>
                      <a:ea typeface="Arial"/>
                      <a:cs typeface="Arial"/>
                    </a:defRPr>
                  </a:pPr>
                  <a:endParaRPr sz="1521" b="1" i="0" u="none" strike="noStrike" baseline="0" smtId="4294967295">
                    <a:solidFill>
                      <a:srgbClr val="000000"/>
                    </a:solidFill>
                    <a:latin typeface="Arial"/>
                    <a:ea typeface="Arial"/>
                    <a:cs typeface="Arial"/>
                  </a:endParaRP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72-ED43-9B7F-DE50CF8E5FB6}"/>
                </c:ext>
              </c:extLst>
            </c:dLbl>
            <c:dLbl>
              <c:idx val="2"/>
              <c:numFmt formatCode="#,##0.0" sourceLinked="0"/>
              <c:spPr>
                <a:noFill/>
                <a:ln w="32180">
                  <a:noFill/>
                </a:ln>
              </c:spPr>
              <c:txPr>
                <a:bodyPr/>
                <a:p>
                  <a:pPr>
                    <a:defRPr sz="1521" b="1" i="0" u="none" strike="noStrike" baseline="0" smtId="4294967295">
                      <a:solidFill>
                        <a:srgbClr val="000000"/>
                      </a:solidFill>
                      <a:latin typeface="Arial"/>
                      <a:ea typeface="Arial"/>
                      <a:cs typeface="Arial"/>
                    </a:defRPr>
                  </a:pPr>
                  <a:endParaRPr sz="1521" b="1" i="0" u="none" strike="noStrike" baseline="0" smtId="4294967295">
                    <a:solidFill>
                      <a:srgbClr val="000000"/>
                    </a:solidFill>
                    <a:latin typeface="Arial"/>
                    <a:ea typeface="Arial"/>
                    <a:cs typeface="Arial"/>
                  </a:endParaRP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E72-ED43-9B7F-DE50CF8E5FB6}"/>
                </c:ext>
              </c:extLst>
            </c:dLbl>
            <c:dLbl>
              <c:idx val="3"/>
              <c:numFmt formatCode="#,##0.0" sourceLinked="0"/>
              <c:spPr>
                <a:noFill/>
                <a:ln w="32180">
                  <a:noFill/>
                </a:ln>
              </c:spPr>
              <c:txPr>
                <a:bodyPr/>
                <a:p>
                  <a:pPr>
                    <a:defRPr sz="1521" b="1" i="0" u="none" strike="noStrike" baseline="0" smtId="4294967295">
                      <a:solidFill>
                        <a:srgbClr val="000000"/>
                      </a:solidFill>
                      <a:latin typeface="Arial"/>
                      <a:ea typeface="Arial"/>
                      <a:cs typeface="Arial"/>
                    </a:defRPr>
                  </a:pPr>
                  <a:endParaRPr sz="1521" b="1" i="0" u="none" strike="noStrike" baseline="0" smtId="4294967295">
                    <a:solidFill>
                      <a:srgbClr val="000000"/>
                    </a:solidFill>
                    <a:latin typeface="Arial"/>
                    <a:ea typeface="Arial"/>
                    <a:cs typeface="Arial"/>
                  </a:endParaRP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72-ED43-9B7F-DE50CF8E5FB6}"/>
                </c:ext>
              </c:extLst>
            </c:dLbl>
            <c:dLbl>
              <c:idx val="4"/>
              <c:numFmt formatCode="#,##0.0" sourceLinked="0"/>
              <c:spPr>
                <a:noFill/>
                <a:ln w="32180">
                  <a:noFill/>
                </a:ln>
              </c:spPr>
              <c:txPr>
                <a:bodyPr/>
                <a:p>
                  <a:pPr>
                    <a:defRPr sz="1521" b="1" i="0" u="none" strike="noStrike" baseline="0" smtId="4294967295">
                      <a:solidFill>
                        <a:srgbClr val="000000"/>
                      </a:solidFill>
                      <a:latin typeface="Arial"/>
                      <a:ea typeface="Arial"/>
                      <a:cs typeface="Arial"/>
                    </a:defRPr>
                  </a:pPr>
                  <a:endParaRPr sz="1521" b="1" i="0" u="none" strike="noStrike" baseline="0" smtId="4294967295">
                    <a:solidFill>
                      <a:srgbClr val="000000"/>
                    </a:solidFill>
                    <a:latin typeface="Arial"/>
                    <a:ea typeface="Arial"/>
                    <a:cs typeface="Arial"/>
                  </a:endParaRP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E72-ED43-9B7F-DE50CF8E5FB6}"/>
                </c:ext>
              </c:extLst>
            </c:dLbl>
            <c:numFmt formatCode="#,##0.0" sourceLinked="0"/>
            <c:spPr>
              <a:noFill/>
              <a:ln w="32180">
                <a:noFill/>
              </a:ln>
            </c:spPr>
            <c:txPr>
              <a:bodyPr wrap="square" lIns="38100" tIns="19050" rIns="38100" bIns="19050" anchor="ctr">
                <a:spAutoFit/>
              </a:bodyPr>
              <a:p>
                <a:pPr>
                  <a:defRPr sz="1521" b="1" i="0" u="none" strike="noStrike" baseline="0" smtId="4294967295">
                    <a:solidFill>
                      <a:srgbClr val="000000"/>
                    </a:solidFill>
                    <a:latin typeface="Arial"/>
                    <a:ea typeface="Arial"/>
                    <a:cs typeface="Arial"/>
                  </a:defRPr>
                </a:pPr>
                <a:endParaRPr sz="1521" b="1" i="0" u="none" strike="noStrike" baseline="0" smtId="4294967295">
                  <a:solidFill>
                    <a:srgbClr val="000000"/>
                  </a:solidFill>
                  <a:latin typeface="Arial"/>
                  <a:ea typeface="Arial"/>
                  <a:cs typeface="Arial"/>
                </a:endParaRPr>
              </a:p>
            </c:txPr>
            <c:dLblPos val="outEnd"/>
            <c:showLegendKey val="0"/>
            <c:showVal val="1"/>
            <c:showCatName val="0"/>
            <c:showSerName val="0"/>
            <c:showPercent val="0"/>
            <c:showBubbleSize val="0"/>
            <c:showLeaderLines val="0"/>
            <c:extLst/>
          </c:dLbls>
          <c:cat>
            <c:strRef>
              <c:f>Sheet1!$B$1:$F$1</c:f>
              <c:strCache>
                <c:ptCount val="5"/>
                <c:pt idx="0">
                  <c:v>2004</c:v>
                </c:pt>
                <c:pt idx="1">
                  <c:v>2005</c:v>
                </c:pt>
                <c:pt idx="2">
                  <c:v>2006</c:v>
                </c:pt>
                <c:pt idx="3">
                  <c:v>2007 (E)</c:v>
                </c:pt>
                <c:pt idx="4">
                  <c:v>2008 (E)</c:v>
                </c:pt>
              </c:strCache>
            </c:strRef>
          </c:cat>
          <c:val>
            <c:numRef>
              <c:f>Sheet1!$B$2:$F$2</c:f>
              <c:numCache>
                <c:formatCode>General</c:formatCode>
                <c:ptCount val="5"/>
                <c:pt idx="0">
                  <c:v>0.9</c:v>
                </c:pt>
                <c:pt idx="1">
                  <c:v>0.9</c:v>
                </c:pt>
                <c:pt idx="2">
                  <c:v>1.1</c:v>
                </c:pt>
                <c:pt idx="3" formatCode="#,##0">
                  <c:v>1.3</c:v>
                </c:pt>
                <c:pt idx="4">
                  <c:v>1.4</c:v>
                </c:pt>
              </c:numCache>
            </c:numRef>
          </c:val>
          <c:extLst>
            <c:ext xmlns:c16="http://schemas.microsoft.com/office/drawing/2014/chart" uri="{C3380CC4-5D6E-409C-BE32-E72D297353CC}">
              <c16:uniqueId val="{00000005-5E72-ED43-9B7F-DE50CF8E5FB6}"/>
            </c:ext>
          </c:extLst>
        </c:ser>
        <c:dLbls>
          <c:showLegendKey val="0"/>
          <c:showVal val="0"/>
          <c:showCatName val="0"/>
          <c:showSerName val="0"/>
          <c:showPercent val="0"/>
          <c:showBubbleSize val="0"/>
          <c:showLeaderLines val="0"/>
        </c:dLbls>
        <c:gapWidth val="100"/>
        <c:overlap/>
        <c:axId val="1518444784"/>
        <c:axId val="1"/>
      </c:barChart>
      <c:catAx>
        <c:axId val="1518444784"/>
        <c:scaling>
          <c:orientation/>
        </c:scaling>
        <c:delete val="0"/>
        <c:axPos val="b"/>
        <c:numFmt formatCode="General" sourceLinked="1"/>
        <c:majorTickMark val="out"/>
        <c:minorTickMark val="none"/>
        <c:spPr>
          <a:ln w="16091">
            <a:solidFill>
              <a:schemeClr val="tx1"/>
            </a:solidFill>
            <a:prstDash val="solid"/>
          </a:ln>
        </c:spPr>
        <c:txPr>
          <a:bodyPr rot="0" vert="horz"/>
          <a:p>
            <a:pPr>
              <a:defRPr sz="1268" b="1" i="0" u="none" strike="noStrike" baseline="0" smtId="4294967295">
                <a:solidFill>
                  <a:srgbClr val="000000"/>
                </a:solidFill>
                <a:latin typeface="Arial"/>
                <a:ea typeface="Arial"/>
                <a:cs typeface="Arial"/>
              </a:defRPr>
            </a:pPr>
            <a:endParaRPr sz="1268" b="1" i="0" u="none" strike="noStrike" baseline="0" smtId="4294967295">
              <a:solidFill>
                <a:srgbClr val="000000"/>
              </a:solidFill>
              <a:latin typeface="Arial"/>
              <a:ea typeface="Arial"/>
              <a:cs typeface="Arial"/>
            </a:endParaRPr>
          </a:p>
        </c:txPr>
        <c:crossAx val="1"/>
        <c:crosses val="autoZero"/>
        <c:auto val="0"/>
        <c:lblAlgn val="ctr"/>
        <c:lblOffset/>
        <c:tickLblSkip val="1"/>
        <c:tickMarkSkip val="1"/>
        <c:noMultiLvlLbl val="0"/>
      </c:catAx>
      <c:valAx>
        <c:axId val="1"/>
        <c:scaling>
          <c:orientation/>
        </c:scaling>
        <c:delete val="0"/>
        <c:axPos val="l"/>
        <c:numFmt formatCode="General" sourceLinked="1"/>
        <c:majorTickMark val="none"/>
        <c:minorTickMark val="none"/>
        <c:tickLblPos val="none"/>
        <c:spPr>
          <a:ln w="8045">
            <a:noFill/>
          </a:ln>
        </c:spPr>
        <c:crossAx val="1518444784"/>
        <c:crosses val="autoZero"/>
        <c:crossBetween val="between"/>
      </c:valAx>
      <c:spPr>
        <a:noFill/>
        <a:ln w="24303">
          <a:noFill/>
        </a:ln>
      </c:spPr>
    </c:plotArea>
    <c:plotVisOnly val="1"/>
    <c:dispBlanksAs val="gap"/>
    <c:showDLblsOverMax val="0"/>
  </c:chart>
  <c:spPr>
    <a:noFill/>
    <a:ln>
      <a:noFill/>
    </a:ln>
  </c:spPr>
  <c:txPr>
    <a:bodyPr/>
    <a:p>
      <a:pPr>
        <a:defRPr sz="1014" b="0" i="0" u="none" strike="noStrike" baseline="0" smtId="4294967295">
          <a:solidFill>
            <a:srgbClr val="000000"/>
          </a:solidFill>
          <a:latin typeface="Arial"/>
          <a:ea typeface="Arial"/>
          <a:cs typeface="Arial"/>
        </a:defRPr>
      </a:pPr>
      <a:endParaRPr sz="1014" b="0" i="0" u="none" strike="noStrike" baseline="0" smtId="4294967295">
        <a:solidFill>
          <a:srgbClr val="000000"/>
        </a:solidFill>
        <a:latin typeface="Arial"/>
        <a:ea typeface="Arial"/>
        <a:cs typeface="Arial"/>
      </a:endParaRPr>
    </a:p>
  </c:txPr>
  <c:externalData r:id="rId1">
    <c:autoUpdate val="0"/>
  </c:externalData>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2.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3.png" /><Relationship Id="rId2" Type="http://schemas.openxmlformats.org/officeDocument/2006/relationships/image" Target="../media/image4.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5.png"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4.emf" /><Relationship Id="rId2" Type="http://schemas.openxmlformats.org/officeDocument/2006/relationships/image" Target="../media/image15.png"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7.png"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9.png"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20.emf" /><Relationship Id="rId2" Type="http://schemas.openxmlformats.org/officeDocument/2006/relationships/image" Target="../media/image21.emf" /><Relationship Id="rId3" Type="http://schemas.openxmlformats.org/officeDocument/2006/relationships/image" Target="../media/image22.emf" /><Relationship Id="rId4" Type="http://schemas.openxmlformats.org/officeDocument/2006/relationships/image" Target="../media/image23.emf" /><Relationship Id="rId5" Type="http://schemas.openxmlformats.org/officeDocument/2006/relationships/image" Target="../media/image24.emf" /><Relationship Id="rId6" Type="http://schemas.openxmlformats.org/officeDocument/2006/relationships/image" Target="../media/image25.emf" /><Relationship Id="rId7" Type="http://schemas.openxmlformats.org/officeDocument/2006/relationships/image" Target="../media/image26.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28.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29.png"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34.png"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35.png"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40.wmf"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a:effectLst/>
      </p:bgPr>
    </p:bg>
    <p:spTree>
      <p:nvGrpSpPr>
        <p:cNvPr id="1" name=""/>
        <p:cNvGrpSpPr/>
        <p:nvPr/>
      </p:nvGrpSpPr>
      <p:grpSpPr>
        <a:xfrm>
          <a:off x="0" y="0"/>
          <a:ext cx="0" cy="0"/>
        </a:xfrm>
      </p:grpSpPr>
      <p:sp>
        <p:nvSpPr>
          <p:cNvPr id="231426" name="Rectangle 2">
            <a:extLst>
              <a:ext uri="{FF2B5EF4-FFF2-40B4-BE49-F238E27FC236}">
                <a16:creationId xmlns:a16="http://schemas.microsoft.com/office/drawing/2014/main" id="{EB9C3095-2C03-AB2D-0834-D143E9053F2E}"/>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l"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endParaRPr lang="en-US" altLang="ko-KR"/>
          </a:p>
        </p:txBody>
      </p:sp>
      <p:sp>
        <p:nvSpPr>
          <p:cNvPr id="231427" name="Rectangle 3">
            <a:extLst>
              <a:ext uri="{FF2B5EF4-FFF2-40B4-BE49-F238E27FC236}">
                <a16:creationId xmlns:a16="http://schemas.microsoft.com/office/drawing/2014/main" id="{2603DF03-B38A-782A-C1E3-53F2231E0744}"/>
              </a:ext>
            </a:extLst>
          </p:cNvPr>
          <p:cNvSpPr>
            <a:spLocks noGrp="1" noChangeArrowheads="1"/>
          </p:cNvSpPr>
          <p:nvPr>
            <p:ph type="dt" sz="quarter" idx="1"/>
          </p:nvPr>
        </p:nvSpPr>
        <p:spPr bwMode="auto">
          <a:xfrm>
            <a:off x="4143375"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endParaRPr lang="en-US" altLang="ko-KR"/>
          </a:p>
        </p:txBody>
      </p:sp>
      <p:sp>
        <p:nvSpPr>
          <p:cNvPr id="231428" name="Rectangle 4">
            <a:extLst>
              <a:ext uri="{FF2B5EF4-FFF2-40B4-BE49-F238E27FC236}">
                <a16:creationId xmlns:a16="http://schemas.microsoft.com/office/drawing/2014/main" id="{8DCEF248-BAAE-90FB-2280-32DF5ACE5CAE}"/>
              </a:ext>
            </a:extLst>
          </p:cNvPr>
          <p:cNvSpPr>
            <a:spLocks noGrp="1" noChangeArrowheads="1"/>
          </p:cNvSpPr>
          <p:nvPr>
            <p:ph type="ftr" sz="quarter" idx="2"/>
          </p:nvPr>
        </p:nvSpPr>
        <p:spPr bwMode="auto">
          <a:xfrm>
            <a:off x="0" y="9120188"/>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l"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endParaRPr lang="en-US" altLang="ko-KR"/>
          </a:p>
        </p:txBody>
      </p:sp>
      <p:sp>
        <p:nvSpPr>
          <p:cNvPr id="231429" name="Rectangle 5">
            <a:extLst>
              <a:ext uri="{FF2B5EF4-FFF2-40B4-BE49-F238E27FC236}">
                <a16:creationId xmlns:a16="http://schemas.microsoft.com/office/drawing/2014/main" id="{D532914E-4D41-4F89-F8C0-B49A29305C5F}"/>
              </a:ext>
            </a:extLst>
          </p:cNvPr>
          <p:cNvSpPr>
            <a:spLocks noGrp="1" noChangeArrowheads="1"/>
          </p:cNvSpPr>
          <p:nvPr>
            <p:ph type="sldNum" sz="quarter" idx="3"/>
          </p:nvPr>
        </p:nvSpPr>
        <p:spPr bwMode="auto">
          <a:xfrm>
            <a:off x="4143375" y="9120188"/>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fld id="{9DCAA9D7-6B29-0342-86CB-726E926FDB2A}"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f hdr="0" ftr="0" dt="0"/>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a:effectLst/>
      </p:bgPr>
    </p:bg>
    <p:spTree>
      <p:nvGrpSpPr>
        <p:cNvPr id="1" name=""/>
        <p:cNvGrpSpPr/>
        <p:nvPr/>
      </p:nvGrpSpPr>
      <p:grpSpPr>
        <a:xfrm>
          <a:off x="0" y="0"/>
          <a:ext cx="0" cy="0"/>
        </a:xfrm>
      </p:grpSpPr>
      <p:sp>
        <p:nvSpPr>
          <p:cNvPr id="12290" name="Rectangle 2">
            <a:extLst>
              <a:ext uri="{FF2B5EF4-FFF2-40B4-BE49-F238E27FC236}">
                <a16:creationId xmlns:a16="http://schemas.microsoft.com/office/drawing/2014/main" id="{52B1278C-AB27-4088-CCF7-81E5A7F1B15E}"/>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l"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endParaRPr lang="en-US" altLang="ko-KR"/>
          </a:p>
        </p:txBody>
      </p:sp>
      <p:sp>
        <p:nvSpPr>
          <p:cNvPr id="12291" name="Rectangle 3">
            <a:extLst>
              <a:ext uri="{FF2B5EF4-FFF2-40B4-BE49-F238E27FC236}">
                <a16:creationId xmlns:a16="http://schemas.microsoft.com/office/drawing/2014/main" id="{62F08D28-0737-8236-0DA7-FAC72E0BA72C}"/>
              </a:ext>
            </a:extLst>
          </p:cNvPr>
          <p:cNvSpPr>
            <a:spLocks noGrp="1" noChangeArrowheads="1"/>
          </p:cNvSpPr>
          <p:nvPr>
            <p:ph type="dt" idx="1"/>
          </p:nvPr>
        </p:nvSpPr>
        <p:spPr bwMode="auto">
          <a:xfrm>
            <a:off x="4143375"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endParaRPr lang="en-US" altLang="ko-KR"/>
          </a:p>
        </p:txBody>
      </p:sp>
      <p:sp>
        <p:nvSpPr>
          <p:cNvPr id="3076" name="Rectangle 4">
            <a:extLst>
              <a:ext uri="{FF2B5EF4-FFF2-40B4-BE49-F238E27FC236}">
                <a16:creationId xmlns:a16="http://schemas.microsoft.com/office/drawing/2014/main" id="{7007C707-4F6D-F4B5-36B7-8E172F728C26}"/>
              </a:ext>
            </a:extLst>
          </p:cNvPr>
          <p:cNvSpPr>
            <a:spLocks noRot="1" noChangeArrowheads="1" noTextEdit="1"/>
          </p:cNvSpPr>
          <p:nvPr>
            <p:ph type="sldImg" idx="2"/>
          </p:nvPr>
        </p:nvSpPr>
        <p:spPr bwMode="auto">
          <a:xfrm>
            <a:off x="1057275" y="720725"/>
            <a:ext cx="5200650" cy="360045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3" name="Rectangle 5">
            <a:extLst>
              <a:ext uri="{FF2B5EF4-FFF2-40B4-BE49-F238E27FC236}">
                <a16:creationId xmlns:a16="http://schemas.microsoft.com/office/drawing/2014/main" id="{A17BC715-13BC-C2AF-FD29-D4E017907A0F}"/>
              </a:ext>
            </a:extLst>
          </p:cNvPr>
          <p:cNvSpPr>
            <a:spLocks noGrp="1" noChangeArrowheads="1"/>
          </p:cNvSpPr>
          <p:nvPr>
            <p:ph type="body" sz="quarter" idx="3"/>
          </p:nvPr>
        </p:nvSpPr>
        <p:spPr bwMode="auto">
          <a:xfrm>
            <a:off x="731838" y="4560888"/>
            <a:ext cx="5851525" cy="4319587"/>
          </a:xfrm>
          <a:prstGeom prst="rect">
            <a:avLst/>
          </a:prstGeom>
          <a:noFill/>
          <a:ln>
            <a:noFill/>
          </a:ln>
          <a:effectLst/>
        </p:spPr>
        <p:txBody>
          <a:bodyPr vert="horz" wrap="square" lIns="96661" tIns="48331" rIns="96661" bIns="48331"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12294" name="Rectangle 6">
            <a:extLst>
              <a:ext uri="{FF2B5EF4-FFF2-40B4-BE49-F238E27FC236}">
                <a16:creationId xmlns:a16="http://schemas.microsoft.com/office/drawing/2014/main" id="{C2586D4C-3BC5-9FB0-70E3-CC5B8B82FD62}"/>
              </a:ext>
            </a:extLst>
          </p:cNvPr>
          <p:cNvSpPr>
            <a:spLocks noGrp="1" noChangeArrowheads="1"/>
          </p:cNvSpPr>
          <p:nvPr>
            <p:ph type="ftr" sz="quarter" idx="4"/>
          </p:nvPr>
        </p:nvSpPr>
        <p:spPr bwMode="auto">
          <a:xfrm>
            <a:off x="0" y="9120188"/>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l"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endParaRPr lang="en-US" altLang="ko-KR"/>
          </a:p>
        </p:txBody>
      </p:sp>
      <p:sp>
        <p:nvSpPr>
          <p:cNvPr id="12295" name="Rectangle 7">
            <a:extLst>
              <a:ext uri="{FF2B5EF4-FFF2-40B4-BE49-F238E27FC236}">
                <a16:creationId xmlns:a16="http://schemas.microsoft.com/office/drawing/2014/main" id="{BEF6677E-D537-907E-A13A-B27C898ADD95}"/>
              </a:ext>
            </a:extLst>
          </p:cNvPr>
          <p:cNvSpPr>
            <a:spLocks noGrp="1" noChangeArrowheads="1"/>
          </p:cNvSpPr>
          <p:nvPr>
            <p:ph type="sldNum" sz="quarter" idx="5"/>
          </p:nvPr>
        </p:nvSpPr>
        <p:spPr bwMode="auto">
          <a:xfrm>
            <a:off x="4143375" y="9120188"/>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fontAlgn="base" hangingPunct="1">
              <a:lnSpc>
                <a:spcPct val="100000"/>
              </a:lnSpc>
              <a:spcBef>
                <a:spcPct val="0"/>
              </a:spcBef>
              <a:buClrTx/>
              <a:defRPr sz="1300" b="0">
                <a:ea typeface="굴림" panose="020b0600000101010101" pitchFamily="50" charset="-127"/>
                <a:cs typeface="Arial" panose="020b0604020202020204" pitchFamily="34" charset="0"/>
              </a:defRPr>
            </a:lvl1pPr>
          </a:lstStyle>
          <a:p>
            <a:pPr>
              <a:defRPr/>
            </a:pPr>
            <a:fld id="{417020DC-AF60-E64F-B0C2-6B4801D201E8}"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&#65279;<?xml version="1.0" encoding="utf-8" standalone="yes"?><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&#65279;<?xml version="1.0" encoding="utf-8" standalone="yes"?><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&#65279;<?xml version="1.0" encoding="utf-8" standalone="yes"?><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&#65279;<?xml version="1.0" encoding="utf-8" standalone="yes"?><Relationships xmlns="http://schemas.openxmlformats.org/package/2006/relationships"><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6385" name="Rectangle 7">
            <a:extLst>
              <a:ext uri="{FF2B5EF4-FFF2-40B4-BE49-F238E27FC236}">
                <a16:creationId xmlns:a16="http://schemas.microsoft.com/office/drawing/2014/main" id="{1DEB4260-FBCA-EE9B-2FAB-0F920FE4F9B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17D108AA-03E2-FB48-AEDB-453F1A57A92A}" type="slidenum">
              <a:rPr lang="ko-KR" altLang="en-US" sz="1300" b="0" smtClean="0">
                <a:ea typeface="굴림" panose="020b0600000101010101" pitchFamily="34" charset="-127"/>
              </a:rPr>
              <a:t>1</a:t>
            </a:fld>
            <a:endParaRPr lang="en-US" altLang="ko-KR" sz="1300" b="0">
              <a:ea typeface="굴림" panose="020b0600000101010101" pitchFamily="34" charset="-127"/>
            </a:endParaRPr>
          </a:p>
        </p:txBody>
      </p:sp>
      <p:sp>
        <p:nvSpPr>
          <p:cNvPr id="16386" name="Rectangle 2">
            <a:extLst>
              <a:ext uri="{FF2B5EF4-FFF2-40B4-BE49-F238E27FC236}">
                <a16:creationId xmlns:a16="http://schemas.microsoft.com/office/drawing/2014/main" id="{D13E94A2-4F53-A781-CA41-6B930727002D}"/>
              </a:ext>
            </a:extLst>
          </p:cNvPr>
          <p:cNvSpPr>
            <a:spLocks noRot="1" noChangeArrowheads="1" noTextEdit="1"/>
          </p:cNvSpPr>
          <p:nvPr>
            <p:ph type="sldImg"/>
          </p:nvPr>
        </p:nvSpPr>
        <p:spPr>
          <a:xfrm>
            <a:off x="-2287588" y="1239838"/>
            <a:ext cx="11845926" cy="8201025"/>
          </a:xfrm>
        </p:spPr>
      </p:sp>
      <p:sp>
        <p:nvSpPr>
          <p:cNvPr id="16387" name="Rectangle 3">
            <a:extLst>
              <a:ext uri="{FF2B5EF4-FFF2-40B4-BE49-F238E27FC236}">
                <a16:creationId xmlns:a16="http://schemas.microsoft.com/office/drawing/2014/main" id="{0C8B03D7-61E6-9148-EF1C-C97928BFB367}"/>
              </a:ext>
            </a:extLst>
          </p:cNvPr>
          <p:cNvSpPr>
            <a:spLocks noGrp="1" noChangeArrowheads="1"/>
          </p:cNvSpPr>
          <p:nvPr>
            <p:ph type="body" idx="1"/>
          </p:nvPr>
        </p:nvSpPr>
        <p:spPr>
          <a:xfrm>
            <a:off x="873125" y="355600"/>
            <a:ext cx="6234113" cy="2143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8433" name="Rectangle 7">
            <a:extLst>
              <a:ext uri="{FF2B5EF4-FFF2-40B4-BE49-F238E27FC236}">
                <a16:creationId xmlns:a16="http://schemas.microsoft.com/office/drawing/2014/main" id="{352B16A9-72D3-2435-CFDA-3F7A7DCAEE9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D46BE298-9FC8-6046-8EED-2C4CF37E5D47}" type="slidenum">
              <a:rPr lang="ko-KR" altLang="en-US" sz="1300" b="0" smtClean="0">
                <a:ea typeface="굴림" panose="020b0600000101010101" pitchFamily="34" charset="-127"/>
              </a:rPr>
              <a:t>2</a:t>
            </a:fld>
            <a:endParaRPr lang="en-US" altLang="ko-KR" sz="1300" b="0">
              <a:ea typeface="굴림" panose="020b0600000101010101" pitchFamily="34" charset="-127"/>
            </a:endParaRPr>
          </a:p>
        </p:txBody>
      </p:sp>
      <p:sp>
        <p:nvSpPr>
          <p:cNvPr id="18434" name="Rectangle 2">
            <a:extLst>
              <a:ext uri="{FF2B5EF4-FFF2-40B4-BE49-F238E27FC236}">
                <a16:creationId xmlns:a16="http://schemas.microsoft.com/office/drawing/2014/main" id="{428B1A2D-14F3-2002-A0CA-D6A8FFE29726}"/>
              </a:ext>
            </a:extLst>
          </p:cNvPr>
          <p:cNvSpPr>
            <a:spLocks noRot="1" noChangeArrowheads="1" noTextEdit="1"/>
          </p:cNvSpPr>
          <p:nvPr>
            <p:ph type="sldImg"/>
          </p:nvPr>
        </p:nvSpPr>
        <p:spPr>
          <a:xfrm>
            <a:off x="1227138" y="831850"/>
            <a:ext cx="4872037" cy="3373438"/>
          </a:xfrm>
        </p:spPr>
      </p:sp>
      <p:sp>
        <p:nvSpPr>
          <p:cNvPr id="18435" name="Rectangle 3">
            <a:extLst>
              <a:ext uri="{FF2B5EF4-FFF2-40B4-BE49-F238E27FC236}">
                <a16:creationId xmlns:a16="http://schemas.microsoft.com/office/drawing/2014/main" id="{CB50153B-9200-A122-50ED-5D6F2F737871}"/>
              </a:ext>
            </a:extLst>
          </p:cNvPr>
          <p:cNvSpPr>
            <a:spLocks noGrp="1" noChangeArrowheads="1"/>
          </p:cNvSpPr>
          <p:nvPr>
            <p:ph type="body" idx="1"/>
          </p:nvPr>
        </p:nvSpPr>
        <p:spPr>
          <a:xfrm>
            <a:off x="974725" y="4559300"/>
            <a:ext cx="5365750" cy="2143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sk-SK"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6145" name="Rectangle 7">
            <a:extLst>
              <a:ext uri="{FF2B5EF4-FFF2-40B4-BE49-F238E27FC236}">
                <a16:creationId xmlns:a16="http://schemas.microsoft.com/office/drawing/2014/main" id="{0A295F46-7F23-996F-18CF-03085264F2F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3DFB724A-39D1-F74E-BEAD-73F8E5EE5497}" type="slidenum">
              <a:rPr lang="ko-KR" altLang="en-US" sz="1300" b="0" smtClean="0">
                <a:ea typeface="굴림" panose="020b0600000101010101" pitchFamily="34" charset="-127"/>
              </a:rPr>
              <a:t>3</a:t>
            </a:fld>
            <a:endParaRPr lang="en-US" altLang="ko-KR" sz="1300" b="0">
              <a:ea typeface="굴림" panose="020b0600000101010101" pitchFamily="34" charset="-127"/>
            </a:endParaRPr>
          </a:p>
        </p:txBody>
      </p:sp>
      <p:sp>
        <p:nvSpPr>
          <p:cNvPr id="6146" name="Rectangle 2">
            <a:extLst>
              <a:ext uri="{FF2B5EF4-FFF2-40B4-BE49-F238E27FC236}">
                <a16:creationId xmlns:a16="http://schemas.microsoft.com/office/drawing/2014/main" id="{2FC1F7CD-00B4-48FD-81D7-82FDAACDC3CC}"/>
              </a:ext>
            </a:extLst>
          </p:cNvPr>
          <p:cNvSpPr>
            <a:spLocks noRot="1" noChangeArrowheads="1" noTextEdit="1"/>
          </p:cNvSpPr>
          <p:nvPr>
            <p:ph type="sldImg"/>
          </p:nvPr>
        </p:nvSpPr>
        <p:spPr/>
      </p:sp>
      <p:sp>
        <p:nvSpPr>
          <p:cNvPr id="6147" name="Rectangle 3">
            <a:extLst>
              <a:ext uri="{FF2B5EF4-FFF2-40B4-BE49-F238E27FC236}">
                <a16:creationId xmlns:a16="http://schemas.microsoft.com/office/drawing/2014/main" id="{D092A0C8-C9F4-8091-E54D-55A99DBDFC8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8193" name="Rectangle 7">
            <a:extLst>
              <a:ext uri="{FF2B5EF4-FFF2-40B4-BE49-F238E27FC236}">
                <a16:creationId xmlns:a16="http://schemas.microsoft.com/office/drawing/2014/main" id="{B729ACC7-EFE0-8873-76DF-923B0A1EA30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8B2ABECA-EA9E-564B-B917-45FEE1F3B420}" type="slidenum">
              <a:rPr lang="ko-KR" altLang="en-US" sz="1300" b="0" smtClean="0">
                <a:ea typeface="굴림" panose="020b0600000101010101" pitchFamily="34" charset="-127"/>
              </a:rPr>
              <a:t>4</a:t>
            </a:fld>
            <a:endParaRPr lang="en-US" altLang="ko-KR" sz="1300" b="0">
              <a:ea typeface="굴림" panose="020b0600000101010101" pitchFamily="34" charset="-127"/>
            </a:endParaRPr>
          </a:p>
        </p:txBody>
      </p:sp>
      <p:sp>
        <p:nvSpPr>
          <p:cNvPr id="8194" name="Rectangle 2">
            <a:extLst>
              <a:ext uri="{FF2B5EF4-FFF2-40B4-BE49-F238E27FC236}">
                <a16:creationId xmlns:a16="http://schemas.microsoft.com/office/drawing/2014/main" id="{EBFBC71D-7C8C-F698-C1D1-F01B195EA0AC}"/>
              </a:ext>
            </a:extLst>
          </p:cNvPr>
          <p:cNvSpPr>
            <a:spLocks noRot="1" noChangeArrowheads="1" noTextEdit="1"/>
          </p:cNvSpPr>
          <p:nvPr>
            <p:ph type="sldImg"/>
          </p:nvPr>
        </p:nvSpPr>
        <p:spPr>
          <a:xfrm>
            <a:off x="-2287588" y="1239838"/>
            <a:ext cx="11845926" cy="8201025"/>
          </a:xfrm>
        </p:spPr>
      </p:sp>
      <p:sp>
        <p:nvSpPr>
          <p:cNvPr id="8195" name="Rectangle 3">
            <a:extLst>
              <a:ext uri="{FF2B5EF4-FFF2-40B4-BE49-F238E27FC236}">
                <a16:creationId xmlns:a16="http://schemas.microsoft.com/office/drawing/2014/main" id="{68A7DF0E-96D7-8339-EC34-932A0FDB995B}"/>
              </a:ext>
            </a:extLst>
          </p:cNvPr>
          <p:cNvSpPr>
            <a:spLocks noGrp="1" noChangeArrowheads="1"/>
          </p:cNvSpPr>
          <p:nvPr>
            <p:ph type="body" idx="1"/>
          </p:nvPr>
        </p:nvSpPr>
        <p:spPr>
          <a:xfrm>
            <a:off x="873125" y="354013"/>
            <a:ext cx="6234113" cy="2159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sk-SK" altLang="ko-K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0241" name="Rectangle 7">
            <a:extLst>
              <a:ext uri="{FF2B5EF4-FFF2-40B4-BE49-F238E27FC236}">
                <a16:creationId xmlns:a16="http://schemas.microsoft.com/office/drawing/2014/main" id="{E3AA7A51-CEF8-735C-F5EB-CF9E464E3CA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23B85256-6F76-E14B-B217-384FD81B16BC}" type="slidenum">
              <a:rPr lang="ko-KR" altLang="en-US" sz="1300" b="0" smtClean="0">
                <a:ea typeface="굴림" panose="020b0600000101010101" pitchFamily="34" charset="-127"/>
              </a:rPr>
              <a:t>5</a:t>
            </a:fld>
            <a:endParaRPr lang="en-US" altLang="ko-KR" sz="1300" b="0">
              <a:ea typeface="굴림" panose="020b0600000101010101" pitchFamily="34" charset="-127"/>
            </a:endParaRPr>
          </a:p>
        </p:txBody>
      </p:sp>
      <p:sp>
        <p:nvSpPr>
          <p:cNvPr id="10242" name="Rectangle 2">
            <a:extLst>
              <a:ext uri="{FF2B5EF4-FFF2-40B4-BE49-F238E27FC236}">
                <a16:creationId xmlns:a16="http://schemas.microsoft.com/office/drawing/2014/main" id="{82762DEE-380A-B2CB-FDD3-7F6089B29163}"/>
              </a:ext>
            </a:extLst>
          </p:cNvPr>
          <p:cNvSpPr>
            <a:spLocks noRot="1" noChangeArrowheads="1" noTextEdit="1"/>
          </p:cNvSpPr>
          <p:nvPr>
            <p:ph type="sldImg"/>
          </p:nvPr>
        </p:nvSpPr>
        <p:spPr>
          <a:xfrm>
            <a:off x="-2287588" y="1239838"/>
            <a:ext cx="11845926" cy="8201025"/>
          </a:xfrm>
        </p:spPr>
      </p:sp>
      <p:sp>
        <p:nvSpPr>
          <p:cNvPr id="10243" name="Rectangle 3">
            <a:extLst>
              <a:ext uri="{FF2B5EF4-FFF2-40B4-BE49-F238E27FC236}">
                <a16:creationId xmlns:a16="http://schemas.microsoft.com/office/drawing/2014/main" id="{039992DE-A5B6-8527-1F5C-6B3919702914}"/>
              </a:ext>
            </a:extLst>
          </p:cNvPr>
          <p:cNvSpPr>
            <a:spLocks noGrp="1" noChangeArrowheads="1"/>
          </p:cNvSpPr>
          <p:nvPr>
            <p:ph type="body" idx="1"/>
          </p:nvPr>
        </p:nvSpPr>
        <p:spPr>
          <a:xfrm>
            <a:off x="873125" y="354013"/>
            <a:ext cx="6234113" cy="2159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sk-SK" alt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2289" name="Rectangle 7">
            <a:extLst>
              <a:ext uri="{FF2B5EF4-FFF2-40B4-BE49-F238E27FC236}">
                <a16:creationId xmlns:a16="http://schemas.microsoft.com/office/drawing/2014/main" id="{A7B2D85A-7AC3-0BB4-5D7B-21130AE248B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CF255F3B-7AD7-C046-ACE8-2F29FCDFDC1D}" type="slidenum">
              <a:rPr lang="ko-KR" altLang="en-US" sz="1300" b="0" smtClean="0">
                <a:ea typeface="굴림" panose="020b0600000101010101" pitchFamily="34" charset="-127"/>
              </a:rPr>
              <a:t>6</a:t>
            </a:fld>
            <a:endParaRPr lang="en-US" altLang="ko-KR" sz="1300" b="0">
              <a:ea typeface="굴림" panose="020b0600000101010101" pitchFamily="34" charset="-127"/>
            </a:endParaRPr>
          </a:p>
        </p:txBody>
      </p:sp>
      <p:sp>
        <p:nvSpPr>
          <p:cNvPr id="12290" name="Rectangle 2">
            <a:extLst>
              <a:ext uri="{FF2B5EF4-FFF2-40B4-BE49-F238E27FC236}">
                <a16:creationId xmlns:a16="http://schemas.microsoft.com/office/drawing/2014/main" id="{92170761-B75E-5FED-0DC5-DC047417C763}"/>
              </a:ext>
            </a:extLst>
          </p:cNvPr>
          <p:cNvSpPr>
            <a:spLocks noRot="1" noChangeArrowheads="1" noTextEdit="1"/>
          </p:cNvSpPr>
          <p:nvPr>
            <p:ph type="sldImg"/>
          </p:nvPr>
        </p:nvSpPr>
        <p:spPr>
          <a:xfrm>
            <a:off x="-2284413" y="1239838"/>
            <a:ext cx="11841163" cy="8199437"/>
          </a:xfrm>
        </p:spPr>
      </p:sp>
      <p:sp>
        <p:nvSpPr>
          <p:cNvPr id="12291" name="Rectangle 3">
            <a:extLst>
              <a:ext uri="{FF2B5EF4-FFF2-40B4-BE49-F238E27FC236}">
                <a16:creationId xmlns:a16="http://schemas.microsoft.com/office/drawing/2014/main" id="{EC587AF5-FAF2-FEF0-AB56-3DBFECB7D742}"/>
              </a:ext>
            </a:extLst>
          </p:cNvPr>
          <p:cNvSpPr>
            <a:spLocks noGrp="1" noChangeArrowheads="1"/>
          </p:cNvSpPr>
          <p:nvPr>
            <p:ph type="body" idx="1"/>
          </p:nvPr>
        </p:nvSpPr>
        <p:spPr>
          <a:xfrm>
            <a:off x="873125" y="355600"/>
            <a:ext cx="6234113" cy="2143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0481" name="Rectangle 7">
            <a:extLst>
              <a:ext uri="{FF2B5EF4-FFF2-40B4-BE49-F238E27FC236}">
                <a16:creationId xmlns:a16="http://schemas.microsoft.com/office/drawing/2014/main" id="{ECC05302-38C3-CAE3-C66D-57DE58E9AF7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D90E844B-6E41-4C4A-A619-73AEFDEFAB23}" type="slidenum">
              <a:rPr lang="ko-KR" altLang="en-US" sz="1300" b="0" smtClean="0">
                <a:ea typeface="굴림" panose="020b0600000101010101" pitchFamily="34" charset="-127"/>
              </a:rPr>
              <a:t>7</a:t>
            </a:fld>
            <a:endParaRPr lang="en-US" altLang="ko-KR" sz="1300" b="0">
              <a:ea typeface="굴림" panose="020b0600000101010101" pitchFamily="34" charset="-127"/>
            </a:endParaRPr>
          </a:p>
        </p:txBody>
      </p:sp>
      <p:sp>
        <p:nvSpPr>
          <p:cNvPr id="20482" name="Rectangle 2">
            <a:extLst>
              <a:ext uri="{FF2B5EF4-FFF2-40B4-BE49-F238E27FC236}">
                <a16:creationId xmlns:a16="http://schemas.microsoft.com/office/drawing/2014/main" id="{DA30E266-235C-AF3D-4143-66A5E5E46C14}"/>
              </a:ext>
            </a:extLst>
          </p:cNvPr>
          <p:cNvSpPr>
            <a:spLocks noRot="1" noChangeArrowheads="1" noTextEdit="1"/>
          </p:cNvSpPr>
          <p:nvPr>
            <p:ph type="sldImg"/>
          </p:nvPr>
        </p:nvSpPr>
        <p:spPr/>
      </p:sp>
      <p:sp>
        <p:nvSpPr>
          <p:cNvPr id="20483" name="Rectangle 3">
            <a:extLst>
              <a:ext uri="{FF2B5EF4-FFF2-40B4-BE49-F238E27FC236}">
                <a16:creationId xmlns:a16="http://schemas.microsoft.com/office/drawing/2014/main" id="{A5F1AE77-86FF-E096-A429-BCB2EA5E1479}"/>
              </a:ext>
            </a:extLst>
          </p:cNvPr>
          <p:cNvSpPr>
            <a:spLocks noGrp="1" noChangeArrowheads="1"/>
          </p:cNvSpPr>
          <p:nvPr>
            <p:ph type="body" idx="1"/>
          </p:nvPr>
        </p:nvSpPr>
        <p:spPr>
          <a:xfrm>
            <a:off x="731838" y="4560888"/>
            <a:ext cx="5851525" cy="2127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2529" name="Rectangle 7">
            <a:extLst>
              <a:ext uri="{FF2B5EF4-FFF2-40B4-BE49-F238E27FC236}">
                <a16:creationId xmlns:a16="http://schemas.microsoft.com/office/drawing/2014/main" id="{CFBD7FDA-FB54-A918-A853-86EEB6217B6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F7A439B8-5DB9-D842-9E32-C777288ECBC7}" type="slidenum">
              <a:rPr lang="ko-KR" altLang="en-US" sz="1300" b="0" smtClean="0">
                <a:ea typeface="굴림" panose="020b0600000101010101" pitchFamily="34" charset="-127"/>
              </a:rPr>
              <a:t>8</a:t>
            </a:fld>
            <a:endParaRPr lang="en-US" altLang="ko-KR" sz="1300" b="0">
              <a:ea typeface="굴림" panose="020b0600000101010101" pitchFamily="34" charset="-127"/>
            </a:endParaRPr>
          </a:p>
        </p:txBody>
      </p:sp>
      <p:sp>
        <p:nvSpPr>
          <p:cNvPr id="22530" name="Rectangle 2">
            <a:extLst>
              <a:ext uri="{FF2B5EF4-FFF2-40B4-BE49-F238E27FC236}">
                <a16:creationId xmlns:a16="http://schemas.microsoft.com/office/drawing/2014/main" id="{68613539-875F-8753-446C-08E2414E9778}"/>
              </a:ext>
            </a:extLst>
          </p:cNvPr>
          <p:cNvSpPr>
            <a:spLocks noRot="1" noChangeArrowheads="1" noTextEdit="1"/>
          </p:cNvSpPr>
          <p:nvPr>
            <p:ph type="sldImg"/>
          </p:nvPr>
        </p:nvSpPr>
        <p:spPr/>
      </p:sp>
      <p:sp>
        <p:nvSpPr>
          <p:cNvPr id="22531" name="Rectangle 3">
            <a:extLst>
              <a:ext uri="{FF2B5EF4-FFF2-40B4-BE49-F238E27FC236}">
                <a16:creationId xmlns:a16="http://schemas.microsoft.com/office/drawing/2014/main" id="{4D4698EC-0090-B44D-927A-BB934C17BE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4577" name="Rectangle 7">
            <a:extLst>
              <a:ext uri="{FF2B5EF4-FFF2-40B4-BE49-F238E27FC236}">
                <a16:creationId xmlns:a16="http://schemas.microsoft.com/office/drawing/2014/main" id="{6BA4D95F-271B-5381-C74F-057B779D052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4AE6BC84-0DDB-164A-A84B-DABF8FA8C950}" type="slidenum">
              <a:rPr lang="ko-KR" altLang="en-US" sz="1300" b="0" smtClean="0">
                <a:ea typeface="굴림" panose="020b0600000101010101" pitchFamily="34" charset="-127"/>
              </a:rPr>
              <a:t>9</a:t>
            </a:fld>
            <a:endParaRPr lang="en-US" altLang="ko-KR" sz="1300" b="0">
              <a:ea typeface="굴림" panose="020b0600000101010101" pitchFamily="34" charset="-127"/>
            </a:endParaRPr>
          </a:p>
        </p:txBody>
      </p:sp>
      <p:sp>
        <p:nvSpPr>
          <p:cNvPr id="24578" name="Rectangle 2">
            <a:extLst>
              <a:ext uri="{FF2B5EF4-FFF2-40B4-BE49-F238E27FC236}">
                <a16:creationId xmlns:a16="http://schemas.microsoft.com/office/drawing/2014/main" id="{14FA1700-1E3B-CE6D-20C0-A525587A8ECD}"/>
              </a:ext>
            </a:extLst>
          </p:cNvPr>
          <p:cNvSpPr>
            <a:spLocks noRot="1" noChangeArrowheads="1" noTextEdit="1"/>
          </p:cNvSpPr>
          <p:nvPr>
            <p:ph type="sldImg"/>
          </p:nvPr>
        </p:nvSpPr>
        <p:spPr>
          <a:xfrm>
            <a:off x="1060450" y="720725"/>
            <a:ext cx="5195888" cy="3598863"/>
          </a:xfrm>
        </p:spPr>
      </p:sp>
      <p:sp>
        <p:nvSpPr>
          <p:cNvPr id="24579" name="Rectangle 3">
            <a:extLst>
              <a:ext uri="{FF2B5EF4-FFF2-40B4-BE49-F238E27FC236}">
                <a16:creationId xmlns:a16="http://schemas.microsoft.com/office/drawing/2014/main" id="{F9CC5E6B-95CC-99A8-0129-594BC6B1D56C}"/>
              </a:ext>
            </a:extLst>
          </p:cNvPr>
          <p:cNvSpPr>
            <a:spLocks noGrp="1" noChangeArrowheads="1"/>
          </p:cNvSpPr>
          <p:nvPr>
            <p:ph type="body" idx="1"/>
          </p:nvPr>
        </p:nvSpPr>
        <p:spPr>
          <a:xfrm>
            <a:off x="731838" y="4559300"/>
            <a:ext cx="5851525"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6625" name="Rectangle 7">
            <a:extLst>
              <a:ext uri="{FF2B5EF4-FFF2-40B4-BE49-F238E27FC236}">
                <a16:creationId xmlns:a16="http://schemas.microsoft.com/office/drawing/2014/main" id="{3C0F8593-AC34-CF53-54FE-C6D35E20E29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E7D89222-3F62-C342-9BC4-799580D6F550}" type="slidenum">
              <a:rPr lang="ko-KR" altLang="en-US" sz="1300" b="0" smtClean="0">
                <a:ea typeface="굴림" panose="020b0600000101010101" pitchFamily="34" charset="-127"/>
              </a:rPr>
              <a:t>10</a:t>
            </a:fld>
            <a:endParaRPr lang="en-US" altLang="ko-KR" sz="1300" b="0">
              <a:ea typeface="굴림" panose="020b0600000101010101" pitchFamily="34" charset="-127"/>
            </a:endParaRPr>
          </a:p>
        </p:txBody>
      </p:sp>
      <p:sp>
        <p:nvSpPr>
          <p:cNvPr id="26626" name="Rectangle 2">
            <a:extLst>
              <a:ext uri="{FF2B5EF4-FFF2-40B4-BE49-F238E27FC236}">
                <a16:creationId xmlns:a16="http://schemas.microsoft.com/office/drawing/2014/main" id="{3627BB6E-EEBC-4DC2-1CF9-D54A9AAACE28}"/>
              </a:ext>
            </a:extLst>
          </p:cNvPr>
          <p:cNvSpPr>
            <a:spLocks noRot="1" noChangeArrowheads="1" noTextEdit="1"/>
          </p:cNvSpPr>
          <p:nvPr>
            <p:ph type="sldImg"/>
          </p:nvPr>
        </p:nvSpPr>
        <p:spPr/>
      </p:sp>
      <p:sp>
        <p:nvSpPr>
          <p:cNvPr id="26627" name="Rectangle 3">
            <a:extLst>
              <a:ext uri="{FF2B5EF4-FFF2-40B4-BE49-F238E27FC236}">
                <a16:creationId xmlns:a16="http://schemas.microsoft.com/office/drawing/2014/main" id="{90432069-4730-AEC3-5F88-C1F98CE3D11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8673" name="Rectangle 7">
            <a:extLst>
              <a:ext uri="{FF2B5EF4-FFF2-40B4-BE49-F238E27FC236}">
                <a16:creationId xmlns:a16="http://schemas.microsoft.com/office/drawing/2014/main" id="{CAC37B62-005E-5C54-0F39-BD11E5D34F5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E678D0DE-3995-4140-B1C5-1DF4026281B4}" type="slidenum">
              <a:rPr lang="ko-KR" altLang="en-US" sz="1300" b="0" smtClean="0">
                <a:ea typeface="굴림" panose="020b0600000101010101" pitchFamily="34" charset="-127"/>
              </a:rPr>
              <a:t>11</a:t>
            </a:fld>
            <a:endParaRPr lang="en-US" altLang="ko-KR" sz="1300" b="0">
              <a:ea typeface="굴림" panose="020b0600000101010101" pitchFamily="34" charset="-127"/>
            </a:endParaRPr>
          </a:p>
        </p:txBody>
      </p:sp>
      <p:sp>
        <p:nvSpPr>
          <p:cNvPr id="28674" name="Rectangle 2">
            <a:extLst>
              <a:ext uri="{FF2B5EF4-FFF2-40B4-BE49-F238E27FC236}">
                <a16:creationId xmlns:a16="http://schemas.microsoft.com/office/drawing/2014/main" id="{184D9C43-B715-B0DF-C57C-2F745456CF78}"/>
              </a:ext>
            </a:extLst>
          </p:cNvPr>
          <p:cNvSpPr>
            <a:spLocks noRot="1" noChangeArrowheads="1" noTextEdit="1"/>
          </p:cNvSpPr>
          <p:nvPr>
            <p:ph type="sldImg"/>
          </p:nvPr>
        </p:nvSpPr>
        <p:spPr/>
      </p:sp>
      <p:sp>
        <p:nvSpPr>
          <p:cNvPr id="28675" name="Rectangle 3">
            <a:extLst>
              <a:ext uri="{FF2B5EF4-FFF2-40B4-BE49-F238E27FC236}">
                <a16:creationId xmlns:a16="http://schemas.microsoft.com/office/drawing/2014/main" id="{6469DCEA-E66F-5887-FC52-AB0F5F50033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30721" name="Rectangle 7">
            <a:extLst>
              <a:ext uri="{FF2B5EF4-FFF2-40B4-BE49-F238E27FC236}">
                <a16:creationId xmlns:a16="http://schemas.microsoft.com/office/drawing/2014/main" id="{A00B5230-0753-DCEB-CAEE-EB4B4131C82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2A152302-8995-0B4F-AB06-C3BB3C7AA7F0}" type="slidenum">
              <a:rPr lang="ko-KR" altLang="en-US" sz="1300" b="0" smtClean="0">
                <a:ea typeface="굴림" panose="020b0600000101010101" pitchFamily="34" charset="-127"/>
              </a:rPr>
              <a:t>12</a:t>
            </a:fld>
            <a:endParaRPr lang="en-US" altLang="ko-KR" sz="1300" b="0">
              <a:ea typeface="굴림" panose="020b0600000101010101" pitchFamily="34" charset="-127"/>
            </a:endParaRPr>
          </a:p>
        </p:txBody>
      </p:sp>
      <p:sp>
        <p:nvSpPr>
          <p:cNvPr id="30722" name="Rectangle 2">
            <a:extLst>
              <a:ext uri="{FF2B5EF4-FFF2-40B4-BE49-F238E27FC236}">
                <a16:creationId xmlns:a16="http://schemas.microsoft.com/office/drawing/2014/main" id="{F28184A0-E4CE-08C0-EDA3-763164C8EB3A}"/>
              </a:ext>
            </a:extLst>
          </p:cNvPr>
          <p:cNvSpPr>
            <a:spLocks noRot="1" noChangeArrowheads="1" noTextEdit="1"/>
          </p:cNvSpPr>
          <p:nvPr>
            <p:ph type="sldImg"/>
          </p:nvPr>
        </p:nvSpPr>
        <p:spPr/>
      </p:sp>
      <p:sp>
        <p:nvSpPr>
          <p:cNvPr id="30723" name="Rectangle 3">
            <a:extLst>
              <a:ext uri="{FF2B5EF4-FFF2-40B4-BE49-F238E27FC236}">
                <a16:creationId xmlns:a16="http://schemas.microsoft.com/office/drawing/2014/main" id="{111F9E9C-CA29-445D-2623-62B6F0B85A7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34817" name="Rectangle 7">
            <a:extLst>
              <a:ext uri="{FF2B5EF4-FFF2-40B4-BE49-F238E27FC236}">
                <a16:creationId xmlns:a16="http://schemas.microsoft.com/office/drawing/2014/main" id="{C3B8FE57-483E-13AF-7DA2-DEA59E6892B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A2286CE3-B32A-EF44-9FFE-2D70AA3E83B8}" type="slidenum">
              <a:rPr lang="ko-KR" altLang="en-US" sz="1300" b="0" smtClean="0">
                <a:ea typeface="굴림" panose="020b0600000101010101" pitchFamily="34" charset="-127"/>
              </a:rPr>
              <a:t>13</a:t>
            </a:fld>
            <a:endParaRPr lang="en-US" altLang="ko-KR" sz="1300" b="0">
              <a:ea typeface="굴림" panose="020b0600000101010101" pitchFamily="34" charset="-127"/>
            </a:endParaRPr>
          </a:p>
        </p:txBody>
      </p:sp>
      <p:sp>
        <p:nvSpPr>
          <p:cNvPr id="34818" name="Rectangle 2">
            <a:extLst>
              <a:ext uri="{FF2B5EF4-FFF2-40B4-BE49-F238E27FC236}">
                <a16:creationId xmlns:a16="http://schemas.microsoft.com/office/drawing/2014/main" id="{79807DEF-775D-77E4-8F03-1149697AE6A8}"/>
              </a:ext>
            </a:extLst>
          </p:cNvPr>
          <p:cNvSpPr>
            <a:spLocks noRot="1" noChangeArrowheads="1" noTextEdit="1"/>
          </p:cNvSpPr>
          <p:nvPr>
            <p:ph type="sldImg"/>
          </p:nvPr>
        </p:nvSpPr>
        <p:spPr/>
      </p:sp>
      <p:sp>
        <p:nvSpPr>
          <p:cNvPr id="34819" name="Rectangle 3">
            <a:extLst>
              <a:ext uri="{FF2B5EF4-FFF2-40B4-BE49-F238E27FC236}">
                <a16:creationId xmlns:a16="http://schemas.microsoft.com/office/drawing/2014/main" id="{66E58F47-275D-3B5F-63C5-E80D54636A7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36865" name="Rectangle 7">
            <a:extLst>
              <a:ext uri="{FF2B5EF4-FFF2-40B4-BE49-F238E27FC236}">
                <a16:creationId xmlns:a16="http://schemas.microsoft.com/office/drawing/2014/main" id="{CD3310E1-6FE9-8E90-5A7F-C6FF724AAA6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C06B6FA4-EAE2-CA4D-AF28-B1E505C5FE68}" type="slidenum">
              <a:rPr lang="ko-KR" altLang="en-US" sz="1300" b="0" smtClean="0">
                <a:ea typeface="굴림" panose="020b0600000101010101" pitchFamily="34" charset="-127"/>
              </a:rPr>
              <a:t>14</a:t>
            </a:fld>
            <a:endParaRPr lang="en-US" altLang="ko-KR" sz="1300" b="0">
              <a:ea typeface="굴림" panose="020b0600000101010101" pitchFamily="34" charset="-127"/>
            </a:endParaRPr>
          </a:p>
        </p:txBody>
      </p:sp>
      <p:sp>
        <p:nvSpPr>
          <p:cNvPr id="36866" name="Rectangle 2">
            <a:extLst>
              <a:ext uri="{FF2B5EF4-FFF2-40B4-BE49-F238E27FC236}">
                <a16:creationId xmlns:a16="http://schemas.microsoft.com/office/drawing/2014/main" id="{216D4A1F-8334-CAF1-CEF2-0AEAE58529ED}"/>
              </a:ext>
            </a:extLst>
          </p:cNvPr>
          <p:cNvSpPr>
            <a:spLocks noRot="1" noChangeArrowheads="1" noTextEdit="1"/>
          </p:cNvSpPr>
          <p:nvPr>
            <p:ph type="sldImg"/>
          </p:nvPr>
        </p:nvSpPr>
        <p:spPr>
          <a:xfrm>
            <a:off x="1069975" y="728663"/>
            <a:ext cx="5175250" cy="3584575"/>
          </a:xfrm>
        </p:spPr>
      </p:sp>
      <p:sp>
        <p:nvSpPr>
          <p:cNvPr id="36867" name="Rectangle 3">
            <a:extLst>
              <a:ext uri="{FF2B5EF4-FFF2-40B4-BE49-F238E27FC236}">
                <a16:creationId xmlns:a16="http://schemas.microsoft.com/office/drawing/2014/main" id="{B3E28EA1-D2DE-6264-30AF-9D4E7DC046F5}"/>
              </a:ext>
            </a:extLst>
          </p:cNvPr>
          <p:cNvSpPr>
            <a:spLocks noGrp="1" noChangeArrowheads="1"/>
          </p:cNvSpPr>
          <p:nvPr>
            <p:ph type="body" idx="1"/>
          </p:nvPr>
        </p:nvSpPr>
        <p:spPr>
          <a:xfrm>
            <a:off x="974725" y="4560888"/>
            <a:ext cx="5365750" cy="4318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38913" name="Rectangle 7">
            <a:extLst>
              <a:ext uri="{FF2B5EF4-FFF2-40B4-BE49-F238E27FC236}">
                <a16:creationId xmlns:a16="http://schemas.microsoft.com/office/drawing/2014/main" id="{26E25672-5404-1A3F-4E56-B47730C695B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1F23CE1A-378F-BF4F-93F2-A59756DD4B94}" type="slidenum">
              <a:rPr lang="ko-KR" altLang="en-US" sz="1300" b="0" smtClean="0">
                <a:ea typeface="굴림" panose="020b0600000101010101" pitchFamily="34" charset="-127"/>
              </a:rPr>
              <a:t>15</a:t>
            </a:fld>
            <a:endParaRPr lang="en-US" altLang="ko-KR" sz="1300" b="0">
              <a:ea typeface="굴림" panose="020b0600000101010101" pitchFamily="34" charset="-127"/>
            </a:endParaRPr>
          </a:p>
        </p:txBody>
      </p:sp>
      <p:sp>
        <p:nvSpPr>
          <p:cNvPr id="38914" name="Rectangle 2">
            <a:extLst>
              <a:ext uri="{FF2B5EF4-FFF2-40B4-BE49-F238E27FC236}">
                <a16:creationId xmlns:a16="http://schemas.microsoft.com/office/drawing/2014/main" id="{BB493B02-9A35-6BEF-4DFB-9A3CD3823050}"/>
              </a:ext>
            </a:extLst>
          </p:cNvPr>
          <p:cNvSpPr>
            <a:spLocks noRot="1" noChangeArrowheads="1" noTextEdit="1"/>
          </p:cNvSpPr>
          <p:nvPr>
            <p:ph type="sldImg"/>
          </p:nvPr>
        </p:nvSpPr>
        <p:spPr/>
      </p:sp>
      <p:sp>
        <p:nvSpPr>
          <p:cNvPr id="38915" name="Rectangle 3">
            <a:extLst>
              <a:ext uri="{FF2B5EF4-FFF2-40B4-BE49-F238E27FC236}">
                <a16:creationId xmlns:a16="http://schemas.microsoft.com/office/drawing/2014/main" id="{E1E91DAA-9DAC-743D-0391-4F2CB5A33C3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nl-NL" altLang="ko-K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47105" name="Rectangle 7">
            <a:extLst>
              <a:ext uri="{FF2B5EF4-FFF2-40B4-BE49-F238E27FC236}">
                <a16:creationId xmlns:a16="http://schemas.microsoft.com/office/drawing/2014/main" id="{58DA95F3-B902-38B5-515E-58F602CC636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91BA0A88-A7A7-0545-98E4-346CC6BACFE3}" type="slidenum">
              <a:rPr lang="ko-KR" altLang="en-US" sz="1300" b="0" smtClean="0">
                <a:ea typeface="굴림" panose="020b0600000101010101" pitchFamily="34" charset="-127"/>
              </a:rPr>
              <a:t>16</a:t>
            </a:fld>
            <a:endParaRPr lang="en-US" altLang="ko-KR" sz="1300" b="0">
              <a:ea typeface="굴림" panose="020b0600000101010101" pitchFamily="34" charset="-127"/>
            </a:endParaRPr>
          </a:p>
        </p:txBody>
      </p:sp>
      <p:sp>
        <p:nvSpPr>
          <p:cNvPr id="47106" name="Rectangle 2">
            <a:extLst>
              <a:ext uri="{FF2B5EF4-FFF2-40B4-BE49-F238E27FC236}">
                <a16:creationId xmlns:a16="http://schemas.microsoft.com/office/drawing/2014/main" id="{E861CE0D-36EF-3D3F-8948-CF433CDFBEF1}"/>
              </a:ext>
            </a:extLst>
          </p:cNvPr>
          <p:cNvSpPr>
            <a:spLocks noRot="1" noChangeArrowheads="1" noTextEdit="1"/>
          </p:cNvSpPr>
          <p:nvPr>
            <p:ph type="sldImg"/>
          </p:nvPr>
        </p:nvSpPr>
        <p:spPr/>
      </p:sp>
      <p:sp>
        <p:nvSpPr>
          <p:cNvPr id="47107" name="Rectangle 3">
            <a:extLst>
              <a:ext uri="{FF2B5EF4-FFF2-40B4-BE49-F238E27FC236}">
                <a16:creationId xmlns:a16="http://schemas.microsoft.com/office/drawing/2014/main" id="{1CB4E36B-1FFE-F0C3-23FE-199EB3CB95B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nl-NL" altLang="ko-K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49153" name="Rectangle 7">
            <a:extLst>
              <a:ext uri="{FF2B5EF4-FFF2-40B4-BE49-F238E27FC236}">
                <a16:creationId xmlns:a16="http://schemas.microsoft.com/office/drawing/2014/main" id="{6C22CE2B-A05B-0363-5CE2-81BC1DE5AE2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C819B2D0-61ED-674E-BC51-FDD5DDCD45BE}" type="slidenum">
              <a:rPr lang="ko-KR" altLang="en-US" sz="1300" b="0" smtClean="0">
                <a:ea typeface="굴림" panose="020b0600000101010101" pitchFamily="34" charset="-127"/>
              </a:rPr>
              <a:t>17</a:t>
            </a:fld>
            <a:endParaRPr lang="en-US" altLang="ko-KR" sz="1300" b="0">
              <a:ea typeface="굴림" panose="020b0600000101010101" pitchFamily="34" charset="-127"/>
            </a:endParaRPr>
          </a:p>
        </p:txBody>
      </p:sp>
      <p:sp>
        <p:nvSpPr>
          <p:cNvPr id="49154" name="Rectangle 2">
            <a:extLst>
              <a:ext uri="{FF2B5EF4-FFF2-40B4-BE49-F238E27FC236}">
                <a16:creationId xmlns:a16="http://schemas.microsoft.com/office/drawing/2014/main" id="{A9B7F944-216B-B90B-5E77-94DCE7595FA8}"/>
              </a:ext>
            </a:extLst>
          </p:cNvPr>
          <p:cNvSpPr>
            <a:spLocks noRot="1" noChangeArrowheads="1" noTextEdit="1"/>
          </p:cNvSpPr>
          <p:nvPr>
            <p:ph type="sldImg"/>
          </p:nvPr>
        </p:nvSpPr>
        <p:spPr>
          <a:xfrm>
            <a:off x="1060450" y="722313"/>
            <a:ext cx="5195888" cy="3598862"/>
          </a:xfrm>
        </p:spPr>
      </p:sp>
      <p:sp>
        <p:nvSpPr>
          <p:cNvPr id="49155" name="Rectangle 3">
            <a:extLst>
              <a:ext uri="{FF2B5EF4-FFF2-40B4-BE49-F238E27FC236}">
                <a16:creationId xmlns:a16="http://schemas.microsoft.com/office/drawing/2014/main" id="{3A42CD31-5C1A-EC3F-EECB-1AAACC234A60}"/>
              </a:ext>
            </a:extLst>
          </p:cNvPr>
          <p:cNvSpPr>
            <a:spLocks noGrp="1" noChangeArrowheads="1"/>
          </p:cNvSpPr>
          <p:nvPr>
            <p:ph type="body" idx="1"/>
          </p:nvPr>
        </p:nvSpPr>
        <p:spPr>
          <a:xfrm>
            <a:off x="974725" y="4560888"/>
            <a:ext cx="5365750" cy="4318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nl-NL" altLang="ko-K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53249" name="Rectangle 7">
            <a:extLst>
              <a:ext uri="{FF2B5EF4-FFF2-40B4-BE49-F238E27FC236}">
                <a16:creationId xmlns:a16="http://schemas.microsoft.com/office/drawing/2014/main" id="{65E093B8-0B11-0330-9A94-CE37993528F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5A03F5B5-18F6-C34F-809C-49E4D009F905}" type="slidenum">
              <a:rPr lang="ko-KR" altLang="en-US" sz="1300" b="0" smtClean="0">
                <a:ea typeface="굴림" panose="020b0600000101010101" pitchFamily="34" charset="-127"/>
              </a:rPr>
              <a:t>18</a:t>
            </a:fld>
            <a:endParaRPr lang="en-US" altLang="ko-KR" sz="1300" b="0">
              <a:ea typeface="굴림" panose="020b0600000101010101" pitchFamily="34" charset="-127"/>
            </a:endParaRPr>
          </a:p>
        </p:txBody>
      </p:sp>
      <p:sp>
        <p:nvSpPr>
          <p:cNvPr id="53250" name="Rectangle 2">
            <a:extLst>
              <a:ext uri="{FF2B5EF4-FFF2-40B4-BE49-F238E27FC236}">
                <a16:creationId xmlns:a16="http://schemas.microsoft.com/office/drawing/2014/main" id="{52C5C580-4CC1-8AB0-7FDE-67514A71C4F1}"/>
              </a:ext>
            </a:extLst>
          </p:cNvPr>
          <p:cNvSpPr>
            <a:spLocks noRot="1" noChangeArrowheads="1" noTextEdit="1"/>
          </p:cNvSpPr>
          <p:nvPr>
            <p:ph type="sldImg"/>
          </p:nvPr>
        </p:nvSpPr>
        <p:spPr>
          <a:xfrm>
            <a:off x="1057275" y="717550"/>
            <a:ext cx="5200650" cy="3600450"/>
          </a:xfrm>
        </p:spPr>
      </p:sp>
      <p:sp>
        <p:nvSpPr>
          <p:cNvPr id="53251" name="Rectangle 3">
            <a:extLst>
              <a:ext uri="{FF2B5EF4-FFF2-40B4-BE49-F238E27FC236}">
                <a16:creationId xmlns:a16="http://schemas.microsoft.com/office/drawing/2014/main" id="{743F5032-3500-A5AC-8036-2C015A608A17}"/>
              </a:ext>
            </a:extLst>
          </p:cNvPr>
          <p:cNvSpPr>
            <a:spLocks noGrp="1" noChangeArrowheads="1"/>
          </p:cNvSpPr>
          <p:nvPr>
            <p:ph type="body" idx="1"/>
          </p:nvPr>
        </p:nvSpPr>
        <p:spPr>
          <a:xfrm>
            <a:off x="728663" y="4557713"/>
            <a:ext cx="5857875" cy="43259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55297" name="Rectangle 7">
            <a:extLst>
              <a:ext uri="{FF2B5EF4-FFF2-40B4-BE49-F238E27FC236}">
                <a16:creationId xmlns:a16="http://schemas.microsoft.com/office/drawing/2014/main" id="{6B3C35F1-3D44-691A-EA81-F77F1E54772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8125E29A-475C-A846-9C4B-F5FAF4874678}" type="slidenum">
              <a:rPr lang="ko-KR" altLang="en-US" sz="1300" b="0" smtClean="0">
                <a:ea typeface="굴림" panose="020b0600000101010101" pitchFamily="34" charset="-127"/>
              </a:rPr>
              <a:t>19</a:t>
            </a:fld>
            <a:endParaRPr lang="en-US" altLang="ko-KR" sz="1300" b="0">
              <a:ea typeface="굴림" panose="020b0600000101010101" pitchFamily="34" charset="-127"/>
            </a:endParaRPr>
          </a:p>
        </p:txBody>
      </p:sp>
      <p:sp>
        <p:nvSpPr>
          <p:cNvPr id="55298" name="Rectangle 2">
            <a:extLst>
              <a:ext uri="{FF2B5EF4-FFF2-40B4-BE49-F238E27FC236}">
                <a16:creationId xmlns:a16="http://schemas.microsoft.com/office/drawing/2014/main" id="{19C38102-04D2-1DFE-A118-E14C03A1B570}"/>
              </a:ext>
            </a:extLst>
          </p:cNvPr>
          <p:cNvSpPr>
            <a:spLocks noRot="1" noChangeArrowheads="1" noTextEdit="1"/>
          </p:cNvSpPr>
          <p:nvPr>
            <p:ph type="sldImg"/>
          </p:nvPr>
        </p:nvSpPr>
        <p:spPr/>
      </p:sp>
      <p:sp>
        <p:nvSpPr>
          <p:cNvPr id="55299" name="Rectangle 3">
            <a:extLst>
              <a:ext uri="{FF2B5EF4-FFF2-40B4-BE49-F238E27FC236}">
                <a16:creationId xmlns:a16="http://schemas.microsoft.com/office/drawing/2014/main" id="{C22EF7CD-D90D-DCC2-0166-C02C850F623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57345" name="Rectangle 7">
            <a:extLst>
              <a:ext uri="{FF2B5EF4-FFF2-40B4-BE49-F238E27FC236}">
                <a16:creationId xmlns:a16="http://schemas.microsoft.com/office/drawing/2014/main" id="{2C7B5F5D-CD03-3BCA-5782-25E9002D1FE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48569718-DA1A-B749-AA53-BBC53BFFF278}" type="slidenum">
              <a:rPr lang="ko-KR" altLang="en-US" sz="1300" b="0" smtClean="0">
                <a:ea typeface="굴림" panose="020b0600000101010101" pitchFamily="34" charset="-127"/>
              </a:rPr>
              <a:t>20</a:t>
            </a:fld>
            <a:endParaRPr lang="en-US" altLang="ko-KR" sz="1300" b="0">
              <a:ea typeface="굴림" panose="020b0600000101010101" pitchFamily="34" charset="-127"/>
            </a:endParaRPr>
          </a:p>
        </p:txBody>
      </p:sp>
      <p:sp>
        <p:nvSpPr>
          <p:cNvPr id="57346" name="Rectangle 2">
            <a:extLst>
              <a:ext uri="{FF2B5EF4-FFF2-40B4-BE49-F238E27FC236}">
                <a16:creationId xmlns:a16="http://schemas.microsoft.com/office/drawing/2014/main" id="{1FE72E7F-4A45-3B0C-5A4E-24ACDE9CB38B}"/>
              </a:ext>
            </a:extLst>
          </p:cNvPr>
          <p:cNvSpPr>
            <a:spLocks noRot="1" noChangeArrowheads="1" noTextEdit="1"/>
          </p:cNvSpPr>
          <p:nvPr>
            <p:ph type="sldImg"/>
          </p:nvPr>
        </p:nvSpPr>
        <p:spPr>
          <a:xfrm>
            <a:off x="1060450" y="720725"/>
            <a:ext cx="5195888" cy="3598863"/>
          </a:xfrm>
        </p:spPr>
      </p:sp>
      <p:sp>
        <p:nvSpPr>
          <p:cNvPr id="57347" name="Rectangle 3">
            <a:extLst>
              <a:ext uri="{FF2B5EF4-FFF2-40B4-BE49-F238E27FC236}">
                <a16:creationId xmlns:a16="http://schemas.microsoft.com/office/drawing/2014/main" id="{5A8C9EE5-001C-C805-A4A1-E71DEFE1C688}"/>
              </a:ext>
            </a:extLst>
          </p:cNvPr>
          <p:cNvSpPr>
            <a:spLocks noGrp="1" noChangeArrowheads="1"/>
          </p:cNvSpPr>
          <p:nvPr>
            <p:ph type="body" idx="1"/>
          </p:nvPr>
        </p:nvSpPr>
        <p:spPr>
          <a:xfrm>
            <a:off x="730250" y="4559300"/>
            <a:ext cx="5854700"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61441" name="Rectangle 7">
            <a:extLst>
              <a:ext uri="{FF2B5EF4-FFF2-40B4-BE49-F238E27FC236}">
                <a16:creationId xmlns:a16="http://schemas.microsoft.com/office/drawing/2014/main" id="{ED008FD6-FE39-1B18-D7AA-E1A1029C6EB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FE6F12E5-2105-8D4A-946E-520351457A94}" type="slidenum">
              <a:rPr lang="ko-KR" altLang="en-US" sz="1300" b="0" smtClean="0">
                <a:ea typeface="굴림" panose="020b0600000101010101" pitchFamily="34" charset="-127"/>
              </a:rPr>
              <a:t>21</a:t>
            </a:fld>
            <a:endParaRPr lang="en-US" altLang="ko-KR" sz="1300" b="0">
              <a:ea typeface="굴림" panose="020b0600000101010101" pitchFamily="34" charset="-127"/>
            </a:endParaRPr>
          </a:p>
        </p:txBody>
      </p:sp>
      <p:sp>
        <p:nvSpPr>
          <p:cNvPr id="61442" name="Rectangle 2">
            <a:extLst>
              <a:ext uri="{FF2B5EF4-FFF2-40B4-BE49-F238E27FC236}">
                <a16:creationId xmlns:a16="http://schemas.microsoft.com/office/drawing/2014/main" id="{4C80C3EA-0450-9739-FB39-A155EC8E77FF}"/>
              </a:ext>
            </a:extLst>
          </p:cNvPr>
          <p:cNvSpPr>
            <a:spLocks noRot="1" noChangeArrowheads="1" noTextEdit="1"/>
          </p:cNvSpPr>
          <p:nvPr>
            <p:ph type="sldImg"/>
          </p:nvPr>
        </p:nvSpPr>
        <p:spPr>
          <a:xfrm>
            <a:off x="1079500" y="730250"/>
            <a:ext cx="5170488" cy="3579813"/>
          </a:xfrm>
          <a:ln w="12700" cap="flat">
            <a:solidFill>
              <a:schemeClr val="tx1"/>
            </a:solidFill>
          </a:ln>
        </p:spPr>
      </p:sp>
      <p:sp>
        <p:nvSpPr>
          <p:cNvPr id="61443" name="Rectangle 3">
            <a:extLst>
              <a:ext uri="{FF2B5EF4-FFF2-40B4-BE49-F238E27FC236}">
                <a16:creationId xmlns:a16="http://schemas.microsoft.com/office/drawing/2014/main" id="{0D6BDD48-9517-5636-3E79-432D14B31CD0}"/>
              </a:ext>
            </a:extLst>
          </p:cNvPr>
          <p:cNvSpPr>
            <a:spLocks noGrp="1" noChangeArrowheads="1"/>
          </p:cNvSpPr>
          <p:nvPr>
            <p:ph type="body" idx="1"/>
          </p:nvPr>
        </p:nvSpPr>
        <p:spPr>
          <a:xfrm>
            <a:off x="977900" y="4560888"/>
            <a:ext cx="5359400"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176" tIns="43051" rIns="89176" bIns="43051"/>
          <a:lstStyle/>
          <a:p>
            <a:pPr marL="198438" indent="-198438" eaLnBrk="1" hangingPunct="1"/>
            <a:endParaRPr lang="de-DE" altLang="ko-K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65537" name="Rectangle 7">
            <a:extLst>
              <a:ext uri="{FF2B5EF4-FFF2-40B4-BE49-F238E27FC236}">
                <a16:creationId xmlns:a16="http://schemas.microsoft.com/office/drawing/2014/main" id="{BF8CF839-190A-6822-EE5B-B801FCAF90A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606D7CB5-F2FB-6741-A690-312DA95BDE97}" type="slidenum">
              <a:rPr lang="ko-KR" altLang="en-US" sz="1300" b="0" smtClean="0">
                <a:ea typeface="굴림" panose="020b0600000101010101" pitchFamily="34" charset="-127"/>
              </a:rPr>
              <a:t>22</a:t>
            </a:fld>
            <a:endParaRPr lang="en-US" altLang="ko-KR" sz="1300" b="0">
              <a:ea typeface="굴림" panose="020b0600000101010101" pitchFamily="34" charset="-127"/>
            </a:endParaRPr>
          </a:p>
        </p:txBody>
      </p:sp>
      <p:sp>
        <p:nvSpPr>
          <p:cNvPr id="65538" name="Rectangle 2">
            <a:extLst>
              <a:ext uri="{FF2B5EF4-FFF2-40B4-BE49-F238E27FC236}">
                <a16:creationId xmlns:a16="http://schemas.microsoft.com/office/drawing/2014/main" id="{124403EA-FF6F-0D8F-9CA2-6369B8924A17}"/>
              </a:ext>
            </a:extLst>
          </p:cNvPr>
          <p:cNvSpPr>
            <a:spLocks noRot="1" noChangeArrowheads="1" noTextEdit="1"/>
          </p:cNvSpPr>
          <p:nvPr>
            <p:ph type="sldImg"/>
          </p:nvPr>
        </p:nvSpPr>
        <p:spPr>
          <a:xfrm>
            <a:off x="1057275" y="720725"/>
            <a:ext cx="5202238" cy="3602038"/>
          </a:xfrm>
        </p:spPr>
      </p:sp>
      <p:sp>
        <p:nvSpPr>
          <p:cNvPr id="65539" name="Rectangle 3">
            <a:extLst>
              <a:ext uri="{FF2B5EF4-FFF2-40B4-BE49-F238E27FC236}">
                <a16:creationId xmlns:a16="http://schemas.microsoft.com/office/drawing/2014/main" id="{6C49DFFE-1092-33AE-3E43-D23562497FB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67585" name="Rectangle 7">
            <a:extLst>
              <a:ext uri="{FF2B5EF4-FFF2-40B4-BE49-F238E27FC236}">
                <a16:creationId xmlns:a16="http://schemas.microsoft.com/office/drawing/2014/main" id="{2686F3BE-7BCA-2618-C253-A8E14330C52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47F82938-1FA5-6144-9152-98E5776983D2}" type="slidenum">
              <a:rPr lang="ko-KR" altLang="en-US" sz="1300" b="0" smtClean="0">
                <a:ea typeface="굴림" panose="020b0600000101010101" pitchFamily="34" charset="-127"/>
              </a:rPr>
              <a:t>23</a:t>
            </a:fld>
            <a:endParaRPr lang="en-US" altLang="ko-KR" sz="1300" b="0">
              <a:ea typeface="굴림" panose="020b0600000101010101" pitchFamily="34" charset="-127"/>
            </a:endParaRPr>
          </a:p>
        </p:txBody>
      </p:sp>
      <p:sp>
        <p:nvSpPr>
          <p:cNvPr id="67586" name="Rectangle 2">
            <a:extLst>
              <a:ext uri="{FF2B5EF4-FFF2-40B4-BE49-F238E27FC236}">
                <a16:creationId xmlns:a16="http://schemas.microsoft.com/office/drawing/2014/main" id="{85791B18-1284-58A4-560A-99B765B242CF}"/>
              </a:ext>
            </a:extLst>
          </p:cNvPr>
          <p:cNvSpPr>
            <a:spLocks noRot="1" noChangeArrowheads="1" noTextEdit="1"/>
          </p:cNvSpPr>
          <p:nvPr>
            <p:ph type="sldImg"/>
          </p:nvPr>
        </p:nvSpPr>
        <p:spPr>
          <a:xfrm>
            <a:off x="1057275" y="720725"/>
            <a:ext cx="5202238" cy="3602038"/>
          </a:xfrm>
        </p:spPr>
      </p:sp>
      <p:sp>
        <p:nvSpPr>
          <p:cNvPr id="67587" name="Rectangle 3">
            <a:extLst>
              <a:ext uri="{FF2B5EF4-FFF2-40B4-BE49-F238E27FC236}">
                <a16:creationId xmlns:a16="http://schemas.microsoft.com/office/drawing/2014/main" id="{7BE5E2EF-204B-0BEC-1D17-19161622CB5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69633" name="Rectangle 7">
            <a:extLst>
              <a:ext uri="{FF2B5EF4-FFF2-40B4-BE49-F238E27FC236}">
                <a16:creationId xmlns:a16="http://schemas.microsoft.com/office/drawing/2014/main" id="{AB339187-0C1A-1075-65B4-ED37D7DE2BE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68C0024E-7504-3642-BF07-E91835D052E1}" type="slidenum">
              <a:rPr lang="ko-KR" altLang="en-US" sz="1300" b="0" smtClean="0">
                <a:ea typeface="굴림" panose="020b0600000101010101" pitchFamily="34" charset="-127"/>
              </a:rPr>
              <a:t>24</a:t>
            </a:fld>
            <a:endParaRPr lang="en-US" altLang="ko-KR" sz="1300" b="0">
              <a:ea typeface="굴림" panose="020b0600000101010101" pitchFamily="34" charset="-127"/>
            </a:endParaRPr>
          </a:p>
        </p:txBody>
      </p:sp>
      <p:sp>
        <p:nvSpPr>
          <p:cNvPr id="69634" name="Rectangle 2">
            <a:extLst>
              <a:ext uri="{FF2B5EF4-FFF2-40B4-BE49-F238E27FC236}">
                <a16:creationId xmlns:a16="http://schemas.microsoft.com/office/drawing/2014/main" id="{EB8F4285-6F44-AFB9-A6D9-9E013765C4BB}"/>
              </a:ext>
            </a:extLst>
          </p:cNvPr>
          <p:cNvSpPr>
            <a:spLocks noRot="1" noChangeArrowheads="1" noTextEdit="1"/>
          </p:cNvSpPr>
          <p:nvPr>
            <p:ph type="sldImg"/>
          </p:nvPr>
        </p:nvSpPr>
        <p:spPr>
          <a:xfrm>
            <a:off x="1227138" y="835025"/>
            <a:ext cx="4865687" cy="3370263"/>
          </a:xfrm>
        </p:spPr>
      </p:sp>
      <p:sp>
        <p:nvSpPr>
          <p:cNvPr id="69635" name="Rectangle 3">
            <a:extLst>
              <a:ext uri="{FF2B5EF4-FFF2-40B4-BE49-F238E27FC236}">
                <a16:creationId xmlns:a16="http://schemas.microsoft.com/office/drawing/2014/main" id="{F9495FA5-2D77-6DFC-A881-FD357AF2AA20}"/>
              </a:ext>
            </a:extLst>
          </p:cNvPr>
          <p:cNvSpPr>
            <a:spLocks noGrp="1" noChangeArrowheads="1"/>
          </p:cNvSpPr>
          <p:nvPr>
            <p:ph type="body" idx="1"/>
          </p:nvPr>
        </p:nvSpPr>
        <p:spPr>
          <a:xfrm>
            <a:off x="974725" y="4559300"/>
            <a:ext cx="5365750" cy="43243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71681" name="Rectangle 7">
            <a:extLst>
              <a:ext uri="{FF2B5EF4-FFF2-40B4-BE49-F238E27FC236}">
                <a16:creationId xmlns:a16="http://schemas.microsoft.com/office/drawing/2014/main" id="{78F8E53B-B909-F7B7-4322-473E958EA17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CFCBF5AB-53D5-4341-9309-1F35E8C7CE01}" type="slidenum">
              <a:rPr lang="ko-KR" altLang="en-US" sz="1300" b="0" smtClean="0">
                <a:ea typeface="굴림" panose="020b0600000101010101" pitchFamily="34" charset="-127"/>
              </a:rPr>
              <a:t>25</a:t>
            </a:fld>
            <a:endParaRPr lang="en-US" altLang="ko-KR" sz="1300" b="0">
              <a:ea typeface="굴림" panose="020b0600000101010101" pitchFamily="34" charset="-127"/>
            </a:endParaRPr>
          </a:p>
        </p:txBody>
      </p:sp>
      <p:sp>
        <p:nvSpPr>
          <p:cNvPr id="71682" name="Rectangle 2">
            <a:extLst>
              <a:ext uri="{FF2B5EF4-FFF2-40B4-BE49-F238E27FC236}">
                <a16:creationId xmlns:a16="http://schemas.microsoft.com/office/drawing/2014/main" id="{8A4E87F9-5EBB-A5BA-80D3-EBAAC04C89F1}"/>
              </a:ext>
            </a:extLst>
          </p:cNvPr>
          <p:cNvSpPr>
            <a:spLocks noRot="1" noChangeArrowheads="1" noTextEdit="1"/>
          </p:cNvSpPr>
          <p:nvPr>
            <p:ph type="sldImg"/>
          </p:nvPr>
        </p:nvSpPr>
        <p:spPr/>
      </p:sp>
      <p:sp>
        <p:nvSpPr>
          <p:cNvPr id="71683" name="Rectangle 3">
            <a:extLst>
              <a:ext uri="{FF2B5EF4-FFF2-40B4-BE49-F238E27FC236}">
                <a16:creationId xmlns:a16="http://schemas.microsoft.com/office/drawing/2014/main" id="{AD8C2C07-518B-CDAC-8C86-CA0AED24562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nb-NO" altLang="ko-K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73729" name="Rectangle 7">
            <a:extLst>
              <a:ext uri="{FF2B5EF4-FFF2-40B4-BE49-F238E27FC236}">
                <a16:creationId xmlns:a16="http://schemas.microsoft.com/office/drawing/2014/main" id="{E58834B2-8AF6-9F21-4C35-D0DDB75F59C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D5B17324-0E22-B445-ABE2-E82FEACD4F74}" type="slidenum">
              <a:rPr lang="ko-KR" altLang="en-US" sz="1300" b="0" smtClean="0">
                <a:ea typeface="굴림" panose="020b0600000101010101" pitchFamily="34" charset="-127"/>
              </a:rPr>
              <a:t>26</a:t>
            </a:fld>
            <a:endParaRPr lang="en-US" altLang="ko-KR" sz="1300" b="0">
              <a:ea typeface="굴림" panose="020b0600000101010101" pitchFamily="34" charset="-127"/>
            </a:endParaRPr>
          </a:p>
        </p:txBody>
      </p:sp>
      <p:sp>
        <p:nvSpPr>
          <p:cNvPr id="73730" name="Rectangle 2">
            <a:extLst>
              <a:ext uri="{FF2B5EF4-FFF2-40B4-BE49-F238E27FC236}">
                <a16:creationId xmlns:a16="http://schemas.microsoft.com/office/drawing/2014/main" id="{34C40D64-6D40-994E-C93B-98E9B69E0A0C}"/>
              </a:ext>
            </a:extLst>
          </p:cNvPr>
          <p:cNvSpPr>
            <a:spLocks noRot="1" noChangeArrowheads="1" noTextEdit="1"/>
          </p:cNvSpPr>
          <p:nvPr>
            <p:ph type="sldImg"/>
          </p:nvPr>
        </p:nvSpPr>
        <p:spPr>
          <a:xfrm>
            <a:off x="1057275" y="719138"/>
            <a:ext cx="5202238" cy="3602037"/>
          </a:xfrm>
        </p:spPr>
      </p:sp>
      <p:sp>
        <p:nvSpPr>
          <p:cNvPr id="73731" name="Rectangle 3">
            <a:extLst>
              <a:ext uri="{FF2B5EF4-FFF2-40B4-BE49-F238E27FC236}">
                <a16:creationId xmlns:a16="http://schemas.microsoft.com/office/drawing/2014/main" id="{8B011A89-C7B3-9FB7-63F9-CFF874DC9B40}"/>
              </a:ext>
            </a:extLst>
          </p:cNvPr>
          <p:cNvSpPr>
            <a:spLocks noGrp="1" noChangeArrowheads="1"/>
          </p:cNvSpPr>
          <p:nvPr>
            <p:ph type="body" idx="1"/>
          </p:nvPr>
        </p:nvSpPr>
        <p:spPr>
          <a:xfrm>
            <a:off x="974725" y="4559300"/>
            <a:ext cx="5365750" cy="43227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77825" name="Rectangle 7">
            <a:extLst>
              <a:ext uri="{FF2B5EF4-FFF2-40B4-BE49-F238E27FC236}">
                <a16:creationId xmlns:a16="http://schemas.microsoft.com/office/drawing/2014/main" id="{C69A7308-CF43-D848-99A5-3B4DB943C42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FEA9A359-068D-0A48-A27D-37FF98B74E3E}" type="slidenum">
              <a:rPr lang="ko-KR" altLang="en-US" sz="1300" b="0" smtClean="0">
                <a:ea typeface="굴림" panose="020b0600000101010101" pitchFamily="34" charset="-127"/>
              </a:rPr>
              <a:t>27</a:t>
            </a:fld>
            <a:endParaRPr lang="en-US" altLang="ko-KR" sz="1300" b="0">
              <a:ea typeface="굴림" panose="020b0600000101010101" pitchFamily="34" charset="-127"/>
            </a:endParaRPr>
          </a:p>
        </p:txBody>
      </p:sp>
      <p:sp>
        <p:nvSpPr>
          <p:cNvPr id="77826" name="Rectangle 2">
            <a:extLst>
              <a:ext uri="{FF2B5EF4-FFF2-40B4-BE49-F238E27FC236}">
                <a16:creationId xmlns:a16="http://schemas.microsoft.com/office/drawing/2014/main" id="{57798FA6-9C94-F49A-7F6F-E4DD8BB9DDE9}"/>
              </a:ext>
            </a:extLst>
          </p:cNvPr>
          <p:cNvSpPr>
            <a:spLocks noRot="1" noChangeArrowheads="1" noTextEdit="1"/>
          </p:cNvSpPr>
          <p:nvPr>
            <p:ph type="sldImg"/>
          </p:nvPr>
        </p:nvSpPr>
        <p:spPr>
          <a:xfrm>
            <a:off x="1074738" y="730250"/>
            <a:ext cx="5172075" cy="3581400"/>
          </a:xfrm>
        </p:spPr>
      </p:sp>
      <p:sp>
        <p:nvSpPr>
          <p:cNvPr id="77827" name="Rectangle 3">
            <a:extLst>
              <a:ext uri="{FF2B5EF4-FFF2-40B4-BE49-F238E27FC236}">
                <a16:creationId xmlns:a16="http://schemas.microsoft.com/office/drawing/2014/main" id="{C946299B-562E-0999-B72E-10CA1CADC6BE}"/>
              </a:ext>
            </a:extLst>
          </p:cNvPr>
          <p:cNvSpPr>
            <a:spLocks noGrp="1" noChangeArrowheads="1"/>
          </p:cNvSpPr>
          <p:nvPr>
            <p:ph type="body" idx="1"/>
          </p:nvPr>
        </p:nvSpPr>
        <p:spPr>
          <a:xfrm>
            <a:off x="973138" y="4559300"/>
            <a:ext cx="5368925" cy="43195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79873" name="Rectangle 7">
            <a:extLst>
              <a:ext uri="{FF2B5EF4-FFF2-40B4-BE49-F238E27FC236}">
                <a16:creationId xmlns:a16="http://schemas.microsoft.com/office/drawing/2014/main" id="{09A39714-D12D-CCF6-4C10-0A8A7D324A6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CF44F03F-9D88-1746-ACC7-7573ED35096C}" type="slidenum">
              <a:rPr lang="ko-KR" altLang="en-US" sz="1300" b="0" smtClean="0">
                <a:ea typeface="굴림" panose="020b0600000101010101" pitchFamily="34" charset="-127"/>
              </a:rPr>
              <a:t>28</a:t>
            </a:fld>
            <a:endParaRPr lang="en-US" altLang="ko-KR" sz="1300" b="0">
              <a:ea typeface="굴림" panose="020b0600000101010101" pitchFamily="34" charset="-127"/>
            </a:endParaRPr>
          </a:p>
        </p:txBody>
      </p:sp>
      <p:sp>
        <p:nvSpPr>
          <p:cNvPr id="79874" name="Rectangle 2">
            <a:extLst>
              <a:ext uri="{FF2B5EF4-FFF2-40B4-BE49-F238E27FC236}">
                <a16:creationId xmlns:a16="http://schemas.microsoft.com/office/drawing/2014/main" id="{BBAB5828-6EAF-AF0C-2B1F-70BC4D09462C}"/>
              </a:ext>
            </a:extLst>
          </p:cNvPr>
          <p:cNvSpPr>
            <a:spLocks noRot="1" noChangeArrowheads="1" noTextEdit="1"/>
          </p:cNvSpPr>
          <p:nvPr>
            <p:ph type="sldImg"/>
          </p:nvPr>
        </p:nvSpPr>
        <p:spPr>
          <a:xfrm>
            <a:off x="1057275" y="719138"/>
            <a:ext cx="5200650" cy="3600450"/>
          </a:xfrm>
        </p:spPr>
      </p:sp>
      <p:sp>
        <p:nvSpPr>
          <p:cNvPr id="79875" name="Rectangle 3">
            <a:extLst>
              <a:ext uri="{FF2B5EF4-FFF2-40B4-BE49-F238E27FC236}">
                <a16:creationId xmlns:a16="http://schemas.microsoft.com/office/drawing/2014/main" id="{6ADA4B7D-0BFF-CF49-2593-30446E867C76}"/>
              </a:ext>
            </a:extLst>
          </p:cNvPr>
          <p:cNvSpPr>
            <a:spLocks noGrp="1" noChangeArrowheads="1"/>
          </p:cNvSpPr>
          <p:nvPr>
            <p:ph type="body" idx="1"/>
          </p:nvPr>
        </p:nvSpPr>
        <p:spPr>
          <a:xfrm>
            <a:off x="731838" y="4560888"/>
            <a:ext cx="5851525"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81921" name="Rectangle 7">
            <a:extLst>
              <a:ext uri="{FF2B5EF4-FFF2-40B4-BE49-F238E27FC236}">
                <a16:creationId xmlns:a16="http://schemas.microsoft.com/office/drawing/2014/main" id="{91738967-3D8F-F916-FD84-FF9BEB61A83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86648DF3-ED85-F54D-8BE6-21D14ED53F01}" type="slidenum">
              <a:rPr lang="ko-KR" altLang="en-US" sz="1300" b="0" smtClean="0">
                <a:ea typeface="굴림" panose="020b0600000101010101" pitchFamily="34" charset="-127"/>
              </a:rPr>
              <a:t>29</a:t>
            </a:fld>
            <a:endParaRPr lang="en-US" altLang="ko-KR" sz="1300" b="0">
              <a:ea typeface="굴림" panose="020b0600000101010101" pitchFamily="34" charset="-127"/>
            </a:endParaRPr>
          </a:p>
        </p:txBody>
      </p:sp>
      <p:sp>
        <p:nvSpPr>
          <p:cNvPr id="81922" name="Rectangle 2">
            <a:extLst>
              <a:ext uri="{FF2B5EF4-FFF2-40B4-BE49-F238E27FC236}">
                <a16:creationId xmlns:a16="http://schemas.microsoft.com/office/drawing/2014/main" id="{2374A21D-B7DC-C135-4B9F-D7FC32164FC6}"/>
              </a:ext>
            </a:extLst>
          </p:cNvPr>
          <p:cNvSpPr>
            <a:spLocks noRot="1" noChangeArrowheads="1" noTextEdit="1"/>
          </p:cNvSpPr>
          <p:nvPr>
            <p:ph type="sldImg"/>
          </p:nvPr>
        </p:nvSpPr>
        <p:spPr>
          <a:xfrm>
            <a:off x="1057275" y="719138"/>
            <a:ext cx="5200650" cy="3600450"/>
          </a:xfrm>
        </p:spPr>
      </p:sp>
      <p:sp>
        <p:nvSpPr>
          <p:cNvPr id="81923" name="Rectangle 3">
            <a:extLst>
              <a:ext uri="{FF2B5EF4-FFF2-40B4-BE49-F238E27FC236}">
                <a16:creationId xmlns:a16="http://schemas.microsoft.com/office/drawing/2014/main" id="{24FF158E-EE9E-EBD0-B160-A5C60DD5DDA1}"/>
              </a:ext>
            </a:extLst>
          </p:cNvPr>
          <p:cNvSpPr>
            <a:spLocks noGrp="1" noChangeArrowheads="1"/>
          </p:cNvSpPr>
          <p:nvPr>
            <p:ph type="body" idx="1"/>
          </p:nvPr>
        </p:nvSpPr>
        <p:spPr>
          <a:xfrm>
            <a:off x="731838" y="4560888"/>
            <a:ext cx="5851525"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83969" name="Rectangle 7">
            <a:extLst>
              <a:ext uri="{FF2B5EF4-FFF2-40B4-BE49-F238E27FC236}">
                <a16:creationId xmlns:a16="http://schemas.microsoft.com/office/drawing/2014/main" id="{C28710A4-7E09-6E88-2C8C-4F8DCD589D1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C065038A-0749-514D-81B1-B7617DDDE458}" type="slidenum">
              <a:rPr lang="ko-KR" altLang="en-US" sz="1300" b="0" smtClean="0">
                <a:ea typeface="굴림" panose="020b0600000101010101" pitchFamily="34" charset="-127"/>
              </a:rPr>
              <a:t>30</a:t>
            </a:fld>
            <a:endParaRPr lang="en-US" altLang="ko-KR" sz="1300" b="0">
              <a:ea typeface="굴림" panose="020b0600000101010101" pitchFamily="34" charset="-127"/>
            </a:endParaRPr>
          </a:p>
        </p:txBody>
      </p:sp>
      <p:sp>
        <p:nvSpPr>
          <p:cNvPr id="83970" name="Rectangle 2">
            <a:extLst>
              <a:ext uri="{FF2B5EF4-FFF2-40B4-BE49-F238E27FC236}">
                <a16:creationId xmlns:a16="http://schemas.microsoft.com/office/drawing/2014/main" id="{302C4C5F-3336-0C1F-EB91-9E217E590899}"/>
              </a:ext>
            </a:extLst>
          </p:cNvPr>
          <p:cNvSpPr>
            <a:spLocks noRot="1" noChangeArrowheads="1" noTextEdit="1"/>
          </p:cNvSpPr>
          <p:nvPr>
            <p:ph type="sldImg"/>
          </p:nvPr>
        </p:nvSpPr>
        <p:spPr>
          <a:xfrm>
            <a:off x="1057275" y="719138"/>
            <a:ext cx="5200650" cy="3600450"/>
          </a:xfrm>
        </p:spPr>
      </p:sp>
      <p:sp>
        <p:nvSpPr>
          <p:cNvPr id="83971" name="Rectangle 3">
            <a:extLst>
              <a:ext uri="{FF2B5EF4-FFF2-40B4-BE49-F238E27FC236}">
                <a16:creationId xmlns:a16="http://schemas.microsoft.com/office/drawing/2014/main" id="{8DFB7A56-D020-4DC6-0D7C-0EC85E4145EF}"/>
              </a:ext>
            </a:extLst>
          </p:cNvPr>
          <p:cNvSpPr>
            <a:spLocks noGrp="1" noChangeArrowheads="1"/>
          </p:cNvSpPr>
          <p:nvPr>
            <p:ph type="body" idx="1"/>
          </p:nvPr>
        </p:nvSpPr>
        <p:spPr>
          <a:xfrm>
            <a:off x="731838" y="4560888"/>
            <a:ext cx="5851525"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ko-KR" altLang="en-US">
              <a:ea typeface="굴림" panose="020b0600000101010101" pitchFamily="34" charset="-127"/>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88065" name="Rectangle 7">
            <a:extLst>
              <a:ext uri="{FF2B5EF4-FFF2-40B4-BE49-F238E27FC236}">
                <a16:creationId xmlns:a16="http://schemas.microsoft.com/office/drawing/2014/main" id="{D7074786-3A08-9A44-5846-596FD947F37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7E647BC5-09A1-454F-BB07-DFDED9FEE27E}" type="slidenum">
              <a:rPr lang="ko-KR" altLang="en-US" sz="1300" b="0" smtClean="0">
                <a:ea typeface="굴림" panose="020b0600000101010101" pitchFamily="34" charset="-127"/>
              </a:rPr>
              <a:t>31</a:t>
            </a:fld>
            <a:endParaRPr lang="en-US" altLang="ko-KR" sz="1300" b="0">
              <a:ea typeface="굴림" panose="020b0600000101010101" pitchFamily="34" charset="-127"/>
            </a:endParaRPr>
          </a:p>
        </p:txBody>
      </p:sp>
      <p:sp>
        <p:nvSpPr>
          <p:cNvPr id="88066" name="Rectangle 2">
            <a:extLst>
              <a:ext uri="{FF2B5EF4-FFF2-40B4-BE49-F238E27FC236}">
                <a16:creationId xmlns:a16="http://schemas.microsoft.com/office/drawing/2014/main" id="{BA35E486-32A2-4319-AC14-44EA9328F835}"/>
              </a:ext>
            </a:extLst>
          </p:cNvPr>
          <p:cNvSpPr>
            <a:spLocks noRot="1" noChangeArrowheads="1" noTextEdit="1"/>
          </p:cNvSpPr>
          <p:nvPr>
            <p:ph type="sldImg"/>
          </p:nvPr>
        </p:nvSpPr>
        <p:spPr>
          <a:xfrm>
            <a:off x="1069975" y="728663"/>
            <a:ext cx="5180013" cy="3586162"/>
          </a:xfrm>
        </p:spPr>
      </p:sp>
      <p:sp>
        <p:nvSpPr>
          <p:cNvPr id="88067" name="Rectangle 3">
            <a:extLst>
              <a:ext uri="{FF2B5EF4-FFF2-40B4-BE49-F238E27FC236}">
                <a16:creationId xmlns:a16="http://schemas.microsoft.com/office/drawing/2014/main" id="{F74A51B6-1AE8-471D-65CA-DF77A862BB08}"/>
              </a:ext>
            </a:extLst>
          </p:cNvPr>
          <p:cNvSpPr>
            <a:spLocks noGrp="1" noChangeArrowheads="1"/>
          </p:cNvSpPr>
          <p:nvPr>
            <p:ph type="body" idx="1"/>
          </p:nvPr>
        </p:nvSpPr>
        <p:spPr>
          <a:xfrm>
            <a:off x="976313" y="4559300"/>
            <a:ext cx="5362575"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310" tIns="46155" rIns="92310" bIns="46155"/>
          <a:lstStyle/>
          <a:p>
            <a:pPr eaLnBrk="1" hangingPunct="1"/>
            <a:endParaRPr lang="de-DE" altLang="ko-KR"/>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90113" name="Rectangle 7">
            <a:extLst>
              <a:ext uri="{FF2B5EF4-FFF2-40B4-BE49-F238E27FC236}">
                <a16:creationId xmlns:a16="http://schemas.microsoft.com/office/drawing/2014/main" id="{1AB73082-BAFC-F4E2-F58D-1A847E97BE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B26C922D-B166-D941-95B8-EA1CCDFEDD12}" type="slidenum">
              <a:rPr lang="ko-KR" altLang="en-US" sz="1300" b="0" smtClean="0">
                <a:ea typeface="굴림" panose="020b0600000101010101" pitchFamily="34" charset="-127"/>
              </a:rPr>
              <a:t>32</a:t>
            </a:fld>
            <a:endParaRPr lang="en-US" altLang="ko-KR" sz="1300" b="0">
              <a:ea typeface="굴림" panose="020b0600000101010101" pitchFamily="34" charset="-127"/>
            </a:endParaRPr>
          </a:p>
        </p:txBody>
      </p:sp>
      <p:sp>
        <p:nvSpPr>
          <p:cNvPr id="90114" name="Rectangle 2">
            <a:extLst>
              <a:ext uri="{FF2B5EF4-FFF2-40B4-BE49-F238E27FC236}">
                <a16:creationId xmlns:a16="http://schemas.microsoft.com/office/drawing/2014/main" id="{008F443C-7DFA-5080-1A3C-45B0C9E92B2F}"/>
              </a:ext>
            </a:extLst>
          </p:cNvPr>
          <p:cNvSpPr>
            <a:spLocks noRot="1" noChangeArrowheads="1" noTextEdit="1"/>
          </p:cNvSpPr>
          <p:nvPr>
            <p:ph type="sldImg"/>
          </p:nvPr>
        </p:nvSpPr>
        <p:spPr>
          <a:xfrm>
            <a:off x="1057275" y="722313"/>
            <a:ext cx="5200650" cy="3600450"/>
          </a:xfrm>
        </p:spPr>
      </p:sp>
      <p:sp>
        <p:nvSpPr>
          <p:cNvPr id="90115" name="Rectangle 3">
            <a:extLst>
              <a:ext uri="{FF2B5EF4-FFF2-40B4-BE49-F238E27FC236}">
                <a16:creationId xmlns:a16="http://schemas.microsoft.com/office/drawing/2014/main" id="{BE93B87F-3ADD-CA1C-9501-2FB649D6C840}"/>
              </a:ext>
            </a:extLst>
          </p:cNvPr>
          <p:cNvSpPr>
            <a:spLocks noGrp="1" noChangeArrowheads="1"/>
          </p:cNvSpPr>
          <p:nvPr>
            <p:ph type="body" idx="1"/>
          </p:nvPr>
        </p:nvSpPr>
        <p:spPr>
          <a:xfrm>
            <a:off x="731838" y="4560888"/>
            <a:ext cx="5851525" cy="4318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ea typeface="SimSun"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92161" name="Rectangle 7">
            <a:extLst>
              <a:ext uri="{FF2B5EF4-FFF2-40B4-BE49-F238E27FC236}">
                <a16:creationId xmlns:a16="http://schemas.microsoft.com/office/drawing/2014/main" id="{66BAC414-CE12-BCDB-B604-5D1FE65A821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E8E8A1D1-25FF-8F4F-9F9D-3077C376A0A2}" type="slidenum">
              <a:rPr lang="ko-KR" altLang="en-US" sz="1300" b="0" smtClean="0">
                <a:ea typeface="굴림" panose="020b0600000101010101" pitchFamily="34" charset="-127"/>
              </a:rPr>
              <a:t>33</a:t>
            </a:fld>
            <a:endParaRPr lang="en-US" altLang="ko-KR" sz="1300" b="0">
              <a:ea typeface="굴림" panose="020b0600000101010101" pitchFamily="34" charset="-127"/>
            </a:endParaRPr>
          </a:p>
        </p:txBody>
      </p:sp>
      <p:sp>
        <p:nvSpPr>
          <p:cNvPr id="92162" name="Rectangle 2">
            <a:extLst>
              <a:ext uri="{FF2B5EF4-FFF2-40B4-BE49-F238E27FC236}">
                <a16:creationId xmlns:a16="http://schemas.microsoft.com/office/drawing/2014/main" id="{D36C253F-A129-FD41-B071-7B0091321C26}"/>
              </a:ext>
            </a:extLst>
          </p:cNvPr>
          <p:cNvSpPr>
            <a:spLocks noRot="1" noChangeArrowheads="1" noTextEdit="1"/>
          </p:cNvSpPr>
          <p:nvPr>
            <p:ph type="sldImg"/>
          </p:nvPr>
        </p:nvSpPr>
        <p:spPr>
          <a:xfrm>
            <a:off x="1057275" y="717550"/>
            <a:ext cx="5200650" cy="3600450"/>
          </a:xfrm>
        </p:spPr>
      </p:sp>
      <p:sp>
        <p:nvSpPr>
          <p:cNvPr id="92163" name="Rectangle 3">
            <a:extLst>
              <a:ext uri="{FF2B5EF4-FFF2-40B4-BE49-F238E27FC236}">
                <a16:creationId xmlns:a16="http://schemas.microsoft.com/office/drawing/2014/main" id="{D67FBEE5-E5ED-1DB4-4A9B-4063DBD3BC41}"/>
              </a:ext>
            </a:extLst>
          </p:cNvPr>
          <p:cNvSpPr>
            <a:spLocks noGrp="1" noChangeArrowheads="1"/>
          </p:cNvSpPr>
          <p:nvPr>
            <p:ph type="body" idx="1"/>
          </p:nvPr>
        </p:nvSpPr>
        <p:spPr>
          <a:xfrm>
            <a:off x="735013" y="4560888"/>
            <a:ext cx="5845175" cy="43227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98305" name="Rectangle 7">
            <a:extLst>
              <a:ext uri="{FF2B5EF4-FFF2-40B4-BE49-F238E27FC236}">
                <a16:creationId xmlns:a16="http://schemas.microsoft.com/office/drawing/2014/main" id="{380A179F-7F96-77B3-C998-F8E16567D76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3E20893D-9700-8C45-A706-35F213F62D11}" type="slidenum">
              <a:rPr lang="ko-KR" altLang="en-US" sz="1300" b="0" smtClean="0">
                <a:ea typeface="굴림" panose="020b0600000101010101" pitchFamily="34" charset="-127"/>
              </a:rPr>
              <a:t>34</a:t>
            </a:fld>
            <a:endParaRPr lang="en-US" altLang="ko-KR" sz="1300" b="0">
              <a:ea typeface="굴림" panose="020b0600000101010101" pitchFamily="34" charset="-127"/>
            </a:endParaRPr>
          </a:p>
        </p:txBody>
      </p:sp>
      <p:sp>
        <p:nvSpPr>
          <p:cNvPr id="98306" name="Rectangle 2">
            <a:extLst>
              <a:ext uri="{FF2B5EF4-FFF2-40B4-BE49-F238E27FC236}">
                <a16:creationId xmlns:a16="http://schemas.microsoft.com/office/drawing/2014/main" id="{53BDCCB3-3AEB-D6F5-2C3A-12C5787AE822}"/>
              </a:ext>
            </a:extLst>
          </p:cNvPr>
          <p:cNvSpPr>
            <a:spLocks noRot="1" noChangeArrowheads="1" noTextEdit="1"/>
          </p:cNvSpPr>
          <p:nvPr>
            <p:ph type="sldImg"/>
          </p:nvPr>
        </p:nvSpPr>
        <p:spPr>
          <a:xfrm>
            <a:off x="1057275" y="719138"/>
            <a:ext cx="5200650" cy="3600450"/>
          </a:xfrm>
        </p:spPr>
      </p:sp>
      <p:sp>
        <p:nvSpPr>
          <p:cNvPr id="98307" name="Rectangle 3">
            <a:extLst>
              <a:ext uri="{FF2B5EF4-FFF2-40B4-BE49-F238E27FC236}">
                <a16:creationId xmlns:a16="http://schemas.microsoft.com/office/drawing/2014/main" id="{2C6870E5-25AD-59E3-43C2-7F034D97466D}"/>
              </a:ext>
            </a:extLst>
          </p:cNvPr>
          <p:cNvSpPr>
            <a:spLocks noGrp="1" noChangeArrowheads="1"/>
          </p:cNvSpPr>
          <p:nvPr>
            <p:ph type="body" idx="1"/>
          </p:nvPr>
        </p:nvSpPr>
        <p:spPr>
          <a:xfrm>
            <a:off x="973138" y="4560888"/>
            <a:ext cx="5368925"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de-DE" altLang="ko-KR"/>
          </a:p>
        </p:txBody>
      </p:sp>
    </p:spTree>
  </p:cSld>
  <p:clrMapOvr>
    <a:masterClrMapping/>
  </p:clrMapOvr>
</p:notes>
</file>

<file path=ppt/notesSlides/notesSlide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00353" name="Rectangle 7">
            <a:extLst>
              <a:ext uri="{FF2B5EF4-FFF2-40B4-BE49-F238E27FC236}">
                <a16:creationId xmlns:a16="http://schemas.microsoft.com/office/drawing/2014/main" id="{622509E5-7EF0-6BB2-010F-DFC67406C83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E1C529C4-29F1-CC40-83A9-C039C5462C3F}" type="slidenum">
              <a:rPr lang="ko-KR" altLang="en-US" sz="1300" b="0" smtClean="0">
                <a:ea typeface="굴림" panose="020b0600000101010101" pitchFamily="34" charset="-127"/>
              </a:rPr>
              <a:t>35</a:t>
            </a:fld>
            <a:endParaRPr lang="en-US" altLang="ko-KR" sz="1300" b="0">
              <a:ea typeface="굴림" panose="020b0600000101010101" pitchFamily="34" charset="-127"/>
            </a:endParaRPr>
          </a:p>
        </p:txBody>
      </p:sp>
      <p:sp>
        <p:nvSpPr>
          <p:cNvPr id="100354" name="Rectangle 2">
            <a:extLst>
              <a:ext uri="{FF2B5EF4-FFF2-40B4-BE49-F238E27FC236}">
                <a16:creationId xmlns:a16="http://schemas.microsoft.com/office/drawing/2014/main" id="{1056EC66-73EB-809A-43F6-1AE831E535A9}"/>
              </a:ext>
            </a:extLst>
          </p:cNvPr>
          <p:cNvSpPr>
            <a:spLocks noRot="1" noChangeArrowheads="1" noTextEdit="1"/>
          </p:cNvSpPr>
          <p:nvPr>
            <p:ph type="sldImg"/>
          </p:nvPr>
        </p:nvSpPr>
        <p:spPr/>
      </p:sp>
      <p:sp>
        <p:nvSpPr>
          <p:cNvPr id="100355" name="Rectangle 3">
            <a:extLst>
              <a:ext uri="{FF2B5EF4-FFF2-40B4-BE49-F238E27FC236}">
                <a16:creationId xmlns:a16="http://schemas.microsoft.com/office/drawing/2014/main" id="{273CBFAB-8C89-D605-8147-0B8316FCA75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02401" name="Rectangle 7">
            <a:extLst>
              <a:ext uri="{FF2B5EF4-FFF2-40B4-BE49-F238E27FC236}">
                <a16:creationId xmlns:a16="http://schemas.microsoft.com/office/drawing/2014/main" id="{33C26633-89EE-F0D6-6E6F-058FC4D9174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D55C5ECA-FEEC-204E-A4C0-18F4B9EBA7E7}" type="slidenum">
              <a:rPr lang="ko-KR" altLang="en-US" sz="1300" b="0" smtClean="0">
                <a:ea typeface="굴림" panose="020b0600000101010101" pitchFamily="34" charset="-127"/>
              </a:rPr>
              <a:t>36</a:t>
            </a:fld>
            <a:endParaRPr lang="en-US" altLang="ko-KR" sz="1300" b="0">
              <a:ea typeface="굴림" panose="020b0600000101010101" pitchFamily="34" charset="-127"/>
            </a:endParaRPr>
          </a:p>
        </p:txBody>
      </p:sp>
      <p:sp>
        <p:nvSpPr>
          <p:cNvPr id="102402" name="Rectangle 2">
            <a:extLst>
              <a:ext uri="{FF2B5EF4-FFF2-40B4-BE49-F238E27FC236}">
                <a16:creationId xmlns:a16="http://schemas.microsoft.com/office/drawing/2014/main" id="{C9627ADA-E5F2-A21E-5D54-61A07DA9FFA1}"/>
              </a:ext>
            </a:extLst>
          </p:cNvPr>
          <p:cNvSpPr>
            <a:spLocks noRot="1" noChangeArrowheads="1" noTextEdit="1"/>
          </p:cNvSpPr>
          <p:nvPr>
            <p:ph type="sldImg"/>
          </p:nvPr>
        </p:nvSpPr>
        <p:spPr/>
      </p:sp>
      <p:sp>
        <p:nvSpPr>
          <p:cNvPr id="102403" name="Rectangle 3">
            <a:extLst>
              <a:ext uri="{FF2B5EF4-FFF2-40B4-BE49-F238E27FC236}">
                <a16:creationId xmlns:a16="http://schemas.microsoft.com/office/drawing/2014/main" id="{4588B421-BEAE-2D0F-762A-F6F4C8AE177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06497" name="Rectangle 7">
            <a:extLst>
              <a:ext uri="{FF2B5EF4-FFF2-40B4-BE49-F238E27FC236}">
                <a16:creationId xmlns:a16="http://schemas.microsoft.com/office/drawing/2014/main" id="{1D2DD674-D131-01DC-C9BA-60EC0C9AE30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0C08F596-905E-8742-911F-98FF07629083}" type="slidenum">
              <a:rPr lang="ko-KR" altLang="en-US" sz="1300" b="0" smtClean="0">
                <a:ea typeface="굴림" panose="020b0600000101010101" pitchFamily="34" charset="-127"/>
              </a:rPr>
              <a:t>37</a:t>
            </a:fld>
            <a:endParaRPr lang="en-US" altLang="ko-KR" sz="1300" b="0">
              <a:ea typeface="굴림" panose="020b0600000101010101" pitchFamily="34" charset="-127"/>
            </a:endParaRPr>
          </a:p>
        </p:txBody>
      </p:sp>
      <p:sp>
        <p:nvSpPr>
          <p:cNvPr id="106498" name="Rectangle 2">
            <a:extLst>
              <a:ext uri="{FF2B5EF4-FFF2-40B4-BE49-F238E27FC236}">
                <a16:creationId xmlns:a16="http://schemas.microsoft.com/office/drawing/2014/main" id="{63DFAC19-E113-FAFF-DBE2-F515093EB47A}"/>
              </a:ext>
            </a:extLst>
          </p:cNvPr>
          <p:cNvSpPr>
            <a:spLocks noRot="1" noChangeArrowheads="1" noTextEdit="1"/>
          </p:cNvSpPr>
          <p:nvPr>
            <p:ph type="sldImg"/>
          </p:nvPr>
        </p:nvSpPr>
        <p:spPr/>
      </p:sp>
      <p:sp>
        <p:nvSpPr>
          <p:cNvPr id="106499" name="Rectangle 3">
            <a:extLst>
              <a:ext uri="{FF2B5EF4-FFF2-40B4-BE49-F238E27FC236}">
                <a16:creationId xmlns:a16="http://schemas.microsoft.com/office/drawing/2014/main" id="{436E284C-8651-13B1-1EB2-D8E06C547E8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08545" name="Rectangle 7">
            <a:extLst>
              <a:ext uri="{FF2B5EF4-FFF2-40B4-BE49-F238E27FC236}">
                <a16:creationId xmlns:a16="http://schemas.microsoft.com/office/drawing/2014/main" id="{5D55419A-5215-C9A6-E2AB-27067CC58FC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DE53552A-99FC-704F-9269-8E4000B58890}" type="slidenum">
              <a:rPr lang="ko-KR" altLang="en-US" sz="1300" b="0" smtClean="0">
                <a:ea typeface="굴림" panose="020b0600000101010101" pitchFamily="34" charset="-127"/>
              </a:rPr>
              <a:t>38</a:t>
            </a:fld>
            <a:endParaRPr lang="en-US" altLang="ko-KR" sz="1300" b="0">
              <a:ea typeface="굴림" panose="020b0600000101010101" pitchFamily="34" charset="-127"/>
            </a:endParaRPr>
          </a:p>
        </p:txBody>
      </p:sp>
      <p:sp>
        <p:nvSpPr>
          <p:cNvPr id="108546" name="Rectangle 2">
            <a:extLst>
              <a:ext uri="{FF2B5EF4-FFF2-40B4-BE49-F238E27FC236}">
                <a16:creationId xmlns:a16="http://schemas.microsoft.com/office/drawing/2014/main" id="{AFEAC1F4-2892-FC33-4B62-C21FA23158D7}"/>
              </a:ext>
            </a:extLst>
          </p:cNvPr>
          <p:cNvSpPr>
            <a:spLocks noRot="1" noChangeArrowheads="1" noTextEdit="1"/>
          </p:cNvSpPr>
          <p:nvPr>
            <p:ph type="sldImg"/>
          </p:nvPr>
        </p:nvSpPr>
        <p:spPr/>
      </p:sp>
      <p:sp>
        <p:nvSpPr>
          <p:cNvPr id="108547" name="Rectangle 3">
            <a:extLst>
              <a:ext uri="{FF2B5EF4-FFF2-40B4-BE49-F238E27FC236}">
                <a16:creationId xmlns:a16="http://schemas.microsoft.com/office/drawing/2014/main" id="{86F9D96E-72B2-13CE-11D8-F34E420D39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GB" altLang="ko-KR"/>
          </a:p>
        </p:txBody>
      </p:sp>
    </p:spTree>
  </p:cSld>
  <p:clrMapOvr>
    <a:masterClrMapping/>
  </p:clrMapOvr>
</p:notes>
</file>

<file path=ppt/notesSlides/notesSlide3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120833" name="Rectangle 7">
            <a:extLst>
              <a:ext uri="{FF2B5EF4-FFF2-40B4-BE49-F238E27FC236}">
                <a16:creationId xmlns:a16="http://schemas.microsoft.com/office/drawing/2014/main" id="{87C9E787-095A-3DB5-5027-ED29579ED0D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1400" b="1">
                <a:solidFill>
                  <a:schemeClr val="tx1"/>
                </a:solidFill>
                <a:latin typeface="Arial" panose="020b0604020202020204" pitchFamily="34" charset="0"/>
                <a:ea typeface="가는각진제목체" panose="02030600000101010101" pitchFamily="18" charset="-127"/>
              </a:defRPr>
            </a:lvl1pPr>
            <a:lvl2pPr marL="742950" indent="-285750" defTabSz="966788">
              <a:defRPr sz="1400" b="1">
                <a:solidFill>
                  <a:schemeClr val="tx1"/>
                </a:solidFill>
                <a:latin typeface="Arial" panose="020b0604020202020204" pitchFamily="34" charset="0"/>
                <a:ea typeface="가는각진제목체" panose="02030600000101010101" pitchFamily="18" charset="-127"/>
              </a:defRPr>
            </a:lvl2pPr>
            <a:lvl3pPr marL="1143000" indent="-228600" defTabSz="966788">
              <a:defRPr sz="1400" b="1">
                <a:solidFill>
                  <a:schemeClr val="tx1"/>
                </a:solidFill>
                <a:latin typeface="Arial" panose="020b0604020202020204" pitchFamily="34" charset="0"/>
                <a:ea typeface="가는각진제목체" panose="02030600000101010101" pitchFamily="18" charset="-127"/>
              </a:defRPr>
            </a:lvl3pPr>
            <a:lvl4pPr marL="1600200" indent="-228600" defTabSz="966788">
              <a:defRPr sz="1400" b="1">
                <a:solidFill>
                  <a:schemeClr val="tx1"/>
                </a:solidFill>
                <a:latin typeface="Arial" panose="020b0604020202020204" pitchFamily="34" charset="0"/>
                <a:ea typeface="가는각진제목체" panose="02030600000101010101" pitchFamily="18" charset="-127"/>
              </a:defRPr>
            </a:lvl4pPr>
            <a:lvl5pPr marL="2057400" indent="-228600" defTabSz="966788">
              <a:defRPr sz="1400" b="1">
                <a:solidFill>
                  <a:schemeClr val="tx1"/>
                </a:solidFill>
                <a:latin typeface="Arial" panose="020b0604020202020204" pitchFamily="34" charset="0"/>
                <a:ea typeface="가는각진제목체" panose="02030600000101010101" pitchFamily="18" charset="-127"/>
              </a:defRPr>
            </a:lvl5pPr>
            <a:lvl6pPr marL="25146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defTabSz="966788"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fld id="{96E2D96C-D214-2043-B794-A17242A3E6F8}" type="slidenum">
              <a:rPr lang="ko-KR" altLang="en-US" sz="1300" b="0" smtClean="0">
                <a:ea typeface="굴림" panose="020b0600000101010101" pitchFamily="34" charset="-127"/>
              </a:rPr>
              <a:t>40</a:t>
            </a:fld>
            <a:endParaRPr lang="en-US" altLang="ko-KR" sz="1300" b="0">
              <a:ea typeface="굴림" panose="020b0600000101010101" pitchFamily="34" charset="-127"/>
            </a:endParaRPr>
          </a:p>
        </p:txBody>
      </p:sp>
      <p:sp>
        <p:nvSpPr>
          <p:cNvPr id="120834" name="Rectangle 2">
            <a:extLst>
              <a:ext uri="{FF2B5EF4-FFF2-40B4-BE49-F238E27FC236}">
                <a16:creationId xmlns:a16="http://schemas.microsoft.com/office/drawing/2014/main" id="{4DE2D3ED-4B46-1B5F-CC15-B97550355BFE}"/>
              </a:ext>
            </a:extLst>
          </p:cNvPr>
          <p:cNvSpPr>
            <a:spLocks noRot="1" noChangeArrowheads="1" noTextEdit="1"/>
          </p:cNvSpPr>
          <p:nvPr>
            <p:ph type="sldImg"/>
          </p:nvPr>
        </p:nvSpPr>
        <p:spPr>
          <a:xfrm>
            <a:off x="1060450" y="720725"/>
            <a:ext cx="5195888" cy="3598863"/>
          </a:xfrm>
        </p:spPr>
      </p:sp>
      <p:sp>
        <p:nvSpPr>
          <p:cNvPr id="120835" name="Rectangle 3">
            <a:extLst>
              <a:ext uri="{FF2B5EF4-FFF2-40B4-BE49-F238E27FC236}">
                <a16:creationId xmlns:a16="http://schemas.microsoft.com/office/drawing/2014/main" id="{DF405D2D-2693-2D94-60E8-7DE1AFB016FF}"/>
              </a:ext>
            </a:extLst>
          </p:cNvPr>
          <p:cNvSpPr>
            <a:spLocks noGrp="1" noChangeArrowheads="1"/>
          </p:cNvSpPr>
          <p:nvPr>
            <p:ph type="body" idx="1"/>
          </p:nvPr>
        </p:nvSpPr>
        <p:spPr>
          <a:xfrm>
            <a:off x="730250" y="4559300"/>
            <a:ext cx="5854700" cy="43211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sv-SE" altLang="ko-K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oleObject" Target="../embeddings/oleObject1.bin" TargetMode="Internal" /><Relationship Id="rId3" Type="http://schemas.openxmlformats.org/officeDocument/2006/relationships/image" Target="../media/image1.emf" /><Relationship Id="rId4" Type="http://schemas.openxmlformats.org/officeDocument/2006/relationships/vmlDrawing" Target="../drawings/vmlDrawing1.vml" /><Relationship Id="rId5"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title" preserve="1">
  <p:cSld name="제목 슬라이드">
    <p:spTree>
      <p:nvGrpSpPr>
        <p:cNvPr id="1" name=""/>
        <p:cNvGrpSpPr/>
        <p:nvPr/>
      </p:nvGrpSpPr>
      <p:grpSpPr>
        <a:xfrm>
          <a:off x="0" y="0"/>
          <a:ext cx="0" cy="0"/>
        </a:xfrm>
      </p:grpSpPr>
      <p:sp>
        <p:nvSpPr>
          <p:cNvPr id="2" name="Line 19">
            <a:extLst>
              <a:ext uri="{FF2B5EF4-FFF2-40B4-BE49-F238E27FC236}">
                <a16:creationId xmlns:a16="http://schemas.microsoft.com/office/drawing/2014/main" id="{B14141E8-59FB-BE57-229F-CC1AFDCD7C4D}"/>
              </a:ext>
            </a:extLst>
          </p:cNvPr>
          <p:cNvSpPr>
            <a:spLocks noChangeShapeType="1"/>
          </p:cNvSpPr>
          <p:nvPr/>
        </p:nvSpPr>
        <p:spPr bwMode="auto">
          <a:xfrm>
            <a:off x="247650" y="912813"/>
            <a:ext cx="9405938" cy="0"/>
          </a:xfrm>
          <a:prstGeom prst="line">
            <a:avLst/>
          </a:prstGeom>
          <a:noFill/>
          <a:ln w="28575">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graphicFrame>
        <p:nvGraphicFramePr>
          <p:cNvPr id="3" name="Rectangle 20" hidden="1">
            <a:extLst>
              <a:ext uri="{FF2B5EF4-FFF2-40B4-BE49-F238E27FC236}">
                <a16:creationId xmlns:a16="http://schemas.microsoft.com/office/drawing/2014/main" id="{BEDB7A2E-6865-7643-B726-7233F931C4A3}"/>
              </a:ext>
            </a:extLst>
          </p:cNvPr>
          <p:cNvGraphicFramePr/>
          <p:nvPr>
            <p:custDataLst>
              <p:tags r:id="rId1"/>
            </p:custDataLst>
          </p:nvPr>
        </p:nvGraphicFramePr>
        <p:xfrm>
          <a:off x="6350" y="0"/>
          <a:ext cx="158750" cy="158750"/>
        </p:xfrm>
        <a:graphic>
          <a:graphicData uri="http://schemas.openxmlformats.org/presentationml/2006/ole">
            <mc:AlternateContent>
              <mc:Choice xmlns:v="urn:schemas-microsoft-com:vml" Requires="v">
                <p:oleObj spid="_x0000_s1038" r:id="rId2" imgW="158750" imgH="158750" progId="TCLayout.ActiveDocument">
                  <p:embed/>
                </p:oleObj>
              </mc:Choice>
              <mc:Fallback>
                <p:oleObj r:id="rId2" imgW="158750" imgH="158750" progId="TCLayout.ActiveDocument">
                  <p:embed/>
                  <p:pic>
                    <p:nvPicPr>
                      <p:cNvPr id="0" name="OLE substitute image"/>
                      <p:cNvPicPr/>
                      <p:nvPr/>
                    </p:nvPicPr>
                    <p:blipFill>
                      <a:blip r:embed="rId3">
                        <a:extLst>
                          <a:ext uri="{28A0092B-C50C-407E-A947-70E740481C1C}">
                            <a14:useLocalDpi xmlns:a14="http://schemas.microsoft.com/office/drawing/2010/main" val="0"/>
                          </a:ext>
                        </a:extLst>
                      </a:blip>
                      <a:stretch>
                        <a:fillRect/>
                      </a:stretch>
                    </p:blipFill>
                    <p:spPr>
                      <a:xfrm>
                        <a:off x="6350" y="0"/>
                        <a:ext cx="158750" cy="158750"/>
                      </a:xfrm>
                      <a:prstGeom prst="rect">
                        <a:avLst/>
                      </a:prstGeom>
                      <a:noFill/>
                      <a:ln>
                        <a:noFill/>
                      </a:ln>
                      <a:effectLst/>
                    </p:spPr>
                  </p:pic>
                </p:oleObj>
              </mc:Fallback>
            </mc:AlternateContent>
          </a:graphicData>
        </a:graphic>
      </p:graphicFrame>
      <p:sp>
        <p:nvSpPr>
          <p:cNvPr id="6166" name="Rectangle 22"/>
          <p:cNvSpPr>
            <a:spLocks noGrp="1" noChangeArrowheads="1"/>
          </p:cNvSpPr>
          <p:nvPr>
            <p:ph type="ctrTitle" sz="quarter"/>
          </p:nvPr>
        </p:nvSpPr>
        <p:spPr>
          <a:xfrm>
            <a:off x="1236663" y="2332038"/>
            <a:ext cx="7432675" cy="369887"/>
          </a:xfrm>
        </p:spPr>
        <p:txBody>
          <a:bodyPr anchor="ctr"/>
          <a:lstStyle>
            <a:lvl1pPr algn="ctr">
              <a:defRPr sz="2700"/>
            </a:lvl1pPr>
          </a:lstStyle>
          <a:p>
            <a:pPr lvl="0"/>
            <a:r>
              <a:rPr lang="en-US" altLang="ko-KR" noProof="0"/>
              <a:t>Client Name: 28-pt. bold (or logo)</a:t>
            </a:r>
          </a:p>
        </p:txBody>
      </p:sp>
      <p:sp>
        <p:nvSpPr>
          <p:cNvPr id="6167" name="Rectangle 23"/>
          <p:cNvSpPr>
            <a:spLocks noGrp="1" noChangeArrowheads="1"/>
          </p:cNvSpPr>
          <p:nvPr>
            <p:ph type="subTitle" sz="quarter" idx="1"/>
          </p:nvPr>
        </p:nvSpPr>
        <p:spPr>
          <a:xfrm>
            <a:off x="1485900" y="3470275"/>
            <a:ext cx="6934200" cy="220663"/>
          </a:xfrm>
        </p:spPr>
        <p:txBody>
          <a:bodyPr anchor="ctr"/>
          <a:lstStyle>
            <a:lvl1pPr marL="0" indent="0" algn="ctr">
              <a:buFont typeface="Wingdings" pitchFamily="2" charset="2"/>
              <a:buNone/>
              <a:defRPr i="1"/>
            </a:lvl1pPr>
          </a:lstStyle>
          <a:p>
            <a:pPr lvl="0"/>
            <a:r>
              <a:rPr lang="en-US" altLang="ko-KR" noProof="0"/>
              <a:t>Click to edit subtitle</a:t>
            </a:r>
          </a:p>
        </p:txBody>
      </p:sp>
    </p:spTree>
    <p:extLst>
      <p:ext uri="{BB962C8B-B14F-4D97-AF65-F5344CB8AC3E}">
        <p14:creationId xmlns:p14="http://schemas.microsoft.com/office/powerpoint/2010/main" val="3531621820"/>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제목 및 내용">
    <p:spTree>
      <p:nvGrpSpPr>
        <p:cNvPr id="1" name=""/>
        <p:cNvGrpSpPr/>
        <p:nvPr/>
      </p:nvGrpSpPr>
      <p:grpSpPr>
        <a:xfrm>
          <a:off x="0" y="0"/>
          <a: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a:xfrm>
            <a:off x="273050" y="1463675"/>
            <a:ext cx="9367838" cy="1329595"/>
          </a:xfrm>
        </p:spPr>
        <p:txBody>
          <a:bodyPr/>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1455093441"/>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구역 머리글">
    <p:spTree>
      <p:nvGrpSpPr>
        <p:cNvPr id="1" name=""/>
        <p:cNvGrpSpPr/>
        <p:nvPr/>
      </p:nvGrpSpPr>
      <p:grpSpPr>
        <a:xfrm>
          <a:off x="0" y="0"/>
          <a: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ko-KR" altLang="en-US"/>
              <a:t>마스터 텍스트 스타일을 편집하려면 클릭</a:t>
            </a:r>
          </a:p>
        </p:txBody>
      </p:sp>
    </p:spTree>
    <p:extLst>
      <p:ext uri="{BB962C8B-B14F-4D97-AF65-F5344CB8AC3E}">
        <p14:creationId xmlns:p14="http://schemas.microsoft.com/office/powerpoint/2010/main" val="335078928"/>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콘텐츠 2개">
    <p:spTree>
      <p:nvGrpSpPr>
        <p:cNvPr id="1" name=""/>
        <p:cNvGrpSpPr/>
        <p:nvPr/>
      </p:nvGrpSpPr>
      <p:grpSpPr>
        <a:xfrm>
          <a:off x="0" y="0"/>
          <a: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73050" y="1463675"/>
            <a:ext cx="4606925" cy="1329595"/>
          </a:xfrm>
        </p:spPr>
        <p:txBody>
          <a:bodyPr/>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p:cNvSpPr>
            <a:spLocks noGrp="1"/>
          </p:cNvSpPr>
          <p:nvPr>
            <p:ph sz="half" idx="2"/>
          </p:nvPr>
        </p:nvSpPr>
        <p:spPr>
          <a:xfrm>
            <a:off x="5032375" y="1463675"/>
            <a:ext cx="4608513" cy="1329595"/>
          </a:xfrm>
        </p:spPr>
        <p:txBody>
          <a:bodyPr/>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4294784211"/>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비교">
    <p:spTree>
      <p:nvGrpSpPr>
        <p:cNvPr id="1" name=""/>
        <p:cNvGrpSpPr/>
        <p:nvPr/>
      </p:nvGrpSpPr>
      <p:grpSpPr>
        <a:xfrm>
          <a:off x="0" y="0"/>
          <a: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p:cNvSpPr>
            <a:spLocks noGrp="1"/>
          </p:cNvSpPr>
          <p:nvPr>
            <p:ph sz="half" idx="2"/>
          </p:nvPr>
        </p:nvSpPr>
        <p:spPr>
          <a:xfrm>
            <a:off x="682625" y="2505075"/>
            <a:ext cx="4191000" cy="1329595"/>
          </a:xfrm>
        </p:spPr>
        <p:txBody>
          <a:bodyPr/>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p:cNvSpPr>
            <a:spLocks noGrp="1"/>
          </p:cNvSpPr>
          <p:nvPr>
            <p:ph sz="quarter" idx="4"/>
          </p:nvPr>
        </p:nvSpPr>
        <p:spPr>
          <a:xfrm>
            <a:off x="5014913" y="2505075"/>
            <a:ext cx="4211637" cy="1329595"/>
          </a:xfrm>
        </p:spPr>
        <p:txBody>
          <a:bodyPr/>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950637784"/>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제목만">
    <p:spTree>
      <p:nvGrpSpPr>
        <p:cNvPr id="1" name=""/>
        <p:cNvGrpSpPr/>
        <p:nvPr/>
      </p:nvGrpSpPr>
      <p:grpSpPr>
        <a:xfrm>
          <a:off x="0" y="0"/>
          <a:ext cx="0" cy="0"/>
        </a:xfrm>
      </p:grpSpPr>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1077579987"/>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빈 화면">
    <p:spTree>
      <p:nvGrpSpPr>
        <p:cNvPr id="1" name=""/>
        <p:cNvGrpSpPr/>
        <p:nvPr/>
      </p:nvGrpSpPr>
      <p:grpSpPr>
        <a:xfrm>
          <a:off x="0" y="0"/>
          <a:ext cx="0" cy="0"/>
        </a:xfrm>
      </p:grpSpPr>
    </p:spTree>
    <p:extLst>
      <p:ext uri="{BB962C8B-B14F-4D97-AF65-F5344CB8AC3E}">
        <p14:creationId xmlns:p14="http://schemas.microsoft.com/office/powerpoint/2010/main" val="3370021019"/>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캡션 있는 콘텐츠">
    <p:spTree>
      <p:nvGrpSpPr>
        <p:cNvPr id="1" name=""/>
        <p:cNvGrpSpPr/>
        <p:nvPr/>
      </p:nvGrpSpPr>
      <p:grpSpPr>
        <a:xfrm>
          <a:off x="0" y="0"/>
          <a: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2517612"/>
          </a:xfrm>
        </p:spPr>
        <p:txBody>
          <a:bodyPr/>
          <a:lstStyle>
            <a:lvl1pPr>
              <a:buClr>
                <a:srgbClr val="0070C0"/>
              </a:buClr>
              <a:defRPr sz="3200"/>
            </a:lvl1pPr>
            <a:lvl2pPr>
              <a:buClr>
                <a:srgbClr val="0070C0"/>
              </a:buClr>
              <a:defRPr sz="2800"/>
            </a:lvl2pPr>
            <a:lvl3pPr>
              <a:buClr>
                <a:srgbClr val="0070C0"/>
              </a:buClr>
              <a:defRPr sz="2400"/>
            </a:lvl3pPr>
            <a:lvl4pPr>
              <a:buClr>
                <a:srgbClr val="0070C0"/>
              </a:buClr>
              <a:defRPr sz="2000"/>
            </a:lvl4pPr>
            <a:lvl5pPr>
              <a:buClr>
                <a:srgbClr val="0070C0"/>
              </a:buCl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Tree>
    <p:extLst>
      <p:ext uri="{BB962C8B-B14F-4D97-AF65-F5344CB8AC3E}">
        <p14:creationId xmlns:p14="http://schemas.microsoft.com/office/powerpoint/2010/main" val="4057236496"/>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캡션 있는 그림">
    <p:spTree>
      <p:nvGrpSpPr>
        <p:cNvPr id="1" name=""/>
        <p:cNvGrpSpPr/>
        <p:nvPr/>
      </p:nvGrpSpPr>
      <p:grpSpPr>
        <a:xfrm>
          <a:off x="0" y="0"/>
          <a: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Tree>
    <p:extLst>
      <p:ext uri="{BB962C8B-B14F-4D97-AF65-F5344CB8AC3E}">
        <p14:creationId xmlns:p14="http://schemas.microsoft.com/office/powerpoint/2010/main" val="826387169"/>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제목 및 세로 텍스트">
    <p:spTree>
      <p:nvGrpSpPr>
        <p:cNvPr id="1" name=""/>
        <p:cNvGrpSpPr/>
        <p:nvPr/>
      </p:nvGrpSpPr>
      <p:grpSpPr>
        <a:xfrm>
          <a:off x="0" y="0"/>
          <a: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a:xfrm>
            <a:off x="8089694" y="1463675"/>
            <a:ext cx="1551194" cy="2644775"/>
          </a:xfrm>
        </p:spPr>
        <p:txBody>
          <a:bodyPr vert="eaVert"/>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3861942092"/>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세로 제목 및 텍스트">
    <p:spTree>
      <p:nvGrpSpPr>
        <p:cNvPr id="1" name=""/>
        <p:cNvGrpSpPr/>
        <p:nvPr/>
      </p:nvGrpSpPr>
      <p:grpSpPr>
        <a:xfrm>
          <a:off x="0" y="0"/>
          <a:ext cx="0" cy="0"/>
        </a:xfrm>
      </p:grpSpPr>
      <p:sp>
        <p:nvSpPr>
          <p:cNvPr id="2" name="세로 제목 1"/>
          <p:cNvSpPr>
            <a:spLocks noGrp="1"/>
          </p:cNvSpPr>
          <p:nvPr>
            <p:ph type="title" orient="vert"/>
          </p:nvPr>
        </p:nvSpPr>
        <p:spPr>
          <a:xfrm>
            <a:off x="7297738" y="596900"/>
            <a:ext cx="2343150" cy="351155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5594144" y="596900"/>
            <a:ext cx="1551194" cy="3511550"/>
          </a:xfrm>
        </p:spPr>
        <p:txBody>
          <a:bodyPr vert="eaVert"/>
          <a:lstStyle>
            <a:lvl1pPr>
              <a:buClr>
                <a:srgbClr val="0070C0"/>
              </a:buClr>
              <a:defRPr/>
            </a:lvl1pPr>
            <a:lvl2pPr>
              <a:buClr>
                <a:srgbClr val="0070C0"/>
              </a:buClr>
              <a:defRPr/>
            </a:lvl2pPr>
            <a:lvl3pPr>
              <a:buClr>
                <a:srgbClr val="0070C0"/>
              </a:buClr>
              <a:defRPr/>
            </a:lvl3pPr>
            <a:lvl4pPr>
              <a:buClr>
                <a:srgbClr val="0070C0"/>
              </a:buClr>
              <a:defRPr/>
            </a:lvl4pPr>
            <a:lvl5pPr>
              <a:buClr>
                <a:srgbClr val="0070C0"/>
              </a:buClr>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Tree>
    <p:extLst>
      <p:ext uri="{BB962C8B-B14F-4D97-AF65-F5344CB8AC3E}">
        <p14:creationId xmlns:p14="http://schemas.microsoft.com/office/powerpoint/2010/main" val="1026278329"/>
      </p:ext>
    </p:extLst>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chart" preserve="1">
  <p:cSld name="제목 및 차트">
    <p:spTree>
      <p:nvGrpSpPr>
        <p:cNvPr id="1" name=""/>
        <p:cNvGrpSpPr/>
        <p:nvPr/>
      </p:nvGrpSpPr>
      <p:grpSpPr>
        <a:xfrm>
          <a:off x="0" y="0"/>
          <a:ext cx="0" cy="0"/>
        </a:xfrm>
      </p:grpSpPr>
      <p:sp>
        <p:nvSpPr>
          <p:cNvPr id="2" name="제목 1"/>
          <p:cNvSpPr>
            <a:spLocks noGrp="1"/>
          </p:cNvSpPr>
          <p:nvPr>
            <p:ph type="title"/>
          </p:nvPr>
        </p:nvSpPr>
        <p:spPr>
          <a:xfrm>
            <a:off x="266700" y="596900"/>
            <a:ext cx="9367838" cy="301625"/>
          </a:xfrm>
        </p:spPr>
        <p:txBody>
          <a:bodyPr/>
          <a:lstStyle/>
          <a:p>
            <a:r>
              <a:rPr lang="ko-KR" altLang="en-US"/>
              <a:t>마스터 제목 스타일 편집</a:t>
            </a:r>
          </a:p>
        </p:txBody>
      </p:sp>
      <p:sp>
        <p:nvSpPr>
          <p:cNvPr id="3" name="차트 개체 틀 2"/>
          <p:cNvSpPr>
            <a:spLocks noGrp="1"/>
          </p:cNvSpPr>
          <p:nvPr>
            <p:ph type="chart" idx="1"/>
          </p:nvPr>
        </p:nvSpPr>
        <p:spPr>
          <a:xfrm>
            <a:off x="273050" y="1463675"/>
            <a:ext cx="9367838" cy="221599"/>
          </a:xfrm>
        </p:spPr>
        <p:txBody>
          <a:bodyPr/>
          <a:lstStyle>
            <a:lvl1pPr>
              <a:buClr>
                <a:srgbClr val="0070C0"/>
              </a:buClr>
              <a:defRPr/>
            </a:lvl1pPr>
          </a:lstStyle>
          <a:p>
            <a:pPr lvl="0"/>
            <a:endParaRPr lang="ko-KR" altLang="en-US" noProof="0"/>
          </a:p>
        </p:txBody>
      </p:sp>
    </p:spTree>
    <p:extLst>
      <p:ext uri="{BB962C8B-B14F-4D97-AF65-F5344CB8AC3E}">
        <p14:creationId xmlns:p14="http://schemas.microsoft.com/office/powerpoint/2010/main" val="1180021651"/>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rgbClr val="FFFFFF"/>
        </a:solidFill>
        <a:effectLst/>
      </p:bgPr>
    </p:bg>
    <p:spTree>
      <p:nvGrpSpPr>
        <p:cNvPr id="1" name=""/>
        <p:cNvGrpSpPr/>
        <p:nvPr/>
      </p:nvGrpSpPr>
      <p:grpSpPr>
        <a:xfrm>
          <a:off x="0" y="0"/>
          <a:ext cx="0" cy="0"/>
        </a:xfrm>
      </p:grpSpPr>
      <p:sp>
        <p:nvSpPr>
          <p:cNvPr id="1026" name="Line 23">
            <a:extLst>
              <a:ext uri="{FF2B5EF4-FFF2-40B4-BE49-F238E27FC236}">
                <a16:creationId xmlns:a16="http://schemas.microsoft.com/office/drawing/2014/main" id="{2BAE4D38-BF9E-1EAE-5178-422F5D8B7AB9}"/>
              </a:ext>
            </a:extLst>
          </p:cNvPr>
          <p:cNvSpPr>
            <a:spLocks noChangeShapeType="1"/>
          </p:cNvSpPr>
          <p:nvPr/>
        </p:nvSpPr>
        <p:spPr bwMode="auto">
          <a:xfrm>
            <a:off x="290513" y="452438"/>
            <a:ext cx="9367837" cy="4762"/>
          </a:xfrm>
          <a:prstGeom prst="line">
            <a:avLst/>
          </a:prstGeom>
          <a:noFill/>
          <a:ln w="28575">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nchor="ctr"/>
          <a:lstStyle/>
          <a:p>
            <a:endParaRPr lang="ko-KR" altLang="en-US"/>
          </a:p>
        </p:txBody>
      </p:sp>
      <p:sp>
        <p:nvSpPr>
          <p:cNvPr id="1027" name="Rectangle 24">
            <a:extLst>
              <a:ext uri="{FF2B5EF4-FFF2-40B4-BE49-F238E27FC236}">
                <a16:creationId xmlns:a16="http://schemas.microsoft.com/office/drawing/2014/main" id="{97106EC8-FF90-3B11-02EA-38F10E00B440}"/>
              </a:ext>
            </a:extLst>
          </p:cNvPr>
          <p:cNvSpPr>
            <a:spLocks noGrp="1" noChangeArrowheads="1"/>
          </p:cNvSpPr>
          <p:nvPr>
            <p:ph type="title"/>
          </p:nvPr>
        </p:nvSpPr>
        <p:spPr bwMode="auto">
          <a:xfrm>
            <a:off x="266700" y="596900"/>
            <a:ext cx="9367838" cy="301625"/>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pt-BR" altLang="ko-KR"/>
              <a:t>Headline: (</a:t>
            </a:r>
            <a:r>
              <a:rPr lang="en-US" altLang="ko-KR"/>
              <a:t>22</a:t>
            </a:r>
            <a:r>
              <a:rPr lang="pt-BR" altLang="ko-KR"/>
              <a:t> pt.) Arial bold</a:t>
            </a:r>
          </a:p>
        </p:txBody>
      </p:sp>
      <p:sp>
        <p:nvSpPr>
          <p:cNvPr id="1028" name="Rectangle 26">
            <a:extLst>
              <a:ext uri="{FF2B5EF4-FFF2-40B4-BE49-F238E27FC236}">
                <a16:creationId xmlns:a16="http://schemas.microsoft.com/office/drawing/2014/main" id="{91795A9B-400D-E67F-6CCB-BEFAAB263A1F}"/>
              </a:ext>
            </a:extLst>
          </p:cNvPr>
          <p:cNvSpPr>
            <a:spLocks noGrp="1" noChangeArrowheads="1"/>
          </p:cNvSpPr>
          <p:nvPr>
            <p:ph type="body" idx="1"/>
          </p:nvPr>
        </p:nvSpPr>
        <p:spPr bwMode="auto">
          <a:xfrm>
            <a:off x="273050" y="1463675"/>
            <a:ext cx="9367838" cy="26447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pt-BR" altLang="ko-KR"/>
              <a:t>Text: 16-pt. Arial with Wingdings square square bullet 100%</a:t>
            </a:r>
          </a:p>
          <a:p>
            <a:pPr lvl="1"/>
            <a:r>
              <a:rPr lang="pt-BR" altLang="ko-KR"/>
              <a:t>Second-level bullet — Arial round</a:t>
            </a:r>
          </a:p>
          <a:p>
            <a:pPr lvl="2"/>
            <a:r>
              <a:rPr lang="pt-BR" altLang="ko-KR"/>
              <a:t>Third-level bullet — Arial Em dash</a:t>
            </a:r>
          </a:p>
          <a:p>
            <a:pPr lvl="3"/>
            <a:r>
              <a:rPr lang="pt-BR" altLang="ko-KR"/>
              <a:t>Fourth-level bullet — Arial Em dash</a:t>
            </a:r>
          </a:p>
          <a:p>
            <a:pPr lvl="4"/>
            <a:r>
              <a:rPr lang="pt-BR" altLang="ko-KR"/>
              <a:t>xx</a:t>
            </a:r>
          </a:p>
          <a:p>
            <a:pPr lvl="0"/>
            <a:r>
              <a:rPr lang="pt-BR" altLang="ko-KR"/>
              <a:t>Text: </a:t>
            </a:r>
            <a:r>
              <a:rPr lang="en-US" altLang="ko-KR"/>
              <a:t>16</a:t>
            </a:r>
            <a:r>
              <a:rPr lang="pt-BR" altLang="ko-KR"/>
              <a:t> pt. Arial, plain text sentence case</a:t>
            </a:r>
          </a:p>
          <a:p>
            <a:pPr lvl="1"/>
            <a:r>
              <a:rPr lang="pt-BR" altLang="ko-KR"/>
              <a:t>Second-level bullet</a:t>
            </a:r>
          </a:p>
          <a:p>
            <a:pPr lvl="2"/>
            <a:r>
              <a:rPr lang="pt-BR" altLang="ko-KR"/>
              <a:t>Third-level bullet</a:t>
            </a:r>
          </a:p>
          <a:p>
            <a:pPr lvl="3"/>
            <a:r>
              <a:rPr lang="pt-BR" altLang="ko-KR"/>
              <a:t>Fourth-level bullet</a:t>
            </a:r>
          </a:p>
        </p:txBody>
      </p:sp>
      <p:sp>
        <p:nvSpPr>
          <p:cNvPr id="1029" name="Rectangle 34">
            <a:extLst>
              <a:ext uri="{FF2B5EF4-FFF2-40B4-BE49-F238E27FC236}">
                <a16:creationId xmlns:a16="http://schemas.microsoft.com/office/drawing/2014/main" id="{6BBD5E27-8942-CAD1-AEFC-D24909085CDC}"/>
              </a:ext>
            </a:extLst>
          </p:cNvPr>
          <p:cNvSpPr>
            <a:spLocks noChangeArrowheads="1"/>
          </p:cNvSpPr>
          <p:nvPr/>
        </p:nvSpPr>
        <p:spPr bwMode="auto">
          <a:xfrm>
            <a:off x="9409113" y="6675438"/>
            <a:ext cx="323850" cy="228600"/>
          </a:xfrm>
          <a:prstGeom prst="rect">
            <a:avLst/>
          </a:prstGeom>
          <a:noFill/>
          <a:ln>
            <a:noFill/>
          </a:ln>
          <a:effectLst/>
        </p:spPr>
        <p:txBody>
          <a:bodyPr wrap="none">
            <a:spAutoFit/>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algn="r" fontAlgn="base">
              <a:lnSpc>
                <a:spcPct val="100000"/>
              </a:lnSpc>
              <a:spcBef>
                <a:spcPct val="0"/>
              </a:spcBef>
              <a:buClrTx/>
              <a:defRPr/>
            </a:pPr>
            <a:fld id="{60E56556-15A9-F94B-A03D-49DE12F4579E}" type="slidenum">
              <a:rPr lang="ko-KR" altLang="en-US" sz="900" b="0" smtClean="0">
                <a:solidFill>
                  <a:srgbClr val="77787B"/>
                </a:solidFill>
                <a:ea typeface="돋움체" panose="020b0609000101010101" pitchFamily="49" charset="-127"/>
              </a:rPr>
              <a:pPr algn="r" fontAlgn="base">
                <a:lnSpc>
                  <a:spcPct val="100000"/>
                </a:lnSpc>
                <a:spcBef>
                  <a:spcPct val="0"/>
                </a:spcBef>
                <a:buClrTx/>
                <a:defRPr/>
              </a:pPr>
              <a:t>1</a:t>
            </a:fld>
            <a:endParaRPr lang="en-US" altLang="ko-KR" sz="900" b="0">
              <a:solidFill>
                <a:srgbClr val="77787B"/>
              </a:solidFill>
              <a:ea typeface="돋움체" panose="020b0609000101010101" pitchFamily="49" charset="-127"/>
            </a:endParaRPr>
          </a:p>
        </p:txBody>
      </p:sp>
    </p:spTree>
  </p:cSld>
  <p:clrMap bg1="lt1" tx1="dk1" bg2="lt2" tx2="dk2" accent1="accent1" accent2="accent2" accent3="accent3" accent4="accent4" accent5="accent5" accent6="accent6" hlink="hlink" folHlink="folHlink"/>
  <p:sldLayoutIdLst>
    <p:sldLayoutId id="2147483751"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ransition/>
  <p:timing/>
  <p:txStyles>
    <p:titleStyle>
      <a:lvl1pPr algn="l" rtl="0" eaLnBrk="0" fontAlgn="base" hangingPunct="0">
        <a:lnSpc>
          <a:spcPct val="90000"/>
        </a:lnSpc>
        <a:spcBef>
          <a:spcPct val="0"/>
        </a:spcBef>
        <a:spcAft>
          <a:spcPct val="0"/>
        </a:spcAft>
        <a:defRPr sz="22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2pPr>
      <a:lvl3pPr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3pPr>
      <a:lvl4pPr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4pPr>
      <a:lvl5pPr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5pPr>
      <a:lvl6pPr marL="457200"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6pPr>
      <a:lvl7pPr marL="914400"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7pPr>
      <a:lvl8pPr marL="1371600"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8pPr>
      <a:lvl9pPr marL="1828800" algn="l" rtl="0" eaLnBrk="0" fontAlgn="base" hangingPunct="0">
        <a:lnSpc>
          <a:spcPct val="90000"/>
        </a:lnSpc>
        <a:spcBef>
          <a:spcPct val="0"/>
        </a:spcBef>
        <a:spcAft>
          <a:spcPct val="0"/>
        </a:spcAft>
        <a:defRPr sz="2200" b="1">
          <a:solidFill>
            <a:schemeClr val="tx1"/>
          </a:solidFill>
          <a:latin typeface="Arial" panose="020b0604020202020204" pitchFamily="34" charset="0"/>
          <a:ea typeface="HY견고딕" panose="02030600000101010101" pitchFamily="18" charset="-127"/>
          <a:cs typeface="Arial" panose="020b0604020202020204" pitchFamily="34" charset="0"/>
        </a:defRPr>
      </a:lvl9pPr>
    </p:titleStyle>
    <p:bodyStyle>
      <a:lvl1pPr marL="268288" indent="-268288" algn="l" rtl="0" eaLnBrk="0" fontAlgn="base" hangingPunct="0">
        <a:lnSpc>
          <a:spcPct val="90000"/>
        </a:lnSpc>
        <a:spcBef>
          <a:spcPct val="90000"/>
        </a:spcBef>
        <a:spcAft>
          <a:spcPct val="0"/>
        </a:spcAft>
        <a:buClr>
          <a:srgbClr val="0070C0"/>
        </a:buClr>
        <a:buFont typeface="Wingdings" pitchFamily="2" charset="2"/>
        <a:buChar char="n"/>
        <a:defRPr sz="1600" kern="1200">
          <a:solidFill>
            <a:schemeClr val="tx1"/>
          </a:solidFill>
          <a:latin typeface="+mn-lt"/>
          <a:ea typeface="+mn-ea"/>
          <a:cs typeface="+mn-cs"/>
        </a:defRPr>
      </a:lvl1pPr>
      <a:lvl2pPr marL="460375" indent="-190500" algn="l" rtl="0" eaLnBrk="0" fontAlgn="base" hangingPunct="0">
        <a:lnSpc>
          <a:spcPct val="90000"/>
        </a:lnSpc>
        <a:spcBef>
          <a:spcPct val="50000"/>
        </a:spcBef>
        <a:spcAft>
          <a:spcPct val="0"/>
        </a:spcAft>
        <a:buClr>
          <a:srgbClr val="0070C0"/>
        </a:buClr>
        <a:buFont typeface="Arial" panose="020b0604020202020204" pitchFamily="34" charset="0"/>
        <a:buChar char="•"/>
        <a:defRPr sz="1600" kern="1200">
          <a:solidFill>
            <a:schemeClr val="tx1"/>
          </a:solidFill>
          <a:latin typeface="+mn-lt"/>
          <a:ea typeface="+mn-ea"/>
          <a:cs typeface="+mn-cs"/>
        </a:defRPr>
      </a:lvl2pPr>
      <a:lvl3pPr marL="625475" indent="-163513" algn="l" rtl="0" eaLnBrk="0" fontAlgn="base" hangingPunct="0">
        <a:lnSpc>
          <a:spcPct val="90000"/>
        </a:lnSpc>
        <a:spcBef>
          <a:spcPct val="30000"/>
        </a:spcBef>
        <a:spcAft>
          <a:spcPct val="0"/>
        </a:spcAft>
        <a:buClr>
          <a:srgbClr val="0070C0"/>
        </a:buClr>
        <a:buFont typeface="Arial" panose="020b0604020202020204" pitchFamily="34" charset="0"/>
        <a:buChar char="–"/>
        <a:defRPr sz="1600" kern="1200">
          <a:solidFill>
            <a:schemeClr val="tx1"/>
          </a:solidFill>
          <a:latin typeface="+mn-lt"/>
          <a:ea typeface="+mn-ea"/>
          <a:cs typeface="+mn-cs"/>
        </a:defRPr>
      </a:lvl3pPr>
      <a:lvl4pPr marL="795338" indent="-168275" algn="l" rtl="0" eaLnBrk="0" fontAlgn="base" hangingPunct="0">
        <a:lnSpc>
          <a:spcPct val="90000"/>
        </a:lnSpc>
        <a:spcBef>
          <a:spcPct val="10000"/>
        </a:spcBef>
        <a:spcAft>
          <a:spcPct val="0"/>
        </a:spcAft>
        <a:buClr>
          <a:srgbClr val="0070C0"/>
        </a:buClr>
        <a:buFont typeface="Arial" panose="020b0604020202020204" pitchFamily="34" charset="0"/>
        <a:buChar char="-"/>
        <a:defRPr sz="1600" kern="1200">
          <a:solidFill>
            <a:schemeClr val="tx1"/>
          </a:solidFill>
          <a:latin typeface="+mn-lt"/>
          <a:ea typeface="+mn-ea"/>
          <a:cs typeface="+mn-cs"/>
        </a:defRPr>
      </a:lvl4pPr>
      <a:lvl5pPr marL="957263" indent="-160338" algn="l" rtl="0" eaLnBrk="0" fontAlgn="base" hangingPunct="0">
        <a:lnSpc>
          <a:spcPct val="90000"/>
        </a:lnSpc>
        <a:spcBef>
          <a:spcPct val="0"/>
        </a:spcBef>
        <a:spcAft>
          <a:spcPct val="0"/>
        </a:spcAft>
        <a:buClr>
          <a:srgbClr val="0070C0"/>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oleObject" Target="../embeddings/oleObject2.bin" TargetMode="Internal" /><Relationship Id="rId4" Type="http://schemas.openxmlformats.org/officeDocument/2006/relationships/image" Target="../media/image3.png" /><Relationship Id="rId5" Type="http://schemas.openxmlformats.org/officeDocument/2006/relationships/oleObject" Target="../embeddings/oleObject3.bin" TargetMode="Internal" /><Relationship Id="rId6" Type="http://schemas.openxmlformats.org/officeDocument/2006/relationships/image" Target="../media/image4.png" /><Relationship Id="rId7" Type="http://schemas.openxmlformats.org/officeDocument/2006/relationships/vmlDrawing" Target="../drawings/vmlDrawing2.v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xml" /><Relationship Id="rId3" Type="http://schemas.openxmlformats.org/officeDocument/2006/relationships/oleObject" Target="../embeddings/oleObject4.bin" TargetMode="Internal" /><Relationship Id="rId4" Type="http://schemas.openxmlformats.org/officeDocument/2006/relationships/image" Target="../media/image5.png" /><Relationship Id="rId5" Type="http://schemas.openxmlformats.org/officeDocument/2006/relationships/image" Target="../media/image6.emf" /><Relationship Id="rId6" Type="http://schemas.openxmlformats.org/officeDocument/2006/relationships/vmlDrawing" Target="../drawings/vmlDrawing3.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7.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7.emf"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6.xml" /><Relationship Id="rId3" Type="http://schemas.openxmlformats.org/officeDocument/2006/relationships/image" Target="../media/image6.emf"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7.xml" /><Relationship Id="rId3" Type="http://schemas.openxmlformats.org/officeDocument/2006/relationships/image" Target="../media/image7.emf"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8.jpeg" /><Relationship Id="rId4" Type="http://schemas.openxmlformats.org/officeDocument/2006/relationships/image" Target="../media/image9.png" /><Relationship Id="rId5" Type="http://schemas.openxmlformats.org/officeDocument/2006/relationships/image" Target="../media/image10.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9.xml" /><Relationship Id="rId3" Type="http://schemas.openxmlformats.org/officeDocument/2006/relationships/oleObject" Target="../embeddings/oleObject5.bin" TargetMode="Internal" /><Relationship Id="rId4" Type="http://schemas.openxmlformats.org/officeDocument/2006/relationships/image" Target="../media/image11.emf" /><Relationship Id="rId5" Type="http://schemas.openxmlformats.org/officeDocument/2006/relationships/image" Target="../media/image12.jpeg" /><Relationship Id="rId6" Type="http://schemas.openxmlformats.org/officeDocument/2006/relationships/vmlDrawing" Target="../drawings/vmlDrawing4.v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8.jpeg" /><Relationship Id="rId4" Type="http://schemas.openxmlformats.org/officeDocument/2006/relationships/image" Target="../media/image13.png" /><Relationship Id="rId5" Type="http://schemas.openxmlformats.org/officeDocument/2006/relationships/image" Target="../media/image9.png" /><Relationship Id="rId6" Type="http://schemas.openxmlformats.org/officeDocument/2006/relationships/image" Target="../media/image10.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4.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5.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9.xml" /><Relationship Id="rId3" Type="http://schemas.openxmlformats.org/officeDocument/2006/relationships/oleObject" Target="../embeddings/oleObject6.bin" TargetMode="Internal" /><Relationship Id="rId4" Type="http://schemas.openxmlformats.org/officeDocument/2006/relationships/image" Target="../media/image14.emf" /><Relationship Id="rId5" Type="http://schemas.openxmlformats.org/officeDocument/2006/relationships/oleObject" Target="../embeddings/oleObject7.bin" TargetMode="Internal" /><Relationship Id="rId6" Type="http://schemas.openxmlformats.org/officeDocument/2006/relationships/image" Target="../media/image15.png" /><Relationship Id="rId7" Type="http://schemas.openxmlformats.org/officeDocument/2006/relationships/vmlDrawing" Target="../drawings/vmlDrawing5.v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0.xml" /><Relationship Id="rId3" Type="http://schemas.openxmlformats.org/officeDocument/2006/relationships/chart" Target="../charts/chart1.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1.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2.xml" /><Relationship Id="rId3" Type="http://schemas.openxmlformats.org/officeDocument/2006/relationships/image" Target="../media/image16.png" /><Relationship Id="rId4" Type="http://schemas.openxmlformats.org/officeDocument/2006/relationships/oleObject" Target="../embeddings/oleObject8.bin" TargetMode="Internal" /><Relationship Id="rId5" Type="http://schemas.openxmlformats.org/officeDocument/2006/relationships/image" Target="../media/image17.png" /><Relationship Id="rId6" Type="http://schemas.openxmlformats.org/officeDocument/2006/relationships/image" Target="../media/image18.png" /><Relationship Id="rId7" Type="http://schemas.openxmlformats.org/officeDocument/2006/relationships/vmlDrawing" Target="../drawings/vmlDrawing6.v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3.xml" /><Relationship Id="rId3" Type="http://schemas.openxmlformats.org/officeDocument/2006/relationships/oleObject" Target="../embeddings/oleObject9.bin" TargetMode="Internal" /><Relationship Id="rId4" Type="http://schemas.openxmlformats.org/officeDocument/2006/relationships/image" Target="../media/image19.png" /><Relationship Id="rId5" Type="http://schemas.openxmlformats.org/officeDocument/2006/relationships/vmlDrawing" Target="../drawings/vmlDrawing7.v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6.xml" /><Relationship Id="rId10" Type="http://schemas.openxmlformats.org/officeDocument/2006/relationships/image" Target="../media/image23.emf" /><Relationship Id="rId11" Type="http://schemas.openxmlformats.org/officeDocument/2006/relationships/oleObject" Target="../embeddings/oleObject14.bin" TargetMode="Internal" /><Relationship Id="rId12" Type="http://schemas.openxmlformats.org/officeDocument/2006/relationships/image" Target="../media/image24.emf" /><Relationship Id="rId13" Type="http://schemas.openxmlformats.org/officeDocument/2006/relationships/oleObject" Target="../embeddings/oleObject15.bin" TargetMode="Internal" /><Relationship Id="rId14" Type="http://schemas.openxmlformats.org/officeDocument/2006/relationships/image" Target="../media/image25.emf" /><Relationship Id="rId15" Type="http://schemas.openxmlformats.org/officeDocument/2006/relationships/oleObject" Target="../embeddings/oleObject16.bin" TargetMode="Internal" /><Relationship Id="rId16" Type="http://schemas.openxmlformats.org/officeDocument/2006/relationships/image" Target="../media/image26.emf" /><Relationship Id="rId17" Type="http://schemas.openxmlformats.org/officeDocument/2006/relationships/image" Target="../media/image27.jpeg" /><Relationship Id="rId18" Type="http://schemas.openxmlformats.org/officeDocument/2006/relationships/vmlDrawing" Target="../drawings/vmlDrawing8.vml" /><Relationship Id="rId2" Type="http://schemas.openxmlformats.org/officeDocument/2006/relationships/notesSlide" Target="../notesSlides/notesSlide24.xml" /><Relationship Id="rId3" Type="http://schemas.openxmlformats.org/officeDocument/2006/relationships/oleObject" Target="../embeddings/oleObject10.bin" TargetMode="Internal" /><Relationship Id="rId4" Type="http://schemas.openxmlformats.org/officeDocument/2006/relationships/image" Target="../media/image20.emf" /><Relationship Id="rId5" Type="http://schemas.openxmlformats.org/officeDocument/2006/relationships/oleObject" Target="../embeddings/oleObject11.bin" TargetMode="Internal" /><Relationship Id="rId6" Type="http://schemas.openxmlformats.org/officeDocument/2006/relationships/image" Target="../media/image21.emf" /><Relationship Id="rId7" Type="http://schemas.openxmlformats.org/officeDocument/2006/relationships/oleObject" Target="../embeddings/oleObject12.bin" TargetMode="Internal" /><Relationship Id="rId8" Type="http://schemas.openxmlformats.org/officeDocument/2006/relationships/image" Target="../media/image22.emf" /><Relationship Id="rId9" Type="http://schemas.openxmlformats.org/officeDocument/2006/relationships/oleObject" Target="../embeddings/oleObject13.bin" TargetMode="Interna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5.xml" /><Relationship Id="rId3" Type="http://schemas.openxmlformats.org/officeDocument/2006/relationships/oleObject" Target="../embeddings/oleObject17.bin" TargetMode="Internal" /><Relationship Id="rId4" Type="http://schemas.openxmlformats.org/officeDocument/2006/relationships/image" Target="../media/image28.emf" /><Relationship Id="rId5" Type="http://schemas.openxmlformats.org/officeDocument/2006/relationships/vmlDrawing" Target="../drawings/vmlDrawing9.v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6.xml" /><Relationship Id="rId3" Type="http://schemas.openxmlformats.org/officeDocument/2006/relationships/tags" Target="../tags/tag2.xml" /><Relationship Id="rId4" Type="http://schemas.openxmlformats.org/officeDocument/2006/relationships/tags" Target="../tags/tag3.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7.xml" /><Relationship Id="rId3" Type="http://schemas.openxmlformats.org/officeDocument/2006/relationships/chart" Target="../charts/chart2.xml" /><Relationship Id="rId4" Type="http://schemas.openxmlformats.org/officeDocument/2006/relationships/chart" Target="../charts/chart3.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31.xml" /><Relationship Id="rId3" Type="http://schemas.openxmlformats.org/officeDocument/2006/relationships/oleObject" Target="../embeddings/oleObject18.bin" TargetMode="Internal" /><Relationship Id="rId4" Type="http://schemas.openxmlformats.org/officeDocument/2006/relationships/image" Target="../media/image29.png" /><Relationship Id="rId5" Type="http://schemas.openxmlformats.org/officeDocument/2006/relationships/vmlDrawing" Target="../drawings/vmlDrawing10.v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2.xml" /><Relationship Id="rId3" Type="http://schemas.openxmlformats.org/officeDocument/2006/relationships/image" Target="../media/image30.png" /><Relationship Id="rId4" Type="http://schemas.openxmlformats.org/officeDocument/2006/relationships/image" Target="../media/image31.png" /><Relationship Id="rId5" Type="http://schemas.openxmlformats.org/officeDocument/2006/relationships/image" Target="../media/image32.png" /><Relationship Id="rId6" Type="http://schemas.openxmlformats.org/officeDocument/2006/relationships/image" Target="../media/image33.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3.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4.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5.xml" /><Relationship Id="rId3" Type="http://schemas.openxmlformats.org/officeDocument/2006/relationships/oleObject" Target="../embeddings/oleObject19.bin" TargetMode="Internal" /><Relationship Id="rId4" Type="http://schemas.openxmlformats.org/officeDocument/2006/relationships/image" Target="../media/image34.png" /><Relationship Id="rId5" Type="http://schemas.openxmlformats.org/officeDocument/2006/relationships/vmlDrawing" Target="../drawings/vmlDrawing11.v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6.xml" /><Relationship Id="rId3" Type="http://schemas.openxmlformats.org/officeDocument/2006/relationships/oleObject" Target="../embeddings/oleObject20.bin" TargetMode="Internal" /><Relationship Id="rId4" Type="http://schemas.openxmlformats.org/officeDocument/2006/relationships/image" Target="../media/image35.png" /><Relationship Id="rId5" Type="http://schemas.openxmlformats.org/officeDocument/2006/relationships/vmlDrawing" Target="../drawings/vmlDrawing12.v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36.emf"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8.xml" /><Relationship Id="rId3" Type="http://schemas.openxmlformats.org/officeDocument/2006/relationships/image" Target="../media/image37.emf" /><Relationship Id="rId4" Type="http://schemas.openxmlformats.org/officeDocument/2006/relationships/image" Target="../media/image38.emf" /><Relationship Id="rId5" Type="http://schemas.openxmlformats.org/officeDocument/2006/relationships/image" Target="../media/image39.emf"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2.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tags" Target="../tags/tag4.xml" /><Relationship Id="rId4" Type="http://schemas.openxmlformats.org/officeDocument/2006/relationships/oleObject" Target="../embeddings/oleObject21.bin" TargetMode="Internal" /><Relationship Id="rId5" Type="http://schemas.openxmlformats.org/officeDocument/2006/relationships/image" Target="../media/image40.wmf" /><Relationship Id="rId6" Type="http://schemas.openxmlformats.org/officeDocument/2006/relationships/oleObject" Target="../embeddings/oleObject22.bin" TargetMode="Internal" /><Relationship Id="rId7" Type="http://schemas.openxmlformats.org/officeDocument/2006/relationships/vmlDrawing" Target="../drawings/vmlDrawing13.v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5361" name="Rectangle 2">
            <a:extLst>
              <a:ext uri="{FF2B5EF4-FFF2-40B4-BE49-F238E27FC236}">
                <a16:creationId xmlns:a16="http://schemas.microsoft.com/office/drawing/2014/main" id="{0C6E553B-96C8-EDCB-7CC7-1D6087E35D4E}"/>
              </a:ext>
            </a:extLst>
          </p:cNvPr>
          <p:cNvSpPr>
            <a:spLocks noGrp="1" noChangeArrowheads="1"/>
          </p:cNvSpPr>
          <p:nvPr>
            <p:ph type="title"/>
          </p:nvPr>
        </p:nvSpPr>
        <p:spPr>
          <a:xfrm>
            <a:off x="269875" y="568325"/>
            <a:ext cx="8831263" cy="603250"/>
          </a:xfrm>
        </p:spPr>
        <p:txBody>
          <a:bodyPr/>
          <a:lstStyle/>
          <a:p>
            <a:r>
              <a:rPr lang="en-US" altLang="ko-KR">
                <a:ea typeface="굴림" panose="020b0600000101010101" pitchFamily="34" charset="-127"/>
              </a:rPr>
              <a:t>Controlling and Accounting activities bound 61% of the allocated capacities in Finance </a:t>
            </a:r>
          </a:p>
        </p:txBody>
      </p:sp>
      <p:sp>
        <p:nvSpPr>
          <p:cNvPr id="15362" name="Rectangle 3">
            <a:extLst>
              <a:ext uri="{FF2B5EF4-FFF2-40B4-BE49-F238E27FC236}">
                <a16:creationId xmlns:a16="http://schemas.microsoft.com/office/drawing/2014/main" id="{DCC0284B-1187-AB7A-8BB1-FE1A73054807}"/>
              </a:ext>
            </a:extLst>
          </p:cNvPr>
          <p:cNvSpPr>
            <a:spLocks noChangeArrowheads="1"/>
          </p:cNvSpPr>
          <p:nvPr/>
        </p:nvSpPr>
        <p:spPr bwMode="auto">
          <a:xfrm>
            <a:off x="265113" y="1614488"/>
            <a:ext cx="7653337" cy="247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800">
                <a:solidFill>
                  <a:srgbClr val="000000"/>
                </a:solidFill>
                <a:ea typeface="굴림" panose="020b0600000101010101" pitchFamily="34" charset="-127"/>
              </a:rPr>
              <a:t>Analysis of Capacities Allocated in Finance</a:t>
            </a:r>
          </a:p>
        </p:txBody>
      </p:sp>
      <p:sp>
        <p:nvSpPr>
          <p:cNvPr id="15363" name="Rectangle 4">
            <a:extLst>
              <a:ext uri="{FF2B5EF4-FFF2-40B4-BE49-F238E27FC236}">
                <a16:creationId xmlns:a16="http://schemas.microsoft.com/office/drawing/2014/main" id="{B99D342A-8170-A5E2-A060-A910B43825C3}"/>
              </a:ext>
            </a:extLst>
          </p:cNvPr>
          <p:cNvSpPr>
            <a:spLocks noChangeArrowheads="1"/>
          </p:cNvSpPr>
          <p:nvPr/>
        </p:nvSpPr>
        <p:spPr bwMode="auto">
          <a:xfrm>
            <a:off x="265113" y="6051550"/>
            <a:ext cx="9369425"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ClrTx/>
              <a:buSzPct val="120000"/>
              <a:buFontTx/>
              <a:buNone/>
            </a:pPr>
            <a:r>
              <a:rPr lang="en-US" altLang="ko-KR" sz="1000" b="0">
                <a:ea typeface="굴림" panose="020b0600000101010101" pitchFamily="34" charset="-127"/>
              </a:rPr>
              <a:t>Note: (1) FTE – Full time equivalent; (2) A/R, Collections covers A/R and Collections; Accounting includes General Accounting, Ext. reporting, Cost accounting and Inventory accounting; Processing of acquisition and mgmt of fixed assets; Tax covers Tax planning and compliance, Tax accounting, Tax filling; Controlling includes Financial planning (budgeting), Outlook/interim forecast, Pricing and New businesses analyses, Mgmt. (business performance) reporting, Business performance analyses, Cost analyses; Financial mgmt. Treasury, Cash mgmt; Insurance, risk mgmt</a:t>
            </a:r>
          </a:p>
          <a:p>
            <a:pPr eaLnBrk="1" hangingPunct="1">
              <a:spcBef>
                <a:spcPct val="0"/>
              </a:spcBef>
              <a:buClrTx/>
              <a:buSzPct val="120000"/>
              <a:buFontTx/>
              <a:buNone/>
            </a:pPr>
            <a:r>
              <a:rPr lang="en-US" altLang="ko-KR" sz="1000" b="0">
                <a:ea typeface="굴림" panose="020b0600000101010101" pitchFamily="34" charset="-127"/>
              </a:rPr>
              <a:t>Source: Data questionnaires for capacity allocation distributed and collected across Unipetrol subsidiaries in</a:t>
            </a:r>
          </a:p>
        </p:txBody>
      </p:sp>
      <p:sp>
        <p:nvSpPr>
          <p:cNvPr id="15364" name="Rectangle 5">
            <a:extLst>
              <a:ext uri="{FF2B5EF4-FFF2-40B4-BE49-F238E27FC236}">
                <a16:creationId xmlns:a16="http://schemas.microsoft.com/office/drawing/2014/main" id="{C57C8796-270C-9BD1-DF6C-815AE0A4F495}"/>
              </a:ext>
            </a:extLst>
          </p:cNvPr>
          <p:cNvSpPr>
            <a:spLocks noChangeArrowheads="1"/>
          </p:cNvSpPr>
          <p:nvPr/>
        </p:nvSpPr>
        <p:spPr bwMode="auto">
          <a:xfrm>
            <a:off x="271463" y="2409825"/>
            <a:ext cx="3082925" cy="3560763"/>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86" tIns="34986" rIns="34986" bIns="3498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800">
              <a:ea typeface="가는각진제목체" panose="02030600000101010101" pitchFamily="18" charset="-127"/>
            </a:endParaRPr>
          </a:p>
        </p:txBody>
      </p:sp>
      <p:sp>
        <p:nvSpPr>
          <p:cNvPr id="15365" name="Rectangle 6">
            <a:extLst>
              <a:ext uri="{FF2B5EF4-FFF2-40B4-BE49-F238E27FC236}">
                <a16:creationId xmlns:a16="http://schemas.microsoft.com/office/drawing/2014/main" id="{9D89BA3E-53BE-4CFB-DB8B-CE6DF10DD091}"/>
              </a:ext>
            </a:extLst>
          </p:cNvPr>
          <p:cNvSpPr>
            <a:spLocks noChangeArrowheads="1"/>
          </p:cNvSpPr>
          <p:nvPr/>
        </p:nvSpPr>
        <p:spPr bwMode="auto">
          <a:xfrm>
            <a:off x="271463" y="2089150"/>
            <a:ext cx="3082925" cy="320675"/>
          </a:xfrm>
          <a:prstGeom prst="rect">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71" tIns="73471" rIns="73471" bIns="73471"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SzPct val="120000"/>
              <a:buFontTx/>
              <a:buNone/>
            </a:pPr>
            <a:r>
              <a:rPr lang="en-US" altLang="ko-KR" sz="1400">
                <a:ea typeface="굴림" panose="020b0600000101010101" pitchFamily="34" charset="-127"/>
              </a:rPr>
              <a:t>Breakdown by activities</a:t>
            </a:r>
          </a:p>
        </p:txBody>
      </p:sp>
      <p:sp>
        <p:nvSpPr>
          <p:cNvPr id="15366" name="Rectangle 7">
            <a:extLst>
              <a:ext uri="{FF2B5EF4-FFF2-40B4-BE49-F238E27FC236}">
                <a16:creationId xmlns:a16="http://schemas.microsoft.com/office/drawing/2014/main" id="{BDAEB65A-B63C-7712-B5DE-7553FC7B671A}"/>
              </a:ext>
            </a:extLst>
          </p:cNvPr>
          <p:cNvSpPr>
            <a:spLocks noChangeArrowheads="1"/>
          </p:cNvSpPr>
          <p:nvPr/>
        </p:nvSpPr>
        <p:spPr bwMode="auto">
          <a:xfrm>
            <a:off x="3440113" y="2409825"/>
            <a:ext cx="6194425" cy="3560763"/>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4986" tIns="34986" rIns="34986" bIns="3498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800">
              <a:ea typeface="가는각진제목체" panose="02030600000101010101" pitchFamily="18" charset="-127"/>
            </a:endParaRPr>
          </a:p>
        </p:txBody>
      </p:sp>
      <p:sp>
        <p:nvSpPr>
          <p:cNvPr id="15367" name="Rectangle 8">
            <a:extLst>
              <a:ext uri="{FF2B5EF4-FFF2-40B4-BE49-F238E27FC236}">
                <a16:creationId xmlns:a16="http://schemas.microsoft.com/office/drawing/2014/main" id="{14741E2A-C210-DBB3-61F5-E786B0E1AB41}"/>
              </a:ext>
            </a:extLst>
          </p:cNvPr>
          <p:cNvSpPr>
            <a:spLocks noChangeArrowheads="1"/>
          </p:cNvSpPr>
          <p:nvPr/>
        </p:nvSpPr>
        <p:spPr bwMode="auto">
          <a:xfrm>
            <a:off x="3440113" y="2089150"/>
            <a:ext cx="6194425" cy="320675"/>
          </a:xfrm>
          <a:prstGeom prst="rect">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71" tIns="73471" rIns="73471" bIns="73471"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SzPct val="120000"/>
              <a:buFontTx/>
              <a:buNone/>
            </a:pPr>
            <a:r>
              <a:rPr lang="en-US" altLang="ko-KR" sz="1400">
                <a:ea typeface="굴림" panose="020b0600000101010101" pitchFamily="34" charset="-127"/>
              </a:rPr>
              <a:t>Breakdown by activities and subsidiaries</a:t>
            </a:r>
          </a:p>
        </p:txBody>
      </p:sp>
      <p:sp>
        <p:nvSpPr>
          <p:cNvPr id="15368" name="Text Box 9">
            <a:extLst>
              <a:ext uri="{FF2B5EF4-FFF2-40B4-BE49-F238E27FC236}">
                <a16:creationId xmlns:a16="http://schemas.microsoft.com/office/drawing/2014/main" id="{942B833F-48DD-38BF-EE6B-477818C90D76}"/>
              </a:ext>
            </a:extLst>
          </p:cNvPr>
          <p:cNvSpPr txBox="1">
            <a:spLocks noChangeArrowheads="1"/>
          </p:cNvSpPr>
          <p:nvPr/>
        </p:nvSpPr>
        <p:spPr bwMode="auto">
          <a:xfrm>
            <a:off x="269875" y="2409825"/>
            <a:ext cx="308451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4986" tIns="34986" rIns="34986" bIns="34986">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SzPct val="120000"/>
              <a:buFontTx/>
              <a:buNone/>
            </a:pPr>
            <a:r>
              <a:rPr lang="en-US" altLang="ko-KR" sz="1200">
                <a:ea typeface="굴림" panose="020b0600000101010101" pitchFamily="34" charset="-127"/>
              </a:rPr>
              <a:t>Total capacity allocated </a:t>
            </a:r>
            <a:br>
              <a:rPr lang="en-US" altLang="ko-KR" sz="1200">
                <a:ea typeface="굴림" panose="020b0600000101010101" pitchFamily="34" charset="-127"/>
              </a:rPr>
            </a:br>
            <a:r>
              <a:rPr lang="en-US" altLang="ko-KR" sz="1200">
                <a:ea typeface="굴림" panose="020b0600000101010101" pitchFamily="34" charset="-127"/>
              </a:rPr>
              <a:t>in Finance (FTE): 139.2</a:t>
            </a:r>
          </a:p>
        </p:txBody>
      </p:sp>
      <p:graphicFrame>
        <p:nvGraphicFramePr>
          <p:cNvPr id="15369" name="Object 10">
            <a:extLst>
              <a:ext uri="{FF2B5EF4-FFF2-40B4-BE49-F238E27FC236}">
                <a16:creationId xmlns:a16="http://schemas.microsoft.com/office/drawing/2014/main" id="{9FA29434-3597-6C18-D6BC-981C8292786A}"/>
              </a:ext>
            </a:extLst>
          </p:cNvPr>
          <p:cNvGraphicFramePr/>
          <p:nvPr/>
        </p:nvGraphicFramePr>
        <p:xfrm>
          <a:off x="587375" y="3500438"/>
          <a:ext cx="2286000" cy="2105025"/>
        </p:xfrm>
        <a:graphic>
          <a:graphicData uri="http://schemas.openxmlformats.org/presentationml/2006/ole">
            <mc:AlternateContent>
              <mc:Choice xmlns:v="urn:schemas-microsoft-com:vml" Requires="v">
                <p:oleObj spid="_x0000_s1039" name="차트" r:id="rId3" imgW="2393950" imgH="2203450" progId="Excel.Chart.8">
                  <p:embed/>
                </p:oleObj>
              </mc:Choice>
              <mc:Fallback>
                <p:oleObj name="차트" r:id="rId3" imgW="2393950" imgH="2203450" progId="Excel.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587375" y="3500438"/>
                        <a:ext cx="2286000" cy="2105025"/>
                      </a:xfrm>
                      <a:prstGeom prst="rect">
                        <a:avLst/>
                      </a:prstGeom>
                      <a:noFill/>
                      <a:ln>
                        <a:noFill/>
                      </a:ln>
                    </p:spPr>
                  </p:pic>
                </p:oleObj>
              </mc:Fallback>
            </mc:AlternateContent>
          </a:graphicData>
        </a:graphic>
      </p:graphicFrame>
      <p:graphicFrame>
        <p:nvGraphicFramePr>
          <p:cNvPr id="15370" name="Object 11">
            <a:extLst>
              <a:ext uri="{FF2B5EF4-FFF2-40B4-BE49-F238E27FC236}">
                <a16:creationId xmlns:a16="http://schemas.microsoft.com/office/drawing/2014/main" id="{0EC1DA46-2D29-C611-A8AA-BC267D75AFB1}"/>
              </a:ext>
            </a:extLst>
          </p:cNvPr>
          <p:cNvGraphicFramePr/>
          <p:nvPr/>
        </p:nvGraphicFramePr>
        <p:xfrm>
          <a:off x="5310188" y="2263775"/>
          <a:ext cx="4249737" cy="3887788"/>
        </p:xfrm>
        <a:graphic>
          <a:graphicData uri="http://schemas.openxmlformats.org/presentationml/2006/ole">
            <mc:AlternateContent>
              <mc:Choice xmlns:v="urn:schemas-microsoft-com:vml" Requires="v">
                <p:oleObj spid="_x0000_s1040" name="차트" r:id="rId5" imgW="4425950" imgH="4057650" progId="Excel.Chart.8">
                  <p:embed/>
                </p:oleObj>
              </mc:Choice>
              <mc:Fallback>
                <p:oleObj name="차트" r:id="rId5" imgW="4425950" imgH="4057650" progId="Excel.Chart.8">
                  <p:embed/>
                  <p:pic>
                    <p:nvPicPr>
                      <p:cNvPr id="0" name="OLE substitute image"/>
                      <p:cNvPicPr/>
                      <p:nvPr/>
                    </p:nvPicPr>
                    <p:blipFill>
                      <a:blip r:embed="rId6">
                        <a:extLst>
                          <a:ext uri="{28A0092B-C50C-407E-A947-70E740481C1C}">
                            <a14:useLocalDpi xmlns:a14="http://schemas.microsoft.com/office/drawing/2010/main" val="0"/>
                          </a:ext>
                        </a:extLst>
                      </a:blip>
                      <a:stretch>
                        <a:fillRect/>
                      </a:stretch>
                    </p:blipFill>
                    <p:spPr>
                      <a:xfrm>
                        <a:off x="5310188" y="2263775"/>
                        <a:ext cx="4249737" cy="3887788"/>
                      </a:xfrm>
                      <a:prstGeom prst="rect">
                        <a:avLst/>
                      </a:prstGeom>
                      <a:noFill/>
                      <a:ln>
                        <a:noFill/>
                      </a:ln>
                    </p:spPr>
                  </p:pic>
                </p:oleObj>
              </mc:Fallback>
            </mc:AlternateContent>
          </a:graphicData>
        </a:graphic>
      </p:graphicFrame>
      <p:sp>
        <p:nvSpPr>
          <p:cNvPr id="15371" name="Oval 12">
            <a:extLst>
              <a:ext uri="{FF2B5EF4-FFF2-40B4-BE49-F238E27FC236}">
                <a16:creationId xmlns:a16="http://schemas.microsoft.com/office/drawing/2014/main" id="{C7796484-54A5-0A5F-82CC-06CB055C5216}"/>
              </a:ext>
            </a:extLst>
          </p:cNvPr>
          <p:cNvSpPr>
            <a:spLocks noChangeArrowheads="1"/>
          </p:cNvSpPr>
          <p:nvPr/>
        </p:nvSpPr>
        <p:spPr bwMode="auto">
          <a:xfrm>
            <a:off x="5389563" y="2476500"/>
            <a:ext cx="490537" cy="225425"/>
          </a:xfrm>
          <a:prstGeom prst="ellipse">
            <a:avLst/>
          </a:prstGeom>
          <a:solidFill>
            <a:schemeClr val="accent1"/>
          </a:solid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290" tIns="34290" rIns="34290" bIns="34290"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33.5</a:t>
            </a:r>
            <a:endParaRPr lang="en-GB" altLang="ko-KR" sz="1000" i="1">
              <a:solidFill>
                <a:schemeClr val="bg1"/>
              </a:solidFill>
              <a:ea typeface="가는각진제목체" panose="02030600000101010101" pitchFamily="18" charset="-127"/>
            </a:endParaRPr>
          </a:p>
        </p:txBody>
      </p:sp>
      <p:sp>
        <p:nvSpPr>
          <p:cNvPr id="15372" name="Oval 13">
            <a:extLst>
              <a:ext uri="{FF2B5EF4-FFF2-40B4-BE49-F238E27FC236}">
                <a16:creationId xmlns:a16="http://schemas.microsoft.com/office/drawing/2014/main" id="{D67EE9ED-5C84-99B4-5CEB-153F77B66B75}"/>
              </a:ext>
            </a:extLst>
          </p:cNvPr>
          <p:cNvSpPr>
            <a:spLocks noChangeArrowheads="1"/>
          </p:cNvSpPr>
          <p:nvPr/>
        </p:nvSpPr>
        <p:spPr bwMode="auto">
          <a:xfrm>
            <a:off x="6105525" y="2476500"/>
            <a:ext cx="490538" cy="225425"/>
          </a:xfrm>
          <a:prstGeom prst="ellipse">
            <a:avLst/>
          </a:prstGeom>
          <a:solidFill>
            <a:schemeClr val="accent1"/>
          </a:solid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290" tIns="34290" rIns="34290" bIns="34290"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65.7</a:t>
            </a:r>
            <a:endParaRPr lang="en-GB" altLang="ko-KR" sz="1000" i="1">
              <a:solidFill>
                <a:schemeClr val="bg1"/>
              </a:solidFill>
              <a:ea typeface="가는각진제목체" panose="02030600000101010101" pitchFamily="18" charset="-127"/>
            </a:endParaRPr>
          </a:p>
        </p:txBody>
      </p:sp>
      <p:sp>
        <p:nvSpPr>
          <p:cNvPr id="15373" name="Oval 14">
            <a:extLst>
              <a:ext uri="{FF2B5EF4-FFF2-40B4-BE49-F238E27FC236}">
                <a16:creationId xmlns:a16="http://schemas.microsoft.com/office/drawing/2014/main" id="{12E64E7D-6A2D-8D6B-7F1F-15005606C3C0}"/>
              </a:ext>
            </a:extLst>
          </p:cNvPr>
          <p:cNvSpPr>
            <a:spLocks noChangeArrowheads="1"/>
          </p:cNvSpPr>
          <p:nvPr/>
        </p:nvSpPr>
        <p:spPr bwMode="auto">
          <a:xfrm>
            <a:off x="6823075" y="2476500"/>
            <a:ext cx="488950" cy="225425"/>
          </a:xfrm>
          <a:prstGeom prst="ellipse">
            <a:avLst/>
          </a:prstGeom>
          <a:solidFill>
            <a:schemeClr val="accent1"/>
          </a:solid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290" tIns="34290" rIns="34290" bIns="34290"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11.8</a:t>
            </a:r>
            <a:endParaRPr lang="en-GB" altLang="ko-KR" sz="1000" i="1">
              <a:solidFill>
                <a:schemeClr val="bg1"/>
              </a:solidFill>
              <a:ea typeface="가는각진제목체" panose="02030600000101010101" pitchFamily="18" charset="-127"/>
            </a:endParaRPr>
          </a:p>
        </p:txBody>
      </p:sp>
      <p:sp>
        <p:nvSpPr>
          <p:cNvPr id="15374" name="Oval 15">
            <a:extLst>
              <a:ext uri="{FF2B5EF4-FFF2-40B4-BE49-F238E27FC236}">
                <a16:creationId xmlns:a16="http://schemas.microsoft.com/office/drawing/2014/main" id="{275A5952-08EE-EC7D-C1E2-2EC85BDE57DB}"/>
              </a:ext>
            </a:extLst>
          </p:cNvPr>
          <p:cNvSpPr>
            <a:spLocks noChangeArrowheads="1"/>
          </p:cNvSpPr>
          <p:nvPr/>
        </p:nvSpPr>
        <p:spPr bwMode="auto">
          <a:xfrm>
            <a:off x="7537450" y="2476500"/>
            <a:ext cx="490538" cy="225425"/>
          </a:xfrm>
          <a:prstGeom prst="ellipse">
            <a:avLst/>
          </a:prstGeom>
          <a:solidFill>
            <a:schemeClr val="accent1"/>
          </a:solid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290" tIns="34290" rIns="34290" bIns="34290"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12.4</a:t>
            </a:r>
            <a:endParaRPr lang="en-GB" altLang="ko-KR" sz="1000" i="1">
              <a:solidFill>
                <a:schemeClr val="bg1"/>
              </a:solidFill>
              <a:ea typeface="가는각진제목체" panose="02030600000101010101" pitchFamily="18" charset="-127"/>
            </a:endParaRPr>
          </a:p>
        </p:txBody>
      </p:sp>
      <p:sp>
        <p:nvSpPr>
          <p:cNvPr id="15375" name="Oval 16">
            <a:extLst>
              <a:ext uri="{FF2B5EF4-FFF2-40B4-BE49-F238E27FC236}">
                <a16:creationId xmlns:a16="http://schemas.microsoft.com/office/drawing/2014/main" id="{8A09B9CE-CF27-23BB-223C-3C9F18A42AC4}"/>
              </a:ext>
            </a:extLst>
          </p:cNvPr>
          <p:cNvSpPr>
            <a:spLocks noChangeArrowheads="1"/>
          </p:cNvSpPr>
          <p:nvPr/>
        </p:nvSpPr>
        <p:spPr bwMode="auto">
          <a:xfrm>
            <a:off x="8255000" y="2476500"/>
            <a:ext cx="490538" cy="225425"/>
          </a:xfrm>
          <a:prstGeom prst="ellipse">
            <a:avLst/>
          </a:prstGeom>
          <a:solidFill>
            <a:schemeClr val="accent1"/>
          </a:solid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290" tIns="34290" rIns="34290" bIns="34290"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xx</a:t>
            </a:r>
            <a:endParaRPr lang="en-GB" altLang="ko-KR" sz="1000" i="1">
              <a:solidFill>
                <a:schemeClr val="bg1"/>
              </a:solidFill>
              <a:ea typeface="가는각진제목체" panose="02030600000101010101" pitchFamily="18" charset="-127"/>
            </a:endParaRPr>
          </a:p>
        </p:txBody>
      </p:sp>
      <p:sp>
        <p:nvSpPr>
          <p:cNvPr id="15376" name="Oval 17">
            <a:extLst>
              <a:ext uri="{FF2B5EF4-FFF2-40B4-BE49-F238E27FC236}">
                <a16:creationId xmlns:a16="http://schemas.microsoft.com/office/drawing/2014/main" id="{AD4EC3F4-407B-3492-650D-31551064DF38}"/>
              </a:ext>
            </a:extLst>
          </p:cNvPr>
          <p:cNvSpPr>
            <a:spLocks noChangeArrowheads="1"/>
          </p:cNvSpPr>
          <p:nvPr/>
        </p:nvSpPr>
        <p:spPr bwMode="auto">
          <a:xfrm>
            <a:off x="8974138" y="2476500"/>
            <a:ext cx="490537" cy="225425"/>
          </a:xfrm>
          <a:prstGeom prst="ellipse">
            <a:avLst/>
          </a:prstGeom>
          <a:solidFill>
            <a:schemeClr val="accent1"/>
          </a:solidFill>
          <a:ln w="9525"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290" tIns="34290" rIns="34290" bIns="34290"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15.8</a:t>
            </a:r>
            <a:endParaRPr lang="en-GB" altLang="ko-KR" sz="1000" i="1">
              <a:solidFill>
                <a:schemeClr val="bg1"/>
              </a:solidFill>
              <a:ea typeface="가는각진제목체" panose="02030600000101010101" pitchFamily="18" charset="-127"/>
            </a:endParaRPr>
          </a:p>
        </p:txBody>
      </p:sp>
      <p:sp>
        <p:nvSpPr>
          <p:cNvPr id="15377" name="Rectangle 18">
            <a:extLst>
              <a:ext uri="{FF2B5EF4-FFF2-40B4-BE49-F238E27FC236}">
                <a16:creationId xmlns:a16="http://schemas.microsoft.com/office/drawing/2014/main" id="{D6D59F56-3F13-6AB1-CCC8-BB3B607D03A9}"/>
              </a:ext>
            </a:extLst>
          </p:cNvPr>
          <p:cNvSpPr>
            <a:spLocks noChangeArrowheads="1"/>
          </p:cNvSpPr>
          <p:nvPr/>
        </p:nvSpPr>
        <p:spPr bwMode="auto">
          <a:xfrm>
            <a:off x="3551238" y="4862513"/>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266700" indent="-2667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7. Tax</a:t>
            </a:r>
          </a:p>
        </p:txBody>
      </p:sp>
      <p:sp>
        <p:nvSpPr>
          <p:cNvPr id="15378" name="Rectangle 19">
            <a:extLst>
              <a:ext uri="{FF2B5EF4-FFF2-40B4-BE49-F238E27FC236}">
                <a16:creationId xmlns:a16="http://schemas.microsoft.com/office/drawing/2014/main" id="{3B0E14EC-6F25-639F-0C5E-05FA880673DA}"/>
              </a:ext>
            </a:extLst>
          </p:cNvPr>
          <p:cNvSpPr>
            <a:spLocks noChangeArrowheads="1"/>
          </p:cNvSpPr>
          <p:nvPr/>
        </p:nvSpPr>
        <p:spPr bwMode="auto">
          <a:xfrm>
            <a:off x="3551238" y="4548188"/>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266700" indent="-2667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6. Accounting</a:t>
            </a:r>
          </a:p>
        </p:txBody>
      </p:sp>
      <p:sp>
        <p:nvSpPr>
          <p:cNvPr id="15379" name="Rectangle 20">
            <a:extLst>
              <a:ext uri="{FF2B5EF4-FFF2-40B4-BE49-F238E27FC236}">
                <a16:creationId xmlns:a16="http://schemas.microsoft.com/office/drawing/2014/main" id="{E6083631-6FD2-E168-36A4-16D79B6ACD06}"/>
              </a:ext>
            </a:extLst>
          </p:cNvPr>
          <p:cNvSpPr>
            <a:spLocks noChangeArrowheads="1"/>
          </p:cNvSpPr>
          <p:nvPr/>
        </p:nvSpPr>
        <p:spPr bwMode="auto">
          <a:xfrm>
            <a:off x="3551238" y="4235450"/>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266700" indent="-2667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5. Credit</a:t>
            </a:r>
          </a:p>
        </p:txBody>
      </p:sp>
      <p:sp>
        <p:nvSpPr>
          <p:cNvPr id="15380" name="Rectangle 21">
            <a:extLst>
              <a:ext uri="{FF2B5EF4-FFF2-40B4-BE49-F238E27FC236}">
                <a16:creationId xmlns:a16="http://schemas.microsoft.com/office/drawing/2014/main" id="{F60BCA3B-D9B2-4371-EA73-3640784B0816}"/>
              </a:ext>
            </a:extLst>
          </p:cNvPr>
          <p:cNvSpPr>
            <a:spLocks noChangeArrowheads="1"/>
          </p:cNvSpPr>
          <p:nvPr/>
        </p:nvSpPr>
        <p:spPr bwMode="auto">
          <a:xfrm>
            <a:off x="3551238" y="3922713"/>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266700" indent="-2667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4. A/R, Collections</a:t>
            </a:r>
          </a:p>
        </p:txBody>
      </p:sp>
      <p:sp>
        <p:nvSpPr>
          <p:cNvPr id="15381" name="Rectangle 22">
            <a:extLst>
              <a:ext uri="{FF2B5EF4-FFF2-40B4-BE49-F238E27FC236}">
                <a16:creationId xmlns:a16="http://schemas.microsoft.com/office/drawing/2014/main" id="{E0F9923C-DA54-9B05-EEE5-B308266142C1}"/>
              </a:ext>
            </a:extLst>
          </p:cNvPr>
          <p:cNvSpPr>
            <a:spLocks noChangeArrowheads="1"/>
          </p:cNvSpPr>
          <p:nvPr/>
        </p:nvSpPr>
        <p:spPr bwMode="auto">
          <a:xfrm>
            <a:off x="3551238" y="3608388"/>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266700" indent="-2667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3. Travel &amp; Expense</a:t>
            </a:r>
          </a:p>
        </p:txBody>
      </p:sp>
      <p:sp>
        <p:nvSpPr>
          <p:cNvPr id="15382" name="Rectangle 23">
            <a:extLst>
              <a:ext uri="{FF2B5EF4-FFF2-40B4-BE49-F238E27FC236}">
                <a16:creationId xmlns:a16="http://schemas.microsoft.com/office/drawing/2014/main" id="{B5057C46-875F-F6D3-F857-3EEB237528B3}"/>
              </a:ext>
            </a:extLst>
          </p:cNvPr>
          <p:cNvSpPr>
            <a:spLocks noChangeArrowheads="1"/>
          </p:cNvSpPr>
          <p:nvPr/>
        </p:nvSpPr>
        <p:spPr bwMode="auto">
          <a:xfrm>
            <a:off x="3551238" y="3159125"/>
            <a:ext cx="13620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144463" indent="-144463"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2. Accounts </a:t>
            </a:r>
            <a:br>
              <a:rPr lang="en-US" altLang="ko-KR" sz="1000" b="0">
                <a:ea typeface="굴림" panose="020b0600000101010101" pitchFamily="34" charset="-127"/>
              </a:rPr>
            </a:br>
            <a:r>
              <a:rPr lang="en-US" altLang="ko-KR" sz="1000" b="0">
                <a:ea typeface="굴림" panose="020b0600000101010101" pitchFamily="34" charset="-127"/>
              </a:rPr>
              <a:t>Payable</a:t>
            </a:r>
          </a:p>
        </p:txBody>
      </p:sp>
      <p:sp>
        <p:nvSpPr>
          <p:cNvPr id="15383" name="Rectangle 24">
            <a:extLst>
              <a:ext uri="{FF2B5EF4-FFF2-40B4-BE49-F238E27FC236}">
                <a16:creationId xmlns:a16="http://schemas.microsoft.com/office/drawing/2014/main" id="{8C27E913-6850-710C-F13F-F8E0F40254C4}"/>
              </a:ext>
            </a:extLst>
          </p:cNvPr>
          <p:cNvSpPr>
            <a:spLocks noChangeArrowheads="1"/>
          </p:cNvSpPr>
          <p:nvPr/>
        </p:nvSpPr>
        <p:spPr bwMode="auto">
          <a:xfrm>
            <a:off x="3551238" y="2846388"/>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266700" indent="-2667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1. Mgmt. of finance</a:t>
            </a:r>
          </a:p>
        </p:txBody>
      </p:sp>
      <p:sp>
        <p:nvSpPr>
          <p:cNvPr id="15384" name="Rectangle 25">
            <a:extLst>
              <a:ext uri="{FF2B5EF4-FFF2-40B4-BE49-F238E27FC236}">
                <a16:creationId xmlns:a16="http://schemas.microsoft.com/office/drawing/2014/main" id="{A30F5EA9-46E9-D71F-5974-D89F6C5409E8}"/>
              </a:ext>
            </a:extLst>
          </p:cNvPr>
          <p:cNvSpPr>
            <a:spLocks noChangeArrowheads="1"/>
          </p:cNvSpPr>
          <p:nvPr/>
        </p:nvSpPr>
        <p:spPr bwMode="auto">
          <a:xfrm>
            <a:off x="3551238" y="5489575"/>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9. Financial mgmt.</a:t>
            </a:r>
          </a:p>
        </p:txBody>
      </p:sp>
      <p:sp>
        <p:nvSpPr>
          <p:cNvPr id="15385" name="Rectangle 26">
            <a:extLst>
              <a:ext uri="{FF2B5EF4-FFF2-40B4-BE49-F238E27FC236}">
                <a16:creationId xmlns:a16="http://schemas.microsoft.com/office/drawing/2014/main" id="{F69A202D-F8C7-0BA4-9D70-6FDD3792FE9C}"/>
              </a:ext>
            </a:extLst>
          </p:cNvPr>
          <p:cNvSpPr>
            <a:spLocks noChangeArrowheads="1"/>
          </p:cNvSpPr>
          <p:nvPr/>
        </p:nvSpPr>
        <p:spPr bwMode="auto">
          <a:xfrm>
            <a:off x="3551238" y="5175250"/>
            <a:ext cx="13620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623888" indent="-2667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69975" indent="-266700"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516063" indent="-266700"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962150" indent="-266700"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4193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8765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3337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790950" indent="-266700"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b="0">
                <a:ea typeface="굴림" panose="020b0600000101010101" pitchFamily="34" charset="-127"/>
              </a:rPr>
              <a:t>8. Controlling</a:t>
            </a:r>
          </a:p>
        </p:txBody>
      </p:sp>
      <p:sp>
        <p:nvSpPr>
          <p:cNvPr id="15386" name="Rectangle 27">
            <a:extLst>
              <a:ext uri="{FF2B5EF4-FFF2-40B4-BE49-F238E27FC236}">
                <a16:creationId xmlns:a16="http://schemas.microsoft.com/office/drawing/2014/main" id="{220B0380-A28D-277A-07E8-B4F4D2956261}"/>
              </a:ext>
            </a:extLst>
          </p:cNvPr>
          <p:cNvSpPr>
            <a:spLocks noChangeArrowheads="1"/>
          </p:cNvSpPr>
          <p:nvPr/>
        </p:nvSpPr>
        <p:spPr bwMode="auto">
          <a:xfrm>
            <a:off x="3541713" y="2535238"/>
            <a:ext cx="663575" cy="13652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588" indent="-1905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46050" indent="-163513"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296863" indent="-168275"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433388" indent="-160338"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890588"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347788"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1804988"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262188"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a:ea typeface="굴림" panose="020b0600000101010101" pitchFamily="34" charset="-127"/>
              </a:rPr>
              <a:t>Total (FTE)</a:t>
            </a:r>
          </a:p>
        </p:txBody>
      </p:sp>
      <p:sp>
        <p:nvSpPr>
          <p:cNvPr id="15387" name="Text Box 28">
            <a:extLst>
              <a:ext uri="{FF2B5EF4-FFF2-40B4-BE49-F238E27FC236}">
                <a16:creationId xmlns:a16="http://schemas.microsoft.com/office/drawing/2014/main" id="{429B3436-7568-E052-DC88-6831635AC19F}"/>
              </a:ext>
            </a:extLst>
          </p:cNvPr>
          <p:cNvSpPr txBox="1">
            <a:spLocks noChangeArrowheads="1"/>
          </p:cNvSpPr>
          <p:nvPr/>
        </p:nvSpPr>
        <p:spPr bwMode="auto">
          <a:xfrm>
            <a:off x="1571625" y="3030538"/>
            <a:ext cx="6667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1. Mgmt. of </a:t>
            </a:r>
            <a:br>
              <a:rPr lang="en-US" altLang="ko-KR" sz="1000" b="0">
                <a:ea typeface="굴림" panose="020b0600000101010101" pitchFamily="34" charset="-127"/>
              </a:rPr>
            </a:br>
            <a:r>
              <a:rPr lang="en-US" altLang="ko-KR" sz="1000" b="0">
                <a:ea typeface="굴림" panose="020b0600000101010101" pitchFamily="34" charset="-127"/>
              </a:rPr>
              <a:t>finance</a:t>
            </a:r>
            <a:br>
              <a:rPr lang="en-US" altLang="ko-KR" sz="1000" b="0">
                <a:ea typeface="굴림" panose="020b0600000101010101" pitchFamily="34" charset="-127"/>
              </a:rPr>
            </a:br>
            <a:r>
              <a:rPr lang="en-US" altLang="ko-KR" sz="1000" b="0">
                <a:ea typeface="굴림" panose="020b0600000101010101" pitchFamily="34" charset="-127"/>
              </a:rPr>
              <a:t>5%</a:t>
            </a:r>
          </a:p>
        </p:txBody>
      </p:sp>
      <p:sp>
        <p:nvSpPr>
          <p:cNvPr id="15388" name="Text Box 29">
            <a:extLst>
              <a:ext uri="{FF2B5EF4-FFF2-40B4-BE49-F238E27FC236}">
                <a16:creationId xmlns:a16="http://schemas.microsoft.com/office/drawing/2014/main" id="{0E80A22C-D232-442E-C2A7-0D84E3E3A1E8}"/>
              </a:ext>
            </a:extLst>
          </p:cNvPr>
          <p:cNvSpPr txBox="1">
            <a:spLocks noChangeArrowheads="1"/>
          </p:cNvSpPr>
          <p:nvPr/>
        </p:nvSpPr>
        <p:spPr bwMode="auto">
          <a:xfrm>
            <a:off x="2332038" y="3143250"/>
            <a:ext cx="693737"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2. Accounts </a:t>
            </a:r>
            <a:br>
              <a:rPr lang="en-US" altLang="ko-KR" sz="1000" b="0">
                <a:ea typeface="굴림" panose="020b0600000101010101" pitchFamily="34" charset="-127"/>
              </a:rPr>
            </a:br>
            <a:r>
              <a:rPr lang="en-US" altLang="ko-KR" sz="1000" b="0">
                <a:ea typeface="굴림" panose="020b0600000101010101" pitchFamily="34" charset="-127"/>
              </a:rPr>
              <a:t>Payable</a:t>
            </a:r>
            <a:br>
              <a:rPr lang="en-US" altLang="ko-KR" sz="1000" b="0">
                <a:ea typeface="굴림" panose="020b0600000101010101" pitchFamily="34" charset="-127"/>
              </a:rPr>
            </a:br>
            <a:r>
              <a:rPr lang="en-US" altLang="ko-KR" sz="1000" b="0">
                <a:ea typeface="굴림" panose="020b0600000101010101" pitchFamily="34" charset="-127"/>
              </a:rPr>
              <a:t>10%</a:t>
            </a:r>
          </a:p>
        </p:txBody>
      </p:sp>
      <p:sp>
        <p:nvSpPr>
          <p:cNvPr id="15389" name="Text Box 30">
            <a:extLst>
              <a:ext uri="{FF2B5EF4-FFF2-40B4-BE49-F238E27FC236}">
                <a16:creationId xmlns:a16="http://schemas.microsoft.com/office/drawing/2014/main" id="{FBCBC77A-C8D6-1BA9-DB62-07DAA32A7AE0}"/>
              </a:ext>
            </a:extLst>
          </p:cNvPr>
          <p:cNvSpPr txBox="1">
            <a:spLocks noChangeArrowheads="1"/>
          </p:cNvSpPr>
          <p:nvPr/>
        </p:nvSpPr>
        <p:spPr bwMode="auto">
          <a:xfrm>
            <a:off x="2568575" y="3660775"/>
            <a:ext cx="70802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3. Travel &amp; </a:t>
            </a:r>
            <a:br>
              <a:rPr lang="cs-CZ" altLang="ko-KR" sz="1000" b="0">
                <a:ea typeface="가는각진제목체" panose="02030600000101010101" pitchFamily="18" charset="-127"/>
              </a:rPr>
            </a:br>
            <a:r>
              <a:rPr lang="en-US" altLang="ko-KR" sz="1000" b="0">
                <a:ea typeface="굴림" panose="020b0600000101010101" pitchFamily="34" charset="-127"/>
              </a:rPr>
              <a:t>Expense</a:t>
            </a:r>
            <a:r>
              <a:rPr lang="cs-CZ" altLang="ko-KR" sz="1000" b="0">
                <a:ea typeface="가는각진제목체" panose="02030600000101010101" pitchFamily="18" charset="-127"/>
              </a:rPr>
              <a:t> </a:t>
            </a:r>
            <a:r>
              <a:rPr lang="en-US" altLang="ko-KR" sz="1000" b="0">
                <a:ea typeface="굴림" panose="020b0600000101010101" pitchFamily="34" charset="-127"/>
              </a:rPr>
              <a:t>1%</a:t>
            </a:r>
          </a:p>
        </p:txBody>
      </p:sp>
      <p:sp>
        <p:nvSpPr>
          <p:cNvPr id="15390" name="Text Box 31">
            <a:extLst>
              <a:ext uri="{FF2B5EF4-FFF2-40B4-BE49-F238E27FC236}">
                <a16:creationId xmlns:a16="http://schemas.microsoft.com/office/drawing/2014/main" id="{66935C54-4CB1-4546-1DB1-5B7849222BA9}"/>
              </a:ext>
            </a:extLst>
          </p:cNvPr>
          <p:cNvSpPr txBox="1">
            <a:spLocks noChangeArrowheads="1"/>
          </p:cNvSpPr>
          <p:nvPr/>
        </p:nvSpPr>
        <p:spPr bwMode="auto">
          <a:xfrm>
            <a:off x="2586038" y="4113213"/>
            <a:ext cx="782637"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4. A/R,</a:t>
            </a:r>
            <a:br>
              <a:rPr lang="en-US" altLang="ko-KR" sz="1000" b="0">
                <a:ea typeface="굴림" panose="020b0600000101010101" pitchFamily="34" charset="-127"/>
              </a:rPr>
            </a:br>
            <a:r>
              <a:rPr lang="en-US" altLang="ko-KR" sz="1000" b="0">
                <a:ea typeface="굴림" panose="020b0600000101010101" pitchFamily="34" charset="-127"/>
              </a:rPr>
              <a:t>Collections</a:t>
            </a:r>
            <a:br>
              <a:rPr lang="en-US" altLang="ko-KR" sz="1000" b="0">
                <a:ea typeface="굴림" panose="020b0600000101010101" pitchFamily="34" charset="-127"/>
              </a:rPr>
            </a:br>
            <a:r>
              <a:rPr lang="en-US" altLang="ko-KR" sz="1000" b="0">
                <a:ea typeface="굴림" panose="020b0600000101010101" pitchFamily="34" charset="-127"/>
              </a:rPr>
              <a:t>7%</a:t>
            </a:r>
          </a:p>
        </p:txBody>
      </p:sp>
      <p:sp>
        <p:nvSpPr>
          <p:cNvPr id="15391" name="Text Box 32">
            <a:extLst>
              <a:ext uri="{FF2B5EF4-FFF2-40B4-BE49-F238E27FC236}">
                <a16:creationId xmlns:a16="http://schemas.microsoft.com/office/drawing/2014/main" id="{ADB020CD-D87C-9AB7-D8DF-50C590AD5DAD}"/>
              </a:ext>
            </a:extLst>
          </p:cNvPr>
          <p:cNvSpPr txBox="1">
            <a:spLocks noChangeArrowheads="1"/>
          </p:cNvSpPr>
          <p:nvPr/>
        </p:nvSpPr>
        <p:spPr bwMode="auto">
          <a:xfrm>
            <a:off x="2062163" y="5268913"/>
            <a:ext cx="1171575"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6. Accounting</a:t>
            </a:r>
            <a:r>
              <a:rPr lang="cs-CZ" altLang="ko-KR" sz="1000" b="0">
                <a:ea typeface="가는각진제목체" panose="02030600000101010101" pitchFamily="18" charset="-127"/>
              </a:rPr>
              <a:t> </a:t>
            </a:r>
            <a:br>
              <a:rPr lang="cs-CZ" altLang="ko-KR" sz="1000" b="0">
                <a:ea typeface="가는각진제목체" panose="02030600000101010101" pitchFamily="18" charset="-127"/>
              </a:rPr>
            </a:br>
            <a:r>
              <a:rPr lang="en-US" altLang="ko-KR" sz="1000" b="0">
                <a:ea typeface="굴림" panose="020b0600000101010101" pitchFamily="34" charset="-127"/>
              </a:rPr>
              <a:t>28%</a:t>
            </a:r>
          </a:p>
        </p:txBody>
      </p:sp>
      <p:sp>
        <p:nvSpPr>
          <p:cNvPr id="15392" name="Text Box 33">
            <a:extLst>
              <a:ext uri="{FF2B5EF4-FFF2-40B4-BE49-F238E27FC236}">
                <a16:creationId xmlns:a16="http://schemas.microsoft.com/office/drawing/2014/main" id="{1F8FE85E-82DD-F97E-A8C0-CE3E01345F0A}"/>
              </a:ext>
            </a:extLst>
          </p:cNvPr>
          <p:cNvSpPr txBox="1">
            <a:spLocks noChangeArrowheads="1"/>
          </p:cNvSpPr>
          <p:nvPr/>
        </p:nvSpPr>
        <p:spPr bwMode="auto">
          <a:xfrm>
            <a:off x="982663" y="5359400"/>
            <a:ext cx="609600"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7. Tax</a:t>
            </a:r>
            <a:br>
              <a:rPr lang="en-US" altLang="ko-KR" sz="1000" b="0">
                <a:ea typeface="굴림" panose="020b0600000101010101" pitchFamily="34" charset="-127"/>
              </a:rPr>
            </a:br>
            <a:r>
              <a:rPr lang="en-US" altLang="ko-KR" sz="1000" b="0">
                <a:ea typeface="굴림" panose="020b0600000101010101" pitchFamily="34" charset="-127"/>
              </a:rPr>
              <a:t>6%</a:t>
            </a:r>
          </a:p>
        </p:txBody>
      </p:sp>
      <p:sp>
        <p:nvSpPr>
          <p:cNvPr id="15393" name="Text Box 34">
            <a:extLst>
              <a:ext uri="{FF2B5EF4-FFF2-40B4-BE49-F238E27FC236}">
                <a16:creationId xmlns:a16="http://schemas.microsoft.com/office/drawing/2014/main" id="{E5716A20-18AF-50D6-7607-5CFFD89B18EE}"/>
              </a:ext>
            </a:extLst>
          </p:cNvPr>
          <p:cNvSpPr txBox="1">
            <a:spLocks noChangeArrowheads="1"/>
          </p:cNvSpPr>
          <p:nvPr/>
        </p:nvSpPr>
        <p:spPr bwMode="auto">
          <a:xfrm>
            <a:off x="331788" y="4389438"/>
            <a:ext cx="414337"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SzPct val="120000"/>
              <a:buFontTx/>
              <a:buNone/>
            </a:pPr>
            <a:r>
              <a:rPr lang="en-US" altLang="ko-KR" sz="1000" b="0">
                <a:ea typeface="굴림" panose="020b0600000101010101" pitchFamily="34" charset="-127"/>
              </a:rPr>
              <a:t>8. Con-</a:t>
            </a:r>
            <a:br>
              <a:rPr lang="en-US" altLang="ko-KR" sz="1000" b="0">
                <a:ea typeface="굴림" panose="020b0600000101010101" pitchFamily="34" charset="-127"/>
              </a:rPr>
            </a:br>
            <a:r>
              <a:rPr lang="en-US" altLang="ko-KR" sz="1000" b="0">
                <a:ea typeface="굴림" panose="020b0600000101010101" pitchFamily="34" charset="-127"/>
              </a:rPr>
              <a:t>trolling</a:t>
            </a:r>
            <a:br>
              <a:rPr lang="en-US" altLang="ko-KR" sz="1000" b="0">
                <a:ea typeface="굴림" panose="020b0600000101010101" pitchFamily="34" charset="-127"/>
              </a:rPr>
            </a:br>
            <a:r>
              <a:rPr lang="en-US" altLang="ko-KR" sz="1000" b="0">
                <a:ea typeface="굴림" panose="020b0600000101010101" pitchFamily="34" charset="-127"/>
              </a:rPr>
              <a:t>32%</a:t>
            </a:r>
          </a:p>
        </p:txBody>
      </p:sp>
      <p:sp>
        <p:nvSpPr>
          <p:cNvPr id="15394" name="Text Box 35">
            <a:extLst>
              <a:ext uri="{FF2B5EF4-FFF2-40B4-BE49-F238E27FC236}">
                <a16:creationId xmlns:a16="http://schemas.microsoft.com/office/drawing/2014/main" id="{97340636-DD3F-A311-031E-80EF2F95C9E1}"/>
              </a:ext>
            </a:extLst>
          </p:cNvPr>
          <p:cNvSpPr txBox="1">
            <a:spLocks noChangeArrowheads="1"/>
          </p:cNvSpPr>
          <p:nvPr/>
        </p:nvSpPr>
        <p:spPr bwMode="auto">
          <a:xfrm>
            <a:off x="865188" y="3486150"/>
            <a:ext cx="681037"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SzPct val="120000"/>
              <a:buFontTx/>
              <a:buNone/>
            </a:pPr>
            <a:r>
              <a:rPr lang="en-US" altLang="ko-KR" sz="1000" b="0">
                <a:ea typeface="굴림" panose="020b0600000101010101" pitchFamily="34" charset="-127"/>
              </a:rPr>
              <a:t>9. Financial </a:t>
            </a:r>
            <a:br>
              <a:rPr lang="en-US" altLang="ko-KR" sz="1000" b="0">
                <a:ea typeface="굴림" panose="020b0600000101010101" pitchFamily="34" charset="-127"/>
              </a:rPr>
            </a:br>
            <a:r>
              <a:rPr lang="en-US" altLang="ko-KR" sz="1000" b="0">
                <a:ea typeface="굴림" panose="020b0600000101010101" pitchFamily="34" charset="-127"/>
              </a:rPr>
              <a:t>mgmt.</a:t>
            </a:r>
            <a:r>
              <a:rPr lang="cs-CZ" altLang="ko-KR" sz="1000" b="0">
                <a:ea typeface="가는각진제목체" panose="02030600000101010101" pitchFamily="18" charset="-127"/>
              </a:rPr>
              <a:t> </a:t>
            </a:r>
            <a:r>
              <a:rPr lang="en-US" altLang="ko-KR" sz="1000" b="0">
                <a:ea typeface="굴림" panose="020b0600000101010101" pitchFamily="34" charset="-127"/>
              </a:rPr>
              <a:t>9%</a:t>
            </a:r>
          </a:p>
        </p:txBody>
      </p:sp>
      <p:sp>
        <p:nvSpPr>
          <p:cNvPr id="15395" name="Text Box 36">
            <a:extLst>
              <a:ext uri="{FF2B5EF4-FFF2-40B4-BE49-F238E27FC236}">
                <a16:creationId xmlns:a16="http://schemas.microsoft.com/office/drawing/2014/main" id="{71EE49EA-C0DB-A82A-E30F-47460A3C33EB}"/>
              </a:ext>
            </a:extLst>
          </p:cNvPr>
          <p:cNvSpPr txBox="1">
            <a:spLocks noChangeArrowheads="1"/>
          </p:cNvSpPr>
          <p:nvPr/>
        </p:nvSpPr>
        <p:spPr bwMode="auto">
          <a:xfrm>
            <a:off x="2551113" y="4972050"/>
            <a:ext cx="8286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ClrTx/>
              <a:buSzPct val="120000"/>
              <a:buFontTx/>
              <a:buNone/>
            </a:pPr>
            <a:r>
              <a:rPr lang="en-US" altLang="ko-KR" sz="1000" b="0">
                <a:ea typeface="굴림" panose="020b0600000101010101" pitchFamily="34" charset="-127"/>
              </a:rPr>
              <a:t>5. Credit</a:t>
            </a:r>
            <a:r>
              <a:rPr lang="cs-CZ" altLang="ko-KR" sz="1000" b="0">
                <a:ea typeface="가는각진제목체" panose="02030600000101010101" pitchFamily="18" charset="-127"/>
              </a:rPr>
              <a:t> </a:t>
            </a:r>
            <a:r>
              <a:rPr lang="en-US" altLang="ko-KR" sz="1000" b="0">
                <a:ea typeface="굴림" panose="020b0600000101010101" pitchFamily="34" charset="-127"/>
              </a:rPr>
              <a:t>1%</a:t>
            </a:r>
          </a:p>
        </p:txBody>
      </p:sp>
      <p:sp>
        <p:nvSpPr>
          <p:cNvPr id="15396" name="Line 37">
            <a:extLst>
              <a:ext uri="{FF2B5EF4-FFF2-40B4-BE49-F238E27FC236}">
                <a16:creationId xmlns:a16="http://schemas.microsoft.com/office/drawing/2014/main" id="{2B4B6D9C-6586-7A73-C551-ED3FC584FA65}"/>
              </a:ext>
            </a:extLst>
          </p:cNvPr>
          <p:cNvSpPr>
            <a:spLocks noChangeShapeType="1"/>
          </p:cNvSpPr>
          <p:nvPr/>
        </p:nvSpPr>
        <p:spPr bwMode="auto">
          <a:xfrm flipH="1" flipV="1">
            <a:off x="1873250" y="3438525"/>
            <a:ext cx="0" cy="2889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15397" name="Line 38">
            <a:extLst>
              <a:ext uri="{FF2B5EF4-FFF2-40B4-BE49-F238E27FC236}">
                <a16:creationId xmlns:a16="http://schemas.microsoft.com/office/drawing/2014/main" id="{6D70BEA3-F6E3-5A07-8A05-17A44914826F}"/>
              </a:ext>
            </a:extLst>
          </p:cNvPr>
          <p:cNvSpPr>
            <a:spLocks noChangeShapeType="1"/>
          </p:cNvSpPr>
          <p:nvPr/>
        </p:nvSpPr>
        <p:spPr bwMode="auto">
          <a:xfrm flipV="1">
            <a:off x="2293938" y="3448050"/>
            <a:ext cx="160337" cy="4476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15398" name="Rectangle 39">
            <a:extLst>
              <a:ext uri="{FF2B5EF4-FFF2-40B4-BE49-F238E27FC236}">
                <a16:creationId xmlns:a16="http://schemas.microsoft.com/office/drawing/2014/main" id="{8136BD71-CE1F-EA82-6868-6B95295EBEEE}"/>
              </a:ext>
            </a:extLst>
          </p:cNvPr>
          <p:cNvSpPr>
            <a:spLocks noChangeArrowheads="1"/>
          </p:cNvSpPr>
          <p:nvPr/>
        </p:nvSpPr>
        <p:spPr bwMode="auto">
          <a:xfrm>
            <a:off x="7818438" y="225425"/>
            <a:ext cx="182562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GB" altLang="ko-KR" sz="1200" b="0">
                <a:ea typeface="가는각진제목체" panose="02030600000101010101" pitchFamily="18" charset="-127"/>
              </a:rPr>
              <a:t>Phase 1 – Creation of SSC</a:t>
            </a:r>
          </a:p>
        </p:txBody>
      </p:sp>
      <p:sp>
        <p:nvSpPr>
          <p:cNvPr id="15399" name="Text Box 40">
            <a:extLst>
              <a:ext uri="{FF2B5EF4-FFF2-40B4-BE49-F238E27FC236}">
                <a16:creationId xmlns:a16="http://schemas.microsoft.com/office/drawing/2014/main" id="{D8C1A29E-677E-D9E0-3385-2C6F102B7995}"/>
              </a:ext>
            </a:extLst>
          </p:cNvPr>
          <p:cNvSpPr txBox="1">
            <a:spLocks noChangeArrowheads="1"/>
          </p:cNvSpPr>
          <p:nvPr/>
        </p:nvSpPr>
        <p:spPr bwMode="auto">
          <a:xfrm>
            <a:off x="8659813" y="1544638"/>
            <a:ext cx="990600" cy="363537"/>
          </a:xfrm>
          <a:prstGeom prst="rect">
            <a:avLst/>
          </a:prstGeom>
          <a:noFill/>
          <a:ln w="12700" algn="ctr">
            <a:solidFill>
              <a:schemeClr val="tx1"/>
            </a:solidFill>
            <a:miter lim="800000"/>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US" altLang="ko-KR">
                <a:ea typeface="굴림" panose="020b0600000101010101" pitchFamily="34" charset="-127"/>
              </a:rPr>
              <a:t>Example</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7409" name="Text Box 2">
            <a:extLst>
              <a:ext uri="{FF2B5EF4-FFF2-40B4-BE49-F238E27FC236}">
                <a16:creationId xmlns:a16="http://schemas.microsoft.com/office/drawing/2014/main" id="{A0DCEA65-DDC8-845D-2FEC-37B94AAE4365}"/>
              </a:ext>
            </a:extLst>
          </p:cNvPr>
          <p:cNvSpPr txBox="1">
            <a:spLocks noChangeArrowheads="1"/>
          </p:cNvSpPr>
          <p:nvPr/>
        </p:nvSpPr>
        <p:spPr bwMode="gray">
          <a:xfrm>
            <a:off x="3028950" y="2479675"/>
            <a:ext cx="398463" cy="21272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0" rIns="36723"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400">
                <a:ea typeface="가는각진제목체" panose="02030600000101010101" pitchFamily="18" charset="-127"/>
              </a:rPr>
              <a:t>123</a:t>
            </a:r>
          </a:p>
        </p:txBody>
      </p:sp>
      <p:graphicFrame>
        <p:nvGraphicFramePr>
          <p:cNvPr id="17410" name="Object 3">
            <a:extLst>
              <a:ext uri="{FF2B5EF4-FFF2-40B4-BE49-F238E27FC236}">
                <a16:creationId xmlns:a16="http://schemas.microsoft.com/office/drawing/2014/main" id="{A3908675-520A-1943-F9B9-FFADBB9F1854}"/>
              </a:ext>
            </a:extLst>
          </p:cNvPr>
          <p:cNvGraphicFramePr/>
          <p:nvPr/>
        </p:nvGraphicFramePr>
        <p:xfrm>
          <a:off x="1319213" y="2212975"/>
          <a:ext cx="4684712" cy="3895725"/>
        </p:xfrm>
        <a:graphic>
          <a:graphicData uri="http://schemas.openxmlformats.org/presentationml/2006/ole">
            <mc:AlternateContent>
              <mc:Choice xmlns:v="urn:schemas-microsoft-com:vml" Requires="v">
                <p:oleObj spid="_x0000_s1041" name="차트" r:id="rId3" imgW="4889500" imgH="4057650" progId="Excel.Chart.8">
                  <p:embed/>
                </p:oleObj>
              </mc:Choice>
              <mc:Fallback>
                <p:oleObj name="차트" r:id="rId3" imgW="4889500" imgH="4057650" progId="Excel.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1319213" y="2212975"/>
                        <a:ext cx="4684712" cy="3895725"/>
                      </a:xfrm>
                      <a:prstGeom prst="rect">
                        <a:avLst/>
                      </a:prstGeom>
                      <a:noFill/>
                      <a:ln>
                        <a:noFill/>
                      </a:ln>
                    </p:spPr>
                  </p:pic>
                </p:oleObj>
              </mc:Fallback>
            </mc:AlternateContent>
          </a:graphicData>
        </a:graphic>
      </p:graphicFrame>
      <p:sp>
        <p:nvSpPr>
          <p:cNvPr id="17411" name="Line 4">
            <a:extLst>
              <a:ext uri="{FF2B5EF4-FFF2-40B4-BE49-F238E27FC236}">
                <a16:creationId xmlns:a16="http://schemas.microsoft.com/office/drawing/2014/main" id="{F3360604-890E-4FFB-F667-382855A8186B}"/>
              </a:ext>
            </a:extLst>
          </p:cNvPr>
          <p:cNvSpPr>
            <a:spLocks noChangeShapeType="1"/>
          </p:cNvSpPr>
          <p:nvPr/>
        </p:nvSpPr>
        <p:spPr bwMode="gray">
          <a:xfrm flipH="1" flipV="1">
            <a:off x="2544763" y="2686050"/>
            <a:ext cx="392112"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12" name="Rectangle 5">
            <a:extLst>
              <a:ext uri="{FF2B5EF4-FFF2-40B4-BE49-F238E27FC236}">
                <a16:creationId xmlns:a16="http://schemas.microsoft.com/office/drawing/2014/main" id="{54189607-C67E-81CC-87CC-9E6E77A4496E}"/>
              </a:ext>
            </a:extLst>
          </p:cNvPr>
          <p:cNvSpPr>
            <a:spLocks noChangeArrowheads="1"/>
          </p:cNvSpPr>
          <p:nvPr/>
        </p:nvSpPr>
        <p:spPr bwMode="gray">
          <a:xfrm>
            <a:off x="1373188" y="1601788"/>
            <a:ext cx="4664075"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7312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34975" indent="-190500" defTabSz="8731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73125" indent="-163513" defTabSz="873125">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308100" indent="-168275" defTabSz="87312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746250" indent="-160338" defTabSz="873125">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203450" indent="-160338" defTabSz="87312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60650" indent="-160338" defTabSz="87312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117850" indent="-160338" defTabSz="87312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75050" indent="-160338" defTabSz="87312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GB" altLang="ko-KR" sz="1800">
                <a:ea typeface="가는각진제목체" panose="02030600000101010101" pitchFamily="18" charset="-127"/>
              </a:rPr>
              <a:t>Subsidiary Budgets vis-à-vis SSC Fees </a:t>
            </a:r>
            <a:br>
              <a:rPr lang="en-GB" altLang="ko-KR" sz="1800">
                <a:ea typeface="가는각진제목체" panose="02030600000101010101" pitchFamily="18" charset="-127"/>
              </a:rPr>
            </a:br>
            <a:r>
              <a:rPr lang="en-GB" altLang="ko-KR" sz="1800" b="0">
                <a:ea typeface="가는각진제목체" panose="02030600000101010101" pitchFamily="18" charset="-127"/>
              </a:rPr>
              <a:t>(2007, CZK mil.)</a:t>
            </a:r>
          </a:p>
        </p:txBody>
      </p:sp>
      <p:sp>
        <p:nvSpPr>
          <p:cNvPr id="17413" name="Text Box 6">
            <a:extLst>
              <a:ext uri="{FF2B5EF4-FFF2-40B4-BE49-F238E27FC236}">
                <a16:creationId xmlns:a16="http://schemas.microsoft.com/office/drawing/2014/main" id="{DF45F92B-96AC-76AB-7EFA-4765C8391745}"/>
              </a:ext>
            </a:extLst>
          </p:cNvPr>
          <p:cNvSpPr txBox="1">
            <a:spLocks noChangeArrowheads="1"/>
          </p:cNvSpPr>
          <p:nvPr/>
        </p:nvSpPr>
        <p:spPr bwMode="gray">
          <a:xfrm>
            <a:off x="246063" y="6165850"/>
            <a:ext cx="9388475" cy="5937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tabLst>
                <a:tab pos="54927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ClrTx/>
              <a:buSzPct val="120000"/>
              <a:buFontTx/>
              <a:buNone/>
            </a:pPr>
            <a:r>
              <a:rPr lang="en-GB" altLang="ko-KR" sz="1000" b="0">
                <a:ea typeface="가는각진제목체" panose="02030600000101010101" pitchFamily="18" charset="-127"/>
              </a:rPr>
              <a:t>Notes:	Budget is calculated for the overall SSC size incl. non-staffed positions. Charged SSC fees include: Mark-up of 7.5%, restructuring costs and 	increased rental. EUR 1 ≅ CZK 28. </a:t>
            </a:r>
          </a:p>
          <a:p>
            <a:pPr eaLnBrk="1" hangingPunct="1">
              <a:lnSpc>
                <a:spcPct val="85000"/>
              </a:lnSpc>
              <a:spcBef>
                <a:spcPct val="0"/>
              </a:spcBef>
              <a:buClrTx/>
              <a:buSzPct val="120000"/>
              <a:buFontTx/>
              <a:buNone/>
            </a:pPr>
            <a:r>
              <a:rPr lang="en-GB" altLang="ko-KR" sz="1000" b="0">
                <a:ea typeface="가는각진제목체" panose="02030600000101010101" pitchFamily="18" charset="-127"/>
              </a:rPr>
              <a:t>	(1) Assumes that SSC will end up with a profit of 7.5%</a:t>
            </a:r>
            <a:br>
              <a:rPr lang="en-GB" altLang="ko-KR" sz="1000" b="0">
                <a:ea typeface="가는각진제목체" panose="02030600000101010101" pitchFamily="18" charset="-127"/>
              </a:rPr>
            </a:br>
            <a:r>
              <a:rPr lang="en-GB" altLang="ko-KR" sz="1000" b="0">
                <a:ea typeface="가는각진제목체" panose="02030600000101010101" pitchFamily="18" charset="-127"/>
              </a:rPr>
              <a:t>Source: 	CEOs and Controllers of all participating subsidiaries, </a:t>
            </a:r>
          </a:p>
        </p:txBody>
      </p:sp>
      <p:sp>
        <p:nvSpPr>
          <p:cNvPr id="17414" name="Rectangle 7">
            <a:extLst>
              <a:ext uri="{FF2B5EF4-FFF2-40B4-BE49-F238E27FC236}">
                <a16:creationId xmlns:a16="http://schemas.microsoft.com/office/drawing/2014/main" id="{2A53B8BD-6802-873D-21F2-35F4E9DAC726}"/>
              </a:ext>
            </a:extLst>
          </p:cNvPr>
          <p:cNvSpPr>
            <a:spLocks noChangeArrowheads="1"/>
          </p:cNvSpPr>
          <p:nvPr/>
        </p:nvSpPr>
        <p:spPr bwMode="gray">
          <a:xfrm>
            <a:off x="8548688" y="1582738"/>
            <a:ext cx="1041400" cy="325437"/>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456" tIns="73456" rIns="73456" bIns="73456">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ClrTx/>
              <a:buSzPct val="120000"/>
              <a:buFontTx/>
              <a:buNone/>
            </a:pPr>
            <a:r>
              <a:rPr lang="en-GB" altLang="ko-KR" sz="1400">
                <a:ea typeface="가는각진제목체" panose="02030600000101010101" pitchFamily="18" charset="-127"/>
              </a:rPr>
              <a:t>Illustrative</a:t>
            </a:r>
          </a:p>
        </p:txBody>
      </p:sp>
      <p:sp>
        <p:nvSpPr>
          <p:cNvPr id="17415" name="Text Box 8">
            <a:extLst>
              <a:ext uri="{FF2B5EF4-FFF2-40B4-BE49-F238E27FC236}">
                <a16:creationId xmlns:a16="http://schemas.microsoft.com/office/drawing/2014/main" id="{93AE4D73-EF1B-CA07-F9DA-E7F50B15C939}"/>
              </a:ext>
            </a:extLst>
          </p:cNvPr>
          <p:cNvSpPr txBox="1">
            <a:spLocks noChangeArrowheads="1"/>
          </p:cNvSpPr>
          <p:nvPr/>
        </p:nvSpPr>
        <p:spPr bwMode="gray">
          <a:xfrm>
            <a:off x="423863" y="4572000"/>
            <a:ext cx="777875" cy="2254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100000"/>
              </a:lnSpc>
              <a:spcBef>
                <a:spcPct val="0"/>
              </a:spcBef>
              <a:buClrTx/>
              <a:buSzPct val="120000"/>
              <a:buFontTx/>
              <a:buNone/>
            </a:pPr>
            <a:r>
              <a:rPr lang="en-GB" altLang="ko-KR" sz="1000">
                <a:ea typeface="가는각진제목체" panose="02030600000101010101" pitchFamily="18" charset="-127"/>
              </a:rPr>
              <a:t>Company D</a:t>
            </a:r>
          </a:p>
        </p:txBody>
      </p:sp>
      <p:sp>
        <p:nvSpPr>
          <p:cNvPr id="17416" name="Text Box 9">
            <a:extLst>
              <a:ext uri="{FF2B5EF4-FFF2-40B4-BE49-F238E27FC236}">
                <a16:creationId xmlns:a16="http://schemas.microsoft.com/office/drawing/2014/main" id="{223C9F63-8DA8-7136-C4AE-6E0AF2D7AE61}"/>
              </a:ext>
            </a:extLst>
          </p:cNvPr>
          <p:cNvSpPr txBox="1">
            <a:spLocks noChangeArrowheads="1"/>
          </p:cNvSpPr>
          <p:nvPr/>
        </p:nvSpPr>
        <p:spPr bwMode="gray">
          <a:xfrm>
            <a:off x="423863" y="3089275"/>
            <a:ext cx="777875" cy="2254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100000"/>
              </a:lnSpc>
              <a:spcBef>
                <a:spcPct val="0"/>
              </a:spcBef>
              <a:buClrTx/>
              <a:buSzPct val="120000"/>
              <a:buFontTx/>
              <a:buNone/>
            </a:pPr>
            <a:r>
              <a:rPr lang="en-GB" altLang="ko-KR" sz="1000">
                <a:ea typeface="가는각진제목체" panose="02030600000101010101" pitchFamily="18" charset="-127"/>
              </a:rPr>
              <a:t>Company B</a:t>
            </a:r>
          </a:p>
        </p:txBody>
      </p:sp>
      <p:sp>
        <p:nvSpPr>
          <p:cNvPr id="17417" name="Text Box 10">
            <a:extLst>
              <a:ext uri="{FF2B5EF4-FFF2-40B4-BE49-F238E27FC236}">
                <a16:creationId xmlns:a16="http://schemas.microsoft.com/office/drawing/2014/main" id="{98F79F58-AD5D-696C-3EF4-79B3F5AF9EC7}"/>
              </a:ext>
            </a:extLst>
          </p:cNvPr>
          <p:cNvSpPr txBox="1">
            <a:spLocks noChangeArrowheads="1"/>
          </p:cNvSpPr>
          <p:nvPr/>
        </p:nvSpPr>
        <p:spPr bwMode="gray">
          <a:xfrm>
            <a:off x="427038" y="2897188"/>
            <a:ext cx="812800" cy="2254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100000"/>
              </a:lnSpc>
              <a:spcBef>
                <a:spcPct val="0"/>
              </a:spcBef>
              <a:buClrTx/>
              <a:buSzPct val="120000"/>
              <a:buFontTx/>
              <a:buNone/>
            </a:pPr>
            <a:r>
              <a:rPr lang="en-GB" altLang="ko-KR" sz="1000">
                <a:ea typeface="가는각진제목체" panose="02030600000101010101" pitchFamily="18" charset="-127"/>
              </a:rPr>
              <a:t>Company C </a:t>
            </a:r>
          </a:p>
        </p:txBody>
      </p:sp>
      <p:sp>
        <p:nvSpPr>
          <p:cNvPr id="17418" name="Text Box 11">
            <a:extLst>
              <a:ext uri="{FF2B5EF4-FFF2-40B4-BE49-F238E27FC236}">
                <a16:creationId xmlns:a16="http://schemas.microsoft.com/office/drawing/2014/main" id="{E279E034-292C-EF0C-D4D1-66B31D8A739D}"/>
              </a:ext>
            </a:extLst>
          </p:cNvPr>
          <p:cNvSpPr txBox="1">
            <a:spLocks noChangeArrowheads="1"/>
          </p:cNvSpPr>
          <p:nvPr/>
        </p:nvSpPr>
        <p:spPr bwMode="gray">
          <a:xfrm>
            <a:off x="423863" y="2714625"/>
            <a:ext cx="769937" cy="2254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100000"/>
              </a:lnSpc>
              <a:spcBef>
                <a:spcPct val="0"/>
              </a:spcBef>
              <a:buClrTx/>
              <a:buSzPct val="120000"/>
              <a:buFontTx/>
              <a:buNone/>
            </a:pPr>
            <a:r>
              <a:rPr lang="en-GB" altLang="ko-KR" sz="1000">
                <a:ea typeface="가는각진제목체" panose="02030600000101010101" pitchFamily="18" charset="-127"/>
              </a:rPr>
              <a:t>Company E</a:t>
            </a:r>
          </a:p>
        </p:txBody>
      </p:sp>
      <p:sp>
        <p:nvSpPr>
          <p:cNvPr id="17419" name="Text Box 12">
            <a:extLst>
              <a:ext uri="{FF2B5EF4-FFF2-40B4-BE49-F238E27FC236}">
                <a16:creationId xmlns:a16="http://schemas.microsoft.com/office/drawing/2014/main" id="{BCAB7DBD-D16E-0114-5F1A-7862AB73A5E8}"/>
              </a:ext>
            </a:extLst>
          </p:cNvPr>
          <p:cNvSpPr txBox="1">
            <a:spLocks noChangeArrowheads="1"/>
          </p:cNvSpPr>
          <p:nvPr/>
        </p:nvSpPr>
        <p:spPr bwMode="gray">
          <a:xfrm>
            <a:off x="423863" y="2566988"/>
            <a:ext cx="777875" cy="2254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100000"/>
              </a:lnSpc>
              <a:spcBef>
                <a:spcPct val="0"/>
              </a:spcBef>
              <a:buClrTx/>
              <a:buSzPct val="120000"/>
              <a:buFontTx/>
              <a:buNone/>
            </a:pPr>
            <a:r>
              <a:rPr lang="en-GB" altLang="ko-KR" sz="1000">
                <a:ea typeface="가는각진제목체" panose="02030600000101010101" pitchFamily="18" charset="-127"/>
              </a:rPr>
              <a:t>Company A</a:t>
            </a:r>
          </a:p>
        </p:txBody>
      </p:sp>
      <p:sp>
        <p:nvSpPr>
          <p:cNvPr id="17420" name="Text Box 13">
            <a:extLst>
              <a:ext uri="{FF2B5EF4-FFF2-40B4-BE49-F238E27FC236}">
                <a16:creationId xmlns:a16="http://schemas.microsoft.com/office/drawing/2014/main" id="{D3B117EE-F667-CA71-D3A5-AACE44D8A84B}"/>
              </a:ext>
            </a:extLst>
          </p:cNvPr>
          <p:cNvSpPr txBox="1">
            <a:spLocks noChangeArrowheads="1"/>
          </p:cNvSpPr>
          <p:nvPr/>
        </p:nvSpPr>
        <p:spPr bwMode="gray">
          <a:xfrm>
            <a:off x="423863" y="2400300"/>
            <a:ext cx="763587" cy="22542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100000"/>
              </a:lnSpc>
              <a:spcBef>
                <a:spcPct val="0"/>
              </a:spcBef>
              <a:buClrTx/>
              <a:buSzPct val="120000"/>
              <a:buFontTx/>
              <a:buNone/>
            </a:pPr>
            <a:r>
              <a:rPr lang="en-GB" altLang="ko-KR" sz="1000">
                <a:ea typeface="가는각진제목체" panose="02030600000101010101" pitchFamily="18" charset="-127"/>
              </a:rPr>
              <a:t>Company F</a:t>
            </a:r>
          </a:p>
        </p:txBody>
      </p:sp>
      <p:sp>
        <p:nvSpPr>
          <p:cNvPr id="17421" name="Line 14">
            <a:extLst>
              <a:ext uri="{FF2B5EF4-FFF2-40B4-BE49-F238E27FC236}">
                <a16:creationId xmlns:a16="http://schemas.microsoft.com/office/drawing/2014/main" id="{0A340B74-21D1-EB1F-8323-958A29B4A3E8}"/>
              </a:ext>
            </a:extLst>
          </p:cNvPr>
          <p:cNvSpPr>
            <a:spLocks noChangeShapeType="1"/>
          </p:cNvSpPr>
          <p:nvPr/>
        </p:nvSpPr>
        <p:spPr bwMode="gray">
          <a:xfrm flipH="1" flipV="1">
            <a:off x="1193800" y="2513013"/>
            <a:ext cx="238125" cy="1460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22" name="Line 15">
            <a:extLst>
              <a:ext uri="{FF2B5EF4-FFF2-40B4-BE49-F238E27FC236}">
                <a16:creationId xmlns:a16="http://schemas.microsoft.com/office/drawing/2014/main" id="{635C2090-D6D2-D3DA-860D-2B104175EFF2}"/>
              </a:ext>
            </a:extLst>
          </p:cNvPr>
          <p:cNvSpPr>
            <a:spLocks noChangeShapeType="1"/>
          </p:cNvSpPr>
          <p:nvPr/>
        </p:nvSpPr>
        <p:spPr bwMode="gray">
          <a:xfrm flipH="1" flipV="1">
            <a:off x="1924050" y="2474913"/>
            <a:ext cx="456247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23" name="Text Box 16">
            <a:extLst>
              <a:ext uri="{FF2B5EF4-FFF2-40B4-BE49-F238E27FC236}">
                <a16:creationId xmlns:a16="http://schemas.microsoft.com/office/drawing/2014/main" id="{38D2F9CB-1F64-ED31-3377-CFC79B169711}"/>
              </a:ext>
            </a:extLst>
          </p:cNvPr>
          <p:cNvSpPr txBox="1">
            <a:spLocks noChangeArrowheads="1"/>
          </p:cNvSpPr>
          <p:nvPr/>
        </p:nvSpPr>
        <p:spPr bwMode="gray">
          <a:xfrm>
            <a:off x="1449388" y="2214563"/>
            <a:ext cx="295275" cy="21272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400">
                <a:ea typeface="가는각진제목체" panose="02030600000101010101" pitchFamily="18" charset="-127"/>
              </a:rPr>
              <a:t>131</a:t>
            </a:r>
          </a:p>
        </p:txBody>
      </p:sp>
      <p:sp>
        <p:nvSpPr>
          <p:cNvPr id="17424" name="Line 17">
            <a:extLst>
              <a:ext uri="{FF2B5EF4-FFF2-40B4-BE49-F238E27FC236}">
                <a16:creationId xmlns:a16="http://schemas.microsoft.com/office/drawing/2014/main" id="{81841E61-478A-685B-0EEA-AA4F1DD02872}"/>
              </a:ext>
            </a:extLst>
          </p:cNvPr>
          <p:cNvSpPr>
            <a:spLocks noChangeShapeType="1"/>
          </p:cNvSpPr>
          <p:nvPr/>
        </p:nvSpPr>
        <p:spPr bwMode="gray">
          <a:xfrm flipH="1" flipV="1">
            <a:off x="6021388" y="2917825"/>
            <a:ext cx="63182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25" name="Line 18">
            <a:extLst>
              <a:ext uri="{FF2B5EF4-FFF2-40B4-BE49-F238E27FC236}">
                <a16:creationId xmlns:a16="http://schemas.microsoft.com/office/drawing/2014/main" id="{4EEB8B7D-5C13-CD7E-EBA2-83359542C2CE}"/>
              </a:ext>
            </a:extLst>
          </p:cNvPr>
          <p:cNvSpPr>
            <a:spLocks noChangeShapeType="1"/>
          </p:cNvSpPr>
          <p:nvPr/>
        </p:nvSpPr>
        <p:spPr bwMode="gray">
          <a:xfrm flipH="1" flipV="1">
            <a:off x="3570288" y="2686050"/>
            <a:ext cx="20002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26" name="Line 19">
            <a:extLst>
              <a:ext uri="{FF2B5EF4-FFF2-40B4-BE49-F238E27FC236}">
                <a16:creationId xmlns:a16="http://schemas.microsoft.com/office/drawing/2014/main" id="{0A678E0E-137A-CBFC-39D3-6EE6E1C88AAF}"/>
              </a:ext>
            </a:extLst>
          </p:cNvPr>
          <p:cNvSpPr>
            <a:spLocks noChangeShapeType="1"/>
          </p:cNvSpPr>
          <p:nvPr/>
        </p:nvSpPr>
        <p:spPr bwMode="gray">
          <a:xfrm flipH="1" flipV="1">
            <a:off x="4365625" y="2827338"/>
            <a:ext cx="198438"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27" name="Line 20">
            <a:extLst>
              <a:ext uri="{FF2B5EF4-FFF2-40B4-BE49-F238E27FC236}">
                <a16:creationId xmlns:a16="http://schemas.microsoft.com/office/drawing/2014/main" id="{4E8786C5-DC1B-9174-E407-CF6884423B22}"/>
              </a:ext>
            </a:extLst>
          </p:cNvPr>
          <p:cNvSpPr>
            <a:spLocks noChangeShapeType="1"/>
          </p:cNvSpPr>
          <p:nvPr/>
        </p:nvSpPr>
        <p:spPr bwMode="gray">
          <a:xfrm flipH="1" flipV="1">
            <a:off x="5187950" y="2908300"/>
            <a:ext cx="201613"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17428" name="Text Box 21">
            <a:extLst>
              <a:ext uri="{FF2B5EF4-FFF2-40B4-BE49-F238E27FC236}">
                <a16:creationId xmlns:a16="http://schemas.microsoft.com/office/drawing/2014/main" id="{173589F4-EA4A-EEF4-B919-3092B71513FD}"/>
              </a:ext>
            </a:extLst>
          </p:cNvPr>
          <p:cNvSpPr txBox="1">
            <a:spLocks noChangeArrowheads="1"/>
          </p:cNvSpPr>
          <p:nvPr/>
        </p:nvSpPr>
        <p:spPr bwMode="gray">
          <a:xfrm>
            <a:off x="5546725" y="2687638"/>
            <a:ext cx="295275" cy="21272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400">
                <a:ea typeface="가는각진제목체" panose="02030600000101010101" pitchFamily="18" charset="-127"/>
              </a:rPr>
              <a:t>114</a:t>
            </a:r>
          </a:p>
        </p:txBody>
      </p:sp>
      <p:sp>
        <p:nvSpPr>
          <p:cNvPr id="17429" name="AutoShape 22">
            <a:extLst>
              <a:ext uri="{FF2B5EF4-FFF2-40B4-BE49-F238E27FC236}">
                <a16:creationId xmlns:a16="http://schemas.microsoft.com/office/drawing/2014/main" id="{FA609BD6-4C37-6062-658F-5D2FC4CABA28}"/>
              </a:ext>
            </a:extLst>
          </p:cNvPr>
          <p:cNvSpPr>
            <a:spLocks noChangeArrowheads="1"/>
          </p:cNvSpPr>
          <p:nvPr/>
        </p:nvSpPr>
        <p:spPr bwMode="gray">
          <a:xfrm>
            <a:off x="6249988" y="2479675"/>
            <a:ext cx="793750" cy="428625"/>
          </a:xfrm>
          <a:prstGeom prst="downArrow">
            <a:avLst>
              <a:gd name="adj1" fmla="val 65565"/>
              <a:gd name="adj2" fmla="val 27625"/>
            </a:avLst>
          </a:prstGeom>
          <a:solidFill>
            <a:srgbClr val="0070C0"/>
          </a:solidFill>
          <a:ln w="9525" algn="ctr">
            <a:solidFill>
              <a:srgbClr val="0070C0"/>
            </a:solidFill>
            <a:miter lim="800000"/>
          </a:ln>
        </p:spPr>
        <p:txBody>
          <a:bodyPr wrap="none" lIns="36723" tIns="36723" rIns="36723" bIns="36723"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400">
                <a:solidFill>
                  <a:schemeClr val="bg1"/>
                </a:solidFill>
                <a:ea typeface="가는각진제목체" panose="02030600000101010101" pitchFamily="18" charset="-127"/>
              </a:rPr>
              <a:t>-14%</a:t>
            </a:r>
          </a:p>
        </p:txBody>
      </p:sp>
      <p:sp>
        <p:nvSpPr>
          <p:cNvPr id="17430" name="Text Box 23">
            <a:extLst>
              <a:ext uri="{FF2B5EF4-FFF2-40B4-BE49-F238E27FC236}">
                <a16:creationId xmlns:a16="http://schemas.microsoft.com/office/drawing/2014/main" id="{FB8D8AD1-D4C0-6D1D-7A55-2C59547A9A00}"/>
              </a:ext>
            </a:extLst>
          </p:cNvPr>
          <p:cNvSpPr txBox="1">
            <a:spLocks noChangeArrowheads="1"/>
          </p:cNvSpPr>
          <p:nvPr/>
        </p:nvSpPr>
        <p:spPr bwMode="gray">
          <a:xfrm>
            <a:off x="7151688" y="2570163"/>
            <a:ext cx="2465387" cy="744537"/>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20000"/>
              </a:spcBef>
              <a:buClrTx/>
              <a:buSzPct val="120000"/>
              <a:buFontTx/>
              <a:buNone/>
            </a:pPr>
            <a:r>
              <a:rPr lang="en-GB" altLang="ko-KR">
                <a:ea typeface="가는각진제목체" panose="02030600000101010101" pitchFamily="18" charset="-127"/>
              </a:rPr>
              <a:t>Immediate savings for</a:t>
            </a:r>
            <a:br>
              <a:rPr lang="en-GB" altLang="ko-KR">
                <a:ea typeface="가는각진제목체" panose="02030600000101010101" pitchFamily="18" charset="-127"/>
              </a:rPr>
            </a:br>
            <a:r>
              <a:rPr lang="en-GB" altLang="ko-KR">
                <a:ea typeface="가는각진제목체" panose="02030600000101010101" pitchFamily="18" charset="-127"/>
              </a:rPr>
              <a:t>the client</a:t>
            </a:r>
            <a:endParaRPr lang="en-GB" altLang="ko-KR" sz="1400">
              <a:ea typeface="가는각진제목체" panose="02030600000101010101" pitchFamily="18" charset="-127"/>
            </a:endParaRPr>
          </a:p>
          <a:p>
            <a:pPr eaLnBrk="1" hangingPunct="1">
              <a:lnSpc>
                <a:spcPct val="100000"/>
              </a:lnSpc>
              <a:spcBef>
                <a:spcPct val="20000"/>
              </a:spcBef>
              <a:buClrTx/>
              <a:buSzPct val="120000"/>
              <a:buFontTx/>
              <a:buNone/>
            </a:pPr>
            <a:r>
              <a:rPr lang="en-GB" altLang="ko-KR" sz="1000" b="0">
                <a:ea typeface="가는각진제목체" panose="02030600000101010101" pitchFamily="18" charset="-127"/>
              </a:rPr>
              <a:t>(before to in-depth reengineering)</a:t>
            </a:r>
          </a:p>
        </p:txBody>
      </p:sp>
      <p:sp>
        <p:nvSpPr>
          <p:cNvPr id="17431" name="AutoShape 24">
            <a:extLst>
              <a:ext uri="{FF2B5EF4-FFF2-40B4-BE49-F238E27FC236}">
                <a16:creationId xmlns:a16="http://schemas.microsoft.com/office/drawing/2014/main" id="{EDCAAB61-CEFA-31D5-2C0D-67A465A3CE6B}"/>
              </a:ext>
            </a:extLst>
          </p:cNvPr>
          <p:cNvSpPr/>
          <p:nvPr/>
        </p:nvSpPr>
        <p:spPr bwMode="auto">
          <a:xfrm rot="5400000">
            <a:off x="4438650" y="2366963"/>
            <a:ext cx="109537" cy="1512888"/>
          </a:xfrm>
          <a:prstGeom prst="rightBrace">
            <a:avLst>
              <a:gd name="adj1" fmla="val 115097"/>
              <a:gd name="adj2" fmla="val 50000"/>
            </a:avLst>
          </a:prstGeom>
          <a:noFill/>
          <a:ln w="9525">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17432" name="Text Box 25">
            <a:extLst>
              <a:ext uri="{FF2B5EF4-FFF2-40B4-BE49-F238E27FC236}">
                <a16:creationId xmlns:a16="http://schemas.microsoft.com/office/drawing/2014/main" id="{6D5E6D31-694C-6A47-5C76-413317D2C0A3}"/>
              </a:ext>
            </a:extLst>
          </p:cNvPr>
          <p:cNvSpPr txBox="1">
            <a:spLocks noChangeArrowheads="1"/>
          </p:cNvSpPr>
          <p:nvPr/>
        </p:nvSpPr>
        <p:spPr bwMode="auto">
          <a:xfrm>
            <a:off x="3638550" y="3241675"/>
            <a:ext cx="1711325" cy="34607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900" b="0">
                <a:ea typeface="가는각진제목체" panose="02030600000101010101" pitchFamily="18" charset="-127"/>
              </a:rPr>
              <a:t>Intra-group payments eliminated by consolidation</a:t>
            </a:r>
          </a:p>
        </p:txBody>
      </p:sp>
      <p:sp>
        <p:nvSpPr>
          <p:cNvPr id="17433" name="Text Box 26">
            <a:extLst>
              <a:ext uri="{FF2B5EF4-FFF2-40B4-BE49-F238E27FC236}">
                <a16:creationId xmlns:a16="http://schemas.microsoft.com/office/drawing/2014/main" id="{6CF05992-5A0E-A1F4-DD77-B3E1790F61CC}"/>
              </a:ext>
            </a:extLst>
          </p:cNvPr>
          <p:cNvSpPr txBox="1">
            <a:spLocks noChangeArrowheads="1"/>
          </p:cNvSpPr>
          <p:nvPr/>
        </p:nvSpPr>
        <p:spPr bwMode="auto">
          <a:xfrm>
            <a:off x="5972175" y="5599113"/>
            <a:ext cx="360363" cy="179387"/>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SzPct val="120000"/>
              <a:buFontTx/>
              <a:buNone/>
            </a:pPr>
            <a:r>
              <a:rPr lang="en-GB" altLang="ko-KR" sz="1000" baseline="30000">
                <a:ea typeface="가는각진제목체" panose="02030600000101010101" pitchFamily="18" charset="-127"/>
              </a:rPr>
              <a:t>(1)</a:t>
            </a:r>
          </a:p>
        </p:txBody>
      </p:sp>
      <p:sp>
        <p:nvSpPr>
          <p:cNvPr id="17434" name="Rectangle 27">
            <a:extLst>
              <a:ext uri="{FF2B5EF4-FFF2-40B4-BE49-F238E27FC236}">
                <a16:creationId xmlns:a16="http://schemas.microsoft.com/office/drawing/2014/main" id="{257CA2B5-B808-20D6-0FEE-E0BCFA3A3147}"/>
              </a:ext>
            </a:extLst>
          </p:cNvPr>
          <p:cNvSpPr>
            <a:spLocks noGrp="1" noChangeArrowheads="1"/>
          </p:cNvSpPr>
          <p:nvPr>
            <p:ph type="title"/>
          </p:nvPr>
        </p:nvSpPr>
        <p:spPr>
          <a:xfrm>
            <a:off x="266700" y="596900"/>
            <a:ext cx="9367838" cy="603250"/>
          </a:xfrm>
        </p:spPr>
        <p:txBody>
          <a:bodyPr/>
          <a:lstStyle/>
          <a:p>
            <a:r>
              <a:rPr lang="en-GB" altLang="ko-KR"/>
              <a:t>Creation of SSC is beneficial already in its initial year, i.e. during the running restructuring process</a:t>
            </a:r>
          </a:p>
        </p:txBody>
      </p:sp>
      <p:sp>
        <p:nvSpPr>
          <p:cNvPr id="17435" name="Rectangle 28">
            <a:extLst>
              <a:ext uri="{FF2B5EF4-FFF2-40B4-BE49-F238E27FC236}">
                <a16:creationId xmlns:a16="http://schemas.microsoft.com/office/drawing/2014/main" id="{E7F1A4C6-FAA9-2F91-AA91-1DCCA9D6107D}"/>
              </a:ext>
            </a:extLst>
          </p:cNvPr>
          <p:cNvSpPr>
            <a:spLocks noChangeArrowheads="1"/>
          </p:cNvSpPr>
          <p:nvPr/>
        </p:nvSpPr>
        <p:spPr bwMode="auto">
          <a:xfrm>
            <a:off x="7818438" y="225425"/>
            <a:ext cx="182562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GB" altLang="ko-KR" sz="1200" b="0">
                <a:ea typeface="가는각진제목체" panose="02030600000101010101" pitchFamily="18" charset="-127"/>
              </a:rPr>
              <a:t>Phase 1 – Creation of SSC</a:t>
            </a:r>
          </a:p>
        </p:txBody>
      </p:sp>
      <p:sp>
        <p:nvSpPr>
          <p:cNvPr id="17436" name="AutoShape 29">
            <a:extLst>
              <a:ext uri="{FF2B5EF4-FFF2-40B4-BE49-F238E27FC236}">
                <a16:creationId xmlns:a16="http://schemas.microsoft.com/office/drawing/2014/main" id="{18719635-FEC5-7645-2769-EAB194D96734}"/>
              </a:ext>
            </a:extLst>
          </p:cNvPr>
          <p:cNvSpPr>
            <a:spLocks noChangeArrowheads="1"/>
          </p:cNvSpPr>
          <p:nvPr/>
        </p:nvSpPr>
        <p:spPr bwMode="gray">
          <a:xfrm>
            <a:off x="2147888" y="2476500"/>
            <a:ext cx="795337" cy="182563"/>
          </a:xfrm>
          <a:prstGeom prst="downArrow">
            <a:avLst>
              <a:gd name="adj1" fmla="val 65565"/>
              <a:gd name="adj2" fmla="val 27625"/>
            </a:avLst>
          </a:prstGeom>
          <a:solidFill>
            <a:srgbClr val="0070C0"/>
          </a:solidFill>
          <a:ln w="9525" algn="ctr">
            <a:solidFill>
              <a:srgbClr val="0070C0"/>
            </a:solidFill>
            <a:miter lim="800000"/>
          </a:ln>
        </p:spPr>
        <p:txBody>
          <a:bodyPr wrap="none" lIns="36723" tIns="36723" rIns="36723" bIns="36723"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400">
                <a:solidFill>
                  <a:schemeClr val="bg1"/>
                </a:solidFill>
                <a:ea typeface="가는각진제목체" panose="02030600000101010101" pitchFamily="18" charset="-127"/>
              </a:rPr>
              <a:t>-7%</a:t>
            </a:r>
          </a:p>
        </p:txBody>
      </p:sp>
      <p:pic>
        <p:nvPicPr>
          <p:cNvPr id="17437" name="Picture 30">
            <a:extLst>
              <a:ext uri="{FF2B5EF4-FFF2-40B4-BE49-F238E27FC236}">
                <a16:creationId xmlns:a16="http://schemas.microsoft.com/office/drawing/2014/main" id="{80181299-D806-8DFF-02EC-FC18125FC20A}"/>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19075" y="1379538"/>
            <a:ext cx="1092200" cy="522287"/>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121" name="Rectangle 2">
            <a:extLst>
              <a:ext uri="{FF2B5EF4-FFF2-40B4-BE49-F238E27FC236}">
                <a16:creationId xmlns:a16="http://schemas.microsoft.com/office/drawing/2014/main" id="{FC2C29ED-39DE-B77D-041F-9E14CAF45D5F}"/>
              </a:ext>
            </a:extLst>
          </p:cNvPr>
          <p:cNvSpPr>
            <a:spLocks noGrp="1" noChangeArrowheads="1"/>
          </p:cNvSpPr>
          <p:nvPr>
            <p:ph type="title"/>
          </p:nvPr>
        </p:nvSpPr>
        <p:spPr>
          <a:xfrm>
            <a:off x="276225" y="596900"/>
            <a:ext cx="9367838" cy="498598"/>
          </a:xfrm>
        </p:spPr>
        <p:txBody>
          <a:bodyPr/>
          <a:lstStyle/>
          <a:p>
            <a:r>
              <a:rPr lang="en-US" altLang="ko-KR" sz="1800">
                <a:ea typeface="굴림" panose="020b0600000101010101" pitchFamily="34" charset="-127"/>
              </a:rPr>
              <a:t>Business Value and Operational Excellence of sites vary widely independent of current profitability</a:t>
            </a:r>
          </a:p>
        </p:txBody>
      </p:sp>
      <p:sp>
        <p:nvSpPr>
          <p:cNvPr id="5122" name="Rectangle 4">
            <a:extLst>
              <a:ext uri="{FF2B5EF4-FFF2-40B4-BE49-F238E27FC236}">
                <a16:creationId xmlns:a16="http://schemas.microsoft.com/office/drawing/2014/main" id="{AA082EF7-B19E-B463-110B-B4A4A17B5CB4}"/>
              </a:ext>
            </a:extLst>
          </p:cNvPr>
          <p:cNvSpPr>
            <a:spLocks noChangeArrowheads="1"/>
          </p:cNvSpPr>
          <p:nvPr/>
        </p:nvSpPr>
        <p:spPr bwMode="auto">
          <a:xfrm>
            <a:off x="323833" y="1822808"/>
            <a:ext cx="7653337" cy="221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a:solidFill>
                  <a:srgbClr val="000000"/>
                </a:solidFill>
                <a:ea typeface="굴림" panose="020b0600000101010101" pitchFamily="34" charset="-127"/>
              </a:rPr>
              <a:t>Aggregated assessment for 24 visited sites</a:t>
            </a:r>
          </a:p>
        </p:txBody>
      </p:sp>
      <p:sp>
        <p:nvSpPr>
          <p:cNvPr id="5123" name="Rectangle 5">
            <a:extLst>
              <a:ext uri="{FF2B5EF4-FFF2-40B4-BE49-F238E27FC236}">
                <a16:creationId xmlns:a16="http://schemas.microsoft.com/office/drawing/2014/main" id="{46842093-AF92-95D5-CDE6-CE32ED3ACD5A}"/>
              </a:ext>
            </a:extLst>
          </p:cNvPr>
          <p:cNvSpPr>
            <a:spLocks noChangeArrowheads="1"/>
          </p:cNvSpPr>
          <p:nvPr/>
        </p:nvSpPr>
        <p:spPr bwMode="auto">
          <a:xfrm>
            <a:off x="7867650" y="1889125"/>
            <a:ext cx="1824038" cy="33655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9" tIns="72009" rIns="72009" bIns="72009">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US" altLang="ko-KR" sz="1400">
                <a:ea typeface="굴림" panose="020b0600000101010101" pitchFamily="34" charset="-127"/>
              </a:rPr>
              <a:t>Team assessment</a:t>
            </a:r>
          </a:p>
        </p:txBody>
      </p:sp>
      <p:sp>
        <p:nvSpPr>
          <p:cNvPr id="5124" name="Rectangle 6">
            <a:extLst>
              <a:ext uri="{FF2B5EF4-FFF2-40B4-BE49-F238E27FC236}">
                <a16:creationId xmlns:a16="http://schemas.microsoft.com/office/drawing/2014/main" id="{97AF9382-7837-E894-AA9E-44D0F4B55F68}"/>
              </a:ext>
            </a:extLst>
          </p:cNvPr>
          <p:cNvSpPr>
            <a:spLocks noChangeArrowheads="1"/>
          </p:cNvSpPr>
          <p:nvPr/>
        </p:nvSpPr>
        <p:spPr bwMode="auto">
          <a:xfrm>
            <a:off x="490538" y="5019675"/>
            <a:ext cx="925512"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50000"/>
              </a:spcBef>
              <a:buClrTx/>
              <a:buFontTx/>
              <a:buNone/>
            </a:pPr>
            <a:r>
              <a:rPr lang="en-GB" altLang="ko-KR" sz="1200">
                <a:ea typeface="가는각진제목체" panose="02030600000101010101" pitchFamily="18" charset="-127"/>
              </a:rPr>
              <a:t>Non-Critical</a:t>
            </a:r>
          </a:p>
        </p:txBody>
      </p:sp>
      <p:sp>
        <p:nvSpPr>
          <p:cNvPr id="5125" name="Rectangle 7">
            <a:extLst>
              <a:ext uri="{FF2B5EF4-FFF2-40B4-BE49-F238E27FC236}">
                <a16:creationId xmlns:a16="http://schemas.microsoft.com/office/drawing/2014/main" id="{1D5C53DB-A6A0-CA0E-0EBB-0C32066EB8E3}"/>
              </a:ext>
            </a:extLst>
          </p:cNvPr>
          <p:cNvSpPr>
            <a:spLocks noChangeArrowheads="1"/>
          </p:cNvSpPr>
          <p:nvPr/>
        </p:nvSpPr>
        <p:spPr bwMode="auto">
          <a:xfrm>
            <a:off x="1709738" y="5761038"/>
            <a:ext cx="2017712" cy="182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1200" i="1">
                <a:ea typeface="가는각진제목체" panose="02030600000101010101" pitchFamily="18" charset="-127"/>
              </a:rPr>
              <a:t>Low</a:t>
            </a:r>
          </a:p>
        </p:txBody>
      </p:sp>
      <p:sp>
        <p:nvSpPr>
          <p:cNvPr id="5126" name="Rectangle 8">
            <a:extLst>
              <a:ext uri="{FF2B5EF4-FFF2-40B4-BE49-F238E27FC236}">
                <a16:creationId xmlns:a16="http://schemas.microsoft.com/office/drawing/2014/main" id="{2B02DE65-32DE-4255-64EE-EA952F9E7CF9}"/>
              </a:ext>
            </a:extLst>
          </p:cNvPr>
          <p:cNvSpPr>
            <a:spLocks noChangeArrowheads="1"/>
          </p:cNvSpPr>
          <p:nvPr/>
        </p:nvSpPr>
        <p:spPr bwMode="auto">
          <a:xfrm>
            <a:off x="7402513" y="5761038"/>
            <a:ext cx="2014537" cy="182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50000"/>
              </a:spcBef>
              <a:buClrTx/>
              <a:buFontTx/>
              <a:buNone/>
            </a:pPr>
            <a:r>
              <a:rPr lang="en-GB" altLang="ko-KR" sz="1200" i="1">
                <a:ea typeface="가는각진제목체" panose="02030600000101010101" pitchFamily="18" charset="-127"/>
              </a:rPr>
              <a:t>High</a:t>
            </a:r>
          </a:p>
        </p:txBody>
      </p:sp>
      <p:sp>
        <p:nvSpPr>
          <p:cNvPr id="5127" name="Rectangle 9">
            <a:extLst>
              <a:ext uri="{FF2B5EF4-FFF2-40B4-BE49-F238E27FC236}">
                <a16:creationId xmlns:a16="http://schemas.microsoft.com/office/drawing/2014/main" id="{2F197F3C-4A2F-0794-489C-2C04FD65E182}"/>
              </a:ext>
            </a:extLst>
          </p:cNvPr>
          <p:cNvSpPr>
            <a:spLocks noChangeArrowheads="1"/>
          </p:cNvSpPr>
          <p:nvPr/>
        </p:nvSpPr>
        <p:spPr bwMode="auto">
          <a:xfrm>
            <a:off x="4397375" y="5888038"/>
            <a:ext cx="2089150" cy="192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400">
                <a:ea typeface="가는각진제목체" panose="02030600000101010101" pitchFamily="18" charset="-127"/>
              </a:rPr>
              <a:t>Operational excellence</a:t>
            </a:r>
            <a:endParaRPr lang="en-US" altLang="ko-KR" sz="1400">
              <a:ea typeface="굴림" panose="020b0600000101010101" pitchFamily="34" charset="-127"/>
            </a:endParaRPr>
          </a:p>
        </p:txBody>
      </p:sp>
      <p:sp>
        <p:nvSpPr>
          <p:cNvPr id="5128" name="Oval 10">
            <a:extLst>
              <a:ext uri="{FF2B5EF4-FFF2-40B4-BE49-F238E27FC236}">
                <a16:creationId xmlns:a16="http://schemas.microsoft.com/office/drawing/2014/main" id="{D155BA66-62F7-D197-C862-A35BF44BCBB7}"/>
              </a:ext>
            </a:extLst>
          </p:cNvPr>
          <p:cNvSpPr>
            <a:spLocks noChangeAspect="1" noChangeArrowheads="1"/>
          </p:cNvSpPr>
          <p:nvPr/>
        </p:nvSpPr>
        <p:spPr bwMode="auto">
          <a:xfrm>
            <a:off x="306388" y="5805488"/>
            <a:ext cx="184150" cy="169862"/>
          </a:xfrm>
          <a:prstGeom prst="ellipse">
            <a:avLst/>
          </a:prstGeom>
          <a:solidFill>
            <a:schemeClr val="folHlink"/>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ko-KR" altLang="en-US" sz="1200" b="0">
                <a:ea typeface="굴림" panose="020b0600000101010101" pitchFamily="34" charset="-127"/>
              </a:rPr>
              <a:t>   </a:t>
            </a:r>
            <a:r>
              <a:rPr lang="en-US" altLang="ko-KR" sz="1000" b="0">
                <a:ea typeface="굴림" panose="020b0600000101010101" pitchFamily="34" charset="-127"/>
              </a:rPr>
              <a:t>Production cost</a:t>
            </a:r>
          </a:p>
        </p:txBody>
      </p:sp>
      <p:sp>
        <p:nvSpPr>
          <p:cNvPr id="5129" name="Rectangle 11">
            <a:extLst>
              <a:ext uri="{FF2B5EF4-FFF2-40B4-BE49-F238E27FC236}">
                <a16:creationId xmlns:a16="http://schemas.microsoft.com/office/drawing/2014/main" id="{7BDC4917-5762-4435-6928-7C089A56EDAD}"/>
              </a:ext>
            </a:extLst>
          </p:cNvPr>
          <p:cNvSpPr>
            <a:spLocks noChangeArrowheads="1"/>
          </p:cNvSpPr>
          <p:nvPr/>
        </p:nvSpPr>
        <p:spPr bwMode="auto">
          <a:xfrm>
            <a:off x="211138" y="3692525"/>
            <a:ext cx="1011237" cy="576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GB" altLang="ko-KR" sz="1400" b="0">
                <a:ea typeface="가는각진제목체" panose="02030600000101010101" pitchFamily="18" charset="-127"/>
              </a:rPr>
              <a:t>Business Value w/o financials</a:t>
            </a:r>
            <a:endParaRPr lang="en-US" altLang="ko-KR" sz="1400" b="0">
              <a:ea typeface="굴림" panose="020b0600000101010101" pitchFamily="34" charset="-127"/>
            </a:endParaRPr>
          </a:p>
        </p:txBody>
      </p:sp>
      <p:sp>
        <p:nvSpPr>
          <p:cNvPr id="5130" name="Oval 12">
            <a:extLst>
              <a:ext uri="{FF2B5EF4-FFF2-40B4-BE49-F238E27FC236}">
                <a16:creationId xmlns:a16="http://schemas.microsoft.com/office/drawing/2014/main" id="{E049A7B8-7288-F709-A40F-0FA429598F41}"/>
              </a:ext>
            </a:extLst>
          </p:cNvPr>
          <p:cNvSpPr>
            <a:spLocks noChangeArrowheads="1"/>
          </p:cNvSpPr>
          <p:nvPr/>
        </p:nvSpPr>
        <p:spPr bwMode="auto">
          <a:xfrm>
            <a:off x="5222875" y="4294188"/>
            <a:ext cx="360363" cy="331787"/>
          </a:xfrm>
          <a:prstGeom prst="ellipse">
            <a:avLst/>
          </a:prstGeom>
          <a:solidFill>
            <a:schemeClr val="hlink"/>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31" name="Freeform 13">
            <a:extLst>
              <a:ext uri="{FF2B5EF4-FFF2-40B4-BE49-F238E27FC236}">
                <a16:creationId xmlns:a16="http://schemas.microsoft.com/office/drawing/2014/main" id="{20CC2F68-6DB1-D46C-8175-DBBF99BEF0DF}"/>
              </a:ext>
            </a:extLst>
          </p:cNvPr>
          <p:cNvSpPr/>
          <p:nvPr/>
        </p:nvSpPr>
        <p:spPr bwMode="auto">
          <a:xfrm>
            <a:off x="5475288" y="4264025"/>
            <a:ext cx="182562" cy="407988"/>
          </a:xfrm>
          <a:custGeom>
            <a:gdLst>
              <a:gd name="T0" fmla="*/ 0 w 51"/>
              <a:gd name="T1" fmla="*/ 0 h 124"/>
              <a:gd name="T2" fmla="*/ 0 w 51"/>
              <a:gd name="T3" fmla="*/ 2147483646 h 124"/>
              <a:gd name="T4" fmla="*/ 2147483646 w 51"/>
              <a:gd name="T5" fmla="*/ 2147483646 h 124"/>
              <a:gd name="T6" fmla="*/ 2147483646 w 51"/>
              <a:gd name="T7" fmla="*/ 2147483646 h 124"/>
              <a:gd name="T8" fmla="*/ 0 w 51"/>
              <a:gd name="T9" fmla="*/ 0 h 124"/>
              <a:gd name="T10" fmla="*/ 0 60000 65536"/>
              <a:gd name="T11" fmla="*/ 0 60000 65536"/>
              <a:gd name="T12" fmla="*/ 0 60000 65536"/>
              <a:gd name="T13" fmla="*/ 0 60000 65536"/>
              <a:gd name="T14" fmla="*/ 0 60000 65536"/>
            </a:gdLst>
            <a:cxnLst>
              <a:cxn ang="T10">
                <a:pos x="T0" y="T1"/>
              </a:cxn>
              <a:cxn ang="T11">
                <a:pos x="T2" y="T3"/>
              </a:cxn>
              <a:cxn ang="T12">
                <a:pos x="T4" y="T5"/>
              </a:cxn>
              <a:cxn ang="T13">
                <a:pos x="T6" y="T7"/>
              </a:cxn>
              <a:cxn ang="T14">
                <a:pos x="T8" y="T9"/>
              </a:cxn>
            </a:cxnLst>
            <a:rect l="0" t="0" r="r" b="b"/>
            <a:pathLst>
              <a:path w="51" h="124">
                <a:moveTo>
                  <a:pt x="0" y="0"/>
                </a:moveTo>
                <a:lnTo>
                  <a:pt x="0" y="124"/>
                </a:lnTo>
                <a:lnTo>
                  <a:pt x="51" y="124"/>
                </a:lnTo>
                <a:lnTo>
                  <a:pt x="51" y="3"/>
                </a:lnTo>
                <a:lnTo>
                  <a:pt x="0" y="0"/>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132" name="Line 14">
            <a:extLst>
              <a:ext uri="{FF2B5EF4-FFF2-40B4-BE49-F238E27FC236}">
                <a16:creationId xmlns:a16="http://schemas.microsoft.com/office/drawing/2014/main" id="{6F904D3A-1BBA-38E4-6625-19F0436EA093}"/>
              </a:ext>
            </a:extLst>
          </p:cNvPr>
          <p:cNvSpPr>
            <a:spLocks noChangeShapeType="1"/>
          </p:cNvSpPr>
          <p:nvPr/>
        </p:nvSpPr>
        <p:spPr bwMode="auto">
          <a:xfrm>
            <a:off x="5472113" y="4303713"/>
            <a:ext cx="3175" cy="3190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133" name="Oval 15">
            <a:extLst>
              <a:ext uri="{FF2B5EF4-FFF2-40B4-BE49-F238E27FC236}">
                <a16:creationId xmlns:a16="http://schemas.microsoft.com/office/drawing/2014/main" id="{DABB666F-0125-78E2-4C59-4070FB15AB88}"/>
              </a:ext>
            </a:extLst>
          </p:cNvPr>
          <p:cNvSpPr>
            <a:spLocks noChangeArrowheads="1"/>
          </p:cNvSpPr>
          <p:nvPr/>
        </p:nvSpPr>
        <p:spPr bwMode="auto">
          <a:xfrm>
            <a:off x="6856413" y="4294188"/>
            <a:ext cx="360362" cy="331787"/>
          </a:xfrm>
          <a:prstGeom prst="ellipse">
            <a:avLst/>
          </a:prstGeom>
          <a:solidFill>
            <a:schemeClr val="hlink"/>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34" name="Freeform 16">
            <a:extLst>
              <a:ext uri="{FF2B5EF4-FFF2-40B4-BE49-F238E27FC236}">
                <a16:creationId xmlns:a16="http://schemas.microsoft.com/office/drawing/2014/main" id="{E59E60A8-FC5E-9272-536F-F27A0746B2EA}"/>
              </a:ext>
            </a:extLst>
          </p:cNvPr>
          <p:cNvSpPr/>
          <p:nvPr/>
        </p:nvSpPr>
        <p:spPr bwMode="auto">
          <a:xfrm>
            <a:off x="6827838" y="4271963"/>
            <a:ext cx="276225" cy="400050"/>
          </a:xfrm>
          <a:custGeom>
            <a:gdLst>
              <a:gd name="T0" fmla="*/ 0 w 51"/>
              <a:gd name="T1" fmla="*/ 0 h 124"/>
              <a:gd name="T2" fmla="*/ 0 w 51"/>
              <a:gd name="T3" fmla="*/ 2147483646 h 124"/>
              <a:gd name="T4" fmla="*/ 2147483646 w 51"/>
              <a:gd name="T5" fmla="*/ 2147483646 h 124"/>
              <a:gd name="T6" fmla="*/ 2147483646 w 51"/>
              <a:gd name="T7" fmla="*/ 2147483646 h 124"/>
              <a:gd name="T8" fmla="*/ 0 w 51"/>
              <a:gd name="T9" fmla="*/ 0 h 124"/>
              <a:gd name="T10" fmla="*/ 0 60000 65536"/>
              <a:gd name="T11" fmla="*/ 0 60000 65536"/>
              <a:gd name="T12" fmla="*/ 0 60000 65536"/>
              <a:gd name="T13" fmla="*/ 0 60000 65536"/>
              <a:gd name="T14" fmla="*/ 0 60000 65536"/>
            </a:gdLst>
            <a:cxnLst>
              <a:cxn ang="T10">
                <a:pos x="T0" y="T1"/>
              </a:cxn>
              <a:cxn ang="T11">
                <a:pos x="T2" y="T3"/>
              </a:cxn>
              <a:cxn ang="T12">
                <a:pos x="T4" y="T5"/>
              </a:cxn>
              <a:cxn ang="T13">
                <a:pos x="T6" y="T7"/>
              </a:cxn>
              <a:cxn ang="T14">
                <a:pos x="T8" y="T9"/>
              </a:cxn>
            </a:cxnLst>
            <a:rect l="0" t="0" r="r" b="b"/>
            <a:pathLst>
              <a:path w="51" h="124">
                <a:moveTo>
                  <a:pt x="0" y="0"/>
                </a:moveTo>
                <a:lnTo>
                  <a:pt x="0" y="124"/>
                </a:lnTo>
                <a:lnTo>
                  <a:pt x="51" y="124"/>
                </a:lnTo>
                <a:lnTo>
                  <a:pt x="51" y="3"/>
                </a:lnTo>
                <a:lnTo>
                  <a:pt x="0" y="0"/>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135" name="Line 17">
            <a:extLst>
              <a:ext uri="{FF2B5EF4-FFF2-40B4-BE49-F238E27FC236}">
                <a16:creationId xmlns:a16="http://schemas.microsoft.com/office/drawing/2014/main" id="{70C92A16-5788-41AB-108F-58373A60EE4B}"/>
              </a:ext>
            </a:extLst>
          </p:cNvPr>
          <p:cNvSpPr>
            <a:spLocks noChangeShapeType="1"/>
          </p:cNvSpPr>
          <p:nvPr/>
        </p:nvSpPr>
        <p:spPr bwMode="auto">
          <a:xfrm>
            <a:off x="7105650" y="4303713"/>
            <a:ext cx="4763" cy="3190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136" name="Freeform 18">
            <a:extLst>
              <a:ext uri="{FF2B5EF4-FFF2-40B4-BE49-F238E27FC236}">
                <a16:creationId xmlns:a16="http://schemas.microsoft.com/office/drawing/2014/main" id="{44A699E1-B0F4-B23F-ED4B-481A3E3DFD2D}"/>
              </a:ext>
            </a:extLst>
          </p:cNvPr>
          <p:cNvSpPr/>
          <p:nvPr/>
        </p:nvSpPr>
        <p:spPr bwMode="auto">
          <a:xfrm>
            <a:off x="6707188" y="4414838"/>
            <a:ext cx="268287" cy="131762"/>
          </a:xfrm>
          <a:custGeom>
            <a:gdLst>
              <a:gd name="T0" fmla="*/ 0 w 51"/>
              <a:gd name="T1" fmla="*/ 0 h 124"/>
              <a:gd name="T2" fmla="*/ 0 w 51"/>
              <a:gd name="T3" fmla="*/ 2147483646 h 124"/>
              <a:gd name="T4" fmla="*/ 2147483646 w 51"/>
              <a:gd name="T5" fmla="*/ 2147483646 h 124"/>
              <a:gd name="T6" fmla="*/ 2147483646 w 51"/>
              <a:gd name="T7" fmla="*/ 2147483646 h 124"/>
              <a:gd name="T8" fmla="*/ 0 w 51"/>
              <a:gd name="T9" fmla="*/ 0 h 124"/>
              <a:gd name="T10" fmla="*/ 0 60000 65536"/>
              <a:gd name="T11" fmla="*/ 0 60000 65536"/>
              <a:gd name="T12" fmla="*/ 0 60000 65536"/>
              <a:gd name="T13" fmla="*/ 0 60000 65536"/>
              <a:gd name="T14" fmla="*/ 0 60000 65536"/>
            </a:gdLst>
            <a:cxnLst>
              <a:cxn ang="T10">
                <a:pos x="T0" y="T1"/>
              </a:cxn>
              <a:cxn ang="T11">
                <a:pos x="T2" y="T3"/>
              </a:cxn>
              <a:cxn ang="T12">
                <a:pos x="T4" y="T5"/>
              </a:cxn>
              <a:cxn ang="T13">
                <a:pos x="T6" y="T7"/>
              </a:cxn>
              <a:cxn ang="T14">
                <a:pos x="T8" y="T9"/>
              </a:cxn>
            </a:cxnLst>
            <a:rect l="0" t="0" r="r" b="b"/>
            <a:pathLst>
              <a:path w="51" h="124">
                <a:moveTo>
                  <a:pt x="0" y="0"/>
                </a:moveTo>
                <a:lnTo>
                  <a:pt x="0" y="124"/>
                </a:lnTo>
                <a:lnTo>
                  <a:pt x="51" y="124"/>
                </a:lnTo>
                <a:lnTo>
                  <a:pt x="51" y="3"/>
                </a:lnTo>
                <a:lnTo>
                  <a:pt x="0" y="0"/>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137" name="Line 19">
            <a:extLst>
              <a:ext uri="{FF2B5EF4-FFF2-40B4-BE49-F238E27FC236}">
                <a16:creationId xmlns:a16="http://schemas.microsoft.com/office/drawing/2014/main" id="{BACB2286-7898-1792-3420-89A0829F60E4}"/>
              </a:ext>
            </a:extLst>
          </p:cNvPr>
          <p:cNvSpPr>
            <a:spLocks noChangeShapeType="1"/>
          </p:cNvSpPr>
          <p:nvPr/>
        </p:nvSpPr>
        <p:spPr bwMode="auto">
          <a:xfrm>
            <a:off x="5494338" y="4471988"/>
            <a:ext cx="1616075" cy="1587"/>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138" name="Rectangle 21">
            <a:extLst>
              <a:ext uri="{FF2B5EF4-FFF2-40B4-BE49-F238E27FC236}">
                <a16:creationId xmlns:a16="http://schemas.microsoft.com/office/drawing/2014/main" id="{86F764C0-589F-1913-96C7-23130930B9C0}"/>
              </a:ext>
            </a:extLst>
          </p:cNvPr>
          <p:cNvSpPr>
            <a:spLocks noChangeArrowheads="1"/>
          </p:cNvSpPr>
          <p:nvPr/>
        </p:nvSpPr>
        <p:spPr bwMode="auto">
          <a:xfrm>
            <a:off x="490538" y="2427288"/>
            <a:ext cx="865187" cy="182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50000"/>
              </a:spcBef>
              <a:buClrTx/>
              <a:buFontTx/>
              <a:buNone/>
            </a:pPr>
            <a:r>
              <a:rPr lang="en-GB" altLang="ko-KR" sz="1200">
                <a:ea typeface="가는각진제목체" panose="02030600000101010101" pitchFamily="18" charset="-127"/>
              </a:rPr>
              <a:t>Critical</a:t>
            </a:r>
          </a:p>
        </p:txBody>
      </p:sp>
      <p:sp>
        <p:nvSpPr>
          <p:cNvPr id="5139" name="AutoShape 22">
            <a:extLst>
              <a:ext uri="{FF2B5EF4-FFF2-40B4-BE49-F238E27FC236}">
                <a16:creationId xmlns:a16="http://schemas.microsoft.com/office/drawing/2014/main" id="{72CE376B-CB59-55E6-58FC-8B77F9989A6B}"/>
              </a:ext>
            </a:extLst>
          </p:cNvPr>
          <p:cNvSpPr>
            <a:spLocks noChangeAspect="1" noChangeArrowheads="1" noTextEdit="1"/>
          </p:cNvSpPr>
          <p:nvPr/>
        </p:nvSpPr>
        <p:spPr bwMode="auto">
          <a:xfrm>
            <a:off x="1476375" y="2289175"/>
            <a:ext cx="8167688"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5140" name="Rectangle 23">
            <a:extLst>
              <a:ext uri="{FF2B5EF4-FFF2-40B4-BE49-F238E27FC236}">
                <a16:creationId xmlns:a16="http://schemas.microsoft.com/office/drawing/2014/main" id="{A6DBB544-3A34-59CD-56EE-567C20C926E3}"/>
              </a:ext>
            </a:extLst>
          </p:cNvPr>
          <p:cNvSpPr>
            <a:spLocks noChangeArrowheads="1"/>
          </p:cNvSpPr>
          <p:nvPr/>
        </p:nvSpPr>
        <p:spPr bwMode="auto">
          <a:xfrm>
            <a:off x="1843088" y="2463800"/>
            <a:ext cx="76327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41" name="Line 24">
            <a:extLst>
              <a:ext uri="{FF2B5EF4-FFF2-40B4-BE49-F238E27FC236}">
                <a16:creationId xmlns:a16="http://schemas.microsoft.com/office/drawing/2014/main" id="{C82919FB-B63B-73A9-12E7-049377691BDE}"/>
              </a:ext>
            </a:extLst>
          </p:cNvPr>
          <p:cNvSpPr>
            <a:spLocks noChangeShapeType="1"/>
          </p:cNvSpPr>
          <p:nvPr/>
        </p:nvSpPr>
        <p:spPr bwMode="auto">
          <a:xfrm>
            <a:off x="1843088" y="4722813"/>
            <a:ext cx="763270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2" name="Line 25">
            <a:extLst>
              <a:ext uri="{FF2B5EF4-FFF2-40B4-BE49-F238E27FC236}">
                <a16:creationId xmlns:a16="http://schemas.microsoft.com/office/drawing/2014/main" id="{901F4ED9-2738-0D11-29D5-7F8CACFC88A0}"/>
              </a:ext>
            </a:extLst>
          </p:cNvPr>
          <p:cNvSpPr>
            <a:spLocks noChangeShapeType="1"/>
          </p:cNvSpPr>
          <p:nvPr/>
        </p:nvSpPr>
        <p:spPr bwMode="auto">
          <a:xfrm>
            <a:off x="1843088" y="3970338"/>
            <a:ext cx="763270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3" name="Line 26">
            <a:extLst>
              <a:ext uri="{FF2B5EF4-FFF2-40B4-BE49-F238E27FC236}">
                <a16:creationId xmlns:a16="http://schemas.microsoft.com/office/drawing/2014/main" id="{22EE488D-1A7E-AB16-A25F-7DAAA1111A85}"/>
              </a:ext>
            </a:extLst>
          </p:cNvPr>
          <p:cNvSpPr>
            <a:spLocks noChangeShapeType="1"/>
          </p:cNvSpPr>
          <p:nvPr/>
        </p:nvSpPr>
        <p:spPr bwMode="auto">
          <a:xfrm>
            <a:off x="1843088" y="3216275"/>
            <a:ext cx="763270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4" name="Line 27">
            <a:extLst>
              <a:ext uri="{FF2B5EF4-FFF2-40B4-BE49-F238E27FC236}">
                <a16:creationId xmlns:a16="http://schemas.microsoft.com/office/drawing/2014/main" id="{798267DE-1693-EEF9-A37E-E594A45C430A}"/>
              </a:ext>
            </a:extLst>
          </p:cNvPr>
          <p:cNvSpPr>
            <a:spLocks noChangeShapeType="1"/>
          </p:cNvSpPr>
          <p:nvPr/>
        </p:nvSpPr>
        <p:spPr bwMode="auto">
          <a:xfrm>
            <a:off x="1843088" y="2463800"/>
            <a:ext cx="763270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5" name="Rectangle 28">
            <a:extLst>
              <a:ext uri="{FF2B5EF4-FFF2-40B4-BE49-F238E27FC236}">
                <a16:creationId xmlns:a16="http://schemas.microsoft.com/office/drawing/2014/main" id="{0DBE1D39-5F50-DD4C-53AA-3F9CC15787A6}"/>
              </a:ext>
            </a:extLst>
          </p:cNvPr>
          <p:cNvSpPr>
            <a:spLocks noChangeArrowheads="1"/>
          </p:cNvSpPr>
          <p:nvPr/>
        </p:nvSpPr>
        <p:spPr bwMode="auto">
          <a:xfrm>
            <a:off x="1843088" y="2463800"/>
            <a:ext cx="7632700" cy="3013075"/>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46" name="Line 29">
            <a:extLst>
              <a:ext uri="{FF2B5EF4-FFF2-40B4-BE49-F238E27FC236}">
                <a16:creationId xmlns:a16="http://schemas.microsoft.com/office/drawing/2014/main" id="{C57EAF5D-56C8-8347-38D3-F38A83414D7A}"/>
              </a:ext>
            </a:extLst>
          </p:cNvPr>
          <p:cNvSpPr>
            <a:spLocks noChangeShapeType="1"/>
          </p:cNvSpPr>
          <p:nvPr/>
        </p:nvSpPr>
        <p:spPr bwMode="auto">
          <a:xfrm>
            <a:off x="1843088" y="2463800"/>
            <a:ext cx="1587" cy="30130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7" name="Line 30">
            <a:extLst>
              <a:ext uri="{FF2B5EF4-FFF2-40B4-BE49-F238E27FC236}">
                <a16:creationId xmlns:a16="http://schemas.microsoft.com/office/drawing/2014/main" id="{0AFDF970-8F94-4666-21B1-FBCB247D2F86}"/>
              </a:ext>
            </a:extLst>
          </p:cNvPr>
          <p:cNvSpPr>
            <a:spLocks noChangeShapeType="1"/>
          </p:cNvSpPr>
          <p:nvPr/>
        </p:nvSpPr>
        <p:spPr bwMode="auto">
          <a:xfrm>
            <a:off x="1801813" y="5476875"/>
            <a:ext cx="41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8" name="Line 31">
            <a:extLst>
              <a:ext uri="{FF2B5EF4-FFF2-40B4-BE49-F238E27FC236}">
                <a16:creationId xmlns:a16="http://schemas.microsoft.com/office/drawing/2014/main" id="{D81F3E80-4A75-893C-2958-6D203FF147C5}"/>
              </a:ext>
            </a:extLst>
          </p:cNvPr>
          <p:cNvSpPr>
            <a:spLocks noChangeShapeType="1"/>
          </p:cNvSpPr>
          <p:nvPr/>
        </p:nvSpPr>
        <p:spPr bwMode="auto">
          <a:xfrm>
            <a:off x="1801813" y="4722813"/>
            <a:ext cx="41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49" name="Line 32">
            <a:extLst>
              <a:ext uri="{FF2B5EF4-FFF2-40B4-BE49-F238E27FC236}">
                <a16:creationId xmlns:a16="http://schemas.microsoft.com/office/drawing/2014/main" id="{AA5F7ED0-84A6-4FA8-2D47-18213DE25B93}"/>
              </a:ext>
            </a:extLst>
          </p:cNvPr>
          <p:cNvSpPr>
            <a:spLocks noChangeShapeType="1"/>
          </p:cNvSpPr>
          <p:nvPr/>
        </p:nvSpPr>
        <p:spPr bwMode="auto">
          <a:xfrm>
            <a:off x="1801813" y="3970338"/>
            <a:ext cx="41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0" name="Line 33">
            <a:extLst>
              <a:ext uri="{FF2B5EF4-FFF2-40B4-BE49-F238E27FC236}">
                <a16:creationId xmlns:a16="http://schemas.microsoft.com/office/drawing/2014/main" id="{AE4348ED-76D7-D24E-EF42-82E592B32FB4}"/>
              </a:ext>
            </a:extLst>
          </p:cNvPr>
          <p:cNvSpPr>
            <a:spLocks noChangeShapeType="1"/>
          </p:cNvSpPr>
          <p:nvPr/>
        </p:nvSpPr>
        <p:spPr bwMode="auto">
          <a:xfrm>
            <a:off x="1801813" y="3216275"/>
            <a:ext cx="41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1" name="Line 34">
            <a:extLst>
              <a:ext uri="{FF2B5EF4-FFF2-40B4-BE49-F238E27FC236}">
                <a16:creationId xmlns:a16="http://schemas.microsoft.com/office/drawing/2014/main" id="{B460B237-B04B-3DCB-5388-6E94BDD7A2F5}"/>
              </a:ext>
            </a:extLst>
          </p:cNvPr>
          <p:cNvSpPr>
            <a:spLocks noChangeShapeType="1"/>
          </p:cNvSpPr>
          <p:nvPr/>
        </p:nvSpPr>
        <p:spPr bwMode="auto">
          <a:xfrm>
            <a:off x="1801813" y="2463800"/>
            <a:ext cx="41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2" name="Line 35">
            <a:extLst>
              <a:ext uri="{FF2B5EF4-FFF2-40B4-BE49-F238E27FC236}">
                <a16:creationId xmlns:a16="http://schemas.microsoft.com/office/drawing/2014/main" id="{B58CE195-D9C0-5D28-1051-A13AFF997E8C}"/>
              </a:ext>
            </a:extLst>
          </p:cNvPr>
          <p:cNvSpPr>
            <a:spLocks noChangeShapeType="1"/>
          </p:cNvSpPr>
          <p:nvPr/>
        </p:nvSpPr>
        <p:spPr bwMode="auto">
          <a:xfrm>
            <a:off x="1843088" y="5476875"/>
            <a:ext cx="763270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3" name="Line 36">
            <a:extLst>
              <a:ext uri="{FF2B5EF4-FFF2-40B4-BE49-F238E27FC236}">
                <a16:creationId xmlns:a16="http://schemas.microsoft.com/office/drawing/2014/main" id="{921356B3-5121-21DA-9B5B-A65982BCE5A9}"/>
              </a:ext>
            </a:extLst>
          </p:cNvPr>
          <p:cNvSpPr>
            <a:spLocks noChangeShapeType="1"/>
          </p:cNvSpPr>
          <p:nvPr/>
        </p:nvSpPr>
        <p:spPr bwMode="auto">
          <a:xfrm flipV="1">
            <a:off x="1843088" y="5476875"/>
            <a:ext cx="1587"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4" name="Line 37">
            <a:extLst>
              <a:ext uri="{FF2B5EF4-FFF2-40B4-BE49-F238E27FC236}">
                <a16:creationId xmlns:a16="http://schemas.microsoft.com/office/drawing/2014/main" id="{F767A77A-DBEB-7298-EB79-0142BD54C872}"/>
              </a:ext>
            </a:extLst>
          </p:cNvPr>
          <p:cNvSpPr>
            <a:spLocks noChangeShapeType="1"/>
          </p:cNvSpPr>
          <p:nvPr/>
        </p:nvSpPr>
        <p:spPr bwMode="auto">
          <a:xfrm flipV="1">
            <a:off x="2935288" y="5476875"/>
            <a:ext cx="1587"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5" name="Line 38">
            <a:extLst>
              <a:ext uri="{FF2B5EF4-FFF2-40B4-BE49-F238E27FC236}">
                <a16:creationId xmlns:a16="http://schemas.microsoft.com/office/drawing/2014/main" id="{65A5C184-5ABF-3A2E-E364-61AE3DB11EA1}"/>
              </a:ext>
            </a:extLst>
          </p:cNvPr>
          <p:cNvSpPr>
            <a:spLocks noChangeShapeType="1"/>
          </p:cNvSpPr>
          <p:nvPr/>
        </p:nvSpPr>
        <p:spPr bwMode="auto">
          <a:xfrm flipV="1">
            <a:off x="4024313" y="5476875"/>
            <a:ext cx="1587"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6" name="Line 39">
            <a:extLst>
              <a:ext uri="{FF2B5EF4-FFF2-40B4-BE49-F238E27FC236}">
                <a16:creationId xmlns:a16="http://schemas.microsoft.com/office/drawing/2014/main" id="{259C74C0-F5E0-2A33-DD4D-987F57FB8200}"/>
              </a:ext>
            </a:extLst>
          </p:cNvPr>
          <p:cNvSpPr>
            <a:spLocks noChangeShapeType="1"/>
          </p:cNvSpPr>
          <p:nvPr/>
        </p:nvSpPr>
        <p:spPr bwMode="auto">
          <a:xfrm flipV="1">
            <a:off x="5114925" y="5476875"/>
            <a:ext cx="1588"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7" name="Line 40">
            <a:extLst>
              <a:ext uri="{FF2B5EF4-FFF2-40B4-BE49-F238E27FC236}">
                <a16:creationId xmlns:a16="http://schemas.microsoft.com/office/drawing/2014/main" id="{AB6052BB-42CE-1CA3-AC44-47F3F0089917}"/>
              </a:ext>
            </a:extLst>
          </p:cNvPr>
          <p:cNvSpPr>
            <a:spLocks noChangeShapeType="1"/>
          </p:cNvSpPr>
          <p:nvPr/>
        </p:nvSpPr>
        <p:spPr bwMode="auto">
          <a:xfrm flipV="1">
            <a:off x="6205538" y="5476875"/>
            <a:ext cx="1587"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8" name="Line 41">
            <a:extLst>
              <a:ext uri="{FF2B5EF4-FFF2-40B4-BE49-F238E27FC236}">
                <a16:creationId xmlns:a16="http://schemas.microsoft.com/office/drawing/2014/main" id="{5971B987-D0D8-D44E-AA8E-DF585887BB6D}"/>
              </a:ext>
            </a:extLst>
          </p:cNvPr>
          <p:cNvSpPr>
            <a:spLocks noChangeShapeType="1"/>
          </p:cNvSpPr>
          <p:nvPr/>
        </p:nvSpPr>
        <p:spPr bwMode="auto">
          <a:xfrm flipV="1">
            <a:off x="7296150" y="5476875"/>
            <a:ext cx="1588"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59" name="Line 42">
            <a:extLst>
              <a:ext uri="{FF2B5EF4-FFF2-40B4-BE49-F238E27FC236}">
                <a16:creationId xmlns:a16="http://schemas.microsoft.com/office/drawing/2014/main" id="{19A643C0-04B7-1CFC-9F38-FC44DA5E9452}"/>
              </a:ext>
            </a:extLst>
          </p:cNvPr>
          <p:cNvSpPr>
            <a:spLocks noChangeShapeType="1"/>
          </p:cNvSpPr>
          <p:nvPr/>
        </p:nvSpPr>
        <p:spPr bwMode="auto">
          <a:xfrm flipV="1">
            <a:off x="8383588" y="5476875"/>
            <a:ext cx="1587"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60" name="Line 43">
            <a:extLst>
              <a:ext uri="{FF2B5EF4-FFF2-40B4-BE49-F238E27FC236}">
                <a16:creationId xmlns:a16="http://schemas.microsoft.com/office/drawing/2014/main" id="{9F3E817B-58F5-AD83-2014-24303FCC3950}"/>
              </a:ext>
            </a:extLst>
          </p:cNvPr>
          <p:cNvSpPr>
            <a:spLocks noChangeShapeType="1"/>
          </p:cNvSpPr>
          <p:nvPr/>
        </p:nvSpPr>
        <p:spPr bwMode="auto">
          <a:xfrm flipV="1">
            <a:off x="9475788" y="5476875"/>
            <a:ext cx="1587" cy="381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5161" name="Oval 44">
            <a:extLst>
              <a:ext uri="{FF2B5EF4-FFF2-40B4-BE49-F238E27FC236}">
                <a16:creationId xmlns:a16="http://schemas.microsoft.com/office/drawing/2014/main" id="{6F6D3830-5B94-9E8C-1335-DD9B875404BE}"/>
              </a:ext>
            </a:extLst>
          </p:cNvPr>
          <p:cNvSpPr>
            <a:spLocks noChangeArrowheads="1"/>
          </p:cNvSpPr>
          <p:nvPr/>
        </p:nvSpPr>
        <p:spPr bwMode="auto">
          <a:xfrm>
            <a:off x="3954463" y="4264025"/>
            <a:ext cx="314325" cy="28892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2" name="Oval 45">
            <a:extLst>
              <a:ext uri="{FF2B5EF4-FFF2-40B4-BE49-F238E27FC236}">
                <a16:creationId xmlns:a16="http://schemas.microsoft.com/office/drawing/2014/main" id="{BB355612-D4A8-4C15-D582-EA8C1C9EF940}"/>
              </a:ext>
            </a:extLst>
          </p:cNvPr>
          <p:cNvSpPr>
            <a:spLocks noChangeArrowheads="1"/>
          </p:cNvSpPr>
          <p:nvPr/>
        </p:nvSpPr>
        <p:spPr bwMode="auto">
          <a:xfrm>
            <a:off x="4737100" y="4356100"/>
            <a:ext cx="368300" cy="341313"/>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3" name="Oval 46">
            <a:extLst>
              <a:ext uri="{FF2B5EF4-FFF2-40B4-BE49-F238E27FC236}">
                <a16:creationId xmlns:a16="http://schemas.microsoft.com/office/drawing/2014/main" id="{443648A9-5014-E45D-8EF2-F9C406F3DB7D}"/>
              </a:ext>
            </a:extLst>
          </p:cNvPr>
          <p:cNvSpPr>
            <a:spLocks noChangeArrowheads="1"/>
          </p:cNvSpPr>
          <p:nvPr/>
        </p:nvSpPr>
        <p:spPr bwMode="auto">
          <a:xfrm>
            <a:off x="6148388" y="3403600"/>
            <a:ext cx="525462" cy="4857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4" name="Oval 47">
            <a:extLst>
              <a:ext uri="{FF2B5EF4-FFF2-40B4-BE49-F238E27FC236}">
                <a16:creationId xmlns:a16="http://schemas.microsoft.com/office/drawing/2014/main" id="{4F5FFAA8-1D36-C76F-DEF8-BD3B119BB6DB}"/>
              </a:ext>
            </a:extLst>
          </p:cNvPr>
          <p:cNvSpPr>
            <a:spLocks noChangeArrowheads="1"/>
          </p:cNvSpPr>
          <p:nvPr/>
        </p:nvSpPr>
        <p:spPr bwMode="auto">
          <a:xfrm>
            <a:off x="5883275" y="3314700"/>
            <a:ext cx="630238" cy="58102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5" name="Oval 48">
            <a:extLst>
              <a:ext uri="{FF2B5EF4-FFF2-40B4-BE49-F238E27FC236}">
                <a16:creationId xmlns:a16="http://schemas.microsoft.com/office/drawing/2014/main" id="{4DF35152-BF05-C894-BF90-BFDE889711F7}"/>
              </a:ext>
            </a:extLst>
          </p:cNvPr>
          <p:cNvSpPr>
            <a:spLocks noChangeArrowheads="1"/>
          </p:cNvSpPr>
          <p:nvPr/>
        </p:nvSpPr>
        <p:spPr bwMode="auto">
          <a:xfrm>
            <a:off x="3265488" y="3281363"/>
            <a:ext cx="444500" cy="4095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6" name="Oval 49">
            <a:extLst>
              <a:ext uri="{FF2B5EF4-FFF2-40B4-BE49-F238E27FC236}">
                <a16:creationId xmlns:a16="http://schemas.microsoft.com/office/drawing/2014/main" id="{BB567DE3-812D-6D96-F33B-2B0D68E7D556}"/>
              </a:ext>
            </a:extLst>
          </p:cNvPr>
          <p:cNvSpPr>
            <a:spLocks noChangeArrowheads="1"/>
          </p:cNvSpPr>
          <p:nvPr/>
        </p:nvSpPr>
        <p:spPr bwMode="auto">
          <a:xfrm>
            <a:off x="4875213" y="4054475"/>
            <a:ext cx="354012" cy="32702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7" name="Oval 50">
            <a:extLst>
              <a:ext uri="{FF2B5EF4-FFF2-40B4-BE49-F238E27FC236}">
                <a16:creationId xmlns:a16="http://schemas.microsoft.com/office/drawing/2014/main" id="{87480236-4DC1-1C3E-9260-F0FDA17CB1E4}"/>
              </a:ext>
            </a:extLst>
          </p:cNvPr>
          <p:cNvSpPr>
            <a:spLocks noChangeArrowheads="1"/>
          </p:cNvSpPr>
          <p:nvPr/>
        </p:nvSpPr>
        <p:spPr bwMode="auto">
          <a:xfrm>
            <a:off x="3902075" y="3455988"/>
            <a:ext cx="284163" cy="261937"/>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8" name="Oval 51">
            <a:extLst>
              <a:ext uri="{FF2B5EF4-FFF2-40B4-BE49-F238E27FC236}">
                <a16:creationId xmlns:a16="http://schemas.microsoft.com/office/drawing/2014/main" id="{5A4F7EC1-4E07-1AF2-E820-A8C2647875EE}"/>
              </a:ext>
            </a:extLst>
          </p:cNvPr>
          <p:cNvSpPr>
            <a:spLocks noChangeArrowheads="1"/>
          </p:cNvSpPr>
          <p:nvPr/>
        </p:nvSpPr>
        <p:spPr bwMode="auto">
          <a:xfrm>
            <a:off x="4325938" y="3929063"/>
            <a:ext cx="309562" cy="287337"/>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69" name="Oval 52">
            <a:extLst>
              <a:ext uri="{FF2B5EF4-FFF2-40B4-BE49-F238E27FC236}">
                <a16:creationId xmlns:a16="http://schemas.microsoft.com/office/drawing/2014/main" id="{C16D8A47-E0F5-16D3-F480-776488800251}"/>
              </a:ext>
            </a:extLst>
          </p:cNvPr>
          <p:cNvSpPr>
            <a:spLocks noChangeArrowheads="1"/>
          </p:cNvSpPr>
          <p:nvPr/>
        </p:nvSpPr>
        <p:spPr bwMode="auto">
          <a:xfrm>
            <a:off x="6210300" y="3848100"/>
            <a:ext cx="180975" cy="166688"/>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0" name="Oval 53">
            <a:extLst>
              <a:ext uri="{FF2B5EF4-FFF2-40B4-BE49-F238E27FC236}">
                <a16:creationId xmlns:a16="http://schemas.microsoft.com/office/drawing/2014/main" id="{FC717E2F-92D9-85FD-EE97-CAACEF0477AF}"/>
              </a:ext>
            </a:extLst>
          </p:cNvPr>
          <p:cNvSpPr>
            <a:spLocks noChangeArrowheads="1"/>
          </p:cNvSpPr>
          <p:nvPr/>
        </p:nvSpPr>
        <p:spPr bwMode="auto">
          <a:xfrm>
            <a:off x="2813050" y="3151188"/>
            <a:ext cx="387350" cy="357187"/>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1" name="Oval 54">
            <a:extLst>
              <a:ext uri="{FF2B5EF4-FFF2-40B4-BE49-F238E27FC236}">
                <a16:creationId xmlns:a16="http://schemas.microsoft.com/office/drawing/2014/main" id="{1FA27A86-1627-52B1-D8E5-05233FCC6D12}"/>
              </a:ext>
            </a:extLst>
          </p:cNvPr>
          <p:cNvSpPr>
            <a:spLocks noChangeArrowheads="1"/>
          </p:cNvSpPr>
          <p:nvPr/>
        </p:nvSpPr>
        <p:spPr bwMode="auto">
          <a:xfrm>
            <a:off x="3956050" y="4886325"/>
            <a:ext cx="250825" cy="2317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2" name="Oval 55">
            <a:extLst>
              <a:ext uri="{FF2B5EF4-FFF2-40B4-BE49-F238E27FC236}">
                <a16:creationId xmlns:a16="http://schemas.microsoft.com/office/drawing/2014/main" id="{CEA5953F-95C8-5DC0-5419-FBBC7DA7D0C4}"/>
              </a:ext>
            </a:extLst>
          </p:cNvPr>
          <p:cNvSpPr>
            <a:spLocks noChangeArrowheads="1"/>
          </p:cNvSpPr>
          <p:nvPr/>
        </p:nvSpPr>
        <p:spPr bwMode="auto">
          <a:xfrm>
            <a:off x="5854700" y="3794125"/>
            <a:ext cx="347663" cy="3206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3" name="Oval 56">
            <a:extLst>
              <a:ext uri="{FF2B5EF4-FFF2-40B4-BE49-F238E27FC236}">
                <a16:creationId xmlns:a16="http://schemas.microsoft.com/office/drawing/2014/main" id="{858F3566-4F50-E687-D668-987B5436AF77}"/>
              </a:ext>
            </a:extLst>
          </p:cNvPr>
          <p:cNvSpPr>
            <a:spLocks noChangeArrowheads="1"/>
          </p:cNvSpPr>
          <p:nvPr/>
        </p:nvSpPr>
        <p:spPr bwMode="auto">
          <a:xfrm>
            <a:off x="3457575" y="4987925"/>
            <a:ext cx="222250" cy="2063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4" name="Oval 57">
            <a:extLst>
              <a:ext uri="{FF2B5EF4-FFF2-40B4-BE49-F238E27FC236}">
                <a16:creationId xmlns:a16="http://schemas.microsoft.com/office/drawing/2014/main" id="{68C07341-E13E-92F5-4D8F-92A212C30865}"/>
              </a:ext>
            </a:extLst>
          </p:cNvPr>
          <p:cNvSpPr>
            <a:spLocks noChangeArrowheads="1"/>
          </p:cNvSpPr>
          <p:nvPr/>
        </p:nvSpPr>
        <p:spPr bwMode="auto">
          <a:xfrm>
            <a:off x="3335338" y="4927600"/>
            <a:ext cx="406400" cy="374650"/>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5" name="Oval 58">
            <a:extLst>
              <a:ext uri="{FF2B5EF4-FFF2-40B4-BE49-F238E27FC236}">
                <a16:creationId xmlns:a16="http://schemas.microsoft.com/office/drawing/2014/main" id="{BFB9A62F-8FDE-26C1-A989-FB676378B135}"/>
              </a:ext>
            </a:extLst>
          </p:cNvPr>
          <p:cNvSpPr>
            <a:spLocks noChangeArrowheads="1"/>
          </p:cNvSpPr>
          <p:nvPr/>
        </p:nvSpPr>
        <p:spPr bwMode="auto">
          <a:xfrm>
            <a:off x="2770188" y="5203825"/>
            <a:ext cx="298450" cy="274638"/>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6" name="Oval 59">
            <a:extLst>
              <a:ext uri="{FF2B5EF4-FFF2-40B4-BE49-F238E27FC236}">
                <a16:creationId xmlns:a16="http://schemas.microsoft.com/office/drawing/2014/main" id="{8F746E4C-9A9C-CAD1-27BA-C56BD60D1349}"/>
              </a:ext>
            </a:extLst>
          </p:cNvPr>
          <p:cNvSpPr>
            <a:spLocks noChangeArrowheads="1"/>
          </p:cNvSpPr>
          <p:nvPr/>
        </p:nvSpPr>
        <p:spPr bwMode="auto">
          <a:xfrm>
            <a:off x="4479925" y="3163888"/>
            <a:ext cx="300038" cy="277812"/>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7" name="Oval 60">
            <a:extLst>
              <a:ext uri="{FF2B5EF4-FFF2-40B4-BE49-F238E27FC236}">
                <a16:creationId xmlns:a16="http://schemas.microsoft.com/office/drawing/2014/main" id="{897CF47D-4BB9-7229-DA79-53DA4D55C0E9}"/>
              </a:ext>
            </a:extLst>
          </p:cNvPr>
          <p:cNvSpPr>
            <a:spLocks noChangeArrowheads="1"/>
          </p:cNvSpPr>
          <p:nvPr/>
        </p:nvSpPr>
        <p:spPr bwMode="auto">
          <a:xfrm>
            <a:off x="5727700" y="2740025"/>
            <a:ext cx="382588" cy="354013"/>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8" name="Oval 61">
            <a:extLst>
              <a:ext uri="{FF2B5EF4-FFF2-40B4-BE49-F238E27FC236}">
                <a16:creationId xmlns:a16="http://schemas.microsoft.com/office/drawing/2014/main" id="{AF369B43-208B-ECDF-7B31-7FB17E4310D1}"/>
              </a:ext>
            </a:extLst>
          </p:cNvPr>
          <p:cNvSpPr>
            <a:spLocks noChangeArrowheads="1"/>
          </p:cNvSpPr>
          <p:nvPr/>
        </p:nvSpPr>
        <p:spPr bwMode="auto">
          <a:xfrm>
            <a:off x="7016750" y="2625725"/>
            <a:ext cx="744538" cy="6889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79" name="Oval 62">
            <a:extLst>
              <a:ext uri="{FF2B5EF4-FFF2-40B4-BE49-F238E27FC236}">
                <a16:creationId xmlns:a16="http://schemas.microsoft.com/office/drawing/2014/main" id="{4DCED034-3548-6E34-FF76-9D41F515DFC8}"/>
              </a:ext>
            </a:extLst>
          </p:cNvPr>
          <p:cNvSpPr>
            <a:spLocks noChangeArrowheads="1"/>
          </p:cNvSpPr>
          <p:nvPr/>
        </p:nvSpPr>
        <p:spPr bwMode="auto">
          <a:xfrm>
            <a:off x="7543800" y="2738438"/>
            <a:ext cx="665163" cy="614362"/>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80" name="Oval 63">
            <a:extLst>
              <a:ext uri="{FF2B5EF4-FFF2-40B4-BE49-F238E27FC236}">
                <a16:creationId xmlns:a16="http://schemas.microsoft.com/office/drawing/2014/main" id="{EE40AEF1-E4CF-1225-6CBD-3A1F0A452628}"/>
              </a:ext>
            </a:extLst>
          </p:cNvPr>
          <p:cNvSpPr>
            <a:spLocks noChangeArrowheads="1"/>
          </p:cNvSpPr>
          <p:nvPr/>
        </p:nvSpPr>
        <p:spPr bwMode="auto">
          <a:xfrm>
            <a:off x="8712200" y="4051300"/>
            <a:ext cx="211138" cy="193675"/>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81" name="Oval 64">
            <a:extLst>
              <a:ext uri="{FF2B5EF4-FFF2-40B4-BE49-F238E27FC236}">
                <a16:creationId xmlns:a16="http://schemas.microsoft.com/office/drawing/2014/main" id="{1EA30112-6071-69C0-D2B1-4B9A8760AB8B}"/>
              </a:ext>
            </a:extLst>
          </p:cNvPr>
          <p:cNvSpPr>
            <a:spLocks noChangeArrowheads="1"/>
          </p:cNvSpPr>
          <p:nvPr/>
        </p:nvSpPr>
        <p:spPr bwMode="auto">
          <a:xfrm>
            <a:off x="7643813" y="3059113"/>
            <a:ext cx="412750" cy="381000"/>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182" name="Rectangle 65">
            <a:extLst>
              <a:ext uri="{FF2B5EF4-FFF2-40B4-BE49-F238E27FC236}">
                <a16:creationId xmlns:a16="http://schemas.microsoft.com/office/drawing/2014/main" id="{ABECA68D-AC49-D029-2AA8-7B47C0DE1852}"/>
              </a:ext>
            </a:extLst>
          </p:cNvPr>
          <p:cNvSpPr>
            <a:spLocks noChangeArrowheads="1"/>
          </p:cNvSpPr>
          <p:nvPr/>
        </p:nvSpPr>
        <p:spPr bwMode="auto">
          <a:xfrm>
            <a:off x="6692900" y="2667000"/>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83" name="Rectangle 66">
            <a:extLst>
              <a:ext uri="{FF2B5EF4-FFF2-40B4-BE49-F238E27FC236}">
                <a16:creationId xmlns:a16="http://schemas.microsoft.com/office/drawing/2014/main" id="{B9136146-EDBC-6B43-A252-9C3C400BBB2F}"/>
              </a:ext>
            </a:extLst>
          </p:cNvPr>
          <p:cNvSpPr>
            <a:spLocks noChangeArrowheads="1"/>
          </p:cNvSpPr>
          <p:nvPr/>
        </p:nvSpPr>
        <p:spPr bwMode="auto">
          <a:xfrm>
            <a:off x="8370888" y="2795588"/>
            <a:ext cx="3413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84" name="Rectangle 67">
            <a:extLst>
              <a:ext uri="{FF2B5EF4-FFF2-40B4-BE49-F238E27FC236}">
                <a16:creationId xmlns:a16="http://schemas.microsoft.com/office/drawing/2014/main" id="{30569340-295E-814F-D3E4-7E3B766C6D88}"/>
              </a:ext>
            </a:extLst>
          </p:cNvPr>
          <p:cNvSpPr>
            <a:spLocks noChangeArrowheads="1"/>
          </p:cNvSpPr>
          <p:nvPr/>
        </p:nvSpPr>
        <p:spPr bwMode="auto">
          <a:xfrm>
            <a:off x="8737600" y="4289425"/>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85" name="Rectangle 68">
            <a:extLst>
              <a:ext uri="{FF2B5EF4-FFF2-40B4-BE49-F238E27FC236}">
                <a16:creationId xmlns:a16="http://schemas.microsoft.com/office/drawing/2014/main" id="{7680F444-5E6D-0EE7-9CA7-8EC12C5AEA05}"/>
              </a:ext>
            </a:extLst>
          </p:cNvPr>
          <p:cNvSpPr>
            <a:spLocks noChangeArrowheads="1"/>
          </p:cNvSpPr>
          <p:nvPr/>
        </p:nvSpPr>
        <p:spPr bwMode="auto">
          <a:xfrm>
            <a:off x="8337550" y="3279775"/>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86" name="Rectangle 69">
            <a:extLst>
              <a:ext uri="{FF2B5EF4-FFF2-40B4-BE49-F238E27FC236}">
                <a16:creationId xmlns:a16="http://schemas.microsoft.com/office/drawing/2014/main" id="{5E4FCDE0-5657-4102-6910-25E20CAD1A6F}"/>
              </a:ext>
            </a:extLst>
          </p:cNvPr>
          <p:cNvSpPr>
            <a:spLocks noChangeArrowheads="1"/>
          </p:cNvSpPr>
          <p:nvPr/>
        </p:nvSpPr>
        <p:spPr bwMode="auto">
          <a:xfrm>
            <a:off x="5410200" y="2800350"/>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87" name="Rectangle 70">
            <a:extLst>
              <a:ext uri="{FF2B5EF4-FFF2-40B4-BE49-F238E27FC236}">
                <a16:creationId xmlns:a16="http://schemas.microsoft.com/office/drawing/2014/main" id="{A6629032-7AA4-9BD4-BDA5-F238977F7205}"/>
              </a:ext>
            </a:extLst>
          </p:cNvPr>
          <p:cNvSpPr>
            <a:spLocks noChangeArrowheads="1"/>
          </p:cNvSpPr>
          <p:nvPr/>
        </p:nvSpPr>
        <p:spPr bwMode="auto">
          <a:xfrm>
            <a:off x="4908550" y="3240088"/>
            <a:ext cx="3413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88" name="Rectangle 71">
            <a:extLst>
              <a:ext uri="{FF2B5EF4-FFF2-40B4-BE49-F238E27FC236}">
                <a16:creationId xmlns:a16="http://schemas.microsoft.com/office/drawing/2014/main" id="{0B542C00-5D7F-2334-F9FD-4273E5D0C697}"/>
              </a:ext>
            </a:extLst>
          </p:cNvPr>
          <p:cNvSpPr>
            <a:spLocks noChangeArrowheads="1"/>
          </p:cNvSpPr>
          <p:nvPr/>
        </p:nvSpPr>
        <p:spPr bwMode="auto">
          <a:xfrm>
            <a:off x="5475288" y="4572000"/>
            <a:ext cx="6921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 other</a:t>
            </a:r>
            <a:endParaRPr lang="en-US" altLang="ko-KR" sz="1400" b="0">
              <a:ea typeface="굴림" panose="020b0600000101010101" pitchFamily="34" charset="-127"/>
            </a:endParaRPr>
          </a:p>
        </p:txBody>
      </p:sp>
      <p:sp>
        <p:nvSpPr>
          <p:cNvPr id="5189" name="Rectangle 72">
            <a:extLst>
              <a:ext uri="{FF2B5EF4-FFF2-40B4-BE49-F238E27FC236}">
                <a16:creationId xmlns:a16="http://schemas.microsoft.com/office/drawing/2014/main" id="{58B1E8D6-72FE-EEDD-2DA2-F6FA5023E5B8}"/>
              </a:ext>
            </a:extLst>
          </p:cNvPr>
          <p:cNvSpPr>
            <a:spLocks noChangeArrowheads="1"/>
          </p:cNvSpPr>
          <p:nvPr/>
        </p:nvSpPr>
        <p:spPr bwMode="auto">
          <a:xfrm>
            <a:off x="4041775" y="3990975"/>
            <a:ext cx="3413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0" name="Rectangle 73">
            <a:extLst>
              <a:ext uri="{FF2B5EF4-FFF2-40B4-BE49-F238E27FC236}">
                <a16:creationId xmlns:a16="http://schemas.microsoft.com/office/drawing/2014/main" id="{73B606EF-5FDA-A7D3-F44D-91EC3EC0DB59}"/>
              </a:ext>
            </a:extLst>
          </p:cNvPr>
          <p:cNvSpPr>
            <a:spLocks noChangeArrowheads="1"/>
          </p:cNvSpPr>
          <p:nvPr/>
        </p:nvSpPr>
        <p:spPr bwMode="auto">
          <a:xfrm>
            <a:off x="3121025" y="4335463"/>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1" name="Rectangle 74">
            <a:extLst>
              <a:ext uri="{FF2B5EF4-FFF2-40B4-BE49-F238E27FC236}">
                <a16:creationId xmlns:a16="http://schemas.microsoft.com/office/drawing/2014/main" id="{9683E312-A2CF-5764-86D1-7F038C566A7A}"/>
              </a:ext>
            </a:extLst>
          </p:cNvPr>
          <p:cNvSpPr>
            <a:spLocks noChangeArrowheads="1"/>
          </p:cNvSpPr>
          <p:nvPr/>
        </p:nvSpPr>
        <p:spPr bwMode="auto">
          <a:xfrm>
            <a:off x="4641850" y="4164013"/>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2" name="Rectangle 75">
            <a:extLst>
              <a:ext uri="{FF2B5EF4-FFF2-40B4-BE49-F238E27FC236}">
                <a16:creationId xmlns:a16="http://schemas.microsoft.com/office/drawing/2014/main" id="{E41769D6-E815-1A0B-92D0-1D2D051F03E8}"/>
              </a:ext>
            </a:extLst>
          </p:cNvPr>
          <p:cNvSpPr>
            <a:spLocks noChangeArrowheads="1"/>
          </p:cNvSpPr>
          <p:nvPr/>
        </p:nvSpPr>
        <p:spPr bwMode="auto">
          <a:xfrm>
            <a:off x="3576638" y="4791075"/>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3" name="Rectangle 76">
            <a:extLst>
              <a:ext uri="{FF2B5EF4-FFF2-40B4-BE49-F238E27FC236}">
                <a16:creationId xmlns:a16="http://schemas.microsoft.com/office/drawing/2014/main" id="{E1A3D44A-8509-1C03-C2D0-54A54566BA20}"/>
              </a:ext>
            </a:extLst>
          </p:cNvPr>
          <p:cNvSpPr>
            <a:spLocks noChangeArrowheads="1"/>
          </p:cNvSpPr>
          <p:nvPr/>
        </p:nvSpPr>
        <p:spPr bwMode="auto">
          <a:xfrm>
            <a:off x="6748463" y="4564063"/>
            <a:ext cx="10953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 modern line</a:t>
            </a:r>
            <a:endParaRPr lang="en-US" altLang="ko-KR" sz="1400" b="0">
              <a:ea typeface="굴림" panose="020b0600000101010101" pitchFamily="34" charset="-127"/>
            </a:endParaRPr>
          </a:p>
        </p:txBody>
      </p:sp>
      <p:sp>
        <p:nvSpPr>
          <p:cNvPr id="5194" name="Rectangle 77">
            <a:extLst>
              <a:ext uri="{FF2B5EF4-FFF2-40B4-BE49-F238E27FC236}">
                <a16:creationId xmlns:a16="http://schemas.microsoft.com/office/drawing/2014/main" id="{DD32D418-22DD-A794-F4BE-B6ACC7919A23}"/>
              </a:ext>
            </a:extLst>
          </p:cNvPr>
          <p:cNvSpPr>
            <a:spLocks noChangeArrowheads="1"/>
          </p:cNvSpPr>
          <p:nvPr/>
        </p:nvSpPr>
        <p:spPr bwMode="auto">
          <a:xfrm>
            <a:off x="4457700" y="4462463"/>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5" name="Rectangle 78">
            <a:extLst>
              <a:ext uri="{FF2B5EF4-FFF2-40B4-BE49-F238E27FC236}">
                <a16:creationId xmlns:a16="http://schemas.microsoft.com/office/drawing/2014/main" id="{9EBE78E4-AEBC-2382-B08C-B69C03F454D7}"/>
              </a:ext>
            </a:extLst>
          </p:cNvPr>
          <p:cNvSpPr>
            <a:spLocks noChangeArrowheads="1"/>
          </p:cNvSpPr>
          <p:nvPr/>
        </p:nvSpPr>
        <p:spPr bwMode="auto">
          <a:xfrm>
            <a:off x="6688138" y="3783013"/>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6" name="Rectangle 79">
            <a:extLst>
              <a:ext uri="{FF2B5EF4-FFF2-40B4-BE49-F238E27FC236}">
                <a16:creationId xmlns:a16="http://schemas.microsoft.com/office/drawing/2014/main" id="{D047AA34-62C1-7299-63ED-DA41E81359C6}"/>
              </a:ext>
            </a:extLst>
          </p:cNvPr>
          <p:cNvSpPr>
            <a:spLocks noChangeArrowheads="1"/>
          </p:cNvSpPr>
          <p:nvPr/>
        </p:nvSpPr>
        <p:spPr bwMode="auto">
          <a:xfrm>
            <a:off x="7329488" y="3487738"/>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7" name="Rectangle 80">
            <a:extLst>
              <a:ext uri="{FF2B5EF4-FFF2-40B4-BE49-F238E27FC236}">
                <a16:creationId xmlns:a16="http://schemas.microsoft.com/office/drawing/2014/main" id="{26F3F778-9828-BD1D-4BD4-39192BC0C0D5}"/>
              </a:ext>
            </a:extLst>
          </p:cNvPr>
          <p:cNvSpPr>
            <a:spLocks noChangeArrowheads="1"/>
          </p:cNvSpPr>
          <p:nvPr/>
        </p:nvSpPr>
        <p:spPr bwMode="auto">
          <a:xfrm>
            <a:off x="5408613" y="3836988"/>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8" name="Rectangle 81">
            <a:extLst>
              <a:ext uri="{FF2B5EF4-FFF2-40B4-BE49-F238E27FC236}">
                <a16:creationId xmlns:a16="http://schemas.microsoft.com/office/drawing/2014/main" id="{6A854651-9DB4-3B65-F15D-E24D22DE4B69}"/>
              </a:ext>
            </a:extLst>
          </p:cNvPr>
          <p:cNvSpPr>
            <a:spLocks noChangeArrowheads="1"/>
          </p:cNvSpPr>
          <p:nvPr/>
        </p:nvSpPr>
        <p:spPr bwMode="auto">
          <a:xfrm>
            <a:off x="3946525" y="5176838"/>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199" name="Rectangle 82">
            <a:extLst>
              <a:ext uri="{FF2B5EF4-FFF2-40B4-BE49-F238E27FC236}">
                <a16:creationId xmlns:a16="http://schemas.microsoft.com/office/drawing/2014/main" id="{15EB4EBB-A484-173E-88C8-D35564C0173A}"/>
              </a:ext>
            </a:extLst>
          </p:cNvPr>
          <p:cNvSpPr>
            <a:spLocks noChangeArrowheads="1"/>
          </p:cNvSpPr>
          <p:nvPr/>
        </p:nvSpPr>
        <p:spPr bwMode="auto">
          <a:xfrm>
            <a:off x="2741613" y="5032375"/>
            <a:ext cx="3413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0" name="Rectangle 83">
            <a:extLst>
              <a:ext uri="{FF2B5EF4-FFF2-40B4-BE49-F238E27FC236}">
                <a16:creationId xmlns:a16="http://schemas.microsoft.com/office/drawing/2014/main" id="{FE396C97-B67F-180D-957C-9FD59A1FCE9E}"/>
              </a:ext>
            </a:extLst>
          </p:cNvPr>
          <p:cNvSpPr>
            <a:spLocks noChangeArrowheads="1"/>
          </p:cNvSpPr>
          <p:nvPr/>
        </p:nvSpPr>
        <p:spPr bwMode="auto">
          <a:xfrm>
            <a:off x="6534150" y="3173413"/>
            <a:ext cx="3413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1" name="Rectangle 84">
            <a:extLst>
              <a:ext uri="{FF2B5EF4-FFF2-40B4-BE49-F238E27FC236}">
                <a16:creationId xmlns:a16="http://schemas.microsoft.com/office/drawing/2014/main" id="{FAFBA7F3-7B8E-C297-0985-A7B8ADF9948A}"/>
              </a:ext>
            </a:extLst>
          </p:cNvPr>
          <p:cNvSpPr>
            <a:spLocks noChangeArrowheads="1"/>
          </p:cNvSpPr>
          <p:nvPr/>
        </p:nvSpPr>
        <p:spPr bwMode="auto">
          <a:xfrm>
            <a:off x="2211388" y="5259388"/>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2" name="Rectangle 85">
            <a:extLst>
              <a:ext uri="{FF2B5EF4-FFF2-40B4-BE49-F238E27FC236}">
                <a16:creationId xmlns:a16="http://schemas.microsoft.com/office/drawing/2014/main" id="{4159034C-5A28-A5FD-8A1D-FB2CE2AA3187}"/>
              </a:ext>
            </a:extLst>
          </p:cNvPr>
          <p:cNvSpPr>
            <a:spLocks noChangeArrowheads="1"/>
          </p:cNvSpPr>
          <p:nvPr/>
        </p:nvSpPr>
        <p:spPr bwMode="auto">
          <a:xfrm>
            <a:off x="4271963" y="3514725"/>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3" name="Rectangle 86">
            <a:extLst>
              <a:ext uri="{FF2B5EF4-FFF2-40B4-BE49-F238E27FC236}">
                <a16:creationId xmlns:a16="http://schemas.microsoft.com/office/drawing/2014/main" id="{3BD1C59A-DB32-BC72-8AD7-F6B6E792B2F7}"/>
              </a:ext>
            </a:extLst>
          </p:cNvPr>
          <p:cNvSpPr>
            <a:spLocks noChangeArrowheads="1"/>
          </p:cNvSpPr>
          <p:nvPr/>
        </p:nvSpPr>
        <p:spPr bwMode="auto">
          <a:xfrm>
            <a:off x="3508375" y="3038475"/>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4" name="Rectangle 87">
            <a:extLst>
              <a:ext uri="{FF2B5EF4-FFF2-40B4-BE49-F238E27FC236}">
                <a16:creationId xmlns:a16="http://schemas.microsoft.com/office/drawing/2014/main" id="{8921B4BC-40CD-5932-5439-C942AED9621E}"/>
              </a:ext>
            </a:extLst>
          </p:cNvPr>
          <p:cNvSpPr>
            <a:spLocks noChangeArrowheads="1"/>
          </p:cNvSpPr>
          <p:nvPr/>
        </p:nvSpPr>
        <p:spPr bwMode="auto">
          <a:xfrm>
            <a:off x="6972300" y="4125913"/>
            <a:ext cx="3413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5" name="Rectangle 88">
            <a:extLst>
              <a:ext uri="{FF2B5EF4-FFF2-40B4-BE49-F238E27FC236}">
                <a16:creationId xmlns:a16="http://schemas.microsoft.com/office/drawing/2014/main" id="{0C8C3716-4F59-BF1A-3920-3678CB124600}"/>
              </a:ext>
            </a:extLst>
          </p:cNvPr>
          <p:cNvSpPr>
            <a:spLocks noChangeArrowheads="1"/>
          </p:cNvSpPr>
          <p:nvPr/>
        </p:nvSpPr>
        <p:spPr bwMode="auto">
          <a:xfrm>
            <a:off x="2427288" y="3003550"/>
            <a:ext cx="3413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06" name="Rectangle 89">
            <a:extLst>
              <a:ext uri="{FF2B5EF4-FFF2-40B4-BE49-F238E27FC236}">
                <a16:creationId xmlns:a16="http://schemas.microsoft.com/office/drawing/2014/main" id="{274D4FA8-5676-536B-D849-B2D46DFFDF47}"/>
              </a:ext>
            </a:extLst>
          </p:cNvPr>
          <p:cNvSpPr>
            <a:spLocks noChangeArrowheads="1"/>
          </p:cNvSpPr>
          <p:nvPr/>
        </p:nvSpPr>
        <p:spPr bwMode="auto">
          <a:xfrm>
            <a:off x="1581150" y="5402263"/>
            <a:ext cx="1889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1,8</a:t>
            </a:r>
            <a:endParaRPr lang="en-US" altLang="ko-KR" sz="1400" b="0">
              <a:ea typeface="굴림" panose="020b0600000101010101" pitchFamily="34" charset="-127"/>
            </a:endParaRPr>
          </a:p>
        </p:txBody>
      </p:sp>
      <p:sp>
        <p:nvSpPr>
          <p:cNvPr id="5207" name="Rectangle 90">
            <a:extLst>
              <a:ext uri="{FF2B5EF4-FFF2-40B4-BE49-F238E27FC236}">
                <a16:creationId xmlns:a16="http://schemas.microsoft.com/office/drawing/2014/main" id="{D295FEB1-6AB7-CA00-38C3-6E7E10070310}"/>
              </a:ext>
            </a:extLst>
          </p:cNvPr>
          <p:cNvSpPr>
            <a:spLocks noChangeArrowheads="1"/>
          </p:cNvSpPr>
          <p:nvPr/>
        </p:nvSpPr>
        <p:spPr bwMode="auto">
          <a:xfrm>
            <a:off x="1581150" y="4649788"/>
            <a:ext cx="1889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2,3</a:t>
            </a:r>
            <a:endParaRPr lang="en-US" altLang="ko-KR" sz="1400" b="0">
              <a:ea typeface="굴림" panose="020b0600000101010101" pitchFamily="34" charset="-127"/>
            </a:endParaRPr>
          </a:p>
        </p:txBody>
      </p:sp>
      <p:sp>
        <p:nvSpPr>
          <p:cNvPr id="5208" name="Rectangle 91">
            <a:extLst>
              <a:ext uri="{FF2B5EF4-FFF2-40B4-BE49-F238E27FC236}">
                <a16:creationId xmlns:a16="http://schemas.microsoft.com/office/drawing/2014/main" id="{6EAC2C86-AB91-AE53-E287-811C761AE34F}"/>
              </a:ext>
            </a:extLst>
          </p:cNvPr>
          <p:cNvSpPr>
            <a:spLocks noChangeArrowheads="1"/>
          </p:cNvSpPr>
          <p:nvPr/>
        </p:nvSpPr>
        <p:spPr bwMode="auto">
          <a:xfrm>
            <a:off x="1581150" y="3897313"/>
            <a:ext cx="1889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2,8</a:t>
            </a:r>
            <a:endParaRPr lang="en-US" altLang="ko-KR" sz="1400" b="0">
              <a:ea typeface="굴림" panose="020b0600000101010101" pitchFamily="34" charset="-127"/>
            </a:endParaRPr>
          </a:p>
        </p:txBody>
      </p:sp>
      <p:sp>
        <p:nvSpPr>
          <p:cNvPr id="5209" name="Rectangle 92">
            <a:extLst>
              <a:ext uri="{FF2B5EF4-FFF2-40B4-BE49-F238E27FC236}">
                <a16:creationId xmlns:a16="http://schemas.microsoft.com/office/drawing/2014/main" id="{720ADD53-C3B3-776D-7EE5-8F868DBB4BF1}"/>
              </a:ext>
            </a:extLst>
          </p:cNvPr>
          <p:cNvSpPr>
            <a:spLocks noChangeArrowheads="1"/>
          </p:cNvSpPr>
          <p:nvPr/>
        </p:nvSpPr>
        <p:spPr bwMode="auto">
          <a:xfrm>
            <a:off x="1581150" y="3143250"/>
            <a:ext cx="1889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3,3</a:t>
            </a:r>
            <a:endParaRPr lang="en-US" altLang="ko-KR" sz="1400" b="0">
              <a:ea typeface="굴림" panose="020b0600000101010101" pitchFamily="34" charset="-127"/>
            </a:endParaRPr>
          </a:p>
        </p:txBody>
      </p:sp>
      <p:sp>
        <p:nvSpPr>
          <p:cNvPr id="5210" name="Rectangle 93">
            <a:extLst>
              <a:ext uri="{FF2B5EF4-FFF2-40B4-BE49-F238E27FC236}">
                <a16:creationId xmlns:a16="http://schemas.microsoft.com/office/drawing/2014/main" id="{45397BBA-BF92-6820-F3AC-39DE6AFC7E52}"/>
              </a:ext>
            </a:extLst>
          </p:cNvPr>
          <p:cNvSpPr>
            <a:spLocks noChangeArrowheads="1"/>
          </p:cNvSpPr>
          <p:nvPr/>
        </p:nvSpPr>
        <p:spPr bwMode="auto">
          <a:xfrm>
            <a:off x="1581150" y="2390775"/>
            <a:ext cx="1889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3,8</a:t>
            </a:r>
            <a:endParaRPr lang="en-US" altLang="ko-KR" sz="1400" b="0">
              <a:ea typeface="굴림" panose="020b0600000101010101" pitchFamily="34" charset="-127"/>
            </a:endParaRPr>
          </a:p>
        </p:txBody>
      </p:sp>
      <p:sp>
        <p:nvSpPr>
          <p:cNvPr id="5211" name="Rectangle 94">
            <a:extLst>
              <a:ext uri="{FF2B5EF4-FFF2-40B4-BE49-F238E27FC236}">
                <a16:creationId xmlns:a16="http://schemas.microsoft.com/office/drawing/2014/main" id="{AE006FE2-CFE4-2E0A-F2BF-34DD81034185}"/>
              </a:ext>
            </a:extLst>
          </p:cNvPr>
          <p:cNvSpPr>
            <a:spLocks noChangeArrowheads="1"/>
          </p:cNvSpPr>
          <p:nvPr/>
        </p:nvSpPr>
        <p:spPr bwMode="auto">
          <a:xfrm>
            <a:off x="1779588" y="5584825"/>
            <a:ext cx="188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1,0</a:t>
            </a:r>
            <a:endParaRPr lang="en-US" altLang="ko-KR" sz="1400" b="0">
              <a:ea typeface="굴림" panose="020b0600000101010101" pitchFamily="34" charset="-127"/>
            </a:endParaRPr>
          </a:p>
        </p:txBody>
      </p:sp>
      <p:sp>
        <p:nvSpPr>
          <p:cNvPr id="5212" name="Rectangle 95">
            <a:extLst>
              <a:ext uri="{FF2B5EF4-FFF2-40B4-BE49-F238E27FC236}">
                <a16:creationId xmlns:a16="http://schemas.microsoft.com/office/drawing/2014/main" id="{4AF7872D-E1C9-D9F7-45BD-A24D7553D968}"/>
              </a:ext>
            </a:extLst>
          </p:cNvPr>
          <p:cNvSpPr>
            <a:spLocks noChangeArrowheads="1"/>
          </p:cNvSpPr>
          <p:nvPr/>
        </p:nvSpPr>
        <p:spPr bwMode="auto">
          <a:xfrm>
            <a:off x="2871788" y="5584825"/>
            <a:ext cx="188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1,5</a:t>
            </a:r>
            <a:endParaRPr lang="en-US" altLang="ko-KR" sz="1400" b="0">
              <a:ea typeface="굴림" panose="020b0600000101010101" pitchFamily="34" charset="-127"/>
            </a:endParaRPr>
          </a:p>
        </p:txBody>
      </p:sp>
      <p:sp>
        <p:nvSpPr>
          <p:cNvPr id="5213" name="Rectangle 96">
            <a:extLst>
              <a:ext uri="{FF2B5EF4-FFF2-40B4-BE49-F238E27FC236}">
                <a16:creationId xmlns:a16="http://schemas.microsoft.com/office/drawing/2014/main" id="{540B05C9-1A1E-AA38-FA28-D6E2DB498F4A}"/>
              </a:ext>
            </a:extLst>
          </p:cNvPr>
          <p:cNvSpPr>
            <a:spLocks noChangeArrowheads="1"/>
          </p:cNvSpPr>
          <p:nvPr/>
        </p:nvSpPr>
        <p:spPr bwMode="auto">
          <a:xfrm>
            <a:off x="3960813" y="5584825"/>
            <a:ext cx="188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2,0</a:t>
            </a:r>
            <a:endParaRPr lang="en-US" altLang="ko-KR" sz="1400" b="0">
              <a:ea typeface="굴림" panose="020b0600000101010101" pitchFamily="34" charset="-127"/>
            </a:endParaRPr>
          </a:p>
        </p:txBody>
      </p:sp>
      <p:sp>
        <p:nvSpPr>
          <p:cNvPr id="5214" name="Rectangle 97">
            <a:extLst>
              <a:ext uri="{FF2B5EF4-FFF2-40B4-BE49-F238E27FC236}">
                <a16:creationId xmlns:a16="http://schemas.microsoft.com/office/drawing/2014/main" id="{5CAA856C-0853-1898-9D6A-5E01F8AA098E}"/>
              </a:ext>
            </a:extLst>
          </p:cNvPr>
          <p:cNvSpPr>
            <a:spLocks noChangeArrowheads="1"/>
          </p:cNvSpPr>
          <p:nvPr/>
        </p:nvSpPr>
        <p:spPr bwMode="auto">
          <a:xfrm>
            <a:off x="5051425" y="5584825"/>
            <a:ext cx="18891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2,5</a:t>
            </a:r>
            <a:endParaRPr lang="en-US" altLang="ko-KR" sz="1400" b="0">
              <a:ea typeface="굴림" panose="020b0600000101010101" pitchFamily="34" charset="-127"/>
            </a:endParaRPr>
          </a:p>
        </p:txBody>
      </p:sp>
      <p:sp>
        <p:nvSpPr>
          <p:cNvPr id="5215" name="Rectangle 98">
            <a:extLst>
              <a:ext uri="{FF2B5EF4-FFF2-40B4-BE49-F238E27FC236}">
                <a16:creationId xmlns:a16="http://schemas.microsoft.com/office/drawing/2014/main" id="{14176932-5FD6-49EC-4B8F-BE38DEE59056}"/>
              </a:ext>
            </a:extLst>
          </p:cNvPr>
          <p:cNvSpPr>
            <a:spLocks noChangeArrowheads="1"/>
          </p:cNvSpPr>
          <p:nvPr/>
        </p:nvSpPr>
        <p:spPr bwMode="auto">
          <a:xfrm>
            <a:off x="6142038" y="5584825"/>
            <a:ext cx="188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3,0</a:t>
            </a:r>
            <a:endParaRPr lang="en-US" altLang="ko-KR" sz="1400" b="0">
              <a:ea typeface="굴림" panose="020b0600000101010101" pitchFamily="34" charset="-127"/>
            </a:endParaRPr>
          </a:p>
        </p:txBody>
      </p:sp>
      <p:sp>
        <p:nvSpPr>
          <p:cNvPr id="5216" name="Rectangle 99">
            <a:extLst>
              <a:ext uri="{FF2B5EF4-FFF2-40B4-BE49-F238E27FC236}">
                <a16:creationId xmlns:a16="http://schemas.microsoft.com/office/drawing/2014/main" id="{3134E505-E2E1-549A-BE08-5AA19B56E230}"/>
              </a:ext>
            </a:extLst>
          </p:cNvPr>
          <p:cNvSpPr>
            <a:spLocks noChangeArrowheads="1"/>
          </p:cNvSpPr>
          <p:nvPr/>
        </p:nvSpPr>
        <p:spPr bwMode="auto">
          <a:xfrm>
            <a:off x="7231063" y="5584825"/>
            <a:ext cx="190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3,5</a:t>
            </a:r>
            <a:endParaRPr lang="en-US" altLang="ko-KR" sz="1400" b="0">
              <a:ea typeface="굴림" panose="020b0600000101010101" pitchFamily="34" charset="-127"/>
            </a:endParaRPr>
          </a:p>
        </p:txBody>
      </p:sp>
      <p:sp>
        <p:nvSpPr>
          <p:cNvPr id="5217" name="Rectangle 100">
            <a:extLst>
              <a:ext uri="{FF2B5EF4-FFF2-40B4-BE49-F238E27FC236}">
                <a16:creationId xmlns:a16="http://schemas.microsoft.com/office/drawing/2014/main" id="{2B812AF4-BBDF-4171-25C7-6A9C982CD3E5}"/>
              </a:ext>
            </a:extLst>
          </p:cNvPr>
          <p:cNvSpPr>
            <a:spLocks noChangeArrowheads="1"/>
          </p:cNvSpPr>
          <p:nvPr/>
        </p:nvSpPr>
        <p:spPr bwMode="auto">
          <a:xfrm>
            <a:off x="8320088" y="5584825"/>
            <a:ext cx="188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4,0</a:t>
            </a:r>
            <a:endParaRPr lang="en-US" altLang="ko-KR" sz="1400" b="0">
              <a:ea typeface="굴림" panose="020b0600000101010101" pitchFamily="34" charset="-127"/>
            </a:endParaRPr>
          </a:p>
        </p:txBody>
      </p:sp>
      <p:sp>
        <p:nvSpPr>
          <p:cNvPr id="5218" name="Rectangle 101">
            <a:extLst>
              <a:ext uri="{FF2B5EF4-FFF2-40B4-BE49-F238E27FC236}">
                <a16:creationId xmlns:a16="http://schemas.microsoft.com/office/drawing/2014/main" id="{A0D22206-BC4E-E2DB-4D0F-85D1AC54FDB1}"/>
              </a:ext>
            </a:extLst>
          </p:cNvPr>
          <p:cNvSpPr>
            <a:spLocks noChangeArrowheads="1"/>
          </p:cNvSpPr>
          <p:nvPr/>
        </p:nvSpPr>
        <p:spPr bwMode="auto">
          <a:xfrm>
            <a:off x="9412288" y="5584825"/>
            <a:ext cx="188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4,5</a:t>
            </a:r>
            <a:endParaRPr lang="en-US" altLang="ko-KR" sz="1400" b="0">
              <a:ea typeface="굴림" panose="020b0600000101010101" pitchFamily="34" charset="-127"/>
            </a:endParaRPr>
          </a:p>
        </p:txBody>
      </p:sp>
      <p:sp>
        <p:nvSpPr>
          <p:cNvPr id="5219" name="Oval 102">
            <a:extLst>
              <a:ext uri="{FF2B5EF4-FFF2-40B4-BE49-F238E27FC236}">
                <a16:creationId xmlns:a16="http://schemas.microsoft.com/office/drawing/2014/main" id="{195B9BB9-2CD2-4CD8-F4C1-B5CD73F10D99}"/>
              </a:ext>
            </a:extLst>
          </p:cNvPr>
          <p:cNvSpPr>
            <a:spLocks noChangeArrowheads="1"/>
          </p:cNvSpPr>
          <p:nvPr/>
        </p:nvSpPr>
        <p:spPr bwMode="auto">
          <a:xfrm>
            <a:off x="6364288" y="4006850"/>
            <a:ext cx="458787" cy="420688"/>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220" name="Oval 103">
            <a:extLst>
              <a:ext uri="{FF2B5EF4-FFF2-40B4-BE49-F238E27FC236}">
                <a16:creationId xmlns:a16="http://schemas.microsoft.com/office/drawing/2014/main" id="{500405AA-7544-6AAD-A5A2-5579AE5747C1}"/>
              </a:ext>
            </a:extLst>
          </p:cNvPr>
          <p:cNvSpPr>
            <a:spLocks noChangeArrowheads="1"/>
          </p:cNvSpPr>
          <p:nvPr/>
        </p:nvSpPr>
        <p:spPr bwMode="auto">
          <a:xfrm>
            <a:off x="6467475" y="4057650"/>
            <a:ext cx="257175" cy="236538"/>
          </a:xfrm>
          <a:prstGeom prst="ellipse">
            <a:avLst/>
          </a:prstGeom>
          <a:solidFill>
            <a:srgbClr val="C0C0C0"/>
          </a:solidFill>
          <a:ln w="12700">
            <a:solidFill>
              <a:srgbClr val="000000"/>
            </a:solidFill>
            <a:round/>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221" name="Rectangle 104">
            <a:extLst>
              <a:ext uri="{FF2B5EF4-FFF2-40B4-BE49-F238E27FC236}">
                <a16:creationId xmlns:a16="http://schemas.microsoft.com/office/drawing/2014/main" id="{7C84E686-369E-312B-B0DD-E8FEF9EB121C}"/>
              </a:ext>
            </a:extLst>
          </p:cNvPr>
          <p:cNvSpPr>
            <a:spLocks noChangeArrowheads="1"/>
          </p:cNvSpPr>
          <p:nvPr/>
        </p:nvSpPr>
        <p:spPr bwMode="auto">
          <a:xfrm>
            <a:off x="6859588" y="3976688"/>
            <a:ext cx="342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Site x</a:t>
            </a:r>
            <a:endParaRPr lang="en-US" altLang="ko-KR" sz="1400" b="0">
              <a:ea typeface="굴림" panose="020b0600000101010101" pitchFamily="34" charset="-127"/>
            </a:endParaRPr>
          </a:p>
        </p:txBody>
      </p:sp>
      <p:sp>
        <p:nvSpPr>
          <p:cNvPr id="5222" name="Line 105">
            <a:extLst>
              <a:ext uri="{FF2B5EF4-FFF2-40B4-BE49-F238E27FC236}">
                <a16:creationId xmlns:a16="http://schemas.microsoft.com/office/drawing/2014/main" id="{4F648E53-2A14-CB72-B5B9-EAC4CBCF36B8}"/>
              </a:ext>
            </a:extLst>
          </p:cNvPr>
          <p:cNvSpPr>
            <a:spLocks noChangeShapeType="1"/>
          </p:cNvSpPr>
          <p:nvPr/>
        </p:nvSpPr>
        <p:spPr bwMode="auto">
          <a:xfrm flipV="1">
            <a:off x="6616700" y="4048125"/>
            <a:ext cx="177800" cy="698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7169" name="Rectangle 2">
            <a:extLst>
              <a:ext uri="{FF2B5EF4-FFF2-40B4-BE49-F238E27FC236}">
                <a16:creationId xmlns:a16="http://schemas.microsoft.com/office/drawing/2014/main" id="{7FA69A8F-DEAC-33FC-399F-F6260B99605B}"/>
              </a:ext>
            </a:extLst>
          </p:cNvPr>
          <p:cNvSpPr>
            <a:spLocks noChangeArrowheads="1"/>
          </p:cNvSpPr>
          <p:nvPr/>
        </p:nvSpPr>
        <p:spPr bwMode="auto">
          <a:xfrm>
            <a:off x="3384550" y="3951288"/>
            <a:ext cx="3175000" cy="638175"/>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70" name="Rectangle 3">
            <a:extLst>
              <a:ext uri="{FF2B5EF4-FFF2-40B4-BE49-F238E27FC236}">
                <a16:creationId xmlns:a16="http://schemas.microsoft.com/office/drawing/2014/main" id="{8745A142-6EDF-CDE9-C49F-E9B458B5B2FA}"/>
              </a:ext>
            </a:extLst>
          </p:cNvPr>
          <p:cNvSpPr>
            <a:spLocks noGrp="1" noChangeArrowheads="1"/>
          </p:cNvSpPr>
          <p:nvPr>
            <p:ph type="title"/>
          </p:nvPr>
        </p:nvSpPr>
        <p:spPr>
          <a:xfrm>
            <a:off x="266700" y="596900"/>
            <a:ext cx="9367838" cy="603250"/>
          </a:xfrm>
        </p:spPr>
        <p:txBody>
          <a:bodyPr/>
          <a:lstStyle/>
          <a:p>
            <a:r>
              <a:rPr lang="en-GB" altLang="ko-KR"/>
              <a:t>SSCs are created by centralizing activities common to more than one company into a new unit</a:t>
            </a:r>
          </a:p>
        </p:txBody>
      </p:sp>
      <p:sp>
        <p:nvSpPr>
          <p:cNvPr id="7171" name="Rectangle 4">
            <a:extLst>
              <a:ext uri="{FF2B5EF4-FFF2-40B4-BE49-F238E27FC236}">
                <a16:creationId xmlns:a16="http://schemas.microsoft.com/office/drawing/2014/main" id="{49B8AD49-0279-78E3-DF7D-17932583339A}"/>
              </a:ext>
            </a:extLst>
          </p:cNvPr>
          <p:cNvSpPr>
            <a:spLocks noChangeArrowheads="1"/>
          </p:cNvSpPr>
          <p:nvPr/>
        </p:nvSpPr>
        <p:spPr bwMode="gray">
          <a:xfrm>
            <a:off x="1373188" y="1614488"/>
            <a:ext cx="5681662" cy="2476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ClrTx/>
              <a:buSzPct val="120000"/>
              <a:buFontTx/>
              <a:buNone/>
            </a:pPr>
            <a:r>
              <a:rPr lang="en-GB" altLang="ko-KR" sz="1800">
                <a:solidFill>
                  <a:srgbClr val="000000"/>
                </a:solidFill>
                <a:ea typeface="가는각진제목체" panose="02030600000101010101" pitchFamily="18" charset="-127"/>
              </a:rPr>
              <a:t>Centralization of Services into SSC &amp; SCM Units</a:t>
            </a:r>
          </a:p>
        </p:txBody>
      </p:sp>
      <p:sp>
        <p:nvSpPr>
          <p:cNvPr id="7172" name="Rectangle 5">
            <a:extLst>
              <a:ext uri="{FF2B5EF4-FFF2-40B4-BE49-F238E27FC236}">
                <a16:creationId xmlns:a16="http://schemas.microsoft.com/office/drawing/2014/main" id="{38CE6A9F-4895-79C4-A0B8-543AF7C2CB56}"/>
              </a:ext>
            </a:extLst>
          </p:cNvPr>
          <p:cNvSpPr>
            <a:spLocks noChangeArrowheads="1"/>
          </p:cNvSpPr>
          <p:nvPr/>
        </p:nvSpPr>
        <p:spPr bwMode="gray">
          <a:xfrm>
            <a:off x="2894013" y="5794375"/>
            <a:ext cx="2984500"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GB" altLang="ko-KR" sz="1200" b="0">
                <a:ea typeface="가는각진제목체" panose="02030600000101010101" pitchFamily="18" charset="-127"/>
              </a:rPr>
              <a:t>Supply Chain Management</a:t>
            </a:r>
          </a:p>
        </p:txBody>
      </p:sp>
      <p:sp>
        <p:nvSpPr>
          <p:cNvPr id="7173" name="Rectangle 6">
            <a:extLst>
              <a:ext uri="{FF2B5EF4-FFF2-40B4-BE49-F238E27FC236}">
                <a16:creationId xmlns:a16="http://schemas.microsoft.com/office/drawing/2014/main" id="{44DFAFB2-0803-D350-7460-9532B05AC4F2}"/>
              </a:ext>
            </a:extLst>
          </p:cNvPr>
          <p:cNvSpPr>
            <a:spLocks noChangeArrowheads="1"/>
          </p:cNvSpPr>
          <p:nvPr/>
        </p:nvSpPr>
        <p:spPr bwMode="gray">
          <a:xfrm>
            <a:off x="271463" y="4030663"/>
            <a:ext cx="3249612" cy="2300287"/>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10000"/>
              </a:spcBef>
              <a:buFontTx/>
              <a:buNone/>
            </a:pPr>
            <a:r>
              <a:rPr lang="en-GB" altLang="ko-KR" sz="1200">
                <a:ea typeface="가는각진제목체" panose="02030600000101010101" pitchFamily="18" charset="-127"/>
              </a:rPr>
              <a:t>Activities to be transferred:</a:t>
            </a:r>
          </a:p>
          <a:p>
            <a:pPr eaLnBrk="1" hangingPunct="1">
              <a:spcBef>
                <a:spcPct val="10000"/>
              </a:spcBef>
              <a:buFontTx/>
              <a:buChar char="•"/>
            </a:pPr>
            <a:r>
              <a:rPr lang="en-GB" altLang="ko-KR" sz="1200" b="0">
                <a:ea typeface="가는각진제목체" panose="02030600000101010101" pitchFamily="18" charset="-127"/>
              </a:rPr>
              <a:t>   Financial Accounting incl. Tax</a:t>
            </a:r>
          </a:p>
          <a:p>
            <a:pPr eaLnBrk="1" hangingPunct="1">
              <a:spcBef>
                <a:spcPct val="10000"/>
              </a:spcBef>
              <a:buFontTx/>
              <a:buChar char="•"/>
            </a:pPr>
            <a:r>
              <a:rPr lang="en-GB" altLang="ko-KR" sz="1200" b="0">
                <a:ea typeface="가는각진제목체" panose="02030600000101010101" pitchFamily="18" charset="-127"/>
              </a:rPr>
              <a:t>   Financial Management</a:t>
            </a:r>
          </a:p>
          <a:p>
            <a:pPr eaLnBrk="1" hangingPunct="1">
              <a:spcBef>
                <a:spcPct val="10000"/>
              </a:spcBef>
              <a:buFontTx/>
              <a:buChar char="•"/>
            </a:pPr>
            <a:r>
              <a:rPr lang="en-GB" altLang="ko-KR" sz="1200" b="0">
                <a:ea typeface="가는각진제목체" panose="02030600000101010101" pitchFamily="18" charset="-127"/>
              </a:rPr>
              <a:t>   Controlling</a:t>
            </a:r>
          </a:p>
          <a:p>
            <a:pPr eaLnBrk="1" hangingPunct="1">
              <a:spcBef>
                <a:spcPct val="10000"/>
              </a:spcBef>
              <a:buFontTx/>
              <a:buChar char="•"/>
            </a:pPr>
            <a:r>
              <a:rPr lang="en-GB" altLang="ko-KR" sz="1200" b="0">
                <a:ea typeface="가는각진제목체" panose="02030600000101010101" pitchFamily="18" charset="-127"/>
              </a:rPr>
              <a:t>   Procurement</a:t>
            </a:r>
          </a:p>
          <a:p>
            <a:pPr eaLnBrk="1" hangingPunct="1">
              <a:spcBef>
                <a:spcPct val="10000"/>
              </a:spcBef>
              <a:buFontTx/>
              <a:buChar char="•"/>
            </a:pPr>
            <a:r>
              <a:rPr lang="en-GB" altLang="ko-KR" sz="1200" b="0">
                <a:ea typeface="가는각진제목체" panose="02030600000101010101" pitchFamily="18" charset="-127"/>
              </a:rPr>
              <a:t>   HSE</a:t>
            </a:r>
          </a:p>
          <a:p>
            <a:pPr eaLnBrk="1" hangingPunct="1">
              <a:spcBef>
                <a:spcPct val="10000"/>
              </a:spcBef>
              <a:buFontTx/>
              <a:buChar char="•"/>
            </a:pPr>
            <a:r>
              <a:rPr lang="en-GB" altLang="ko-KR" sz="1200" b="0">
                <a:ea typeface="가는각진제목체" panose="02030600000101010101" pitchFamily="18" charset="-127"/>
              </a:rPr>
              <a:t>   IT </a:t>
            </a:r>
          </a:p>
          <a:p>
            <a:pPr eaLnBrk="1" hangingPunct="1">
              <a:spcBef>
                <a:spcPct val="10000"/>
              </a:spcBef>
              <a:buFontTx/>
              <a:buChar char="•"/>
            </a:pPr>
            <a:r>
              <a:rPr lang="en-GB" altLang="ko-KR" sz="1200" b="0">
                <a:ea typeface="가는각진제목체" panose="02030600000101010101" pitchFamily="18" charset="-127"/>
              </a:rPr>
              <a:t>   HR Management</a:t>
            </a:r>
          </a:p>
          <a:p>
            <a:pPr eaLnBrk="1" hangingPunct="1">
              <a:spcBef>
                <a:spcPct val="30000"/>
              </a:spcBef>
              <a:buFontTx/>
              <a:buChar char="•"/>
            </a:pPr>
            <a:r>
              <a:rPr lang="en-GB" altLang="ko-KR" sz="1200" b="0">
                <a:ea typeface="가는각진제목체" panose="02030600000101010101" pitchFamily="18" charset="-127"/>
              </a:rPr>
              <a:t>   Fuel Acquisition</a:t>
            </a:r>
          </a:p>
          <a:p>
            <a:pPr eaLnBrk="1" hangingPunct="1">
              <a:spcBef>
                <a:spcPct val="10000"/>
              </a:spcBef>
              <a:buFontTx/>
              <a:buChar char="•"/>
            </a:pPr>
            <a:r>
              <a:rPr lang="en-GB" altLang="ko-KR" sz="1200" b="0">
                <a:ea typeface="가는각진제목체" panose="02030600000101010101" pitchFamily="18" charset="-127"/>
              </a:rPr>
              <a:t>   Operations Planning</a:t>
            </a:r>
          </a:p>
          <a:p>
            <a:pPr eaLnBrk="1" hangingPunct="1">
              <a:spcBef>
                <a:spcPct val="10000"/>
              </a:spcBef>
              <a:buFontTx/>
              <a:buChar char="•"/>
            </a:pPr>
            <a:r>
              <a:rPr lang="en-GB" altLang="ko-KR" sz="1200" b="0">
                <a:ea typeface="가는각진제목체" panose="02030600000101010101" pitchFamily="18" charset="-127"/>
              </a:rPr>
              <a:t>   Logistics &amp; Distribution</a:t>
            </a:r>
          </a:p>
          <a:p>
            <a:pPr eaLnBrk="1" hangingPunct="1">
              <a:spcBef>
                <a:spcPct val="10000"/>
              </a:spcBef>
              <a:buFontTx/>
              <a:buChar char="•"/>
            </a:pPr>
            <a:r>
              <a:rPr lang="en-GB" altLang="ko-KR" sz="1200" b="0">
                <a:ea typeface="가는각진제목체" panose="02030600000101010101" pitchFamily="18" charset="-127"/>
              </a:rPr>
              <a:t>   Customer Care</a:t>
            </a:r>
          </a:p>
        </p:txBody>
      </p:sp>
      <p:sp>
        <p:nvSpPr>
          <p:cNvPr id="7174" name="Rectangle 7">
            <a:extLst>
              <a:ext uri="{FF2B5EF4-FFF2-40B4-BE49-F238E27FC236}">
                <a16:creationId xmlns:a16="http://schemas.microsoft.com/office/drawing/2014/main" id="{EF82A5A2-5A57-9151-305F-4DC8E1686A0B}"/>
              </a:ext>
            </a:extLst>
          </p:cNvPr>
          <p:cNvSpPr>
            <a:spLocks noChangeArrowheads="1"/>
          </p:cNvSpPr>
          <p:nvPr/>
        </p:nvSpPr>
        <p:spPr bwMode="gray">
          <a:xfrm>
            <a:off x="2933700" y="4762500"/>
            <a:ext cx="2986088"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GB" altLang="ko-KR" sz="1200" b="0">
                <a:ea typeface="가는각진제목체" panose="02030600000101010101" pitchFamily="18" charset="-127"/>
              </a:rPr>
              <a:t>Shared Service Center</a:t>
            </a:r>
          </a:p>
        </p:txBody>
      </p:sp>
      <p:sp>
        <p:nvSpPr>
          <p:cNvPr id="7175" name="AutoShape 8">
            <a:extLst>
              <a:ext uri="{FF2B5EF4-FFF2-40B4-BE49-F238E27FC236}">
                <a16:creationId xmlns:a16="http://schemas.microsoft.com/office/drawing/2014/main" id="{E77DA3E8-2A7F-24FF-0C22-EBAD381A99E5}"/>
              </a:ext>
            </a:extLst>
          </p:cNvPr>
          <p:cNvSpPr/>
          <p:nvPr/>
        </p:nvSpPr>
        <p:spPr bwMode="gray">
          <a:xfrm>
            <a:off x="2655888" y="4289425"/>
            <a:ext cx="196850" cy="1247775"/>
          </a:xfrm>
          <a:prstGeom prst="rightBrace">
            <a:avLst>
              <a:gd name="adj1" fmla="val 52823"/>
              <a:gd name="adj2" fmla="val 50000"/>
            </a:avLst>
          </a:prstGeom>
          <a:noFill/>
          <a:ln w="9525">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76" name="AutoShape 9">
            <a:extLst>
              <a:ext uri="{FF2B5EF4-FFF2-40B4-BE49-F238E27FC236}">
                <a16:creationId xmlns:a16="http://schemas.microsoft.com/office/drawing/2014/main" id="{DBCDAC36-23D5-D0E1-4944-D733D3CF4364}"/>
              </a:ext>
            </a:extLst>
          </p:cNvPr>
          <p:cNvSpPr/>
          <p:nvPr/>
        </p:nvSpPr>
        <p:spPr bwMode="gray">
          <a:xfrm>
            <a:off x="2655888" y="5575300"/>
            <a:ext cx="196850" cy="733425"/>
          </a:xfrm>
          <a:prstGeom prst="rightBrace">
            <a:avLst>
              <a:gd name="adj1" fmla="val 31048"/>
              <a:gd name="adj2" fmla="val 50000"/>
            </a:avLst>
          </a:prstGeom>
          <a:noFill/>
          <a:ln w="9525">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77" name="Rectangle 10">
            <a:extLst>
              <a:ext uri="{FF2B5EF4-FFF2-40B4-BE49-F238E27FC236}">
                <a16:creationId xmlns:a16="http://schemas.microsoft.com/office/drawing/2014/main" id="{E4138B5A-3864-FD1D-F6D3-1001A05CBF96}"/>
              </a:ext>
            </a:extLst>
          </p:cNvPr>
          <p:cNvSpPr>
            <a:spLocks noChangeArrowheads="1"/>
          </p:cNvSpPr>
          <p:nvPr/>
        </p:nvSpPr>
        <p:spPr bwMode="gray">
          <a:xfrm>
            <a:off x="3471863" y="3806825"/>
            <a:ext cx="496887" cy="255588"/>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78" name="Rectangle 11">
            <a:extLst>
              <a:ext uri="{FF2B5EF4-FFF2-40B4-BE49-F238E27FC236}">
                <a16:creationId xmlns:a16="http://schemas.microsoft.com/office/drawing/2014/main" id="{C49CA9A2-E180-A28B-78FB-6C6BA1B054B5}"/>
              </a:ext>
            </a:extLst>
          </p:cNvPr>
          <p:cNvSpPr>
            <a:spLocks noChangeArrowheads="1"/>
          </p:cNvSpPr>
          <p:nvPr/>
        </p:nvSpPr>
        <p:spPr bwMode="gray">
          <a:xfrm>
            <a:off x="3968750" y="3806825"/>
            <a:ext cx="501650" cy="255588"/>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79" name="Rectangle 12">
            <a:extLst>
              <a:ext uri="{FF2B5EF4-FFF2-40B4-BE49-F238E27FC236}">
                <a16:creationId xmlns:a16="http://schemas.microsoft.com/office/drawing/2014/main" id="{1E349E93-3420-76BC-22A9-1C7A25F0E3DE}"/>
              </a:ext>
            </a:extLst>
          </p:cNvPr>
          <p:cNvSpPr>
            <a:spLocks noChangeArrowheads="1"/>
          </p:cNvSpPr>
          <p:nvPr/>
        </p:nvSpPr>
        <p:spPr bwMode="gray">
          <a:xfrm>
            <a:off x="4471988" y="3806825"/>
            <a:ext cx="498475" cy="255588"/>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80" name="Rectangle 13">
            <a:extLst>
              <a:ext uri="{FF2B5EF4-FFF2-40B4-BE49-F238E27FC236}">
                <a16:creationId xmlns:a16="http://schemas.microsoft.com/office/drawing/2014/main" id="{A3DA0A64-9BD2-8379-797C-14744D63454F}"/>
              </a:ext>
            </a:extLst>
          </p:cNvPr>
          <p:cNvSpPr>
            <a:spLocks noChangeArrowheads="1"/>
          </p:cNvSpPr>
          <p:nvPr/>
        </p:nvSpPr>
        <p:spPr bwMode="gray">
          <a:xfrm>
            <a:off x="4967288" y="3806825"/>
            <a:ext cx="498475" cy="255588"/>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81" name="Rectangle 14">
            <a:extLst>
              <a:ext uri="{FF2B5EF4-FFF2-40B4-BE49-F238E27FC236}">
                <a16:creationId xmlns:a16="http://schemas.microsoft.com/office/drawing/2014/main" id="{136C7742-93E6-6960-5990-A042EF4D61C3}"/>
              </a:ext>
            </a:extLst>
          </p:cNvPr>
          <p:cNvSpPr>
            <a:spLocks noChangeArrowheads="1"/>
          </p:cNvSpPr>
          <p:nvPr/>
        </p:nvSpPr>
        <p:spPr bwMode="gray">
          <a:xfrm>
            <a:off x="5465763" y="3806825"/>
            <a:ext cx="500062" cy="255588"/>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82" name="Rectangle 15">
            <a:extLst>
              <a:ext uri="{FF2B5EF4-FFF2-40B4-BE49-F238E27FC236}">
                <a16:creationId xmlns:a16="http://schemas.microsoft.com/office/drawing/2014/main" id="{6855A2F9-CB0B-639F-E966-FCEDBCAB0262}"/>
              </a:ext>
            </a:extLst>
          </p:cNvPr>
          <p:cNvSpPr>
            <a:spLocks noChangeArrowheads="1"/>
          </p:cNvSpPr>
          <p:nvPr/>
        </p:nvSpPr>
        <p:spPr bwMode="gray">
          <a:xfrm>
            <a:off x="5967413" y="3806825"/>
            <a:ext cx="496887" cy="255588"/>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183" name="Text Box 16">
            <a:extLst>
              <a:ext uri="{FF2B5EF4-FFF2-40B4-BE49-F238E27FC236}">
                <a16:creationId xmlns:a16="http://schemas.microsoft.com/office/drawing/2014/main" id="{CF337413-BA2A-DF07-CEA2-4A1BBBE13340}"/>
              </a:ext>
            </a:extLst>
          </p:cNvPr>
          <p:cNvSpPr txBox="1">
            <a:spLocks noChangeArrowheads="1"/>
          </p:cNvSpPr>
          <p:nvPr/>
        </p:nvSpPr>
        <p:spPr bwMode="gray">
          <a:xfrm>
            <a:off x="487363" y="2174875"/>
            <a:ext cx="919162"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200">
                <a:ea typeface="가는각진제목체" panose="02030600000101010101" pitchFamily="18" charset="-127"/>
              </a:rPr>
              <a:t>Company A</a:t>
            </a:r>
          </a:p>
        </p:txBody>
      </p:sp>
      <p:sp>
        <p:nvSpPr>
          <p:cNvPr id="7184" name="Text Box 17">
            <a:extLst>
              <a:ext uri="{FF2B5EF4-FFF2-40B4-BE49-F238E27FC236}">
                <a16:creationId xmlns:a16="http://schemas.microsoft.com/office/drawing/2014/main" id="{9DD99579-4944-3E98-B50A-5C93A41CAEF3}"/>
              </a:ext>
            </a:extLst>
          </p:cNvPr>
          <p:cNvSpPr txBox="1">
            <a:spLocks noChangeArrowheads="1"/>
          </p:cNvSpPr>
          <p:nvPr/>
        </p:nvSpPr>
        <p:spPr bwMode="gray">
          <a:xfrm>
            <a:off x="2124075" y="2174875"/>
            <a:ext cx="919163"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200">
                <a:ea typeface="가는각진제목체" panose="02030600000101010101" pitchFamily="18" charset="-127"/>
              </a:rPr>
              <a:t>Company B</a:t>
            </a:r>
          </a:p>
        </p:txBody>
      </p:sp>
      <p:sp>
        <p:nvSpPr>
          <p:cNvPr id="7185" name="Text Box 18">
            <a:extLst>
              <a:ext uri="{FF2B5EF4-FFF2-40B4-BE49-F238E27FC236}">
                <a16:creationId xmlns:a16="http://schemas.microsoft.com/office/drawing/2014/main" id="{63FE395E-38DD-DB7E-A367-DE98440BD830}"/>
              </a:ext>
            </a:extLst>
          </p:cNvPr>
          <p:cNvSpPr txBox="1">
            <a:spLocks noChangeArrowheads="1"/>
          </p:cNvSpPr>
          <p:nvPr/>
        </p:nvSpPr>
        <p:spPr bwMode="gray">
          <a:xfrm>
            <a:off x="3706813" y="2174875"/>
            <a:ext cx="919162"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200">
                <a:ea typeface="가는각진제목체" panose="02030600000101010101" pitchFamily="18" charset="-127"/>
              </a:rPr>
              <a:t>Company C</a:t>
            </a:r>
          </a:p>
        </p:txBody>
      </p:sp>
      <p:sp>
        <p:nvSpPr>
          <p:cNvPr id="7186" name="Text Box 19">
            <a:extLst>
              <a:ext uri="{FF2B5EF4-FFF2-40B4-BE49-F238E27FC236}">
                <a16:creationId xmlns:a16="http://schemas.microsoft.com/office/drawing/2014/main" id="{6AA737BA-19FB-5E98-9492-576792779B91}"/>
              </a:ext>
            </a:extLst>
          </p:cNvPr>
          <p:cNvSpPr txBox="1">
            <a:spLocks noChangeArrowheads="1"/>
          </p:cNvSpPr>
          <p:nvPr/>
        </p:nvSpPr>
        <p:spPr bwMode="gray">
          <a:xfrm>
            <a:off x="6859588" y="2174875"/>
            <a:ext cx="911225"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200">
                <a:ea typeface="가는각진제목체" panose="02030600000101010101" pitchFamily="18" charset="-127"/>
              </a:rPr>
              <a:t>Company E</a:t>
            </a:r>
          </a:p>
        </p:txBody>
      </p:sp>
      <p:sp>
        <p:nvSpPr>
          <p:cNvPr id="7187" name="Text Box 20">
            <a:extLst>
              <a:ext uri="{FF2B5EF4-FFF2-40B4-BE49-F238E27FC236}">
                <a16:creationId xmlns:a16="http://schemas.microsoft.com/office/drawing/2014/main" id="{C8BF3336-E3B9-6683-77FA-A4447014B01D}"/>
              </a:ext>
            </a:extLst>
          </p:cNvPr>
          <p:cNvSpPr txBox="1">
            <a:spLocks noChangeArrowheads="1"/>
          </p:cNvSpPr>
          <p:nvPr/>
        </p:nvSpPr>
        <p:spPr bwMode="gray">
          <a:xfrm>
            <a:off x="5249863" y="2174875"/>
            <a:ext cx="919162"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200">
                <a:ea typeface="가는각진제목체" panose="02030600000101010101" pitchFamily="18" charset="-127"/>
              </a:rPr>
              <a:t>Company D</a:t>
            </a:r>
          </a:p>
        </p:txBody>
      </p:sp>
      <p:sp>
        <p:nvSpPr>
          <p:cNvPr id="7188" name="Text Box 21">
            <a:extLst>
              <a:ext uri="{FF2B5EF4-FFF2-40B4-BE49-F238E27FC236}">
                <a16:creationId xmlns:a16="http://schemas.microsoft.com/office/drawing/2014/main" id="{729105F4-CCAC-383D-ABF3-0E8C817414EB}"/>
              </a:ext>
            </a:extLst>
          </p:cNvPr>
          <p:cNvSpPr txBox="1">
            <a:spLocks noChangeArrowheads="1"/>
          </p:cNvSpPr>
          <p:nvPr/>
        </p:nvSpPr>
        <p:spPr bwMode="gray">
          <a:xfrm>
            <a:off x="8435975" y="2174875"/>
            <a:ext cx="903288" cy="255588"/>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200">
                <a:ea typeface="가는각진제목체" panose="02030600000101010101" pitchFamily="18" charset="-127"/>
              </a:rPr>
              <a:t>Company F</a:t>
            </a:r>
          </a:p>
        </p:txBody>
      </p:sp>
      <p:sp>
        <p:nvSpPr>
          <p:cNvPr id="7189" name="Text Box 22">
            <a:extLst>
              <a:ext uri="{FF2B5EF4-FFF2-40B4-BE49-F238E27FC236}">
                <a16:creationId xmlns:a16="http://schemas.microsoft.com/office/drawing/2014/main" id="{86C1B616-0B06-EA0C-72B8-80972D1FA9B6}"/>
              </a:ext>
            </a:extLst>
          </p:cNvPr>
          <p:cNvSpPr txBox="1">
            <a:spLocks noChangeArrowheads="1"/>
          </p:cNvSpPr>
          <p:nvPr/>
        </p:nvSpPr>
        <p:spPr bwMode="gray">
          <a:xfrm>
            <a:off x="3817938" y="4054475"/>
            <a:ext cx="2336800" cy="49847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r>
              <a:rPr lang="en-GB" altLang="ko-KR" sz="1400">
                <a:ea typeface="가는각진제목체" panose="02030600000101010101" pitchFamily="18" charset="-127"/>
              </a:rPr>
              <a:t>Shared Service Center &amp; </a:t>
            </a:r>
            <a:br>
              <a:rPr lang="en-GB" altLang="ko-KR" sz="1400">
                <a:ea typeface="가는각진제목체" panose="02030600000101010101" pitchFamily="18" charset="-127"/>
              </a:rPr>
            </a:br>
            <a:r>
              <a:rPr lang="en-GB" altLang="ko-KR" sz="1400">
                <a:ea typeface="가는각진제목체" panose="02030600000101010101" pitchFamily="18" charset="-127"/>
              </a:rPr>
              <a:t>Supply Chain Management</a:t>
            </a:r>
          </a:p>
        </p:txBody>
      </p:sp>
      <p:sp>
        <p:nvSpPr>
          <p:cNvPr id="7190" name="Text Box 23">
            <a:extLst>
              <a:ext uri="{FF2B5EF4-FFF2-40B4-BE49-F238E27FC236}">
                <a16:creationId xmlns:a16="http://schemas.microsoft.com/office/drawing/2014/main" id="{34571405-1730-1E14-8899-EAC202ABEFDB}"/>
              </a:ext>
            </a:extLst>
          </p:cNvPr>
          <p:cNvSpPr txBox="1">
            <a:spLocks noChangeArrowheads="1"/>
          </p:cNvSpPr>
          <p:nvPr/>
        </p:nvSpPr>
        <p:spPr bwMode="gray">
          <a:xfrm>
            <a:off x="6710363" y="4059238"/>
            <a:ext cx="1541462" cy="4381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723" tIns="36723" rIns="36723" bIns="36723">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GB" altLang="ko-KR" sz="1200">
                <a:ea typeface="가는각진제목체" panose="02030600000101010101" pitchFamily="18" charset="-127"/>
              </a:rPr>
              <a:t>Number </a:t>
            </a:r>
            <a:br>
              <a:rPr lang="en-GB" altLang="ko-KR" sz="1200">
                <a:ea typeface="가는각진제목체" panose="02030600000101010101" pitchFamily="18" charset="-127"/>
              </a:rPr>
            </a:br>
            <a:r>
              <a:rPr lang="en-GB" altLang="ko-KR" sz="1200">
                <a:ea typeface="가는각진제목체" panose="02030600000101010101" pitchFamily="18" charset="-127"/>
              </a:rPr>
              <a:t>of Employees: ~ 220</a:t>
            </a:r>
          </a:p>
        </p:txBody>
      </p:sp>
      <p:sp>
        <p:nvSpPr>
          <p:cNvPr id="7191" name="Rectangle 25">
            <a:extLst>
              <a:ext uri="{FF2B5EF4-FFF2-40B4-BE49-F238E27FC236}">
                <a16:creationId xmlns:a16="http://schemas.microsoft.com/office/drawing/2014/main" id="{C9F3CE25-17DA-7637-F945-E92F53BBC9AA}"/>
              </a:ext>
            </a:extLst>
          </p:cNvPr>
          <p:cNvSpPr>
            <a:spLocks noChangeArrowheads="1"/>
          </p:cNvSpPr>
          <p:nvPr/>
        </p:nvSpPr>
        <p:spPr bwMode="auto">
          <a:xfrm>
            <a:off x="7986713" y="225425"/>
            <a:ext cx="16573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GB" altLang="ko-KR" sz="1200" b="0">
                <a:ea typeface="가는각진제목체" panose="02030600000101010101" pitchFamily="18" charset="-127"/>
              </a:rPr>
              <a:t>Summary of Assignment</a:t>
            </a:r>
          </a:p>
        </p:txBody>
      </p:sp>
      <p:grpSp>
        <p:nvGrpSpPr>
          <p:cNvPr id="7192" name="Group 26">
            <a:extLst>
              <a:ext uri="{FF2B5EF4-FFF2-40B4-BE49-F238E27FC236}">
                <a16:creationId xmlns:a16="http://schemas.microsoft.com/office/drawing/2014/main" id="{0D10C99E-2376-8268-0D53-48A41EF4B02B}"/>
              </a:ext>
            </a:extLst>
          </p:cNvPr>
          <p:cNvGrpSpPr/>
          <p:nvPr/>
        </p:nvGrpSpPr>
        <p:grpSpPr>
          <a:xfrm>
            <a:off x="350838" y="2457450"/>
            <a:ext cx="1276350" cy="550863"/>
            <a:chOff x="204" y="1548"/>
            <a:chExt cx="742" cy="347"/>
          </a:xfrm>
        </p:grpSpPr>
        <p:sp>
          <p:nvSpPr>
            <p:cNvPr id="7215" name="Oval 27">
              <a:extLst>
                <a:ext uri="{FF2B5EF4-FFF2-40B4-BE49-F238E27FC236}">
                  <a16:creationId xmlns:a16="http://schemas.microsoft.com/office/drawing/2014/main" id="{A982E3EC-4368-76DA-06B1-E8602F2E2D5A}"/>
                </a:ext>
              </a:extLst>
            </p:cNvPr>
            <p:cNvSpPr>
              <a:spLocks noChangeArrowheads="1"/>
            </p:cNvSpPr>
            <p:nvPr/>
          </p:nvSpPr>
          <p:spPr bwMode="auto">
            <a:xfrm>
              <a:off x="204" y="1548"/>
              <a:ext cx="742" cy="347"/>
            </a:xfrm>
            <a:prstGeom prst="ellipse">
              <a:avLst/>
            </a:prstGeom>
            <a:solidFill>
              <a:srgbClr val="EAEAEA"/>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16" name="Oval 28">
              <a:extLst>
                <a:ext uri="{FF2B5EF4-FFF2-40B4-BE49-F238E27FC236}">
                  <a16:creationId xmlns:a16="http://schemas.microsoft.com/office/drawing/2014/main" id="{E73B1DB8-9579-6D2E-A2B0-FB76AFDE4B2C}"/>
                </a:ext>
              </a:extLst>
            </p:cNvPr>
            <p:cNvSpPr>
              <a:spLocks noChangeArrowheads="1"/>
            </p:cNvSpPr>
            <p:nvPr/>
          </p:nvSpPr>
          <p:spPr bwMode="auto">
            <a:xfrm>
              <a:off x="611" y="1706"/>
              <a:ext cx="296" cy="118"/>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grpSp>
        <p:nvGrpSpPr>
          <p:cNvPr id="7193" name="Group 29">
            <a:extLst>
              <a:ext uri="{FF2B5EF4-FFF2-40B4-BE49-F238E27FC236}">
                <a16:creationId xmlns:a16="http://schemas.microsoft.com/office/drawing/2014/main" id="{7A6FCDC2-DBF0-C515-5579-381EABF9F16E}"/>
              </a:ext>
            </a:extLst>
          </p:cNvPr>
          <p:cNvGrpSpPr/>
          <p:nvPr/>
        </p:nvGrpSpPr>
        <p:grpSpPr>
          <a:xfrm>
            <a:off x="1943100" y="2457450"/>
            <a:ext cx="1276350" cy="550863"/>
            <a:chOff x="204" y="1548"/>
            <a:chExt cx="742" cy="347"/>
          </a:xfrm>
        </p:grpSpPr>
        <p:sp>
          <p:nvSpPr>
            <p:cNvPr id="7213" name="Oval 30">
              <a:extLst>
                <a:ext uri="{FF2B5EF4-FFF2-40B4-BE49-F238E27FC236}">
                  <a16:creationId xmlns:a16="http://schemas.microsoft.com/office/drawing/2014/main" id="{69F41CDD-F2BC-F4A7-14E2-433F0DDFECF7}"/>
                </a:ext>
              </a:extLst>
            </p:cNvPr>
            <p:cNvSpPr>
              <a:spLocks noChangeArrowheads="1"/>
            </p:cNvSpPr>
            <p:nvPr/>
          </p:nvSpPr>
          <p:spPr bwMode="auto">
            <a:xfrm>
              <a:off x="204" y="1548"/>
              <a:ext cx="742" cy="347"/>
            </a:xfrm>
            <a:prstGeom prst="ellipse">
              <a:avLst/>
            </a:prstGeom>
            <a:solidFill>
              <a:srgbClr val="EAEAEA"/>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14" name="Oval 31">
              <a:extLst>
                <a:ext uri="{FF2B5EF4-FFF2-40B4-BE49-F238E27FC236}">
                  <a16:creationId xmlns:a16="http://schemas.microsoft.com/office/drawing/2014/main" id="{7365EAA2-8151-F07C-87E7-E3169390678D}"/>
                </a:ext>
              </a:extLst>
            </p:cNvPr>
            <p:cNvSpPr>
              <a:spLocks noChangeArrowheads="1"/>
            </p:cNvSpPr>
            <p:nvPr/>
          </p:nvSpPr>
          <p:spPr bwMode="auto">
            <a:xfrm>
              <a:off x="611" y="1706"/>
              <a:ext cx="296" cy="118"/>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grpSp>
        <p:nvGrpSpPr>
          <p:cNvPr id="7194" name="Group 32">
            <a:extLst>
              <a:ext uri="{FF2B5EF4-FFF2-40B4-BE49-F238E27FC236}">
                <a16:creationId xmlns:a16="http://schemas.microsoft.com/office/drawing/2014/main" id="{D0E77E6B-74B4-3955-F486-6CA508176705}"/>
              </a:ext>
            </a:extLst>
          </p:cNvPr>
          <p:cNvGrpSpPr/>
          <p:nvPr/>
        </p:nvGrpSpPr>
        <p:grpSpPr>
          <a:xfrm>
            <a:off x="3536950" y="2457450"/>
            <a:ext cx="1276350" cy="550863"/>
            <a:chOff x="204" y="1548"/>
            <a:chExt cx="742" cy="347"/>
          </a:xfrm>
        </p:grpSpPr>
        <p:sp>
          <p:nvSpPr>
            <p:cNvPr id="7211" name="Oval 33">
              <a:extLst>
                <a:ext uri="{FF2B5EF4-FFF2-40B4-BE49-F238E27FC236}">
                  <a16:creationId xmlns:a16="http://schemas.microsoft.com/office/drawing/2014/main" id="{391E3739-4F3F-8907-31ED-E7C72CCF9335}"/>
                </a:ext>
              </a:extLst>
            </p:cNvPr>
            <p:cNvSpPr>
              <a:spLocks noChangeArrowheads="1"/>
            </p:cNvSpPr>
            <p:nvPr/>
          </p:nvSpPr>
          <p:spPr bwMode="auto">
            <a:xfrm>
              <a:off x="204" y="1548"/>
              <a:ext cx="742" cy="347"/>
            </a:xfrm>
            <a:prstGeom prst="ellipse">
              <a:avLst/>
            </a:prstGeom>
            <a:solidFill>
              <a:srgbClr val="EAEAEA"/>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12" name="Oval 34">
              <a:extLst>
                <a:ext uri="{FF2B5EF4-FFF2-40B4-BE49-F238E27FC236}">
                  <a16:creationId xmlns:a16="http://schemas.microsoft.com/office/drawing/2014/main" id="{1828A084-25A7-4C5D-3CED-18F16B4DD3FE}"/>
                </a:ext>
              </a:extLst>
            </p:cNvPr>
            <p:cNvSpPr>
              <a:spLocks noChangeArrowheads="1"/>
            </p:cNvSpPr>
            <p:nvPr/>
          </p:nvSpPr>
          <p:spPr bwMode="auto">
            <a:xfrm>
              <a:off x="611" y="1706"/>
              <a:ext cx="296" cy="118"/>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grpSp>
        <p:nvGrpSpPr>
          <p:cNvPr id="7195" name="Group 35">
            <a:extLst>
              <a:ext uri="{FF2B5EF4-FFF2-40B4-BE49-F238E27FC236}">
                <a16:creationId xmlns:a16="http://schemas.microsoft.com/office/drawing/2014/main" id="{553B99C1-BE0F-DAC5-70DF-86EB8C052924}"/>
              </a:ext>
            </a:extLst>
          </p:cNvPr>
          <p:cNvGrpSpPr/>
          <p:nvPr/>
        </p:nvGrpSpPr>
        <p:grpSpPr>
          <a:xfrm>
            <a:off x="5132388" y="2457450"/>
            <a:ext cx="1276350" cy="550863"/>
            <a:chOff x="204" y="1548"/>
            <a:chExt cx="742" cy="347"/>
          </a:xfrm>
        </p:grpSpPr>
        <p:sp>
          <p:nvSpPr>
            <p:cNvPr id="7209" name="Oval 36">
              <a:extLst>
                <a:ext uri="{FF2B5EF4-FFF2-40B4-BE49-F238E27FC236}">
                  <a16:creationId xmlns:a16="http://schemas.microsoft.com/office/drawing/2014/main" id="{C473DF0A-69D6-5E00-7DFF-9F502B47567C}"/>
                </a:ext>
              </a:extLst>
            </p:cNvPr>
            <p:cNvSpPr>
              <a:spLocks noChangeArrowheads="1"/>
            </p:cNvSpPr>
            <p:nvPr/>
          </p:nvSpPr>
          <p:spPr bwMode="auto">
            <a:xfrm>
              <a:off x="204" y="1548"/>
              <a:ext cx="742" cy="347"/>
            </a:xfrm>
            <a:prstGeom prst="ellipse">
              <a:avLst/>
            </a:prstGeom>
            <a:solidFill>
              <a:srgbClr val="EAEAEA"/>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10" name="Oval 37">
              <a:extLst>
                <a:ext uri="{FF2B5EF4-FFF2-40B4-BE49-F238E27FC236}">
                  <a16:creationId xmlns:a16="http://schemas.microsoft.com/office/drawing/2014/main" id="{D2D297A1-63AF-E403-9F92-45E29B648633}"/>
                </a:ext>
              </a:extLst>
            </p:cNvPr>
            <p:cNvSpPr>
              <a:spLocks noChangeArrowheads="1"/>
            </p:cNvSpPr>
            <p:nvPr/>
          </p:nvSpPr>
          <p:spPr bwMode="auto">
            <a:xfrm>
              <a:off x="611" y="1706"/>
              <a:ext cx="296" cy="118"/>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grpSp>
        <p:nvGrpSpPr>
          <p:cNvPr id="7196" name="Group 38">
            <a:extLst>
              <a:ext uri="{FF2B5EF4-FFF2-40B4-BE49-F238E27FC236}">
                <a16:creationId xmlns:a16="http://schemas.microsoft.com/office/drawing/2014/main" id="{0F27C77C-E278-4573-513C-1E07A8932654}"/>
              </a:ext>
            </a:extLst>
          </p:cNvPr>
          <p:cNvGrpSpPr/>
          <p:nvPr/>
        </p:nvGrpSpPr>
        <p:grpSpPr>
          <a:xfrm>
            <a:off x="6726238" y="2457450"/>
            <a:ext cx="1276350" cy="550863"/>
            <a:chOff x="204" y="1548"/>
            <a:chExt cx="742" cy="347"/>
          </a:xfrm>
        </p:grpSpPr>
        <p:sp>
          <p:nvSpPr>
            <p:cNvPr id="7207" name="Oval 39">
              <a:extLst>
                <a:ext uri="{FF2B5EF4-FFF2-40B4-BE49-F238E27FC236}">
                  <a16:creationId xmlns:a16="http://schemas.microsoft.com/office/drawing/2014/main" id="{17AC30DA-FA2C-75DF-0581-954063D844CF}"/>
                </a:ext>
              </a:extLst>
            </p:cNvPr>
            <p:cNvSpPr>
              <a:spLocks noChangeArrowheads="1"/>
            </p:cNvSpPr>
            <p:nvPr/>
          </p:nvSpPr>
          <p:spPr bwMode="auto">
            <a:xfrm>
              <a:off x="204" y="1548"/>
              <a:ext cx="742" cy="347"/>
            </a:xfrm>
            <a:prstGeom prst="ellipse">
              <a:avLst/>
            </a:prstGeom>
            <a:solidFill>
              <a:srgbClr val="EAEAEA"/>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08" name="Oval 40">
              <a:extLst>
                <a:ext uri="{FF2B5EF4-FFF2-40B4-BE49-F238E27FC236}">
                  <a16:creationId xmlns:a16="http://schemas.microsoft.com/office/drawing/2014/main" id="{0F45C7B2-0CE4-82E5-AD86-E32B552A3C7B}"/>
                </a:ext>
              </a:extLst>
            </p:cNvPr>
            <p:cNvSpPr>
              <a:spLocks noChangeArrowheads="1"/>
            </p:cNvSpPr>
            <p:nvPr/>
          </p:nvSpPr>
          <p:spPr bwMode="auto">
            <a:xfrm>
              <a:off x="611" y="1706"/>
              <a:ext cx="296" cy="118"/>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grpSp>
        <p:nvGrpSpPr>
          <p:cNvPr id="7197" name="Group 41">
            <a:extLst>
              <a:ext uri="{FF2B5EF4-FFF2-40B4-BE49-F238E27FC236}">
                <a16:creationId xmlns:a16="http://schemas.microsoft.com/office/drawing/2014/main" id="{2498BECE-9EAA-9BD3-B9E2-CB8C33819B8E}"/>
              </a:ext>
            </a:extLst>
          </p:cNvPr>
          <p:cNvGrpSpPr/>
          <p:nvPr/>
        </p:nvGrpSpPr>
        <p:grpSpPr>
          <a:xfrm>
            <a:off x="8320088" y="2457450"/>
            <a:ext cx="1276350" cy="550863"/>
            <a:chOff x="204" y="1548"/>
            <a:chExt cx="742" cy="347"/>
          </a:xfrm>
        </p:grpSpPr>
        <p:sp>
          <p:nvSpPr>
            <p:cNvPr id="7205" name="Oval 42">
              <a:extLst>
                <a:ext uri="{FF2B5EF4-FFF2-40B4-BE49-F238E27FC236}">
                  <a16:creationId xmlns:a16="http://schemas.microsoft.com/office/drawing/2014/main" id="{09B20A48-B39F-AA3A-E39C-5F74ECC9CA3A}"/>
                </a:ext>
              </a:extLst>
            </p:cNvPr>
            <p:cNvSpPr>
              <a:spLocks noChangeArrowheads="1"/>
            </p:cNvSpPr>
            <p:nvPr/>
          </p:nvSpPr>
          <p:spPr bwMode="auto">
            <a:xfrm>
              <a:off x="204" y="1548"/>
              <a:ext cx="742" cy="347"/>
            </a:xfrm>
            <a:prstGeom prst="ellipse">
              <a:avLst/>
            </a:prstGeom>
            <a:solidFill>
              <a:srgbClr val="EAEAEA"/>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06" name="Oval 43">
              <a:extLst>
                <a:ext uri="{FF2B5EF4-FFF2-40B4-BE49-F238E27FC236}">
                  <a16:creationId xmlns:a16="http://schemas.microsoft.com/office/drawing/2014/main" id="{E553BA4A-2C05-8E47-4DC7-1FB78B4A9AFE}"/>
                </a:ext>
              </a:extLst>
            </p:cNvPr>
            <p:cNvSpPr>
              <a:spLocks noChangeArrowheads="1"/>
            </p:cNvSpPr>
            <p:nvPr/>
          </p:nvSpPr>
          <p:spPr bwMode="auto">
            <a:xfrm>
              <a:off x="611" y="1706"/>
              <a:ext cx="296" cy="118"/>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
        <p:nvSpPr>
          <p:cNvPr id="7198" name="Line 44">
            <a:extLst>
              <a:ext uri="{FF2B5EF4-FFF2-40B4-BE49-F238E27FC236}">
                <a16:creationId xmlns:a16="http://schemas.microsoft.com/office/drawing/2014/main" id="{94EBFD5C-6C94-840C-9C50-34CEF8A82A54}"/>
              </a:ext>
            </a:extLst>
          </p:cNvPr>
          <p:cNvSpPr>
            <a:spLocks noChangeShapeType="1"/>
          </p:cNvSpPr>
          <p:nvPr/>
        </p:nvSpPr>
        <p:spPr bwMode="gray">
          <a:xfrm>
            <a:off x="1444625" y="2895600"/>
            <a:ext cx="2276475" cy="985838"/>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7199" name="Line 45">
            <a:extLst>
              <a:ext uri="{FF2B5EF4-FFF2-40B4-BE49-F238E27FC236}">
                <a16:creationId xmlns:a16="http://schemas.microsoft.com/office/drawing/2014/main" id="{448DFB19-7530-1DF3-85F8-FC09984E6C45}"/>
              </a:ext>
            </a:extLst>
          </p:cNvPr>
          <p:cNvSpPr>
            <a:spLocks noChangeShapeType="1"/>
          </p:cNvSpPr>
          <p:nvPr/>
        </p:nvSpPr>
        <p:spPr bwMode="gray">
          <a:xfrm>
            <a:off x="2862263" y="2895600"/>
            <a:ext cx="1403350" cy="102235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7200" name="Line 46">
            <a:extLst>
              <a:ext uri="{FF2B5EF4-FFF2-40B4-BE49-F238E27FC236}">
                <a16:creationId xmlns:a16="http://schemas.microsoft.com/office/drawing/2014/main" id="{CD348639-5903-773D-E071-C49C79BE846E}"/>
              </a:ext>
            </a:extLst>
          </p:cNvPr>
          <p:cNvSpPr>
            <a:spLocks noChangeShapeType="1"/>
          </p:cNvSpPr>
          <p:nvPr/>
        </p:nvSpPr>
        <p:spPr bwMode="gray">
          <a:xfrm>
            <a:off x="4470400" y="2895600"/>
            <a:ext cx="249238" cy="102235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7201" name="Line 47">
            <a:extLst>
              <a:ext uri="{FF2B5EF4-FFF2-40B4-BE49-F238E27FC236}">
                <a16:creationId xmlns:a16="http://schemas.microsoft.com/office/drawing/2014/main" id="{A7BB2B5B-9A59-FCAA-B301-3DF31D3375F7}"/>
              </a:ext>
            </a:extLst>
          </p:cNvPr>
          <p:cNvSpPr>
            <a:spLocks noChangeShapeType="1"/>
          </p:cNvSpPr>
          <p:nvPr/>
        </p:nvSpPr>
        <p:spPr bwMode="gray">
          <a:xfrm flipH="1">
            <a:off x="5176838" y="2895600"/>
            <a:ext cx="790575" cy="102235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7202" name="Line 48">
            <a:extLst>
              <a:ext uri="{FF2B5EF4-FFF2-40B4-BE49-F238E27FC236}">
                <a16:creationId xmlns:a16="http://schemas.microsoft.com/office/drawing/2014/main" id="{4B25E10C-CC6D-8625-96D7-6ED6BA03EA52}"/>
              </a:ext>
            </a:extLst>
          </p:cNvPr>
          <p:cNvSpPr>
            <a:spLocks noChangeShapeType="1"/>
          </p:cNvSpPr>
          <p:nvPr/>
        </p:nvSpPr>
        <p:spPr bwMode="gray">
          <a:xfrm flipH="1">
            <a:off x="5764213" y="2895600"/>
            <a:ext cx="1938337" cy="1004888"/>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sp>
        <p:nvSpPr>
          <p:cNvPr id="7203" name="Line 49">
            <a:extLst>
              <a:ext uri="{FF2B5EF4-FFF2-40B4-BE49-F238E27FC236}">
                <a16:creationId xmlns:a16="http://schemas.microsoft.com/office/drawing/2014/main" id="{B00E3206-CA5E-30AD-233A-9925F29DAA99}"/>
              </a:ext>
            </a:extLst>
          </p:cNvPr>
          <p:cNvSpPr>
            <a:spLocks noChangeShapeType="1"/>
          </p:cNvSpPr>
          <p:nvPr/>
        </p:nvSpPr>
        <p:spPr bwMode="gray">
          <a:xfrm flipH="1">
            <a:off x="6173788" y="2895600"/>
            <a:ext cx="2990850" cy="985838"/>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lstStyle/>
          <a:p>
            <a:endParaRPr lang="ko-KR" altLang="en-US"/>
          </a:p>
        </p:txBody>
      </p:sp>
      <p:pic>
        <p:nvPicPr>
          <p:cNvPr id="7204" name="Picture 50">
            <a:extLst>
              <a:ext uri="{FF2B5EF4-FFF2-40B4-BE49-F238E27FC236}">
                <a16:creationId xmlns:a16="http://schemas.microsoft.com/office/drawing/2014/main" id="{946ECB1E-BAB3-78C1-62B2-E02B7507E06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0100" y="1355725"/>
            <a:ext cx="512763" cy="5365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pic>
        <p:nvPicPr>
          <p:cNvPr id="9217" name="Picture 2">
            <a:extLst>
              <a:ext uri="{FF2B5EF4-FFF2-40B4-BE49-F238E27FC236}">
                <a16:creationId xmlns:a16="http://schemas.microsoft.com/office/drawing/2014/main" id="{76318E9F-6846-E560-58F7-D3912DDC66D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0100" y="1355725"/>
            <a:ext cx="512763" cy="5365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8" name="Rectangle 3">
            <a:extLst>
              <a:ext uri="{FF2B5EF4-FFF2-40B4-BE49-F238E27FC236}">
                <a16:creationId xmlns:a16="http://schemas.microsoft.com/office/drawing/2014/main" id="{D22A8363-F9B8-9C96-B139-6803B9815A2F}"/>
              </a:ext>
            </a:extLst>
          </p:cNvPr>
          <p:cNvSpPr>
            <a:spLocks noGrp="1" noChangeArrowheads="1"/>
          </p:cNvSpPr>
          <p:nvPr>
            <p:ph type="title"/>
          </p:nvPr>
        </p:nvSpPr>
        <p:spPr>
          <a:xfrm>
            <a:off x="266700" y="596900"/>
            <a:ext cx="9367838" cy="603250"/>
          </a:xfrm>
        </p:spPr>
        <p:txBody>
          <a:bodyPr/>
          <a:lstStyle/>
          <a:p>
            <a:r>
              <a:rPr lang="en-GB" altLang="ko-KR"/>
              <a:t>In order to accelerate the launching of SSC we have focused on the client needs throughout the whole project</a:t>
            </a:r>
          </a:p>
        </p:txBody>
      </p:sp>
      <p:sp>
        <p:nvSpPr>
          <p:cNvPr id="9219" name="Rectangle 4">
            <a:extLst>
              <a:ext uri="{FF2B5EF4-FFF2-40B4-BE49-F238E27FC236}">
                <a16:creationId xmlns:a16="http://schemas.microsoft.com/office/drawing/2014/main" id="{871BBC59-4AFD-FA2A-948F-5BA39097EAF8}"/>
              </a:ext>
            </a:extLst>
          </p:cNvPr>
          <p:cNvSpPr>
            <a:spLocks noChangeArrowheads="1"/>
          </p:cNvSpPr>
          <p:nvPr/>
        </p:nvSpPr>
        <p:spPr bwMode="gray">
          <a:xfrm>
            <a:off x="1373188" y="1614488"/>
            <a:ext cx="617061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FontTx/>
              <a:buNone/>
            </a:pPr>
            <a:r>
              <a:rPr lang="en-GB" altLang="ko-KR" sz="1800">
                <a:solidFill>
                  <a:srgbClr val="000000"/>
                </a:solidFill>
              </a:rPr>
              <a:t>Approach to Creation and Implementation of SSC</a:t>
            </a:r>
          </a:p>
        </p:txBody>
      </p:sp>
      <p:sp>
        <p:nvSpPr>
          <p:cNvPr id="9220" name="Rectangle 5">
            <a:extLst>
              <a:ext uri="{FF2B5EF4-FFF2-40B4-BE49-F238E27FC236}">
                <a16:creationId xmlns:a16="http://schemas.microsoft.com/office/drawing/2014/main" id="{391CC839-FF8F-C7F0-B17D-01197F0EB7A5}"/>
              </a:ext>
            </a:extLst>
          </p:cNvPr>
          <p:cNvSpPr>
            <a:spLocks noChangeArrowheads="1"/>
          </p:cNvSpPr>
          <p:nvPr/>
        </p:nvSpPr>
        <p:spPr bwMode="auto">
          <a:xfrm>
            <a:off x="6746875" y="225425"/>
            <a:ext cx="2897188"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US" altLang="ko-KR" sz="1200" b="0">
                <a:ea typeface="굴림" panose="020b0600000101010101" pitchFamily="34" charset="-127"/>
              </a:rPr>
              <a:t>Approach to Client-Centric Delivery of SSC</a:t>
            </a:r>
            <a:endParaRPr lang="en-GB" altLang="ko-KR" sz="1200" b="0">
              <a:ea typeface="가는각진제목체" panose="02030600000101010101" pitchFamily="18" charset="-127"/>
            </a:endParaRPr>
          </a:p>
        </p:txBody>
      </p:sp>
      <p:sp>
        <p:nvSpPr>
          <p:cNvPr id="9221" name="Line 7">
            <a:extLst>
              <a:ext uri="{FF2B5EF4-FFF2-40B4-BE49-F238E27FC236}">
                <a16:creationId xmlns:a16="http://schemas.microsoft.com/office/drawing/2014/main" id="{3389F0FE-2F95-0454-BF55-7E53309B47FB}"/>
              </a:ext>
            </a:extLst>
          </p:cNvPr>
          <p:cNvSpPr>
            <a:spLocks noChangeShapeType="1"/>
          </p:cNvSpPr>
          <p:nvPr/>
        </p:nvSpPr>
        <p:spPr bwMode="auto">
          <a:xfrm flipH="1">
            <a:off x="989013" y="2930525"/>
            <a:ext cx="0" cy="224790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9222" name="Line 8">
            <a:extLst>
              <a:ext uri="{FF2B5EF4-FFF2-40B4-BE49-F238E27FC236}">
                <a16:creationId xmlns:a16="http://schemas.microsoft.com/office/drawing/2014/main" id="{2E415A5C-5423-8C4E-6FE2-98249FCF3392}"/>
              </a:ext>
            </a:extLst>
          </p:cNvPr>
          <p:cNvSpPr>
            <a:spLocks noChangeShapeType="1"/>
          </p:cNvSpPr>
          <p:nvPr/>
        </p:nvSpPr>
        <p:spPr bwMode="gray">
          <a:xfrm>
            <a:off x="977900" y="2182813"/>
            <a:ext cx="85328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9223" name="Line 9">
            <a:extLst>
              <a:ext uri="{FF2B5EF4-FFF2-40B4-BE49-F238E27FC236}">
                <a16:creationId xmlns:a16="http://schemas.microsoft.com/office/drawing/2014/main" id="{5807C240-B6FE-6702-8E11-2D889A29B6E3}"/>
              </a:ext>
            </a:extLst>
          </p:cNvPr>
          <p:cNvSpPr>
            <a:spLocks noChangeShapeType="1"/>
          </p:cNvSpPr>
          <p:nvPr/>
        </p:nvSpPr>
        <p:spPr bwMode="gray">
          <a:xfrm flipH="1">
            <a:off x="9525000" y="2101850"/>
            <a:ext cx="0" cy="1603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9224" name="Line 10">
            <a:extLst>
              <a:ext uri="{FF2B5EF4-FFF2-40B4-BE49-F238E27FC236}">
                <a16:creationId xmlns:a16="http://schemas.microsoft.com/office/drawing/2014/main" id="{2CE02DAD-AF4A-0934-36B4-B0B7ABF4060A}"/>
              </a:ext>
            </a:extLst>
          </p:cNvPr>
          <p:cNvSpPr>
            <a:spLocks noChangeShapeType="1"/>
          </p:cNvSpPr>
          <p:nvPr/>
        </p:nvSpPr>
        <p:spPr bwMode="gray">
          <a:xfrm flipH="1">
            <a:off x="6573838" y="2101850"/>
            <a:ext cx="0" cy="1603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9225" name="Line 11">
            <a:extLst>
              <a:ext uri="{FF2B5EF4-FFF2-40B4-BE49-F238E27FC236}">
                <a16:creationId xmlns:a16="http://schemas.microsoft.com/office/drawing/2014/main" id="{66B55267-F2A0-51BC-AFDC-C2ED895A1462}"/>
              </a:ext>
            </a:extLst>
          </p:cNvPr>
          <p:cNvSpPr>
            <a:spLocks noChangeShapeType="1"/>
          </p:cNvSpPr>
          <p:nvPr/>
        </p:nvSpPr>
        <p:spPr bwMode="gray">
          <a:xfrm flipH="1">
            <a:off x="3768725" y="2101850"/>
            <a:ext cx="0" cy="1603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9226" name="Line 12">
            <a:extLst>
              <a:ext uri="{FF2B5EF4-FFF2-40B4-BE49-F238E27FC236}">
                <a16:creationId xmlns:a16="http://schemas.microsoft.com/office/drawing/2014/main" id="{8E1FF55A-D874-F2A2-9346-BA6D092E9611}"/>
              </a:ext>
            </a:extLst>
          </p:cNvPr>
          <p:cNvSpPr>
            <a:spLocks noChangeShapeType="1"/>
          </p:cNvSpPr>
          <p:nvPr/>
        </p:nvSpPr>
        <p:spPr bwMode="gray">
          <a:xfrm flipH="1">
            <a:off x="976313" y="2101850"/>
            <a:ext cx="0" cy="1603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9227" name="AutoShape 13">
            <a:extLst>
              <a:ext uri="{FF2B5EF4-FFF2-40B4-BE49-F238E27FC236}">
                <a16:creationId xmlns:a16="http://schemas.microsoft.com/office/drawing/2014/main" id="{6C5D30E7-1A17-F1C4-AB9B-A6B9372AD110}"/>
              </a:ext>
            </a:extLst>
          </p:cNvPr>
          <p:cNvSpPr>
            <a:spLocks noChangeArrowheads="1"/>
          </p:cNvSpPr>
          <p:nvPr/>
        </p:nvSpPr>
        <p:spPr bwMode="gray">
          <a:xfrm>
            <a:off x="3794125" y="2371725"/>
            <a:ext cx="2925763" cy="558800"/>
          </a:xfrm>
          <a:prstGeom prst="chevron">
            <a:avLst>
              <a:gd name="adj" fmla="val 44844"/>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22" tIns="73422" rIns="73422" bIns="73422" anchor="ctr"/>
          <a:lstStyle>
            <a:lvl1pPr marL="128588"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35000"/>
              </a:spcBef>
              <a:buClrTx/>
              <a:buFontTx/>
              <a:buNone/>
            </a:pPr>
            <a:r>
              <a:rPr lang="en-GB" altLang="ko-KR" sz="1200">
                <a:ea typeface="가는각진제목체" panose="02030600000101010101" pitchFamily="18" charset="-127"/>
              </a:rPr>
              <a:t>Phase II</a:t>
            </a:r>
          </a:p>
          <a:p>
            <a:pPr algn="ctr">
              <a:lnSpc>
                <a:spcPct val="85000"/>
              </a:lnSpc>
              <a:spcBef>
                <a:spcPct val="35000"/>
              </a:spcBef>
              <a:buClrTx/>
              <a:buFontTx/>
              <a:buNone/>
            </a:pPr>
            <a:r>
              <a:rPr lang="en-GB" altLang="ko-KR" sz="1200">
                <a:ea typeface="가는각진제목체" panose="02030600000101010101" pitchFamily="18" charset="-127"/>
              </a:rPr>
              <a:t>Design &amp; Construct</a:t>
            </a:r>
          </a:p>
        </p:txBody>
      </p:sp>
      <p:sp>
        <p:nvSpPr>
          <p:cNvPr id="9228" name="AutoShape 14">
            <a:extLst>
              <a:ext uri="{FF2B5EF4-FFF2-40B4-BE49-F238E27FC236}">
                <a16:creationId xmlns:a16="http://schemas.microsoft.com/office/drawing/2014/main" id="{2A5A83C1-4C94-BB5E-64E3-3254BB09422B}"/>
              </a:ext>
            </a:extLst>
          </p:cNvPr>
          <p:cNvSpPr>
            <a:spLocks noChangeArrowheads="1"/>
          </p:cNvSpPr>
          <p:nvPr/>
        </p:nvSpPr>
        <p:spPr bwMode="gray">
          <a:xfrm>
            <a:off x="6615113" y="2363788"/>
            <a:ext cx="2968625" cy="558800"/>
          </a:xfrm>
          <a:prstGeom prst="chevron">
            <a:avLst>
              <a:gd name="adj" fmla="val 47198"/>
            </a:avLst>
          </a:prstGeom>
          <a:solidFill>
            <a:schemeClr val="accent1"/>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22" tIns="73422" rIns="73422" bIns="73422" anchor="ctr"/>
          <a:lstStyle>
            <a:lvl1pPr marL="128588"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35000"/>
              </a:spcBef>
              <a:buClrTx/>
              <a:buFontTx/>
              <a:buNone/>
            </a:pPr>
            <a:r>
              <a:rPr lang="en-GB" altLang="ko-KR" sz="1200">
                <a:solidFill>
                  <a:schemeClr val="bg1"/>
                </a:solidFill>
                <a:ea typeface="가는각진제목체" panose="02030600000101010101" pitchFamily="18" charset="-127"/>
              </a:rPr>
              <a:t>Phase III</a:t>
            </a:r>
          </a:p>
          <a:p>
            <a:pPr algn="ctr">
              <a:lnSpc>
                <a:spcPct val="85000"/>
              </a:lnSpc>
              <a:spcBef>
                <a:spcPct val="35000"/>
              </a:spcBef>
              <a:buClrTx/>
              <a:buFontTx/>
              <a:buNone/>
            </a:pPr>
            <a:r>
              <a:rPr lang="en-GB" altLang="ko-KR" sz="1200">
                <a:solidFill>
                  <a:schemeClr val="bg1"/>
                </a:solidFill>
                <a:ea typeface="가는각진제목체" panose="02030600000101010101" pitchFamily="18" charset="-127"/>
              </a:rPr>
              <a:t>Implementation</a:t>
            </a:r>
          </a:p>
        </p:txBody>
      </p:sp>
      <p:sp>
        <p:nvSpPr>
          <p:cNvPr id="9229" name="AutoShape 15">
            <a:extLst>
              <a:ext uri="{FF2B5EF4-FFF2-40B4-BE49-F238E27FC236}">
                <a16:creationId xmlns:a16="http://schemas.microsoft.com/office/drawing/2014/main" id="{D80DCDB2-6CEC-E3A8-1FA8-51F489ADAF4F}"/>
              </a:ext>
            </a:extLst>
          </p:cNvPr>
          <p:cNvSpPr>
            <a:spLocks noChangeArrowheads="1"/>
          </p:cNvSpPr>
          <p:nvPr/>
        </p:nvSpPr>
        <p:spPr bwMode="gray">
          <a:xfrm>
            <a:off x="976313" y="2363788"/>
            <a:ext cx="2922587" cy="558800"/>
          </a:xfrm>
          <a:prstGeom prst="chevron">
            <a:avLst>
              <a:gd name="adj" fmla="val 44795"/>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22" tIns="73422" rIns="0" bIns="73422" anchor="ctr"/>
          <a:lstStyle>
            <a:lvl1pPr marL="95250"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35000"/>
              </a:spcBef>
              <a:buClrTx/>
              <a:buFontTx/>
              <a:buNone/>
            </a:pPr>
            <a:r>
              <a:rPr lang="en-GB" altLang="ko-KR" sz="1200">
                <a:ea typeface="가는각진제목체" panose="02030600000101010101" pitchFamily="18" charset="-127"/>
              </a:rPr>
              <a:t>Phase I</a:t>
            </a:r>
          </a:p>
          <a:p>
            <a:pPr algn="ctr">
              <a:lnSpc>
                <a:spcPct val="85000"/>
              </a:lnSpc>
              <a:spcBef>
                <a:spcPct val="35000"/>
              </a:spcBef>
              <a:buClrTx/>
              <a:buFontTx/>
              <a:buNone/>
            </a:pPr>
            <a:r>
              <a:rPr lang="en-GB" altLang="ko-KR" sz="1200">
                <a:ea typeface="가는각진제목체" panose="02030600000101010101" pitchFamily="18" charset="-127"/>
              </a:rPr>
              <a:t>Shared Services Strategy</a:t>
            </a:r>
          </a:p>
        </p:txBody>
      </p:sp>
      <p:sp>
        <p:nvSpPr>
          <p:cNvPr id="9230" name="Line 16">
            <a:extLst>
              <a:ext uri="{FF2B5EF4-FFF2-40B4-BE49-F238E27FC236}">
                <a16:creationId xmlns:a16="http://schemas.microsoft.com/office/drawing/2014/main" id="{22909EB4-FA6D-818A-111D-BEB8A9BEE80F}"/>
              </a:ext>
            </a:extLst>
          </p:cNvPr>
          <p:cNvSpPr>
            <a:spLocks noChangeShapeType="1"/>
          </p:cNvSpPr>
          <p:nvPr/>
        </p:nvSpPr>
        <p:spPr bwMode="auto">
          <a:xfrm flipH="1">
            <a:off x="3649663" y="2930525"/>
            <a:ext cx="0" cy="224790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9231" name="Line 17">
            <a:extLst>
              <a:ext uri="{FF2B5EF4-FFF2-40B4-BE49-F238E27FC236}">
                <a16:creationId xmlns:a16="http://schemas.microsoft.com/office/drawing/2014/main" id="{BB9DC12A-B9BB-C17E-41A3-6B8FC7D8A2B8}"/>
              </a:ext>
            </a:extLst>
          </p:cNvPr>
          <p:cNvSpPr>
            <a:spLocks noChangeShapeType="1"/>
          </p:cNvSpPr>
          <p:nvPr/>
        </p:nvSpPr>
        <p:spPr bwMode="auto">
          <a:xfrm flipH="1">
            <a:off x="9342438" y="2930525"/>
            <a:ext cx="0" cy="224790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9232" name="Line 18">
            <a:extLst>
              <a:ext uri="{FF2B5EF4-FFF2-40B4-BE49-F238E27FC236}">
                <a16:creationId xmlns:a16="http://schemas.microsoft.com/office/drawing/2014/main" id="{A63E3023-8A16-8162-73E8-34E4D4BC45F8}"/>
              </a:ext>
            </a:extLst>
          </p:cNvPr>
          <p:cNvSpPr>
            <a:spLocks noChangeShapeType="1"/>
          </p:cNvSpPr>
          <p:nvPr/>
        </p:nvSpPr>
        <p:spPr bwMode="auto">
          <a:xfrm flipH="1">
            <a:off x="6584950" y="2930525"/>
            <a:ext cx="0" cy="224790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9233" name="Line 19">
            <a:extLst>
              <a:ext uri="{FF2B5EF4-FFF2-40B4-BE49-F238E27FC236}">
                <a16:creationId xmlns:a16="http://schemas.microsoft.com/office/drawing/2014/main" id="{1E117B25-B6FF-2D9C-D819-7BB2EBB7B74E}"/>
              </a:ext>
            </a:extLst>
          </p:cNvPr>
          <p:cNvSpPr>
            <a:spLocks noChangeShapeType="1"/>
          </p:cNvSpPr>
          <p:nvPr/>
        </p:nvSpPr>
        <p:spPr bwMode="auto">
          <a:xfrm flipH="1">
            <a:off x="6475413" y="2930525"/>
            <a:ext cx="0" cy="224790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9234" name="Line 20">
            <a:extLst>
              <a:ext uri="{FF2B5EF4-FFF2-40B4-BE49-F238E27FC236}">
                <a16:creationId xmlns:a16="http://schemas.microsoft.com/office/drawing/2014/main" id="{CAE895CB-4C55-F741-2D5D-19CA903BBF53}"/>
              </a:ext>
            </a:extLst>
          </p:cNvPr>
          <p:cNvSpPr>
            <a:spLocks noChangeShapeType="1"/>
          </p:cNvSpPr>
          <p:nvPr/>
        </p:nvSpPr>
        <p:spPr bwMode="auto">
          <a:xfrm flipH="1">
            <a:off x="3767138" y="2930525"/>
            <a:ext cx="0" cy="224790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9236" name="AutoShape 21">
            <a:extLst>
              <a:ext uri="{FF2B5EF4-FFF2-40B4-BE49-F238E27FC236}">
                <a16:creationId xmlns:a16="http://schemas.microsoft.com/office/drawing/2014/main" id="{D23AD1AE-E995-E1CA-146B-CB5261302760}"/>
              </a:ext>
            </a:extLst>
          </p:cNvPr>
          <p:cNvSpPr>
            <a:spLocks noChangeArrowheads="1"/>
          </p:cNvSpPr>
          <p:nvPr/>
        </p:nvSpPr>
        <p:spPr bwMode="auto">
          <a:xfrm>
            <a:off x="2451100" y="5334000"/>
            <a:ext cx="7192963" cy="479425"/>
          </a:xfrm>
          <a:prstGeom prst="chevron">
            <a:avLst>
              <a:gd name="adj" fmla="val 47372"/>
            </a:avLst>
          </a:prstGeom>
          <a:solidFill>
            <a:schemeClr val="tx1">
              <a:lumMod val="95000"/>
              <a:lumOff val="5000"/>
            </a:schemeClr>
          </a:solidFill>
          <a:ln w="12700" algn="ctr">
            <a:solidFill>
              <a:schemeClr val="bg2"/>
            </a:solidFill>
            <a:miter lim="800000"/>
          </a:ln>
          <a:effectLst/>
        </p:spPr>
        <p:txBody>
          <a:bodyPr lIns="73446" tIns="73446" rIns="73446" bIns="73446" anchor="ctr"/>
          <a:lstStyle>
            <a:lvl1pPr marL="128588"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defRPr/>
            </a:pPr>
            <a:r>
              <a:rPr lang="en-US" altLang="ko-KR" sz="1200">
                <a:solidFill>
                  <a:schemeClr val="bg1"/>
                </a:solidFill>
                <a:ea typeface="굴림" panose="020b0600000101010101" pitchFamily="50" charset="-127"/>
              </a:rPr>
              <a:t>Communication and Change Management</a:t>
            </a:r>
          </a:p>
        </p:txBody>
      </p:sp>
      <p:sp>
        <p:nvSpPr>
          <p:cNvPr id="2" name="Text Box 22">
            <a:extLst>
              <a:ext uri="{FF2B5EF4-FFF2-40B4-BE49-F238E27FC236}">
                <a16:creationId xmlns:a16="http://schemas.microsoft.com/office/drawing/2014/main" id="{94907493-B8B9-939E-F767-7DCF7AFBE393}"/>
              </a:ext>
            </a:extLst>
          </p:cNvPr>
          <p:cNvSpPr txBox="1">
            <a:spLocks noChangeArrowheads="1"/>
          </p:cNvSpPr>
          <p:nvPr/>
        </p:nvSpPr>
        <p:spPr bwMode="auto">
          <a:xfrm>
            <a:off x="168275" y="2357438"/>
            <a:ext cx="674688" cy="473075"/>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0838" indent="-1666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38163" indent="-1857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17550" indent="-177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200">
                <a:ea typeface="굴림" panose="020b0600000101010101" pitchFamily="34" charset="-127"/>
              </a:rPr>
              <a:t>Key </a:t>
            </a:r>
            <a:br>
              <a:rPr lang="en-US" altLang="ko-KR" sz="1200">
                <a:ea typeface="굴림" panose="020b0600000101010101" pitchFamily="34" charset="-127"/>
              </a:rPr>
            </a:br>
            <a:r>
              <a:rPr lang="en-US" altLang="ko-KR" sz="1200">
                <a:ea typeface="굴림" panose="020b0600000101010101" pitchFamily="34" charset="-127"/>
              </a:rPr>
              <a:t>Phases</a:t>
            </a:r>
          </a:p>
        </p:txBody>
      </p:sp>
      <p:sp>
        <p:nvSpPr>
          <p:cNvPr id="9237" name="Rectangle 23">
            <a:extLst>
              <a:ext uri="{FF2B5EF4-FFF2-40B4-BE49-F238E27FC236}">
                <a16:creationId xmlns:a16="http://schemas.microsoft.com/office/drawing/2014/main" id="{DB3F5A71-69FC-FAB8-73A5-B3612FF7451E}"/>
              </a:ext>
            </a:extLst>
          </p:cNvPr>
          <p:cNvSpPr>
            <a:spLocks noChangeArrowheads="1"/>
          </p:cNvSpPr>
          <p:nvPr/>
        </p:nvSpPr>
        <p:spPr bwMode="auto">
          <a:xfrm>
            <a:off x="6619875" y="2963863"/>
            <a:ext cx="2640013" cy="195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36575" indent="-1778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44575" indent="-149225"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358900" indent="-134938"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687513" indent="-149225"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447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019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591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163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0000"/>
              </a:spcBef>
              <a:buFontTx/>
              <a:buChar char="•"/>
            </a:pPr>
            <a:r>
              <a:rPr lang="en-GB" altLang="ko-KR" sz="1000" b="0"/>
              <a:t>Focus on the client situation and context</a:t>
            </a:r>
          </a:p>
          <a:p>
            <a:pPr>
              <a:lnSpc>
                <a:spcPct val="100000"/>
              </a:lnSpc>
              <a:spcBef>
                <a:spcPct val="10000"/>
              </a:spcBef>
              <a:buFontTx/>
              <a:buChar char="•"/>
            </a:pPr>
            <a:r>
              <a:rPr lang="en-GB" altLang="ko-KR" sz="1000" b="0"/>
              <a:t>Very close cooperation with client mgmt</a:t>
            </a:r>
          </a:p>
          <a:p>
            <a:pPr>
              <a:lnSpc>
                <a:spcPct val="100000"/>
              </a:lnSpc>
              <a:spcBef>
                <a:spcPct val="10000"/>
              </a:spcBef>
              <a:buFontTx/>
              <a:buChar char="•"/>
            </a:pPr>
            <a:r>
              <a:rPr lang="en-GB" altLang="ko-KR" sz="1000" b="0"/>
              <a:t>Workshop mode of operation, role of coaching</a:t>
            </a:r>
          </a:p>
          <a:p>
            <a:pPr>
              <a:lnSpc>
                <a:spcPct val="100000"/>
              </a:lnSpc>
              <a:spcBef>
                <a:spcPct val="10000"/>
              </a:spcBef>
              <a:buFontTx/>
              <a:buChar char="•"/>
            </a:pPr>
            <a:r>
              <a:rPr lang="en-GB" altLang="ko-KR" sz="1000" b="0"/>
              <a:t>Create the spirit of competition</a:t>
            </a:r>
          </a:p>
          <a:p>
            <a:pPr>
              <a:lnSpc>
                <a:spcPct val="100000"/>
              </a:lnSpc>
              <a:spcBef>
                <a:spcPct val="10000"/>
              </a:spcBef>
              <a:buFontTx/>
              <a:buChar char="•"/>
            </a:pPr>
            <a:r>
              <a:rPr lang="en-GB" altLang="ko-KR" sz="1000" b="0"/>
              <a:t>Conduct as much parallel activities as possible</a:t>
            </a:r>
          </a:p>
          <a:p>
            <a:pPr>
              <a:lnSpc>
                <a:spcPct val="100000"/>
              </a:lnSpc>
              <a:spcBef>
                <a:spcPct val="10000"/>
              </a:spcBef>
              <a:buFontTx/>
              <a:buChar char="•"/>
            </a:pPr>
            <a:r>
              <a:rPr lang="en-GB" altLang="ko-KR" sz="1000" b="0"/>
              <a:t>Ownership</a:t>
            </a:r>
          </a:p>
          <a:p>
            <a:pPr>
              <a:lnSpc>
                <a:spcPct val="100000"/>
              </a:lnSpc>
              <a:spcBef>
                <a:spcPct val="10000"/>
              </a:spcBef>
              <a:buFontTx/>
              <a:buChar char="•"/>
            </a:pPr>
            <a:r>
              <a:rPr lang="en-GB" altLang="ko-KR" sz="1000" b="0"/>
              <a:t>Best practise (known representatives)</a:t>
            </a:r>
          </a:p>
          <a:p>
            <a:pPr>
              <a:lnSpc>
                <a:spcPct val="100000"/>
              </a:lnSpc>
              <a:spcBef>
                <a:spcPct val="10000"/>
              </a:spcBef>
              <a:buFontTx/>
              <a:buChar char="•"/>
            </a:pPr>
            <a:r>
              <a:rPr lang="en-GB" altLang="ko-KR" sz="1000" b="0"/>
              <a:t>Communication</a:t>
            </a:r>
          </a:p>
          <a:p>
            <a:pPr>
              <a:lnSpc>
                <a:spcPct val="100000"/>
              </a:lnSpc>
              <a:spcBef>
                <a:spcPct val="10000"/>
              </a:spcBef>
              <a:buFontTx/>
              <a:buChar char="•"/>
            </a:pPr>
            <a:r>
              <a:rPr lang="en-GB" altLang="ko-KR" sz="1000" b="0"/>
              <a:t>Special attention to Legal, HR topics (IT topics only secondary) </a:t>
            </a:r>
          </a:p>
        </p:txBody>
      </p:sp>
      <p:sp>
        <p:nvSpPr>
          <p:cNvPr id="9238" name="Rectangle 24">
            <a:extLst>
              <a:ext uri="{FF2B5EF4-FFF2-40B4-BE49-F238E27FC236}">
                <a16:creationId xmlns:a16="http://schemas.microsoft.com/office/drawing/2014/main" id="{054F6A85-9D24-A894-9648-393F656D2DA5}"/>
              </a:ext>
            </a:extLst>
          </p:cNvPr>
          <p:cNvSpPr>
            <a:spLocks noChangeArrowheads="1"/>
          </p:cNvSpPr>
          <p:nvPr/>
        </p:nvSpPr>
        <p:spPr bwMode="auto">
          <a:xfrm>
            <a:off x="2897188" y="5897563"/>
            <a:ext cx="2638425" cy="657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82563" indent="-92075"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44575" indent="-149225"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358900" indent="-134938"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687513" indent="-149225"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447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019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591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163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0000"/>
              </a:spcBef>
              <a:buFontTx/>
              <a:buChar char="•"/>
            </a:pPr>
            <a:r>
              <a:rPr lang="en-US" altLang="ko-KR" sz="1000" b="0">
                <a:ea typeface="굴림" panose="020b0600000101010101" pitchFamily="34" charset="-127"/>
              </a:rPr>
              <a:t>Communicate </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project objectives</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project progress</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agreed SSC blue print</a:t>
            </a:r>
          </a:p>
        </p:txBody>
      </p:sp>
      <p:sp>
        <p:nvSpPr>
          <p:cNvPr id="9239" name="Rectangle 25">
            <a:extLst>
              <a:ext uri="{FF2B5EF4-FFF2-40B4-BE49-F238E27FC236}">
                <a16:creationId xmlns:a16="http://schemas.microsoft.com/office/drawing/2014/main" id="{14C3A041-CF73-BBAC-F07F-255B2CBCFEB9}"/>
              </a:ext>
            </a:extLst>
          </p:cNvPr>
          <p:cNvSpPr>
            <a:spLocks noChangeArrowheads="1"/>
          </p:cNvSpPr>
          <p:nvPr/>
        </p:nvSpPr>
        <p:spPr bwMode="auto">
          <a:xfrm>
            <a:off x="5835650" y="5897563"/>
            <a:ext cx="2638425" cy="4730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36575" indent="-1778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44575" indent="-149225"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358900" indent="-134938"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687513" indent="-149225"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447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019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591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163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0000"/>
              </a:spcBef>
              <a:buFontTx/>
              <a:buChar char="•"/>
            </a:pPr>
            <a:r>
              <a:rPr lang="en-US" altLang="ko-KR" sz="1000" b="0">
                <a:ea typeface="굴림" panose="020b0600000101010101" pitchFamily="34" charset="-127"/>
              </a:rPr>
              <a:t>Communicate the project conceptual phase outcome</a:t>
            </a:r>
          </a:p>
          <a:p>
            <a:pPr>
              <a:lnSpc>
                <a:spcPct val="100000"/>
              </a:lnSpc>
              <a:spcBef>
                <a:spcPct val="10000"/>
              </a:spcBef>
              <a:buFontTx/>
              <a:buChar char="•"/>
            </a:pPr>
            <a:r>
              <a:rPr lang="en-US" altLang="ko-KR" sz="1000" b="0">
                <a:ea typeface="굴림" panose="020b0600000101010101" pitchFamily="34" charset="-127"/>
              </a:rPr>
              <a:t>Implementation communication</a:t>
            </a:r>
            <a:endParaRPr lang="en-GB" altLang="ko-KR" sz="1000" b="0"/>
          </a:p>
        </p:txBody>
      </p:sp>
      <p:sp>
        <p:nvSpPr>
          <p:cNvPr id="9240" name="Text Box 26">
            <a:extLst>
              <a:ext uri="{FF2B5EF4-FFF2-40B4-BE49-F238E27FC236}">
                <a16:creationId xmlns:a16="http://schemas.microsoft.com/office/drawing/2014/main" id="{5652EC28-E853-3159-AB5B-46502FD7F803}"/>
              </a:ext>
            </a:extLst>
          </p:cNvPr>
          <p:cNvSpPr txBox="1">
            <a:spLocks noChangeArrowheads="1"/>
          </p:cNvSpPr>
          <p:nvPr/>
        </p:nvSpPr>
        <p:spPr bwMode="gray">
          <a:xfrm>
            <a:off x="2025650" y="2028825"/>
            <a:ext cx="639763" cy="247650"/>
          </a:xfrm>
          <a:prstGeom prst="rect">
            <a:avLst/>
          </a:prstGeom>
          <a:solidFill>
            <a:schemeClr val="bg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889" tIns="40889" rIns="40889" bIns="40889" anchor="ctr">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i="1">
                <a:ea typeface="굴림" panose="020b0600000101010101" pitchFamily="34" charset="-127"/>
              </a:rPr>
              <a:t>3 weeks</a:t>
            </a:r>
          </a:p>
        </p:txBody>
      </p:sp>
      <p:sp>
        <p:nvSpPr>
          <p:cNvPr id="9241" name="Text Box 27">
            <a:extLst>
              <a:ext uri="{FF2B5EF4-FFF2-40B4-BE49-F238E27FC236}">
                <a16:creationId xmlns:a16="http://schemas.microsoft.com/office/drawing/2014/main" id="{2C1911A6-7EE3-0951-F809-FB9042B16228}"/>
              </a:ext>
            </a:extLst>
          </p:cNvPr>
          <p:cNvSpPr txBox="1">
            <a:spLocks noChangeArrowheads="1"/>
          </p:cNvSpPr>
          <p:nvPr/>
        </p:nvSpPr>
        <p:spPr bwMode="gray">
          <a:xfrm>
            <a:off x="4824413" y="2028825"/>
            <a:ext cx="639762" cy="247650"/>
          </a:xfrm>
          <a:prstGeom prst="rect">
            <a:avLst/>
          </a:prstGeom>
          <a:solidFill>
            <a:schemeClr val="bg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889" tIns="40889" rIns="40889" bIns="40889" anchor="ctr">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i="1">
                <a:ea typeface="굴림" panose="020b0600000101010101" pitchFamily="34" charset="-127"/>
              </a:rPr>
              <a:t>5 weeks</a:t>
            </a:r>
          </a:p>
        </p:txBody>
      </p:sp>
      <p:sp>
        <p:nvSpPr>
          <p:cNvPr id="9242" name="Text Box 28">
            <a:extLst>
              <a:ext uri="{FF2B5EF4-FFF2-40B4-BE49-F238E27FC236}">
                <a16:creationId xmlns:a16="http://schemas.microsoft.com/office/drawing/2014/main" id="{EAF3F2C4-49DA-A440-A77B-8920DB493876}"/>
              </a:ext>
            </a:extLst>
          </p:cNvPr>
          <p:cNvSpPr txBox="1">
            <a:spLocks noChangeArrowheads="1"/>
          </p:cNvSpPr>
          <p:nvPr/>
        </p:nvSpPr>
        <p:spPr bwMode="gray">
          <a:xfrm>
            <a:off x="7656513" y="2028825"/>
            <a:ext cx="723900" cy="247650"/>
          </a:xfrm>
          <a:prstGeom prst="rect">
            <a:avLst/>
          </a:prstGeom>
          <a:solidFill>
            <a:schemeClr val="bg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889" tIns="40889" rIns="40889" bIns="40889" anchor="ctr">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i="1">
                <a:ea typeface="굴림" panose="020b0600000101010101" pitchFamily="34" charset="-127"/>
              </a:rPr>
              <a:t>14 weeks</a:t>
            </a:r>
          </a:p>
        </p:txBody>
      </p:sp>
      <p:sp>
        <p:nvSpPr>
          <p:cNvPr id="9243" name="Rectangle 29">
            <a:extLst>
              <a:ext uri="{FF2B5EF4-FFF2-40B4-BE49-F238E27FC236}">
                <a16:creationId xmlns:a16="http://schemas.microsoft.com/office/drawing/2014/main" id="{6D8A4C06-963F-D2F7-C1F9-CF86D5FC35BB}"/>
              </a:ext>
            </a:extLst>
          </p:cNvPr>
          <p:cNvSpPr>
            <a:spLocks noChangeArrowheads="1"/>
          </p:cNvSpPr>
          <p:nvPr/>
        </p:nvSpPr>
        <p:spPr bwMode="auto">
          <a:xfrm>
            <a:off x="1008063" y="2963863"/>
            <a:ext cx="2638425" cy="21558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80975" indent="-90488"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44575" indent="-149225"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358900" indent="-134938"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687513" indent="-149225"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447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019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591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163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0000"/>
              </a:spcBef>
              <a:buFontTx/>
              <a:buChar char="•"/>
            </a:pPr>
            <a:r>
              <a:rPr lang="en-US" altLang="ko-KR" sz="1000" b="0">
                <a:ea typeface="굴림" panose="020b0600000101010101" pitchFamily="34" charset="-127"/>
              </a:rPr>
              <a:t>Conduct analysis of current status:</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HR capacities involved in functions in scope</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Costs related to functions in scope</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Equipment</a:t>
            </a:r>
          </a:p>
          <a:p>
            <a:pPr lvl="1">
              <a:lnSpc>
                <a:spcPct val="100000"/>
              </a:lnSpc>
              <a:spcBef>
                <a:spcPct val="10000"/>
              </a:spcBef>
              <a:buFont typeface="Arial" panose="020b0604020202020204" pitchFamily="34" charset="0"/>
              <a:buChar char="–"/>
            </a:pPr>
            <a:r>
              <a:rPr lang="en-US" altLang="ko-KR" sz="1000" b="0">
                <a:ea typeface="굴림" panose="020b0600000101010101" pitchFamily="34" charset="-127"/>
              </a:rPr>
              <a:t>Identify subsidiary specifics</a:t>
            </a:r>
          </a:p>
          <a:p>
            <a:pPr>
              <a:lnSpc>
                <a:spcPct val="100000"/>
              </a:lnSpc>
              <a:spcBef>
                <a:spcPct val="10000"/>
              </a:spcBef>
              <a:buFontTx/>
              <a:buChar char="•"/>
            </a:pPr>
            <a:r>
              <a:rPr lang="en-US" altLang="ko-KR" sz="1000" b="0">
                <a:ea typeface="굴림" panose="020b0600000101010101" pitchFamily="34" charset="-127"/>
              </a:rPr>
              <a:t>Identify savings and investments</a:t>
            </a:r>
          </a:p>
          <a:p>
            <a:pPr>
              <a:lnSpc>
                <a:spcPct val="100000"/>
              </a:lnSpc>
              <a:spcBef>
                <a:spcPct val="10000"/>
              </a:spcBef>
              <a:buFontTx/>
              <a:buChar char="•"/>
            </a:pPr>
            <a:r>
              <a:rPr lang="en-US" altLang="ko-KR" sz="1000" b="0">
                <a:ea typeface="굴림" panose="020b0600000101010101" pitchFamily="34" charset="-127"/>
              </a:rPr>
              <a:t>Build and agree upon viable business case</a:t>
            </a:r>
          </a:p>
          <a:p>
            <a:pPr>
              <a:lnSpc>
                <a:spcPct val="100000"/>
              </a:lnSpc>
              <a:spcBef>
                <a:spcPct val="10000"/>
              </a:spcBef>
              <a:buFontTx/>
              <a:buChar char="•"/>
            </a:pPr>
            <a:r>
              <a:rPr lang="en-US" altLang="ko-KR" sz="1000" b="0">
                <a:ea typeface="굴림" panose="020b0600000101010101" pitchFamily="34" charset="-127"/>
              </a:rPr>
              <a:t>Design required model for SSC</a:t>
            </a:r>
          </a:p>
          <a:p>
            <a:pPr>
              <a:lnSpc>
                <a:spcPct val="100000"/>
              </a:lnSpc>
              <a:spcBef>
                <a:spcPct val="10000"/>
              </a:spcBef>
              <a:buFontTx/>
              <a:buChar char="•"/>
            </a:pPr>
            <a:r>
              <a:rPr lang="en-US" altLang="ko-KR" sz="1000" b="0">
                <a:ea typeface="굴림" panose="020b0600000101010101" pitchFamily="34" charset="-127"/>
              </a:rPr>
              <a:t>Evaluate locations for SSC</a:t>
            </a:r>
          </a:p>
          <a:p>
            <a:pPr>
              <a:lnSpc>
                <a:spcPct val="100000"/>
              </a:lnSpc>
              <a:spcBef>
                <a:spcPct val="10000"/>
              </a:spcBef>
              <a:buFontTx/>
              <a:buChar char="•"/>
            </a:pPr>
            <a:r>
              <a:rPr lang="en-US" altLang="ko-KR" sz="1000" b="0">
                <a:ea typeface="굴림" panose="020b0600000101010101" pitchFamily="34" charset="-127"/>
              </a:rPr>
              <a:t>Identify requirements and design plan to achieve benefits</a:t>
            </a:r>
          </a:p>
          <a:p>
            <a:pPr>
              <a:lnSpc>
                <a:spcPct val="100000"/>
              </a:lnSpc>
              <a:spcBef>
                <a:spcPct val="10000"/>
              </a:spcBef>
              <a:buFontTx/>
              <a:buChar char="•"/>
            </a:pPr>
            <a:r>
              <a:rPr lang="en-US" altLang="ko-KR" sz="1000" b="0">
                <a:ea typeface="굴림" panose="020b0600000101010101" pitchFamily="34" charset="-127"/>
              </a:rPr>
              <a:t>Develop initial communication plan</a:t>
            </a:r>
          </a:p>
          <a:p>
            <a:pPr>
              <a:lnSpc>
                <a:spcPct val="100000"/>
              </a:lnSpc>
              <a:spcBef>
                <a:spcPct val="10000"/>
              </a:spcBef>
              <a:buFontTx/>
              <a:buChar char="•"/>
            </a:pPr>
            <a:endParaRPr lang="en-US" altLang="ko-KR" sz="1000" b="0">
              <a:ea typeface="굴림" panose="020b0600000101010101" pitchFamily="34" charset="-127"/>
            </a:endParaRPr>
          </a:p>
        </p:txBody>
      </p:sp>
      <p:sp>
        <p:nvSpPr>
          <p:cNvPr id="9244" name="Rectangle 30">
            <a:extLst>
              <a:ext uri="{FF2B5EF4-FFF2-40B4-BE49-F238E27FC236}">
                <a16:creationId xmlns:a16="http://schemas.microsoft.com/office/drawing/2014/main" id="{9B325066-B819-A4AB-5778-455F00151047}"/>
              </a:ext>
            </a:extLst>
          </p:cNvPr>
          <p:cNvSpPr>
            <a:spLocks noChangeArrowheads="1"/>
          </p:cNvSpPr>
          <p:nvPr/>
        </p:nvSpPr>
        <p:spPr bwMode="auto">
          <a:xfrm>
            <a:off x="3787775" y="2963863"/>
            <a:ext cx="2636838" cy="18034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defTabSz="895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36575" indent="-177800" defTabSz="8953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044575" indent="-149225" defTabSz="8953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358900" indent="-134938" defTabSz="8953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687513" indent="-149225" defTabSz="8953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447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019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591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16313" indent="-149225" defTabSz="8953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0000"/>
              </a:spcBef>
              <a:buFontTx/>
              <a:buChar char="•"/>
            </a:pPr>
            <a:r>
              <a:rPr lang="en-US" altLang="ko-KR" sz="1000" b="0">
                <a:ea typeface="굴림" panose="020b0600000101010101" pitchFamily="34" charset="-127"/>
              </a:rPr>
              <a:t>Documentation of key SSC processes, including interfaces</a:t>
            </a:r>
          </a:p>
          <a:p>
            <a:pPr>
              <a:lnSpc>
                <a:spcPct val="100000"/>
              </a:lnSpc>
              <a:spcBef>
                <a:spcPct val="10000"/>
              </a:spcBef>
              <a:buFontTx/>
              <a:buChar char="•"/>
            </a:pPr>
            <a:r>
              <a:rPr lang="en-US" altLang="ko-KR" sz="1000" b="0">
                <a:ea typeface="굴림" panose="020b0600000101010101" pitchFamily="34" charset="-127"/>
              </a:rPr>
              <a:t>Analysis of existing contractual agreements and / or service level agreements</a:t>
            </a:r>
          </a:p>
          <a:p>
            <a:pPr>
              <a:lnSpc>
                <a:spcPct val="100000"/>
              </a:lnSpc>
              <a:spcBef>
                <a:spcPct val="10000"/>
              </a:spcBef>
              <a:buFontTx/>
              <a:buChar char="•"/>
            </a:pPr>
            <a:r>
              <a:rPr lang="en-US" altLang="ko-KR" sz="1000" b="0">
                <a:ea typeface="굴림" panose="020b0600000101010101" pitchFamily="34" charset="-127"/>
              </a:rPr>
              <a:t>Documentation of all tasks</a:t>
            </a:r>
          </a:p>
          <a:p>
            <a:pPr>
              <a:lnSpc>
                <a:spcPct val="100000"/>
              </a:lnSpc>
              <a:spcBef>
                <a:spcPct val="10000"/>
              </a:spcBef>
              <a:buFontTx/>
              <a:buChar char="•"/>
            </a:pPr>
            <a:r>
              <a:rPr lang="en-US" altLang="ko-KR" sz="1000" b="0">
                <a:ea typeface="굴림" panose="020b0600000101010101" pitchFamily="34" charset="-127"/>
              </a:rPr>
              <a:t>Dimensioning of tasks and processes </a:t>
            </a:r>
          </a:p>
          <a:p>
            <a:pPr>
              <a:lnSpc>
                <a:spcPct val="100000"/>
              </a:lnSpc>
              <a:spcBef>
                <a:spcPct val="10000"/>
              </a:spcBef>
              <a:buFontTx/>
              <a:buChar char="•"/>
            </a:pPr>
            <a:r>
              <a:rPr lang="en-US" altLang="ko-KR" sz="1000" b="0">
                <a:ea typeface="굴림" panose="020b0600000101010101" pitchFamily="34" charset="-127"/>
              </a:rPr>
              <a:t>Definition of future targets</a:t>
            </a:r>
          </a:p>
          <a:p>
            <a:pPr>
              <a:lnSpc>
                <a:spcPct val="100000"/>
              </a:lnSpc>
              <a:spcBef>
                <a:spcPct val="10000"/>
              </a:spcBef>
              <a:buFontTx/>
              <a:buChar char="•"/>
            </a:pPr>
            <a:r>
              <a:rPr lang="en-US" altLang="ko-KR" sz="1000" b="0">
                <a:ea typeface="굴림" panose="020b0600000101010101" pitchFamily="34" charset="-127"/>
              </a:rPr>
              <a:t>Compile detailed tasks for implementation</a:t>
            </a:r>
          </a:p>
          <a:p>
            <a:pPr>
              <a:lnSpc>
                <a:spcPct val="100000"/>
              </a:lnSpc>
              <a:spcBef>
                <a:spcPct val="10000"/>
              </a:spcBef>
              <a:buFontTx/>
              <a:buChar char="•"/>
            </a:pPr>
            <a:r>
              <a:rPr lang="en-US" altLang="ko-KR" sz="1000" b="0">
                <a:ea typeface="굴림" panose="020b0600000101010101" pitchFamily="34" charset="-127"/>
              </a:rPr>
              <a:t>Compile master plan</a:t>
            </a:r>
          </a:p>
          <a:p>
            <a:pPr>
              <a:lnSpc>
                <a:spcPct val="100000"/>
              </a:lnSpc>
              <a:spcBef>
                <a:spcPct val="10000"/>
              </a:spcBef>
              <a:buFontTx/>
              <a:buChar char="•"/>
            </a:pPr>
            <a:r>
              <a:rPr lang="en-US" altLang="ko-KR" sz="1000" b="0">
                <a:ea typeface="굴림" panose="020b0600000101010101" pitchFamily="34" charset="-127"/>
              </a:rPr>
              <a:t>Set-up tracking infrastructure</a:t>
            </a:r>
          </a:p>
          <a:p>
            <a:pPr>
              <a:lnSpc>
                <a:spcPct val="100000"/>
              </a:lnSpc>
              <a:spcBef>
                <a:spcPct val="10000"/>
              </a:spcBef>
              <a:buFontTx/>
              <a:buChar char="•"/>
            </a:pPr>
            <a:endParaRPr lang="en-US" altLang="ko-KR" sz="1000" b="0">
              <a:ea typeface="굴림" panose="020b0600000101010101" pitchFamily="34" charset="-127"/>
            </a:endParaRPr>
          </a:p>
        </p:txBody>
      </p:sp>
      <p:sp>
        <p:nvSpPr>
          <p:cNvPr id="9245" name="Text Box 31">
            <a:extLst>
              <a:ext uri="{FF2B5EF4-FFF2-40B4-BE49-F238E27FC236}">
                <a16:creationId xmlns:a16="http://schemas.microsoft.com/office/drawing/2014/main" id="{BDE962D5-46DB-03AC-031D-B445925E21FD}"/>
              </a:ext>
            </a:extLst>
          </p:cNvPr>
          <p:cNvSpPr txBox="1">
            <a:spLocks noChangeArrowheads="1"/>
          </p:cNvSpPr>
          <p:nvPr/>
        </p:nvSpPr>
        <p:spPr bwMode="auto">
          <a:xfrm>
            <a:off x="168275" y="3757613"/>
            <a:ext cx="819150" cy="473075"/>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0838" indent="-1666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38163" indent="-1857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17550" indent="-177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200">
                <a:ea typeface="굴림" panose="020b0600000101010101" pitchFamily="34" charset="-127"/>
              </a:rPr>
              <a:t>Main</a:t>
            </a:r>
            <a:br>
              <a:rPr lang="en-US" altLang="ko-KR" sz="1200">
                <a:ea typeface="굴림" panose="020b0600000101010101" pitchFamily="34" charset="-127"/>
              </a:rPr>
            </a:br>
            <a:r>
              <a:rPr lang="en-US" altLang="ko-KR" sz="1200">
                <a:ea typeface="굴림" panose="020b0600000101010101" pitchFamily="34" charset="-127"/>
              </a:rPr>
              <a:t>Activities</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1265" name="Rectangle 2">
            <a:extLst>
              <a:ext uri="{FF2B5EF4-FFF2-40B4-BE49-F238E27FC236}">
                <a16:creationId xmlns:a16="http://schemas.microsoft.com/office/drawing/2014/main" id="{1914D090-F0FD-6D72-97BC-1F62C34F5D93}"/>
              </a:ext>
            </a:extLst>
          </p:cNvPr>
          <p:cNvSpPr>
            <a:spLocks noChangeArrowheads="1"/>
          </p:cNvSpPr>
          <p:nvPr/>
        </p:nvSpPr>
        <p:spPr bwMode="gray">
          <a:xfrm>
            <a:off x="1049338" y="3933825"/>
            <a:ext cx="8583612" cy="2360613"/>
          </a:xfrm>
          <a:prstGeom prst="rect">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11266" name="Rectangle 3">
            <a:extLst>
              <a:ext uri="{FF2B5EF4-FFF2-40B4-BE49-F238E27FC236}">
                <a16:creationId xmlns:a16="http://schemas.microsoft.com/office/drawing/2014/main" id="{CC551A0A-81D7-B9EC-9EC8-85C8C83461E2}"/>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The project of creating a shared service center (SSC) can be performed in three phases</a:t>
            </a:r>
          </a:p>
        </p:txBody>
      </p:sp>
      <p:sp>
        <p:nvSpPr>
          <p:cNvPr id="11267" name="Rectangle 4">
            <a:extLst>
              <a:ext uri="{FF2B5EF4-FFF2-40B4-BE49-F238E27FC236}">
                <a16:creationId xmlns:a16="http://schemas.microsoft.com/office/drawing/2014/main" id="{E36D4EAD-F2C1-B399-D92E-2E293FB4E5A4}"/>
              </a:ext>
            </a:extLst>
          </p:cNvPr>
          <p:cNvSpPr>
            <a:spLocks noChangeArrowheads="1"/>
          </p:cNvSpPr>
          <p:nvPr/>
        </p:nvSpPr>
        <p:spPr bwMode="auto">
          <a:xfrm>
            <a:off x="1368425" y="1614488"/>
            <a:ext cx="7653338"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ClrTx/>
              <a:buSzPct val="120000"/>
              <a:buFontTx/>
              <a:buNone/>
            </a:pPr>
            <a:r>
              <a:rPr lang="en-US" altLang="ko-KR" sz="1800">
                <a:solidFill>
                  <a:srgbClr val="000000"/>
                </a:solidFill>
                <a:ea typeface="굴림" panose="020b0600000101010101" pitchFamily="34" charset="-127"/>
              </a:rPr>
              <a:t>Project Approach – Detailed for Phase I</a:t>
            </a:r>
          </a:p>
        </p:txBody>
      </p:sp>
      <p:sp>
        <p:nvSpPr>
          <p:cNvPr id="11268" name="Text Box 5">
            <a:extLst>
              <a:ext uri="{FF2B5EF4-FFF2-40B4-BE49-F238E27FC236}">
                <a16:creationId xmlns:a16="http://schemas.microsoft.com/office/drawing/2014/main" id="{4A981EBF-A24D-686B-CD37-36CB425E2D73}"/>
              </a:ext>
            </a:extLst>
          </p:cNvPr>
          <p:cNvSpPr txBox="1">
            <a:spLocks noChangeArrowheads="1"/>
          </p:cNvSpPr>
          <p:nvPr/>
        </p:nvSpPr>
        <p:spPr bwMode="auto">
          <a:xfrm>
            <a:off x="1009650" y="3949700"/>
            <a:ext cx="4078288" cy="1149350"/>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446" tIns="73446" rIns="73446" bIns="73446">
            <a:spAutoFit/>
          </a:bodyPr>
          <a:lstStyle>
            <a:lvl1pPr marL="95250" indent="-95250"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49263" indent="-17145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20738"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185863"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5000"/>
              </a:spcBef>
              <a:buFontTx/>
              <a:buChar char="•"/>
            </a:pPr>
            <a:r>
              <a:rPr lang="en-US" altLang="ko-KR" sz="1000" b="0">
                <a:ea typeface="굴림" panose="020b0600000101010101" pitchFamily="34" charset="-127"/>
              </a:rPr>
              <a:t>Conduct </a:t>
            </a:r>
            <a:r>
              <a:rPr lang="en-US" altLang="ko-KR" sz="1000">
                <a:ea typeface="굴림" panose="020b0600000101010101" pitchFamily="34" charset="-127"/>
              </a:rPr>
              <a:t>baseline analysis</a:t>
            </a:r>
          </a:p>
          <a:p>
            <a:pPr>
              <a:lnSpc>
                <a:spcPct val="100000"/>
              </a:lnSpc>
              <a:spcBef>
                <a:spcPct val="15000"/>
              </a:spcBef>
              <a:buFontTx/>
              <a:buChar char="•"/>
            </a:pPr>
            <a:r>
              <a:rPr lang="en-US" altLang="ko-KR" sz="1000" b="0">
                <a:ea typeface="굴림" panose="020b0600000101010101" pitchFamily="34" charset="-127"/>
              </a:rPr>
              <a:t>Understand</a:t>
            </a:r>
            <a:r>
              <a:rPr lang="en-US" altLang="ko-KR" sz="1000">
                <a:ea typeface="굴림" panose="020b0600000101010101" pitchFamily="34" charset="-127"/>
              </a:rPr>
              <a:t> strategic role </a:t>
            </a:r>
            <a:r>
              <a:rPr lang="en-US" altLang="ko-KR" sz="1000" b="0">
                <a:ea typeface="굴림" panose="020b0600000101010101" pitchFamily="34" charset="-127"/>
              </a:rPr>
              <a:t>of SSC  </a:t>
            </a:r>
          </a:p>
          <a:p>
            <a:pPr>
              <a:lnSpc>
                <a:spcPct val="100000"/>
              </a:lnSpc>
              <a:spcBef>
                <a:spcPct val="15000"/>
              </a:spcBef>
              <a:buFontTx/>
              <a:buChar char="•"/>
            </a:pPr>
            <a:r>
              <a:rPr lang="en-US" altLang="ko-KR" sz="1000" b="0">
                <a:ea typeface="굴림" panose="020b0600000101010101" pitchFamily="34" charset="-127"/>
              </a:rPr>
              <a:t>Define </a:t>
            </a:r>
            <a:r>
              <a:rPr lang="en-US" altLang="ko-KR" sz="1000">
                <a:ea typeface="굴림" panose="020b0600000101010101" pitchFamily="34" charset="-127"/>
              </a:rPr>
              <a:t>scope of SSC</a:t>
            </a:r>
            <a:r>
              <a:rPr lang="en-US" altLang="ko-KR" sz="1000" b="0">
                <a:ea typeface="굴림" panose="020b0600000101010101" pitchFamily="34" charset="-127"/>
              </a:rPr>
              <a:t> and develop </a:t>
            </a:r>
            <a:r>
              <a:rPr lang="en-US" altLang="ko-KR" sz="1000">
                <a:ea typeface="굴림" panose="020b0600000101010101" pitchFamily="34" charset="-127"/>
              </a:rPr>
              <a:t>initial vision</a:t>
            </a:r>
            <a:r>
              <a:rPr lang="en-US" altLang="ko-KR" sz="1000" b="0">
                <a:ea typeface="굴림" panose="020b0600000101010101" pitchFamily="34" charset="-127"/>
              </a:rPr>
              <a:t> for each function to be included</a:t>
            </a:r>
          </a:p>
          <a:p>
            <a:pPr>
              <a:lnSpc>
                <a:spcPct val="100000"/>
              </a:lnSpc>
              <a:spcBef>
                <a:spcPct val="15000"/>
              </a:spcBef>
              <a:buFontTx/>
              <a:buChar char="•"/>
            </a:pPr>
            <a:r>
              <a:rPr lang="en-US" altLang="ko-KR" sz="1000" b="0">
                <a:ea typeface="굴림" panose="020b0600000101010101" pitchFamily="34" charset="-127"/>
              </a:rPr>
              <a:t>Build and agree upon </a:t>
            </a:r>
            <a:r>
              <a:rPr lang="en-US" altLang="ko-KR" sz="1000">
                <a:ea typeface="굴림" panose="020b0600000101010101" pitchFamily="34" charset="-127"/>
              </a:rPr>
              <a:t>viable business case</a:t>
            </a:r>
            <a:r>
              <a:rPr lang="en-US" altLang="ko-KR" sz="1000" b="0">
                <a:ea typeface="굴림" panose="020b0600000101010101" pitchFamily="34" charset="-127"/>
              </a:rPr>
              <a:t> </a:t>
            </a:r>
          </a:p>
          <a:p>
            <a:pPr>
              <a:lnSpc>
                <a:spcPct val="100000"/>
              </a:lnSpc>
              <a:spcBef>
                <a:spcPct val="15000"/>
              </a:spcBef>
              <a:buFontTx/>
              <a:buChar char="•"/>
            </a:pPr>
            <a:r>
              <a:rPr lang="en-US" altLang="ko-KR" sz="1000" b="0">
                <a:ea typeface="굴림" panose="020b0600000101010101" pitchFamily="34" charset="-127"/>
              </a:rPr>
              <a:t>Assess </a:t>
            </a:r>
            <a:r>
              <a:rPr lang="en-US" altLang="ko-KR" sz="1000">
                <a:ea typeface="굴림" panose="020b0600000101010101" pitchFamily="34" charset="-127"/>
              </a:rPr>
              <a:t>risks</a:t>
            </a:r>
            <a:r>
              <a:rPr lang="en-US" altLang="ko-KR" sz="1000" b="0">
                <a:ea typeface="굴림" panose="020b0600000101010101" pitchFamily="34" charset="-127"/>
              </a:rPr>
              <a:t> and </a:t>
            </a:r>
            <a:r>
              <a:rPr lang="en-US" altLang="ko-KR" sz="1000">
                <a:ea typeface="굴림" panose="020b0600000101010101" pitchFamily="34" charset="-127"/>
              </a:rPr>
              <a:t>mitigation strategies</a:t>
            </a:r>
          </a:p>
        </p:txBody>
      </p:sp>
      <p:sp>
        <p:nvSpPr>
          <p:cNvPr id="11269" name="Text Box 6">
            <a:extLst>
              <a:ext uri="{FF2B5EF4-FFF2-40B4-BE49-F238E27FC236}">
                <a16:creationId xmlns:a16="http://schemas.microsoft.com/office/drawing/2014/main" id="{B8AD5F49-65A0-AD01-6471-13A4038A39BC}"/>
              </a:ext>
            </a:extLst>
          </p:cNvPr>
          <p:cNvSpPr txBox="1">
            <a:spLocks noChangeArrowheads="1"/>
          </p:cNvSpPr>
          <p:nvPr/>
        </p:nvSpPr>
        <p:spPr bwMode="auto">
          <a:xfrm>
            <a:off x="5346700" y="3933825"/>
            <a:ext cx="4313238" cy="1171575"/>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446" tIns="73446" rIns="73446" bIns="73446">
            <a:spAutoFit/>
          </a:bodyPr>
          <a:lstStyle>
            <a:lvl1pPr marL="95250" indent="-95250"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49263" indent="-17145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20738"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185863"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5000"/>
              </a:spcBef>
              <a:buFontTx/>
              <a:buChar char="•"/>
            </a:pPr>
            <a:r>
              <a:rPr lang="en-US" altLang="ko-KR" sz="1000" b="0">
                <a:ea typeface="굴림" panose="020b0600000101010101" pitchFamily="34" charset="-127"/>
              </a:rPr>
              <a:t>Understand </a:t>
            </a:r>
            <a:r>
              <a:rPr lang="en-US" altLang="ko-KR" sz="1000">
                <a:ea typeface="굴림" panose="020b0600000101010101" pitchFamily="34" charset="-127"/>
              </a:rPr>
              <a:t>subsidiary issues</a:t>
            </a:r>
            <a:r>
              <a:rPr lang="en-US" altLang="ko-KR" sz="1000" b="0">
                <a:ea typeface="굴림" panose="020b0600000101010101" pitchFamily="34" charset="-127"/>
              </a:rPr>
              <a:t> and </a:t>
            </a:r>
            <a:r>
              <a:rPr lang="en-US" altLang="ko-KR" sz="1000">
                <a:ea typeface="굴림" panose="020b0600000101010101" pitchFamily="34" charset="-127"/>
              </a:rPr>
              <a:t>complexity drivers</a:t>
            </a:r>
          </a:p>
          <a:p>
            <a:pPr>
              <a:lnSpc>
                <a:spcPct val="100000"/>
              </a:lnSpc>
              <a:spcBef>
                <a:spcPct val="15000"/>
              </a:spcBef>
              <a:buFontTx/>
              <a:buChar char="•"/>
            </a:pPr>
            <a:r>
              <a:rPr lang="en-US" altLang="ko-KR" sz="1000" b="0">
                <a:ea typeface="굴림" panose="020b0600000101010101" pitchFamily="34" charset="-127"/>
              </a:rPr>
              <a:t>Design </a:t>
            </a:r>
            <a:r>
              <a:rPr lang="en-US" altLang="ko-KR" sz="1000">
                <a:ea typeface="굴림" panose="020b0600000101010101" pitchFamily="34" charset="-127"/>
              </a:rPr>
              <a:t>blueprint model</a:t>
            </a:r>
            <a:r>
              <a:rPr lang="en-US" altLang="ko-KR" sz="1000" b="0">
                <a:ea typeface="굴림" panose="020b0600000101010101" pitchFamily="34" charset="-127"/>
              </a:rPr>
              <a:t> for SSC</a:t>
            </a:r>
          </a:p>
          <a:p>
            <a:pPr>
              <a:lnSpc>
                <a:spcPct val="100000"/>
              </a:lnSpc>
              <a:spcBef>
                <a:spcPct val="15000"/>
              </a:spcBef>
              <a:buFontTx/>
              <a:buChar char="•"/>
            </a:pPr>
            <a:r>
              <a:rPr lang="en-US" altLang="ko-KR" sz="1000" b="0">
                <a:ea typeface="굴림" panose="020b0600000101010101" pitchFamily="34" charset="-127"/>
              </a:rPr>
              <a:t>Evaluate </a:t>
            </a:r>
            <a:r>
              <a:rPr lang="en-US" altLang="ko-KR" sz="1000">
                <a:ea typeface="굴림" panose="020b0600000101010101" pitchFamily="34" charset="-127"/>
              </a:rPr>
              <a:t>alternative locations</a:t>
            </a:r>
            <a:r>
              <a:rPr lang="en-US" altLang="ko-KR" sz="1000" b="0">
                <a:ea typeface="굴림" panose="020b0600000101010101" pitchFamily="34" charset="-127"/>
              </a:rPr>
              <a:t> for SSC</a:t>
            </a:r>
          </a:p>
          <a:p>
            <a:pPr>
              <a:lnSpc>
                <a:spcPct val="100000"/>
              </a:lnSpc>
              <a:spcBef>
                <a:spcPct val="15000"/>
              </a:spcBef>
              <a:buFontTx/>
              <a:buChar char="•"/>
            </a:pPr>
            <a:r>
              <a:rPr lang="en-US" altLang="ko-KR" sz="1000" b="0">
                <a:ea typeface="굴림" panose="020b0600000101010101" pitchFamily="34" charset="-127"/>
              </a:rPr>
              <a:t>Establish high-level </a:t>
            </a:r>
            <a:r>
              <a:rPr lang="en-US" altLang="ko-KR" sz="1000">
                <a:ea typeface="굴림" panose="020b0600000101010101" pitchFamily="34" charset="-127"/>
              </a:rPr>
              <a:t>transformation roadmap</a:t>
            </a:r>
          </a:p>
          <a:p>
            <a:pPr>
              <a:lnSpc>
                <a:spcPct val="100000"/>
              </a:lnSpc>
              <a:spcBef>
                <a:spcPct val="15000"/>
              </a:spcBef>
              <a:buFontTx/>
              <a:buChar char="•"/>
            </a:pPr>
            <a:r>
              <a:rPr lang="en-US" altLang="ko-KR" sz="1000" b="0">
                <a:ea typeface="굴림" panose="020b0600000101010101" pitchFamily="34" charset="-127"/>
              </a:rPr>
              <a:t>Identify </a:t>
            </a:r>
            <a:r>
              <a:rPr lang="en-US" altLang="ko-KR" sz="1000">
                <a:ea typeface="굴림" panose="020b0600000101010101" pitchFamily="34" charset="-127"/>
              </a:rPr>
              <a:t>requirements</a:t>
            </a:r>
            <a:r>
              <a:rPr lang="en-US" altLang="ko-KR" sz="1000" b="0">
                <a:ea typeface="굴림" panose="020b0600000101010101" pitchFamily="34" charset="-127"/>
              </a:rPr>
              <a:t> and design </a:t>
            </a:r>
            <a:r>
              <a:rPr lang="en-US" altLang="ko-KR" sz="1000">
                <a:ea typeface="굴림" panose="020b0600000101010101" pitchFamily="34" charset="-127"/>
              </a:rPr>
              <a:t>plan</a:t>
            </a:r>
            <a:r>
              <a:rPr lang="en-US" altLang="ko-KR" sz="1000" b="0">
                <a:ea typeface="굴림" panose="020b0600000101010101" pitchFamily="34" charset="-127"/>
              </a:rPr>
              <a:t> to achieve benefits</a:t>
            </a:r>
          </a:p>
          <a:p>
            <a:pPr>
              <a:lnSpc>
                <a:spcPct val="100000"/>
              </a:lnSpc>
              <a:spcBef>
                <a:spcPct val="15000"/>
              </a:spcBef>
              <a:buFontTx/>
              <a:buChar char="•"/>
            </a:pPr>
            <a:r>
              <a:rPr lang="en-US" altLang="ko-KR" sz="1000" b="0">
                <a:ea typeface="굴림" panose="020b0600000101010101" pitchFamily="34" charset="-127"/>
              </a:rPr>
              <a:t>Develop initial </a:t>
            </a:r>
            <a:r>
              <a:rPr lang="en-US" altLang="ko-KR" sz="1000">
                <a:ea typeface="굴림" panose="020b0600000101010101" pitchFamily="34" charset="-127"/>
              </a:rPr>
              <a:t>communication plan</a:t>
            </a:r>
          </a:p>
        </p:txBody>
      </p:sp>
      <p:sp>
        <p:nvSpPr>
          <p:cNvPr id="11270" name="Text Box 7">
            <a:extLst>
              <a:ext uri="{FF2B5EF4-FFF2-40B4-BE49-F238E27FC236}">
                <a16:creationId xmlns:a16="http://schemas.microsoft.com/office/drawing/2014/main" id="{C033B2E8-D215-B858-CC50-5A66BBCDD281}"/>
              </a:ext>
            </a:extLst>
          </p:cNvPr>
          <p:cNvSpPr txBox="1">
            <a:spLocks noChangeArrowheads="1"/>
          </p:cNvSpPr>
          <p:nvPr/>
        </p:nvSpPr>
        <p:spPr bwMode="auto">
          <a:xfrm>
            <a:off x="1009650" y="5353050"/>
            <a:ext cx="4070350" cy="996950"/>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446" tIns="73446" rIns="73446" bIns="73446">
            <a:spAutoFit/>
          </a:bodyPr>
          <a:lstStyle>
            <a:lvl1pPr marL="95250" indent="-95250"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4638" indent="-1778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20738"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185863"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5000"/>
              </a:spcBef>
              <a:buFontTx/>
              <a:buChar char="•"/>
            </a:pPr>
            <a:r>
              <a:rPr lang="en-US" altLang="ko-KR" sz="1000">
                <a:ea typeface="굴림" panose="020b0600000101010101" pitchFamily="34" charset="-127"/>
              </a:rPr>
              <a:t>Validated baseline</a:t>
            </a:r>
          </a:p>
          <a:p>
            <a:pPr>
              <a:lnSpc>
                <a:spcPct val="100000"/>
              </a:lnSpc>
              <a:spcBef>
                <a:spcPct val="15000"/>
              </a:spcBef>
              <a:buFontTx/>
              <a:buChar char="•"/>
            </a:pPr>
            <a:r>
              <a:rPr lang="en-US" altLang="ko-KR" sz="1000">
                <a:ea typeface="굴림" panose="020b0600000101010101" pitchFamily="34" charset="-127"/>
              </a:rPr>
              <a:t>Vision for SSC</a:t>
            </a:r>
          </a:p>
          <a:p>
            <a:pPr lvl="1">
              <a:lnSpc>
                <a:spcPct val="100000"/>
              </a:lnSpc>
              <a:spcBef>
                <a:spcPct val="15000"/>
              </a:spcBef>
              <a:buFont typeface="Arial" panose="020b0604020202020204" pitchFamily="34" charset="0"/>
              <a:buChar char="–"/>
            </a:pPr>
            <a:r>
              <a:rPr lang="en-US" altLang="ko-KR" sz="1000">
                <a:ea typeface="굴림" panose="020b0600000101010101" pitchFamily="34" charset="-127"/>
              </a:rPr>
              <a:t>scope definition</a:t>
            </a:r>
          </a:p>
          <a:p>
            <a:pPr lvl="1">
              <a:lnSpc>
                <a:spcPct val="100000"/>
              </a:lnSpc>
              <a:spcBef>
                <a:spcPct val="15000"/>
              </a:spcBef>
              <a:buFont typeface="Arial" panose="020b0604020202020204" pitchFamily="34" charset="0"/>
              <a:buChar char="–"/>
            </a:pPr>
            <a:r>
              <a:rPr lang="en-US" altLang="ko-KR" sz="1000">
                <a:ea typeface="굴림" panose="020b0600000101010101" pitchFamily="34" charset="-127"/>
              </a:rPr>
              <a:t>viable business case</a:t>
            </a:r>
          </a:p>
          <a:p>
            <a:pPr lvl="1">
              <a:lnSpc>
                <a:spcPct val="100000"/>
              </a:lnSpc>
              <a:spcBef>
                <a:spcPct val="15000"/>
              </a:spcBef>
              <a:buFont typeface="Arial" panose="020b0604020202020204" pitchFamily="34" charset="0"/>
              <a:buChar char="–"/>
            </a:pPr>
            <a:r>
              <a:rPr lang="en-US" altLang="ko-KR" sz="1000">
                <a:ea typeface="굴림" panose="020b0600000101010101" pitchFamily="34" charset="-127"/>
              </a:rPr>
              <a:t>risk assessment</a:t>
            </a:r>
          </a:p>
        </p:txBody>
      </p:sp>
      <p:sp>
        <p:nvSpPr>
          <p:cNvPr id="11271" name="Line 8">
            <a:extLst>
              <a:ext uri="{FF2B5EF4-FFF2-40B4-BE49-F238E27FC236}">
                <a16:creationId xmlns:a16="http://schemas.microsoft.com/office/drawing/2014/main" id="{61DA3E56-5A2F-01F4-5345-34767B843868}"/>
              </a:ext>
            </a:extLst>
          </p:cNvPr>
          <p:cNvSpPr>
            <a:spLocks noChangeShapeType="1"/>
          </p:cNvSpPr>
          <p:nvPr/>
        </p:nvSpPr>
        <p:spPr bwMode="auto">
          <a:xfrm flipH="1">
            <a:off x="1077913" y="5240338"/>
            <a:ext cx="8556625"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11272" name="Text Box 9">
            <a:extLst>
              <a:ext uri="{FF2B5EF4-FFF2-40B4-BE49-F238E27FC236}">
                <a16:creationId xmlns:a16="http://schemas.microsoft.com/office/drawing/2014/main" id="{574339BF-F1E8-E830-9EDD-90C85C9632C4}"/>
              </a:ext>
            </a:extLst>
          </p:cNvPr>
          <p:cNvSpPr txBox="1">
            <a:spLocks noChangeArrowheads="1"/>
          </p:cNvSpPr>
          <p:nvPr/>
        </p:nvSpPr>
        <p:spPr bwMode="auto">
          <a:xfrm>
            <a:off x="5346700" y="5216525"/>
            <a:ext cx="4313238" cy="996950"/>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446" tIns="73446" rIns="73446" bIns="73446">
            <a:spAutoFit/>
          </a:bodyPr>
          <a:lstStyle>
            <a:lvl1pPr marL="95250" indent="-95250"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49263" indent="-17145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20738"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185863"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15000"/>
              </a:spcBef>
              <a:buFontTx/>
              <a:buChar char="•"/>
            </a:pPr>
            <a:r>
              <a:rPr lang="en-US" altLang="ko-KR" sz="1000">
                <a:ea typeface="굴림" panose="020b0600000101010101" pitchFamily="34" charset="-127"/>
              </a:rPr>
              <a:t>List of issue and complexity drivers</a:t>
            </a:r>
          </a:p>
          <a:p>
            <a:pPr>
              <a:lnSpc>
                <a:spcPct val="100000"/>
              </a:lnSpc>
              <a:spcBef>
                <a:spcPct val="15000"/>
              </a:spcBef>
              <a:buFontTx/>
              <a:buChar char="•"/>
            </a:pPr>
            <a:r>
              <a:rPr lang="en-US" altLang="ko-KR" sz="1000">
                <a:ea typeface="굴림" panose="020b0600000101010101" pitchFamily="34" charset="-127"/>
              </a:rPr>
              <a:t>Blueprint model</a:t>
            </a:r>
          </a:p>
          <a:p>
            <a:pPr>
              <a:lnSpc>
                <a:spcPct val="100000"/>
              </a:lnSpc>
              <a:spcBef>
                <a:spcPct val="15000"/>
              </a:spcBef>
              <a:buFontTx/>
              <a:buChar char="•"/>
            </a:pPr>
            <a:r>
              <a:rPr lang="en-US" altLang="ko-KR" sz="1000">
                <a:ea typeface="굴림" panose="020b0600000101010101" pitchFamily="34" charset="-127"/>
              </a:rPr>
              <a:t>Location evaluation</a:t>
            </a:r>
          </a:p>
          <a:p>
            <a:pPr>
              <a:lnSpc>
                <a:spcPct val="100000"/>
              </a:lnSpc>
              <a:spcBef>
                <a:spcPct val="15000"/>
              </a:spcBef>
              <a:buFontTx/>
              <a:buChar char="•"/>
            </a:pPr>
            <a:r>
              <a:rPr lang="en-US" altLang="ko-KR" sz="1000">
                <a:ea typeface="굴림" panose="020b0600000101010101" pitchFamily="34" charset="-127"/>
              </a:rPr>
              <a:t>Implementation roadmap</a:t>
            </a:r>
          </a:p>
          <a:p>
            <a:pPr>
              <a:lnSpc>
                <a:spcPct val="100000"/>
              </a:lnSpc>
              <a:spcBef>
                <a:spcPct val="15000"/>
              </a:spcBef>
              <a:buFontTx/>
              <a:buChar char="•"/>
            </a:pPr>
            <a:r>
              <a:rPr lang="en-US" altLang="ko-KR" sz="1000">
                <a:ea typeface="굴림" panose="020b0600000101010101" pitchFamily="34" charset="-127"/>
              </a:rPr>
              <a:t>Initial communication plan</a:t>
            </a:r>
          </a:p>
        </p:txBody>
      </p:sp>
      <p:sp>
        <p:nvSpPr>
          <p:cNvPr id="11273" name="Line 10">
            <a:extLst>
              <a:ext uri="{FF2B5EF4-FFF2-40B4-BE49-F238E27FC236}">
                <a16:creationId xmlns:a16="http://schemas.microsoft.com/office/drawing/2014/main" id="{788DDB92-BF69-9BBC-FA16-2A956EA8ED28}"/>
              </a:ext>
            </a:extLst>
          </p:cNvPr>
          <p:cNvSpPr>
            <a:spLocks noChangeShapeType="1"/>
          </p:cNvSpPr>
          <p:nvPr/>
        </p:nvSpPr>
        <p:spPr bwMode="auto">
          <a:xfrm>
            <a:off x="271463" y="3116263"/>
            <a:ext cx="746125" cy="83185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11274" name="Text Box 11">
            <a:extLst>
              <a:ext uri="{FF2B5EF4-FFF2-40B4-BE49-F238E27FC236}">
                <a16:creationId xmlns:a16="http://schemas.microsoft.com/office/drawing/2014/main" id="{F5C92AF7-6222-1060-F0AE-2B907F468410}"/>
              </a:ext>
            </a:extLst>
          </p:cNvPr>
          <p:cNvSpPr txBox="1">
            <a:spLocks noChangeArrowheads="1"/>
          </p:cNvSpPr>
          <p:nvPr/>
        </p:nvSpPr>
        <p:spPr bwMode="auto">
          <a:xfrm rot="-5400000">
            <a:off x="227013" y="5605463"/>
            <a:ext cx="1041400" cy="311150"/>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446" tIns="73446" rIns="73446" bIns="73446">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Deliverables</a:t>
            </a:r>
          </a:p>
        </p:txBody>
      </p:sp>
      <p:sp>
        <p:nvSpPr>
          <p:cNvPr id="11275" name="Text Box 12">
            <a:extLst>
              <a:ext uri="{FF2B5EF4-FFF2-40B4-BE49-F238E27FC236}">
                <a16:creationId xmlns:a16="http://schemas.microsoft.com/office/drawing/2014/main" id="{44257E0B-062F-1B1B-4D37-8F5488037FC1}"/>
              </a:ext>
            </a:extLst>
          </p:cNvPr>
          <p:cNvSpPr txBox="1">
            <a:spLocks noChangeArrowheads="1"/>
          </p:cNvSpPr>
          <p:nvPr/>
        </p:nvSpPr>
        <p:spPr bwMode="auto">
          <a:xfrm rot="-5400000">
            <a:off x="187325" y="4414838"/>
            <a:ext cx="1117600" cy="311150"/>
          </a:xfrm>
          <a:prstGeom prst="rect">
            <a:avLst/>
          </a:prstGeom>
          <a:noFill/>
          <a:ln>
            <a:noFill/>
          </a:ln>
          <a:effectLst/>
          <a:extLst>
            <a:ext uri="{909E8E84-426E-40DD-AFC4-6F175D3DCCD1}">
              <a14:hiddenFill xmlns:a14="http://schemas.microsoft.com/office/drawing/2010/main">
                <a:solidFill>
                  <a:srgbClr val="DCDCDC"/>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446" tIns="73446" rIns="73446" bIns="73446">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Key activities</a:t>
            </a:r>
          </a:p>
        </p:txBody>
      </p:sp>
      <p:sp>
        <p:nvSpPr>
          <p:cNvPr id="11276" name="Rectangle 13">
            <a:extLst>
              <a:ext uri="{FF2B5EF4-FFF2-40B4-BE49-F238E27FC236}">
                <a16:creationId xmlns:a16="http://schemas.microsoft.com/office/drawing/2014/main" id="{472E5868-B198-9C24-952A-CC8DCB4593DD}"/>
              </a:ext>
            </a:extLst>
          </p:cNvPr>
          <p:cNvSpPr>
            <a:spLocks noChangeArrowheads="1"/>
          </p:cNvSpPr>
          <p:nvPr/>
        </p:nvSpPr>
        <p:spPr bwMode="auto">
          <a:xfrm>
            <a:off x="3695700" y="5310188"/>
            <a:ext cx="187325" cy="134937"/>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solidFill>
                <a:schemeClr val="bg2"/>
              </a:solidFill>
              <a:ea typeface="가는각진제목체" panose="02030600000101010101" pitchFamily="18" charset="-127"/>
            </a:endParaRPr>
          </a:p>
        </p:txBody>
      </p:sp>
      <p:sp>
        <p:nvSpPr>
          <p:cNvPr id="11277" name="Rectangle 14">
            <a:extLst>
              <a:ext uri="{FF2B5EF4-FFF2-40B4-BE49-F238E27FC236}">
                <a16:creationId xmlns:a16="http://schemas.microsoft.com/office/drawing/2014/main" id="{F4FDE043-899B-2ADB-61ED-9EE100ADB3A9}"/>
              </a:ext>
            </a:extLst>
          </p:cNvPr>
          <p:cNvSpPr>
            <a:spLocks noChangeArrowheads="1"/>
          </p:cNvSpPr>
          <p:nvPr/>
        </p:nvSpPr>
        <p:spPr bwMode="auto">
          <a:xfrm>
            <a:off x="3695700" y="5667375"/>
            <a:ext cx="187325" cy="13335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solidFill>
                <a:schemeClr val="bg2"/>
              </a:solidFill>
              <a:ea typeface="가는각진제목체" panose="02030600000101010101" pitchFamily="18" charset="-127"/>
            </a:endParaRPr>
          </a:p>
        </p:txBody>
      </p:sp>
      <p:sp>
        <p:nvSpPr>
          <p:cNvPr id="11278" name="Rectangle 15">
            <a:extLst>
              <a:ext uri="{FF2B5EF4-FFF2-40B4-BE49-F238E27FC236}">
                <a16:creationId xmlns:a16="http://schemas.microsoft.com/office/drawing/2014/main" id="{02FE1506-C7DC-4B43-409A-5C82A6DA2ADF}"/>
              </a:ext>
            </a:extLst>
          </p:cNvPr>
          <p:cNvSpPr>
            <a:spLocks noChangeArrowheads="1"/>
          </p:cNvSpPr>
          <p:nvPr/>
        </p:nvSpPr>
        <p:spPr bwMode="auto">
          <a:xfrm>
            <a:off x="3695700" y="5843588"/>
            <a:ext cx="187325" cy="134937"/>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solidFill>
                <a:schemeClr val="bg2"/>
              </a:solidFill>
              <a:ea typeface="가는각진제목체" panose="02030600000101010101" pitchFamily="18" charset="-127"/>
            </a:endParaRPr>
          </a:p>
        </p:txBody>
      </p:sp>
      <p:sp>
        <p:nvSpPr>
          <p:cNvPr id="11279" name="Rectangle 16">
            <a:extLst>
              <a:ext uri="{FF2B5EF4-FFF2-40B4-BE49-F238E27FC236}">
                <a16:creationId xmlns:a16="http://schemas.microsoft.com/office/drawing/2014/main" id="{7FAEC873-6FDD-A293-2B86-E79FBEC45B7A}"/>
              </a:ext>
            </a:extLst>
          </p:cNvPr>
          <p:cNvSpPr>
            <a:spLocks noChangeArrowheads="1"/>
          </p:cNvSpPr>
          <p:nvPr/>
        </p:nvSpPr>
        <p:spPr bwMode="auto">
          <a:xfrm>
            <a:off x="3695700" y="6016625"/>
            <a:ext cx="187325" cy="134938"/>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solidFill>
                <a:schemeClr val="bg2"/>
              </a:solidFill>
              <a:ea typeface="가는각진제목체" panose="02030600000101010101" pitchFamily="18" charset="-127"/>
            </a:endParaRPr>
          </a:p>
        </p:txBody>
      </p:sp>
      <p:sp>
        <p:nvSpPr>
          <p:cNvPr id="11280" name="Text Box 17">
            <a:extLst>
              <a:ext uri="{FF2B5EF4-FFF2-40B4-BE49-F238E27FC236}">
                <a16:creationId xmlns:a16="http://schemas.microsoft.com/office/drawing/2014/main" id="{30B5988F-9120-7795-164B-35B65092F75D}"/>
              </a:ext>
            </a:extLst>
          </p:cNvPr>
          <p:cNvSpPr txBox="1">
            <a:spLocks noChangeArrowheads="1"/>
          </p:cNvSpPr>
          <p:nvPr/>
        </p:nvSpPr>
        <p:spPr bwMode="auto">
          <a:xfrm>
            <a:off x="3749675" y="5232400"/>
            <a:ext cx="23177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81" name="Text Box 18">
            <a:extLst>
              <a:ext uri="{FF2B5EF4-FFF2-40B4-BE49-F238E27FC236}">
                <a16:creationId xmlns:a16="http://schemas.microsoft.com/office/drawing/2014/main" id="{DBC1FDB1-0345-F1CA-B917-2DEA50A84FF6}"/>
              </a:ext>
            </a:extLst>
          </p:cNvPr>
          <p:cNvSpPr txBox="1">
            <a:spLocks noChangeArrowheads="1"/>
          </p:cNvSpPr>
          <p:nvPr/>
        </p:nvSpPr>
        <p:spPr bwMode="auto">
          <a:xfrm>
            <a:off x="3757613" y="5588000"/>
            <a:ext cx="23177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82" name="Text Box 19">
            <a:extLst>
              <a:ext uri="{FF2B5EF4-FFF2-40B4-BE49-F238E27FC236}">
                <a16:creationId xmlns:a16="http://schemas.microsoft.com/office/drawing/2014/main" id="{A2CF04E8-4DA8-4333-3D30-AE94926FB5D3}"/>
              </a:ext>
            </a:extLst>
          </p:cNvPr>
          <p:cNvSpPr txBox="1">
            <a:spLocks noChangeArrowheads="1"/>
          </p:cNvSpPr>
          <p:nvPr/>
        </p:nvSpPr>
        <p:spPr bwMode="auto">
          <a:xfrm>
            <a:off x="3743325" y="5759450"/>
            <a:ext cx="233363"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83" name="Text Box 20">
            <a:extLst>
              <a:ext uri="{FF2B5EF4-FFF2-40B4-BE49-F238E27FC236}">
                <a16:creationId xmlns:a16="http://schemas.microsoft.com/office/drawing/2014/main" id="{5CF8A6A2-B44D-EE12-0F4A-AD04FA9FEB38}"/>
              </a:ext>
            </a:extLst>
          </p:cNvPr>
          <p:cNvSpPr txBox="1">
            <a:spLocks noChangeArrowheads="1"/>
          </p:cNvSpPr>
          <p:nvPr/>
        </p:nvSpPr>
        <p:spPr bwMode="auto">
          <a:xfrm>
            <a:off x="3760788" y="5921375"/>
            <a:ext cx="233362"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84" name="Rectangle 21">
            <a:extLst>
              <a:ext uri="{FF2B5EF4-FFF2-40B4-BE49-F238E27FC236}">
                <a16:creationId xmlns:a16="http://schemas.microsoft.com/office/drawing/2014/main" id="{540964E0-E97E-C43A-7361-F773373FA562}"/>
              </a:ext>
            </a:extLst>
          </p:cNvPr>
          <p:cNvSpPr>
            <a:spLocks noChangeArrowheads="1"/>
          </p:cNvSpPr>
          <p:nvPr/>
        </p:nvSpPr>
        <p:spPr bwMode="auto">
          <a:xfrm>
            <a:off x="8213725" y="5327650"/>
            <a:ext cx="187325" cy="134938"/>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ea typeface="가는각진제목체" panose="02030600000101010101" pitchFamily="18" charset="-127"/>
            </a:endParaRPr>
          </a:p>
        </p:txBody>
      </p:sp>
      <p:sp>
        <p:nvSpPr>
          <p:cNvPr id="11285" name="Rectangle 22">
            <a:extLst>
              <a:ext uri="{FF2B5EF4-FFF2-40B4-BE49-F238E27FC236}">
                <a16:creationId xmlns:a16="http://schemas.microsoft.com/office/drawing/2014/main" id="{7E69B402-AA78-F5B4-D7F8-5AF4834C953E}"/>
              </a:ext>
            </a:extLst>
          </p:cNvPr>
          <p:cNvSpPr>
            <a:spLocks noChangeArrowheads="1"/>
          </p:cNvSpPr>
          <p:nvPr/>
        </p:nvSpPr>
        <p:spPr bwMode="auto">
          <a:xfrm>
            <a:off x="8213725" y="5684838"/>
            <a:ext cx="187325" cy="134937"/>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ea typeface="가는각진제목체" panose="02030600000101010101" pitchFamily="18" charset="-127"/>
            </a:endParaRPr>
          </a:p>
        </p:txBody>
      </p:sp>
      <p:sp>
        <p:nvSpPr>
          <p:cNvPr id="11286" name="Rectangle 23">
            <a:extLst>
              <a:ext uri="{FF2B5EF4-FFF2-40B4-BE49-F238E27FC236}">
                <a16:creationId xmlns:a16="http://schemas.microsoft.com/office/drawing/2014/main" id="{1151AE15-6CA0-D118-2F55-F4AAB27A1149}"/>
              </a:ext>
            </a:extLst>
          </p:cNvPr>
          <p:cNvSpPr>
            <a:spLocks noChangeArrowheads="1"/>
          </p:cNvSpPr>
          <p:nvPr/>
        </p:nvSpPr>
        <p:spPr bwMode="auto">
          <a:xfrm>
            <a:off x="8213725" y="5861050"/>
            <a:ext cx="187325" cy="134938"/>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ea typeface="가는각진제목체" panose="02030600000101010101" pitchFamily="18" charset="-127"/>
            </a:endParaRPr>
          </a:p>
        </p:txBody>
      </p:sp>
      <p:sp>
        <p:nvSpPr>
          <p:cNvPr id="11287" name="Rectangle 24">
            <a:extLst>
              <a:ext uri="{FF2B5EF4-FFF2-40B4-BE49-F238E27FC236}">
                <a16:creationId xmlns:a16="http://schemas.microsoft.com/office/drawing/2014/main" id="{06E8DE19-73D7-D15E-CD09-8C39B945B619}"/>
              </a:ext>
            </a:extLst>
          </p:cNvPr>
          <p:cNvSpPr>
            <a:spLocks noChangeArrowheads="1"/>
          </p:cNvSpPr>
          <p:nvPr/>
        </p:nvSpPr>
        <p:spPr bwMode="auto">
          <a:xfrm>
            <a:off x="8213725" y="6034088"/>
            <a:ext cx="187325" cy="134937"/>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ea typeface="가는각진제목체" panose="02030600000101010101" pitchFamily="18" charset="-127"/>
            </a:endParaRPr>
          </a:p>
        </p:txBody>
      </p:sp>
      <p:sp>
        <p:nvSpPr>
          <p:cNvPr id="11288" name="Text Box 25">
            <a:extLst>
              <a:ext uri="{FF2B5EF4-FFF2-40B4-BE49-F238E27FC236}">
                <a16:creationId xmlns:a16="http://schemas.microsoft.com/office/drawing/2014/main" id="{0B5E9C4B-9C89-3FB9-D5C2-F6BBDFD290D3}"/>
              </a:ext>
            </a:extLst>
          </p:cNvPr>
          <p:cNvSpPr txBox="1">
            <a:spLocks noChangeArrowheads="1"/>
          </p:cNvSpPr>
          <p:nvPr/>
        </p:nvSpPr>
        <p:spPr bwMode="auto">
          <a:xfrm>
            <a:off x="8280400" y="5249863"/>
            <a:ext cx="233363"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89" name="Text Box 26">
            <a:extLst>
              <a:ext uri="{FF2B5EF4-FFF2-40B4-BE49-F238E27FC236}">
                <a16:creationId xmlns:a16="http://schemas.microsoft.com/office/drawing/2014/main" id="{4141F872-C2ED-8F48-DADB-4A84EAC5D0D5}"/>
              </a:ext>
            </a:extLst>
          </p:cNvPr>
          <p:cNvSpPr txBox="1">
            <a:spLocks noChangeArrowheads="1"/>
          </p:cNvSpPr>
          <p:nvPr/>
        </p:nvSpPr>
        <p:spPr bwMode="auto">
          <a:xfrm>
            <a:off x="8280400" y="5605463"/>
            <a:ext cx="233363"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90" name="Text Box 27">
            <a:extLst>
              <a:ext uri="{FF2B5EF4-FFF2-40B4-BE49-F238E27FC236}">
                <a16:creationId xmlns:a16="http://schemas.microsoft.com/office/drawing/2014/main" id="{999E19E9-5314-9A1E-CEC7-EFAED7601F2F}"/>
              </a:ext>
            </a:extLst>
          </p:cNvPr>
          <p:cNvSpPr txBox="1">
            <a:spLocks noChangeArrowheads="1"/>
          </p:cNvSpPr>
          <p:nvPr/>
        </p:nvSpPr>
        <p:spPr bwMode="auto">
          <a:xfrm>
            <a:off x="8280400" y="5776913"/>
            <a:ext cx="233363"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91" name="Text Box 28">
            <a:extLst>
              <a:ext uri="{FF2B5EF4-FFF2-40B4-BE49-F238E27FC236}">
                <a16:creationId xmlns:a16="http://schemas.microsoft.com/office/drawing/2014/main" id="{B97115EF-CDFF-37E9-D605-6C979A5791BB}"/>
              </a:ext>
            </a:extLst>
          </p:cNvPr>
          <p:cNvSpPr txBox="1">
            <a:spLocks noChangeArrowheads="1"/>
          </p:cNvSpPr>
          <p:nvPr/>
        </p:nvSpPr>
        <p:spPr bwMode="auto">
          <a:xfrm>
            <a:off x="8280400" y="5938838"/>
            <a:ext cx="233363"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92" name="Rectangle 29">
            <a:extLst>
              <a:ext uri="{FF2B5EF4-FFF2-40B4-BE49-F238E27FC236}">
                <a16:creationId xmlns:a16="http://schemas.microsoft.com/office/drawing/2014/main" id="{983486B7-CD64-1C2D-6637-B8F39446CCE8}"/>
              </a:ext>
            </a:extLst>
          </p:cNvPr>
          <p:cNvSpPr>
            <a:spLocks noChangeArrowheads="1"/>
          </p:cNvSpPr>
          <p:nvPr/>
        </p:nvSpPr>
        <p:spPr bwMode="auto">
          <a:xfrm>
            <a:off x="8220075" y="5510213"/>
            <a:ext cx="187325" cy="13335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4978" tIns="34978" rIns="34978" bIns="34978"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ea typeface="가는각진제목체" panose="02030600000101010101" pitchFamily="18" charset="-127"/>
            </a:endParaRPr>
          </a:p>
        </p:txBody>
      </p:sp>
      <p:sp>
        <p:nvSpPr>
          <p:cNvPr id="11293" name="Text Box 30">
            <a:extLst>
              <a:ext uri="{FF2B5EF4-FFF2-40B4-BE49-F238E27FC236}">
                <a16:creationId xmlns:a16="http://schemas.microsoft.com/office/drawing/2014/main" id="{94B3EB5C-E4CF-0AAF-C49E-F52769BDBCF6}"/>
              </a:ext>
            </a:extLst>
          </p:cNvPr>
          <p:cNvSpPr txBox="1">
            <a:spLocks noChangeArrowheads="1"/>
          </p:cNvSpPr>
          <p:nvPr/>
        </p:nvSpPr>
        <p:spPr bwMode="auto">
          <a:xfrm>
            <a:off x="8280400" y="5432425"/>
            <a:ext cx="233363"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34978" rIns="34978" bIns="34978"/>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400">
                <a:solidFill>
                  <a:schemeClr val="bg2"/>
                </a:solidFill>
                <a:latin typeface="Wingdings" pitchFamily="2" charset="2"/>
                <a:ea typeface="굴림" panose="020b0600000101010101" pitchFamily="34" charset="-127"/>
              </a:rPr>
              <a:t>ü</a:t>
            </a:r>
          </a:p>
        </p:txBody>
      </p:sp>
      <p:sp>
        <p:nvSpPr>
          <p:cNvPr id="11294" name="Line 31">
            <a:extLst>
              <a:ext uri="{FF2B5EF4-FFF2-40B4-BE49-F238E27FC236}">
                <a16:creationId xmlns:a16="http://schemas.microsoft.com/office/drawing/2014/main" id="{C7BAA06B-318F-F24F-E939-1C3392C91D65}"/>
              </a:ext>
            </a:extLst>
          </p:cNvPr>
          <p:cNvSpPr>
            <a:spLocks noChangeShapeType="1"/>
          </p:cNvSpPr>
          <p:nvPr/>
        </p:nvSpPr>
        <p:spPr bwMode="auto">
          <a:xfrm>
            <a:off x="3155950" y="3140075"/>
            <a:ext cx="6477000" cy="79375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11295" name="Rectangle 32">
            <a:extLst>
              <a:ext uri="{FF2B5EF4-FFF2-40B4-BE49-F238E27FC236}">
                <a16:creationId xmlns:a16="http://schemas.microsoft.com/office/drawing/2014/main" id="{FCC3D44C-5794-0AD8-1973-751FB4BB1115}"/>
              </a:ext>
            </a:extLst>
          </p:cNvPr>
          <p:cNvSpPr>
            <a:spLocks noChangeArrowheads="1"/>
          </p:cNvSpPr>
          <p:nvPr/>
        </p:nvSpPr>
        <p:spPr bwMode="auto">
          <a:xfrm>
            <a:off x="8764588" y="1557338"/>
            <a:ext cx="885825" cy="33655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9" tIns="72009" rIns="72009" bIns="72009">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ClrTx/>
              <a:buSzPct val="120000"/>
              <a:buFontTx/>
              <a:buNone/>
            </a:pPr>
            <a:r>
              <a:rPr lang="en-US" altLang="ko-KR" sz="1400">
                <a:ea typeface="굴림" panose="020b0600000101010101" pitchFamily="34" charset="-127"/>
              </a:rPr>
              <a:t>Example</a:t>
            </a:r>
          </a:p>
        </p:txBody>
      </p:sp>
      <p:sp>
        <p:nvSpPr>
          <p:cNvPr id="11296" name="Rectangle 34">
            <a:extLst>
              <a:ext uri="{FF2B5EF4-FFF2-40B4-BE49-F238E27FC236}">
                <a16:creationId xmlns:a16="http://schemas.microsoft.com/office/drawing/2014/main" id="{705BC79F-60CA-82CD-DFC0-064044812D3F}"/>
              </a:ext>
            </a:extLst>
          </p:cNvPr>
          <p:cNvSpPr>
            <a:spLocks noChangeArrowheads="1"/>
          </p:cNvSpPr>
          <p:nvPr/>
        </p:nvSpPr>
        <p:spPr bwMode="auto">
          <a:xfrm>
            <a:off x="7818438" y="225425"/>
            <a:ext cx="182562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GB" altLang="ko-KR" sz="1200" b="0">
                <a:ea typeface="가는각진제목체" panose="02030600000101010101" pitchFamily="18" charset="-127"/>
              </a:rPr>
              <a:t>Phase 1 – Creation of SSC</a:t>
            </a:r>
          </a:p>
        </p:txBody>
      </p:sp>
      <p:pic>
        <p:nvPicPr>
          <p:cNvPr id="11297" name="Picture 35">
            <a:extLst>
              <a:ext uri="{FF2B5EF4-FFF2-40B4-BE49-F238E27FC236}">
                <a16:creationId xmlns:a16="http://schemas.microsoft.com/office/drawing/2014/main" id="{F4163852-B836-F034-E4BF-4458DA20DC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9075" y="1379538"/>
            <a:ext cx="1092200" cy="522287"/>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298" name="Group 36">
            <a:extLst>
              <a:ext uri="{FF2B5EF4-FFF2-40B4-BE49-F238E27FC236}">
                <a16:creationId xmlns:a16="http://schemas.microsoft.com/office/drawing/2014/main" id="{BCEC44A3-F125-23F0-498D-52DB38547C51}"/>
              </a:ext>
            </a:extLst>
          </p:cNvPr>
          <p:cNvGrpSpPr/>
          <p:nvPr/>
        </p:nvGrpSpPr>
        <p:grpSpPr>
          <a:xfrm>
            <a:off x="271463" y="2459038"/>
            <a:ext cx="9242425" cy="130175"/>
            <a:chOff x="888" y="1026"/>
            <a:chExt cx="3876" cy="84"/>
          </a:xfrm>
        </p:grpSpPr>
        <p:sp>
          <p:nvSpPr>
            <p:cNvPr id="11310" name="Line 37">
              <a:extLst>
                <a:ext uri="{FF2B5EF4-FFF2-40B4-BE49-F238E27FC236}">
                  <a16:creationId xmlns:a16="http://schemas.microsoft.com/office/drawing/2014/main" id="{6160E39A-7F4A-BF7F-DE1E-A74D05A1D094}"/>
                </a:ext>
              </a:extLst>
            </p:cNvPr>
            <p:cNvSpPr>
              <a:spLocks noChangeShapeType="1"/>
            </p:cNvSpPr>
            <p:nvPr/>
          </p:nvSpPr>
          <p:spPr bwMode="gray">
            <a:xfrm>
              <a:off x="889" y="1068"/>
              <a:ext cx="386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11311" name="Line 38">
              <a:extLst>
                <a:ext uri="{FF2B5EF4-FFF2-40B4-BE49-F238E27FC236}">
                  <a16:creationId xmlns:a16="http://schemas.microsoft.com/office/drawing/2014/main" id="{163CFACA-6144-B9B4-22BC-E5B0BBB0ADDB}"/>
                </a:ext>
              </a:extLst>
            </p:cNvPr>
            <p:cNvSpPr>
              <a:spLocks noChangeShapeType="1"/>
            </p:cNvSpPr>
            <p:nvPr/>
          </p:nvSpPr>
          <p:spPr bwMode="gray">
            <a:xfrm flipH="1">
              <a:off x="4764" y="1026"/>
              <a:ext cx="0" cy="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11312" name="Line 39">
              <a:extLst>
                <a:ext uri="{FF2B5EF4-FFF2-40B4-BE49-F238E27FC236}">
                  <a16:creationId xmlns:a16="http://schemas.microsoft.com/office/drawing/2014/main" id="{5C5586A0-989F-FC7B-1D32-C975C1E67636}"/>
                </a:ext>
              </a:extLst>
            </p:cNvPr>
            <p:cNvSpPr>
              <a:spLocks noChangeShapeType="1"/>
            </p:cNvSpPr>
            <p:nvPr/>
          </p:nvSpPr>
          <p:spPr bwMode="gray">
            <a:xfrm flipH="1">
              <a:off x="3426" y="1026"/>
              <a:ext cx="0" cy="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11313" name="Line 40">
              <a:extLst>
                <a:ext uri="{FF2B5EF4-FFF2-40B4-BE49-F238E27FC236}">
                  <a16:creationId xmlns:a16="http://schemas.microsoft.com/office/drawing/2014/main" id="{F8CF3ED3-2BE1-06E2-C2C9-182FD85ED6BF}"/>
                </a:ext>
              </a:extLst>
            </p:cNvPr>
            <p:cNvSpPr>
              <a:spLocks noChangeShapeType="1"/>
            </p:cNvSpPr>
            <p:nvPr/>
          </p:nvSpPr>
          <p:spPr bwMode="gray">
            <a:xfrm flipH="1">
              <a:off x="2154" y="1026"/>
              <a:ext cx="0" cy="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sp>
          <p:nvSpPr>
            <p:cNvPr id="11314" name="Line 41">
              <a:extLst>
                <a:ext uri="{FF2B5EF4-FFF2-40B4-BE49-F238E27FC236}">
                  <a16:creationId xmlns:a16="http://schemas.microsoft.com/office/drawing/2014/main" id="{A4EA1D78-DDDF-0BF4-A80D-7B72F7A5D776}"/>
                </a:ext>
              </a:extLst>
            </p:cNvPr>
            <p:cNvSpPr>
              <a:spLocks noChangeShapeType="1"/>
            </p:cNvSpPr>
            <p:nvPr/>
          </p:nvSpPr>
          <p:spPr bwMode="gray">
            <a:xfrm flipH="1">
              <a:off x="888" y="1026"/>
              <a:ext cx="0" cy="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83" tIns="40083" rIns="40083" bIns="40083">
              <a:spAutoFit/>
            </a:bodyPr>
            <a:lstStyle/>
            <a:p>
              <a:endParaRPr lang="ko-KR" altLang="en-US"/>
            </a:p>
          </p:txBody>
        </p:sp>
      </p:grpSp>
      <p:sp>
        <p:nvSpPr>
          <p:cNvPr id="11299" name="Text Box 42">
            <a:extLst>
              <a:ext uri="{FF2B5EF4-FFF2-40B4-BE49-F238E27FC236}">
                <a16:creationId xmlns:a16="http://schemas.microsoft.com/office/drawing/2014/main" id="{1F7369B3-B5AC-5513-487F-E7682E9AE5E2}"/>
              </a:ext>
            </a:extLst>
          </p:cNvPr>
          <p:cNvSpPr txBox="1">
            <a:spLocks noChangeArrowheads="1"/>
          </p:cNvSpPr>
          <p:nvPr/>
        </p:nvSpPr>
        <p:spPr bwMode="gray">
          <a:xfrm>
            <a:off x="1273175" y="2387600"/>
            <a:ext cx="639763" cy="247650"/>
          </a:xfrm>
          <a:prstGeom prst="rect">
            <a:avLst/>
          </a:prstGeom>
          <a:solidFill>
            <a:schemeClr val="bg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889" tIns="40889" rIns="40889" bIns="40889" anchor="ctr">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a:ea typeface="굴림" panose="020b0600000101010101" pitchFamily="34" charset="-127"/>
              </a:rPr>
              <a:t>3 weeks</a:t>
            </a:r>
          </a:p>
        </p:txBody>
      </p:sp>
      <p:sp>
        <p:nvSpPr>
          <p:cNvPr id="11300" name="Text Box 43">
            <a:extLst>
              <a:ext uri="{FF2B5EF4-FFF2-40B4-BE49-F238E27FC236}">
                <a16:creationId xmlns:a16="http://schemas.microsoft.com/office/drawing/2014/main" id="{2D2D9AF7-20C5-D0FA-E30C-F2B40AB491DB}"/>
              </a:ext>
            </a:extLst>
          </p:cNvPr>
          <p:cNvSpPr txBox="1">
            <a:spLocks noChangeArrowheads="1"/>
          </p:cNvSpPr>
          <p:nvPr/>
        </p:nvSpPr>
        <p:spPr bwMode="gray">
          <a:xfrm>
            <a:off x="4445000" y="2387600"/>
            <a:ext cx="639763" cy="247650"/>
          </a:xfrm>
          <a:prstGeom prst="rect">
            <a:avLst/>
          </a:prstGeom>
          <a:solidFill>
            <a:schemeClr val="bg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889" tIns="40889" rIns="40889" bIns="40889" anchor="ctr">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a:ea typeface="굴림" panose="020b0600000101010101" pitchFamily="34" charset="-127"/>
              </a:rPr>
              <a:t>5 weeks</a:t>
            </a:r>
          </a:p>
        </p:txBody>
      </p:sp>
      <p:sp>
        <p:nvSpPr>
          <p:cNvPr id="11301" name="Text Box 44">
            <a:extLst>
              <a:ext uri="{FF2B5EF4-FFF2-40B4-BE49-F238E27FC236}">
                <a16:creationId xmlns:a16="http://schemas.microsoft.com/office/drawing/2014/main" id="{31E331FC-68A9-8659-1431-C48F14E1CC0D}"/>
              </a:ext>
            </a:extLst>
          </p:cNvPr>
          <p:cNvSpPr txBox="1">
            <a:spLocks noChangeArrowheads="1"/>
          </p:cNvSpPr>
          <p:nvPr/>
        </p:nvSpPr>
        <p:spPr bwMode="gray">
          <a:xfrm>
            <a:off x="7442200" y="2387600"/>
            <a:ext cx="723900" cy="247650"/>
          </a:xfrm>
          <a:prstGeom prst="rect">
            <a:avLst/>
          </a:prstGeom>
          <a:solidFill>
            <a:schemeClr val="bg1"/>
          </a:solid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889" tIns="40889" rIns="40889" bIns="40889" anchor="ctr">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69863"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9275" indent="-1889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31838" indent="-1809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a:ea typeface="굴림" panose="020b0600000101010101" pitchFamily="34" charset="-127"/>
              </a:rPr>
              <a:t>14 weeks</a:t>
            </a:r>
          </a:p>
        </p:txBody>
      </p:sp>
      <p:sp>
        <p:nvSpPr>
          <p:cNvPr id="11302" name="AutoShape 45">
            <a:extLst>
              <a:ext uri="{FF2B5EF4-FFF2-40B4-BE49-F238E27FC236}">
                <a16:creationId xmlns:a16="http://schemas.microsoft.com/office/drawing/2014/main" id="{D2C5F366-44B8-250D-19B3-DEF8219A2806}"/>
              </a:ext>
            </a:extLst>
          </p:cNvPr>
          <p:cNvSpPr>
            <a:spLocks noChangeArrowheads="1"/>
          </p:cNvSpPr>
          <p:nvPr/>
        </p:nvSpPr>
        <p:spPr bwMode="auto">
          <a:xfrm rot="10800000">
            <a:off x="3190875" y="2243138"/>
            <a:ext cx="192088" cy="195262"/>
          </a:xfrm>
          <a:prstGeom prst="triangle">
            <a:avLst>
              <a:gd name="adj" fmla="val 5000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73446" tIns="73446" rIns="73446" bIns="7344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SzPct val="120000"/>
              <a:buFontTx/>
              <a:buNone/>
            </a:pPr>
            <a:endParaRPr lang="en-GB" altLang="ko-KR" sz="1200">
              <a:ea typeface="가는각진제목체" panose="02030600000101010101" pitchFamily="18" charset="-127"/>
            </a:endParaRPr>
          </a:p>
        </p:txBody>
      </p:sp>
      <p:sp>
        <p:nvSpPr>
          <p:cNvPr id="11303" name="Text Box 46">
            <a:extLst>
              <a:ext uri="{FF2B5EF4-FFF2-40B4-BE49-F238E27FC236}">
                <a16:creationId xmlns:a16="http://schemas.microsoft.com/office/drawing/2014/main" id="{FAF49387-FB03-5A4E-A666-4D5D58634B5F}"/>
              </a:ext>
            </a:extLst>
          </p:cNvPr>
          <p:cNvSpPr txBox="1">
            <a:spLocks noChangeArrowheads="1"/>
          </p:cNvSpPr>
          <p:nvPr/>
        </p:nvSpPr>
        <p:spPr bwMode="auto">
          <a:xfrm>
            <a:off x="3028950" y="2020888"/>
            <a:ext cx="519113" cy="282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446" tIns="73446" rIns="73446" bIns="73446">
            <a:spAutoFit/>
          </a:bodyPr>
          <a:lstStyle>
            <a:lvl1pPr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ea typeface="굴림" panose="020b0600000101010101" pitchFamily="34" charset="-127"/>
              </a:rPr>
              <a:t>Today</a:t>
            </a:r>
          </a:p>
        </p:txBody>
      </p:sp>
      <p:sp>
        <p:nvSpPr>
          <p:cNvPr id="11304" name="Text Box 47">
            <a:extLst>
              <a:ext uri="{FF2B5EF4-FFF2-40B4-BE49-F238E27FC236}">
                <a16:creationId xmlns:a16="http://schemas.microsoft.com/office/drawing/2014/main" id="{B8A82747-5C76-87E9-1B2B-F498D49CA851}"/>
              </a:ext>
            </a:extLst>
          </p:cNvPr>
          <p:cNvSpPr txBox="1">
            <a:spLocks noChangeArrowheads="1"/>
          </p:cNvSpPr>
          <p:nvPr/>
        </p:nvSpPr>
        <p:spPr bwMode="auto">
          <a:xfrm>
            <a:off x="1096963" y="3717925"/>
            <a:ext cx="112712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978" tIns="0" rIns="34978" bIns="34978">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SzPct val="120000"/>
              <a:buFontTx/>
              <a:buNone/>
            </a:pPr>
            <a:r>
              <a:rPr lang="en-US" altLang="ko-KR" sz="1200" i="1">
                <a:ea typeface="굴림" panose="020b0600000101010101" pitchFamily="34" charset="-127"/>
              </a:rPr>
              <a:t>Current Status</a:t>
            </a:r>
          </a:p>
        </p:txBody>
      </p:sp>
      <p:sp>
        <p:nvSpPr>
          <p:cNvPr id="11305" name="AutoShape 48">
            <a:extLst>
              <a:ext uri="{FF2B5EF4-FFF2-40B4-BE49-F238E27FC236}">
                <a16:creationId xmlns:a16="http://schemas.microsoft.com/office/drawing/2014/main" id="{58A2E59C-0962-5498-F129-D4D142BF3CB1}"/>
              </a:ext>
            </a:extLst>
          </p:cNvPr>
          <p:cNvSpPr>
            <a:spLocks noChangeArrowheads="1"/>
          </p:cNvSpPr>
          <p:nvPr/>
        </p:nvSpPr>
        <p:spPr bwMode="gray">
          <a:xfrm>
            <a:off x="3449638" y="2679700"/>
            <a:ext cx="3030537" cy="455613"/>
          </a:xfrm>
          <a:prstGeom prst="chevron">
            <a:avLst>
              <a:gd name="adj" fmla="val 15397"/>
            </a:avLst>
          </a:prstGeom>
          <a:solidFill>
            <a:schemeClr val="fo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22" tIns="73422" rIns="73422" bIns="73422" anchor="ctr"/>
          <a:lstStyle>
            <a:lvl1pPr marL="128588"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35000"/>
              </a:spcBef>
              <a:buClrTx/>
              <a:buFontTx/>
              <a:buNone/>
            </a:pPr>
            <a:r>
              <a:rPr lang="en-GB" altLang="ko-KR" sz="1200">
                <a:ea typeface="가는각진제목체" panose="02030600000101010101" pitchFamily="18" charset="-127"/>
              </a:rPr>
              <a:t>Phase II</a:t>
            </a:r>
          </a:p>
          <a:p>
            <a:pPr algn="ctr">
              <a:lnSpc>
                <a:spcPct val="85000"/>
              </a:lnSpc>
              <a:spcBef>
                <a:spcPct val="35000"/>
              </a:spcBef>
              <a:buClrTx/>
              <a:buFontTx/>
              <a:buNone/>
            </a:pPr>
            <a:r>
              <a:rPr lang="en-GB" altLang="ko-KR" sz="1200">
                <a:ea typeface="가는각진제목체" panose="02030600000101010101" pitchFamily="18" charset="-127"/>
              </a:rPr>
              <a:t>Design &amp; Construct</a:t>
            </a:r>
          </a:p>
        </p:txBody>
      </p:sp>
      <p:sp>
        <p:nvSpPr>
          <p:cNvPr id="11306" name="AutoShape 49">
            <a:extLst>
              <a:ext uri="{FF2B5EF4-FFF2-40B4-BE49-F238E27FC236}">
                <a16:creationId xmlns:a16="http://schemas.microsoft.com/office/drawing/2014/main" id="{28F9AE47-A4DE-6B4C-A094-3B11B986A3B4}"/>
              </a:ext>
            </a:extLst>
          </p:cNvPr>
          <p:cNvSpPr>
            <a:spLocks noChangeArrowheads="1"/>
          </p:cNvSpPr>
          <p:nvPr/>
        </p:nvSpPr>
        <p:spPr bwMode="gray">
          <a:xfrm>
            <a:off x="6548438" y="2673350"/>
            <a:ext cx="3030537" cy="455613"/>
          </a:xfrm>
          <a:prstGeom prst="chevron">
            <a:avLst>
              <a:gd name="adj" fmla="val 12102"/>
            </a:avLst>
          </a:prstGeom>
          <a:solidFill>
            <a:schemeClr val="accent1"/>
          </a:solidFill>
          <a:ln w="9525"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22" tIns="73422" rIns="73422" bIns="73422" anchor="ctr"/>
          <a:lstStyle>
            <a:lvl1pPr marL="128588"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35000"/>
              </a:spcBef>
              <a:buClrTx/>
              <a:buFontTx/>
              <a:buNone/>
            </a:pPr>
            <a:r>
              <a:rPr lang="en-GB" altLang="ko-KR" sz="1200">
                <a:solidFill>
                  <a:schemeClr val="bg1"/>
                </a:solidFill>
                <a:ea typeface="가는각진제목체" panose="02030600000101010101" pitchFamily="18" charset="-127"/>
              </a:rPr>
              <a:t>Phase III</a:t>
            </a:r>
          </a:p>
          <a:p>
            <a:pPr algn="ctr">
              <a:lnSpc>
                <a:spcPct val="85000"/>
              </a:lnSpc>
              <a:spcBef>
                <a:spcPct val="35000"/>
              </a:spcBef>
              <a:buClrTx/>
              <a:buFontTx/>
              <a:buNone/>
            </a:pPr>
            <a:r>
              <a:rPr lang="en-GB" altLang="ko-KR" sz="1200">
                <a:solidFill>
                  <a:schemeClr val="bg1"/>
                </a:solidFill>
                <a:ea typeface="가는각진제목체" panose="02030600000101010101" pitchFamily="18" charset="-127"/>
              </a:rPr>
              <a:t>Implementation</a:t>
            </a:r>
          </a:p>
        </p:txBody>
      </p:sp>
      <p:sp>
        <p:nvSpPr>
          <p:cNvPr id="11307" name="AutoShape 50">
            <a:extLst>
              <a:ext uri="{FF2B5EF4-FFF2-40B4-BE49-F238E27FC236}">
                <a16:creationId xmlns:a16="http://schemas.microsoft.com/office/drawing/2014/main" id="{961DAC59-3EE9-11E6-281C-D94F7BEE8467}"/>
              </a:ext>
            </a:extLst>
          </p:cNvPr>
          <p:cNvSpPr>
            <a:spLocks noChangeArrowheads="1"/>
          </p:cNvSpPr>
          <p:nvPr/>
        </p:nvSpPr>
        <p:spPr bwMode="gray">
          <a:xfrm>
            <a:off x="271463" y="2673350"/>
            <a:ext cx="3159125" cy="455613"/>
          </a:xfrm>
          <a:prstGeom prst="chevron">
            <a:avLst>
              <a:gd name="adj" fmla="val 17944"/>
            </a:avLst>
          </a:prstGeom>
          <a:solidFill>
            <a:schemeClr val="bg1"/>
          </a:solidFill>
          <a:ln w="9525" algn="ctr">
            <a:solidFill>
              <a:schemeClr val="tx1"/>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422" tIns="73422" rIns="0" bIns="73422" anchor="ctr"/>
          <a:lstStyle>
            <a:lvl1pPr marL="95250"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35000"/>
              </a:spcBef>
              <a:buClrTx/>
              <a:buFontTx/>
              <a:buNone/>
            </a:pPr>
            <a:r>
              <a:rPr lang="en-GB" altLang="ko-KR" sz="1200">
                <a:ea typeface="가는각진제목체" panose="02030600000101010101" pitchFamily="18" charset="-127"/>
              </a:rPr>
              <a:t>Phase I</a:t>
            </a:r>
          </a:p>
          <a:p>
            <a:pPr algn="ctr">
              <a:lnSpc>
                <a:spcPct val="85000"/>
              </a:lnSpc>
              <a:spcBef>
                <a:spcPct val="35000"/>
              </a:spcBef>
              <a:buClrTx/>
              <a:buFontTx/>
              <a:buNone/>
            </a:pPr>
            <a:r>
              <a:rPr lang="en-GB" altLang="ko-KR" sz="1200">
                <a:ea typeface="가는각진제목체" panose="02030600000101010101" pitchFamily="18" charset="-127"/>
              </a:rPr>
              <a:t>Shared Services Strategy</a:t>
            </a:r>
          </a:p>
        </p:txBody>
      </p:sp>
      <p:cxnSp>
        <p:nvCxnSpPr>
          <p:cNvPr id="11308" name="AutoShape 51">
            <a:extLst>
              <a:ext uri="{FF2B5EF4-FFF2-40B4-BE49-F238E27FC236}">
                <a16:creationId xmlns:a16="http://schemas.microsoft.com/office/drawing/2014/main" id="{662D0C12-4CAE-D7E1-CD0D-670FB809EF78}"/>
              </a:ext>
            </a:extLst>
          </p:cNvPr>
          <p:cNvCxnSpPr>
            <a:cxnSpLocks noChangeShapeType="1"/>
            <a:stCxn id="11307" idx="2"/>
            <a:endCxn id="11304" idx="0"/>
          </p:cNvCxnSpPr>
          <p:nvPr/>
        </p:nvCxnSpPr>
        <p:spPr bwMode="auto">
          <a:xfrm flipH="1">
            <a:off x="1660525" y="3128963"/>
            <a:ext cx="149225" cy="588962"/>
          </a:xfrm>
          <a:prstGeom prst="straightConnector1">
            <a:avLst/>
          </a:prstGeom>
          <a:noFill/>
          <a:ln w="12700">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09" name="AutoShape 52">
            <a:extLst>
              <a:ext uri="{FF2B5EF4-FFF2-40B4-BE49-F238E27FC236}">
                <a16:creationId xmlns:a16="http://schemas.microsoft.com/office/drawing/2014/main" id="{A847D298-A532-3AE2-1CB8-7191D8B533E5}"/>
              </a:ext>
            </a:extLst>
          </p:cNvPr>
          <p:cNvSpPr>
            <a:spLocks noChangeArrowheads="1"/>
          </p:cNvSpPr>
          <p:nvPr/>
        </p:nvSpPr>
        <p:spPr bwMode="auto">
          <a:xfrm>
            <a:off x="1865313" y="3233738"/>
            <a:ext cx="7778750" cy="390525"/>
          </a:xfrm>
          <a:prstGeom prst="chevron">
            <a:avLst>
              <a:gd name="adj" fmla="val 26650"/>
            </a:avLst>
          </a:prstGeom>
          <a:solidFill>
            <a:srgbClr val="0070C0"/>
          </a:solidFill>
          <a:ln w="12700" algn="ctr">
            <a:solidFill>
              <a:srgbClr val="0070C0"/>
            </a:solidFill>
            <a:miter lim="800000"/>
          </a:ln>
        </p:spPr>
        <p:txBody>
          <a:bodyPr lIns="73446" tIns="73446" rIns="73446" bIns="73446" anchor="ctr"/>
          <a:lstStyle>
            <a:lvl1pPr marL="128588" defTabSz="933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33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3345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3345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3345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3345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1200">
                <a:solidFill>
                  <a:schemeClr val="bg1"/>
                </a:solidFill>
                <a:ea typeface="굴림" panose="020b0600000101010101" pitchFamily="34" charset="-127"/>
              </a:rPr>
              <a:t>Communication and Change Management</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19457" name="Group 2">
            <a:extLst>
              <a:ext uri="{FF2B5EF4-FFF2-40B4-BE49-F238E27FC236}">
                <a16:creationId xmlns:a16="http://schemas.microsoft.com/office/drawing/2014/main" id="{7EC8BC4C-68EE-C56C-F348-B13433DEF089}"/>
              </a:ext>
            </a:extLst>
          </p:cNvPr>
          <p:cNvGrpSpPr/>
          <p:nvPr/>
        </p:nvGrpSpPr>
        <p:grpSpPr>
          <a:xfrm>
            <a:off x="1016000" y="2779713"/>
            <a:ext cx="2863850" cy="2644775"/>
            <a:chOff x="295" y="1587"/>
            <a:chExt cx="1807" cy="1772"/>
          </a:xfrm>
        </p:grpSpPr>
        <p:sp>
          <p:nvSpPr>
            <p:cNvPr id="19472" name="Rectangle 3">
              <a:extLst>
                <a:ext uri="{FF2B5EF4-FFF2-40B4-BE49-F238E27FC236}">
                  <a16:creationId xmlns:a16="http://schemas.microsoft.com/office/drawing/2014/main" id="{E1B41629-D387-108A-C1E7-1F6DEC99C496}"/>
                </a:ext>
              </a:extLst>
            </p:cNvPr>
            <p:cNvSpPr>
              <a:spLocks noChangeArrowheads="1"/>
            </p:cNvSpPr>
            <p:nvPr/>
          </p:nvSpPr>
          <p:spPr bwMode="auto">
            <a:xfrm>
              <a:off x="295" y="1587"/>
              <a:ext cx="904" cy="886"/>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1976" tIns="71976" rIns="71976" bIns="7197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30000"/>
                </a:spcBef>
                <a:buClrTx/>
                <a:buFontTx/>
                <a:buNone/>
              </a:pPr>
              <a:r>
                <a:rPr lang="ko-KR" altLang="en-US" sz="1200">
                  <a:ea typeface="굴림" panose="020b0600000101010101" pitchFamily="34" charset="-127"/>
                </a:rPr>
                <a:t>“</a:t>
              </a:r>
              <a:r>
                <a:rPr lang="en-US" altLang="ko-KR" sz="1200">
                  <a:ea typeface="굴림" panose="020b0600000101010101" pitchFamily="34" charset="-127"/>
                </a:rPr>
                <a:t>Resistance fighter"</a:t>
              </a:r>
            </a:p>
            <a:p>
              <a:pPr algn="ctr">
                <a:spcBef>
                  <a:spcPct val="30000"/>
                </a:spcBef>
                <a:buClrTx/>
                <a:buFontTx/>
                <a:buNone/>
              </a:pPr>
              <a:r>
                <a:rPr lang="en-US" altLang="ko-KR" sz="1200" b="0" i="1">
                  <a:ea typeface="굴림" panose="020b0600000101010101" pitchFamily="34" charset="-127"/>
                </a:rPr>
                <a:t>Strategy:</a:t>
              </a:r>
              <a:r>
                <a:rPr lang="en-US" altLang="ko-KR" sz="1200" b="0">
                  <a:ea typeface="굴림" panose="020b0600000101010101" pitchFamily="34" charset="-127"/>
                </a:rPr>
                <a:t> Neutralize </a:t>
              </a:r>
            </a:p>
          </p:txBody>
        </p:sp>
        <p:sp>
          <p:nvSpPr>
            <p:cNvPr id="19473" name="Rectangle 4">
              <a:extLst>
                <a:ext uri="{FF2B5EF4-FFF2-40B4-BE49-F238E27FC236}">
                  <a16:creationId xmlns:a16="http://schemas.microsoft.com/office/drawing/2014/main" id="{23F8098C-2EC4-076F-D436-E58FDABAE269}"/>
                </a:ext>
              </a:extLst>
            </p:cNvPr>
            <p:cNvSpPr>
              <a:spLocks noChangeArrowheads="1"/>
            </p:cNvSpPr>
            <p:nvPr/>
          </p:nvSpPr>
          <p:spPr bwMode="auto">
            <a:xfrm>
              <a:off x="1199" y="1587"/>
              <a:ext cx="903" cy="886"/>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1976" tIns="71976" rIns="71976" bIns="7197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30000"/>
                </a:spcBef>
                <a:buClrTx/>
                <a:buFontTx/>
                <a:buNone/>
              </a:pPr>
              <a:r>
                <a:rPr lang="ko-KR" altLang="en-US" sz="1200">
                  <a:ea typeface="굴림" panose="020b0600000101010101" pitchFamily="34" charset="-127"/>
                </a:rPr>
                <a:t>“</a:t>
              </a:r>
              <a:r>
                <a:rPr lang="en-US" altLang="ko-KR" sz="1200">
                  <a:ea typeface="굴림" panose="020b0600000101010101" pitchFamily="34" charset="-127"/>
                </a:rPr>
                <a:t>Pioneer of change"</a:t>
              </a:r>
            </a:p>
            <a:p>
              <a:pPr algn="ctr">
                <a:spcBef>
                  <a:spcPct val="30000"/>
                </a:spcBef>
                <a:buClrTx/>
                <a:buFontTx/>
                <a:buNone/>
              </a:pPr>
              <a:r>
                <a:rPr lang="en-US" altLang="ko-KR" sz="1200" b="0" i="1">
                  <a:ea typeface="굴림" panose="020b0600000101010101" pitchFamily="34" charset="-127"/>
                </a:rPr>
                <a:t>Strategy:</a:t>
              </a:r>
              <a:r>
                <a:rPr lang="en-US" altLang="ko-KR" sz="1200" b="0">
                  <a:ea typeface="굴림" panose="020b0600000101010101" pitchFamily="34" charset="-127"/>
                </a:rPr>
                <a:t> </a:t>
              </a:r>
              <a:br>
                <a:rPr lang="en-US" altLang="ko-KR" sz="1200" b="0">
                  <a:ea typeface="굴림" panose="020b0600000101010101" pitchFamily="34" charset="-127"/>
                </a:rPr>
              </a:br>
              <a:r>
                <a:rPr lang="en-US" altLang="ko-KR" sz="1200" b="0">
                  <a:ea typeface="굴림" panose="020b0600000101010101" pitchFamily="34" charset="-127"/>
                </a:rPr>
                <a:t>Increase engagement</a:t>
              </a:r>
            </a:p>
          </p:txBody>
        </p:sp>
        <p:sp>
          <p:nvSpPr>
            <p:cNvPr id="19474" name="Rectangle 5">
              <a:extLst>
                <a:ext uri="{FF2B5EF4-FFF2-40B4-BE49-F238E27FC236}">
                  <a16:creationId xmlns:a16="http://schemas.microsoft.com/office/drawing/2014/main" id="{D6EB84F6-F14D-A64A-ABD6-1C74B72FE52E}"/>
                </a:ext>
              </a:extLst>
            </p:cNvPr>
            <p:cNvSpPr>
              <a:spLocks noChangeArrowheads="1"/>
            </p:cNvSpPr>
            <p:nvPr/>
          </p:nvSpPr>
          <p:spPr bwMode="auto">
            <a:xfrm>
              <a:off x="295" y="2473"/>
              <a:ext cx="904" cy="886"/>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1976" tIns="71976" rIns="71976" bIns="7197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30000"/>
                </a:spcBef>
                <a:buClrTx/>
                <a:buFontTx/>
                <a:buNone/>
              </a:pPr>
              <a:r>
                <a:rPr lang="ko-KR" altLang="en-US" sz="1200">
                  <a:ea typeface="굴림" panose="020b0600000101010101" pitchFamily="34" charset="-127"/>
                </a:rPr>
                <a:t>“</a:t>
              </a:r>
              <a:r>
                <a:rPr lang="en-US" altLang="ko-KR" sz="1200">
                  <a:ea typeface="굴림" panose="020b0600000101010101" pitchFamily="34" charset="-127"/>
                </a:rPr>
                <a:t>Follower"</a:t>
              </a:r>
            </a:p>
            <a:p>
              <a:pPr algn="ctr">
                <a:spcBef>
                  <a:spcPct val="30000"/>
                </a:spcBef>
                <a:buClrTx/>
                <a:buFontTx/>
                <a:buNone/>
              </a:pPr>
              <a:r>
                <a:rPr lang="en-US" altLang="ko-KR" sz="1200" b="0" i="1">
                  <a:ea typeface="굴림" panose="020b0600000101010101" pitchFamily="34" charset="-127"/>
                </a:rPr>
                <a:t>Strategy:</a:t>
              </a:r>
              <a:br>
                <a:rPr lang="en-US" altLang="ko-KR" sz="1200" b="0">
                  <a:ea typeface="굴림" panose="020b0600000101010101" pitchFamily="34" charset="-127"/>
                </a:rPr>
              </a:br>
              <a:r>
                <a:rPr lang="en-US" altLang="ko-KR" sz="1200" b="0">
                  <a:ea typeface="굴림" panose="020b0600000101010101" pitchFamily="34" charset="-127"/>
                </a:rPr>
                <a:t>Actively involve</a:t>
              </a:r>
            </a:p>
          </p:txBody>
        </p:sp>
        <p:sp>
          <p:nvSpPr>
            <p:cNvPr id="19475" name="Rectangle 6">
              <a:extLst>
                <a:ext uri="{FF2B5EF4-FFF2-40B4-BE49-F238E27FC236}">
                  <a16:creationId xmlns:a16="http://schemas.microsoft.com/office/drawing/2014/main" id="{A57D1F98-A8A3-2144-6ED0-00AAB1A51754}"/>
                </a:ext>
              </a:extLst>
            </p:cNvPr>
            <p:cNvSpPr>
              <a:spLocks noChangeArrowheads="1"/>
            </p:cNvSpPr>
            <p:nvPr/>
          </p:nvSpPr>
          <p:spPr bwMode="auto">
            <a:xfrm>
              <a:off x="1199" y="2473"/>
              <a:ext cx="903" cy="886"/>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1976" tIns="71976" rIns="71976" bIns="7197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30000"/>
                </a:spcBef>
                <a:buClrTx/>
                <a:buFontTx/>
                <a:buNone/>
              </a:pPr>
              <a:r>
                <a:rPr lang="en-US" altLang="ko-KR" sz="1200">
                  <a:ea typeface="굴림" panose="020b0600000101010101" pitchFamily="34" charset="-127"/>
                </a:rPr>
                <a:t>"Fan"</a:t>
              </a:r>
            </a:p>
            <a:p>
              <a:pPr algn="ctr">
                <a:spcBef>
                  <a:spcPct val="30000"/>
                </a:spcBef>
                <a:buClrTx/>
                <a:buFontTx/>
                <a:buNone/>
              </a:pPr>
              <a:r>
                <a:rPr lang="en-US" altLang="ko-KR" sz="1200" b="0" i="1">
                  <a:ea typeface="굴림" panose="020b0600000101010101" pitchFamily="34" charset="-127"/>
                </a:rPr>
                <a:t>Strategy:</a:t>
              </a:r>
              <a:r>
                <a:rPr lang="en-US" altLang="ko-KR" sz="1200" b="0">
                  <a:ea typeface="굴림" panose="020b0600000101010101" pitchFamily="34" charset="-127"/>
                </a:rPr>
                <a:t> </a:t>
              </a:r>
              <a:br>
                <a:rPr lang="en-US" altLang="ko-KR" sz="1200" b="0">
                  <a:ea typeface="굴림" panose="020b0600000101010101" pitchFamily="34" charset="-127"/>
                </a:rPr>
              </a:br>
              <a:r>
                <a:rPr lang="en-US" altLang="ko-KR" sz="1200" b="0">
                  <a:ea typeface="굴림" panose="020b0600000101010101" pitchFamily="34" charset="-127"/>
                </a:rPr>
                <a:t>Offer opportunities to drive change </a:t>
              </a:r>
            </a:p>
          </p:txBody>
        </p:sp>
      </p:grpSp>
      <p:sp>
        <p:nvSpPr>
          <p:cNvPr id="19458" name="Text Box 7">
            <a:extLst>
              <a:ext uri="{FF2B5EF4-FFF2-40B4-BE49-F238E27FC236}">
                <a16:creationId xmlns:a16="http://schemas.microsoft.com/office/drawing/2014/main" id="{D296DE25-65D7-7F34-829D-0990A7D94A16}"/>
              </a:ext>
            </a:extLst>
          </p:cNvPr>
          <p:cNvSpPr txBox="1">
            <a:spLocks noChangeArrowheads="1"/>
          </p:cNvSpPr>
          <p:nvPr/>
        </p:nvSpPr>
        <p:spPr bwMode="auto">
          <a:xfrm>
            <a:off x="376238" y="2733675"/>
            <a:ext cx="522287"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76" tIns="71976" rIns="71976" bIns="71976">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Active</a:t>
            </a:r>
          </a:p>
        </p:txBody>
      </p:sp>
      <p:sp>
        <p:nvSpPr>
          <p:cNvPr id="19459" name="Text Box 8">
            <a:extLst>
              <a:ext uri="{FF2B5EF4-FFF2-40B4-BE49-F238E27FC236}">
                <a16:creationId xmlns:a16="http://schemas.microsoft.com/office/drawing/2014/main" id="{EEF2F1D2-0A80-B890-4971-0D7EB660ECDC}"/>
              </a:ext>
            </a:extLst>
          </p:cNvPr>
          <p:cNvSpPr txBox="1">
            <a:spLocks noChangeArrowheads="1"/>
          </p:cNvSpPr>
          <p:nvPr/>
        </p:nvSpPr>
        <p:spPr bwMode="auto">
          <a:xfrm>
            <a:off x="379413" y="5145088"/>
            <a:ext cx="611187"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76" tIns="71976" rIns="71976" bIns="71976">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Passive</a:t>
            </a:r>
          </a:p>
        </p:txBody>
      </p:sp>
      <p:sp>
        <p:nvSpPr>
          <p:cNvPr id="19460" name="Text Box 9">
            <a:extLst>
              <a:ext uri="{FF2B5EF4-FFF2-40B4-BE49-F238E27FC236}">
                <a16:creationId xmlns:a16="http://schemas.microsoft.com/office/drawing/2014/main" id="{B880ADE4-EC40-F1A5-2420-227F81E10DE6}"/>
              </a:ext>
            </a:extLst>
          </p:cNvPr>
          <p:cNvSpPr txBox="1">
            <a:spLocks noChangeArrowheads="1"/>
          </p:cNvSpPr>
          <p:nvPr/>
        </p:nvSpPr>
        <p:spPr bwMode="auto">
          <a:xfrm>
            <a:off x="1020763" y="5470525"/>
            <a:ext cx="669925"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76" tIns="71976" rIns="71976" bIns="71976">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Negative</a:t>
            </a:r>
          </a:p>
        </p:txBody>
      </p:sp>
      <p:sp>
        <p:nvSpPr>
          <p:cNvPr id="19461" name="Text Box 10">
            <a:extLst>
              <a:ext uri="{FF2B5EF4-FFF2-40B4-BE49-F238E27FC236}">
                <a16:creationId xmlns:a16="http://schemas.microsoft.com/office/drawing/2014/main" id="{482DA330-DDD1-BDBC-91AA-67BF5860F769}"/>
              </a:ext>
            </a:extLst>
          </p:cNvPr>
          <p:cNvSpPr txBox="1">
            <a:spLocks noChangeArrowheads="1"/>
          </p:cNvSpPr>
          <p:nvPr/>
        </p:nvSpPr>
        <p:spPr bwMode="auto">
          <a:xfrm>
            <a:off x="3305175" y="5470525"/>
            <a:ext cx="627063"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976" tIns="71976" rIns="71976" bIns="71976">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Positive</a:t>
            </a:r>
          </a:p>
        </p:txBody>
      </p:sp>
      <p:sp>
        <p:nvSpPr>
          <p:cNvPr id="19462" name="AutoShape 11">
            <a:extLst>
              <a:ext uri="{FF2B5EF4-FFF2-40B4-BE49-F238E27FC236}">
                <a16:creationId xmlns:a16="http://schemas.microsoft.com/office/drawing/2014/main" id="{967ED932-C7ED-BAFF-0B70-AFD4B8FC8338}"/>
              </a:ext>
            </a:extLst>
          </p:cNvPr>
          <p:cNvSpPr>
            <a:spLocks noChangeArrowheads="1"/>
          </p:cNvSpPr>
          <p:nvPr/>
        </p:nvSpPr>
        <p:spPr bwMode="auto">
          <a:xfrm>
            <a:off x="3890963" y="3529013"/>
            <a:ext cx="2252662" cy="1146175"/>
          </a:xfrm>
          <a:prstGeom prst="leftArrow">
            <a:avLst>
              <a:gd name="adj1" fmla="val 50000"/>
              <a:gd name="adj2" fmla="val 49134"/>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71976" rIns="215931" bIns="71976" anchor="ct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ko-KR" altLang="en-US" sz="1200" i="1">
                <a:solidFill>
                  <a:schemeClr val="bg1"/>
                </a:solidFill>
                <a:ea typeface="굴림" panose="020b0600000101010101" pitchFamily="34" charset="-127"/>
              </a:rPr>
              <a:t>“</a:t>
            </a:r>
            <a:r>
              <a:rPr lang="en-US" altLang="ko-KR" sz="1200" i="1">
                <a:solidFill>
                  <a:schemeClr val="bg1"/>
                </a:solidFill>
                <a:ea typeface="굴림" panose="020b0600000101010101" pitchFamily="34" charset="-127"/>
              </a:rPr>
              <a:t>Constant dripping"</a:t>
            </a:r>
            <a:br>
              <a:rPr lang="en-US" altLang="ko-KR" sz="1200" i="1">
                <a:solidFill>
                  <a:schemeClr val="bg1"/>
                </a:solidFill>
                <a:ea typeface="굴림" panose="020b0600000101010101" pitchFamily="34" charset="-127"/>
              </a:rPr>
            </a:br>
            <a:r>
              <a:rPr lang="en-US" altLang="ko-KR" sz="1200" i="1">
                <a:solidFill>
                  <a:schemeClr val="bg1"/>
                </a:solidFill>
                <a:ea typeface="굴림" panose="020b0600000101010101" pitchFamily="34" charset="-127"/>
              </a:rPr>
              <a:t>of change </a:t>
            </a:r>
          </a:p>
        </p:txBody>
      </p:sp>
      <p:sp>
        <p:nvSpPr>
          <p:cNvPr id="19463" name="Rectangle 12">
            <a:extLst>
              <a:ext uri="{FF2B5EF4-FFF2-40B4-BE49-F238E27FC236}">
                <a16:creationId xmlns:a16="http://schemas.microsoft.com/office/drawing/2014/main" id="{E2C78465-92E7-4F11-C831-2189F56ACADF}"/>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Change Management is only working top-down and with sufficient “psychological strain"</a:t>
            </a:r>
          </a:p>
        </p:txBody>
      </p:sp>
      <p:sp>
        <p:nvSpPr>
          <p:cNvPr id="19464" name="Text Box 13">
            <a:extLst>
              <a:ext uri="{FF2B5EF4-FFF2-40B4-BE49-F238E27FC236}">
                <a16:creationId xmlns:a16="http://schemas.microsoft.com/office/drawing/2014/main" id="{352E8B09-4B9B-47F5-C121-81C6561CF2F7}"/>
              </a:ext>
            </a:extLst>
          </p:cNvPr>
          <p:cNvSpPr txBox="1">
            <a:spLocks noChangeArrowheads="1"/>
          </p:cNvSpPr>
          <p:nvPr/>
        </p:nvSpPr>
        <p:spPr bwMode="auto">
          <a:xfrm>
            <a:off x="1130300" y="2097088"/>
            <a:ext cx="2863850" cy="441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a:ea typeface="굴림" panose="020b0600000101010101" pitchFamily="34" charset="-127"/>
              </a:rPr>
              <a:t>Typical behavior patterns in change situations </a:t>
            </a:r>
            <a:endParaRPr lang="en-US" altLang="ko-KR">
              <a:solidFill>
                <a:schemeClr val="tx2"/>
              </a:solidFill>
              <a:ea typeface="Arial Unicode MS" panose="020b0604020202020204" pitchFamily="34" charset="-128"/>
              <a:cs typeface="Arial Unicode MS" panose="020b0604020202020204" pitchFamily="34" charset="-128"/>
            </a:endParaRPr>
          </a:p>
        </p:txBody>
      </p:sp>
      <p:sp>
        <p:nvSpPr>
          <p:cNvPr id="19465" name="Freeform 14">
            <a:extLst>
              <a:ext uri="{FF2B5EF4-FFF2-40B4-BE49-F238E27FC236}">
                <a16:creationId xmlns:a16="http://schemas.microsoft.com/office/drawing/2014/main" id="{1B25C7CF-5BE8-DE43-D61D-C5F3CC160CE2}"/>
              </a:ext>
            </a:extLst>
          </p:cNvPr>
          <p:cNvSpPr/>
          <p:nvPr/>
        </p:nvSpPr>
        <p:spPr bwMode="auto">
          <a:xfrm>
            <a:off x="5259388" y="2097088"/>
            <a:ext cx="4378325" cy="3527425"/>
          </a:xfrm>
          <a:custGeom>
            <a:gdLst>
              <a:gd name="T0" fmla="*/ 0 w 2422"/>
              <a:gd name="T1" fmla="*/ 2147483646 h 3064"/>
              <a:gd name="T2" fmla="*/ 2147483646 w 2422"/>
              <a:gd name="T3" fmla="*/ 2147483646 h 3064"/>
              <a:gd name="T4" fmla="*/ 2147483646 w 2422"/>
              <a:gd name="T5" fmla="*/ 2147483646 h 3064"/>
              <a:gd name="T6" fmla="*/ 2147483646 w 2422"/>
              <a:gd name="T7" fmla="*/ 0 h 3064"/>
              <a:gd name="T8" fmla="*/ 2147483646 w 2422"/>
              <a:gd name="T9" fmla="*/ 0 h 3064"/>
              <a:gd name="T10" fmla="*/ 2147483646 w 2422"/>
              <a:gd name="T11" fmla="*/ 2147483646 h 3064"/>
              <a:gd name="T12" fmla="*/ 2147483646 w 2422"/>
              <a:gd name="T13" fmla="*/ 2147483646 h 3064"/>
              <a:gd name="T14" fmla="*/ 2147483646 w 2422"/>
              <a:gd name="T15" fmla="*/ 2147483646 h 3064"/>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22" h="3064">
                <a:moveTo>
                  <a:pt x="0" y="3064"/>
                </a:moveTo>
                <a:lnTo>
                  <a:pt x="539" y="598"/>
                </a:lnTo>
                <a:lnTo>
                  <a:pt x="288" y="598"/>
                </a:lnTo>
                <a:lnTo>
                  <a:pt x="288" y="0"/>
                </a:lnTo>
                <a:lnTo>
                  <a:pt x="2127" y="0"/>
                </a:lnTo>
                <a:lnTo>
                  <a:pt x="2127" y="598"/>
                </a:lnTo>
                <a:lnTo>
                  <a:pt x="1876" y="598"/>
                </a:lnTo>
                <a:lnTo>
                  <a:pt x="2422" y="3064"/>
                </a:lnTo>
              </a:path>
            </a:pathLst>
          </a:custGeom>
          <a:solidFill>
            <a:schemeClr val="bg1"/>
          </a:soli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19466" name="Text Box 15">
            <a:extLst>
              <a:ext uri="{FF2B5EF4-FFF2-40B4-BE49-F238E27FC236}">
                <a16:creationId xmlns:a16="http://schemas.microsoft.com/office/drawing/2014/main" id="{449C0B83-34BC-67C2-0813-94B292BEAE77}"/>
              </a:ext>
            </a:extLst>
          </p:cNvPr>
          <p:cNvSpPr txBox="1">
            <a:spLocks noChangeArrowheads="1"/>
          </p:cNvSpPr>
          <p:nvPr/>
        </p:nvSpPr>
        <p:spPr bwMode="auto">
          <a:xfrm>
            <a:off x="5786438" y="2106613"/>
            <a:ext cx="3321050" cy="6619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a:ea typeface="굴림" panose="020b0600000101010101" pitchFamily="34" charset="-127"/>
              </a:rPr>
              <a:t>Cascade of change:</a:t>
            </a:r>
            <a:br>
              <a:rPr lang="en-US" altLang="ko-KR">
                <a:ea typeface="굴림" panose="020b0600000101010101" pitchFamily="34" charset="-127"/>
              </a:rPr>
            </a:br>
            <a:r>
              <a:rPr lang="en-US" altLang="ko-KR" b="0">
                <a:ea typeface="굴림" panose="020b0600000101010101" pitchFamily="34" charset="-127"/>
              </a:rPr>
              <a:t>New strategy: </a:t>
            </a:r>
            <a:br>
              <a:rPr lang="en-US" altLang="ko-KR" b="0">
                <a:ea typeface="굴림" panose="020b0600000101010101" pitchFamily="34" charset="-127"/>
              </a:rPr>
            </a:br>
            <a:r>
              <a:rPr lang="en-US" altLang="ko-KR" b="0">
                <a:ea typeface="굴림" panose="020b0600000101010101" pitchFamily="34" charset="-127"/>
              </a:rPr>
              <a:t>"Walk as you talk"</a:t>
            </a:r>
            <a:endParaRPr lang="en-US" altLang="ko-KR" b="0">
              <a:solidFill>
                <a:schemeClr val="tx2"/>
              </a:solidFill>
              <a:ea typeface="Arial Unicode MS" panose="020b0604020202020204" pitchFamily="34" charset="-128"/>
              <a:cs typeface="Arial Unicode MS" panose="020b0604020202020204" pitchFamily="34" charset="-128"/>
            </a:endParaRPr>
          </a:p>
        </p:txBody>
      </p:sp>
      <p:sp>
        <p:nvSpPr>
          <p:cNvPr id="19467" name="AutoShape 16">
            <a:extLst>
              <a:ext uri="{FF2B5EF4-FFF2-40B4-BE49-F238E27FC236}">
                <a16:creationId xmlns:a16="http://schemas.microsoft.com/office/drawing/2014/main" id="{A38B4866-D26E-10AA-0B65-A66094A40D75}"/>
              </a:ext>
            </a:extLst>
          </p:cNvPr>
          <p:cNvSpPr>
            <a:spLocks noChangeArrowheads="1"/>
          </p:cNvSpPr>
          <p:nvPr/>
        </p:nvSpPr>
        <p:spPr bwMode="auto">
          <a:xfrm rot="5400000">
            <a:off x="6022975" y="2995613"/>
            <a:ext cx="2836863" cy="2420937"/>
          </a:xfrm>
          <a:prstGeom prst="homePlate">
            <a:avLst>
              <a:gd name="adj" fmla="val 10888"/>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lIns="71976" tIns="71976" rIns="71976" bIns="71976"/>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10000"/>
              </a:spcBef>
              <a:buClrTx/>
              <a:buFontTx/>
              <a:buNone/>
            </a:pPr>
            <a:r>
              <a:rPr lang="en-US" altLang="ko-KR" sz="1200">
                <a:ea typeface="굴림" panose="020b0600000101010101" pitchFamily="34" charset="-127"/>
              </a:rPr>
              <a:t>Top-Management:</a:t>
            </a:r>
          </a:p>
          <a:p>
            <a:pPr>
              <a:spcBef>
                <a:spcPct val="10000"/>
              </a:spcBef>
              <a:buClrTx/>
              <a:buFontTx/>
              <a:buNone/>
            </a:pPr>
            <a:r>
              <a:rPr lang="en-US" altLang="ko-KR" sz="1200" b="0">
                <a:ea typeface="굴림" panose="020b0600000101010101" pitchFamily="34" charset="-127"/>
              </a:rPr>
              <a:t>Definition and exemplification of vision, mission and values</a:t>
            </a:r>
          </a:p>
          <a:p>
            <a:pPr>
              <a:spcBef>
                <a:spcPct val="30000"/>
              </a:spcBef>
              <a:buClrTx/>
              <a:buFontTx/>
              <a:buNone/>
            </a:pPr>
            <a:r>
              <a:rPr lang="en-US" altLang="ko-KR" sz="1200">
                <a:ea typeface="굴림" panose="020b0600000101010101" pitchFamily="34" charset="-127"/>
              </a:rPr>
              <a:t>Executives:</a:t>
            </a:r>
          </a:p>
          <a:p>
            <a:pPr>
              <a:spcBef>
                <a:spcPct val="10000"/>
              </a:spcBef>
              <a:buClrTx/>
              <a:buFontTx/>
              <a:buNone/>
            </a:pPr>
            <a:r>
              <a:rPr lang="en-US" altLang="ko-KR" sz="1200" b="0">
                <a:ea typeface="굴림" panose="020b0600000101010101" pitchFamily="34" charset="-127"/>
              </a:rPr>
              <a:t>Common understanding and dissemination of new vision, mission and values</a:t>
            </a:r>
          </a:p>
          <a:p>
            <a:pPr>
              <a:spcBef>
                <a:spcPct val="30000"/>
              </a:spcBef>
              <a:buClrTx/>
              <a:buFontTx/>
              <a:buNone/>
            </a:pPr>
            <a:r>
              <a:rPr lang="en-US" altLang="ko-KR" sz="1200">
                <a:ea typeface="굴림" panose="020b0600000101010101" pitchFamily="34" charset="-127"/>
              </a:rPr>
              <a:t>Middle management:</a:t>
            </a:r>
          </a:p>
          <a:p>
            <a:pPr>
              <a:spcBef>
                <a:spcPct val="10000"/>
              </a:spcBef>
              <a:buClrTx/>
              <a:buFontTx/>
              <a:buNone/>
            </a:pPr>
            <a:r>
              <a:rPr lang="en-US" altLang="ko-KR" sz="1200" b="0">
                <a:ea typeface="굴림" panose="020b0600000101010101" pitchFamily="34" charset="-127"/>
              </a:rPr>
              <a:t>Understanding and active exemplification </a:t>
            </a:r>
          </a:p>
          <a:p>
            <a:pPr>
              <a:spcBef>
                <a:spcPct val="30000"/>
              </a:spcBef>
              <a:buClrTx/>
              <a:buFontTx/>
              <a:buNone/>
            </a:pPr>
            <a:r>
              <a:rPr lang="en-US" altLang="ko-KR" sz="1200">
                <a:ea typeface="굴림" panose="020b0600000101010101" pitchFamily="34" charset="-127"/>
              </a:rPr>
              <a:t>Employees:</a:t>
            </a:r>
          </a:p>
          <a:p>
            <a:pPr>
              <a:spcBef>
                <a:spcPct val="10000"/>
              </a:spcBef>
              <a:buClrTx/>
              <a:buFontTx/>
              <a:buNone/>
            </a:pPr>
            <a:r>
              <a:rPr lang="en-US" altLang="ko-KR" sz="1200" b="0">
                <a:ea typeface="굴림" panose="020b0600000101010101" pitchFamily="34" charset="-127"/>
              </a:rPr>
              <a:t>Understanding to act accordingly </a:t>
            </a:r>
          </a:p>
        </p:txBody>
      </p:sp>
      <p:sp>
        <p:nvSpPr>
          <p:cNvPr id="19468" name="Rectangle 18">
            <a:extLst>
              <a:ext uri="{FF2B5EF4-FFF2-40B4-BE49-F238E27FC236}">
                <a16:creationId xmlns:a16="http://schemas.microsoft.com/office/drawing/2014/main" id="{53D90245-2258-BFB7-CE00-49F775C27D90}"/>
              </a:ext>
            </a:extLst>
          </p:cNvPr>
          <p:cNvSpPr>
            <a:spLocks noChangeArrowheads="1"/>
          </p:cNvSpPr>
          <p:nvPr/>
        </p:nvSpPr>
        <p:spPr bwMode="auto">
          <a:xfrm>
            <a:off x="7818438" y="225425"/>
            <a:ext cx="182562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12813"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GB" altLang="ko-KR" sz="1200" b="0">
                <a:ea typeface="가는각진제목체" panose="02030600000101010101" pitchFamily="18" charset="-127"/>
              </a:rPr>
              <a:t>Phase 1 – Creation of SSC</a:t>
            </a:r>
          </a:p>
        </p:txBody>
      </p:sp>
      <p:pic>
        <p:nvPicPr>
          <p:cNvPr id="19469" name="Picture 19">
            <a:extLst>
              <a:ext uri="{FF2B5EF4-FFF2-40B4-BE49-F238E27FC236}">
                <a16:creationId xmlns:a16="http://schemas.microsoft.com/office/drawing/2014/main" id="{07F1688F-2D11-E557-C61F-1B8664D244B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0100" y="1355725"/>
            <a:ext cx="512763" cy="5365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70" name="Rectangle 20">
            <a:extLst>
              <a:ext uri="{FF2B5EF4-FFF2-40B4-BE49-F238E27FC236}">
                <a16:creationId xmlns:a16="http://schemas.microsoft.com/office/drawing/2014/main" id="{7A57BA30-2CDF-FA1E-17E6-54108FE89ED5}"/>
              </a:ext>
            </a:extLst>
          </p:cNvPr>
          <p:cNvSpPr>
            <a:spLocks noChangeArrowheads="1"/>
          </p:cNvSpPr>
          <p:nvPr/>
        </p:nvSpPr>
        <p:spPr bwMode="auto">
          <a:xfrm>
            <a:off x="1373188" y="1614488"/>
            <a:ext cx="76517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672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933450"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00175"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86531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3225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7797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2369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69411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ClrTx/>
              <a:buSzPct val="120000"/>
              <a:buFontTx/>
              <a:buNone/>
            </a:pPr>
            <a:r>
              <a:rPr lang="en-US" altLang="ko-KR" sz="1800">
                <a:solidFill>
                  <a:srgbClr val="000000"/>
                </a:solidFill>
                <a:ea typeface="굴림" panose="020b0600000101010101" pitchFamily="34" charset="-127"/>
              </a:rPr>
              <a:t>Behavior Patterns and Cascade of Change</a:t>
            </a:r>
          </a:p>
        </p:txBody>
      </p:sp>
      <p:sp>
        <p:nvSpPr>
          <p:cNvPr id="19471" name="Text Box 21">
            <a:extLst>
              <a:ext uri="{FF2B5EF4-FFF2-40B4-BE49-F238E27FC236}">
                <a16:creationId xmlns:a16="http://schemas.microsoft.com/office/drawing/2014/main" id="{123D73DE-EECF-FF57-1EC4-0B57A536DB10}"/>
              </a:ext>
            </a:extLst>
          </p:cNvPr>
          <p:cNvSpPr txBox="1">
            <a:spLocks noChangeArrowheads="1"/>
          </p:cNvSpPr>
          <p:nvPr/>
        </p:nvSpPr>
        <p:spPr bwMode="auto">
          <a:xfrm>
            <a:off x="196850" y="5979109"/>
            <a:ext cx="9507537" cy="563982"/>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defTabSz="9128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defTabSz="9128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defTabSz="9128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defTabSz="91281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defTabSz="91281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defTabSz="91281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a:solidFill>
                  <a:schemeClr val="bg1"/>
                </a:solidFill>
                <a:ea typeface="굴림" panose="020b0600000101010101" pitchFamily="34" charset="-127"/>
              </a:rPr>
              <a:t>Top management support is crucial for ensuring buy-in of the organizational changes and the success of launch of new processes, structures and systems</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1505" name="Rectangle 2">
            <a:extLst>
              <a:ext uri="{FF2B5EF4-FFF2-40B4-BE49-F238E27FC236}">
                <a16:creationId xmlns:a16="http://schemas.microsoft.com/office/drawing/2014/main" id="{C37D4CD4-E4FA-B3C2-7D50-5BD5DF4D9FDF}"/>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The classical sourcing methodology follows a structured </a:t>
            </a:r>
            <a:br>
              <a:rPr lang="en-US" altLang="ko-KR">
                <a:ea typeface="굴림" panose="020b0600000101010101" pitchFamily="34" charset="-127"/>
              </a:rPr>
            </a:br>
            <a:r>
              <a:rPr lang="en-US" altLang="ko-KR">
                <a:ea typeface="굴림" panose="020b0600000101010101" pitchFamily="34" charset="-127"/>
              </a:rPr>
              <a:t>7-step-approach</a:t>
            </a:r>
          </a:p>
        </p:txBody>
      </p:sp>
      <p:sp>
        <p:nvSpPr>
          <p:cNvPr id="21506" name="Rectangle 3">
            <a:extLst>
              <a:ext uri="{FF2B5EF4-FFF2-40B4-BE49-F238E27FC236}">
                <a16:creationId xmlns:a16="http://schemas.microsoft.com/office/drawing/2014/main" id="{E18706FE-E085-0E8F-FE7A-BAAEE4B17E6A}"/>
              </a:ext>
            </a:extLst>
          </p:cNvPr>
          <p:cNvSpPr>
            <a:spLocks noChangeArrowheads="1"/>
          </p:cNvSpPr>
          <p:nvPr/>
        </p:nvSpPr>
        <p:spPr bwMode="auto">
          <a:xfrm>
            <a:off x="271463" y="3009900"/>
            <a:ext cx="1287462" cy="1739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Profile volumes, specifications, prices and suppliers</a:t>
            </a:r>
          </a:p>
          <a:p>
            <a:pPr>
              <a:lnSpc>
                <a:spcPct val="85000"/>
              </a:lnSpc>
              <a:spcBef>
                <a:spcPct val="10000"/>
              </a:spcBef>
              <a:buFontTx/>
              <a:buChar char="•"/>
            </a:pPr>
            <a:r>
              <a:rPr lang="en-US" altLang="ko-KR" sz="1000" b="0">
                <a:ea typeface="굴림" panose="020b0600000101010101" pitchFamily="34" charset="-127"/>
              </a:rPr>
              <a:t>Profile purchasing practices and processes</a:t>
            </a:r>
          </a:p>
          <a:p>
            <a:pPr>
              <a:lnSpc>
                <a:spcPct val="85000"/>
              </a:lnSpc>
              <a:spcBef>
                <a:spcPct val="10000"/>
              </a:spcBef>
              <a:buFontTx/>
              <a:buChar char="•"/>
            </a:pPr>
            <a:r>
              <a:rPr lang="en-US" altLang="ko-KR" sz="1000" b="0">
                <a:ea typeface="굴림" panose="020b0600000101010101" pitchFamily="34" charset="-127"/>
              </a:rPr>
              <a:t>Develop understanding of underlying requirements and specifications</a:t>
            </a:r>
          </a:p>
          <a:p>
            <a:pPr>
              <a:lnSpc>
                <a:spcPct val="85000"/>
              </a:lnSpc>
              <a:spcBef>
                <a:spcPct val="10000"/>
              </a:spcBef>
              <a:buFontTx/>
              <a:buChar char="•"/>
            </a:pPr>
            <a:r>
              <a:rPr lang="en-US" altLang="ko-KR" sz="1000" b="0">
                <a:ea typeface="굴림" panose="020b0600000101010101" pitchFamily="34" charset="-127"/>
              </a:rPr>
              <a:t>Understand supply markets</a:t>
            </a:r>
          </a:p>
        </p:txBody>
      </p:sp>
      <p:sp>
        <p:nvSpPr>
          <p:cNvPr id="21507" name="AutoShape 4">
            <a:extLst>
              <a:ext uri="{FF2B5EF4-FFF2-40B4-BE49-F238E27FC236}">
                <a16:creationId xmlns:a16="http://schemas.microsoft.com/office/drawing/2014/main" id="{28FF8BCF-5F25-3A34-E8CB-7F2807EDF246}"/>
              </a:ext>
            </a:extLst>
          </p:cNvPr>
          <p:cNvSpPr>
            <a:spLocks noChangeArrowheads="1"/>
          </p:cNvSpPr>
          <p:nvPr/>
        </p:nvSpPr>
        <p:spPr bwMode="auto">
          <a:xfrm rot="10800000">
            <a:off x="490538" y="5486400"/>
            <a:ext cx="849312"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08" name="AutoShape 5">
            <a:extLst>
              <a:ext uri="{FF2B5EF4-FFF2-40B4-BE49-F238E27FC236}">
                <a16:creationId xmlns:a16="http://schemas.microsoft.com/office/drawing/2014/main" id="{4708C39D-6BD8-D9CC-FADD-57952EEC184E}"/>
              </a:ext>
            </a:extLst>
          </p:cNvPr>
          <p:cNvSpPr>
            <a:spLocks noChangeArrowheads="1"/>
          </p:cNvSpPr>
          <p:nvPr/>
        </p:nvSpPr>
        <p:spPr bwMode="auto">
          <a:xfrm>
            <a:off x="271463" y="2216150"/>
            <a:ext cx="1425575" cy="719138"/>
          </a:xfrm>
          <a:prstGeom prst="homePlate">
            <a:avLst>
              <a:gd name="adj" fmla="val 22595"/>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Spend Profiling</a:t>
            </a:r>
          </a:p>
        </p:txBody>
      </p:sp>
      <p:sp>
        <p:nvSpPr>
          <p:cNvPr id="21509" name="AutoShape 6">
            <a:extLst>
              <a:ext uri="{FF2B5EF4-FFF2-40B4-BE49-F238E27FC236}">
                <a16:creationId xmlns:a16="http://schemas.microsoft.com/office/drawing/2014/main" id="{132C643E-DCEE-2C43-82A9-B134CAC8DC88}"/>
              </a:ext>
            </a:extLst>
          </p:cNvPr>
          <p:cNvSpPr>
            <a:spLocks noChangeArrowheads="1"/>
          </p:cNvSpPr>
          <p:nvPr/>
        </p:nvSpPr>
        <p:spPr bwMode="auto">
          <a:xfrm>
            <a:off x="1595438" y="2216150"/>
            <a:ext cx="1425575" cy="719138"/>
          </a:xfrm>
          <a:prstGeom prst="chevron">
            <a:avLst>
              <a:gd name="adj" fmla="val 22063"/>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Definition of</a:t>
            </a:r>
            <a:br>
              <a:rPr lang="en-US" altLang="ko-KR" sz="1200">
                <a:ea typeface="굴림" panose="020b0600000101010101" pitchFamily="34" charset="-127"/>
              </a:rPr>
            </a:br>
            <a:r>
              <a:rPr lang="en-US" altLang="ko-KR" sz="1200">
                <a:ea typeface="굴림" panose="020b0600000101010101" pitchFamily="34" charset="-127"/>
              </a:rPr>
              <a:t>Sourcing Strategy</a:t>
            </a:r>
          </a:p>
        </p:txBody>
      </p:sp>
      <p:sp>
        <p:nvSpPr>
          <p:cNvPr id="21510" name="AutoShape 7">
            <a:extLst>
              <a:ext uri="{FF2B5EF4-FFF2-40B4-BE49-F238E27FC236}">
                <a16:creationId xmlns:a16="http://schemas.microsoft.com/office/drawing/2014/main" id="{9A923D97-A7B2-44FC-1365-D0DFB88A0BD6}"/>
              </a:ext>
            </a:extLst>
          </p:cNvPr>
          <p:cNvSpPr>
            <a:spLocks noChangeArrowheads="1"/>
          </p:cNvSpPr>
          <p:nvPr/>
        </p:nvSpPr>
        <p:spPr bwMode="auto">
          <a:xfrm>
            <a:off x="2921000" y="2216150"/>
            <a:ext cx="1423988" cy="719138"/>
          </a:xfrm>
          <a:prstGeom prst="chevron">
            <a:avLst>
              <a:gd name="adj" fmla="val 2203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Supplier Portfolio</a:t>
            </a:r>
            <a:br>
              <a:rPr lang="en-US" altLang="ko-KR" sz="1200">
                <a:ea typeface="굴림" panose="020b0600000101010101" pitchFamily="34" charset="-127"/>
              </a:rPr>
            </a:br>
            <a:r>
              <a:rPr lang="en-US" altLang="ko-KR" sz="1200">
                <a:ea typeface="굴림" panose="020b0600000101010101" pitchFamily="34" charset="-127"/>
              </a:rPr>
              <a:t>Generation</a:t>
            </a:r>
          </a:p>
        </p:txBody>
      </p:sp>
      <p:sp>
        <p:nvSpPr>
          <p:cNvPr id="21511" name="AutoShape 8">
            <a:extLst>
              <a:ext uri="{FF2B5EF4-FFF2-40B4-BE49-F238E27FC236}">
                <a16:creationId xmlns:a16="http://schemas.microsoft.com/office/drawing/2014/main" id="{49B07717-9618-AEA6-1E25-DA96386A6596}"/>
              </a:ext>
            </a:extLst>
          </p:cNvPr>
          <p:cNvSpPr>
            <a:spLocks noChangeArrowheads="1"/>
          </p:cNvSpPr>
          <p:nvPr/>
        </p:nvSpPr>
        <p:spPr bwMode="auto">
          <a:xfrm>
            <a:off x="4241800" y="2216150"/>
            <a:ext cx="1423988" cy="719138"/>
          </a:xfrm>
          <a:prstGeom prst="chevron">
            <a:avLst>
              <a:gd name="adj" fmla="val 2203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Selection of</a:t>
            </a:r>
            <a:br>
              <a:rPr lang="en-US" altLang="ko-KR" sz="1200">
                <a:ea typeface="굴림" panose="020b0600000101010101" pitchFamily="34" charset="-127"/>
              </a:rPr>
            </a:br>
            <a:r>
              <a:rPr lang="en-US" altLang="ko-KR" sz="1200">
                <a:ea typeface="굴림" panose="020b0600000101010101" pitchFamily="34" charset="-127"/>
              </a:rPr>
              <a:t>Implementa-tion Path</a:t>
            </a:r>
          </a:p>
        </p:txBody>
      </p:sp>
      <p:sp>
        <p:nvSpPr>
          <p:cNvPr id="21512" name="AutoShape 9">
            <a:extLst>
              <a:ext uri="{FF2B5EF4-FFF2-40B4-BE49-F238E27FC236}">
                <a16:creationId xmlns:a16="http://schemas.microsoft.com/office/drawing/2014/main" id="{D7632EFE-0D38-27D4-9B33-E6B0F6D2FC60}"/>
              </a:ext>
            </a:extLst>
          </p:cNvPr>
          <p:cNvSpPr>
            <a:spLocks noChangeArrowheads="1"/>
          </p:cNvSpPr>
          <p:nvPr/>
        </p:nvSpPr>
        <p:spPr bwMode="auto">
          <a:xfrm>
            <a:off x="5564188" y="2216150"/>
            <a:ext cx="1425575" cy="719138"/>
          </a:xfrm>
          <a:prstGeom prst="chevron">
            <a:avLst>
              <a:gd name="adj" fmla="val 22063"/>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Competitive Supplier</a:t>
            </a:r>
            <a:br>
              <a:rPr lang="en-US" altLang="ko-KR" sz="1200">
                <a:ea typeface="굴림" panose="020b0600000101010101" pitchFamily="34" charset="-127"/>
              </a:rPr>
            </a:br>
            <a:r>
              <a:rPr lang="en-US" altLang="ko-KR" sz="1200">
                <a:ea typeface="굴림" panose="020b0600000101010101" pitchFamily="34" charset="-127"/>
              </a:rPr>
              <a:t>Selection</a:t>
            </a:r>
          </a:p>
        </p:txBody>
      </p:sp>
      <p:sp>
        <p:nvSpPr>
          <p:cNvPr id="21513" name="AutoShape 10">
            <a:extLst>
              <a:ext uri="{FF2B5EF4-FFF2-40B4-BE49-F238E27FC236}">
                <a16:creationId xmlns:a16="http://schemas.microsoft.com/office/drawing/2014/main" id="{124DD0D2-1436-EF2F-34B5-0E845E32B4E6}"/>
              </a:ext>
            </a:extLst>
          </p:cNvPr>
          <p:cNvSpPr>
            <a:spLocks noChangeArrowheads="1"/>
          </p:cNvSpPr>
          <p:nvPr/>
        </p:nvSpPr>
        <p:spPr bwMode="auto">
          <a:xfrm>
            <a:off x="6888163" y="2216150"/>
            <a:ext cx="1423987" cy="719138"/>
          </a:xfrm>
          <a:prstGeom prst="chevron">
            <a:avLst>
              <a:gd name="adj" fmla="val 2203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Operational Integration</a:t>
            </a:r>
            <a:br>
              <a:rPr lang="en-US" altLang="ko-KR" sz="1200">
                <a:ea typeface="굴림" panose="020b0600000101010101" pitchFamily="34" charset="-127"/>
              </a:rPr>
            </a:br>
            <a:r>
              <a:rPr lang="en-US" altLang="ko-KR" sz="1200">
                <a:ea typeface="굴림" panose="020b0600000101010101" pitchFamily="34" charset="-127"/>
              </a:rPr>
              <a:t>with Suppliers</a:t>
            </a:r>
          </a:p>
        </p:txBody>
      </p:sp>
      <p:sp>
        <p:nvSpPr>
          <p:cNvPr id="21514" name="AutoShape 11">
            <a:extLst>
              <a:ext uri="{FF2B5EF4-FFF2-40B4-BE49-F238E27FC236}">
                <a16:creationId xmlns:a16="http://schemas.microsoft.com/office/drawing/2014/main" id="{4E2D8228-A035-F55B-BD90-7769FEEC1B63}"/>
              </a:ext>
            </a:extLst>
          </p:cNvPr>
          <p:cNvSpPr>
            <a:spLocks noChangeArrowheads="1"/>
          </p:cNvSpPr>
          <p:nvPr/>
        </p:nvSpPr>
        <p:spPr bwMode="auto">
          <a:xfrm>
            <a:off x="8208963" y="2216150"/>
            <a:ext cx="1425575" cy="719138"/>
          </a:xfrm>
          <a:prstGeom prst="chevron">
            <a:avLst>
              <a:gd name="adj" fmla="val 22063"/>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Continuous Benchmarking of Supply Market</a:t>
            </a:r>
          </a:p>
        </p:txBody>
      </p:sp>
      <p:sp>
        <p:nvSpPr>
          <p:cNvPr id="21515" name="Rectangle 12">
            <a:extLst>
              <a:ext uri="{FF2B5EF4-FFF2-40B4-BE49-F238E27FC236}">
                <a16:creationId xmlns:a16="http://schemas.microsoft.com/office/drawing/2014/main" id="{48232F85-8DCC-B9C3-592B-BE3A360B3990}"/>
              </a:ext>
            </a:extLst>
          </p:cNvPr>
          <p:cNvSpPr>
            <a:spLocks noChangeArrowheads="1"/>
          </p:cNvSpPr>
          <p:nvPr/>
        </p:nvSpPr>
        <p:spPr bwMode="auto">
          <a:xfrm>
            <a:off x="1560513" y="3009900"/>
            <a:ext cx="1316037" cy="2146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Benchmark direct and indirect cost</a:t>
            </a:r>
          </a:p>
          <a:p>
            <a:pPr>
              <a:lnSpc>
                <a:spcPct val="85000"/>
              </a:lnSpc>
              <a:spcBef>
                <a:spcPct val="10000"/>
              </a:spcBef>
              <a:buFontTx/>
              <a:buChar char="•"/>
            </a:pPr>
            <a:r>
              <a:rPr lang="en-US" altLang="ko-KR" sz="1000" b="0">
                <a:ea typeface="굴림" panose="020b0600000101010101" pitchFamily="34" charset="-127"/>
              </a:rPr>
              <a:t>Identify opportuni-ties to utilize con-tract agreements</a:t>
            </a:r>
          </a:p>
          <a:p>
            <a:pPr>
              <a:lnSpc>
                <a:spcPct val="85000"/>
              </a:lnSpc>
              <a:spcBef>
                <a:spcPct val="10000"/>
              </a:spcBef>
              <a:buFontTx/>
              <a:buChar char="•"/>
            </a:pPr>
            <a:r>
              <a:rPr lang="en-US" altLang="ko-KR" sz="1000" b="0">
                <a:ea typeface="굴림" panose="020b0600000101010101" pitchFamily="34" charset="-127"/>
              </a:rPr>
              <a:t>Conduct  value analysis to identify design and specification improvements </a:t>
            </a:r>
          </a:p>
          <a:p>
            <a:pPr>
              <a:lnSpc>
                <a:spcPct val="85000"/>
              </a:lnSpc>
              <a:spcBef>
                <a:spcPct val="10000"/>
              </a:spcBef>
              <a:buFontTx/>
              <a:buChar char="•"/>
            </a:pPr>
            <a:r>
              <a:rPr lang="en-US" altLang="ko-KR" sz="1000" b="0">
                <a:ea typeface="굴림" panose="020b0600000101010101" pitchFamily="34" charset="-127"/>
              </a:rPr>
              <a:t>Assess bargaining position</a:t>
            </a:r>
          </a:p>
          <a:p>
            <a:pPr>
              <a:lnSpc>
                <a:spcPct val="85000"/>
              </a:lnSpc>
              <a:spcBef>
                <a:spcPct val="10000"/>
              </a:spcBef>
              <a:buFontTx/>
              <a:buChar char="•"/>
            </a:pPr>
            <a:r>
              <a:rPr lang="en-US" altLang="ko-KR" sz="1000" b="0">
                <a:ea typeface="굴림" panose="020b0600000101010101" pitchFamily="34" charset="-127"/>
              </a:rPr>
              <a:t>Rank order oppor-tunities by sourcing category, set targets, establish work plan</a:t>
            </a:r>
          </a:p>
        </p:txBody>
      </p:sp>
      <p:sp>
        <p:nvSpPr>
          <p:cNvPr id="21516" name="AutoShape 13">
            <a:extLst>
              <a:ext uri="{FF2B5EF4-FFF2-40B4-BE49-F238E27FC236}">
                <a16:creationId xmlns:a16="http://schemas.microsoft.com/office/drawing/2014/main" id="{658A9DC3-B7A8-3061-93F0-60F82B027056}"/>
              </a:ext>
            </a:extLst>
          </p:cNvPr>
          <p:cNvSpPr>
            <a:spLocks noChangeArrowheads="1"/>
          </p:cNvSpPr>
          <p:nvPr/>
        </p:nvSpPr>
        <p:spPr bwMode="auto">
          <a:xfrm rot="10800000">
            <a:off x="1814513" y="5486400"/>
            <a:ext cx="849312"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17" name="Rectangle 14">
            <a:extLst>
              <a:ext uri="{FF2B5EF4-FFF2-40B4-BE49-F238E27FC236}">
                <a16:creationId xmlns:a16="http://schemas.microsoft.com/office/drawing/2014/main" id="{33A88FCF-6778-F294-3920-AC03F50E56FD}"/>
              </a:ext>
            </a:extLst>
          </p:cNvPr>
          <p:cNvSpPr>
            <a:spLocks noChangeArrowheads="1"/>
          </p:cNvSpPr>
          <p:nvPr/>
        </p:nvSpPr>
        <p:spPr bwMode="auto">
          <a:xfrm>
            <a:off x="2968625" y="3009900"/>
            <a:ext cx="1228725" cy="1593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Capture best new suppliers for back leverage with incumbent supp-liers</a:t>
            </a:r>
          </a:p>
          <a:p>
            <a:pPr>
              <a:lnSpc>
                <a:spcPct val="85000"/>
              </a:lnSpc>
              <a:spcBef>
                <a:spcPct val="10000"/>
              </a:spcBef>
              <a:buFontTx/>
              <a:buChar char="•"/>
            </a:pPr>
            <a:r>
              <a:rPr lang="en-US" altLang="ko-KR" sz="1000" b="0">
                <a:ea typeface="굴림" panose="020b0600000101010101" pitchFamily="34" charset="-127"/>
              </a:rPr>
              <a:t>Conduct buying power assessment by sourcing category</a:t>
            </a:r>
          </a:p>
          <a:p>
            <a:pPr>
              <a:lnSpc>
                <a:spcPct val="85000"/>
              </a:lnSpc>
              <a:spcBef>
                <a:spcPct val="10000"/>
              </a:spcBef>
              <a:buFontTx/>
              <a:buChar char="•"/>
            </a:pPr>
            <a:r>
              <a:rPr lang="en-US" altLang="ko-KR" sz="1000" b="0">
                <a:ea typeface="굴림" panose="020b0600000101010101" pitchFamily="34" charset="-127"/>
              </a:rPr>
              <a:t>Identify leverage points and refine savings targets</a:t>
            </a:r>
          </a:p>
        </p:txBody>
      </p:sp>
      <p:sp>
        <p:nvSpPr>
          <p:cNvPr id="21518" name="AutoShape 15">
            <a:extLst>
              <a:ext uri="{FF2B5EF4-FFF2-40B4-BE49-F238E27FC236}">
                <a16:creationId xmlns:a16="http://schemas.microsoft.com/office/drawing/2014/main" id="{AB28AC35-4180-535E-A4EB-F0AD6626D9DC}"/>
              </a:ext>
            </a:extLst>
          </p:cNvPr>
          <p:cNvSpPr>
            <a:spLocks noChangeArrowheads="1"/>
          </p:cNvSpPr>
          <p:nvPr/>
        </p:nvSpPr>
        <p:spPr bwMode="auto">
          <a:xfrm rot="10800000">
            <a:off x="3140075" y="5486400"/>
            <a:ext cx="849313"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19" name="Rectangle 16">
            <a:extLst>
              <a:ext uri="{FF2B5EF4-FFF2-40B4-BE49-F238E27FC236}">
                <a16:creationId xmlns:a16="http://schemas.microsoft.com/office/drawing/2014/main" id="{3440CEBC-2D12-0FAB-7F89-B3D0616DDEAF}"/>
              </a:ext>
            </a:extLst>
          </p:cNvPr>
          <p:cNvSpPr>
            <a:spLocks noChangeArrowheads="1"/>
          </p:cNvSpPr>
          <p:nvPr/>
        </p:nvSpPr>
        <p:spPr bwMode="auto">
          <a:xfrm>
            <a:off x="4289425" y="3009900"/>
            <a:ext cx="1228725" cy="18129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FontTx/>
              <a:buChar char="•"/>
            </a:pPr>
            <a:r>
              <a:rPr lang="en-US" altLang="ko-KR" sz="1000" b="0">
                <a:ea typeface="굴림" panose="020b0600000101010101" pitchFamily="34" charset="-127"/>
              </a:rPr>
              <a:t>Select negotiation or competitive bidding process</a:t>
            </a:r>
          </a:p>
          <a:p>
            <a:pPr>
              <a:lnSpc>
                <a:spcPct val="85000"/>
              </a:lnSpc>
              <a:spcBef>
                <a:spcPct val="20000"/>
              </a:spcBef>
              <a:buFontTx/>
              <a:buChar char="•"/>
            </a:pPr>
            <a:r>
              <a:rPr lang="en-US" altLang="ko-KR" sz="1000" b="0">
                <a:ea typeface="굴림" panose="020b0600000101010101" pitchFamily="34" charset="-127"/>
              </a:rPr>
              <a:t>Verify and adjust sourcing strategy</a:t>
            </a:r>
          </a:p>
          <a:p>
            <a:pPr>
              <a:lnSpc>
                <a:spcPct val="85000"/>
              </a:lnSpc>
              <a:spcBef>
                <a:spcPct val="20000"/>
              </a:spcBef>
              <a:buFontTx/>
              <a:buChar char="•"/>
            </a:pPr>
            <a:r>
              <a:rPr lang="en-US" altLang="ko-KR" sz="1000" b="0">
                <a:ea typeface="굴림" panose="020b0600000101010101" pitchFamily="34" charset="-127"/>
              </a:rPr>
              <a:t>Develop imple-mentation plan, prepare RFP</a:t>
            </a:r>
          </a:p>
          <a:p>
            <a:pPr>
              <a:lnSpc>
                <a:spcPct val="85000"/>
              </a:lnSpc>
              <a:spcBef>
                <a:spcPct val="20000"/>
              </a:spcBef>
              <a:buFontTx/>
              <a:buChar char="•"/>
            </a:pPr>
            <a:r>
              <a:rPr lang="en-US" altLang="ko-KR" sz="1000" b="0">
                <a:ea typeface="굴림" panose="020b0600000101010101" pitchFamily="34" charset="-127"/>
              </a:rPr>
              <a:t>Prepare analysis to support nego-tiations</a:t>
            </a:r>
          </a:p>
          <a:p>
            <a:pPr>
              <a:lnSpc>
                <a:spcPct val="85000"/>
              </a:lnSpc>
              <a:spcBef>
                <a:spcPct val="20000"/>
              </a:spcBef>
              <a:buFontTx/>
              <a:buChar char="•"/>
            </a:pPr>
            <a:r>
              <a:rPr lang="en-US" altLang="ko-KR" sz="1000" b="0">
                <a:ea typeface="굴림" panose="020b0600000101010101" pitchFamily="34" charset="-127"/>
              </a:rPr>
              <a:t>Develop negotia-tion strategy </a:t>
            </a:r>
          </a:p>
        </p:txBody>
      </p:sp>
      <p:sp>
        <p:nvSpPr>
          <p:cNvPr id="21520" name="AutoShape 17">
            <a:extLst>
              <a:ext uri="{FF2B5EF4-FFF2-40B4-BE49-F238E27FC236}">
                <a16:creationId xmlns:a16="http://schemas.microsoft.com/office/drawing/2014/main" id="{4DD778D5-4E14-A9E7-C668-15FB48CA8C6E}"/>
              </a:ext>
            </a:extLst>
          </p:cNvPr>
          <p:cNvSpPr>
            <a:spLocks noChangeArrowheads="1"/>
          </p:cNvSpPr>
          <p:nvPr/>
        </p:nvSpPr>
        <p:spPr bwMode="auto">
          <a:xfrm rot="10800000">
            <a:off x="4465638" y="5486400"/>
            <a:ext cx="850900"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21" name="Rectangle 18">
            <a:extLst>
              <a:ext uri="{FF2B5EF4-FFF2-40B4-BE49-F238E27FC236}">
                <a16:creationId xmlns:a16="http://schemas.microsoft.com/office/drawing/2014/main" id="{E76CF41F-8157-54EA-3FF4-D0014702032C}"/>
              </a:ext>
            </a:extLst>
          </p:cNvPr>
          <p:cNvSpPr>
            <a:spLocks noChangeArrowheads="1"/>
          </p:cNvSpPr>
          <p:nvPr/>
        </p:nvSpPr>
        <p:spPr bwMode="auto">
          <a:xfrm>
            <a:off x="5610225" y="3009900"/>
            <a:ext cx="1228725" cy="1479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Execute RFP process, evaluate use of e-sourcing tools</a:t>
            </a:r>
          </a:p>
          <a:p>
            <a:pPr>
              <a:lnSpc>
                <a:spcPct val="85000"/>
              </a:lnSpc>
              <a:spcBef>
                <a:spcPct val="10000"/>
              </a:spcBef>
              <a:buFontTx/>
              <a:buChar char="•"/>
            </a:pPr>
            <a:r>
              <a:rPr lang="en-US" altLang="ko-KR" sz="1000" b="0">
                <a:ea typeface="굴림" panose="020b0600000101010101" pitchFamily="34" charset="-127"/>
              </a:rPr>
              <a:t>Evaluate supplier proposals</a:t>
            </a:r>
          </a:p>
          <a:p>
            <a:pPr>
              <a:lnSpc>
                <a:spcPct val="85000"/>
              </a:lnSpc>
              <a:spcBef>
                <a:spcPct val="10000"/>
              </a:spcBef>
              <a:buFontTx/>
              <a:buChar char="•"/>
            </a:pPr>
            <a:r>
              <a:rPr lang="en-US" altLang="ko-KR" sz="1000" b="0">
                <a:ea typeface="굴림" panose="020b0600000101010101" pitchFamily="34" charset="-127"/>
              </a:rPr>
              <a:t>Plan negotiation events</a:t>
            </a:r>
          </a:p>
          <a:p>
            <a:pPr>
              <a:lnSpc>
                <a:spcPct val="85000"/>
              </a:lnSpc>
              <a:spcBef>
                <a:spcPct val="10000"/>
              </a:spcBef>
              <a:buFontTx/>
              <a:buChar char="•"/>
            </a:pPr>
            <a:r>
              <a:rPr lang="en-US" altLang="ko-KR" sz="1000" b="0">
                <a:ea typeface="굴림" panose="020b0600000101010101" pitchFamily="34" charset="-127"/>
              </a:rPr>
              <a:t>Execute compe-titive selection and negotiation</a:t>
            </a:r>
          </a:p>
        </p:txBody>
      </p:sp>
      <p:sp>
        <p:nvSpPr>
          <p:cNvPr id="21522" name="AutoShape 19">
            <a:extLst>
              <a:ext uri="{FF2B5EF4-FFF2-40B4-BE49-F238E27FC236}">
                <a16:creationId xmlns:a16="http://schemas.microsoft.com/office/drawing/2014/main" id="{1B114B6C-38B0-1B27-5A06-D727EBB27BEC}"/>
              </a:ext>
            </a:extLst>
          </p:cNvPr>
          <p:cNvSpPr>
            <a:spLocks noChangeArrowheads="1"/>
          </p:cNvSpPr>
          <p:nvPr/>
        </p:nvSpPr>
        <p:spPr bwMode="auto">
          <a:xfrm rot="10800000">
            <a:off x="5791200" y="5486400"/>
            <a:ext cx="849313"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23" name="Rectangle 20">
            <a:extLst>
              <a:ext uri="{FF2B5EF4-FFF2-40B4-BE49-F238E27FC236}">
                <a16:creationId xmlns:a16="http://schemas.microsoft.com/office/drawing/2014/main" id="{EF76B518-0660-68F3-2343-FBDA9D536939}"/>
              </a:ext>
            </a:extLst>
          </p:cNvPr>
          <p:cNvSpPr>
            <a:spLocks noChangeArrowheads="1"/>
          </p:cNvSpPr>
          <p:nvPr/>
        </p:nvSpPr>
        <p:spPr bwMode="auto">
          <a:xfrm>
            <a:off x="6931025" y="3009900"/>
            <a:ext cx="1228725" cy="1073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Conduct internal planning sessions</a:t>
            </a:r>
          </a:p>
          <a:p>
            <a:pPr>
              <a:lnSpc>
                <a:spcPct val="85000"/>
              </a:lnSpc>
              <a:spcBef>
                <a:spcPct val="10000"/>
              </a:spcBef>
              <a:buFontTx/>
              <a:buChar char="•"/>
            </a:pPr>
            <a:r>
              <a:rPr lang="en-US" altLang="ko-KR" sz="1000" b="0">
                <a:ea typeface="굴림" panose="020b0600000101010101" pitchFamily="34" charset="-127"/>
              </a:rPr>
              <a:t>Manage supplier implementation planning sessions</a:t>
            </a:r>
          </a:p>
          <a:p>
            <a:pPr>
              <a:lnSpc>
                <a:spcPct val="85000"/>
              </a:lnSpc>
              <a:spcBef>
                <a:spcPct val="10000"/>
              </a:spcBef>
              <a:buFontTx/>
              <a:buChar char="•"/>
            </a:pPr>
            <a:r>
              <a:rPr lang="en-US" altLang="ko-KR" sz="1000" b="0">
                <a:ea typeface="굴림" panose="020b0600000101010101" pitchFamily="34" charset="-127"/>
              </a:rPr>
              <a:t>Prepare transition plan and manage implementation</a:t>
            </a:r>
          </a:p>
        </p:txBody>
      </p:sp>
      <p:sp>
        <p:nvSpPr>
          <p:cNvPr id="21524" name="AutoShape 21">
            <a:extLst>
              <a:ext uri="{FF2B5EF4-FFF2-40B4-BE49-F238E27FC236}">
                <a16:creationId xmlns:a16="http://schemas.microsoft.com/office/drawing/2014/main" id="{C44987EA-93F4-CE24-7A90-C8639B16D2A9}"/>
              </a:ext>
            </a:extLst>
          </p:cNvPr>
          <p:cNvSpPr>
            <a:spLocks noChangeArrowheads="1"/>
          </p:cNvSpPr>
          <p:nvPr/>
        </p:nvSpPr>
        <p:spPr bwMode="auto">
          <a:xfrm rot="10800000">
            <a:off x="7116763" y="5486400"/>
            <a:ext cx="849312"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25" name="Rectangle 22">
            <a:extLst>
              <a:ext uri="{FF2B5EF4-FFF2-40B4-BE49-F238E27FC236}">
                <a16:creationId xmlns:a16="http://schemas.microsoft.com/office/drawing/2014/main" id="{9A540248-91F4-47C5-CF88-34B3F6C364E8}"/>
              </a:ext>
            </a:extLst>
          </p:cNvPr>
          <p:cNvSpPr>
            <a:spLocks noChangeArrowheads="1"/>
          </p:cNvSpPr>
          <p:nvPr/>
        </p:nvSpPr>
        <p:spPr bwMode="auto">
          <a:xfrm>
            <a:off x="8251825" y="3009900"/>
            <a:ext cx="1228725" cy="13922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Capture lessons learned </a:t>
            </a:r>
          </a:p>
          <a:p>
            <a:pPr>
              <a:lnSpc>
                <a:spcPct val="85000"/>
              </a:lnSpc>
              <a:spcBef>
                <a:spcPct val="10000"/>
              </a:spcBef>
              <a:buFontTx/>
              <a:buChar char="•"/>
            </a:pPr>
            <a:r>
              <a:rPr lang="en-US" altLang="ko-KR" sz="1000" b="0">
                <a:ea typeface="굴림" panose="020b0600000101010101" pitchFamily="34" charset="-127"/>
              </a:rPr>
              <a:t>Incorporate lessons into client's supply base integration process</a:t>
            </a:r>
          </a:p>
          <a:p>
            <a:pPr>
              <a:spcBef>
                <a:spcPct val="30000"/>
              </a:spcBef>
              <a:buFontTx/>
              <a:buChar char="•"/>
            </a:pPr>
            <a:r>
              <a:rPr lang="en-US" altLang="ko-KR" sz="1000" b="0">
                <a:ea typeface="굴림" panose="020b0600000101010101" pitchFamily="34" charset="-127"/>
              </a:rPr>
              <a:t>Implement systems to track progress</a:t>
            </a:r>
          </a:p>
          <a:p>
            <a:pPr>
              <a:lnSpc>
                <a:spcPct val="85000"/>
              </a:lnSpc>
              <a:spcBef>
                <a:spcPct val="10000"/>
              </a:spcBef>
              <a:buFontTx/>
              <a:buChar char="•"/>
            </a:pPr>
            <a:r>
              <a:rPr lang="en-US" altLang="ko-KR" sz="1000" b="0">
                <a:ea typeface="굴림" panose="020b0600000101010101" pitchFamily="34" charset="-127"/>
              </a:rPr>
              <a:t>Maintain best in class processes</a:t>
            </a:r>
          </a:p>
        </p:txBody>
      </p:sp>
      <p:sp>
        <p:nvSpPr>
          <p:cNvPr id="21526" name="AutoShape 23">
            <a:extLst>
              <a:ext uri="{FF2B5EF4-FFF2-40B4-BE49-F238E27FC236}">
                <a16:creationId xmlns:a16="http://schemas.microsoft.com/office/drawing/2014/main" id="{B247A998-BA37-5348-C3C5-FA413ADAB035}"/>
              </a:ext>
            </a:extLst>
          </p:cNvPr>
          <p:cNvSpPr>
            <a:spLocks noChangeArrowheads="1"/>
          </p:cNvSpPr>
          <p:nvPr/>
        </p:nvSpPr>
        <p:spPr bwMode="auto">
          <a:xfrm rot="10800000">
            <a:off x="8442325" y="5486400"/>
            <a:ext cx="849313"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27" name="Rectangle 24">
            <a:extLst>
              <a:ext uri="{FF2B5EF4-FFF2-40B4-BE49-F238E27FC236}">
                <a16:creationId xmlns:a16="http://schemas.microsoft.com/office/drawing/2014/main" id="{D556699F-27C7-6B02-DE00-03A6378C51D5}"/>
              </a:ext>
            </a:extLst>
          </p:cNvPr>
          <p:cNvSpPr>
            <a:spLocks noChangeArrowheads="1"/>
          </p:cNvSpPr>
          <p:nvPr/>
        </p:nvSpPr>
        <p:spPr bwMode="auto">
          <a:xfrm>
            <a:off x="265113" y="1614488"/>
            <a:ext cx="7653337" cy="247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solidFill>
                  <a:srgbClr val="000000"/>
                </a:solidFill>
                <a:ea typeface="굴림" panose="020b0600000101010101" pitchFamily="34" charset="-127"/>
              </a:rPr>
              <a:t>7-Step-Sourcing</a:t>
            </a:r>
          </a:p>
        </p:txBody>
      </p:sp>
      <p:grpSp>
        <p:nvGrpSpPr>
          <p:cNvPr id="21528" name="Group 25">
            <a:extLst>
              <a:ext uri="{FF2B5EF4-FFF2-40B4-BE49-F238E27FC236}">
                <a16:creationId xmlns:a16="http://schemas.microsoft.com/office/drawing/2014/main" id="{4AEEF6AA-6993-3C1D-2C2C-903C13D27B4B}"/>
              </a:ext>
            </a:extLst>
          </p:cNvPr>
          <p:cNvGrpSpPr/>
          <p:nvPr/>
        </p:nvGrpSpPr>
        <p:grpSpPr>
          <a:xfrm>
            <a:off x="1871663" y="5822950"/>
            <a:ext cx="782637" cy="766763"/>
            <a:chOff x="1088" y="3433"/>
            <a:chExt cx="455" cy="483"/>
          </a:xfrm>
        </p:grpSpPr>
        <p:sp>
          <p:nvSpPr>
            <p:cNvPr id="21572" name="AutoShape 26">
              <a:extLst>
                <a:ext uri="{FF2B5EF4-FFF2-40B4-BE49-F238E27FC236}">
                  <a16:creationId xmlns:a16="http://schemas.microsoft.com/office/drawing/2014/main" id="{F20D7032-9E96-8642-D6D2-C32C15F2050D}"/>
                </a:ext>
              </a:extLst>
            </p:cNvPr>
            <p:cNvSpPr>
              <a:spLocks noChangeArrowheads="1"/>
            </p:cNvSpPr>
            <p:nvPr/>
          </p:nvSpPr>
          <p:spPr bwMode="auto">
            <a:xfrm rot="5400000">
              <a:off x="1075" y="3446"/>
              <a:ext cx="482" cy="455"/>
            </a:xfrm>
            <a:prstGeom prst="hexagon">
              <a:avLst>
                <a:gd name="adj" fmla="val 26484"/>
                <a:gd name="vf" fmla="val 11547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cxnSp>
          <p:nvCxnSpPr>
            <p:cNvPr id="21573" name="AutoShape 27">
              <a:extLst>
                <a:ext uri="{FF2B5EF4-FFF2-40B4-BE49-F238E27FC236}">
                  <a16:creationId xmlns:a16="http://schemas.microsoft.com/office/drawing/2014/main" id="{10234E25-7F48-0B45-7680-8480A87B948A}"/>
                </a:ext>
              </a:extLst>
            </p:cNvPr>
            <p:cNvCxnSpPr>
              <a:cxnSpLocks noChangeShapeType="1"/>
              <a:stCxn id="21572" idx="2"/>
              <a:endCxn id="21572" idx="2"/>
            </p:cNvCxnSpPr>
            <p:nvPr/>
          </p:nvCxnSpPr>
          <p:spPr bwMode="auto">
            <a:xfrm flipH="1">
              <a:off x="1316" y="3434"/>
              <a:ext cx="0" cy="482"/>
            </a:xfrm>
            <a:prstGeom prst="straightConnector1">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74" name="Line 28">
              <a:extLst>
                <a:ext uri="{FF2B5EF4-FFF2-40B4-BE49-F238E27FC236}">
                  <a16:creationId xmlns:a16="http://schemas.microsoft.com/office/drawing/2014/main" id="{F430BFD3-E784-1CCA-4B0F-42FAF5AA42D9}"/>
                </a:ext>
              </a:extLst>
            </p:cNvPr>
            <p:cNvSpPr>
              <a:spLocks noChangeShapeType="1"/>
            </p:cNvSpPr>
            <p:nvPr/>
          </p:nvSpPr>
          <p:spPr bwMode="auto">
            <a:xfrm flipV="1">
              <a:off x="1088" y="3554"/>
              <a:ext cx="454" cy="241"/>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75" name="Line 29">
              <a:extLst>
                <a:ext uri="{FF2B5EF4-FFF2-40B4-BE49-F238E27FC236}">
                  <a16:creationId xmlns:a16="http://schemas.microsoft.com/office/drawing/2014/main" id="{828CF5DC-8930-142F-E167-C59E74CB2D4C}"/>
                </a:ext>
              </a:extLst>
            </p:cNvPr>
            <p:cNvSpPr>
              <a:spLocks noChangeShapeType="1"/>
            </p:cNvSpPr>
            <p:nvPr/>
          </p:nvSpPr>
          <p:spPr bwMode="auto">
            <a:xfrm>
              <a:off x="1089" y="3554"/>
              <a:ext cx="453" cy="238"/>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76" name="AutoShape 30">
              <a:extLst>
                <a:ext uri="{FF2B5EF4-FFF2-40B4-BE49-F238E27FC236}">
                  <a16:creationId xmlns:a16="http://schemas.microsoft.com/office/drawing/2014/main" id="{167D193B-09E6-C346-B9CE-05D4C598B670}"/>
                </a:ext>
              </a:extLst>
            </p:cNvPr>
            <p:cNvSpPr>
              <a:spLocks noChangeArrowheads="1"/>
            </p:cNvSpPr>
            <p:nvPr/>
          </p:nvSpPr>
          <p:spPr bwMode="auto">
            <a:xfrm rot="5400000">
              <a:off x="1218" y="3582"/>
              <a:ext cx="194" cy="184"/>
            </a:xfrm>
            <a:prstGeom prst="hexagon">
              <a:avLst>
                <a:gd name="adj" fmla="val 26359"/>
                <a:gd name="vf" fmla="val 115470"/>
              </a:avLst>
            </a:prstGeom>
            <a:solidFill>
              <a:srgbClr val="00B0F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pic>
        <p:nvPicPr>
          <p:cNvPr id="21529" name="Picture 31">
            <a:extLst>
              <a:ext uri="{FF2B5EF4-FFF2-40B4-BE49-F238E27FC236}">
                <a16:creationId xmlns:a16="http://schemas.microsoft.com/office/drawing/2014/main" id="{D16E81FE-8A0B-5436-E359-BDAC82715E4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710238" y="5845175"/>
            <a:ext cx="10318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30" name="Group 32">
            <a:extLst>
              <a:ext uri="{FF2B5EF4-FFF2-40B4-BE49-F238E27FC236}">
                <a16:creationId xmlns:a16="http://schemas.microsoft.com/office/drawing/2014/main" id="{681FB3A1-1427-CAB8-5358-1356BF3F3E80}"/>
              </a:ext>
            </a:extLst>
          </p:cNvPr>
          <p:cNvGrpSpPr/>
          <p:nvPr/>
        </p:nvGrpSpPr>
        <p:grpSpPr>
          <a:xfrm>
            <a:off x="7086600" y="5810250"/>
            <a:ext cx="919163" cy="820738"/>
            <a:chOff x="4136" y="3420"/>
            <a:chExt cx="534" cy="517"/>
          </a:xfrm>
        </p:grpSpPr>
        <p:sp>
          <p:nvSpPr>
            <p:cNvPr id="21558" name="Rectangle 33">
              <a:extLst>
                <a:ext uri="{FF2B5EF4-FFF2-40B4-BE49-F238E27FC236}">
                  <a16:creationId xmlns:a16="http://schemas.microsoft.com/office/drawing/2014/main" id="{3837D065-15F0-80DF-FC98-9E1C3317CAF6}"/>
                </a:ext>
              </a:extLst>
            </p:cNvPr>
            <p:cNvSpPr>
              <a:spLocks noChangeArrowheads="1"/>
            </p:cNvSpPr>
            <p:nvPr/>
          </p:nvSpPr>
          <p:spPr bwMode="auto">
            <a:xfrm>
              <a:off x="4136" y="3420"/>
              <a:ext cx="225"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59" name="Rectangle 34">
              <a:extLst>
                <a:ext uri="{FF2B5EF4-FFF2-40B4-BE49-F238E27FC236}">
                  <a16:creationId xmlns:a16="http://schemas.microsoft.com/office/drawing/2014/main" id="{E371DA3E-9945-9D07-3F12-6C6E9CA81BB2}"/>
                </a:ext>
              </a:extLst>
            </p:cNvPr>
            <p:cNvSpPr>
              <a:spLocks noChangeArrowheads="1"/>
            </p:cNvSpPr>
            <p:nvPr/>
          </p:nvSpPr>
          <p:spPr bwMode="auto">
            <a:xfrm>
              <a:off x="4361"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60" name="Rectangle 35">
              <a:extLst>
                <a:ext uri="{FF2B5EF4-FFF2-40B4-BE49-F238E27FC236}">
                  <a16:creationId xmlns:a16="http://schemas.microsoft.com/office/drawing/2014/main" id="{5906ADC5-8A0A-3C39-7D7E-67CA158C7D2B}"/>
                </a:ext>
              </a:extLst>
            </p:cNvPr>
            <p:cNvSpPr>
              <a:spLocks noChangeArrowheads="1"/>
            </p:cNvSpPr>
            <p:nvPr/>
          </p:nvSpPr>
          <p:spPr bwMode="auto">
            <a:xfrm>
              <a:off x="4464"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61" name="Rectangle 36">
              <a:extLst>
                <a:ext uri="{FF2B5EF4-FFF2-40B4-BE49-F238E27FC236}">
                  <a16:creationId xmlns:a16="http://schemas.microsoft.com/office/drawing/2014/main" id="{F40563CC-2020-79E4-A97B-27CE2EEBDA9F}"/>
                </a:ext>
              </a:extLst>
            </p:cNvPr>
            <p:cNvSpPr>
              <a:spLocks noChangeArrowheads="1"/>
            </p:cNvSpPr>
            <p:nvPr/>
          </p:nvSpPr>
          <p:spPr bwMode="auto">
            <a:xfrm>
              <a:off x="4567"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62" name="Rectangle 37">
              <a:extLst>
                <a:ext uri="{FF2B5EF4-FFF2-40B4-BE49-F238E27FC236}">
                  <a16:creationId xmlns:a16="http://schemas.microsoft.com/office/drawing/2014/main" id="{BA343A38-804F-4E38-26D3-3CA1EFDF5160}"/>
                </a:ext>
              </a:extLst>
            </p:cNvPr>
            <p:cNvSpPr>
              <a:spLocks noChangeArrowheads="1"/>
            </p:cNvSpPr>
            <p:nvPr/>
          </p:nvSpPr>
          <p:spPr bwMode="auto">
            <a:xfrm>
              <a:off x="4136" y="3513"/>
              <a:ext cx="225"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buFontTx/>
                <a:buNone/>
              </a:pPr>
              <a:r>
                <a:rPr lang="en-US" altLang="ko-KR" sz="800">
                  <a:ea typeface="굴림" panose="020b0600000101010101" pitchFamily="34" charset="-127"/>
                </a:rPr>
                <a:t>…</a:t>
              </a:r>
            </a:p>
            <a:p>
              <a:pPr algn="ctr" eaLnBrk="1" hangingPunct="1">
                <a:buFontTx/>
                <a:buNone/>
              </a:pPr>
              <a:r>
                <a:rPr lang="en-US" altLang="ko-KR" sz="800">
                  <a:ea typeface="굴림" panose="020b0600000101010101" pitchFamily="34" charset="-127"/>
                </a:rPr>
                <a:t>…</a:t>
              </a:r>
            </a:p>
            <a:p>
              <a:pPr algn="ctr" eaLnBrk="1" hangingPunct="1">
                <a:buFontTx/>
                <a:buNone/>
              </a:pPr>
              <a:r>
                <a:rPr lang="en-US" altLang="ko-KR" sz="800">
                  <a:ea typeface="굴림" panose="020b0600000101010101" pitchFamily="34" charset="-127"/>
                </a:rPr>
                <a:t>…</a:t>
              </a:r>
            </a:p>
          </p:txBody>
        </p:sp>
        <p:sp>
          <p:nvSpPr>
            <p:cNvPr id="21563" name="Rectangle 38">
              <a:extLst>
                <a:ext uri="{FF2B5EF4-FFF2-40B4-BE49-F238E27FC236}">
                  <a16:creationId xmlns:a16="http://schemas.microsoft.com/office/drawing/2014/main" id="{40E9EF2C-74B9-CD7F-79C6-DD07B9389603}"/>
                </a:ext>
              </a:extLst>
            </p:cNvPr>
            <p:cNvSpPr>
              <a:spLocks noChangeArrowheads="1"/>
            </p:cNvSpPr>
            <p:nvPr/>
          </p:nvSpPr>
          <p:spPr bwMode="auto">
            <a:xfrm>
              <a:off x="4361"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64" name="Rectangle 39">
              <a:extLst>
                <a:ext uri="{FF2B5EF4-FFF2-40B4-BE49-F238E27FC236}">
                  <a16:creationId xmlns:a16="http://schemas.microsoft.com/office/drawing/2014/main" id="{0044D4B6-5CC6-4BE6-D0B3-4C6A2FF232BB}"/>
                </a:ext>
              </a:extLst>
            </p:cNvPr>
            <p:cNvSpPr>
              <a:spLocks noChangeArrowheads="1"/>
            </p:cNvSpPr>
            <p:nvPr/>
          </p:nvSpPr>
          <p:spPr bwMode="auto">
            <a:xfrm>
              <a:off x="4464"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65" name="Rectangle 40">
              <a:extLst>
                <a:ext uri="{FF2B5EF4-FFF2-40B4-BE49-F238E27FC236}">
                  <a16:creationId xmlns:a16="http://schemas.microsoft.com/office/drawing/2014/main" id="{323491BA-D158-05CF-CFA8-C0E9BA3D8022}"/>
                </a:ext>
              </a:extLst>
            </p:cNvPr>
            <p:cNvSpPr>
              <a:spLocks noChangeArrowheads="1"/>
            </p:cNvSpPr>
            <p:nvPr/>
          </p:nvSpPr>
          <p:spPr bwMode="auto">
            <a:xfrm>
              <a:off x="4567"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66" name="Line 41">
              <a:extLst>
                <a:ext uri="{FF2B5EF4-FFF2-40B4-BE49-F238E27FC236}">
                  <a16:creationId xmlns:a16="http://schemas.microsoft.com/office/drawing/2014/main" id="{F40127A0-FF85-D512-16E5-0B18847DCD50}"/>
                </a:ext>
              </a:extLst>
            </p:cNvPr>
            <p:cNvSpPr>
              <a:spLocks noChangeShapeType="1"/>
            </p:cNvSpPr>
            <p:nvPr/>
          </p:nvSpPr>
          <p:spPr bwMode="auto">
            <a:xfrm>
              <a:off x="4377" y="3593"/>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67" name="Line 42">
              <a:extLst>
                <a:ext uri="{FF2B5EF4-FFF2-40B4-BE49-F238E27FC236}">
                  <a16:creationId xmlns:a16="http://schemas.microsoft.com/office/drawing/2014/main" id="{4DAD0C41-A6B9-5F9A-615B-F49E56728536}"/>
                </a:ext>
              </a:extLst>
            </p:cNvPr>
            <p:cNvSpPr>
              <a:spLocks noChangeShapeType="1"/>
            </p:cNvSpPr>
            <p:nvPr/>
          </p:nvSpPr>
          <p:spPr bwMode="auto">
            <a:xfrm>
              <a:off x="4427" y="3731"/>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68" name="Line 43">
              <a:extLst>
                <a:ext uri="{FF2B5EF4-FFF2-40B4-BE49-F238E27FC236}">
                  <a16:creationId xmlns:a16="http://schemas.microsoft.com/office/drawing/2014/main" id="{79346530-4155-1017-AB80-29A76C760894}"/>
                </a:ext>
              </a:extLst>
            </p:cNvPr>
            <p:cNvSpPr>
              <a:spLocks noChangeShapeType="1"/>
            </p:cNvSpPr>
            <p:nvPr/>
          </p:nvSpPr>
          <p:spPr bwMode="auto">
            <a:xfrm>
              <a:off x="4463" y="3871"/>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69" name="AutoShape 44">
              <a:extLst>
                <a:ext uri="{FF2B5EF4-FFF2-40B4-BE49-F238E27FC236}">
                  <a16:creationId xmlns:a16="http://schemas.microsoft.com/office/drawing/2014/main" id="{BD11C06B-2249-175A-804C-B1CC402B2FF2}"/>
                </a:ext>
              </a:extLst>
            </p:cNvPr>
            <p:cNvSpPr>
              <a:spLocks noChangeArrowheads="1"/>
            </p:cNvSpPr>
            <p:nvPr/>
          </p:nvSpPr>
          <p:spPr bwMode="auto">
            <a:xfrm>
              <a:off x="4543" y="3569"/>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70" name="AutoShape 45">
              <a:extLst>
                <a:ext uri="{FF2B5EF4-FFF2-40B4-BE49-F238E27FC236}">
                  <a16:creationId xmlns:a16="http://schemas.microsoft.com/office/drawing/2014/main" id="{797319A1-9A42-8694-312A-0282D918C372}"/>
                </a:ext>
              </a:extLst>
            </p:cNvPr>
            <p:cNvSpPr>
              <a:spLocks noChangeArrowheads="1"/>
            </p:cNvSpPr>
            <p:nvPr/>
          </p:nvSpPr>
          <p:spPr bwMode="auto">
            <a:xfrm>
              <a:off x="4576" y="3707"/>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71" name="AutoShape 46">
              <a:extLst>
                <a:ext uri="{FF2B5EF4-FFF2-40B4-BE49-F238E27FC236}">
                  <a16:creationId xmlns:a16="http://schemas.microsoft.com/office/drawing/2014/main" id="{B518CB68-7EFF-1FEE-0BE7-841B197E0405}"/>
                </a:ext>
              </a:extLst>
            </p:cNvPr>
            <p:cNvSpPr>
              <a:spLocks noChangeArrowheads="1"/>
            </p:cNvSpPr>
            <p:nvPr/>
          </p:nvSpPr>
          <p:spPr bwMode="auto">
            <a:xfrm>
              <a:off x="4614" y="3847"/>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
        <p:nvSpPr>
          <p:cNvPr id="21531" name="Rectangle 47">
            <a:extLst>
              <a:ext uri="{FF2B5EF4-FFF2-40B4-BE49-F238E27FC236}">
                <a16:creationId xmlns:a16="http://schemas.microsoft.com/office/drawing/2014/main" id="{7CB92C68-B6B4-0EA4-6A3A-2CF49DC8DDCE}"/>
              </a:ext>
            </a:extLst>
          </p:cNvPr>
          <p:cNvSpPr>
            <a:spLocks noChangeArrowheads="1"/>
          </p:cNvSpPr>
          <p:nvPr/>
        </p:nvSpPr>
        <p:spPr bwMode="auto">
          <a:xfrm>
            <a:off x="8348663" y="5824538"/>
            <a:ext cx="1038225" cy="788987"/>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1532" name="Freeform 48">
            <a:extLst>
              <a:ext uri="{FF2B5EF4-FFF2-40B4-BE49-F238E27FC236}">
                <a16:creationId xmlns:a16="http://schemas.microsoft.com/office/drawing/2014/main" id="{EAC4778A-7A23-6736-54BD-B6736BFAEEFB}"/>
              </a:ext>
            </a:extLst>
          </p:cNvPr>
          <p:cNvSpPr/>
          <p:nvPr/>
        </p:nvSpPr>
        <p:spPr bwMode="auto">
          <a:xfrm>
            <a:off x="8353425" y="5932488"/>
            <a:ext cx="1023938" cy="523875"/>
          </a:xfrm>
          <a:custGeom>
            <a:gdLst>
              <a:gd name="T0" fmla="*/ 0 w 596"/>
              <a:gd name="T1" fmla="*/ 2147483646 h 330"/>
              <a:gd name="T2" fmla="*/ 2147483646 w 596"/>
              <a:gd name="T3" fmla="*/ 2147483646 h 330"/>
              <a:gd name="T4" fmla="*/ 2147483646 w 596"/>
              <a:gd name="T5" fmla="*/ 2147483646 h 330"/>
              <a:gd name="T6" fmla="*/ 2147483646 w 596"/>
              <a:gd name="T7" fmla="*/ 2147483646 h 330"/>
              <a:gd name="T8" fmla="*/ 2147483646 w 596"/>
              <a:gd name="T9" fmla="*/ 2147483646 h 330"/>
              <a:gd name="T10" fmla="*/ 2147483646 w 596"/>
              <a:gd name="T11" fmla="*/ 2147483646 h 330"/>
              <a:gd name="T12" fmla="*/ 2147483646 w 596"/>
              <a:gd name="T13" fmla="*/ 2147483646 h 330"/>
              <a:gd name="T14" fmla="*/ 2147483646 w 596"/>
              <a:gd name="T15" fmla="*/ 2147483646 h 330"/>
              <a:gd name="T16" fmla="*/ 2147483646 w 596"/>
              <a:gd name="T17" fmla="*/ 2147483646 h 330"/>
              <a:gd name="T18" fmla="*/ 2147483646 w 596"/>
              <a:gd name="T19" fmla="*/ 2147483646 h 330"/>
              <a:gd name="T20" fmla="*/ 2147483646 w 596"/>
              <a:gd name="T21" fmla="*/ 2147483646 h 330"/>
              <a:gd name="T22" fmla="*/ 2147483646 w 596"/>
              <a:gd name="T23" fmla="*/ 2147483646 h 330"/>
              <a:gd name="T24" fmla="*/ 2147483646 w 596"/>
              <a:gd name="T25" fmla="*/ 2147483646 h 330"/>
              <a:gd name="T26" fmla="*/ 2147483646 w 596"/>
              <a:gd name="T27" fmla="*/ 2147483646 h 330"/>
              <a:gd name="T28" fmla="*/ 2147483646 w 596"/>
              <a:gd name="T29" fmla="*/ 2147483646 h 330"/>
              <a:gd name="T30" fmla="*/ 2147483646 w 596"/>
              <a:gd name="T31" fmla="*/ 2147483646 h 330"/>
              <a:gd name="T32" fmla="*/ 2147483646 w 596"/>
              <a:gd name="T33" fmla="*/ 2147483646 h 330"/>
              <a:gd name="T34" fmla="*/ 2147483646 w 596"/>
              <a:gd name="T35" fmla="*/ 2147483646 h 330"/>
              <a:gd name="T36" fmla="*/ 2147483646 w 596"/>
              <a:gd name="T37" fmla="*/ 2147483646 h 330"/>
              <a:gd name="T38" fmla="*/ 2147483646 w 596"/>
              <a:gd name="T39" fmla="*/ 0 h 3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96" h="330">
                <a:moveTo>
                  <a:pt x="0" y="330"/>
                </a:moveTo>
                <a:lnTo>
                  <a:pt x="59" y="264"/>
                </a:lnTo>
                <a:lnTo>
                  <a:pt x="77" y="295"/>
                </a:lnTo>
                <a:lnTo>
                  <a:pt x="101" y="267"/>
                </a:lnTo>
                <a:lnTo>
                  <a:pt x="123" y="291"/>
                </a:lnTo>
                <a:lnTo>
                  <a:pt x="228" y="144"/>
                </a:lnTo>
                <a:lnTo>
                  <a:pt x="246" y="186"/>
                </a:lnTo>
                <a:lnTo>
                  <a:pt x="293" y="138"/>
                </a:lnTo>
                <a:lnTo>
                  <a:pt x="302" y="160"/>
                </a:lnTo>
                <a:lnTo>
                  <a:pt x="360" y="106"/>
                </a:lnTo>
                <a:lnTo>
                  <a:pt x="368" y="136"/>
                </a:lnTo>
                <a:lnTo>
                  <a:pt x="408" y="28"/>
                </a:lnTo>
                <a:lnTo>
                  <a:pt x="435" y="222"/>
                </a:lnTo>
                <a:lnTo>
                  <a:pt x="446" y="177"/>
                </a:lnTo>
                <a:lnTo>
                  <a:pt x="464" y="207"/>
                </a:lnTo>
                <a:lnTo>
                  <a:pt x="488" y="148"/>
                </a:lnTo>
                <a:lnTo>
                  <a:pt x="510" y="183"/>
                </a:lnTo>
                <a:lnTo>
                  <a:pt x="552" y="13"/>
                </a:lnTo>
                <a:lnTo>
                  <a:pt x="567" y="43"/>
                </a:lnTo>
                <a:lnTo>
                  <a:pt x="596" y="0"/>
                </a:lnTo>
              </a:path>
            </a:pathLst>
          </a:custGeom>
          <a:noFill/>
          <a:ln w="19050" cap="flat" cmpd="sng">
            <a:solidFill>
              <a:schemeClr val="bg2"/>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34" name="Oval 49">
            <a:extLst>
              <a:ext uri="{FF2B5EF4-FFF2-40B4-BE49-F238E27FC236}">
                <a16:creationId xmlns:a16="http://schemas.microsoft.com/office/drawing/2014/main" id="{35AC4CF0-B0F0-087A-30B1-CFE68BD8E8C4}"/>
              </a:ext>
            </a:extLst>
          </p:cNvPr>
          <p:cNvSpPr>
            <a:spLocks noChangeArrowheads="1"/>
          </p:cNvSpPr>
          <p:nvPr/>
        </p:nvSpPr>
        <p:spPr bwMode="auto">
          <a:xfrm>
            <a:off x="142875" y="2097088"/>
            <a:ext cx="257175"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1</a:t>
            </a:r>
          </a:p>
        </p:txBody>
      </p:sp>
      <p:sp>
        <p:nvSpPr>
          <p:cNvPr id="21535" name="Oval 50">
            <a:extLst>
              <a:ext uri="{FF2B5EF4-FFF2-40B4-BE49-F238E27FC236}">
                <a16:creationId xmlns:a16="http://schemas.microsoft.com/office/drawing/2014/main" id="{9A4E1DC0-0218-0973-D329-0694B764CABF}"/>
              </a:ext>
            </a:extLst>
          </p:cNvPr>
          <p:cNvSpPr>
            <a:spLocks noChangeArrowheads="1"/>
          </p:cNvSpPr>
          <p:nvPr/>
        </p:nvSpPr>
        <p:spPr bwMode="auto">
          <a:xfrm>
            <a:off x="1508125" y="2097088"/>
            <a:ext cx="258763"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2</a:t>
            </a:r>
          </a:p>
        </p:txBody>
      </p:sp>
      <p:sp>
        <p:nvSpPr>
          <p:cNvPr id="21536" name="Oval 51">
            <a:extLst>
              <a:ext uri="{FF2B5EF4-FFF2-40B4-BE49-F238E27FC236}">
                <a16:creationId xmlns:a16="http://schemas.microsoft.com/office/drawing/2014/main" id="{01A71B03-C3AF-2FDD-BD8C-4867D9A72EA4}"/>
              </a:ext>
            </a:extLst>
          </p:cNvPr>
          <p:cNvSpPr>
            <a:spLocks noChangeArrowheads="1"/>
          </p:cNvSpPr>
          <p:nvPr/>
        </p:nvSpPr>
        <p:spPr bwMode="auto">
          <a:xfrm>
            <a:off x="2830513" y="2097088"/>
            <a:ext cx="258762"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3</a:t>
            </a:r>
          </a:p>
        </p:txBody>
      </p:sp>
      <p:sp>
        <p:nvSpPr>
          <p:cNvPr id="21537" name="Oval 52">
            <a:extLst>
              <a:ext uri="{FF2B5EF4-FFF2-40B4-BE49-F238E27FC236}">
                <a16:creationId xmlns:a16="http://schemas.microsoft.com/office/drawing/2014/main" id="{1ABA8299-F9C7-A990-72B1-AE6A3633ABE4}"/>
              </a:ext>
            </a:extLst>
          </p:cNvPr>
          <p:cNvSpPr>
            <a:spLocks noChangeArrowheads="1"/>
          </p:cNvSpPr>
          <p:nvPr/>
        </p:nvSpPr>
        <p:spPr bwMode="auto">
          <a:xfrm>
            <a:off x="4154488" y="2097088"/>
            <a:ext cx="258762"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4</a:t>
            </a:r>
          </a:p>
        </p:txBody>
      </p:sp>
      <p:sp>
        <p:nvSpPr>
          <p:cNvPr id="21538" name="Oval 53">
            <a:extLst>
              <a:ext uri="{FF2B5EF4-FFF2-40B4-BE49-F238E27FC236}">
                <a16:creationId xmlns:a16="http://schemas.microsoft.com/office/drawing/2014/main" id="{7011A155-FEAB-93F9-C5D4-896F35BBBE41}"/>
              </a:ext>
            </a:extLst>
          </p:cNvPr>
          <p:cNvSpPr>
            <a:spLocks noChangeArrowheads="1"/>
          </p:cNvSpPr>
          <p:nvPr/>
        </p:nvSpPr>
        <p:spPr bwMode="auto">
          <a:xfrm>
            <a:off x="5476875" y="2097088"/>
            <a:ext cx="258763"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5</a:t>
            </a:r>
          </a:p>
        </p:txBody>
      </p:sp>
      <p:sp>
        <p:nvSpPr>
          <p:cNvPr id="21539" name="Oval 54">
            <a:extLst>
              <a:ext uri="{FF2B5EF4-FFF2-40B4-BE49-F238E27FC236}">
                <a16:creationId xmlns:a16="http://schemas.microsoft.com/office/drawing/2014/main" id="{BAAD1885-A48A-186F-80DC-1CB6E596A006}"/>
              </a:ext>
            </a:extLst>
          </p:cNvPr>
          <p:cNvSpPr>
            <a:spLocks noChangeArrowheads="1"/>
          </p:cNvSpPr>
          <p:nvPr/>
        </p:nvSpPr>
        <p:spPr bwMode="auto">
          <a:xfrm>
            <a:off x="6802438" y="2097088"/>
            <a:ext cx="257175"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6</a:t>
            </a:r>
          </a:p>
        </p:txBody>
      </p:sp>
      <p:sp>
        <p:nvSpPr>
          <p:cNvPr id="21540" name="Oval 55">
            <a:extLst>
              <a:ext uri="{FF2B5EF4-FFF2-40B4-BE49-F238E27FC236}">
                <a16:creationId xmlns:a16="http://schemas.microsoft.com/office/drawing/2014/main" id="{9E867D3E-E105-1084-32BC-6197474FE842}"/>
              </a:ext>
            </a:extLst>
          </p:cNvPr>
          <p:cNvSpPr>
            <a:spLocks noChangeArrowheads="1"/>
          </p:cNvSpPr>
          <p:nvPr/>
        </p:nvSpPr>
        <p:spPr bwMode="auto">
          <a:xfrm>
            <a:off x="8126413" y="2097088"/>
            <a:ext cx="257175" cy="238125"/>
          </a:xfrm>
          <a:prstGeom prst="ellipse">
            <a:avLst/>
          </a:prstGeom>
          <a:solidFill>
            <a:schemeClr val="tx1">
              <a:lumMod val="95000"/>
              <a:lumOff val="5000"/>
            </a:schemeClr>
          </a:solidFill>
          <a:ln>
            <a:noFill/>
          </a:ln>
          <a:effectLst/>
        </p:spPr>
        <p:txBody>
          <a:bodyPr wrap="none" lIns="72000" tIns="72000" rIns="72000" bIns="7200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r>
              <a:rPr lang="en-US" altLang="ko-KR" sz="1200">
                <a:solidFill>
                  <a:schemeClr val="bg1"/>
                </a:solidFill>
                <a:ea typeface="굴림" panose="020b0600000101010101" pitchFamily="50" charset="-127"/>
              </a:rPr>
              <a:t>7</a:t>
            </a:r>
          </a:p>
        </p:txBody>
      </p:sp>
      <p:sp>
        <p:nvSpPr>
          <p:cNvPr id="2" name="Rectangle 56">
            <a:extLst>
              <a:ext uri="{FF2B5EF4-FFF2-40B4-BE49-F238E27FC236}">
                <a16:creationId xmlns:a16="http://schemas.microsoft.com/office/drawing/2014/main" id="{6975E12F-98AD-4B72-A873-A55A45C6DCA3}"/>
              </a:ext>
            </a:extLst>
          </p:cNvPr>
          <p:cNvSpPr>
            <a:spLocks noChangeArrowheads="1"/>
          </p:cNvSpPr>
          <p:nvPr/>
        </p:nvSpPr>
        <p:spPr bwMode="auto">
          <a:xfrm>
            <a:off x="4551363" y="239713"/>
            <a:ext cx="509270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Introduction: Why combine 7-Step-Sourcing and Cost Regression Analysis?</a:t>
            </a:r>
          </a:p>
        </p:txBody>
      </p:sp>
      <p:pic>
        <p:nvPicPr>
          <p:cNvPr id="21541" name="Picture 58">
            <a:extLst>
              <a:ext uri="{FF2B5EF4-FFF2-40B4-BE49-F238E27FC236}">
                <a16:creationId xmlns:a16="http://schemas.microsoft.com/office/drawing/2014/main" id="{7243A932-5CF6-87EA-3D18-A2BC596162E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017838" y="5797550"/>
            <a:ext cx="1014412" cy="7350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42" name="Picture 59">
            <a:extLst>
              <a:ext uri="{FF2B5EF4-FFF2-40B4-BE49-F238E27FC236}">
                <a16:creationId xmlns:a16="http://schemas.microsoft.com/office/drawing/2014/main" id="{0E7DE01F-7FF7-DCE0-9A31-900D6C938EC4}"/>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527550" y="5722938"/>
            <a:ext cx="706438" cy="927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543" name="Group 32">
            <a:extLst>
              <a:ext uri="{FF2B5EF4-FFF2-40B4-BE49-F238E27FC236}">
                <a16:creationId xmlns:a16="http://schemas.microsoft.com/office/drawing/2014/main" id="{ED94D236-9E76-735B-CFD1-D2A9E4200C02}"/>
              </a:ext>
            </a:extLst>
          </p:cNvPr>
          <p:cNvGrpSpPr/>
          <p:nvPr/>
        </p:nvGrpSpPr>
        <p:grpSpPr>
          <a:xfrm>
            <a:off x="420688" y="5810250"/>
            <a:ext cx="919162" cy="820738"/>
            <a:chOff x="4136" y="3420"/>
            <a:chExt cx="534" cy="517"/>
          </a:xfrm>
        </p:grpSpPr>
        <p:sp>
          <p:nvSpPr>
            <p:cNvPr id="21544" name="Rectangle 33">
              <a:extLst>
                <a:ext uri="{FF2B5EF4-FFF2-40B4-BE49-F238E27FC236}">
                  <a16:creationId xmlns:a16="http://schemas.microsoft.com/office/drawing/2014/main" id="{F34A6D17-57EF-88AF-5C8E-08B9E898BB1A}"/>
                </a:ext>
              </a:extLst>
            </p:cNvPr>
            <p:cNvSpPr>
              <a:spLocks noChangeArrowheads="1"/>
            </p:cNvSpPr>
            <p:nvPr/>
          </p:nvSpPr>
          <p:spPr bwMode="auto">
            <a:xfrm>
              <a:off x="4136" y="3420"/>
              <a:ext cx="225"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45" name="Rectangle 34">
              <a:extLst>
                <a:ext uri="{FF2B5EF4-FFF2-40B4-BE49-F238E27FC236}">
                  <a16:creationId xmlns:a16="http://schemas.microsoft.com/office/drawing/2014/main" id="{00065856-DEE3-15FD-402A-292D1481105A}"/>
                </a:ext>
              </a:extLst>
            </p:cNvPr>
            <p:cNvSpPr>
              <a:spLocks noChangeArrowheads="1"/>
            </p:cNvSpPr>
            <p:nvPr/>
          </p:nvSpPr>
          <p:spPr bwMode="auto">
            <a:xfrm>
              <a:off x="4361"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46" name="Rectangle 35">
              <a:extLst>
                <a:ext uri="{FF2B5EF4-FFF2-40B4-BE49-F238E27FC236}">
                  <a16:creationId xmlns:a16="http://schemas.microsoft.com/office/drawing/2014/main" id="{A7AC5360-3FBC-1940-82DF-3A38821FBEA3}"/>
                </a:ext>
              </a:extLst>
            </p:cNvPr>
            <p:cNvSpPr>
              <a:spLocks noChangeArrowheads="1"/>
            </p:cNvSpPr>
            <p:nvPr/>
          </p:nvSpPr>
          <p:spPr bwMode="auto">
            <a:xfrm>
              <a:off x="4464"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47" name="Rectangle 36">
              <a:extLst>
                <a:ext uri="{FF2B5EF4-FFF2-40B4-BE49-F238E27FC236}">
                  <a16:creationId xmlns:a16="http://schemas.microsoft.com/office/drawing/2014/main" id="{61C3E3CB-6B1F-AE55-2B90-EEB2EFD03F9D}"/>
                </a:ext>
              </a:extLst>
            </p:cNvPr>
            <p:cNvSpPr>
              <a:spLocks noChangeArrowheads="1"/>
            </p:cNvSpPr>
            <p:nvPr/>
          </p:nvSpPr>
          <p:spPr bwMode="auto">
            <a:xfrm>
              <a:off x="4567"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48" name="Rectangle 37">
              <a:extLst>
                <a:ext uri="{FF2B5EF4-FFF2-40B4-BE49-F238E27FC236}">
                  <a16:creationId xmlns:a16="http://schemas.microsoft.com/office/drawing/2014/main" id="{1C6A61B2-91CC-25E4-91E4-D28F43B2DA69}"/>
                </a:ext>
              </a:extLst>
            </p:cNvPr>
            <p:cNvSpPr>
              <a:spLocks noChangeArrowheads="1"/>
            </p:cNvSpPr>
            <p:nvPr/>
          </p:nvSpPr>
          <p:spPr bwMode="auto">
            <a:xfrm>
              <a:off x="4136" y="3513"/>
              <a:ext cx="225"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buFontTx/>
                <a:buNone/>
              </a:pPr>
              <a:r>
                <a:rPr lang="en-US" altLang="ko-KR" sz="800">
                  <a:ea typeface="굴림" panose="020b0600000101010101" pitchFamily="34" charset="-127"/>
                </a:rPr>
                <a:t>…</a:t>
              </a:r>
            </a:p>
            <a:p>
              <a:pPr algn="ctr" eaLnBrk="1" hangingPunct="1">
                <a:buFontTx/>
                <a:buNone/>
              </a:pPr>
              <a:r>
                <a:rPr lang="en-US" altLang="ko-KR" sz="800">
                  <a:ea typeface="굴림" panose="020b0600000101010101" pitchFamily="34" charset="-127"/>
                </a:rPr>
                <a:t>…</a:t>
              </a:r>
            </a:p>
            <a:p>
              <a:pPr algn="ctr" eaLnBrk="1" hangingPunct="1">
                <a:buFontTx/>
                <a:buNone/>
              </a:pPr>
              <a:r>
                <a:rPr lang="en-US" altLang="ko-KR" sz="800">
                  <a:ea typeface="굴림" panose="020b0600000101010101" pitchFamily="34" charset="-127"/>
                </a:rPr>
                <a:t>…</a:t>
              </a:r>
            </a:p>
          </p:txBody>
        </p:sp>
        <p:sp>
          <p:nvSpPr>
            <p:cNvPr id="21549" name="Rectangle 38">
              <a:extLst>
                <a:ext uri="{FF2B5EF4-FFF2-40B4-BE49-F238E27FC236}">
                  <a16:creationId xmlns:a16="http://schemas.microsoft.com/office/drawing/2014/main" id="{3D6256D7-79BE-EF95-59F3-42A0CF2D06C2}"/>
                </a:ext>
              </a:extLst>
            </p:cNvPr>
            <p:cNvSpPr>
              <a:spLocks noChangeArrowheads="1"/>
            </p:cNvSpPr>
            <p:nvPr/>
          </p:nvSpPr>
          <p:spPr bwMode="auto">
            <a:xfrm>
              <a:off x="4361"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50" name="Rectangle 39">
              <a:extLst>
                <a:ext uri="{FF2B5EF4-FFF2-40B4-BE49-F238E27FC236}">
                  <a16:creationId xmlns:a16="http://schemas.microsoft.com/office/drawing/2014/main" id="{0B31ABF1-F877-4B58-57FD-71A0B74D5735}"/>
                </a:ext>
              </a:extLst>
            </p:cNvPr>
            <p:cNvSpPr>
              <a:spLocks noChangeArrowheads="1"/>
            </p:cNvSpPr>
            <p:nvPr/>
          </p:nvSpPr>
          <p:spPr bwMode="auto">
            <a:xfrm>
              <a:off x="4464"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51" name="Rectangle 40">
              <a:extLst>
                <a:ext uri="{FF2B5EF4-FFF2-40B4-BE49-F238E27FC236}">
                  <a16:creationId xmlns:a16="http://schemas.microsoft.com/office/drawing/2014/main" id="{7DFEC3B8-24D8-CACE-4933-A10F3965024B}"/>
                </a:ext>
              </a:extLst>
            </p:cNvPr>
            <p:cNvSpPr>
              <a:spLocks noChangeArrowheads="1"/>
            </p:cNvSpPr>
            <p:nvPr/>
          </p:nvSpPr>
          <p:spPr bwMode="auto">
            <a:xfrm>
              <a:off x="4567"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52" name="Line 41">
              <a:extLst>
                <a:ext uri="{FF2B5EF4-FFF2-40B4-BE49-F238E27FC236}">
                  <a16:creationId xmlns:a16="http://schemas.microsoft.com/office/drawing/2014/main" id="{587A77CE-3062-0EA3-3E64-66251770E170}"/>
                </a:ext>
              </a:extLst>
            </p:cNvPr>
            <p:cNvSpPr>
              <a:spLocks noChangeShapeType="1"/>
            </p:cNvSpPr>
            <p:nvPr/>
          </p:nvSpPr>
          <p:spPr bwMode="auto">
            <a:xfrm>
              <a:off x="4377" y="3593"/>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53" name="Line 42">
              <a:extLst>
                <a:ext uri="{FF2B5EF4-FFF2-40B4-BE49-F238E27FC236}">
                  <a16:creationId xmlns:a16="http://schemas.microsoft.com/office/drawing/2014/main" id="{91667072-27D9-E1CE-B41C-6A333197CFCF}"/>
                </a:ext>
              </a:extLst>
            </p:cNvPr>
            <p:cNvSpPr>
              <a:spLocks noChangeShapeType="1"/>
            </p:cNvSpPr>
            <p:nvPr/>
          </p:nvSpPr>
          <p:spPr bwMode="auto">
            <a:xfrm>
              <a:off x="4427" y="3731"/>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54" name="Line 43">
              <a:extLst>
                <a:ext uri="{FF2B5EF4-FFF2-40B4-BE49-F238E27FC236}">
                  <a16:creationId xmlns:a16="http://schemas.microsoft.com/office/drawing/2014/main" id="{8E97498A-3BB6-E214-C8A8-989C44DDB71A}"/>
                </a:ext>
              </a:extLst>
            </p:cNvPr>
            <p:cNvSpPr>
              <a:spLocks noChangeShapeType="1"/>
            </p:cNvSpPr>
            <p:nvPr/>
          </p:nvSpPr>
          <p:spPr bwMode="auto">
            <a:xfrm>
              <a:off x="4463" y="3871"/>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1555" name="AutoShape 44">
              <a:extLst>
                <a:ext uri="{FF2B5EF4-FFF2-40B4-BE49-F238E27FC236}">
                  <a16:creationId xmlns:a16="http://schemas.microsoft.com/office/drawing/2014/main" id="{FD19C1F1-3526-1AA4-47DB-6E72B058FD8E}"/>
                </a:ext>
              </a:extLst>
            </p:cNvPr>
            <p:cNvSpPr>
              <a:spLocks noChangeArrowheads="1"/>
            </p:cNvSpPr>
            <p:nvPr/>
          </p:nvSpPr>
          <p:spPr bwMode="auto">
            <a:xfrm>
              <a:off x="4543" y="3569"/>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56" name="AutoShape 45">
              <a:extLst>
                <a:ext uri="{FF2B5EF4-FFF2-40B4-BE49-F238E27FC236}">
                  <a16:creationId xmlns:a16="http://schemas.microsoft.com/office/drawing/2014/main" id="{5CF513ED-D294-9818-C3D6-A00EBB134128}"/>
                </a:ext>
              </a:extLst>
            </p:cNvPr>
            <p:cNvSpPr>
              <a:spLocks noChangeArrowheads="1"/>
            </p:cNvSpPr>
            <p:nvPr/>
          </p:nvSpPr>
          <p:spPr bwMode="auto">
            <a:xfrm>
              <a:off x="4576" y="3707"/>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1557" name="AutoShape 46">
              <a:extLst>
                <a:ext uri="{FF2B5EF4-FFF2-40B4-BE49-F238E27FC236}">
                  <a16:creationId xmlns:a16="http://schemas.microsoft.com/office/drawing/2014/main" id="{C63FA5EE-34AD-2E02-D157-02FBA434E25B}"/>
                </a:ext>
              </a:extLst>
            </p:cNvPr>
            <p:cNvSpPr>
              <a:spLocks noChangeArrowheads="1"/>
            </p:cNvSpPr>
            <p:nvPr/>
          </p:nvSpPr>
          <p:spPr bwMode="auto">
            <a:xfrm>
              <a:off x="4614" y="3847"/>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3553" name="Rectangle 2">
            <a:extLst>
              <a:ext uri="{FF2B5EF4-FFF2-40B4-BE49-F238E27FC236}">
                <a16:creationId xmlns:a16="http://schemas.microsoft.com/office/drawing/2014/main" id="{6D85E1EB-108E-4EA2-99B2-C4041E206C6B}"/>
              </a:ext>
            </a:extLst>
          </p:cNvPr>
          <p:cNvSpPr>
            <a:spLocks noGrp="1" noChangeArrowheads="1"/>
          </p:cNvSpPr>
          <p:nvPr>
            <p:ph type="title"/>
          </p:nvPr>
        </p:nvSpPr>
        <p:spPr/>
        <p:txBody>
          <a:bodyPr/>
          <a:lstStyle/>
          <a:p>
            <a:r>
              <a:rPr lang="en-US" altLang="ko-KR">
                <a:ea typeface="굴림" panose="020b0600000101010101" pitchFamily="34" charset="-127"/>
              </a:rPr>
              <a:t>Cost regression analysis is done systematically in four steps</a:t>
            </a:r>
          </a:p>
        </p:txBody>
      </p:sp>
      <p:grpSp>
        <p:nvGrpSpPr>
          <p:cNvPr id="23554" name="Group 3">
            <a:extLst>
              <a:ext uri="{FF2B5EF4-FFF2-40B4-BE49-F238E27FC236}">
                <a16:creationId xmlns:a16="http://schemas.microsoft.com/office/drawing/2014/main" id="{D5EF31D8-7F58-B66B-5569-B6573B155F47}"/>
              </a:ext>
            </a:extLst>
          </p:cNvPr>
          <p:cNvGrpSpPr/>
          <p:nvPr/>
        </p:nvGrpSpPr>
        <p:grpSpPr>
          <a:xfrm>
            <a:off x="2138363" y="4716463"/>
            <a:ext cx="1757362" cy="782637"/>
            <a:chOff x="1170" y="2747"/>
            <a:chExt cx="1034" cy="404"/>
          </a:xfrm>
        </p:grpSpPr>
        <p:sp>
          <p:nvSpPr>
            <p:cNvPr id="23620" name="Oval 4">
              <a:extLst>
                <a:ext uri="{FF2B5EF4-FFF2-40B4-BE49-F238E27FC236}">
                  <a16:creationId xmlns:a16="http://schemas.microsoft.com/office/drawing/2014/main" id="{CB7A5AA2-26E0-1ABC-005A-A14BF5156429}"/>
                </a:ext>
              </a:extLst>
            </p:cNvPr>
            <p:cNvSpPr>
              <a:spLocks noChangeArrowheads="1"/>
            </p:cNvSpPr>
            <p:nvPr/>
          </p:nvSpPr>
          <p:spPr bwMode="auto">
            <a:xfrm>
              <a:off x="1333" y="2747"/>
              <a:ext cx="520" cy="140"/>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Purchasing</a:t>
              </a:r>
            </a:p>
          </p:txBody>
        </p:sp>
        <p:sp>
          <p:nvSpPr>
            <p:cNvPr id="23621" name="Oval 5">
              <a:extLst>
                <a:ext uri="{FF2B5EF4-FFF2-40B4-BE49-F238E27FC236}">
                  <a16:creationId xmlns:a16="http://schemas.microsoft.com/office/drawing/2014/main" id="{BD3E7AA6-ACBB-0C3F-1A90-C3FDFFE3F4A4}"/>
                </a:ext>
              </a:extLst>
            </p:cNvPr>
            <p:cNvSpPr>
              <a:spLocks noChangeArrowheads="1"/>
            </p:cNvSpPr>
            <p:nvPr/>
          </p:nvSpPr>
          <p:spPr bwMode="auto">
            <a:xfrm>
              <a:off x="1684" y="2832"/>
              <a:ext cx="520" cy="140"/>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R+D</a:t>
              </a:r>
            </a:p>
          </p:txBody>
        </p:sp>
        <p:sp>
          <p:nvSpPr>
            <p:cNvPr id="23622" name="Oval 6">
              <a:extLst>
                <a:ext uri="{FF2B5EF4-FFF2-40B4-BE49-F238E27FC236}">
                  <a16:creationId xmlns:a16="http://schemas.microsoft.com/office/drawing/2014/main" id="{85C380E5-6E81-DF01-3696-D089D18B4656}"/>
                </a:ext>
              </a:extLst>
            </p:cNvPr>
            <p:cNvSpPr>
              <a:spLocks noChangeArrowheads="1"/>
            </p:cNvSpPr>
            <p:nvPr/>
          </p:nvSpPr>
          <p:spPr bwMode="auto">
            <a:xfrm>
              <a:off x="1170" y="2856"/>
              <a:ext cx="520" cy="140"/>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Controlling</a:t>
              </a:r>
            </a:p>
          </p:txBody>
        </p:sp>
        <p:sp>
          <p:nvSpPr>
            <p:cNvPr id="23623" name="Oval 7">
              <a:extLst>
                <a:ext uri="{FF2B5EF4-FFF2-40B4-BE49-F238E27FC236}">
                  <a16:creationId xmlns:a16="http://schemas.microsoft.com/office/drawing/2014/main" id="{8ACEA2FE-67CB-81DA-0A21-A5FD65457ACA}"/>
                </a:ext>
              </a:extLst>
            </p:cNvPr>
            <p:cNvSpPr>
              <a:spLocks noChangeArrowheads="1"/>
            </p:cNvSpPr>
            <p:nvPr/>
          </p:nvSpPr>
          <p:spPr bwMode="auto">
            <a:xfrm>
              <a:off x="1514" y="2947"/>
              <a:ext cx="521" cy="204"/>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US" altLang="ko-KR" sz="1000">
                  <a:ea typeface="굴림" panose="020b0600000101010101" pitchFamily="34" charset="-127"/>
                </a:rPr>
                <a:t>Quality</a:t>
              </a:r>
            </a:p>
          </p:txBody>
        </p:sp>
      </p:grpSp>
      <p:grpSp>
        <p:nvGrpSpPr>
          <p:cNvPr id="23555" name="Group 8">
            <a:extLst>
              <a:ext uri="{FF2B5EF4-FFF2-40B4-BE49-F238E27FC236}">
                <a16:creationId xmlns:a16="http://schemas.microsoft.com/office/drawing/2014/main" id="{7679DEE7-370A-F258-B47F-9819ECDA334B}"/>
              </a:ext>
            </a:extLst>
          </p:cNvPr>
          <p:cNvGrpSpPr/>
          <p:nvPr/>
        </p:nvGrpSpPr>
        <p:grpSpPr>
          <a:xfrm>
            <a:off x="4192588" y="4584700"/>
            <a:ext cx="1547812" cy="1000125"/>
            <a:chOff x="2188" y="2651"/>
            <a:chExt cx="953" cy="630"/>
          </a:xfrm>
        </p:grpSpPr>
        <p:sp>
          <p:nvSpPr>
            <p:cNvPr id="23581" name="Line 9">
              <a:extLst>
                <a:ext uri="{FF2B5EF4-FFF2-40B4-BE49-F238E27FC236}">
                  <a16:creationId xmlns:a16="http://schemas.microsoft.com/office/drawing/2014/main" id="{C1E49114-5E8D-9452-CC22-E92B8D6333A0}"/>
                </a:ext>
              </a:extLst>
            </p:cNvPr>
            <p:cNvSpPr>
              <a:spLocks noChangeShapeType="1"/>
            </p:cNvSpPr>
            <p:nvPr/>
          </p:nvSpPr>
          <p:spPr bwMode="auto">
            <a:xfrm flipH="1" flipV="1">
              <a:off x="2317" y="2703"/>
              <a:ext cx="0" cy="39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582" name="Line 10">
              <a:extLst>
                <a:ext uri="{FF2B5EF4-FFF2-40B4-BE49-F238E27FC236}">
                  <a16:creationId xmlns:a16="http://schemas.microsoft.com/office/drawing/2014/main" id="{B690D987-9FF0-6834-03E1-C3CC61C1BDFE}"/>
                </a:ext>
              </a:extLst>
            </p:cNvPr>
            <p:cNvSpPr>
              <a:spLocks noChangeShapeType="1"/>
            </p:cNvSpPr>
            <p:nvPr/>
          </p:nvSpPr>
          <p:spPr bwMode="auto">
            <a:xfrm>
              <a:off x="2317" y="3102"/>
              <a:ext cx="789"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583" name="Text Box 11">
              <a:extLst>
                <a:ext uri="{FF2B5EF4-FFF2-40B4-BE49-F238E27FC236}">
                  <a16:creationId xmlns:a16="http://schemas.microsoft.com/office/drawing/2014/main" id="{74F07E24-209C-5618-1AF3-AACBDA70F771}"/>
                </a:ext>
              </a:extLst>
            </p:cNvPr>
            <p:cNvSpPr txBox="1">
              <a:spLocks noChangeArrowheads="1"/>
            </p:cNvSpPr>
            <p:nvPr/>
          </p:nvSpPr>
          <p:spPr bwMode="auto">
            <a:xfrm rot="-5400000">
              <a:off x="1976" y="2869"/>
              <a:ext cx="499" cy="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US" altLang="ko-KR" sz="800" b="0">
                  <a:solidFill>
                    <a:schemeClr val="tx2"/>
                  </a:solidFill>
                  <a:ea typeface="굴림" panose="020b0600000101010101" pitchFamily="34" charset="-127"/>
                </a:rPr>
                <a:t>Current price</a:t>
              </a:r>
            </a:p>
          </p:txBody>
        </p:sp>
        <p:sp>
          <p:nvSpPr>
            <p:cNvPr id="23584" name="Text Box 12">
              <a:extLst>
                <a:ext uri="{FF2B5EF4-FFF2-40B4-BE49-F238E27FC236}">
                  <a16:creationId xmlns:a16="http://schemas.microsoft.com/office/drawing/2014/main" id="{682160AB-5A90-9C37-DB6D-6128C1ACECA5}"/>
                </a:ext>
              </a:extLst>
            </p:cNvPr>
            <p:cNvSpPr txBox="1">
              <a:spLocks noChangeArrowheads="1"/>
            </p:cNvSpPr>
            <p:nvPr/>
          </p:nvSpPr>
          <p:spPr bwMode="auto">
            <a:xfrm>
              <a:off x="2258" y="3127"/>
              <a:ext cx="883"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solidFill>
                    <a:schemeClr val="tx2"/>
                  </a:solidFill>
                  <a:ea typeface="굴림" panose="020b0600000101010101" pitchFamily="34" charset="-127"/>
                </a:rPr>
                <a:t>Target costs of</a:t>
              </a:r>
              <a:br>
                <a:rPr lang="en-US" altLang="ko-KR" sz="800" b="0">
                  <a:solidFill>
                    <a:schemeClr val="tx2"/>
                  </a:solidFill>
                  <a:ea typeface="굴림" panose="020b0600000101010101" pitchFamily="34" charset="-127"/>
                </a:rPr>
              </a:br>
              <a:r>
                <a:rPr lang="en-US" altLang="ko-KR" sz="800" b="0">
                  <a:solidFill>
                    <a:schemeClr val="tx2"/>
                  </a:solidFill>
                  <a:ea typeface="굴림" panose="020b0600000101010101" pitchFamily="34" charset="-127"/>
                </a:rPr>
                <a:t>sub-component, weight, …</a:t>
              </a:r>
            </a:p>
          </p:txBody>
        </p:sp>
        <p:grpSp>
          <p:nvGrpSpPr>
            <p:cNvPr id="23585" name="Group 13">
              <a:extLst>
                <a:ext uri="{FF2B5EF4-FFF2-40B4-BE49-F238E27FC236}">
                  <a16:creationId xmlns:a16="http://schemas.microsoft.com/office/drawing/2014/main" id="{79810175-F973-2293-F9A9-8C4AA3399661}"/>
                </a:ext>
              </a:extLst>
            </p:cNvPr>
            <p:cNvGrpSpPr/>
            <p:nvPr/>
          </p:nvGrpSpPr>
          <p:grpSpPr>
            <a:xfrm>
              <a:off x="2617" y="2881"/>
              <a:ext cx="20" cy="21"/>
              <a:chOff x="5472" y="2291"/>
              <a:chExt cx="22" cy="24"/>
            </a:xfrm>
          </p:grpSpPr>
          <p:sp>
            <p:nvSpPr>
              <p:cNvPr id="23618" name="Line 14">
                <a:extLst>
                  <a:ext uri="{FF2B5EF4-FFF2-40B4-BE49-F238E27FC236}">
                    <a16:creationId xmlns:a16="http://schemas.microsoft.com/office/drawing/2014/main" id="{5C22EE73-9915-6938-A976-C120AE58AE94}"/>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19" name="Line 15">
                <a:extLst>
                  <a:ext uri="{FF2B5EF4-FFF2-40B4-BE49-F238E27FC236}">
                    <a16:creationId xmlns:a16="http://schemas.microsoft.com/office/drawing/2014/main" id="{3C228587-2BAF-EAE2-2203-09BCA1451708}"/>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86" name="Group 16">
              <a:extLst>
                <a:ext uri="{FF2B5EF4-FFF2-40B4-BE49-F238E27FC236}">
                  <a16:creationId xmlns:a16="http://schemas.microsoft.com/office/drawing/2014/main" id="{B4486854-14EE-9327-5E08-4DB5EB8A71D6}"/>
                </a:ext>
              </a:extLst>
            </p:cNvPr>
            <p:cNvGrpSpPr/>
            <p:nvPr/>
          </p:nvGrpSpPr>
          <p:grpSpPr>
            <a:xfrm>
              <a:off x="2726" y="2896"/>
              <a:ext cx="20" cy="21"/>
              <a:chOff x="5472" y="2291"/>
              <a:chExt cx="22" cy="24"/>
            </a:xfrm>
          </p:grpSpPr>
          <p:sp>
            <p:nvSpPr>
              <p:cNvPr id="23616" name="Line 17">
                <a:extLst>
                  <a:ext uri="{FF2B5EF4-FFF2-40B4-BE49-F238E27FC236}">
                    <a16:creationId xmlns:a16="http://schemas.microsoft.com/office/drawing/2014/main" id="{A5F87E10-56B4-61B5-E13F-FC61CAEB638D}"/>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17" name="Line 18">
                <a:extLst>
                  <a:ext uri="{FF2B5EF4-FFF2-40B4-BE49-F238E27FC236}">
                    <a16:creationId xmlns:a16="http://schemas.microsoft.com/office/drawing/2014/main" id="{EF823D8E-4E89-5983-A2F8-03813DBA3981}"/>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87" name="Group 19">
              <a:extLst>
                <a:ext uri="{FF2B5EF4-FFF2-40B4-BE49-F238E27FC236}">
                  <a16:creationId xmlns:a16="http://schemas.microsoft.com/office/drawing/2014/main" id="{D8A4AD4B-7165-7DA1-67E9-C6179F9A2FB6}"/>
                </a:ext>
              </a:extLst>
            </p:cNvPr>
            <p:cNvGrpSpPr/>
            <p:nvPr/>
          </p:nvGrpSpPr>
          <p:grpSpPr>
            <a:xfrm>
              <a:off x="2829" y="2853"/>
              <a:ext cx="19" cy="22"/>
              <a:chOff x="5472" y="2291"/>
              <a:chExt cx="22" cy="24"/>
            </a:xfrm>
          </p:grpSpPr>
          <p:sp>
            <p:nvSpPr>
              <p:cNvPr id="23614" name="Line 20">
                <a:extLst>
                  <a:ext uri="{FF2B5EF4-FFF2-40B4-BE49-F238E27FC236}">
                    <a16:creationId xmlns:a16="http://schemas.microsoft.com/office/drawing/2014/main" id="{9BE61813-1675-E676-211E-6CA5C7FE7191}"/>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15" name="Line 21">
                <a:extLst>
                  <a:ext uri="{FF2B5EF4-FFF2-40B4-BE49-F238E27FC236}">
                    <a16:creationId xmlns:a16="http://schemas.microsoft.com/office/drawing/2014/main" id="{E106A666-1E8F-A094-1303-F117AE2A8EE3}"/>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88" name="Group 22">
              <a:extLst>
                <a:ext uri="{FF2B5EF4-FFF2-40B4-BE49-F238E27FC236}">
                  <a16:creationId xmlns:a16="http://schemas.microsoft.com/office/drawing/2014/main" id="{BB329145-700C-B90A-6ECE-D89FA849ED3D}"/>
                </a:ext>
              </a:extLst>
            </p:cNvPr>
            <p:cNvGrpSpPr/>
            <p:nvPr/>
          </p:nvGrpSpPr>
          <p:grpSpPr>
            <a:xfrm>
              <a:off x="2939" y="2903"/>
              <a:ext cx="19" cy="21"/>
              <a:chOff x="5472" y="2291"/>
              <a:chExt cx="22" cy="24"/>
            </a:xfrm>
          </p:grpSpPr>
          <p:sp>
            <p:nvSpPr>
              <p:cNvPr id="23612" name="Line 23">
                <a:extLst>
                  <a:ext uri="{FF2B5EF4-FFF2-40B4-BE49-F238E27FC236}">
                    <a16:creationId xmlns:a16="http://schemas.microsoft.com/office/drawing/2014/main" id="{3AC17038-2723-9769-D6F2-28FC329CD012}"/>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13" name="Line 24">
                <a:extLst>
                  <a:ext uri="{FF2B5EF4-FFF2-40B4-BE49-F238E27FC236}">
                    <a16:creationId xmlns:a16="http://schemas.microsoft.com/office/drawing/2014/main" id="{1F68E5B7-21B8-AF04-02F3-6C1DA0559C58}"/>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89" name="Group 25">
              <a:extLst>
                <a:ext uri="{FF2B5EF4-FFF2-40B4-BE49-F238E27FC236}">
                  <a16:creationId xmlns:a16="http://schemas.microsoft.com/office/drawing/2014/main" id="{B006ECC5-7633-3036-516B-9FEEAE50079F}"/>
                </a:ext>
              </a:extLst>
            </p:cNvPr>
            <p:cNvGrpSpPr/>
            <p:nvPr/>
          </p:nvGrpSpPr>
          <p:grpSpPr>
            <a:xfrm>
              <a:off x="2807" y="2903"/>
              <a:ext cx="20" cy="21"/>
              <a:chOff x="5472" y="2291"/>
              <a:chExt cx="22" cy="24"/>
            </a:xfrm>
          </p:grpSpPr>
          <p:sp>
            <p:nvSpPr>
              <p:cNvPr id="23610" name="Line 26">
                <a:extLst>
                  <a:ext uri="{FF2B5EF4-FFF2-40B4-BE49-F238E27FC236}">
                    <a16:creationId xmlns:a16="http://schemas.microsoft.com/office/drawing/2014/main" id="{5F57669A-E8ED-3786-5EAE-4B18EAB7622A}"/>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11" name="Line 27">
                <a:extLst>
                  <a:ext uri="{FF2B5EF4-FFF2-40B4-BE49-F238E27FC236}">
                    <a16:creationId xmlns:a16="http://schemas.microsoft.com/office/drawing/2014/main" id="{C010C3CF-92FF-91FE-4AF6-CEFD30FDBD6A}"/>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90" name="Group 28">
              <a:extLst>
                <a:ext uri="{FF2B5EF4-FFF2-40B4-BE49-F238E27FC236}">
                  <a16:creationId xmlns:a16="http://schemas.microsoft.com/office/drawing/2014/main" id="{ED808D88-4648-6FB4-94E9-61A42D5E459F}"/>
                </a:ext>
              </a:extLst>
            </p:cNvPr>
            <p:cNvGrpSpPr/>
            <p:nvPr/>
          </p:nvGrpSpPr>
          <p:grpSpPr>
            <a:xfrm>
              <a:off x="2551" y="2967"/>
              <a:ext cx="21" cy="21"/>
              <a:chOff x="5472" y="2291"/>
              <a:chExt cx="22" cy="24"/>
            </a:xfrm>
          </p:grpSpPr>
          <p:sp>
            <p:nvSpPr>
              <p:cNvPr id="23608" name="Line 29">
                <a:extLst>
                  <a:ext uri="{FF2B5EF4-FFF2-40B4-BE49-F238E27FC236}">
                    <a16:creationId xmlns:a16="http://schemas.microsoft.com/office/drawing/2014/main" id="{A1518734-4502-8E69-702C-EDE54A3C27B7}"/>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09" name="Line 30">
                <a:extLst>
                  <a:ext uri="{FF2B5EF4-FFF2-40B4-BE49-F238E27FC236}">
                    <a16:creationId xmlns:a16="http://schemas.microsoft.com/office/drawing/2014/main" id="{E3C1A908-5FF9-C54A-28CE-56A80BE25E5B}"/>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91" name="Group 31">
              <a:extLst>
                <a:ext uri="{FF2B5EF4-FFF2-40B4-BE49-F238E27FC236}">
                  <a16:creationId xmlns:a16="http://schemas.microsoft.com/office/drawing/2014/main" id="{A80ABEE3-F056-A7EF-A2FA-4D165F36F26C}"/>
                </a:ext>
              </a:extLst>
            </p:cNvPr>
            <p:cNvGrpSpPr/>
            <p:nvPr/>
          </p:nvGrpSpPr>
          <p:grpSpPr>
            <a:xfrm>
              <a:off x="2668" y="2981"/>
              <a:ext cx="21" cy="21"/>
              <a:chOff x="5472" y="2291"/>
              <a:chExt cx="22" cy="24"/>
            </a:xfrm>
          </p:grpSpPr>
          <p:sp>
            <p:nvSpPr>
              <p:cNvPr id="23606" name="Line 32">
                <a:extLst>
                  <a:ext uri="{FF2B5EF4-FFF2-40B4-BE49-F238E27FC236}">
                    <a16:creationId xmlns:a16="http://schemas.microsoft.com/office/drawing/2014/main" id="{4CA02EE5-DD8B-E4E8-DDCD-444F7A4382CC}"/>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07" name="Line 33">
                <a:extLst>
                  <a:ext uri="{FF2B5EF4-FFF2-40B4-BE49-F238E27FC236}">
                    <a16:creationId xmlns:a16="http://schemas.microsoft.com/office/drawing/2014/main" id="{526A34ED-2F25-2098-5306-4D7F2B7EC038}"/>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92" name="Group 34">
              <a:extLst>
                <a:ext uri="{FF2B5EF4-FFF2-40B4-BE49-F238E27FC236}">
                  <a16:creationId xmlns:a16="http://schemas.microsoft.com/office/drawing/2014/main" id="{1015375F-8357-7A13-99BC-91DE218814F4}"/>
                </a:ext>
              </a:extLst>
            </p:cNvPr>
            <p:cNvGrpSpPr/>
            <p:nvPr/>
          </p:nvGrpSpPr>
          <p:grpSpPr>
            <a:xfrm>
              <a:off x="2858" y="2917"/>
              <a:ext cx="20" cy="21"/>
              <a:chOff x="5472" y="2291"/>
              <a:chExt cx="22" cy="24"/>
            </a:xfrm>
          </p:grpSpPr>
          <p:sp>
            <p:nvSpPr>
              <p:cNvPr id="23604" name="Line 35">
                <a:extLst>
                  <a:ext uri="{FF2B5EF4-FFF2-40B4-BE49-F238E27FC236}">
                    <a16:creationId xmlns:a16="http://schemas.microsoft.com/office/drawing/2014/main" id="{CE0D35D4-D652-5AF2-1375-60DD09166A7C}"/>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05" name="Line 36">
                <a:extLst>
                  <a:ext uri="{FF2B5EF4-FFF2-40B4-BE49-F238E27FC236}">
                    <a16:creationId xmlns:a16="http://schemas.microsoft.com/office/drawing/2014/main" id="{4988C64E-2BD2-FF17-8606-45F3A5373BDC}"/>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93" name="Group 37">
              <a:extLst>
                <a:ext uri="{FF2B5EF4-FFF2-40B4-BE49-F238E27FC236}">
                  <a16:creationId xmlns:a16="http://schemas.microsoft.com/office/drawing/2014/main" id="{28C480D7-F2F8-3A05-3DD5-18C64CB303B7}"/>
                </a:ext>
              </a:extLst>
            </p:cNvPr>
            <p:cNvGrpSpPr/>
            <p:nvPr/>
          </p:nvGrpSpPr>
          <p:grpSpPr>
            <a:xfrm>
              <a:off x="2953" y="2832"/>
              <a:ext cx="19" cy="21"/>
              <a:chOff x="5472" y="2291"/>
              <a:chExt cx="22" cy="24"/>
            </a:xfrm>
          </p:grpSpPr>
          <p:sp>
            <p:nvSpPr>
              <p:cNvPr id="23602" name="Line 38">
                <a:extLst>
                  <a:ext uri="{FF2B5EF4-FFF2-40B4-BE49-F238E27FC236}">
                    <a16:creationId xmlns:a16="http://schemas.microsoft.com/office/drawing/2014/main" id="{3DFC9768-4B58-BC20-B8E3-9C8B3B85F2B0}"/>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03" name="Line 39">
                <a:extLst>
                  <a:ext uri="{FF2B5EF4-FFF2-40B4-BE49-F238E27FC236}">
                    <a16:creationId xmlns:a16="http://schemas.microsoft.com/office/drawing/2014/main" id="{ABDE396C-A8FA-8F89-D148-19748F0D0916}"/>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94" name="Group 40">
              <a:extLst>
                <a:ext uri="{FF2B5EF4-FFF2-40B4-BE49-F238E27FC236}">
                  <a16:creationId xmlns:a16="http://schemas.microsoft.com/office/drawing/2014/main" id="{ECED4622-B18D-2DDD-D01B-7EDD18411F35}"/>
                </a:ext>
              </a:extLst>
            </p:cNvPr>
            <p:cNvGrpSpPr/>
            <p:nvPr/>
          </p:nvGrpSpPr>
          <p:grpSpPr>
            <a:xfrm>
              <a:off x="3018" y="2861"/>
              <a:ext cx="20" cy="21"/>
              <a:chOff x="5472" y="2291"/>
              <a:chExt cx="22" cy="24"/>
            </a:xfrm>
          </p:grpSpPr>
          <p:sp>
            <p:nvSpPr>
              <p:cNvPr id="23600" name="Line 41">
                <a:extLst>
                  <a:ext uri="{FF2B5EF4-FFF2-40B4-BE49-F238E27FC236}">
                    <a16:creationId xmlns:a16="http://schemas.microsoft.com/office/drawing/2014/main" id="{F6F0C3C2-DC0F-BFF3-221A-214C6F70CA26}"/>
                  </a:ext>
                </a:extLst>
              </p:cNvPr>
              <p:cNvSpPr>
                <a:spLocks noChangeShapeType="1"/>
              </p:cNvSpPr>
              <p:nvPr/>
            </p:nvSpPr>
            <p:spPr bwMode="auto">
              <a:xfrm>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601" name="Line 42">
                <a:extLst>
                  <a:ext uri="{FF2B5EF4-FFF2-40B4-BE49-F238E27FC236}">
                    <a16:creationId xmlns:a16="http://schemas.microsoft.com/office/drawing/2014/main" id="{34DD16DD-DFBD-721A-1005-12ACCC924EA3}"/>
                  </a:ext>
                </a:extLst>
              </p:cNvPr>
              <p:cNvSpPr>
                <a:spLocks noChangeShapeType="1"/>
              </p:cNvSpPr>
              <p:nvPr/>
            </p:nvSpPr>
            <p:spPr bwMode="auto">
              <a:xfrm flipV="1">
                <a:off x="5472" y="2291"/>
                <a:ext cx="22" cy="2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sp>
          <p:nvSpPr>
            <p:cNvPr id="23595" name="Line 43">
              <a:extLst>
                <a:ext uri="{FF2B5EF4-FFF2-40B4-BE49-F238E27FC236}">
                  <a16:creationId xmlns:a16="http://schemas.microsoft.com/office/drawing/2014/main" id="{D42897BC-B3C7-A1A4-D827-693CDC952C92}"/>
                </a:ext>
              </a:extLst>
            </p:cNvPr>
            <p:cNvSpPr>
              <a:spLocks noChangeShapeType="1"/>
            </p:cNvSpPr>
            <p:nvPr/>
          </p:nvSpPr>
          <p:spPr bwMode="auto">
            <a:xfrm flipH="1" flipV="1">
              <a:off x="2627" y="2912"/>
              <a:ext cx="0" cy="7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596" name="Oval 44">
              <a:extLst>
                <a:ext uri="{FF2B5EF4-FFF2-40B4-BE49-F238E27FC236}">
                  <a16:creationId xmlns:a16="http://schemas.microsoft.com/office/drawing/2014/main" id="{7F84CF4D-BB21-0D7F-68E3-B358F1414ECC}"/>
                </a:ext>
              </a:extLst>
            </p:cNvPr>
            <p:cNvSpPr>
              <a:spLocks noChangeArrowheads="1"/>
            </p:cNvSpPr>
            <p:nvPr/>
          </p:nvSpPr>
          <p:spPr bwMode="auto">
            <a:xfrm>
              <a:off x="2583" y="2853"/>
              <a:ext cx="85" cy="147"/>
            </a:xfrm>
            <a:prstGeom prst="ellipse">
              <a:avLst/>
            </a:prstGeom>
            <a:noFill/>
            <a:ln w="12700">
              <a:solidFill>
                <a:schemeClr val="tx1"/>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3597" name="Line 45">
              <a:extLst>
                <a:ext uri="{FF2B5EF4-FFF2-40B4-BE49-F238E27FC236}">
                  <a16:creationId xmlns:a16="http://schemas.microsoft.com/office/drawing/2014/main" id="{46CFFE5B-CF17-EC54-8771-C78575D61F9B}"/>
                </a:ext>
              </a:extLst>
            </p:cNvPr>
            <p:cNvSpPr>
              <a:spLocks noChangeShapeType="1"/>
            </p:cNvSpPr>
            <p:nvPr/>
          </p:nvSpPr>
          <p:spPr bwMode="auto">
            <a:xfrm flipH="1" flipV="1">
              <a:off x="2498" y="2729"/>
              <a:ext cx="85" cy="18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sp>
          <p:nvSpPr>
            <p:cNvPr id="23598" name="Text Box 46">
              <a:extLst>
                <a:ext uri="{FF2B5EF4-FFF2-40B4-BE49-F238E27FC236}">
                  <a16:creationId xmlns:a16="http://schemas.microsoft.com/office/drawing/2014/main" id="{AFC93E16-27E1-9648-4794-56219B300075}"/>
                </a:ext>
              </a:extLst>
            </p:cNvPr>
            <p:cNvSpPr txBox="1">
              <a:spLocks noChangeArrowheads="1"/>
            </p:cNvSpPr>
            <p:nvPr/>
          </p:nvSpPr>
          <p:spPr bwMode="auto">
            <a:xfrm>
              <a:off x="2274" y="2651"/>
              <a:ext cx="805" cy="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US" altLang="ko-KR" sz="800" b="0" i="1">
                  <a:solidFill>
                    <a:schemeClr val="tx2"/>
                  </a:solidFill>
                  <a:ea typeface="굴림" panose="020b0600000101010101" pitchFamily="34" charset="-127"/>
                </a:rPr>
                <a:t>Savings potential</a:t>
              </a:r>
            </a:p>
          </p:txBody>
        </p:sp>
        <p:sp>
          <p:nvSpPr>
            <p:cNvPr id="23599" name="Line 47">
              <a:extLst>
                <a:ext uri="{FF2B5EF4-FFF2-40B4-BE49-F238E27FC236}">
                  <a16:creationId xmlns:a16="http://schemas.microsoft.com/office/drawing/2014/main" id="{D961EE60-869B-C581-4321-1461F4979DC3}"/>
                </a:ext>
              </a:extLst>
            </p:cNvPr>
            <p:cNvSpPr>
              <a:spLocks noChangeShapeType="1"/>
            </p:cNvSpPr>
            <p:nvPr/>
          </p:nvSpPr>
          <p:spPr bwMode="auto">
            <a:xfrm flipV="1">
              <a:off x="2502" y="2846"/>
              <a:ext cx="583" cy="156"/>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ko-KR" altLang="en-US"/>
            </a:p>
          </p:txBody>
        </p:sp>
      </p:grpSp>
      <p:grpSp>
        <p:nvGrpSpPr>
          <p:cNvPr id="23556" name="Group 48">
            <a:extLst>
              <a:ext uri="{FF2B5EF4-FFF2-40B4-BE49-F238E27FC236}">
                <a16:creationId xmlns:a16="http://schemas.microsoft.com/office/drawing/2014/main" id="{3555477A-92A5-8D8A-83FA-9AF25566861E}"/>
              </a:ext>
            </a:extLst>
          </p:cNvPr>
          <p:cNvGrpSpPr/>
          <p:nvPr/>
        </p:nvGrpSpPr>
        <p:grpSpPr>
          <a:xfrm>
            <a:off x="6332538" y="4557713"/>
            <a:ext cx="1101725" cy="815975"/>
            <a:chOff x="4017" y="2523"/>
            <a:chExt cx="679" cy="514"/>
          </a:xfrm>
        </p:grpSpPr>
        <p:sp>
          <p:nvSpPr>
            <p:cNvPr id="23579" name="Text Box 49">
              <a:extLst>
                <a:ext uri="{FF2B5EF4-FFF2-40B4-BE49-F238E27FC236}">
                  <a16:creationId xmlns:a16="http://schemas.microsoft.com/office/drawing/2014/main" id="{72980072-6747-3D2C-D53D-E9F5049F900E}"/>
                </a:ext>
              </a:extLst>
            </p:cNvPr>
            <p:cNvSpPr txBox="1">
              <a:spLocks noChangeArrowheads="1"/>
            </p:cNvSpPr>
            <p:nvPr/>
          </p:nvSpPr>
          <p:spPr bwMode="auto">
            <a:xfrm>
              <a:off x="4017" y="2523"/>
              <a:ext cx="679" cy="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US" altLang="ko-KR" sz="800" b="0">
                  <a:solidFill>
                    <a:schemeClr val="tx2"/>
                  </a:solidFill>
                  <a:ea typeface="굴림" panose="020b0600000101010101" pitchFamily="34" charset="-127"/>
                </a:rPr>
                <a:t>Savings potential</a:t>
              </a:r>
            </a:p>
          </p:txBody>
        </p:sp>
        <p:graphicFrame>
          <p:nvGraphicFramePr>
            <p:cNvPr id="23580" name="Object 50">
              <a:extLst>
                <a:ext uri="{FF2B5EF4-FFF2-40B4-BE49-F238E27FC236}">
                  <a16:creationId xmlns:a16="http://schemas.microsoft.com/office/drawing/2014/main" id="{57200535-C6A8-CD8B-1D58-04858AEB4320}"/>
                </a:ext>
              </a:extLst>
            </p:cNvPr>
            <p:cNvGraphicFramePr>
              <a:graphicFrameLocks noChangeAspect="1"/>
            </p:cNvGraphicFramePr>
            <p:nvPr/>
          </p:nvGraphicFramePr>
          <p:xfrm>
            <a:off x="4078" y="2640"/>
            <a:ext cx="558" cy="397"/>
          </p:xfrm>
          <a:graphic>
            <a:graphicData uri="http://schemas.openxmlformats.org/presentationml/2006/ole">
              <mc:AlternateContent>
                <mc:Choice xmlns:v="urn:schemas-microsoft-com:vml" Requires="v">
                  <p:oleObj spid="_x0000_s1042" name="Chart" r:id="rId3" imgW="4483100" imgH="3048000" progId="MSGraph.Chart.8">
                    <p:embed/>
                  </p:oleObj>
                </mc:Choice>
                <mc:Fallback>
                  <p:oleObj name="Chart" r:id="rId3" imgW="4483100" imgH="3048000" progId="MSGraph.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4078" y="2640"/>
                          <a:ext cx="558" cy="397"/>
                        </a:xfrm>
                        <a:prstGeom prst="rect">
                          <a:avLst/>
                        </a:prstGeom>
                        <a:noFill/>
                        <a:ln>
                          <a:noFill/>
                        </a:ln>
                        <a:effectLst/>
                      </p:spPr>
                    </p:pic>
                  </p:oleObj>
                </mc:Fallback>
              </mc:AlternateContent>
            </a:graphicData>
          </a:graphic>
        </p:graphicFrame>
      </p:grpSp>
      <p:sp>
        <p:nvSpPr>
          <p:cNvPr id="23557" name="Rectangle 51">
            <a:extLst>
              <a:ext uri="{FF2B5EF4-FFF2-40B4-BE49-F238E27FC236}">
                <a16:creationId xmlns:a16="http://schemas.microsoft.com/office/drawing/2014/main" id="{A2F88265-11EA-B20A-CFE8-9D86386BDD76}"/>
              </a:ext>
            </a:extLst>
          </p:cNvPr>
          <p:cNvSpPr>
            <a:spLocks noChangeArrowheads="1"/>
          </p:cNvSpPr>
          <p:nvPr/>
        </p:nvSpPr>
        <p:spPr bwMode="auto">
          <a:xfrm>
            <a:off x="309563" y="3344863"/>
            <a:ext cx="1817687" cy="698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Define component structure</a:t>
            </a:r>
          </a:p>
          <a:p>
            <a:pPr>
              <a:lnSpc>
                <a:spcPct val="85000"/>
              </a:lnSpc>
              <a:spcBef>
                <a:spcPct val="10000"/>
              </a:spcBef>
              <a:buFontTx/>
              <a:buChar char="•"/>
            </a:pPr>
            <a:r>
              <a:rPr lang="en-US" altLang="ko-KR" sz="1000" b="0">
                <a:ea typeface="굴림" panose="020b0600000101010101" pitchFamily="34" charset="-127"/>
              </a:rPr>
              <a:t>Gather basic information </a:t>
            </a:r>
          </a:p>
          <a:p>
            <a:pPr>
              <a:lnSpc>
                <a:spcPct val="85000"/>
              </a:lnSpc>
              <a:spcBef>
                <a:spcPct val="10000"/>
              </a:spcBef>
              <a:buFontTx/>
              <a:buChar char="•"/>
            </a:pPr>
            <a:r>
              <a:rPr lang="en-US" altLang="ko-KR" sz="1000" b="0">
                <a:ea typeface="굴림" panose="020b0600000101010101" pitchFamily="34" charset="-127"/>
              </a:rPr>
              <a:t>Identify cost variables</a:t>
            </a:r>
          </a:p>
          <a:p>
            <a:pPr>
              <a:lnSpc>
                <a:spcPct val="85000"/>
              </a:lnSpc>
              <a:spcBef>
                <a:spcPct val="10000"/>
              </a:spcBef>
              <a:buFontTx/>
              <a:buChar char="•"/>
            </a:pPr>
            <a:r>
              <a:rPr lang="en-US" altLang="ko-KR" sz="1000" b="0">
                <a:ea typeface="굴림" panose="020b0600000101010101" pitchFamily="34" charset="-127"/>
              </a:rPr>
              <a:t>Develop data sheets and data request strategy</a:t>
            </a:r>
          </a:p>
        </p:txBody>
      </p:sp>
      <p:sp>
        <p:nvSpPr>
          <p:cNvPr id="23558" name="AutoShape 52">
            <a:extLst>
              <a:ext uri="{FF2B5EF4-FFF2-40B4-BE49-F238E27FC236}">
                <a16:creationId xmlns:a16="http://schemas.microsoft.com/office/drawing/2014/main" id="{108662E5-5E4A-81B9-481D-5A73A4C2C549}"/>
              </a:ext>
            </a:extLst>
          </p:cNvPr>
          <p:cNvSpPr>
            <a:spLocks noChangeArrowheads="1"/>
          </p:cNvSpPr>
          <p:nvPr/>
        </p:nvSpPr>
        <p:spPr bwMode="auto">
          <a:xfrm>
            <a:off x="271463" y="2216150"/>
            <a:ext cx="2101850" cy="719138"/>
          </a:xfrm>
          <a:prstGeom prst="homePlate">
            <a:avLst>
              <a:gd name="adj" fmla="val 33314"/>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1. Define scope of analysis on components level</a:t>
            </a:r>
          </a:p>
        </p:txBody>
      </p:sp>
      <p:sp>
        <p:nvSpPr>
          <p:cNvPr id="23559" name="AutoShape 53">
            <a:extLst>
              <a:ext uri="{FF2B5EF4-FFF2-40B4-BE49-F238E27FC236}">
                <a16:creationId xmlns:a16="http://schemas.microsoft.com/office/drawing/2014/main" id="{542D502C-7FD7-C48A-8479-5E7FEC50A39C}"/>
              </a:ext>
            </a:extLst>
          </p:cNvPr>
          <p:cNvSpPr>
            <a:spLocks noChangeArrowheads="1"/>
          </p:cNvSpPr>
          <p:nvPr/>
        </p:nvSpPr>
        <p:spPr bwMode="auto">
          <a:xfrm>
            <a:off x="2138363" y="2216150"/>
            <a:ext cx="2098675" cy="719138"/>
          </a:xfrm>
          <a:prstGeom prst="chevron">
            <a:avLst>
              <a:gd name="adj" fmla="val 3248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2. Capture technical</a:t>
            </a:r>
            <a:br>
              <a:rPr lang="en-US" altLang="ko-KR" sz="1200">
                <a:ea typeface="굴림" panose="020b0600000101010101" pitchFamily="34" charset="-127"/>
              </a:rPr>
            </a:br>
            <a:r>
              <a:rPr lang="en-US" altLang="ko-KR" sz="1200">
                <a:ea typeface="굴림" panose="020b0600000101010101" pitchFamily="34" charset="-127"/>
              </a:rPr>
              <a:t>and commercial</a:t>
            </a:r>
            <a:br>
              <a:rPr lang="en-US" altLang="ko-KR" sz="1200">
                <a:ea typeface="굴림" panose="020b0600000101010101" pitchFamily="34" charset="-127"/>
              </a:rPr>
            </a:br>
            <a:r>
              <a:rPr lang="en-US" altLang="ko-KR" sz="1200">
                <a:ea typeface="굴림" panose="020b0600000101010101" pitchFamily="34" charset="-127"/>
              </a:rPr>
              <a:t>data</a:t>
            </a:r>
          </a:p>
        </p:txBody>
      </p:sp>
      <p:sp>
        <p:nvSpPr>
          <p:cNvPr id="23560" name="Rectangle 54">
            <a:extLst>
              <a:ext uri="{FF2B5EF4-FFF2-40B4-BE49-F238E27FC236}">
                <a16:creationId xmlns:a16="http://schemas.microsoft.com/office/drawing/2014/main" id="{D9655E05-AAA4-5B36-0B2E-CF0B305A6158}"/>
              </a:ext>
            </a:extLst>
          </p:cNvPr>
          <p:cNvSpPr>
            <a:spLocks noChangeArrowheads="1"/>
          </p:cNvSpPr>
          <p:nvPr/>
        </p:nvSpPr>
        <p:spPr bwMode="auto">
          <a:xfrm>
            <a:off x="2174875" y="3344863"/>
            <a:ext cx="1762125" cy="536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Gather and analyze technical/ cost data </a:t>
            </a:r>
          </a:p>
          <a:p>
            <a:pPr>
              <a:lnSpc>
                <a:spcPct val="85000"/>
              </a:lnSpc>
              <a:spcBef>
                <a:spcPct val="10000"/>
              </a:spcBef>
              <a:buFontTx/>
              <a:buChar char="•"/>
            </a:pPr>
            <a:r>
              <a:rPr lang="en-US" altLang="ko-KR" sz="1000" b="0">
                <a:ea typeface="굴림" panose="020b0600000101010101" pitchFamily="34" charset="-127"/>
              </a:rPr>
              <a:t>Supplement data gaps with estimates</a:t>
            </a:r>
          </a:p>
        </p:txBody>
      </p:sp>
      <p:sp>
        <p:nvSpPr>
          <p:cNvPr id="23561" name="AutoShape 55">
            <a:extLst>
              <a:ext uri="{FF2B5EF4-FFF2-40B4-BE49-F238E27FC236}">
                <a16:creationId xmlns:a16="http://schemas.microsoft.com/office/drawing/2014/main" id="{5F8311C4-B5BB-0215-AE14-CEDE948A1774}"/>
              </a:ext>
            </a:extLst>
          </p:cNvPr>
          <p:cNvSpPr>
            <a:spLocks noChangeArrowheads="1"/>
          </p:cNvSpPr>
          <p:nvPr/>
        </p:nvSpPr>
        <p:spPr bwMode="auto">
          <a:xfrm>
            <a:off x="4002088" y="2216150"/>
            <a:ext cx="2100262" cy="719138"/>
          </a:xfrm>
          <a:prstGeom prst="chevron">
            <a:avLst>
              <a:gd name="adj" fmla="val 32504"/>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3. Set up and</a:t>
            </a:r>
            <a:br>
              <a:rPr lang="en-US" altLang="ko-KR" sz="1200">
                <a:ea typeface="굴림" panose="020b0600000101010101" pitchFamily="34" charset="-127"/>
              </a:rPr>
            </a:br>
            <a:r>
              <a:rPr lang="en-US" altLang="ko-KR" sz="1200">
                <a:ea typeface="굴림" panose="020b0600000101010101" pitchFamily="34" charset="-127"/>
              </a:rPr>
              <a:t>validate the </a:t>
            </a:r>
            <a:br>
              <a:rPr lang="en-US" altLang="ko-KR" sz="1200">
                <a:ea typeface="굴림" panose="020b0600000101010101" pitchFamily="34" charset="-127"/>
              </a:rPr>
            </a:br>
            <a:r>
              <a:rPr lang="en-US" altLang="ko-KR" sz="1200">
                <a:ea typeface="굴림" panose="020b0600000101010101" pitchFamily="34" charset="-127"/>
              </a:rPr>
              <a:t>regression model</a:t>
            </a:r>
          </a:p>
        </p:txBody>
      </p:sp>
      <p:sp>
        <p:nvSpPr>
          <p:cNvPr id="23562" name="Rectangle 56">
            <a:extLst>
              <a:ext uri="{FF2B5EF4-FFF2-40B4-BE49-F238E27FC236}">
                <a16:creationId xmlns:a16="http://schemas.microsoft.com/office/drawing/2014/main" id="{4B6B6657-F767-C28F-9FDE-38261DED1005}"/>
              </a:ext>
            </a:extLst>
          </p:cNvPr>
          <p:cNvSpPr>
            <a:spLocks noChangeArrowheads="1"/>
          </p:cNvSpPr>
          <p:nvPr/>
        </p:nvSpPr>
        <p:spPr bwMode="auto">
          <a:xfrm>
            <a:off x="4024313" y="3344863"/>
            <a:ext cx="1879600" cy="552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Determine regression variables and conduct analysis</a:t>
            </a:r>
          </a:p>
          <a:p>
            <a:pPr>
              <a:lnSpc>
                <a:spcPct val="85000"/>
              </a:lnSpc>
              <a:spcBef>
                <a:spcPct val="10000"/>
              </a:spcBef>
              <a:buFontTx/>
              <a:buChar char="•"/>
            </a:pPr>
            <a:r>
              <a:rPr lang="en-US" altLang="ko-KR" sz="1000" b="0">
                <a:ea typeface="굴림" panose="020b0600000101010101" pitchFamily="34" charset="-127"/>
              </a:rPr>
              <a:t>Validate model results</a:t>
            </a:r>
          </a:p>
          <a:p>
            <a:pPr>
              <a:lnSpc>
                <a:spcPct val="85000"/>
              </a:lnSpc>
              <a:spcBef>
                <a:spcPct val="10000"/>
              </a:spcBef>
              <a:buFontTx/>
              <a:buChar char="•"/>
            </a:pPr>
            <a:r>
              <a:rPr lang="en-US" altLang="ko-KR" sz="1000" b="0">
                <a:ea typeface="굴림" panose="020b0600000101010101" pitchFamily="34" charset="-127"/>
              </a:rPr>
              <a:t>Identify the target price line</a:t>
            </a:r>
          </a:p>
        </p:txBody>
      </p:sp>
      <p:sp>
        <p:nvSpPr>
          <p:cNvPr id="23563" name="AutoShape 57">
            <a:extLst>
              <a:ext uri="{FF2B5EF4-FFF2-40B4-BE49-F238E27FC236}">
                <a16:creationId xmlns:a16="http://schemas.microsoft.com/office/drawing/2014/main" id="{56181F58-C0D4-0266-8CCB-D497D432414F}"/>
              </a:ext>
            </a:extLst>
          </p:cNvPr>
          <p:cNvSpPr>
            <a:spLocks noChangeArrowheads="1"/>
          </p:cNvSpPr>
          <p:nvPr/>
        </p:nvSpPr>
        <p:spPr bwMode="auto">
          <a:xfrm>
            <a:off x="5859463" y="2216150"/>
            <a:ext cx="2101850" cy="719138"/>
          </a:xfrm>
          <a:prstGeom prst="chevron">
            <a:avLst>
              <a:gd name="adj" fmla="val 32529"/>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4. Evaluate and</a:t>
            </a:r>
            <a:br>
              <a:rPr lang="en-US" altLang="ko-KR" sz="1200">
                <a:ea typeface="굴림" panose="020b0600000101010101" pitchFamily="34" charset="-127"/>
              </a:rPr>
            </a:br>
            <a:r>
              <a:rPr lang="en-US" altLang="ko-KR" sz="1200">
                <a:ea typeface="굴림" panose="020b0600000101010101" pitchFamily="34" charset="-127"/>
              </a:rPr>
              <a:t>define savings potential</a:t>
            </a:r>
          </a:p>
        </p:txBody>
      </p:sp>
      <p:sp>
        <p:nvSpPr>
          <p:cNvPr id="23564" name="Rectangle 58">
            <a:extLst>
              <a:ext uri="{FF2B5EF4-FFF2-40B4-BE49-F238E27FC236}">
                <a16:creationId xmlns:a16="http://schemas.microsoft.com/office/drawing/2014/main" id="{9C83285D-3D1C-DB45-99C8-535657B83150}"/>
              </a:ext>
            </a:extLst>
          </p:cNvPr>
          <p:cNvSpPr>
            <a:spLocks noChangeArrowheads="1"/>
          </p:cNvSpPr>
          <p:nvPr/>
        </p:nvSpPr>
        <p:spPr bwMode="auto">
          <a:xfrm>
            <a:off x="6019800" y="3344863"/>
            <a:ext cx="1727200" cy="536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Analyze and validate savings potential</a:t>
            </a:r>
          </a:p>
          <a:p>
            <a:pPr>
              <a:lnSpc>
                <a:spcPct val="85000"/>
              </a:lnSpc>
              <a:spcBef>
                <a:spcPct val="10000"/>
              </a:spcBef>
              <a:buFontTx/>
              <a:buChar char="•"/>
            </a:pPr>
            <a:r>
              <a:rPr lang="en-US" altLang="ko-KR" sz="1000" b="0">
                <a:ea typeface="굴림" panose="020b0600000101010101" pitchFamily="34" charset="-127"/>
              </a:rPr>
              <a:t>Agree on and document potential findings</a:t>
            </a:r>
          </a:p>
        </p:txBody>
      </p:sp>
      <p:sp>
        <p:nvSpPr>
          <p:cNvPr id="23565" name="AutoShape 59">
            <a:extLst>
              <a:ext uri="{FF2B5EF4-FFF2-40B4-BE49-F238E27FC236}">
                <a16:creationId xmlns:a16="http://schemas.microsoft.com/office/drawing/2014/main" id="{0A0C6438-62D4-0C67-8E14-A35307DFFFD2}"/>
              </a:ext>
            </a:extLst>
          </p:cNvPr>
          <p:cNvSpPr>
            <a:spLocks noChangeArrowheads="1"/>
          </p:cNvSpPr>
          <p:nvPr/>
        </p:nvSpPr>
        <p:spPr bwMode="auto">
          <a:xfrm>
            <a:off x="7648575" y="2130425"/>
            <a:ext cx="1985963" cy="892175"/>
          </a:xfrm>
          <a:prstGeom prst="star16">
            <a:avLst>
              <a:gd name="adj" fmla="val 37500"/>
            </a:avLst>
          </a:prstGeom>
          <a:solidFill>
            <a:srgbClr val="0070C0"/>
          </a:solidFill>
          <a:ln w="9525" algn="ctr">
            <a:solidFill>
              <a:srgbClr val="0070C0"/>
            </a:solidFill>
            <a:miter lim="800000"/>
          </a:ln>
        </p:spPr>
        <p:txBody>
          <a:bodyPr lIns="0" tIns="7200" rIns="0" bIns="7200" anchor="ctr"/>
          <a:lstStyle>
            <a:lvl1pPr defTabSz="85566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28625" indent="-190500" defTabSz="85566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55663" indent="-163513" defTabSz="85566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284288" indent="-168275" defTabSz="8556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711325" indent="-160338" defTabSz="85566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685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257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829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401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solidFill>
                  <a:schemeClr val="bg1"/>
                </a:solidFill>
                <a:ea typeface="굴림" panose="020b0600000101010101" pitchFamily="34" charset="-127"/>
              </a:rPr>
              <a:t>Negotiate with suppliers</a:t>
            </a:r>
          </a:p>
        </p:txBody>
      </p:sp>
      <p:sp>
        <p:nvSpPr>
          <p:cNvPr id="23566" name="Rectangle 60">
            <a:extLst>
              <a:ext uri="{FF2B5EF4-FFF2-40B4-BE49-F238E27FC236}">
                <a16:creationId xmlns:a16="http://schemas.microsoft.com/office/drawing/2014/main" id="{FEFC6145-EEE6-F8E9-E207-43F2A80FBB68}"/>
              </a:ext>
            </a:extLst>
          </p:cNvPr>
          <p:cNvSpPr>
            <a:spLocks noChangeArrowheads="1"/>
          </p:cNvSpPr>
          <p:nvPr/>
        </p:nvSpPr>
        <p:spPr bwMode="auto">
          <a:xfrm>
            <a:off x="309563" y="5635625"/>
            <a:ext cx="1817687" cy="698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System description (part system, components)</a:t>
            </a:r>
          </a:p>
          <a:p>
            <a:pPr>
              <a:lnSpc>
                <a:spcPct val="85000"/>
              </a:lnSpc>
              <a:spcBef>
                <a:spcPct val="10000"/>
              </a:spcBef>
              <a:buFontTx/>
              <a:buChar char="•"/>
            </a:pPr>
            <a:r>
              <a:rPr lang="en-US" altLang="ko-KR" sz="1000" b="0">
                <a:ea typeface="굴림" panose="020b0600000101010101" pitchFamily="34" charset="-127"/>
              </a:rPr>
              <a:t>Basic info</a:t>
            </a:r>
          </a:p>
          <a:p>
            <a:pPr>
              <a:lnSpc>
                <a:spcPct val="85000"/>
              </a:lnSpc>
              <a:spcBef>
                <a:spcPct val="10000"/>
              </a:spcBef>
              <a:buFontTx/>
              <a:buChar char="•"/>
            </a:pPr>
            <a:r>
              <a:rPr lang="en-US" altLang="ko-KR" sz="1000" b="0">
                <a:ea typeface="굴림" panose="020b0600000101010101" pitchFamily="34" charset="-127"/>
              </a:rPr>
              <a:t>Cost/performance drivers</a:t>
            </a:r>
          </a:p>
          <a:p>
            <a:pPr>
              <a:lnSpc>
                <a:spcPct val="85000"/>
              </a:lnSpc>
              <a:spcBef>
                <a:spcPct val="10000"/>
              </a:spcBef>
              <a:buFontTx/>
              <a:buChar char="•"/>
            </a:pPr>
            <a:r>
              <a:rPr lang="en-US" altLang="ko-KR" sz="1000" b="0">
                <a:ea typeface="굴림" panose="020b0600000101010101" pitchFamily="34" charset="-127"/>
              </a:rPr>
              <a:t>Data sheets/ request strategy</a:t>
            </a:r>
          </a:p>
        </p:txBody>
      </p:sp>
      <p:sp>
        <p:nvSpPr>
          <p:cNvPr id="23567" name="Rectangle 61">
            <a:extLst>
              <a:ext uri="{FF2B5EF4-FFF2-40B4-BE49-F238E27FC236}">
                <a16:creationId xmlns:a16="http://schemas.microsoft.com/office/drawing/2014/main" id="{50699304-920B-D407-08A2-3C486DDA52D5}"/>
              </a:ext>
            </a:extLst>
          </p:cNvPr>
          <p:cNvSpPr>
            <a:spLocks noChangeArrowheads="1"/>
          </p:cNvSpPr>
          <p:nvPr/>
        </p:nvSpPr>
        <p:spPr bwMode="auto">
          <a:xfrm>
            <a:off x="2174875" y="5643563"/>
            <a:ext cx="1831975" cy="552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Database with info</a:t>
            </a:r>
            <a:br>
              <a:rPr lang="en-US" altLang="ko-KR" sz="1000" b="0">
                <a:ea typeface="굴림" panose="020b0600000101010101" pitchFamily="34" charset="-127"/>
              </a:rPr>
            </a:br>
            <a:r>
              <a:rPr lang="en-US" altLang="ko-KR" sz="1000" b="0">
                <a:ea typeface="굴림" panose="020b0600000101010101" pitchFamily="34" charset="-127"/>
              </a:rPr>
              <a:t>per component</a:t>
            </a:r>
          </a:p>
          <a:p>
            <a:pPr lvl="1">
              <a:lnSpc>
                <a:spcPct val="85000"/>
              </a:lnSpc>
              <a:spcBef>
                <a:spcPct val="10000"/>
              </a:spcBef>
              <a:buFont typeface="Arial" panose="020b0604020202020204" pitchFamily="34" charset="0"/>
              <a:buChar char="–"/>
            </a:pPr>
            <a:r>
              <a:rPr lang="en-US" altLang="ko-KR" sz="1000" b="0">
                <a:ea typeface="굴림" panose="020b0600000101010101" pitchFamily="34" charset="-127"/>
              </a:rPr>
              <a:t>Specifications</a:t>
            </a:r>
          </a:p>
          <a:p>
            <a:pPr lvl="1">
              <a:lnSpc>
                <a:spcPct val="85000"/>
              </a:lnSpc>
              <a:spcBef>
                <a:spcPct val="10000"/>
              </a:spcBef>
              <a:buFont typeface="Arial" panose="020b0604020202020204" pitchFamily="34" charset="0"/>
              <a:buChar char="–"/>
            </a:pPr>
            <a:r>
              <a:rPr lang="en-US" altLang="ko-KR" sz="1000" b="0">
                <a:ea typeface="굴림" panose="020b0600000101010101" pitchFamily="34" charset="-127"/>
              </a:rPr>
              <a:t>Cost data</a:t>
            </a:r>
            <a:r>
              <a:rPr lang="en-US" altLang="ko-KR" sz="1000" b="0" baseline="30000">
                <a:ea typeface="굴림" panose="020b0600000101010101" pitchFamily="34" charset="-127"/>
              </a:rPr>
              <a:t>1)</a:t>
            </a:r>
          </a:p>
        </p:txBody>
      </p:sp>
      <p:sp>
        <p:nvSpPr>
          <p:cNvPr id="23568" name="Rectangle 62">
            <a:extLst>
              <a:ext uri="{FF2B5EF4-FFF2-40B4-BE49-F238E27FC236}">
                <a16:creationId xmlns:a16="http://schemas.microsoft.com/office/drawing/2014/main" id="{800CB301-5588-EFA4-3F81-657AA858A5E9}"/>
              </a:ext>
            </a:extLst>
          </p:cNvPr>
          <p:cNvSpPr>
            <a:spLocks noChangeArrowheads="1"/>
          </p:cNvSpPr>
          <p:nvPr/>
        </p:nvSpPr>
        <p:spPr bwMode="auto">
          <a:xfrm>
            <a:off x="4024313" y="5643563"/>
            <a:ext cx="1955800" cy="552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Cost model</a:t>
            </a:r>
          </a:p>
          <a:p>
            <a:pPr>
              <a:lnSpc>
                <a:spcPct val="85000"/>
              </a:lnSpc>
              <a:spcBef>
                <a:spcPct val="10000"/>
              </a:spcBef>
              <a:buFontTx/>
              <a:buChar char="•"/>
            </a:pPr>
            <a:r>
              <a:rPr lang="en-US" altLang="ko-KR" sz="1000" b="0">
                <a:ea typeface="굴림" panose="020b0600000101010101" pitchFamily="34" charset="-127"/>
              </a:rPr>
              <a:t>Comparability beyond specification differences</a:t>
            </a:r>
          </a:p>
          <a:p>
            <a:pPr>
              <a:lnSpc>
                <a:spcPct val="85000"/>
              </a:lnSpc>
              <a:spcBef>
                <a:spcPct val="10000"/>
              </a:spcBef>
              <a:buFontTx/>
              <a:buChar char="•"/>
            </a:pPr>
            <a:r>
              <a:rPr lang="en-US" altLang="ko-KR" sz="1000" b="0">
                <a:ea typeface="굴림" panose="020b0600000101010101" pitchFamily="34" charset="-127"/>
              </a:rPr>
              <a:t>Target costs on system level</a:t>
            </a:r>
          </a:p>
        </p:txBody>
      </p:sp>
      <p:sp>
        <p:nvSpPr>
          <p:cNvPr id="23569" name="AutoShape 63">
            <a:extLst>
              <a:ext uri="{FF2B5EF4-FFF2-40B4-BE49-F238E27FC236}">
                <a16:creationId xmlns:a16="http://schemas.microsoft.com/office/drawing/2014/main" id="{B4F1DC42-B021-7000-BAD7-7BCDA4109920}"/>
              </a:ext>
            </a:extLst>
          </p:cNvPr>
          <p:cNvSpPr>
            <a:spLocks noChangeArrowheads="1"/>
          </p:cNvSpPr>
          <p:nvPr/>
        </p:nvSpPr>
        <p:spPr bwMode="auto">
          <a:xfrm rot="10800000">
            <a:off x="625475" y="4300538"/>
            <a:ext cx="850900" cy="125412"/>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3570" name="AutoShape 64">
            <a:extLst>
              <a:ext uri="{FF2B5EF4-FFF2-40B4-BE49-F238E27FC236}">
                <a16:creationId xmlns:a16="http://schemas.microsoft.com/office/drawing/2014/main" id="{FDF4C3C7-88AD-42A3-95D2-3D448D48AFB7}"/>
              </a:ext>
            </a:extLst>
          </p:cNvPr>
          <p:cNvSpPr>
            <a:spLocks noChangeArrowheads="1"/>
          </p:cNvSpPr>
          <p:nvPr/>
        </p:nvSpPr>
        <p:spPr bwMode="auto">
          <a:xfrm rot="10800000">
            <a:off x="2595563" y="4300538"/>
            <a:ext cx="844550" cy="125412"/>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3571" name="AutoShape 65">
            <a:extLst>
              <a:ext uri="{FF2B5EF4-FFF2-40B4-BE49-F238E27FC236}">
                <a16:creationId xmlns:a16="http://schemas.microsoft.com/office/drawing/2014/main" id="{97A1849B-4B49-E16C-74D1-41DCA9035D4C}"/>
              </a:ext>
            </a:extLst>
          </p:cNvPr>
          <p:cNvSpPr>
            <a:spLocks noChangeArrowheads="1"/>
          </p:cNvSpPr>
          <p:nvPr/>
        </p:nvSpPr>
        <p:spPr bwMode="auto">
          <a:xfrm rot="10800000">
            <a:off x="4481513" y="4300538"/>
            <a:ext cx="844550" cy="125412"/>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3572" name="AutoShape 66">
            <a:extLst>
              <a:ext uri="{FF2B5EF4-FFF2-40B4-BE49-F238E27FC236}">
                <a16:creationId xmlns:a16="http://schemas.microsoft.com/office/drawing/2014/main" id="{081AB966-EB8A-0ACC-A324-C0C8A06A6965}"/>
              </a:ext>
            </a:extLst>
          </p:cNvPr>
          <p:cNvSpPr>
            <a:spLocks noChangeArrowheads="1"/>
          </p:cNvSpPr>
          <p:nvPr/>
        </p:nvSpPr>
        <p:spPr bwMode="auto">
          <a:xfrm rot="10800000">
            <a:off x="6426200" y="4300538"/>
            <a:ext cx="846138" cy="125412"/>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3573" name="Rectangle 67">
            <a:extLst>
              <a:ext uri="{FF2B5EF4-FFF2-40B4-BE49-F238E27FC236}">
                <a16:creationId xmlns:a16="http://schemas.microsoft.com/office/drawing/2014/main" id="{53D651F5-638E-876F-35D5-EC4847885B3B}"/>
              </a:ext>
            </a:extLst>
          </p:cNvPr>
          <p:cNvSpPr>
            <a:spLocks noChangeArrowheads="1"/>
          </p:cNvSpPr>
          <p:nvPr/>
        </p:nvSpPr>
        <p:spPr bwMode="auto">
          <a:xfrm>
            <a:off x="6091238" y="5643563"/>
            <a:ext cx="1870075" cy="536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Interpretation and documentation</a:t>
            </a:r>
          </a:p>
          <a:p>
            <a:pPr>
              <a:lnSpc>
                <a:spcPct val="85000"/>
              </a:lnSpc>
              <a:spcBef>
                <a:spcPct val="10000"/>
              </a:spcBef>
              <a:buFontTx/>
              <a:buChar char="•"/>
            </a:pPr>
            <a:r>
              <a:rPr lang="en-US" altLang="ko-KR" sz="1000" b="0">
                <a:ea typeface="굴림" panose="020b0600000101010101" pitchFamily="34" charset="-127"/>
              </a:rPr>
              <a:t>Savings potential by platform, brand, vehicle, suppliers, …</a:t>
            </a:r>
          </a:p>
        </p:txBody>
      </p:sp>
      <p:sp>
        <p:nvSpPr>
          <p:cNvPr id="23574" name="Rectangle 68">
            <a:extLst>
              <a:ext uri="{FF2B5EF4-FFF2-40B4-BE49-F238E27FC236}">
                <a16:creationId xmlns:a16="http://schemas.microsoft.com/office/drawing/2014/main" id="{B41652D4-B103-5C7C-7287-81F277484716}"/>
              </a:ext>
            </a:extLst>
          </p:cNvPr>
          <p:cNvSpPr>
            <a:spLocks noChangeArrowheads="1"/>
          </p:cNvSpPr>
          <p:nvPr/>
        </p:nvSpPr>
        <p:spPr bwMode="auto">
          <a:xfrm>
            <a:off x="7978775" y="3344863"/>
            <a:ext cx="1590675" cy="536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Integrate findings in negotiation strategy </a:t>
            </a:r>
          </a:p>
          <a:p>
            <a:pPr>
              <a:lnSpc>
                <a:spcPct val="85000"/>
              </a:lnSpc>
              <a:spcBef>
                <a:spcPct val="10000"/>
              </a:spcBef>
              <a:buFontTx/>
              <a:buChar char="•"/>
            </a:pPr>
            <a:r>
              <a:rPr lang="en-US" altLang="ko-KR" sz="1000" b="0">
                <a:ea typeface="굴림" panose="020b0600000101010101" pitchFamily="34" charset="-127"/>
              </a:rPr>
              <a:t>Support in negotiation preparation</a:t>
            </a:r>
          </a:p>
        </p:txBody>
      </p:sp>
      <p:pic>
        <p:nvPicPr>
          <p:cNvPr id="23575" name="Picture 69">
            <a:extLst>
              <a:ext uri="{FF2B5EF4-FFF2-40B4-BE49-F238E27FC236}">
                <a16:creationId xmlns:a16="http://schemas.microsoft.com/office/drawing/2014/main" id="{A76B790F-49B4-CF31-672C-4991AF2D38C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90513" y="4735513"/>
            <a:ext cx="10350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6" name="AutoShape 70">
            <a:extLst>
              <a:ext uri="{FF2B5EF4-FFF2-40B4-BE49-F238E27FC236}">
                <a16:creationId xmlns:a16="http://schemas.microsoft.com/office/drawing/2014/main" id="{023DB3D7-DAC3-F94A-B89A-452AFCD0EACA}"/>
              </a:ext>
            </a:extLst>
          </p:cNvPr>
          <p:cNvSpPr>
            <a:spLocks noChangeArrowheads="1"/>
          </p:cNvSpPr>
          <p:nvPr/>
        </p:nvSpPr>
        <p:spPr bwMode="auto">
          <a:xfrm>
            <a:off x="5099050" y="1881188"/>
            <a:ext cx="1739900" cy="338137"/>
          </a:xfrm>
          <a:prstGeom prst="curvedDownArrow">
            <a:avLst>
              <a:gd name="adj1" fmla="val 102911"/>
              <a:gd name="adj2" fmla="val 205822"/>
              <a:gd name="adj3" fmla="val 33333"/>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3577" name="AutoShape 71">
            <a:extLst>
              <a:ext uri="{FF2B5EF4-FFF2-40B4-BE49-F238E27FC236}">
                <a16:creationId xmlns:a16="http://schemas.microsoft.com/office/drawing/2014/main" id="{FA396EB1-8A36-FDA5-DB0B-66ACADC97D65}"/>
              </a:ext>
            </a:extLst>
          </p:cNvPr>
          <p:cNvSpPr>
            <a:spLocks noChangeArrowheads="1"/>
          </p:cNvSpPr>
          <p:nvPr/>
        </p:nvSpPr>
        <p:spPr bwMode="auto">
          <a:xfrm flipH="1" flipV="1">
            <a:off x="5043488" y="2935288"/>
            <a:ext cx="1741487" cy="338137"/>
          </a:xfrm>
          <a:prstGeom prst="curvedDownArrow">
            <a:avLst>
              <a:gd name="adj1" fmla="val 103005"/>
              <a:gd name="adj2" fmla="val 206010"/>
              <a:gd name="adj3" fmla="val 33333"/>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3578" name="Rectangle 73">
            <a:extLst>
              <a:ext uri="{FF2B5EF4-FFF2-40B4-BE49-F238E27FC236}">
                <a16:creationId xmlns:a16="http://schemas.microsoft.com/office/drawing/2014/main" id="{E837C2BE-7C06-4E07-2DBB-44670D98C257}"/>
              </a:ext>
            </a:extLst>
          </p:cNvPr>
          <p:cNvSpPr>
            <a:spLocks noChangeArrowheads="1"/>
          </p:cNvSpPr>
          <p:nvPr/>
        </p:nvSpPr>
        <p:spPr bwMode="auto">
          <a:xfrm>
            <a:off x="4551363" y="239713"/>
            <a:ext cx="509270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Introduction: Why combine 7-Step-Sourcing and Cost Regression Analysis?</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5601" name="Rectangle 2">
            <a:extLst>
              <a:ext uri="{FF2B5EF4-FFF2-40B4-BE49-F238E27FC236}">
                <a16:creationId xmlns:a16="http://schemas.microsoft.com/office/drawing/2014/main" id="{D6365C57-D632-C342-D205-32619C846534}"/>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Combining both methodologies creates a high momentum and ensures a constant utilization</a:t>
            </a:r>
          </a:p>
        </p:txBody>
      </p:sp>
      <p:sp>
        <p:nvSpPr>
          <p:cNvPr id="25602" name="AutoShape 3">
            <a:extLst>
              <a:ext uri="{FF2B5EF4-FFF2-40B4-BE49-F238E27FC236}">
                <a16:creationId xmlns:a16="http://schemas.microsoft.com/office/drawing/2014/main" id="{F4263765-CD08-771F-0FDE-9C3EF31AD7A9}"/>
              </a:ext>
            </a:extLst>
          </p:cNvPr>
          <p:cNvSpPr>
            <a:spLocks noChangeArrowheads="1"/>
          </p:cNvSpPr>
          <p:nvPr/>
        </p:nvSpPr>
        <p:spPr bwMode="auto">
          <a:xfrm>
            <a:off x="4017963" y="3833813"/>
            <a:ext cx="431800" cy="252412"/>
          </a:xfrm>
          <a:prstGeom prst="homePlate">
            <a:avLst>
              <a:gd name="adj" fmla="val 17107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5603" name="Rectangle 4">
            <a:extLst>
              <a:ext uri="{FF2B5EF4-FFF2-40B4-BE49-F238E27FC236}">
                <a16:creationId xmlns:a16="http://schemas.microsoft.com/office/drawing/2014/main" id="{8390A337-45AA-8194-31A1-FCF7F73F98FE}"/>
              </a:ext>
            </a:extLst>
          </p:cNvPr>
          <p:cNvSpPr>
            <a:spLocks noChangeArrowheads="1"/>
          </p:cNvSpPr>
          <p:nvPr/>
        </p:nvSpPr>
        <p:spPr bwMode="auto">
          <a:xfrm>
            <a:off x="4562475" y="2316163"/>
            <a:ext cx="5072063" cy="525462"/>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a:ea typeface="굴림" panose="020b0600000101010101" pitchFamily="34" charset="-127"/>
              </a:rPr>
              <a:t>7-Step-Sourcing +</a:t>
            </a:r>
            <a:br>
              <a:rPr lang="en-US" altLang="ko-KR" sz="1400">
                <a:ea typeface="굴림" panose="020b0600000101010101" pitchFamily="34" charset="-127"/>
              </a:rPr>
            </a:br>
            <a:r>
              <a:rPr lang="en-US" altLang="ko-KR" sz="1400">
                <a:ea typeface="굴림" panose="020b0600000101010101" pitchFamily="34" charset="-127"/>
              </a:rPr>
              <a:t>Cost Regression Analysis (CRA)</a:t>
            </a:r>
          </a:p>
        </p:txBody>
      </p:sp>
      <p:sp>
        <p:nvSpPr>
          <p:cNvPr id="25604" name="Rectangle 5">
            <a:extLst>
              <a:ext uri="{FF2B5EF4-FFF2-40B4-BE49-F238E27FC236}">
                <a16:creationId xmlns:a16="http://schemas.microsoft.com/office/drawing/2014/main" id="{6E8717D9-041F-896A-7326-E8D3B5BC9B1B}"/>
              </a:ext>
            </a:extLst>
          </p:cNvPr>
          <p:cNvSpPr>
            <a:spLocks noChangeArrowheads="1"/>
          </p:cNvSpPr>
          <p:nvPr/>
        </p:nvSpPr>
        <p:spPr bwMode="auto">
          <a:xfrm>
            <a:off x="4562475" y="2840038"/>
            <a:ext cx="5072063" cy="2735262"/>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1400">
              <a:ea typeface="굴림" panose="020b0600000101010101" pitchFamily="34" charset="-127"/>
            </a:endParaRPr>
          </a:p>
        </p:txBody>
      </p:sp>
      <p:sp>
        <p:nvSpPr>
          <p:cNvPr id="25605" name="Text Box 6">
            <a:extLst>
              <a:ext uri="{FF2B5EF4-FFF2-40B4-BE49-F238E27FC236}">
                <a16:creationId xmlns:a16="http://schemas.microsoft.com/office/drawing/2014/main" id="{67A34ABE-3D67-CB21-CDB1-E971BEC2B94D}"/>
              </a:ext>
            </a:extLst>
          </p:cNvPr>
          <p:cNvSpPr txBox="1">
            <a:spLocks noChangeArrowheads="1"/>
          </p:cNvSpPr>
          <p:nvPr/>
        </p:nvSpPr>
        <p:spPr bwMode="auto">
          <a:xfrm>
            <a:off x="4613275" y="3060700"/>
            <a:ext cx="254000" cy="206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i="1">
                <a:ea typeface="굴림" panose="020b0600000101010101" pitchFamily="34" charset="-127"/>
              </a:rPr>
              <a:t>Work</a:t>
            </a:r>
            <a:br>
              <a:rPr lang="en-US" altLang="ko-KR" sz="800" i="1">
                <a:ea typeface="굴림" panose="020b0600000101010101" pitchFamily="34" charset="-127"/>
              </a:rPr>
            </a:br>
            <a:r>
              <a:rPr lang="en-US" altLang="ko-KR" sz="800" i="1">
                <a:ea typeface="굴림" panose="020b0600000101010101" pitchFamily="34" charset="-127"/>
              </a:rPr>
              <a:t>load</a:t>
            </a:r>
          </a:p>
        </p:txBody>
      </p:sp>
      <p:sp>
        <p:nvSpPr>
          <p:cNvPr id="25606" name="Freeform 7">
            <a:extLst>
              <a:ext uri="{FF2B5EF4-FFF2-40B4-BE49-F238E27FC236}">
                <a16:creationId xmlns:a16="http://schemas.microsoft.com/office/drawing/2014/main" id="{4CC79786-50DB-D9E8-CDD9-7B8FE9147A0C}"/>
              </a:ext>
            </a:extLst>
          </p:cNvPr>
          <p:cNvSpPr/>
          <p:nvPr/>
        </p:nvSpPr>
        <p:spPr bwMode="auto">
          <a:xfrm>
            <a:off x="4938713" y="3402013"/>
            <a:ext cx="4210050" cy="1627187"/>
          </a:xfrm>
          <a:custGeom>
            <a:gdLst>
              <a:gd name="T0" fmla="*/ 2147483646 w 2448"/>
              <a:gd name="T1" fmla="*/ 2147483646 h 1033"/>
              <a:gd name="T2" fmla="*/ 0 w 2448"/>
              <a:gd name="T3" fmla="*/ 2147483646 h 1033"/>
              <a:gd name="T4" fmla="*/ 2147483646 w 2448"/>
              <a:gd name="T5" fmla="*/ 2147483646 h 1033"/>
              <a:gd name="T6" fmla="*/ 2147483646 w 2448"/>
              <a:gd name="T7" fmla="*/ 2147483646 h 1033"/>
              <a:gd name="T8" fmla="*/ 2147483646 w 2448"/>
              <a:gd name="T9" fmla="*/ 2147483646 h 1033"/>
              <a:gd name="T10" fmla="*/ 2147483646 w 2448"/>
              <a:gd name="T11" fmla="*/ 2147483646 h 1033"/>
              <a:gd name="T12" fmla="*/ 2147483646 w 2448"/>
              <a:gd name="T13" fmla="*/ 2147483646 h 1033"/>
              <a:gd name="T14" fmla="*/ 2147483646 w 2448"/>
              <a:gd name="T15" fmla="*/ 2147483646 h 1033"/>
              <a:gd name="T16" fmla="*/ 2147483646 w 2448"/>
              <a:gd name="T17" fmla="*/ 0 h 1033"/>
              <a:gd name="T18" fmla="*/ 2147483646 w 2448"/>
              <a:gd name="T19" fmla="*/ 2147483646 h 1033"/>
              <a:gd name="T20" fmla="*/ 2147483646 w 2448"/>
              <a:gd name="T21" fmla="*/ 2147483646 h 1033"/>
              <a:gd name="T22" fmla="*/ 2147483646 w 2448"/>
              <a:gd name="T23" fmla="*/ 2147483646 h 1033"/>
              <a:gd name="T24" fmla="*/ 2147483646 w 2448"/>
              <a:gd name="T25" fmla="*/ 2147483646 h 1033"/>
              <a:gd name="T26" fmla="*/ 2147483646 w 2448"/>
              <a:gd name="T27" fmla="*/ 2147483646 h 1033"/>
              <a:gd name="T28" fmla="*/ 2147483646 w 2448"/>
              <a:gd name="T29" fmla="*/ 2147483646 h 10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48" h="1033">
                <a:moveTo>
                  <a:pt x="7" y="1033"/>
                </a:moveTo>
                <a:lnTo>
                  <a:pt x="0" y="164"/>
                </a:lnTo>
                <a:lnTo>
                  <a:pt x="336" y="164"/>
                </a:lnTo>
                <a:lnTo>
                  <a:pt x="336" y="300"/>
                </a:lnTo>
                <a:lnTo>
                  <a:pt x="660" y="300"/>
                </a:lnTo>
                <a:lnTo>
                  <a:pt x="660" y="20"/>
                </a:lnTo>
                <a:lnTo>
                  <a:pt x="1316" y="20"/>
                </a:lnTo>
                <a:lnTo>
                  <a:pt x="1504" y="396"/>
                </a:lnTo>
                <a:lnTo>
                  <a:pt x="1644" y="0"/>
                </a:lnTo>
                <a:lnTo>
                  <a:pt x="1640" y="848"/>
                </a:lnTo>
                <a:lnTo>
                  <a:pt x="1976" y="848"/>
                </a:lnTo>
                <a:lnTo>
                  <a:pt x="1976" y="972"/>
                </a:lnTo>
                <a:lnTo>
                  <a:pt x="2448" y="972"/>
                </a:lnTo>
                <a:lnTo>
                  <a:pt x="2448" y="1028"/>
                </a:lnTo>
                <a:lnTo>
                  <a:pt x="7" y="1033"/>
                </a:lnTo>
                <a:close/>
              </a:path>
            </a:pathLst>
          </a:custGeom>
          <a:solidFill>
            <a:schemeClr val="hlink"/>
          </a:solidFill>
          <a:ln w="12700" cap="flat" cmpd="sng">
            <a:solidFill>
              <a:schemeClr va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07" name="Line 8">
            <a:extLst>
              <a:ext uri="{FF2B5EF4-FFF2-40B4-BE49-F238E27FC236}">
                <a16:creationId xmlns:a16="http://schemas.microsoft.com/office/drawing/2014/main" id="{E52BD79F-D7C6-6826-8CCB-1798AC047203}"/>
              </a:ext>
            </a:extLst>
          </p:cNvPr>
          <p:cNvSpPr>
            <a:spLocks noChangeShapeType="1"/>
          </p:cNvSpPr>
          <p:nvPr/>
        </p:nvSpPr>
        <p:spPr bwMode="auto">
          <a:xfrm>
            <a:off x="4945063" y="5027613"/>
            <a:ext cx="431165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08" name="Line 9">
            <a:extLst>
              <a:ext uri="{FF2B5EF4-FFF2-40B4-BE49-F238E27FC236}">
                <a16:creationId xmlns:a16="http://schemas.microsoft.com/office/drawing/2014/main" id="{B82EAC30-9654-5AB3-50A5-8499F912F1D7}"/>
              </a:ext>
            </a:extLst>
          </p:cNvPr>
          <p:cNvSpPr>
            <a:spLocks noChangeShapeType="1"/>
          </p:cNvSpPr>
          <p:nvPr/>
        </p:nvSpPr>
        <p:spPr bwMode="auto">
          <a:xfrm flipH="1" flipV="1">
            <a:off x="4945063" y="3284538"/>
            <a:ext cx="0" cy="1743075"/>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09" name="Text Box 10">
            <a:extLst>
              <a:ext uri="{FF2B5EF4-FFF2-40B4-BE49-F238E27FC236}">
                <a16:creationId xmlns:a16="http://schemas.microsoft.com/office/drawing/2014/main" id="{F6846634-4F1B-6CF1-426B-B31ABD8F0A5D}"/>
              </a:ext>
            </a:extLst>
          </p:cNvPr>
          <p:cNvSpPr txBox="1">
            <a:spLocks noChangeArrowheads="1"/>
          </p:cNvSpPr>
          <p:nvPr/>
        </p:nvSpPr>
        <p:spPr bwMode="auto">
          <a:xfrm>
            <a:off x="9102725" y="5091113"/>
            <a:ext cx="449263" cy="1031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i="1">
                <a:ea typeface="굴림" panose="020b0600000101010101" pitchFamily="34" charset="-127"/>
              </a:rPr>
              <a:t>Time</a:t>
            </a:r>
          </a:p>
        </p:txBody>
      </p:sp>
      <p:sp>
        <p:nvSpPr>
          <p:cNvPr id="25610" name="Rectangle 11">
            <a:extLst>
              <a:ext uri="{FF2B5EF4-FFF2-40B4-BE49-F238E27FC236}">
                <a16:creationId xmlns:a16="http://schemas.microsoft.com/office/drawing/2014/main" id="{68422053-868E-46C3-F33C-6DB1FDC8479B}"/>
              </a:ext>
            </a:extLst>
          </p:cNvPr>
          <p:cNvSpPr>
            <a:spLocks noChangeArrowheads="1"/>
          </p:cNvSpPr>
          <p:nvPr/>
        </p:nvSpPr>
        <p:spPr bwMode="auto">
          <a:xfrm>
            <a:off x="4891088" y="5091113"/>
            <a:ext cx="673100" cy="309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1</a:t>
            </a:r>
          </a:p>
          <a:p>
            <a:pPr algn="ctr">
              <a:lnSpc>
                <a:spcPct val="85000"/>
              </a:lnSpc>
              <a:spcBef>
                <a:spcPct val="0"/>
              </a:spcBef>
              <a:buClrTx/>
              <a:buFontTx/>
              <a:buNone/>
            </a:pPr>
            <a:r>
              <a:rPr lang="en-US" altLang="ko-KR" sz="800" b="0">
                <a:ea typeface="굴림" panose="020b0600000101010101" pitchFamily="34" charset="-127"/>
              </a:rPr>
              <a:t>Commodity</a:t>
            </a:r>
            <a:br>
              <a:rPr lang="en-US" altLang="ko-KR" sz="800" b="0">
                <a:ea typeface="굴림" panose="020b0600000101010101" pitchFamily="34" charset="-127"/>
              </a:rPr>
            </a:br>
            <a:r>
              <a:rPr lang="en-US" altLang="ko-KR" sz="800" b="0">
                <a:ea typeface="굴림" panose="020b0600000101010101" pitchFamily="34" charset="-127"/>
              </a:rPr>
              <a:t>Profile</a:t>
            </a:r>
          </a:p>
        </p:txBody>
      </p:sp>
      <p:sp>
        <p:nvSpPr>
          <p:cNvPr id="25611" name="Rectangle 12">
            <a:extLst>
              <a:ext uri="{FF2B5EF4-FFF2-40B4-BE49-F238E27FC236}">
                <a16:creationId xmlns:a16="http://schemas.microsoft.com/office/drawing/2014/main" id="{3BCD691B-8D30-FE43-AC62-96F416CB5ACA}"/>
              </a:ext>
            </a:extLst>
          </p:cNvPr>
          <p:cNvSpPr>
            <a:spLocks noChangeArrowheads="1"/>
          </p:cNvSpPr>
          <p:nvPr/>
        </p:nvSpPr>
        <p:spPr bwMode="auto">
          <a:xfrm>
            <a:off x="5511800" y="5091113"/>
            <a:ext cx="561975" cy="309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2</a:t>
            </a:r>
          </a:p>
          <a:p>
            <a:pPr algn="ctr">
              <a:lnSpc>
                <a:spcPct val="85000"/>
              </a:lnSpc>
              <a:spcBef>
                <a:spcPct val="0"/>
              </a:spcBef>
              <a:buClrTx/>
              <a:buFontTx/>
              <a:buNone/>
            </a:pPr>
            <a:r>
              <a:rPr lang="en-US" altLang="ko-KR" sz="800" b="0">
                <a:ea typeface="굴림" panose="020b0600000101010101" pitchFamily="34" charset="-127"/>
              </a:rPr>
              <a:t>Sourcing Strategy</a:t>
            </a:r>
          </a:p>
        </p:txBody>
      </p:sp>
      <p:sp>
        <p:nvSpPr>
          <p:cNvPr id="25612" name="Rectangle 13">
            <a:extLst>
              <a:ext uri="{FF2B5EF4-FFF2-40B4-BE49-F238E27FC236}">
                <a16:creationId xmlns:a16="http://schemas.microsoft.com/office/drawing/2014/main" id="{D1EB7381-3299-26C9-B36D-D217CCEE39A4}"/>
              </a:ext>
            </a:extLst>
          </p:cNvPr>
          <p:cNvSpPr>
            <a:spLocks noChangeArrowheads="1"/>
          </p:cNvSpPr>
          <p:nvPr/>
        </p:nvSpPr>
        <p:spPr bwMode="auto">
          <a:xfrm>
            <a:off x="6073775" y="5091113"/>
            <a:ext cx="565150" cy="309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3</a:t>
            </a:r>
          </a:p>
          <a:p>
            <a:pPr algn="ctr">
              <a:lnSpc>
                <a:spcPct val="85000"/>
              </a:lnSpc>
              <a:spcBef>
                <a:spcPct val="0"/>
              </a:spcBef>
              <a:buClrTx/>
              <a:buFontTx/>
              <a:buNone/>
            </a:pPr>
            <a:r>
              <a:rPr lang="en-US" altLang="ko-KR" sz="800" b="0">
                <a:ea typeface="굴림" panose="020b0600000101010101" pitchFamily="34" charset="-127"/>
              </a:rPr>
              <a:t>Supplier Analysis</a:t>
            </a:r>
          </a:p>
        </p:txBody>
      </p:sp>
      <p:sp>
        <p:nvSpPr>
          <p:cNvPr id="25613" name="Rectangle 14">
            <a:extLst>
              <a:ext uri="{FF2B5EF4-FFF2-40B4-BE49-F238E27FC236}">
                <a16:creationId xmlns:a16="http://schemas.microsoft.com/office/drawing/2014/main" id="{DA696103-87A3-0303-0717-91E7CEB82D67}"/>
              </a:ext>
            </a:extLst>
          </p:cNvPr>
          <p:cNvSpPr>
            <a:spLocks noChangeArrowheads="1"/>
          </p:cNvSpPr>
          <p:nvPr/>
        </p:nvSpPr>
        <p:spPr bwMode="auto">
          <a:xfrm>
            <a:off x="7205663" y="5091113"/>
            <a:ext cx="561975" cy="309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5</a:t>
            </a:r>
          </a:p>
          <a:p>
            <a:pPr algn="ctr">
              <a:lnSpc>
                <a:spcPct val="85000"/>
              </a:lnSpc>
              <a:spcBef>
                <a:spcPct val="0"/>
              </a:spcBef>
              <a:buClrTx/>
              <a:buFontTx/>
              <a:buNone/>
            </a:pPr>
            <a:r>
              <a:rPr lang="en-US" altLang="ko-KR" sz="800" b="0">
                <a:ea typeface="굴림" panose="020b0600000101010101" pitchFamily="34" charset="-127"/>
              </a:rPr>
              <a:t>Supplier</a:t>
            </a:r>
            <a:br>
              <a:rPr lang="en-US" altLang="ko-KR" sz="800" b="0">
                <a:ea typeface="굴림" panose="020b0600000101010101" pitchFamily="34" charset="-127"/>
              </a:rPr>
            </a:br>
            <a:r>
              <a:rPr lang="en-US" altLang="ko-KR" sz="800" b="0">
                <a:ea typeface="굴림" panose="020b0600000101010101" pitchFamily="34" charset="-127"/>
              </a:rPr>
              <a:t>Selection</a:t>
            </a:r>
          </a:p>
        </p:txBody>
      </p:sp>
      <p:sp>
        <p:nvSpPr>
          <p:cNvPr id="25614" name="Rectangle 15">
            <a:extLst>
              <a:ext uri="{FF2B5EF4-FFF2-40B4-BE49-F238E27FC236}">
                <a16:creationId xmlns:a16="http://schemas.microsoft.com/office/drawing/2014/main" id="{5229CBB1-44A1-05CF-13E4-2E066B57AC12}"/>
              </a:ext>
            </a:extLst>
          </p:cNvPr>
          <p:cNvSpPr>
            <a:spLocks noChangeArrowheads="1"/>
          </p:cNvSpPr>
          <p:nvPr/>
        </p:nvSpPr>
        <p:spPr bwMode="auto">
          <a:xfrm>
            <a:off x="7773988" y="5091113"/>
            <a:ext cx="565150" cy="412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6</a:t>
            </a:r>
          </a:p>
          <a:p>
            <a:pPr algn="ctr">
              <a:lnSpc>
                <a:spcPct val="85000"/>
              </a:lnSpc>
              <a:spcBef>
                <a:spcPct val="0"/>
              </a:spcBef>
              <a:buClrTx/>
              <a:buFontTx/>
              <a:buNone/>
            </a:pPr>
            <a:r>
              <a:rPr lang="en-US" altLang="ko-KR" sz="800" b="0">
                <a:ea typeface="굴림" panose="020b0600000101010101" pitchFamily="34" charset="-127"/>
              </a:rPr>
              <a:t>Imple</a:t>
            </a:r>
            <a:br>
              <a:rPr lang="en-US" altLang="ko-KR" sz="800" b="0">
                <a:ea typeface="굴림" panose="020b0600000101010101" pitchFamily="34" charset="-127"/>
              </a:rPr>
            </a:br>
            <a:r>
              <a:rPr lang="en-US" altLang="ko-KR" sz="800" b="0">
                <a:ea typeface="굴림" panose="020b0600000101010101" pitchFamily="34" charset="-127"/>
              </a:rPr>
              <a:t>men-</a:t>
            </a:r>
            <a:br>
              <a:rPr lang="en-US" altLang="ko-KR" sz="800" b="0">
                <a:ea typeface="굴림" panose="020b0600000101010101" pitchFamily="34" charset="-127"/>
              </a:rPr>
            </a:br>
            <a:r>
              <a:rPr lang="en-US" altLang="ko-KR" sz="800" b="0">
                <a:ea typeface="굴림" panose="020b0600000101010101" pitchFamily="34" charset="-127"/>
              </a:rPr>
              <a:t>tation</a:t>
            </a:r>
          </a:p>
        </p:txBody>
      </p:sp>
      <p:sp>
        <p:nvSpPr>
          <p:cNvPr id="25615" name="Line 16">
            <a:extLst>
              <a:ext uri="{FF2B5EF4-FFF2-40B4-BE49-F238E27FC236}">
                <a16:creationId xmlns:a16="http://schemas.microsoft.com/office/drawing/2014/main" id="{3E9EF571-CEEE-238B-22F7-D4FD6DB66A3E}"/>
              </a:ext>
            </a:extLst>
          </p:cNvPr>
          <p:cNvSpPr>
            <a:spLocks noChangeShapeType="1"/>
          </p:cNvSpPr>
          <p:nvPr/>
        </p:nvSpPr>
        <p:spPr bwMode="auto">
          <a:xfrm flipH="1" flipV="1">
            <a:off x="5508625" y="3260725"/>
            <a:ext cx="0" cy="17462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16" name="Line 17">
            <a:extLst>
              <a:ext uri="{FF2B5EF4-FFF2-40B4-BE49-F238E27FC236}">
                <a16:creationId xmlns:a16="http://schemas.microsoft.com/office/drawing/2014/main" id="{76DEC07F-1A3B-EB41-A733-4E98241F47F1}"/>
              </a:ext>
            </a:extLst>
          </p:cNvPr>
          <p:cNvSpPr>
            <a:spLocks noChangeShapeType="1"/>
          </p:cNvSpPr>
          <p:nvPr/>
        </p:nvSpPr>
        <p:spPr bwMode="auto">
          <a:xfrm flipH="1" flipV="1">
            <a:off x="6073775" y="3260725"/>
            <a:ext cx="0" cy="17462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17" name="Line 18">
            <a:extLst>
              <a:ext uri="{FF2B5EF4-FFF2-40B4-BE49-F238E27FC236}">
                <a16:creationId xmlns:a16="http://schemas.microsoft.com/office/drawing/2014/main" id="{DD493DC5-A783-6D92-E3C5-72DC7389C1FC}"/>
              </a:ext>
            </a:extLst>
          </p:cNvPr>
          <p:cNvSpPr>
            <a:spLocks noChangeShapeType="1"/>
          </p:cNvSpPr>
          <p:nvPr/>
        </p:nvSpPr>
        <p:spPr bwMode="auto">
          <a:xfrm flipH="1" flipV="1">
            <a:off x="6638925" y="3260725"/>
            <a:ext cx="0" cy="17462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18" name="Line 19">
            <a:extLst>
              <a:ext uri="{FF2B5EF4-FFF2-40B4-BE49-F238E27FC236}">
                <a16:creationId xmlns:a16="http://schemas.microsoft.com/office/drawing/2014/main" id="{D5C067C5-5C20-732F-EF27-3815E8D05982}"/>
              </a:ext>
            </a:extLst>
          </p:cNvPr>
          <p:cNvSpPr>
            <a:spLocks noChangeShapeType="1"/>
          </p:cNvSpPr>
          <p:nvPr/>
        </p:nvSpPr>
        <p:spPr bwMode="auto">
          <a:xfrm flipH="1" flipV="1">
            <a:off x="7204075" y="3260725"/>
            <a:ext cx="0" cy="17462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19" name="Line 20">
            <a:extLst>
              <a:ext uri="{FF2B5EF4-FFF2-40B4-BE49-F238E27FC236}">
                <a16:creationId xmlns:a16="http://schemas.microsoft.com/office/drawing/2014/main" id="{25721424-5E62-3B4A-218F-D68C5E22EBB0}"/>
              </a:ext>
            </a:extLst>
          </p:cNvPr>
          <p:cNvSpPr>
            <a:spLocks noChangeShapeType="1"/>
          </p:cNvSpPr>
          <p:nvPr/>
        </p:nvSpPr>
        <p:spPr bwMode="auto">
          <a:xfrm flipH="1" flipV="1">
            <a:off x="7767638" y="3260725"/>
            <a:ext cx="0" cy="17462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20" name="Rectangle 21">
            <a:extLst>
              <a:ext uri="{FF2B5EF4-FFF2-40B4-BE49-F238E27FC236}">
                <a16:creationId xmlns:a16="http://schemas.microsoft.com/office/drawing/2014/main" id="{72CC351C-5205-2F3A-8AB1-B77DEB9ABE1E}"/>
              </a:ext>
            </a:extLst>
          </p:cNvPr>
          <p:cNvSpPr>
            <a:spLocks noChangeArrowheads="1"/>
          </p:cNvSpPr>
          <p:nvPr/>
        </p:nvSpPr>
        <p:spPr bwMode="auto">
          <a:xfrm>
            <a:off x="8312150" y="5091113"/>
            <a:ext cx="669925" cy="412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7</a:t>
            </a:r>
          </a:p>
          <a:p>
            <a:pPr algn="ctr">
              <a:lnSpc>
                <a:spcPct val="85000"/>
              </a:lnSpc>
              <a:spcBef>
                <a:spcPct val="0"/>
              </a:spcBef>
              <a:buClrTx/>
              <a:buFontTx/>
              <a:buNone/>
            </a:pPr>
            <a:r>
              <a:rPr lang="en-US" altLang="ko-KR" sz="800" b="0">
                <a:ea typeface="굴림" panose="020b0600000101010101" pitchFamily="34" charset="-127"/>
              </a:rPr>
              <a:t>Continuous</a:t>
            </a:r>
          </a:p>
          <a:p>
            <a:pPr algn="ctr">
              <a:lnSpc>
                <a:spcPct val="85000"/>
              </a:lnSpc>
              <a:spcBef>
                <a:spcPct val="0"/>
              </a:spcBef>
              <a:buClrTx/>
              <a:buFontTx/>
              <a:buNone/>
            </a:pPr>
            <a:r>
              <a:rPr lang="en-US" altLang="ko-KR" sz="800" b="0">
                <a:ea typeface="굴림" panose="020b0600000101010101" pitchFamily="34" charset="-127"/>
              </a:rPr>
              <a:t>Benchmark-ing</a:t>
            </a:r>
          </a:p>
        </p:txBody>
      </p:sp>
      <p:sp>
        <p:nvSpPr>
          <p:cNvPr id="25621" name="Text Box 22">
            <a:extLst>
              <a:ext uri="{FF2B5EF4-FFF2-40B4-BE49-F238E27FC236}">
                <a16:creationId xmlns:a16="http://schemas.microsoft.com/office/drawing/2014/main" id="{B194C594-64A0-58EE-7323-D9200664EB00}"/>
              </a:ext>
            </a:extLst>
          </p:cNvPr>
          <p:cNvSpPr txBox="1">
            <a:spLocks noChangeArrowheads="1"/>
          </p:cNvSpPr>
          <p:nvPr/>
        </p:nvSpPr>
        <p:spPr bwMode="auto">
          <a:xfrm>
            <a:off x="8620125" y="3384550"/>
            <a:ext cx="541338" cy="103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r>
              <a:rPr lang="en-US" altLang="ko-KR" sz="800" i="1">
                <a:ea typeface="굴림" panose="020b0600000101010101" pitchFamily="34" charset="-127"/>
              </a:rPr>
              <a:t>Momentum</a:t>
            </a:r>
          </a:p>
        </p:txBody>
      </p:sp>
      <p:sp>
        <p:nvSpPr>
          <p:cNvPr id="25622" name="Rectangle 23">
            <a:extLst>
              <a:ext uri="{FF2B5EF4-FFF2-40B4-BE49-F238E27FC236}">
                <a16:creationId xmlns:a16="http://schemas.microsoft.com/office/drawing/2014/main" id="{BEDF9F2F-6AC0-CCF9-5EE1-9C82692C2CE5}"/>
              </a:ext>
            </a:extLst>
          </p:cNvPr>
          <p:cNvSpPr>
            <a:spLocks noChangeArrowheads="1"/>
          </p:cNvSpPr>
          <p:nvPr/>
        </p:nvSpPr>
        <p:spPr bwMode="auto">
          <a:xfrm>
            <a:off x="6594475" y="5091113"/>
            <a:ext cx="631825" cy="309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a:ea typeface="굴림" panose="020b0600000101010101" pitchFamily="34" charset="-127"/>
              </a:rPr>
              <a:t>Step 4</a:t>
            </a:r>
          </a:p>
          <a:p>
            <a:pPr algn="ctr">
              <a:lnSpc>
                <a:spcPct val="85000"/>
              </a:lnSpc>
              <a:spcBef>
                <a:spcPct val="0"/>
              </a:spcBef>
              <a:buClrTx/>
              <a:buFontTx/>
              <a:buNone/>
            </a:pPr>
            <a:r>
              <a:rPr lang="en-US" altLang="ko-KR" sz="800" b="0">
                <a:ea typeface="굴림" panose="020b0600000101010101" pitchFamily="34" charset="-127"/>
              </a:rPr>
              <a:t>Implemen-tation path</a:t>
            </a:r>
          </a:p>
        </p:txBody>
      </p:sp>
      <p:sp>
        <p:nvSpPr>
          <p:cNvPr id="25623" name="Line 24">
            <a:extLst>
              <a:ext uri="{FF2B5EF4-FFF2-40B4-BE49-F238E27FC236}">
                <a16:creationId xmlns:a16="http://schemas.microsoft.com/office/drawing/2014/main" id="{A528C4D1-DB27-8DC1-F1C3-AC318C2CE9A3}"/>
              </a:ext>
            </a:extLst>
          </p:cNvPr>
          <p:cNvSpPr>
            <a:spLocks noChangeShapeType="1"/>
          </p:cNvSpPr>
          <p:nvPr/>
        </p:nvSpPr>
        <p:spPr bwMode="auto">
          <a:xfrm flipH="1" flipV="1">
            <a:off x="8339138" y="3260725"/>
            <a:ext cx="0" cy="17462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24" name="Freeform 25">
            <a:extLst>
              <a:ext uri="{FF2B5EF4-FFF2-40B4-BE49-F238E27FC236}">
                <a16:creationId xmlns:a16="http://schemas.microsoft.com/office/drawing/2014/main" id="{27B82CDC-DCCA-689E-9F67-E0E25C71F001}"/>
              </a:ext>
            </a:extLst>
          </p:cNvPr>
          <p:cNvSpPr/>
          <p:nvPr/>
        </p:nvSpPr>
        <p:spPr bwMode="auto">
          <a:xfrm>
            <a:off x="4057650" y="3170238"/>
            <a:ext cx="5122863" cy="1830387"/>
          </a:xfrm>
          <a:custGeom>
            <a:gdLst>
              <a:gd name="T0" fmla="*/ 2147483646 w 2979"/>
              <a:gd name="T1" fmla="*/ 2147483646 h 1153"/>
              <a:gd name="T2" fmla="*/ 2147483646 w 2979"/>
              <a:gd name="T3" fmla="*/ 2147483646 h 1153"/>
              <a:gd name="T4" fmla="*/ 0 60000 65536"/>
              <a:gd name="T5" fmla="*/ 0 60000 65536"/>
            </a:gdLst>
            <a:cxnLst>
              <a:cxn ang="T4">
                <a:pos x="T0" y="T1"/>
              </a:cxn>
              <a:cxn ang="T5">
                <a:pos x="T2" y="T3"/>
              </a:cxn>
            </a:cxnLst>
            <a:rect l="0" t="0" r="r" b="b"/>
            <a:pathLst>
              <a:path w="2979" h="1153">
                <a:moveTo>
                  <a:pt x="544" y="1153"/>
                </a:moveTo>
                <a:cubicBezTo>
                  <a:pt x="1037" y="1075"/>
                  <a:pt x="0" y="0"/>
                  <a:pt x="2979" y="94"/>
                </a:cubicBezTo>
              </a:path>
            </a:pathLst>
          </a:custGeom>
          <a:noFill/>
          <a:ln w="19050" cap="flat" cmpd="sng">
            <a:solidFill>
              <a:schemeClr val="bg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25625" name="Rectangle 26">
            <a:extLst>
              <a:ext uri="{FF2B5EF4-FFF2-40B4-BE49-F238E27FC236}">
                <a16:creationId xmlns:a16="http://schemas.microsoft.com/office/drawing/2014/main" id="{7829E253-1EA9-3E01-34A7-542A4996F8B1}"/>
              </a:ext>
            </a:extLst>
          </p:cNvPr>
          <p:cNvSpPr>
            <a:spLocks noChangeArrowheads="1"/>
          </p:cNvSpPr>
          <p:nvPr/>
        </p:nvSpPr>
        <p:spPr bwMode="auto">
          <a:xfrm>
            <a:off x="271463" y="1916113"/>
            <a:ext cx="3549650" cy="350837"/>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a:ea typeface="굴림" panose="020b0600000101010101" pitchFamily="34" charset="-127"/>
              </a:rPr>
              <a:t>7-Step-Sourcing</a:t>
            </a:r>
          </a:p>
        </p:txBody>
      </p:sp>
      <p:sp>
        <p:nvSpPr>
          <p:cNvPr id="25626" name="Rectangle 27">
            <a:extLst>
              <a:ext uri="{FF2B5EF4-FFF2-40B4-BE49-F238E27FC236}">
                <a16:creationId xmlns:a16="http://schemas.microsoft.com/office/drawing/2014/main" id="{4AA4D79B-4E92-2450-85EF-8707BC37CA98}"/>
              </a:ext>
            </a:extLst>
          </p:cNvPr>
          <p:cNvSpPr>
            <a:spLocks noChangeArrowheads="1"/>
          </p:cNvSpPr>
          <p:nvPr/>
        </p:nvSpPr>
        <p:spPr bwMode="auto">
          <a:xfrm>
            <a:off x="271463" y="3990975"/>
            <a:ext cx="3549650" cy="350838"/>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a:ea typeface="굴림" panose="020b0600000101010101" pitchFamily="34" charset="-127"/>
              </a:rPr>
              <a:t>Cost Regression Analysis (CRA)</a:t>
            </a:r>
          </a:p>
        </p:txBody>
      </p:sp>
      <p:sp>
        <p:nvSpPr>
          <p:cNvPr id="25627" name="Rectangle 28">
            <a:extLst>
              <a:ext uri="{FF2B5EF4-FFF2-40B4-BE49-F238E27FC236}">
                <a16:creationId xmlns:a16="http://schemas.microsoft.com/office/drawing/2014/main" id="{8F067AB5-BDC4-4525-E6AB-ADC6F6CB29B0}"/>
              </a:ext>
            </a:extLst>
          </p:cNvPr>
          <p:cNvSpPr>
            <a:spLocks noChangeArrowheads="1"/>
          </p:cNvSpPr>
          <p:nvPr/>
        </p:nvSpPr>
        <p:spPr bwMode="auto">
          <a:xfrm>
            <a:off x="271463" y="2266950"/>
            <a:ext cx="3549650" cy="1636713"/>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1400" b="0">
              <a:ea typeface="굴림" panose="020b0600000101010101" pitchFamily="34" charset="-127"/>
            </a:endParaRPr>
          </a:p>
        </p:txBody>
      </p:sp>
      <p:sp>
        <p:nvSpPr>
          <p:cNvPr id="25628" name="Rectangle 29">
            <a:extLst>
              <a:ext uri="{FF2B5EF4-FFF2-40B4-BE49-F238E27FC236}">
                <a16:creationId xmlns:a16="http://schemas.microsoft.com/office/drawing/2014/main" id="{6389D646-EB68-DA24-2EDA-1C27CD9A0A2F}"/>
              </a:ext>
            </a:extLst>
          </p:cNvPr>
          <p:cNvSpPr>
            <a:spLocks noChangeArrowheads="1"/>
          </p:cNvSpPr>
          <p:nvPr/>
        </p:nvSpPr>
        <p:spPr bwMode="auto">
          <a:xfrm>
            <a:off x="271463" y="4341813"/>
            <a:ext cx="3549650" cy="1636712"/>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1400" b="0">
              <a:ea typeface="굴림" panose="020b0600000101010101" pitchFamily="34" charset="-127"/>
            </a:endParaRPr>
          </a:p>
        </p:txBody>
      </p:sp>
      <p:sp>
        <p:nvSpPr>
          <p:cNvPr id="25629" name="Text Box 30">
            <a:extLst>
              <a:ext uri="{FF2B5EF4-FFF2-40B4-BE49-F238E27FC236}">
                <a16:creationId xmlns:a16="http://schemas.microsoft.com/office/drawing/2014/main" id="{69CF9EC8-9FB3-B6EA-614F-2C71A100727F}"/>
              </a:ext>
            </a:extLst>
          </p:cNvPr>
          <p:cNvSpPr txBox="1">
            <a:spLocks noChangeArrowheads="1"/>
          </p:cNvSpPr>
          <p:nvPr/>
        </p:nvSpPr>
        <p:spPr bwMode="auto">
          <a:xfrm>
            <a:off x="303213" y="2297113"/>
            <a:ext cx="254000" cy="206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i="1">
                <a:ea typeface="굴림" panose="020b0600000101010101" pitchFamily="34" charset="-127"/>
              </a:rPr>
              <a:t>Work</a:t>
            </a:r>
            <a:br>
              <a:rPr lang="en-US" altLang="ko-KR" sz="800" i="1">
                <a:ea typeface="굴림" panose="020b0600000101010101" pitchFamily="34" charset="-127"/>
              </a:rPr>
            </a:br>
            <a:r>
              <a:rPr lang="en-US" altLang="ko-KR" sz="800" i="1">
                <a:ea typeface="굴림" panose="020b0600000101010101" pitchFamily="34" charset="-127"/>
              </a:rPr>
              <a:t>load</a:t>
            </a:r>
          </a:p>
        </p:txBody>
      </p:sp>
      <p:sp>
        <p:nvSpPr>
          <p:cNvPr id="25630" name="Freeform 31">
            <a:extLst>
              <a:ext uri="{FF2B5EF4-FFF2-40B4-BE49-F238E27FC236}">
                <a16:creationId xmlns:a16="http://schemas.microsoft.com/office/drawing/2014/main" id="{E50528E5-D68C-0484-CC9D-09A11C18A5AD}"/>
              </a:ext>
            </a:extLst>
          </p:cNvPr>
          <p:cNvSpPr/>
          <p:nvPr/>
        </p:nvSpPr>
        <p:spPr bwMode="auto">
          <a:xfrm>
            <a:off x="627063" y="2405063"/>
            <a:ext cx="1938337" cy="1039812"/>
          </a:xfrm>
          <a:custGeom>
            <a:gdLst>
              <a:gd name="T0" fmla="*/ 0 w 1127"/>
              <a:gd name="T1" fmla="*/ 2147483646 h 655"/>
              <a:gd name="T2" fmla="*/ 0 w 1127"/>
              <a:gd name="T3" fmla="*/ 2147483646 h 655"/>
              <a:gd name="T4" fmla="*/ 2147483646 w 1127"/>
              <a:gd name="T5" fmla="*/ 2147483646 h 655"/>
              <a:gd name="T6" fmla="*/ 2147483646 w 1127"/>
              <a:gd name="T7" fmla="*/ 2147483646 h 655"/>
              <a:gd name="T8" fmla="*/ 2147483646 w 1127"/>
              <a:gd name="T9" fmla="*/ 2147483646 h 655"/>
              <a:gd name="T10" fmla="*/ 2147483646 w 1127"/>
              <a:gd name="T11" fmla="*/ 2147483646 h 655"/>
              <a:gd name="T12" fmla="*/ 2147483646 w 1127"/>
              <a:gd name="T13" fmla="*/ 2147483646 h 655"/>
              <a:gd name="T14" fmla="*/ 2147483646 w 1127"/>
              <a:gd name="T15" fmla="*/ 2147483646 h 655"/>
              <a:gd name="T16" fmla="*/ 2147483646 w 1127"/>
              <a:gd name="T17" fmla="*/ 2147483646 h 655"/>
              <a:gd name="T18" fmla="*/ 2147483646 w 1127"/>
              <a:gd name="T19" fmla="*/ 0 h 655"/>
              <a:gd name="T20" fmla="*/ 2147483646 w 1127"/>
              <a:gd name="T21" fmla="*/ 2147483646 h 655"/>
              <a:gd name="T22" fmla="*/ 0 w 1127"/>
              <a:gd name="T23" fmla="*/ 2147483646 h 6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27" h="655">
                <a:moveTo>
                  <a:pt x="0" y="655"/>
                </a:moveTo>
                <a:lnTo>
                  <a:pt x="0" y="201"/>
                </a:lnTo>
                <a:lnTo>
                  <a:pt x="224" y="201"/>
                </a:lnTo>
                <a:lnTo>
                  <a:pt x="224" y="533"/>
                </a:lnTo>
                <a:lnTo>
                  <a:pt x="451" y="533"/>
                </a:lnTo>
                <a:lnTo>
                  <a:pt x="459" y="424"/>
                </a:lnTo>
                <a:lnTo>
                  <a:pt x="675" y="424"/>
                </a:lnTo>
                <a:lnTo>
                  <a:pt x="675" y="480"/>
                </a:lnTo>
                <a:lnTo>
                  <a:pt x="897" y="477"/>
                </a:lnTo>
                <a:lnTo>
                  <a:pt x="1127" y="0"/>
                </a:lnTo>
                <a:lnTo>
                  <a:pt x="1127" y="653"/>
                </a:lnTo>
                <a:lnTo>
                  <a:pt x="0" y="655"/>
                </a:lnTo>
                <a:close/>
              </a:path>
            </a:pathLst>
          </a:custGeom>
          <a:solidFill>
            <a:schemeClr val="hlink"/>
          </a:solidFill>
          <a:ln w="12700" cap="flat" cmpd="sng">
            <a:solidFill>
              <a:schemeClr va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31" name="Freeform 32">
            <a:extLst>
              <a:ext uri="{FF2B5EF4-FFF2-40B4-BE49-F238E27FC236}">
                <a16:creationId xmlns:a16="http://schemas.microsoft.com/office/drawing/2014/main" id="{1AEF0D29-2EE4-AFD3-EE24-D2666C37F2D6}"/>
              </a:ext>
            </a:extLst>
          </p:cNvPr>
          <p:cNvSpPr/>
          <p:nvPr/>
        </p:nvSpPr>
        <p:spPr bwMode="auto">
          <a:xfrm>
            <a:off x="2563813" y="3194050"/>
            <a:ext cx="827087" cy="252413"/>
          </a:xfrm>
          <a:custGeom>
            <a:gdLst>
              <a:gd name="T0" fmla="*/ 0 w 481"/>
              <a:gd name="T1" fmla="*/ 2147483646 h 159"/>
              <a:gd name="T2" fmla="*/ 0 w 481"/>
              <a:gd name="T3" fmla="*/ 2147483646 h 159"/>
              <a:gd name="T4" fmla="*/ 2147483646 w 481"/>
              <a:gd name="T5" fmla="*/ 2147483646 h 159"/>
              <a:gd name="T6" fmla="*/ 2147483646 w 481"/>
              <a:gd name="T7" fmla="*/ 2147483646 h 159"/>
              <a:gd name="T8" fmla="*/ 2147483646 w 481"/>
              <a:gd name="T9" fmla="*/ 2147483646 h 159"/>
              <a:gd name="T10" fmla="*/ 2147483646 w 481"/>
              <a:gd name="T11" fmla="*/ 2147483646 h 159"/>
              <a:gd name="T12" fmla="*/ 2147483646 w 481"/>
              <a:gd name="T13" fmla="*/ 2147483646 h 159"/>
              <a:gd name="T14" fmla="*/ 2147483646 w 481"/>
              <a:gd name="T15" fmla="*/ 2147483646 h 159"/>
              <a:gd name="T16" fmla="*/ 2147483646 w 481"/>
              <a:gd name="T17" fmla="*/ 2147483646 h 159"/>
              <a:gd name="T18" fmla="*/ 0 w 481"/>
              <a:gd name="T19" fmla="*/ 2147483646 h 1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81" h="159">
                <a:moveTo>
                  <a:pt x="0" y="158"/>
                </a:moveTo>
                <a:cubicBezTo>
                  <a:pt x="1" y="117"/>
                  <a:pt x="1" y="80"/>
                  <a:pt x="0" y="35"/>
                </a:cubicBezTo>
                <a:cubicBezTo>
                  <a:pt x="8" y="22"/>
                  <a:pt x="36" y="103"/>
                  <a:pt x="47" y="107"/>
                </a:cubicBezTo>
                <a:cubicBezTo>
                  <a:pt x="62" y="106"/>
                  <a:pt x="79" y="35"/>
                  <a:pt x="95" y="33"/>
                </a:cubicBezTo>
                <a:cubicBezTo>
                  <a:pt x="108" y="35"/>
                  <a:pt x="148" y="98"/>
                  <a:pt x="166" y="96"/>
                </a:cubicBezTo>
                <a:cubicBezTo>
                  <a:pt x="187" y="92"/>
                  <a:pt x="212" y="0"/>
                  <a:pt x="226" y="9"/>
                </a:cubicBezTo>
                <a:lnTo>
                  <a:pt x="226" y="129"/>
                </a:lnTo>
                <a:lnTo>
                  <a:pt x="481" y="131"/>
                </a:lnTo>
                <a:lnTo>
                  <a:pt x="481" y="159"/>
                </a:lnTo>
                <a:lnTo>
                  <a:pt x="0" y="158"/>
                </a:lnTo>
                <a:close/>
              </a:path>
            </a:pathLst>
          </a:custGeom>
          <a:solidFill>
            <a:schemeClr val="hlink"/>
          </a:solidFill>
          <a:ln w="12700" cap="flat" cmpd="sng">
            <a:solidFill>
              <a:schemeClr va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32" name="Line 33">
            <a:extLst>
              <a:ext uri="{FF2B5EF4-FFF2-40B4-BE49-F238E27FC236}">
                <a16:creationId xmlns:a16="http://schemas.microsoft.com/office/drawing/2014/main" id="{D7A78012-2AA6-827B-2082-86B83236A9B4}"/>
              </a:ext>
            </a:extLst>
          </p:cNvPr>
          <p:cNvSpPr>
            <a:spLocks noChangeShapeType="1"/>
          </p:cNvSpPr>
          <p:nvPr/>
        </p:nvSpPr>
        <p:spPr bwMode="auto">
          <a:xfrm>
            <a:off x="627063" y="3443288"/>
            <a:ext cx="2954337"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33" name="Line 34">
            <a:extLst>
              <a:ext uri="{FF2B5EF4-FFF2-40B4-BE49-F238E27FC236}">
                <a16:creationId xmlns:a16="http://schemas.microsoft.com/office/drawing/2014/main" id="{0EE9B664-1828-8861-C7F1-562769BB2D4D}"/>
              </a:ext>
            </a:extLst>
          </p:cNvPr>
          <p:cNvSpPr>
            <a:spLocks noChangeShapeType="1"/>
          </p:cNvSpPr>
          <p:nvPr/>
        </p:nvSpPr>
        <p:spPr bwMode="auto">
          <a:xfrm flipH="1" flipV="1">
            <a:off x="627063" y="2343150"/>
            <a:ext cx="0" cy="110013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34" name="Text Box 35">
            <a:extLst>
              <a:ext uri="{FF2B5EF4-FFF2-40B4-BE49-F238E27FC236}">
                <a16:creationId xmlns:a16="http://schemas.microsoft.com/office/drawing/2014/main" id="{387D3FDA-1962-0DEF-50FB-FD62ED334EF5}"/>
              </a:ext>
            </a:extLst>
          </p:cNvPr>
          <p:cNvSpPr txBox="1">
            <a:spLocks noChangeArrowheads="1"/>
          </p:cNvSpPr>
          <p:nvPr/>
        </p:nvSpPr>
        <p:spPr bwMode="auto">
          <a:xfrm>
            <a:off x="3475038" y="3481388"/>
            <a:ext cx="307975" cy="101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i="1">
                <a:ea typeface="굴림" panose="020b0600000101010101" pitchFamily="34" charset="-127"/>
              </a:rPr>
              <a:t>Time</a:t>
            </a:r>
          </a:p>
        </p:txBody>
      </p:sp>
      <p:sp>
        <p:nvSpPr>
          <p:cNvPr id="25635" name="Rectangle 36">
            <a:extLst>
              <a:ext uri="{FF2B5EF4-FFF2-40B4-BE49-F238E27FC236}">
                <a16:creationId xmlns:a16="http://schemas.microsoft.com/office/drawing/2014/main" id="{81FD26FF-C788-7EDE-97DF-675F1D9BD420}"/>
              </a:ext>
            </a:extLst>
          </p:cNvPr>
          <p:cNvSpPr>
            <a:spLocks noChangeArrowheads="1"/>
          </p:cNvSpPr>
          <p:nvPr/>
        </p:nvSpPr>
        <p:spPr bwMode="auto">
          <a:xfrm>
            <a:off x="592138" y="3481388"/>
            <a:ext cx="460375" cy="2333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1</a:t>
            </a:r>
          </a:p>
          <a:p>
            <a:pPr algn="ctr">
              <a:lnSpc>
                <a:spcPct val="85000"/>
              </a:lnSpc>
              <a:spcBef>
                <a:spcPct val="0"/>
              </a:spcBef>
              <a:buClrTx/>
              <a:buFontTx/>
              <a:buNone/>
            </a:pPr>
            <a:r>
              <a:rPr lang="en-US" altLang="ko-KR" sz="600" b="0">
                <a:ea typeface="굴림" panose="020b0600000101010101" pitchFamily="34" charset="-127"/>
              </a:rPr>
              <a:t>Commodity</a:t>
            </a:r>
            <a:br>
              <a:rPr lang="en-US" altLang="ko-KR" sz="600" b="0">
                <a:ea typeface="굴림" panose="020b0600000101010101" pitchFamily="34" charset="-127"/>
              </a:rPr>
            </a:br>
            <a:r>
              <a:rPr lang="en-US" altLang="ko-KR" sz="600" b="0">
                <a:ea typeface="굴림" panose="020b0600000101010101" pitchFamily="34" charset="-127"/>
              </a:rPr>
              <a:t>Profile</a:t>
            </a:r>
          </a:p>
        </p:txBody>
      </p:sp>
      <p:sp>
        <p:nvSpPr>
          <p:cNvPr id="25636" name="Rectangle 37">
            <a:extLst>
              <a:ext uri="{FF2B5EF4-FFF2-40B4-BE49-F238E27FC236}">
                <a16:creationId xmlns:a16="http://schemas.microsoft.com/office/drawing/2014/main" id="{DB588DF1-42E5-564F-DDDD-0A435E271989}"/>
              </a:ext>
            </a:extLst>
          </p:cNvPr>
          <p:cNvSpPr>
            <a:spLocks noChangeArrowheads="1"/>
          </p:cNvSpPr>
          <p:nvPr/>
        </p:nvSpPr>
        <p:spPr bwMode="auto">
          <a:xfrm>
            <a:off x="1016000" y="3481388"/>
            <a:ext cx="385763" cy="2333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2</a:t>
            </a:r>
          </a:p>
          <a:p>
            <a:pPr algn="ctr">
              <a:lnSpc>
                <a:spcPct val="85000"/>
              </a:lnSpc>
              <a:spcBef>
                <a:spcPct val="0"/>
              </a:spcBef>
              <a:buClrTx/>
              <a:buFontTx/>
              <a:buNone/>
            </a:pPr>
            <a:r>
              <a:rPr lang="en-US" altLang="ko-KR" sz="600" b="0">
                <a:ea typeface="굴림" panose="020b0600000101010101" pitchFamily="34" charset="-127"/>
              </a:rPr>
              <a:t>Sourcing Strategy</a:t>
            </a:r>
          </a:p>
        </p:txBody>
      </p:sp>
      <p:sp>
        <p:nvSpPr>
          <p:cNvPr id="25637" name="Rectangle 38">
            <a:extLst>
              <a:ext uri="{FF2B5EF4-FFF2-40B4-BE49-F238E27FC236}">
                <a16:creationId xmlns:a16="http://schemas.microsoft.com/office/drawing/2014/main" id="{C821121C-7052-C5B3-E9DF-E9DA7512B07E}"/>
              </a:ext>
            </a:extLst>
          </p:cNvPr>
          <p:cNvSpPr>
            <a:spLocks noChangeArrowheads="1"/>
          </p:cNvSpPr>
          <p:nvPr/>
        </p:nvSpPr>
        <p:spPr bwMode="auto">
          <a:xfrm>
            <a:off x="1401763" y="3481388"/>
            <a:ext cx="387350" cy="2333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3</a:t>
            </a:r>
          </a:p>
          <a:p>
            <a:pPr algn="ctr">
              <a:lnSpc>
                <a:spcPct val="85000"/>
              </a:lnSpc>
              <a:spcBef>
                <a:spcPct val="0"/>
              </a:spcBef>
              <a:buClrTx/>
              <a:buFontTx/>
              <a:buNone/>
            </a:pPr>
            <a:r>
              <a:rPr lang="en-US" altLang="ko-KR" sz="600" b="0">
                <a:ea typeface="굴림" panose="020b0600000101010101" pitchFamily="34" charset="-127"/>
              </a:rPr>
              <a:t>Supplier Analysis</a:t>
            </a:r>
          </a:p>
        </p:txBody>
      </p:sp>
      <p:sp>
        <p:nvSpPr>
          <p:cNvPr id="25638" name="Rectangle 39">
            <a:extLst>
              <a:ext uri="{FF2B5EF4-FFF2-40B4-BE49-F238E27FC236}">
                <a16:creationId xmlns:a16="http://schemas.microsoft.com/office/drawing/2014/main" id="{1C2DC504-B2E8-1FA0-215E-822E4729E83F}"/>
              </a:ext>
            </a:extLst>
          </p:cNvPr>
          <p:cNvSpPr>
            <a:spLocks noChangeArrowheads="1"/>
          </p:cNvSpPr>
          <p:nvPr/>
        </p:nvSpPr>
        <p:spPr bwMode="auto">
          <a:xfrm>
            <a:off x="2178050" y="3481388"/>
            <a:ext cx="384175" cy="2333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5</a:t>
            </a:r>
          </a:p>
          <a:p>
            <a:pPr algn="ctr">
              <a:lnSpc>
                <a:spcPct val="85000"/>
              </a:lnSpc>
              <a:spcBef>
                <a:spcPct val="0"/>
              </a:spcBef>
              <a:buClrTx/>
              <a:buFontTx/>
              <a:buNone/>
            </a:pPr>
            <a:r>
              <a:rPr lang="en-US" altLang="ko-KR" sz="600" b="0">
                <a:ea typeface="굴림" panose="020b0600000101010101" pitchFamily="34" charset="-127"/>
              </a:rPr>
              <a:t>Supplier</a:t>
            </a:r>
            <a:br>
              <a:rPr lang="en-US" altLang="ko-KR" sz="600" b="0">
                <a:ea typeface="굴림" panose="020b0600000101010101" pitchFamily="34" charset="-127"/>
              </a:rPr>
            </a:br>
            <a:r>
              <a:rPr lang="en-US" altLang="ko-KR" sz="600" b="0">
                <a:ea typeface="굴림" panose="020b0600000101010101" pitchFamily="34" charset="-127"/>
              </a:rPr>
              <a:t>Selection</a:t>
            </a:r>
          </a:p>
        </p:txBody>
      </p:sp>
      <p:sp>
        <p:nvSpPr>
          <p:cNvPr id="25639" name="Rectangle 40">
            <a:extLst>
              <a:ext uri="{FF2B5EF4-FFF2-40B4-BE49-F238E27FC236}">
                <a16:creationId xmlns:a16="http://schemas.microsoft.com/office/drawing/2014/main" id="{B538B225-620C-CE85-2CAF-8F3A06A9AA4E}"/>
              </a:ext>
            </a:extLst>
          </p:cNvPr>
          <p:cNvSpPr>
            <a:spLocks noChangeArrowheads="1"/>
          </p:cNvSpPr>
          <p:nvPr/>
        </p:nvSpPr>
        <p:spPr bwMode="auto">
          <a:xfrm>
            <a:off x="2565400" y="3481388"/>
            <a:ext cx="387350" cy="2333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6</a:t>
            </a:r>
          </a:p>
          <a:p>
            <a:pPr algn="ctr">
              <a:lnSpc>
                <a:spcPct val="85000"/>
              </a:lnSpc>
              <a:spcBef>
                <a:spcPct val="0"/>
              </a:spcBef>
              <a:buClrTx/>
              <a:buFontTx/>
              <a:buNone/>
            </a:pPr>
            <a:r>
              <a:rPr lang="en-US" altLang="ko-KR" sz="600" b="0">
                <a:ea typeface="굴림" panose="020b0600000101010101" pitchFamily="34" charset="-127"/>
              </a:rPr>
              <a:t>Imple-men-tation</a:t>
            </a:r>
          </a:p>
        </p:txBody>
      </p:sp>
      <p:sp>
        <p:nvSpPr>
          <p:cNvPr id="25640" name="Line 41">
            <a:extLst>
              <a:ext uri="{FF2B5EF4-FFF2-40B4-BE49-F238E27FC236}">
                <a16:creationId xmlns:a16="http://schemas.microsoft.com/office/drawing/2014/main" id="{CEE17068-2D97-7243-2D73-04C95AE4F02F}"/>
              </a:ext>
            </a:extLst>
          </p:cNvPr>
          <p:cNvSpPr>
            <a:spLocks noChangeShapeType="1"/>
          </p:cNvSpPr>
          <p:nvPr/>
        </p:nvSpPr>
        <p:spPr bwMode="auto">
          <a:xfrm flipH="1" flipV="1">
            <a:off x="1014413" y="2328863"/>
            <a:ext cx="0" cy="11001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41" name="Line 42">
            <a:extLst>
              <a:ext uri="{FF2B5EF4-FFF2-40B4-BE49-F238E27FC236}">
                <a16:creationId xmlns:a16="http://schemas.microsoft.com/office/drawing/2014/main" id="{F119C2B8-21C6-B522-5F89-51937AC9FBB5}"/>
              </a:ext>
            </a:extLst>
          </p:cNvPr>
          <p:cNvSpPr>
            <a:spLocks noChangeShapeType="1"/>
          </p:cNvSpPr>
          <p:nvPr/>
        </p:nvSpPr>
        <p:spPr bwMode="auto">
          <a:xfrm flipH="1" flipV="1">
            <a:off x="1401763" y="2328863"/>
            <a:ext cx="0" cy="11001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42" name="Line 43">
            <a:extLst>
              <a:ext uri="{FF2B5EF4-FFF2-40B4-BE49-F238E27FC236}">
                <a16:creationId xmlns:a16="http://schemas.microsoft.com/office/drawing/2014/main" id="{26DBE711-45B1-45B4-27D6-648C5706C428}"/>
              </a:ext>
            </a:extLst>
          </p:cNvPr>
          <p:cNvSpPr>
            <a:spLocks noChangeShapeType="1"/>
          </p:cNvSpPr>
          <p:nvPr/>
        </p:nvSpPr>
        <p:spPr bwMode="auto">
          <a:xfrm flipH="1" flipV="1">
            <a:off x="1789113" y="2328863"/>
            <a:ext cx="0" cy="11001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43" name="Line 44">
            <a:extLst>
              <a:ext uri="{FF2B5EF4-FFF2-40B4-BE49-F238E27FC236}">
                <a16:creationId xmlns:a16="http://schemas.microsoft.com/office/drawing/2014/main" id="{C7754717-2E2F-2C52-C637-A15D49AC7AB9}"/>
              </a:ext>
            </a:extLst>
          </p:cNvPr>
          <p:cNvSpPr>
            <a:spLocks noChangeShapeType="1"/>
          </p:cNvSpPr>
          <p:nvPr/>
        </p:nvSpPr>
        <p:spPr bwMode="auto">
          <a:xfrm flipH="1" flipV="1">
            <a:off x="2174875" y="2328863"/>
            <a:ext cx="0" cy="11001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44" name="Line 45">
            <a:extLst>
              <a:ext uri="{FF2B5EF4-FFF2-40B4-BE49-F238E27FC236}">
                <a16:creationId xmlns:a16="http://schemas.microsoft.com/office/drawing/2014/main" id="{9C1DB54D-67A9-5BE6-2A18-2DCCF7DD45A4}"/>
              </a:ext>
            </a:extLst>
          </p:cNvPr>
          <p:cNvSpPr>
            <a:spLocks noChangeShapeType="1"/>
          </p:cNvSpPr>
          <p:nvPr/>
        </p:nvSpPr>
        <p:spPr bwMode="auto">
          <a:xfrm flipH="1" flipV="1">
            <a:off x="2562225" y="2328863"/>
            <a:ext cx="0" cy="11001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45" name="Rectangle 46">
            <a:extLst>
              <a:ext uri="{FF2B5EF4-FFF2-40B4-BE49-F238E27FC236}">
                <a16:creationId xmlns:a16="http://schemas.microsoft.com/office/drawing/2014/main" id="{71F05ED0-5753-7F79-AA67-4E80F2F7D9A1}"/>
              </a:ext>
            </a:extLst>
          </p:cNvPr>
          <p:cNvSpPr>
            <a:spLocks noChangeArrowheads="1"/>
          </p:cNvSpPr>
          <p:nvPr/>
        </p:nvSpPr>
        <p:spPr bwMode="auto">
          <a:xfrm>
            <a:off x="2933700" y="3481388"/>
            <a:ext cx="458788"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7</a:t>
            </a:r>
          </a:p>
          <a:p>
            <a:pPr algn="ctr">
              <a:lnSpc>
                <a:spcPct val="85000"/>
              </a:lnSpc>
              <a:spcBef>
                <a:spcPct val="0"/>
              </a:spcBef>
              <a:buClrTx/>
              <a:buFontTx/>
              <a:buNone/>
            </a:pPr>
            <a:r>
              <a:rPr lang="en-US" altLang="ko-KR" sz="600" b="0">
                <a:ea typeface="굴림" panose="020b0600000101010101" pitchFamily="34" charset="-127"/>
              </a:rPr>
              <a:t>Continuous</a:t>
            </a:r>
          </a:p>
          <a:p>
            <a:pPr algn="ctr">
              <a:lnSpc>
                <a:spcPct val="85000"/>
              </a:lnSpc>
              <a:spcBef>
                <a:spcPct val="0"/>
              </a:spcBef>
              <a:buClrTx/>
              <a:buFontTx/>
              <a:buNone/>
            </a:pPr>
            <a:r>
              <a:rPr lang="en-US" altLang="ko-KR" sz="600" b="0">
                <a:ea typeface="굴림" panose="020b0600000101010101" pitchFamily="34" charset="-127"/>
              </a:rPr>
              <a:t>Benchmark-ing</a:t>
            </a:r>
          </a:p>
        </p:txBody>
      </p:sp>
      <p:sp>
        <p:nvSpPr>
          <p:cNvPr id="25646" name="Text Box 47">
            <a:extLst>
              <a:ext uri="{FF2B5EF4-FFF2-40B4-BE49-F238E27FC236}">
                <a16:creationId xmlns:a16="http://schemas.microsoft.com/office/drawing/2014/main" id="{1D598E4A-9E9D-04FF-8CAF-EF303C1D6C91}"/>
              </a:ext>
            </a:extLst>
          </p:cNvPr>
          <p:cNvSpPr txBox="1">
            <a:spLocks noChangeArrowheads="1"/>
          </p:cNvSpPr>
          <p:nvPr/>
        </p:nvSpPr>
        <p:spPr bwMode="auto">
          <a:xfrm>
            <a:off x="3041650" y="2462213"/>
            <a:ext cx="541338" cy="1031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r>
              <a:rPr lang="en-US" altLang="ko-KR" sz="800" i="1">
                <a:ea typeface="굴림" panose="020b0600000101010101" pitchFamily="34" charset="-127"/>
              </a:rPr>
              <a:t>Momentum</a:t>
            </a:r>
          </a:p>
        </p:txBody>
      </p:sp>
      <p:sp>
        <p:nvSpPr>
          <p:cNvPr id="25647" name="Rectangle 48">
            <a:extLst>
              <a:ext uri="{FF2B5EF4-FFF2-40B4-BE49-F238E27FC236}">
                <a16:creationId xmlns:a16="http://schemas.microsoft.com/office/drawing/2014/main" id="{2B5BAA05-37F9-EB0E-BF30-AE3BB5FE410A}"/>
              </a:ext>
            </a:extLst>
          </p:cNvPr>
          <p:cNvSpPr>
            <a:spLocks noChangeArrowheads="1"/>
          </p:cNvSpPr>
          <p:nvPr/>
        </p:nvSpPr>
        <p:spPr bwMode="auto">
          <a:xfrm>
            <a:off x="1757363" y="3481388"/>
            <a:ext cx="433387" cy="2333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4</a:t>
            </a:r>
          </a:p>
          <a:p>
            <a:pPr algn="ctr">
              <a:lnSpc>
                <a:spcPct val="85000"/>
              </a:lnSpc>
              <a:spcBef>
                <a:spcPct val="0"/>
              </a:spcBef>
              <a:buClrTx/>
              <a:buFontTx/>
              <a:buNone/>
            </a:pPr>
            <a:r>
              <a:rPr lang="en-US" altLang="ko-KR" sz="600" b="0">
                <a:ea typeface="굴림" panose="020b0600000101010101" pitchFamily="34" charset="-127"/>
              </a:rPr>
              <a:t>Implemen-tation path</a:t>
            </a:r>
          </a:p>
        </p:txBody>
      </p:sp>
      <p:sp>
        <p:nvSpPr>
          <p:cNvPr id="25648" name="Line 49">
            <a:extLst>
              <a:ext uri="{FF2B5EF4-FFF2-40B4-BE49-F238E27FC236}">
                <a16:creationId xmlns:a16="http://schemas.microsoft.com/office/drawing/2014/main" id="{82122E2C-CFB5-3643-2127-AE959DEC3B81}"/>
              </a:ext>
            </a:extLst>
          </p:cNvPr>
          <p:cNvSpPr>
            <a:spLocks noChangeShapeType="1"/>
          </p:cNvSpPr>
          <p:nvPr/>
        </p:nvSpPr>
        <p:spPr bwMode="auto">
          <a:xfrm flipH="1" flipV="1">
            <a:off x="2952750" y="2328863"/>
            <a:ext cx="0" cy="11001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49" name="Freeform 50">
            <a:extLst>
              <a:ext uri="{FF2B5EF4-FFF2-40B4-BE49-F238E27FC236}">
                <a16:creationId xmlns:a16="http://schemas.microsoft.com/office/drawing/2014/main" id="{3DC86F99-04BA-7408-4613-4725603D01F5}"/>
              </a:ext>
            </a:extLst>
          </p:cNvPr>
          <p:cNvSpPr/>
          <p:nvPr/>
        </p:nvSpPr>
        <p:spPr bwMode="auto">
          <a:xfrm>
            <a:off x="623888" y="2397125"/>
            <a:ext cx="2806700" cy="1035050"/>
          </a:xfrm>
          <a:custGeom>
            <a:gdLst>
              <a:gd name="T0" fmla="*/ 0 w 1632"/>
              <a:gd name="T1" fmla="*/ 2147483646 h 709"/>
              <a:gd name="T2" fmla="*/ 2147483646 w 1632"/>
              <a:gd name="T3" fmla="*/ 0 h 709"/>
              <a:gd name="T4" fmla="*/ 0 60000 65536"/>
              <a:gd name="T5" fmla="*/ 0 60000 65536"/>
            </a:gdLst>
            <a:cxnLst>
              <a:cxn ang="T4">
                <a:pos x="T0" y="T1"/>
              </a:cxn>
              <a:cxn ang="T5">
                <a:pos x="T2" y="T3"/>
              </a:cxn>
            </a:cxnLst>
            <a:rect l="0" t="0" r="r" b="b"/>
            <a:pathLst>
              <a:path w="1632" h="709">
                <a:moveTo>
                  <a:pt x="0" y="703"/>
                </a:moveTo>
                <a:cubicBezTo>
                  <a:pt x="1181" y="709"/>
                  <a:pt x="417" y="1"/>
                  <a:pt x="1632" y="0"/>
                </a:cubicBezTo>
              </a:path>
            </a:pathLst>
          </a:custGeom>
          <a:noFill/>
          <a:ln w="19050" cap="flat" cmpd="sng">
            <a:solidFill>
              <a:schemeClr val="bg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25650" name="Freeform 51">
            <a:extLst>
              <a:ext uri="{FF2B5EF4-FFF2-40B4-BE49-F238E27FC236}">
                <a16:creationId xmlns:a16="http://schemas.microsoft.com/office/drawing/2014/main" id="{5A01ABA5-A730-7D63-DDC1-E980B5A13840}"/>
              </a:ext>
            </a:extLst>
          </p:cNvPr>
          <p:cNvSpPr/>
          <p:nvPr/>
        </p:nvSpPr>
        <p:spPr bwMode="auto">
          <a:xfrm>
            <a:off x="619125" y="4554538"/>
            <a:ext cx="2773363" cy="1066800"/>
          </a:xfrm>
          <a:custGeom>
            <a:gdLst>
              <a:gd name="T0" fmla="*/ 2147483646 w 1613"/>
              <a:gd name="T1" fmla="*/ 2147483646 h 672"/>
              <a:gd name="T2" fmla="*/ 0 w 1613"/>
              <a:gd name="T3" fmla="*/ 2147483646 h 672"/>
              <a:gd name="T4" fmla="*/ 2147483646 w 1613"/>
              <a:gd name="T5" fmla="*/ 2147483646 h 672"/>
              <a:gd name="T6" fmla="*/ 2147483646 w 1613"/>
              <a:gd name="T7" fmla="*/ 2147483646 h 672"/>
              <a:gd name="T8" fmla="*/ 2147483646 w 1613"/>
              <a:gd name="T9" fmla="*/ 2147483646 h 672"/>
              <a:gd name="T10" fmla="*/ 2147483646 w 1613"/>
              <a:gd name="T11" fmla="*/ 2147483646 h 672"/>
              <a:gd name="T12" fmla="*/ 2147483646 w 1613"/>
              <a:gd name="T13" fmla="*/ 0 h 672"/>
              <a:gd name="T14" fmla="*/ 2147483646 w 1613"/>
              <a:gd name="T15" fmla="*/ 2147483646 h 672"/>
              <a:gd name="T16" fmla="*/ 2147483646 w 1613"/>
              <a:gd name="T17" fmla="*/ 2147483646 h 672"/>
              <a:gd name="T18" fmla="*/ 2147483646 w 1613"/>
              <a:gd name="T19" fmla="*/ 2147483646 h 672"/>
              <a:gd name="T20" fmla="*/ 2147483646 w 1613"/>
              <a:gd name="T21" fmla="*/ 2147483646 h 672"/>
              <a:gd name="T22" fmla="*/ 2147483646 w 1613"/>
              <a:gd name="T23" fmla="*/ 2147483646 h 672"/>
              <a:gd name="T24" fmla="*/ 2147483646 w 1613"/>
              <a:gd name="T25" fmla="*/ 2147483646 h 672"/>
              <a:gd name="T26" fmla="*/ 2147483646 w 1613"/>
              <a:gd name="T27" fmla="*/ 2147483646 h 6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613" h="672">
                <a:moveTo>
                  <a:pt x="5" y="672"/>
                </a:moveTo>
                <a:lnTo>
                  <a:pt x="0" y="118"/>
                </a:lnTo>
                <a:lnTo>
                  <a:pt x="232" y="118"/>
                </a:lnTo>
                <a:lnTo>
                  <a:pt x="228" y="231"/>
                </a:lnTo>
                <a:lnTo>
                  <a:pt x="455" y="231"/>
                </a:lnTo>
                <a:lnTo>
                  <a:pt x="677" y="230"/>
                </a:lnTo>
                <a:lnTo>
                  <a:pt x="677" y="0"/>
                </a:lnTo>
                <a:lnTo>
                  <a:pt x="904" y="2"/>
                </a:lnTo>
                <a:lnTo>
                  <a:pt x="1130" y="518"/>
                </a:lnTo>
                <a:lnTo>
                  <a:pt x="1358" y="518"/>
                </a:lnTo>
                <a:lnTo>
                  <a:pt x="1349" y="642"/>
                </a:lnTo>
                <a:lnTo>
                  <a:pt x="1613" y="642"/>
                </a:lnTo>
                <a:lnTo>
                  <a:pt x="1613" y="672"/>
                </a:lnTo>
                <a:lnTo>
                  <a:pt x="5" y="672"/>
                </a:lnTo>
                <a:close/>
              </a:path>
            </a:pathLst>
          </a:custGeom>
          <a:solidFill>
            <a:schemeClr val="hlink"/>
          </a:solidFill>
          <a:ln>
            <a:noFill/>
          </a:ln>
          <a:effectLst/>
          <a:extLst>
            <a:ext uri="{91240B29-F687-4F45-9708-019B960494DF}">
              <a14:hiddenLine xmlns:a14="http://schemas.microsoft.com/office/drawing/2010/main" w="12700" cap="flat" cmpd="sng">
                <a:solidFill>
                  <a:schemeClr val="bg2"/>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51" name="Line 52">
            <a:extLst>
              <a:ext uri="{FF2B5EF4-FFF2-40B4-BE49-F238E27FC236}">
                <a16:creationId xmlns:a16="http://schemas.microsoft.com/office/drawing/2014/main" id="{ED62B2DC-FD5D-B1CC-9B58-C0BCD188629C}"/>
              </a:ext>
            </a:extLst>
          </p:cNvPr>
          <p:cNvSpPr>
            <a:spLocks noChangeShapeType="1"/>
          </p:cNvSpPr>
          <p:nvPr/>
        </p:nvSpPr>
        <p:spPr bwMode="auto">
          <a:xfrm>
            <a:off x="627063" y="5619750"/>
            <a:ext cx="2954337"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52" name="Line 53">
            <a:extLst>
              <a:ext uri="{FF2B5EF4-FFF2-40B4-BE49-F238E27FC236}">
                <a16:creationId xmlns:a16="http://schemas.microsoft.com/office/drawing/2014/main" id="{0ADAAE3B-516C-40F5-7F4E-9B684CF14B61}"/>
              </a:ext>
            </a:extLst>
          </p:cNvPr>
          <p:cNvSpPr>
            <a:spLocks noChangeShapeType="1"/>
          </p:cNvSpPr>
          <p:nvPr/>
        </p:nvSpPr>
        <p:spPr bwMode="auto">
          <a:xfrm flipH="1" flipV="1">
            <a:off x="627063" y="4521200"/>
            <a:ext cx="0" cy="109855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25653" name="Text Box 54">
            <a:extLst>
              <a:ext uri="{FF2B5EF4-FFF2-40B4-BE49-F238E27FC236}">
                <a16:creationId xmlns:a16="http://schemas.microsoft.com/office/drawing/2014/main" id="{5F1B68C4-AEE4-FD0D-7B57-C26D93D9C508}"/>
              </a:ext>
            </a:extLst>
          </p:cNvPr>
          <p:cNvSpPr txBox="1">
            <a:spLocks noChangeArrowheads="1"/>
          </p:cNvSpPr>
          <p:nvPr/>
        </p:nvSpPr>
        <p:spPr bwMode="auto">
          <a:xfrm>
            <a:off x="3475038" y="5657850"/>
            <a:ext cx="307975" cy="103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i="1">
                <a:ea typeface="굴림" panose="020b0600000101010101" pitchFamily="34" charset="-127"/>
              </a:rPr>
              <a:t>Time</a:t>
            </a:r>
          </a:p>
        </p:txBody>
      </p:sp>
      <p:sp>
        <p:nvSpPr>
          <p:cNvPr id="25654" name="Rectangle 55">
            <a:extLst>
              <a:ext uri="{FF2B5EF4-FFF2-40B4-BE49-F238E27FC236}">
                <a16:creationId xmlns:a16="http://schemas.microsoft.com/office/drawing/2014/main" id="{6DDD7662-1FCC-0A40-9B76-E318433C7CE3}"/>
              </a:ext>
            </a:extLst>
          </p:cNvPr>
          <p:cNvSpPr>
            <a:spLocks noChangeArrowheads="1"/>
          </p:cNvSpPr>
          <p:nvPr/>
        </p:nvSpPr>
        <p:spPr bwMode="auto">
          <a:xfrm>
            <a:off x="592138" y="5657850"/>
            <a:ext cx="460375" cy="23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1</a:t>
            </a:r>
          </a:p>
          <a:p>
            <a:pPr algn="ctr">
              <a:lnSpc>
                <a:spcPct val="85000"/>
              </a:lnSpc>
              <a:spcBef>
                <a:spcPct val="0"/>
              </a:spcBef>
              <a:buClrTx/>
              <a:buFontTx/>
              <a:buNone/>
            </a:pPr>
            <a:r>
              <a:rPr lang="en-US" altLang="ko-KR" sz="600" b="0">
                <a:ea typeface="굴림" panose="020b0600000101010101" pitchFamily="34" charset="-127"/>
              </a:rPr>
              <a:t>Commodity</a:t>
            </a:r>
            <a:br>
              <a:rPr lang="en-US" altLang="ko-KR" sz="600" b="0">
                <a:ea typeface="굴림" panose="020b0600000101010101" pitchFamily="34" charset="-127"/>
              </a:rPr>
            </a:br>
            <a:r>
              <a:rPr lang="en-US" altLang="ko-KR" sz="600" b="0">
                <a:ea typeface="굴림" panose="020b0600000101010101" pitchFamily="34" charset="-127"/>
              </a:rPr>
              <a:t>Profile</a:t>
            </a:r>
          </a:p>
        </p:txBody>
      </p:sp>
      <p:sp>
        <p:nvSpPr>
          <p:cNvPr id="25655" name="Rectangle 56">
            <a:extLst>
              <a:ext uri="{FF2B5EF4-FFF2-40B4-BE49-F238E27FC236}">
                <a16:creationId xmlns:a16="http://schemas.microsoft.com/office/drawing/2014/main" id="{620C2784-3E42-62CD-1CC9-06843A13DAF5}"/>
              </a:ext>
            </a:extLst>
          </p:cNvPr>
          <p:cNvSpPr>
            <a:spLocks noChangeArrowheads="1"/>
          </p:cNvSpPr>
          <p:nvPr/>
        </p:nvSpPr>
        <p:spPr bwMode="auto">
          <a:xfrm>
            <a:off x="1016000" y="5657850"/>
            <a:ext cx="385763" cy="23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2</a:t>
            </a:r>
          </a:p>
          <a:p>
            <a:pPr algn="ctr">
              <a:lnSpc>
                <a:spcPct val="85000"/>
              </a:lnSpc>
              <a:spcBef>
                <a:spcPct val="0"/>
              </a:spcBef>
              <a:buClrTx/>
              <a:buFontTx/>
              <a:buNone/>
            </a:pPr>
            <a:r>
              <a:rPr lang="en-US" altLang="ko-KR" sz="600" b="0">
                <a:ea typeface="굴림" panose="020b0600000101010101" pitchFamily="34" charset="-127"/>
              </a:rPr>
              <a:t>Sourcing Strategy</a:t>
            </a:r>
          </a:p>
        </p:txBody>
      </p:sp>
      <p:sp>
        <p:nvSpPr>
          <p:cNvPr id="25656" name="Rectangle 57">
            <a:extLst>
              <a:ext uri="{FF2B5EF4-FFF2-40B4-BE49-F238E27FC236}">
                <a16:creationId xmlns:a16="http://schemas.microsoft.com/office/drawing/2014/main" id="{18F39DF5-88A2-E675-3546-BE4945367CA9}"/>
              </a:ext>
            </a:extLst>
          </p:cNvPr>
          <p:cNvSpPr>
            <a:spLocks noChangeArrowheads="1"/>
          </p:cNvSpPr>
          <p:nvPr/>
        </p:nvSpPr>
        <p:spPr bwMode="auto">
          <a:xfrm>
            <a:off x="1401763" y="5657850"/>
            <a:ext cx="387350" cy="23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3</a:t>
            </a:r>
          </a:p>
          <a:p>
            <a:pPr algn="ctr">
              <a:lnSpc>
                <a:spcPct val="85000"/>
              </a:lnSpc>
              <a:spcBef>
                <a:spcPct val="0"/>
              </a:spcBef>
              <a:buClrTx/>
              <a:buFontTx/>
              <a:buNone/>
            </a:pPr>
            <a:r>
              <a:rPr lang="en-US" altLang="ko-KR" sz="600" b="0">
                <a:ea typeface="굴림" panose="020b0600000101010101" pitchFamily="34" charset="-127"/>
              </a:rPr>
              <a:t>Supplier Analysis</a:t>
            </a:r>
          </a:p>
        </p:txBody>
      </p:sp>
      <p:sp>
        <p:nvSpPr>
          <p:cNvPr id="25657" name="Rectangle 58">
            <a:extLst>
              <a:ext uri="{FF2B5EF4-FFF2-40B4-BE49-F238E27FC236}">
                <a16:creationId xmlns:a16="http://schemas.microsoft.com/office/drawing/2014/main" id="{E503F62B-B11F-DD4D-8C5E-C71F7B2C7186}"/>
              </a:ext>
            </a:extLst>
          </p:cNvPr>
          <p:cNvSpPr>
            <a:spLocks noChangeArrowheads="1"/>
          </p:cNvSpPr>
          <p:nvPr/>
        </p:nvSpPr>
        <p:spPr bwMode="auto">
          <a:xfrm>
            <a:off x="2178050" y="5657850"/>
            <a:ext cx="384175" cy="23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5</a:t>
            </a:r>
          </a:p>
          <a:p>
            <a:pPr algn="ctr">
              <a:lnSpc>
                <a:spcPct val="85000"/>
              </a:lnSpc>
              <a:spcBef>
                <a:spcPct val="0"/>
              </a:spcBef>
              <a:buClrTx/>
              <a:buFontTx/>
              <a:buNone/>
            </a:pPr>
            <a:r>
              <a:rPr lang="en-US" altLang="ko-KR" sz="600" b="0">
                <a:ea typeface="굴림" panose="020b0600000101010101" pitchFamily="34" charset="-127"/>
              </a:rPr>
              <a:t>Supplier</a:t>
            </a:r>
            <a:br>
              <a:rPr lang="en-US" altLang="ko-KR" sz="600" b="0">
                <a:ea typeface="굴림" panose="020b0600000101010101" pitchFamily="34" charset="-127"/>
              </a:rPr>
            </a:br>
            <a:r>
              <a:rPr lang="en-US" altLang="ko-KR" sz="600" b="0">
                <a:ea typeface="굴림" panose="020b0600000101010101" pitchFamily="34" charset="-127"/>
              </a:rPr>
              <a:t>Selection</a:t>
            </a:r>
          </a:p>
        </p:txBody>
      </p:sp>
      <p:sp>
        <p:nvSpPr>
          <p:cNvPr id="25658" name="Rectangle 59">
            <a:extLst>
              <a:ext uri="{FF2B5EF4-FFF2-40B4-BE49-F238E27FC236}">
                <a16:creationId xmlns:a16="http://schemas.microsoft.com/office/drawing/2014/main" id="{420E3D6E-0473-9F27-6DC7-5F7807DC2586}"/>
              </a:ext>
            </a:extLst>
          </p:cNvPr>
          <p:cNvSpPr>
            <a:spLocks noChangeArrowheads="1"/>
          </p:cNvSpPr>
          <p:nvPr/>
        </p:nvSpPr>
        <p:spPr bwMode="auto">
          <a:xfrm>
            <a:off x="2565400" y="5657850"/>
            <a:ext cx="387350" cy="23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6</a:t>
            </a:r>
          </a:p>
          <a:p>
            <a:pPr algn="ctr">
              <a:lnSpc>
                <a:spcPct val="85000"/>
              </a:lnSpc>
              <a:spcBef>
                <a:spcPct val="0"/>
              </a:spcBef>
              <a:buClrTx/>
              <a:buFontTx/>
              <a:buNone/>
            </a:pPr>
            <a:r>
              <a:rPr lang="en-US" altLang="ko-KR" sz="600" b="0">
                <a:ea typeface="굴림" panose="020b0600000101010101" pitchFamily="34" charset="-127"/>
              </a:rPr>
              <a:t>Imple-men-tation</a:t>
            </a:r>
          </a:p>
        </p:txBody>
      </p:sp>
      <p:sp>
        <p:nvSpPr>
          <p:cNvPr id="25659" name="Line 60">
            <a:extLst>
              <a:ext uri="{FF2B5EF4-FFF2-40B4-BE49-F238E27FC236}">
                <a16:creationId xmlns:a16="http://schemas.microsoft.com/office/drawing/2014/main" id="{7CC36C86-903E-74D3-4301-25860F6D7CE6}"/>
              </a:ext>
            </a:extLst>
          </p:cNvPr>
          <p:cNvSpPr>
            <a:spLocks noChangeShapeType="1"/>
          </p:cNvSpPr>
          <p:nvPr/>
        </p:nvSpPr>
        <p:spPr bwMode="auto">
          <a:xfrm flipH="1" flipV="1">
            <a:off x="1014413" y="4505325"/>
            <a:ext cx="0" cy="11017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60" name="Line 61">
            <a:extLst>
              <a:ext uri="{FF2B5EF4-FFF2-40B4-BE49-F238E27FC236}">
                <a16:creationId xmlns:a16="http://schemas.microsoft.com/office/drawing/2014/main" id="{E80402A5-42E6-AE41-AD97-3BAC9DC0401F}"/>
              </a:ext>
            </a:extLst>
          </p:cNvPr>
          <p:cNvSpPr>
            <a:spLocks noChangeShapeType="1"/>
          </p:cNvSpPr>
          <p:nvPr/>
        </p:nvSpPr>
        <p:spPr bwMode="auto">
          <a:xfrm flipH="1" flipV="1">
            <a:off x="1401763" y="4505325"/>
            <a:ext cx="0" cy="11017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61" name="Line 62">
            <a:extLst>
              <a:ext uri="{FF2B5EF4-FFF2-40B4-BE49-F238E27FC236}">
                <a16:creationId xmlns:a16="http://schemas.microsoft.com/office/drawing/2014/main" id="{3DD0D9BD-D168-455F-5238-6945F1EB8603}"/>
              </a:ext>
            </a:extLst>
          </p:cNvPr>
          <p:cNvSpPr>
            <a:spLocks noChangeShapeType="1"/>
          </p:cNvSpPr>
          <p:nvPr/>
        </p:nvSpPr>
        <p:spPr bwMode="auto">
          <a:xfrm flipH="1" flipV="1">
            <a:off x="1789113" y="4505325"/>
            <a:ext cx="0" cy="11017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62" name="Line 63">
            <a:extLst>
              <a:ext uri="{FF2B5EF4-FFF2-40B4-BE49-F238E27FC236}">
                <a16:creationId xmlns:a16="http://schemas.microsoft.com/office/drawing/2014/main" id="{06D1B187-A8F3-3B53-ACE4-F12187B713E0}"/>
              </a:ext>
            </a:extLst>
          </p:cNvPr>
          <p:cNvSpPr>
            <a:spLocks noChangeShapeType="1"/>
          </p:cNvSpPr>
          <p:nvPr/>
        </p:nvSpPr>
        <p:spPr bwMode="auto">
          <a:xfrm flipH="1" flipV="1">
            <a:off x="2174875" y="4505325"/>
            <a:ext cx="0" cy="11017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63" name="Line 64">
            <a:extLst>
              <a:ext uri="{FF2B5EF4-FFF2-40B4-BE49-F238E27FC236}">
                <a16:creationId xmlns:a16="http://schemas.microsoft.com/office/drawing/2014/main" id="{5F1AEF7E-D091-C2C6-2F93-8BFBD8F2941D}"/>
              </a:ext>
            </a:extLst>
          </p:cNvPr>
          <p:cNvSpPr>
            <a:spLocks noChangeShapeType="1"/>
          </p:cNvSpPr>
          <p:nvPr/>
        </p:nvSpPr>
        <p:spPr bwMode="auto">
          <a:xfrm flipH="1" flipV="1">
            <a:off x="2562225" y="4505325"/>
            <a:ext cx="0" cy="11017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64" name="Rectangle 65">
            <a:extLst>
              <a:ext uri="{FF2B5EF4-FFF2-40B4-BE49-F238E27FC236}">
                <a16:creationId xmlns:a16="http://schemas.microsoft.com/office/drawing/2014/main" id="{846B4908-519A-EDF8-B25D-08CEA8860AD5}"/>
              </a:ext>
            </a:extLst>
          </p:cNvPr>
          <p:cNvSpPr>
            <a:spLocks noChangeArrowheads="1"/>
          </p:cNvSpPr>
          <p:nvPr/>
        </p:nvSpPr>
        <p:spPr bwMode="auto">
          <a:xfrm>
            <a:off x="2933700" y="5657850"/>
            <a:ext cx="458788"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7</a:t>
            </a:r>
          </a:p>
          <a:p>
            <a:pPr algn="ctr">
              <a:lnSpc>
                <a:spcPct val="85000"/>
              </a:lnSpc>
              <a:spcBef>
                <a:spcPct val="0"/>
              </a:spcBef>
              <a:buClrTx/>
              <a:buFontTx/>
              <a:buNone/>
            </a:pPr>
            <a:r>
              <a:rPr lang="en-US" altLang="ko-KR" sz="600" b="0">
                <a:ea typeface="굴림" panose="020b0600000101010101" pitchFamily="34" charset="-127"/>
              </a:rPr>
              <a:t>Continuous</a:t>
            </a:r>
          </a:p>
          <a:p>
            <a:pPr algn="ctr">
              <a:lnSpc>
                <a:spcPct val="85000"/>
              </a:lnSpc>
              <a:spcBef>
                <a:spcPct val="0"/>
              </a:spcBef>
              <a:buClrTx/>
              <a:buFontTx/>
              <a:buNone/>
            </a:pPr>
            <a:r>
              <a:rPr lang="en-US" altLang="ko-KR" sz="600" b="0">
                <a:ea typeface="굴림" panose="020b0600000101010101" pitchFamily="34" charset="-127"/>
              </a:rPr>
              <a:t>Benchmark-ing</a:t>
            </a:r>
          </a:p>
        </p:txBody>
      </p:sp>
      <p:sp>
        <p:nvSpPr>
          <p:cNvPr id="25665" name="Text Box 66">
            <a:extLst>
              <a:ext uri="{FF2B5EF4-FFF2-40B4-BE49-F238E27FC236}">
                <a16:creationId xmlns:a16="http://schemas.microsoft.com/office/drawing/2014/main" id="{60EE50B7-FB99-1FDE-85F3-E46E0DB6DDA9}"/>
              </a:ext>
            </a:extLst>
          </p:cNvPr>
          <p:cNvSpPr txBox="1">
            <a:spLocks noChangeArrowheads="1"/>
          </p:cNvSpPr>
          <p:nvPr/>
        </p:nvSpPr>
        <p:spPr bwMode="auto">
          <a:xfrm>
            <a:off x="3159125" y="5416550"/>
            <a:ext cx="541338" cy="103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r>
              <a:rPr lang="en-US" altLang="ko-KR" sz="800" i="1">
                <a:ea typeface="굴림" panose="020b0600000101010101" pitchFamily="34" charset="-127"/>
              </a:rPr>
              <a:t>Momentum</a:t>
            </a:r>
          </a:p>
        </p:txBody>
      </p:sp>
      <p:sp>
        <p:nvSpPr>
          <p:cNvPr id="25666" name="Rectangle 67">
            <a:extLst>
              <a:ext uri="{FF2B5EF4-FFF2-40B4-BE49-F238E27FC236}">
                <a16:creationId xmlns:a16="http://schemas.microsoft.com/office/drawing/2014/main" id="{4D28B7A9-97D0-0935-3ECB-C76BFD957D5D}"/>
              </a:ext>
            </a:extLst>
          </p:cNvPr>
          <p:cNvSpPr>
            <a:spLocks noChangeArrowheads="1"/>
          </p:cNvSpPr>
          <p:nvPr/>
        </p:nvSpPr>
        <p:spPr bwMode="auto">
          <a:xfrm>
            <a:off x="1757363" y="5657850"/>
            <a:ext cx="433387" cy="23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600">
                <a:ea typeface="굴림" panose="020b0600000101010101" pitchFamily="34" charset="-127"/>
              </a:rPr>
              <a:t>Step 4</a:t>
            </a:r>
          </a:p>
          <a:p>
            <a:pPr algn="ctr">
              <a:lnSpc>
                <a:spcPct val="85000"/>
              </a:lnSpc>
              <a:spcBef>
                <a:spcPct val="0"/>
              </a:spcBef>
              <a:buClrTx/>
              <a:buFontTx/>
              <a:buNone/>
            </a:pPr>
            <a:r>
              <a:rPr lang="en-US" altLang="ko-KR" sz="600" b="0">
                <a:ea typeface="굴림" panose="020b0600000101010101" pitchFamily="34" charset="-127"/>
              </a:rPr>
              <a:t>Implemen-tation path</a:t>
            </a:r>
          </a:p>
        </p:txBody>
      </p:sp>
      <p:sp>
        <p:nvSpPr>
          <p:cNvPr id="25667" name="Line 68">
            <a:extLst>
              <a:ext uri="{FF2B5EF4-FFF2-40B4-BE49-F238E27FC236}">
                <a16:creationId xmlns:a16="http://schemas.microsoft.com/office/drawing/2014/main" id="{BAA0411B-7512-E417-A0B6-CB437B9BF1F6}"/>
              </a:ext>
            </a:extLst>
          </p:cNvPr>
          <p:cNvSpPr>
            <a:spLocks noChangeShapeType="1"/>
          </p:cNvSpPr>
          <p:nvPr/>
        </p:nvSpPr>
        <p:spPr bwMode="auto">
          <a:xfrm flipH="1" flipV="1">
            <a:off x="2952750" y="4505325"/>
            <a:ext cx="0" cy="11017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72000" rIns="0" bIns="72000" anchor="ctr"/>
          <a:lstStyle/>
          <a:p>
            <a:endParaRPr lang="ko-KR" altLang="en-US"/>
          </a:p>
        </p:txBody>
      </p:sp>
      <p:sp>
        <p:nvSpPr>
          <p:cNvPr id="25668" name="Text Box 69">
            <a:extLst>
              <a:ext uri="{FF2B5EF4-FFF2-40B4-BE49-F238E27FC236}">
                <a16:creationId xmlns:a16="http://schemas.microsoft.com/office/drawing/2014/main" id="{A3DE1246-F9F4-C542-2AC2-84816E30E31C}"/>
              </a:ext>
            </a:extLst>
          </p:cNvPr>
          <p:cNvSpPr txBox="1">
            <a:spLocks noChangeArrowheads="1"/>
          </p:cNvSpPr>
          <p:nvPr/>
        </p:nvSpPr>
        <p:spPr bwMode="auto">
          <a:xfrm>
            <a:off x="303213" y="4373563"/>
            <a:ext cx="254000" cy="206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800" i="1">
                <a:ea typeface="굴림" panose="020b0600000101010101" pitchFamily="34" charset="-127"/>
              </a:rPr>
              <a:t>Work</a:t>
            </a:r>
            <a:br>
              <a:rPr lang="en-US" altLang="ko-KR" sz="800" i="1">
                <a:ea typeface="굴림" panose="020b0600000101010101" pitchFamily="34" charset="-127"/>
              </a:rPr>
            </a:br>
            <a:r>
              <a:rPr lang="en-US" altLang="ko-KR" sz="800" i="1">
                <a:ea typeface="굴림" panose="020b0600000101010101" pitchFamily="34" charset="-127"/>
              </a:rPr>
              <a:t>load</a:t>
            </a:r>
          </a:p>
        </p:txBody>
      </p:sp>
      <p:sp>
        <p:nvSpPr>
          <p:cNvPr id="25669" name="Freeform 70">
            <a:extLst>
              <a:ext uri="{FF2B5EF4-FFF2-40B4-BE49-F238E27FC236}">
                <a16:creationId xmlns:a16="http://schemas.microsoft.com/office/drawing/2014/main" id="{0AE0AB85-7562-E00D-C20B-8ADB65071D85}"/>
              </a:ext>
            </a:extLst>
          </p:cNvPr>
          <p:cNvSpPr/>
          <p:nvPr/>
        </p:nvSpPr>
        <p:spPr bwMode="auto">
          <a:xfrm>
            <a:off x="635000" y="4540250"/>
            <a:ext cx="2757488" cy="1047750"/>
          </a:xfrm>
          <a:custGeom>
            <a:gdLst>
              <a:gd name="T0" fmla="*/ 0 w 1604"/>
              <a:gd name="T1" fmla="*/ 2147483646 h 660"/>
              <a:gd name="T2" fmla="*/ 2147483646 w 1604"/>
              <a:gd name="T3" fmla="*/ 2147483646 h 660"/>
              <a:gd name="T4" fmla="*/ 2147483646 w 1604"/>
              <a:gd name="T5" fmla="*/ 2147483646 h 660"/>
              <a:gd name="T6" fmla="*/ 2147483646 w 1604"/>
              <a:gd name="T7" fmla="*/ 2147483646 h 660"/>
              <a:gd name="T8" fmla="*/ 2147483646 w 1604"/>
              <a:gd name="T9" fmla="*/ 2147483646 h 660"/>
              <a:gd name="T10" fmla="*/ 2147483646 w 1604"/>
              <a:gd name="T11" fmla="*/ 2147483646 h 660"/>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1604" h="660">
                <a:moveTo>
                  <a:pt x="0" y="660"/>
                </a:moveTo>
                <a:cubicBezTo>
                  <a:pt x="215" y="636"/>
                  <a:pt x="228" y="125"/>
                  <a:pt x="437" y="59"/>
                </a:cubicBezTo>
                <a:cubicBezTo>
                  <a:pt x="585" y="0"/>
                  <a:pt x="810" y="25"/>
                  <a:pt x="861" y="31"/>
                </a:cubicBezTo>
                <a:cubicBezTo>
                  <a:pt x="953" y="61"/>
                  <a:pt x="921" y="162"/>
                  <a:pt x="963" y="230"/>
                </a:cubicBezTo>
                <a:cubicBezTo>
                  <a:pt x="1005" y="298"/>
                  <a:pt x="1005" y="374"/>
                  <a:pt x="1112" y="443"/>
                </a:cubicBezTo>
                <a:cubicBezTo>
                  <a:pt x="1219" y="513"/>
                  <a:pt x="1502" y="605"/>
                  <a:pt x="1604" y="647"/>
                </a:cubicBezTo>
              </a:path>
            </a:pathLst>
          </a:custGeom>
          <a:noFill/>
          <a:ln w="19050" cap="flat" cmpd="sng">
            <a:solidFill>
              <a:schemeClr val="bg2"/>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25670" name="Text Box 72">
            <a:extLst>
              <a:ext uri="{FF2B5EF4-FFF2-40B4-BE49-F238E27FC236}">
                <a16:creationId xmlns:a16="http://schemas.microsoft.com/office/drawing/2014/main" id="{8C280258-9290-442C-C2C8-122BA91FC687}"/>
              </a:ext>
            </a:extLst>
          </p:cNvPr>
          <p:cNvSpPr txBox="1">
            <a:spLocks noChangeArrowheads="1"/>
          </p:cNvSpPr>
          <p:nvPr/>
        </p:nvSpPr>
        <p:spPr bwMode="auto">
          <a:xfrm>
            <a:off x="565150" y="6102350"/>
            <a:ext cx="8737600" cy="3508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a:solidFill>
                  <a:schemeClr val="bg1"/>
                </a:solidFill>
                <a:ea typeface="굴림" panose="020b0600000101010101" pitchFamily="34" charset="-127"/>
              </a:rPr>
              <a:t>The incremental effort by using both methods is relatively low</a:t>
            </a:r>
          </a:p>
        </p:txBody>
      </p:sp>
      <p:sp>
        <p:nvSpPr>
          <p:cNvPr id="25671" name="Rectangle 73">
            <a:extLst>
              <a:ext uri="{FF2B5EF4-FFF2-40B4-BE49-F238E27FC236}">
                <a16:creationId xmlns:a16="http://schemas.microsoft.com/office/drawing/2014/main" id="{DC589802-0E4B-452F-0748-63E5FA03B7E3}"/>
              </a:ext>
            </a:extLst>
          </p:cNvPr>
          <p:cNvSpPr>
            <a:spLocks noChangeArrowheads="1"/>
          </p:cNvSpPr>
          <p:nvPr/>
        </p:nvSpPr>
        <p:spPr bwMode="auto">
          <a:xfrm>
            <a:off x="4551363" y="239713"/>
            <a:ext cx="509270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Introduction: Why combine 7-Step-Sourcing and Cost Regression Analysis?</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7649" name="AutoShape 2">
            <a:extLst>
              <a:ext uri="{FF2B5EF4-FFF2-40B4-BE49-F238E27FC236}">
                <a16:creationId xmlns:a16="http://schemas.microsoft.com/office/drawing/2014/main" id="{7CA23C59-E6B5-E3D5-64C5-C18118703175}"/>
              </a:ext>
            </a:extLst>
          </p:cNvPr>
          <p:cNvSpPr>
            <a:spLocks noChangeArrowheads="1"/>
          </p:cNvSpPr>
          <p:nvPr/>
        </p:nvSpPr>
        <p:spPr bwMode="auto">
          <a:xfrm>
            <a:off x="925513" y="4678363"/>
            <a:ext cx="1325562" cy="817562"/>
          </a:xfrm>
          <a:prstGeom prst="homePlate">
            <a:avLst>
              <a:gd name="adj" fmla="val 1848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Spend Profiling</a:t>
            </a:r>
          </a:p>
        </p:txBody>
      </p:sp>
      <p:sp>
        <p:nvSpPr>
          <p:cNvPr id="27650" name="AutoShape 3">
            <a:extLst>
              <a:ext uri="{FF2B5EF4-FFF2-40B4-BE49-F238E27FC236}">
                <a16:creationId xmlns:a16="http://schemas.microsoft.com/office/drawing/2014/main" id="{1EFD9A8E-A90C-B9CC-0934-AA01A7352EE9}"/>
              </a:ext>
            </a:extLst>
          </p:cNvPr>
          <p:cNvSpPr>
            <a:spLocks noChangeArrowheads="1"/>
          </p:cNvSpPr>
          <p:nvPr/>
        </p:nvSpPr>
        <p:spPr bwMode="auto">
          <a:xfrm>
            <a:off x="5846763" y="4678363"/>
            <a:ext cx="1327150" cy="817562"/>
          </a:xfrm>
          <a:prstGeom prst="chevron">
            <a:avLst>
              <a:gd name="adj" fmla="val 18067"/>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Competitive Supplier</a:t>
            </a:r>
            <a:br>
              <a:rPr lang="en-US" altLang="ko-KR" sz="1000">
                <a:ea typeface="굴림" panose="020b0600000101010101" pitchFamily="34" charset="-127"/>
              </a:rPr>
            </a:br>
            <a:r>
              <a:rPr lang="en-US" altLang="ko-KR" sz="1000">
                <a:ea typeface="굴림" panose="020b0600000101010101" pitchFamily="34" charset="-127"/>
              </a:rPr>
              <a:t>Selection</a:t>
            </a:r>
          </a:p>
        </p:txBody>
      </p:sp>
      <p:sp>
        <p:nvSpPr>
          <p:cNvPr id="27651" name="AutoShape 4">
            <a:extLst>
              <a:ext uri="{FF2B5EF4-FFF2-40B4-BE49-F238E27FC236}">
                <a16:creationId xmlns:a16="http://schemas.microsoft.com/office/drawing/2014/main" id="{C978D6DD-39ED-AAC3-1C7B-EEB67AE5EE78}"/>
              </a:ext>
            </a:extLst>
          </p:cNvPr>
          <p:cNvSpPr>
            <a:spLocks noChangeArrowheads="1"/>
          </p:cNvSpPr>
          <p:nvPr/>
        </p:nvSpPr>
        <p:spPr bwMode="auto">
          <a:xfrm>
            <a:off x="7078663" y="4678363"/>
            <a:ext cx="1325562" cy="817562"/>
          </a:xfrm>
          <a:prstGeom prst="chevron">
            <a:avLst>
              <a:gd name="adj" fmla="val 1804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Operational Integration</a:t>
            </a:r>
            <a:br>
              <a:rPr lang="en-US" altLang="ko-KR" sz="1000">
                <a:ea typeface="굴림" panose="020b0600000101010101" pitchFamily="34" charset="-127"/>
              </a:rPr>
            </a:br>
            <a:r>
              <a:rPr lang="en-US" altLang="ko-KR" sz="1000">
                <a:ea typeface="굴림" panose="020b0600000101010101" pitchFamily="34" charset="-127"/>
              </a:rPr>
              <a:t>with Suppliers</a:t>
            </a:r>
          </a:p>
        </p:txBody>
      </p:sp>
      <p:sp>
        <p:nvSpPr>
          <p:cNvPr id="27652" name="AutoShape 5">
            <a:extLst>
              <a:ext uri="{FF2B5EF4-FFF2-40B4-BE49-F238E27FC236}">
                <a16:creationId xmlns:a16="http://schemas.microsoft.com/office/drawing/2014/main" id="{360BDAC0-AA7B-3B2A-FCFF-AC00DFAC6659}"/>
              </a:ext>
            </a:extLst>
          </p:cNvPr>
          <p:cNvSpPr>
            <a:spLocks noChangeArrowheads="1"/>
          </p:cNvSpPr>
          <p:nvPr/>
        </p:nvSpPr>
        <p:spPr bwMode="auto">
          <a:xfrm>
            <a:off x="8308975" y="4678363"/>
            <a:ext cx="1325563" cy="817562"/>
          </a:xfrm>
          <a:prstGeom prst="chevron">
            <a:avLst>
              <a:gd name="adj" fmla="val 1804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Continuous Benchmarking of Supply Market</a:t>
            </a:r>
          </a:p>
        </p:txBody>
      </p:sp>
      <p:sp>
        <p:nvSpPr>
          <p:cNvPr id="27653" name="AutoShape 6">
            <a:extLst>
              <a:ext uri="{FF2B5EF4-FFF2-40B4-BE49-F238E27FC236}">
                <a16:creationId xmlns:a16="http://schemas.microsoft.com/office/drawing/2014/main" id="{FC69F77E-AC04-ABD4-5974-88367FBB1AB5}"/>
              </a:ext>
            </a:extLst>
          </p:cNvPr>
          <p:cNvSpPr>
            <a:spLocks noChangeArrowheads="1"/>
          </p:cNvSpPr>
          <p:nvPr/>
        </p:nvSpPr>
        <p:spPr bwMode="auto">
          <a:xfrm>
            <a:off x="925513" y="2216150"/>
            <a:ext cx="1325562" cy="719138"/>
          </a:xfrm>
          <a:prstGeom prst="homePlate">
            <a:avLst>
              <a:gd name="adj" fmla="val 2101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Spend Profiling</a:t>
            </a:r>
          </a:p>
        </p:txBody>
      </p:sp>
      <p:sp>
        <p:nvSpPr>
          <p:cNvPr id="27654" name="AutoShape 7">
            <a:extLst>
              <a:ext uri="{FF2B5EF4-FFF2-40B4-BE49-F238E27FC236}">
                <a16:creationId xmlns:a16="http://schemas.microsoft.com/office/drawing/2014/main" id="{9698D02D-F828-5462-CE0E-159C369821B1}"/>
              </a:ext>
            </a:extLst>
          </p:cNvPr>
          <p:cNvSpPr>
            <a:spLocks noChangeArrowheads="1"/>
          </p:cNvSpPr>
          <p:nvPr/>
        </p:nvSpPr>
        <p:spPr bwMode="auto">
          <a:xfrm>
            <a:off x="2157413" y="2216150"/>
            <a:ext cx="1325562" cy="719138"/>
          </a:xfrm>
          <a:prstGeom prst="chevron">
            <a:avLst>
              <a:gd name="adj" fmla="val 2051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Definition of</a:t>
            </a:r>
            <a:br>
              <a:rPr lang="en-US" altLang="ko-KR" sz="1000">
                <a:ea typeface="굴림" panose="020b0600000101010101" pitchFamily="34" charset="-127"/>
              </a:rPr>
            </a:br>
            <a:r>
              <a:rPr lang="en-US" altLang="ko-KR" sz="1000">
                <a:ea typeface="굴림" panose="020b0600000101010101" pitchFamily="34" charset="-127"/>
              </a:rPr>
              <a:t>Sourcing Strategy</a:t>
            </a:r>
          </a:p>
        </p:txBody>
      </p:sp>
      <p:sp>
        <p:nvSpPr>
          <p:cNvPr id="27655" name="AutoShape 8">
            <a:extLst>
              <a:ext uri="{FF2B5EF4-FFF2-40B4-BE49-F238E27FC236}">
                <a16:creationId xmlns:a16="http://schemas.microsoft.com/office/drawing/2014/main" id="{69DE7B8B-597B-35EE-4F25-44B420B5B075}"/>
              </a:ext>
            </a:extLst>
          </p:cNvPr>
          <p:cNvSpPr>
            <a:spLocks noChangeArrowheads="1"/>
          </p:cNvSpPr>
          <p:nvPr/>
        </p:nvSpPr>
        <p:spPr bwMode="auto">
          <a:xfrm>
            <a:off x="3389313" y="2216150"/>
            <a:ext cx="1323975" cy="719138"/>
          </a:xfrm>
          <a:prstGeom prst="chevron">
            <a:avLst>
              <a:gd name="adj" fmla="val 2049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Supplier Portfolio</a:t>
            </a:r>
            <a:br>
              <a:rPr lang="en-US" altLang="ko-KR" sz="1000">
                <a:ea typeface="굴림" panose="020b0600000101010101" pitchFamily="34" charset="-127"/>
              </a:rPr>
            </a:br>
            <a:r>
              <a:rPr lang="en-US" altLang="ko-KR" sz="1000">
                <a:ea typeface="굴림" panose="020b0600000101010101" pitchFamily="34" charset="-127"/>
              </a:rPr>
              <a:t>Generation</a:t>
            </a:r>
          </a:p>
        </p:txBody>
      </p:sp>
      <p:sp>
        <p:nvSpPr>
          <p:cNvPr id="27656" name="AutoShape 9">
            <a:extLst>
              <a:ext uri="{FF2B5EF4-FFF2-40B4-BE49-F238E27FC236}">
                <a16:creationId xmlns:a16="http://schemas.microsoft.com/office/drawing/2014/main" id="{D59D8F56-C15C-3DA4-19DD-EE00336EB4E0}"/>
              </a:ext>
            </a:extLst>
          </p:cNvPr>
          <p:cNvSpPr>
            <a:spLocks noChangeArrowheads="1"/>
          </p:cNvSpPr>
          <p:nvPr/>
        </p:nvSpPr>
        <p:spPr bwMode="auto">
          <a:xfrm>
            <a:off x="4618038" y="2216150"/>
            <a:ext cx="1323975" cy="719138"/>
          </a:xfrm>
          <a:prstGeom prst="chevron">
            <a:avLst>
              <a:gd name="adj" fmla="val 2049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Selection of</a:t>
            </a:r>
            <a:br>
              <a:rPr lang="en-US" altLang="ko-KR" sz="1000">
                <a:ea typeface="굴림" panose="020b0600000101010101" pitchFamily="34" charset="-127"/>
              </a:rPr>
            </a:br>
            <a:r>
              <a:rPr lang="en-US" altLang="ko-KR" sz="1000">
                <a:ea typeface="굴림" panose="020b0600000101010101" pitchFamily="34" charset="-127"/>
              </a:rPr>
              <a:t>Implemen-</a:t>
            </a:r>
            <a:br>
              <a:rPr lang="en-US" altLang="ko-KR" sz="1000">
                <a:ea typeface="굴림" panose="020b0600000101010101" pitchFamily="34" charset="-127"/>
              </a:rPr>
            </a:br>
            <a:r>
              <a:rPr lang="en-US" altLang="ko-KR" sz="1000">
                <a:ea typeface="굴림" panose="020b0600000101010101" pitchFamily="34" charset="-127"/>
              </a:rPr>
              <a:t>tation Path</a:t>
            </a:r>
          </a:p>
        </p:txBody>
      </p:sp>
      <p:sp>
        <p:nvSpPr>
          <p:cNvPr id="27657" name="AutoShape 10">
            <a:extLst>
              <a:ext uri="{FF2B5EF4-FFF2-40B4-BE49-F238E27FC236}">
                <a16:creationId xmlns:a16="http://schemas.microsoft.com/office/drawing/2014/main" id="{AA00D4DC-0828-A5E8-9D99-8E2078E31ACD}"/>
              </a:ext>
            </a:extLst>
          </p:cNvPr>
          <p:cNvSpPr>
            <a:spLocks noChangeArrowheads="1"/>
          </p:cNvSpPr>
          <p:nvPr/>
        </p:nvSpPr>
        <p:spPr bwMode="auto">
          <a:xfrm>
            <a:off x="5846763" y="2216150"/>
            <a:ext cx="1327150" cy="719138"/>
          </a:xfrm>
          <a:prstGeom prst="chevron">
            <a:avLst>
              <a:gd name="adj" fmla="val 20539"/>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Competitive Supplier</a:t>
            </a:r>
            <a:br>
              <a:rPr lang="en-US" altLang="ko-KR" sz="1000">
                <a:ea typeface="굴림" panose="020b0600000101010101" pitchFamily="34" charset="-127"/>
              </a:rPr>
            </a:br>
            <a:r>
              <a:rPr lang="en-US" altLang="ko-KR" sz="1000">
                <a:ea typeface="굴림" panose="020b0600000101010101" pitchFamily="34" charset="-127"/>
              </a:rPr>
              <a:t>Selection</a:t>
            </a:r>
          </a:p>
        </p:txBody>
      </p:sp>
      <p:sp>
        <p:nvSpPr>
          <p:cNvPr id="27658" name="AutoShape 11">
            <a:extLst>
              <a:ext uri="{FF2B5EF4-FFF2-40B4-BE49-F238E27FC236}">
                <a16:creationId xmlns:a16="http://schemas.microsoft.com/office/drawing/2014/main" id="{8CA95BF8-D12B-B934-4B57-69622F1732BC}"/>
              </a:ext>
            </a:extLst>
          </p:cNvPr>
          <p:cNvSpPr>
            <a:spLocks noChangeArrowheads="1"/>
          </p:cNvSpPr>
          <p:nvPr/>
        </p:nvSpPr>
        <p:spPr bwMode="auto">
          <a:xfrm>
            <a:off x="7078663" y="2216150"/>
            <a:ext cx="1325562" cy="719138"/>
          </a:xfrm>
          <a:prstGeom prst="chevron">
            <a:avLst>
              <a:gd name="adj" fmla="val 2051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Operational Integration</a:t>
            </a:r>
            <a:br>
              <a:rPr lang="en-US" altLang="ko-KR" sz="1000">
                <a:ea typeface="굴림" panose="020b0600000101010101" pitchFamily="34" charset="-127"/>
              </a:rPr>
            </a:br>
            <a:r>
              <a:rPr lang="en-US" altLang="ko-KR" sz="1000">
                <a:ea typeface="굴림" panose="020b0600000101010101" pitchFamily="34" charset="-127"/>
              </a:rPr>
              <a:t>with Suppliers</a:t>
            </a:r>
          </a:p>
        </p:txBody>
      </p:sp>
      <p:sp>
        <p:nvSpPr>
          <p:cNvPr id="27659" name="AutoShape 12">
            <a:extLst>
              <a:ext uri="{FF2B5EF4-FFF2-40B4-BE49-F238E27FC236}">
                <a16:creationId xmlns:a16="http://schemas.microsoft.com/office/drawing/2014/main" id="{2B66EBB4-1C94-F677-58F8-D13417B91869}"/>
              </a:ext>
            </a:extLst>
          </p:cNvPr>
          <p:cNvSpPr>
            <a:spLocks noChangeArrowheads="1"/>
          </p:cNvSpPr>
          <p:nvPr/>
        </p:nvSpPr>
        <p:spPr bwMode="auto">
          <a:xfrm>
            <a:off x="8308975" y="2216150"/>
            <a:ext cx="1325563" cy="719138"/>
          </a:xfrm>
          <a:prstGeom prst="chevron">
            <a:avLst>
              <a:gd name="adj" fmla="val 2051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Continuous Benchmarking of Supply Market</a:t>
            </a:r>
          </a:p>
        </p:txBody>
      </p:sp>
      <p:cxnSp>
        <p:nvCxnSpPr>
          <p:cNvPr id="27660" name="AutoShape 13">
            <a:extLst>
              <a:ext uri="{FF2B5EF4-FFF2-40B4-BE49-F238E27FC236}">
                <a16:creationId xmlns:a16="http://schemas.microsoft.com/office/drawing/2014/main" id="{0489F63A-8BA5-0066-DE27-8597E60E8C80}"/>
              </a:ext>
            </a:extLst>
          </p:cNvPr>
          <p:cNvCxnSpPr>
            <a:cxnSpLocks noChangeShapeType="1"/>
          </p:cNvCxnSpPr>
          <p:nvPr/>
        </p:nvCxnSpPr>
        <p:spPr bwMode="auto">
          <a:xfrm flipH="1">
            <a:off x="854075" y="2439988"/>
            <a:ext cx="0" cy="248285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1" name="Rectangle 14">
            <a:extLst>
              <a:ext uri="{FF2B5EF4-FFF2-40B4-BE49-F238E27FC236}">
                <a16:creationId xmlns:a16="http://schemas.microsoft.com/office/drawing/2014/main" id="{F2DA7704-12BC-0418-518F-275A1718B83E}"/>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The CRA approach can be integrated without frictions and significant additional effort into the regular approach</a:t>
            </a:r>
          </a:p>
        </p:txBody>
      </p:sp>
      <p:sp>
        <p:nvSpPr>
          <p:cNvPr id="27662" name="Rectangle 15">
            <a:extLst>
              <a:ext uri="{FF2B5EF4-FFF2-40B4-BE49-F238E27FC236}">
                <a16:creationId xmlns:a16="http://schemas.microsoft.com/office/drawing/2014/main" id="{E2A34D5F-7277-876B-BE48-CF2768CE27DA}"/>
              </a:ext>
            </a:extLst>
          </p:cNvPr>
          <p:cNvSpPr>
            <a:spLocks noChangeArrowheads="1"/>
          </p:cNvSpPr>
          <p:nvPr/>
        </p:nvSpPr>
        <p:spPr bwMode="auto">
          <a:xfrm>
            <a:off x="7823200" y="239713"/>
            <a:ext cx="1820863"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Approach and Deliverables</a:t>
            </a:r>
          </a:p>
        </p:txBody>
      </p:sp>
      <p:sp>
        <p:nvSpPr>
          <p:cNvPr id="27663" name="Oval 16">
            <a:extLst>
              <a:ext uri="{FF2B5EF4-FFF2-40B4-BE49-F238E27FC236}">
                <a16:creationId xmlns:a16="http://schemas.microsoft.com/office/drawing/2014/main" id="{8B904B51-C5B4-136F-B1ED-7E182C52F1A9}"/>
              </a:ext>
            </a:extLst>
          </p:cNvPr>
          <p:cNvSpPr>
            <a:spLocks noChangeArrowheads="1"/>
          </p:cNvSpPr>
          <p:nvPr/>
        </p:nvSpPr>
        <p:spPr bwMode="auto">
          <a:xfrm>
            <a:off x="808038" y="20970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1</a:t>
            </a:r>
          </a:p>
        </p:txBody>
      </p:sp>
      <p:sp>
        <p:nvSpPr>
          <p:cNvPr id="27664" name="Oval 17">
            <a:extLst>
              <a:ext uri="{FF2B5EF4-FFF2-40B4-BE49-F238E27FC236}">
                <a16:creationId xmlns:a16="http://schemas.microsoft.com/office/drawing/2014/main" id="{C701A2D0-B885-980C-2240-C08696901883}"/>
              </a:ext>
            </a:extLst>
          </p:cNvPr>
          <p:cNvSpPr>
            <a:spLocks noChangeArrowheads="1"/>
          </p:cNvSpPr>
          <p:nvPr/>
        </p:nvSpPr>
        <p:spPr bwMode="auto">
          <a:xfrm>
            <a:off x="2101850" y="2097088"/>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2</a:t>
            </a:r>
          </a:p>
        </p:txBody>
      </p:sp>
      <p:sp>
        <p:nvSpPr>
          <p:cNvPr id="27665" name="Oval 18">
            <a:extLst>
              <a:ext uri="{FF2B5EF4-FFF2-40B4-BE49-F238E27FC236}">
                <a16:creationId xmlns:a16="http://schemas.microsoft.com/office/drawing/2014/main" id="{A2D91E0A-A6AE-A0E1-67A1-0BA97BDDFBF6}"/>
              </a:ext>
            </a:extLst>
          </p:cNvPr>
          <p:cNvSpPr>
            <a:spLocks noChangeArrowheads="1"/>
          </p:cNvSpPr>
          <p:nvPr/>
        </p:nvSpPr>
        <p:spPr bwMode="auto">
          <a:xfrm>
            <a:off x="3336925" y="2097088"/>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3</a:t>
            </a:r>
          </a:p>
        </p:txBody>
      </p:sp>
      <p:sp>
        <p:nvSpPr>
          <p:cNvPr id="27666" name="Oval 19">
            <a:extLst>
              <a:ext uri="{FF2B5EF4-FFF2-40B4-BE49-F238E27FC236}">
                <a16:creationId xmlns:a16="http://schemas.microsoft.com/office/drawing/2014/main" id="{30BFAA50-32C1-E85C-9136-2544126C4815}"/>
              </a:ext>
            </a:extLst>
          </p:cNvPr>
          <p:cNvSpPr>
            <a:spLocks noChangeArrowheads="1"/>
          </p:cNvSpPr>
          <p:nvPr/>
        </p:nvSpPr>
        <p:spPr bwMode="auto">
          <a:xfrm>
            <a:off x="4572000" y="2097088"/>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4</a:t>
            </a:r>
          </a:p>
        </p:txBody>
      </p:sp>
      <p:sp>
        <p:nvSpPr>
          <p:cNvPr id="27667" name="Oval 20">
            <a:extLst>
              <a:ext uri="{FF2B5EF4-FFF2-40B4-BE49-F238E27FC236}">
                <a16:creationId xmlns:a16="http://schemas.microsoft.com/office/drawing/2014/main" id="{CDC51B1B-9017-4E22-797C-9536B528A233}"/>
              </a:ext>
            </a:extLst>
          </p:cNvPr>
          <p:cNvSpPr>
            <a:spLocks noChangeArrowheads="1"/>
          </p:cNvSpPr>
          <p:nvPr/>
        </p:nvSpPr>
        <p:spPr bwMode="auto">
          <a:xfrm>
            <a:off x="5807075" y="20970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5</a:t>
            </a:r>
          </a:p>
        </p:txBody>
      </p:sp>
      <p:sp>
        <p:nvSpPr>
          <p:cNvPr id="27668" name="Oval 21">
            <a:extLst>
              <a:ext uri="{FF2B5EF4-FFF2-40B4-BE49-F238E27FC236}">
                <a16:creationId xmlns:a16="http://schemas.microsoft.com/office/drawing/2014/main" id="{479B270D-A64C-5366-CDC9-F9EB36CECD8F}"/>
              </a:ext>
            </a:extLst>
          </p:cNvPr>
          <p:cNvSpPr>
            <a:spLocks noChangeArrowheads="1"/>
          </p:cNvSpPr>
          <p:nvPr/>
        </p:nvSpPr>
        <p:spPr bwMode="auto">
          <a:xfrm>
            <a:off x="7042150" y="20970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6</a:t>
            </a:r>
          </a:p>
        </p:txBody>
      </p:sp>
      <p:sp>
        <p:nvSpPr>
          <p:cNvPr id="27669" name="Oval 22">
            <a:extLst>
              <a:ext uri="{FF2B5EF4-FFF2-40B4-BE49-F238E27FC236}">
                <a16:creationId xmlns:a16="http://schemas.microsoft.com/office/drawing/2014/main" id="{C1A29C78-DEF5-C7B0-8927-2D0625B9FEDB}"/>
              </a:ext>
            </a:extLst>
          </p:cNvPr>
          <p:cNvSpPr>
            <a:spLocks noChangeArrowheads="1"/>
          </p:cNvSpPr>
          <p:nvPr/>
        </p:nvSpPr>
        <p:spPr bwMode="auto">
          <a:xfrm>
            <a:off x="8278813" y="20970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7</a:t>
            </a:r>
          </a:p>
        </p:txBody>
      </p:sp>
      <p:sp>
        <p:nvSpPr>
          <p:cNvPr id="27670" name="Text Box 23">
            <a:extLst>
              <a:ext uri="{FF2B5EF4-FFF2-40B4-BE49-F238E27FC236}">
                <a16:creationId xmlns:a16="http://schemas.microsoft.com/office/drawing/2014/main" id="{5AF6999F-1FDE-2916-940A-046519A1D233}"/>
              </a:ext>
            </a:extLst>
          </p:cNvPr>
          <p:cNvSpPr txBox="1">
            <a:spLocks noChangeArrowheads="1"/>
          </p:cNvSpPr>
          <p:nvPr/>
        </p:nvSpPr>
        <p:spPr bwMode="auto">
          <a:xfrm>
            <a:off x="246063" y="2479675"/>
            <a:ext cx="682625" cy="1920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200" i="1">
                <a:ea typeface="굴림" panose="020b0600000101010101" pitchFamily="34" charset="-127"/>
              </a:rPr>
              <a:t>7-Step-Sour-cing</a:t>
            </a:r>
          </a:p>
        </p:txBody>
      </p:sp>
      <p:sp>
        <p:nvSpPr>
          <p:cNvPr id="27671" name="AutoShape 24">
            <a:extLst>
              <a:ext uri="{FF2B5EF4-FFF2-40B4-BE49-F238E27FC236}">
                <a16:creationId xmlns:a16="http://schemas.microsoft.com/office/drawing/2014/main" id="{B596AF66-67E5-B16C-758C-B8060F9BD7F4}"/>
              </a:ext>
            </a:extLst>
          </p:cNvPr>
          <p:cNvSpPr>
            <a:spLocks noChangeArrowheads="1"/>
          </p:cNvSpPr>
          <p:nvPr/>
        </p:nvSpPr>
        <p:spPr bwMode="auto">
          <a:xfrm>
            <a:off x="925513" y="3376613"/>
            <a:ext cx="1289050" cy="719137"/>
          </a:xfrm>
          <a:prstGeom prst="homePlate">
            <a:avLst>
              <a:gd name="adj" fmla="val 20431"/>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Define scope of analysis</a:t>
            </a:r>
          </a:p>
        </p:txBody>
      </p:sp>
      <p:sp>
        <p:nvSpPr>
          <p:cNvPr id="27672" name="AutoShape 25">
            <a:extLst>
              <a:ext uri="{FF2B5EF4-FFF2-40B4-BE49-F238E27FC236}">
                <a16:creationId xmlns:a16="http://schemas.microsoft.com/office/drawing/2014/main" id="{EA9FC2FB-93A8-D507-D004-1BE664AFF546}"/>
              </a:ext>
            </a:extLst>
          </p:cNvPr>
          <p:cNvSpPr>
            <a:spLocks noChangeArrowheads="1"/>
          </p:cNvSpPr>
          <p:nvPr/>
        </p:nvSpPr>
        <p:spPr bwMode="auto">
          <a:xfrm>
            <a:off x="2163763" y="3376613"/>
            <a:ext cx="1289050" cy="719137"/>
          </a:xfrm>
          <a:prstGeom prst="chevron">
            <a:avLst>
              <a:gd name="adj" fmla="val 1995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Capture technical and commercial data</a:t>
            </a:r>
          </a:p>
        </p:txBody>
      </p:sp>
      <p:sp>
        <p:nvSpPr>
          <p:cNvPr id="27673" name="AutoShape 26">
            <a:extLst>
              <a:ext uri="{FF2B5EF4-FFF2-40B4-BE49-F238E27FC236}">
                <a16:creationId xmlns:a16="http://schemas.microsoft.com/office/drawing/2014/main" id="{17F5170E-8FE5-D29D-FFD1-2DF8F6CEDE60}"/>
              </a:ext>
            </a:extLst>
          </p:cNvPr>
          <p:cNvSpPr>
            <a:spLocks noChangeArrowheads="1"/>
          </p:cNvSpPr>
          <p:nvPr/>
        </p:nvSpPr>
        <p:spPr bwMode="auto">
          <a:xfrm>
            <a:off x="3400425" y="3376613"/>
            <a:ext cx="1287463" cy="719137"/>
          </a:xfrm>
          <a:prstGeom prst="chevron">
            <a:avLst>
              <a:gd name="adj" fmla="val 1992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Set-up and validate regression model</a:t>
            </a:r>
          </a:p>
        </p:txBody>
      </p:sp>
      <p:sp>
        <p:nvSpPr>
          <p:cNvPr id="27674" name="AutoShape 27">
            <a:extLst>
              <a:ext uri="{FF2B5EF4-FFF2-40B4-BE49-F238E27FC236}">
                <a16:creationId xmlns:a16="http://schemas.microsoft.com/office/drawing/2014/main" id="{47C09E78-181A-6D01-762F-FD48DDB13078}"/>
              </a:ext>
            </a:extLst>
          </p:cNvPr>
          <p:cNvSpPr>
            <a:spLocks noChangeArrowheads="1"/>
          </p:cNvSpPr>
          <p:nvPr/>
        </p:nvSpPr>
        <p:spPr bwMode="auto">
          <a:xfrm>
            <a:off x="4637088" y="3376613"/>
            <a:ext cx="1287462" cy="719137"/>
          </a:xfrm>
          <a:prstGeom prst="chevron">
            <a:avLst>
              <a:gd name="adj" fmla="val 1992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ea typeface="굴림" panose="020b0600000101010101" pitchFamily="34" charset="-127"/>
              </a:rPr>
              <a:t>Evaluate and define savings potential</a:t>
            </a:r>
          </a:p>
        </p:txBody>
      </p:sp>
      <p:sp>
        <p:nvSpPr>
          <p:cNvPr id="27675" name="Oval 28">
            <a:extLst>
              <a:ext uri="{FF2B5EF4-FFF2-40B4-BE49-F238E27FC236}">
                <a16:creationId xmlns:a16="http://schemas.microsoft.com/office/drawing/2014/main" id="{22D1D5D8-D194-5B52-B98C-927359D4A714}"/>
              </a:ext>
            </a:extLst>
          </p:cNvPr>
          <p:cNvSpPr>
            <a:spLocks noChangeArrowheads="1"/>
          </p:cNvSpPr>
          <p:nvPr/>
        </p:nvSpPr>
        <p:spPr bwMode="auto">
          <a:xfrm>
            <a:off x="808038" y="3257550"/>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1</a:t>
            </a:r>
          </a:p>
        </p:txBody>
      </p:sp>
      <p:sp>
        <p:nvSpPr>
          <p:cNvPr id="27676" name="Oval 29">
            <a:extLst>
              <a:ext uri="{FF2B5EF4-FFF2-40B4-BE49-F238E27FC236}">
                <a16:creationId xmlns:a16="http://schemas.microsoft.com/office/drawing/2014/main" id="{67437005-9B20-D49F-3F41-5BB069EB27F4}"/>
              </a:ext>
            </a:extLst>
          </p:cNvPr>
          <p:cNvSpPr>
            <a:spLocks noChangeArrowheads="1"/>
          </p:cNvSpPr>
          <p:nvPr/>
        </p:nvSpPr>
        <p:spPr bwMode="auto">
          <a:xfrm>
            <a:off x="2101850" y="3257550"/>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2</a:t>
            </a:r>
          </a:p>
        </p:txBody>
      </p:sp>
      <p:sp>
        <p:nvSpPr>
          <p:cNvPr id="27677" name="Text Box 30">
            <a:extLst>
              <a:ext uri="{FF2B5EF4-FFF2-40B4-BE49-F238E27FC236}">
                <a16:creationId xmlns:a16="http://schemas.microsoft.com/office/drawing/2014/main" id="{C1325A24-095B-FEC0-1FB7-379A19008AAF}"/>
              </a:ext>
            </a:extLst>
          </p:cNvPr>
          <p:cNvSpPr txBox="1">
            <a:spLocks noChangeArrowheads="1"/>
          </p:cNvSpPr>
          <p:nvPr/>
        </p:nvSpPr>
        <p:spPr bwMode="auto">
          <a:xfrm>
            <a:off x="282575" y="3619500"/>
            <a:ext cx="328613"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i="1">
                <a:ea typeface="굴림" panose="020b0600000101010101" pitchFamily="34" charset="-127"/>
              </a:rPr>
              <a:t>CRA</a:t>
            </a:r>
          </a:p>
        </p:txBody>
      </p:sp>
      <p:sp>
        <p:nvSpPr>
          <p:cNvPr id="27678" name="AutoShape 31">
            <a:extLst>
              <a:ext uri="{FF2B5EF4-FFF2-40B4-BE49-F238E27FC236}">
                <a16:creationId xmlns:a16="http://schemas.microsoft.com/office/drawing/2014/main" id="{CD98FA7A-922E-BCEA-BFEB-9F4E7ED074FF}"/>
              </a:ext>
            </a:extLst>
          </p:cNvPr>
          <p:cNvSpPr>
            <a:spLocks noChangeArrowheads="1"/>
          </p:cNvSpPr>
          <p:nvPr/>
        </p:nvSpPr>
        <p:spPr bwMode="auto">
          <a:xfrm>
            <a:off x="5892800" y="3376613"/>
            <a:ext cx="1268413" cy="719137"/>
          </a:xfrm>
          <a:prstGeom prst="star16">
            <a:avLst>
              <a:gd name="adj" fmla="val 37500"/>
            </a:avLst>
          </a:prstGeom>
          <a:solidFill>
            <a:srgbClr val="0070C0"/>
          </a:solidFill>
          <a:ln w="9525" algn="ctr">
            <a:solidFill>
              <a:srgbClr val="0070C0"/>
            </a:solidFill>
            <a:miter lim="800000"/>
          </a:ln>
        </p:spPr>
        <p:txBody>
          <a:bodyPr lIns="0" tIns="7200" rIns="0" bIns="7200" anchor="ctr"/>
          <a:lstStyle>
            <a:lvl1pPr defTabSz="85566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28625" indent="-190500" defTabSz="85566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55663" indent="-163513" defTabSz="85566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284288" indent="-168275" defTabSz="8556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711325" indent="-160338" defTabSz="85566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685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257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829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401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000">
                <a:solidFill>
                  <a:schemeClr val="bg1"/>
                </a:solidFill>
                <a:ea typeface="굴림" panose="020b0600000101010101" pitchFamily="34" charset="-127"/>
              </a:rPr>
              <a:t>Nego-tiation</a:t>
            </a:r>
          </a:p>
        </p:txBody>
      </p:sp>
      <p:sp>
        <p:nvSpPr>
          <p:cNvPr id="27679" name="AutoShape 32">
            <a:extLst>
              <a:ext uri="{FF2B5EF4-FFF2-40B4-BE49-F238E27FC236}">
                <a16:creationId xmlns:a16="http://schemas.microsoft.com/office/drawing/2014/main" id="{F66F57D4-4958-E2B9-ED1C-ADC9892CD9AF}"/>
              </a:ext>
            </a:extLst>
          </p:cNvPr>
          <p:cNvSpPr>
            <a:spLocks noChangeArrowheads="1"/>
          </p:cNvSpPr>
          <p:nvPr/>
        </p:nvSpPr>
        <p:spPr bwMode="auto">
          <a:xfrm>
            <a:off x="2163763" y="4678363"/>
            <a:ext cx="1289050" cy="817562"/>
          </a:xfrm>
          <a:prstGeom prst="chevron">
            <a:avLst>
              <a:gd name="adj" fmla="val 1754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40000"/>
              </a:spcBef>
              <a:buClrTx/>
              <a:buFontTx/>
              <a:buNone/>
            </a:pPr>
            <a:r>
              <a:rPr lang="en-US" altLang="ko-KR" sz="1000">
                <a:ea typeface="굴림" panose="020b0600000101010101" pitchFamily="34" charset="-127"/>
              </a:rPr>
              <a:t>Definition of Sourcing Strategy</a:t>
            </a:r>
          </a:p>
          <a:p>
            <a:pPr algn="ctr">
              <a:lnSpc>
                <a:spcPct val="80000"/>
              </a:lnSpc>
              <a:spcBef>
                <a:spcPct val="40000"/>
              </a:spcBef>
              <a:buClrTx/>
              <a:buFontTx/>
              <a:buNone/>
            </a:pPr>
            <a:r>
              <a:rPr lang="en-US" altLang="ko-KR" sz="1000">
                <a:ea typeface="굴림" panose="020b0600000101010101" pitchFamily="34" charset="-127"/>
              </a:rPr>
              <a:t>Set-up CRA models</a:t>
            </a:r>
          </a:p>
        </p:txBody>
      </p:sp>
      <p:sp>
        <p:nvSpPr>
          <p:cNvPr id="27680" name="Oval 33">
            <a:extLst>
              <a:ext uri="{FF2B5EF4-FFF2-40B4-BE49-F238E27FC236}">
                <a16:creationId xmlns:a16="http://schemas.microsoft.com/office/drawing/2014/main" id="{C2DA9693-D565-3694-180E-ED97B7EFE6FD}"/>
              </a:ext>
            </a:extLst>
          </p:cNvPr>
          <p:cNvSpPr>
            <a:spLocks noChangeArrowheads="1"/>
          </p:cNvSpPr>
          <p:nvPr/>
        </p:nvSpPr>
        <p:spPr bwMode="auto">
          <a:xfrm>
            <a:off x="808038" y="45735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1</a:t>
            </a:r>
          </a:p>
        </p:txBody>
      </p:sp>
      <p:sp>
        <p:nvSpPr>
          <p:cNvPr id="27681" name="Oval 34">
            <a:extLst>
              <a:ext uri="{FF2B5EF4-FFF2-40B4-BE49-F238E27FC236}">
                <a16:creationId xmlns:a16="http://schemas.microsoft.com/office/drawing/2014/main" id="{FD5BECD4-4323-ACF6-BA19-FEAC022786CD}"/>
              </a:ext>
            </a:extLst>
          </p:cNvPr>
          <p:cNvSpPr>
            <a:spLocks noChangeArrowheads="1"/>
          </p:cNvSpPr>
          <p:nvPr/>
        </p:nvSpPr>
        <p:spPr bwMode="auto">
          <a:xfrm>
            <a:off x="2101850" y="4573588"/>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2</a:t>
            </a:r>
          </a:p>
        </p:txBody>
      </p:sp>
      <p:sp>
        <p:nvSpPr>
          <p:cNvPr id="27682" name="Oval 35">
            <a:extLst>
              <a:ext uri="{FF2B5EF4-FFF2-40B4-BE49-F238E27FC236}">
                <a16:creationId xmlns:a16="http://schemas.microsoft.com/office/drawing/2014/main" id="{F0B63C71-D3A6-B0C1-689F-A787FB0FA463}"/>
              </a:ext>
            </a:extLst>
          </p:cNvPr>
          <p:cNvSpPr>
            <a:spLocks noChangeArrowheads="1"/>
          </p:cNvSpPr>
          <p:nvPr/>
        </p:nvSpPr>
        <p:spPr bwMode="auto">
          <a:xfrm>
            <a:off x="5807075" y="45735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5</a:t>
            </a:r>
          </a:p>
        </p:txBody>
      </p:sp>
      <p:sp>
        <p:nvSpPr>
          <p:cNvPr id="27683" name="Oval 36">
            <a:extLst>
              <a:ext uri="{FF2B5EF4-FFF2-40B4-BE49-F238E27FC236}">
                <a16:creationId xmlns:a16="http://schemas.microsoft.com/office/drawing/2014/main" id="{CDFE4A4D-2A10-A759-AA51-9B0314FA2509}"/>
              </a:ext>
            </a:extLst>
          </p:cNvPr>
          <p:cNvSpPr>
            <a:spLocks noChangeArrowheads="1"/>
          </p:cNvSpPr>
          <p:nvPr/>
        </p:nvSpPr>
        <p:spPr bwMode="auto">
          <a:xfrm>
            <a:off x="7042150" y="45735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6</a:t>
            </a:r>
          </a:p>
        </p:txBody>
      </p:sp>
      <p:sp>
        <p:nvSpPr>
          <p:cNvPr id="27684" name="Oval 37">
            <a:extLst>
              <a:ext uri="{FF2B5EF4-FFF2-40B4-BE49-F238E27FC236}">
                <a16:creationId xmlns:a16="http://schemas.microsoft.com/office/drawing/2014/main" id="{A2531403-F755-1175-3F33-E9D1E4910CE5}"/>
              </a:ext>
            </a:extLst>
          </p:cNvPr>
          <p:cNvSpPr>
            <a:spLocks noChangeArrowheads="1"/>
          </p:cNvSpPr>
          <p:nvPr/>
        </p:nvSpPr>
        <p:spPr bwMode="auto">
          <a:xfrm>
            <a:off x="8278813" y="4573588"/>
            <a:ext cx="234950"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7</a:t>
            </a:r>
          </a:p>
        </p:txBody>
      </p:sp>
      <p:sp>
        <p:nvSpPr>
          <p:cNvPr id="27685" name="AutoShape 38">
            <a:extLst>
              <a:ext uri="{FF2B5EF4-FFF2-40B4-BE49-F238E27FC236}">
                <a16:creationId xmlns:a16="http://schemas.microsoft.com/office/drawing/2014/main" id="{1D4BA83C-1D39-48E9-FC1B-7C4688BD78B3}"/>
              </a:ext>
            </a:extLst>
          </p:cNvPr>
          <p:cNvSpPr>
            <a:spLocks noChangeArrowheads="1"/>
          </p:cNvSpPr>
          <p:nvPr/>
        </p:nvSpPr>
        <p:spPr bwMode="auto">
          <a:xfrm flipV="1">
            <a:off x="3309938" y="4259263"/>
            <a:ext cx="3938587" cy="304800"/>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7686" name="Line 39">
            <a:extLst>
              <a:ext uri="{FF2B5EF4-FFF2-40B4-BE49-F238E27FC236}">
                <a16:creationId xmlns:a16="http://schemas.microsoft.com/office/drawing/2014/main" id="{2DEF0433-2A17-F5A4-D185-79FE8A87AF4C}"/>
              </a:ext>
            </a:extLst>
          </p:cNvPr>
          <p:cNvSpPr>
            <a:spLocks noChangeShapeType="1"/>
          </p:cNvSpPr>
          <p:nvPr/>
        </p:nvSpPr>
        <p:spPr bwMode="auto">
          <a:xfrm>
            <a:off x="2065338" y="2935288"/>
            <a:ext cx="1227137" cy="44132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7687" name="Line 40">
            <a:extLst>
              <a:ext uri="{FF2B5EF4-FFF2-40B4-BE49-F238E27FC236}">
                <a16:creationId xmlns:a16="http://schemas.microsoft.com/office/drawing/2014/main" id="{C00813B2-3007-AF0A-1D33-9B2577CD59FD}"/>
              </a:ext>
            </a:extLst>
          </p:cNvPr>
          <p:cNvSpPr>
            <a:spLocks noChangeShapeType="1"/>
          </p:cNvSpPr>
          <p:nvPr/>
        </p:nvSpPr>
        <p:spPr bwMode="auto">
          <a:xfrm>
            <a:off x="2168525" y="2935288"/>
            <a:ext cx="1263650" cy="44132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7688" name="Line 41">
            <a:extLst>
              <a:ext uri="{FF2B5EF4-FFF2-40B4-BE49-F238E27FC236}">
                <a16:creationId xmlns:a16="http://schemas.microsoft.com/office/drawing/2014/main" id="{C9B8EC0B-95D0-2841-878F-F05647B80832}"/>
              </a:ext>
            </a:extLst>
          </p:cNvPr>
          <p:cNvSpPr>
            <a:spLocks noChangeShapeType="1"/>
          </p:cNvSpPr>
          <p:nvPr/>
        </p:nvSpPr>
        <p:spPr bwMode="auto">
          <a:xfrm>
            <a:off x="3292475" y="2935288"/>
            <a:ext cx="1263650" cy="44132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7689" name="Line 42">
            <a:extLst>
              <a:ext uri="{FF2B5EF4-FFF2-40B4-BE49-F238E27FC236}">
                <a16:creationId xmlns:a16="http://schemas.microsoft.com/office/drawing/2014/main" id="{4745D501-880E-0D85-0C00-8116F2410602}"/>
              </a:ext>
            </a:extLst>
          </p:cNvPr>
          <p:cNvSpPr>
            <a:spLocks noChangeShapeType="1"/>
          </p:cNvSpPr>
          <p:nvPr/>
        </p:nvSpPr>
        <p:spPr bwMode="auto">
          <a:xfrm>
            <a:off x="3405188" y="2935288"/>
            <a:ext cx="1231900" cy="44132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7690" name="Line 43">
            <a:extLst>
              <a:ext uri="{FF2B5EF4-FFF2-40B4-BE49-F238E27FC236}">
                <a16:creationId xmlns:a16="http://schemas.microsoft.com/office/drawing/2014/main" id="{16AC85B9-5B8D-1EAE-8212-03BEC0506E1B}"/>
              </a:ext>
            </a:extLst>
          </p:cNvPr>
          <p:cNvSpPr>
            <a:spLocks noChangeShapeType="1"/>
          </p:cNvSpPr>
          <p:nvPr/>
        </p:nvSpPr>
        <p:spPr bwMode="auto">
          <a:xfrm>
            <a:off x="4527550" y="2935288"/>
            <a:ext cx="1265238" cy="44132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7691" name="Oval 44">
            <a:extLst>
              <a:ext uri="{FF2B5EF4-FFF2-40B4-BE49-F238E27FC236}">
                <a16:creationId xmlns:a16="http://schemas.microsoft.com/office/drawing/2014/main" id="{D9431C1F-5014-22CB-BFF6-1A82171C5C1B}"/>
              </a:ext>
            </a:extLst>
          </p:cNvPr>
          <p:cNvSpPr>
            <a:spLocks noChangeArrowheads="1"/>
          </p:cNvSpPr>
          <p:nvPr/>
        </p:nvSpPr>
        <p:spPr bwMode="auto">
          <a:xfrm>
            <a:off x="3336925" y="3257550"/>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3</a:t>
            </a:r>
          </a:p>
        </p:txBody>
      </p:sp>
      <p:sp>
        <p:nvSpPr>
          <p:cNvPr id="27692" name="Oval 45">
            <a:extLst>
              <a:ext uri="{FF2B5EF4-FFF2-40B4-BE49-F238E27FC236}">
                <a16:creationId xmlns:a16="http://schemas.microsoft.com/office/drawing/2014/main" id="{AF60B5E3-CEC4-72E5-AB18-E11A96976FE9}"/>
              </a:ext>
            </a:extLst>
          </p:cNvPr>
          <p:cNvSpPr>
            <a:spLocks noChangeArrowheads="1"/>
          </p:cNvSpPr>
          <p:nvPr/>
        </p:nvSpPr>
        <p:spPr bwMode="auto">
          <a:xfrm>
            <a:off x="4572000" y="3257550"/>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4</a:t>
            </a:r>
          </a:p>
        </p:txBody>
      </p:sp>
      <p:cxnSp>
        <p:nvCxnSpPr>
          <p:cNvPr id="27693" name="AutoShape 46">
            <a:extLst>
              <a:ext uri="{FF2B5EF4-FFF2-40B4-BE49-F238E27FC236}">
                <a16:creationId xmlns:a16="http://schemas.microsoft.com/office/drawing/2014/main" id="{C46AD3C4-7394-0486-954E-9D33B3AF14B0}"/>
              </a:ext>
            </a:extLst>
          </p:cNvPr>
          <p:cNvCxnSpPr>
            <a:cxnSpLocks noChangeShapeType="1"/>
            <a:stCxn id="27679" idx="1"/>
            <a:endCxn id="27679" idx="3"/>
          </p:cNvCxnSpPr>
          <p:nvPr/>
        </p:nvCxnSpPr>
        <p:spPr bwMode="auto">
          <a:xfrm>
            <a:off x="2306638" y="5087938"/>
            <a:ext cx="1146175" cy="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94" name="AutoShape 47">
            <a:extLst>
              <a:ext uri="{FF2B5EF4-FFF2-40B4-BE49-F238E27FC236}">
                <a16:creationId xmlns:a16="http://schemas.microsoft.com/office/drawing/2014/main" id="{8AF51B64-6F56-3ECE-A0F9-1C2B5C7D9128}"/>
              </a:ext>
            </a:extLst>
          </p:cNvPr>
          <p:cNvSpPr>
            <a:spLocks noChangeArrowheads="1"/>
          </p:cNvSpPr>
          <p:nvPr/>
        </p:nvSpPr>
        <p:spPr bwMode="auto">
          <a:xfrm>
            <a:off x="3400425" y="4678363"/>
            <a:ext cx="1289050" cy="817562"/>
          </a:xfrm>
          <a:prstGeom prst="chevron">
            <a:avLst>
              <a:gd name="adj" fmla="val 1754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40000"/>
              </a:spcBef>
              <a:buClrTx/>
              <a:buFontTx/>
              <a:buNone/>
            </a:pPr>
            <a:r>
              <a:rPr lang="en-US" altLang="ko-KR" sz="1000">
                <a:ea typeface="굴림" panose="020b0600000101010101" pitchFamily="34" charset="-127"/>
              </a:rPr>
              <a:t>Supplier Portfolio Generation</a:t>
            </a:r>
          </a:p>
          <a:p>
            <a:pPr algn="ctr">
              <a:lnSpc>
                <a:spcPct val="80000"/>
              </a:lnSpc>
              <a:spcBef>
                <a:spcPct val="40000"/>
              </a:spcBef>
              <a:buClrTx/>
              <a:buFontTx/>
              <a:buNone/>
            </a:pPr>
            <a:r>
              <a:rPr lang="en-US" altLang="ko-KR" sz="1000">
                <a:ea typeface="굴림" panose="020b0600000101010101" pitchFamily="34" charset="-127"/>
              </a:rPr>
              <a:t>Evaluate sa-vings potent.</a:t>
            </a:r>
          </a:p>
        </p:txBody>
      </p:sp>
      <p:sp>
        <p:nvSpPr>
          <p:cNvPr id="27695" name="Oval 48">
            <a:extLst>
              <a:ext uri="{FF2B5EF4-FFF2-40B4-BE49-F238E27FC236}">
                <a16:creationId xmlns:a16="http://schemas.microsoft.com/office/drawing/2014/main" id="{58AC7377-4927-E23D-2C03-356EE50DDFBF}"/>
              </a:ext>
            </a:extLst>
          </p:cNvPr>
          <p:cNvSpPr>
            <a:spLocks noChangeArrowheads="1"/>
          </p:cNvSpPr>
          <p:nvPr/>
        </p:nvSpPr>
        <p:spPr bwMode="auto">
          <a:xfrm>
            <a:off x="3336925" y="4573588"/>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3</a:t>
            </a:r>
          </a:p>
        </p:txBody>
      </p:sp>
      <p:cxnSp>
        <p:nvCxnSpPr>
          <p:cNvPr id="27696" name="AutoShape 49">
            <a:extLst>
              <a:ext uri="{FF2B5EF4-FFF2-40B4-BE49-F238E27FC236}">
                <a16:creationId xmlns:a16="http://schemas.microsoft.com/office/drawing/2014/main" id="{F46F1752-F46F-8D31-CB15-17B3E13434B4}"/>
              </a:ext>
            </a:extLst>
          </p:cNvPr>
          <p:cNvCxnSpPr>
            <a:cxnSpLocks noChangeShapeType="1"/>
            <a:stCxn id="27694" idx="1"/>
            <a:endCxn id="27694" idx="3"/>
          </p:cNvCxnSpPr>
          <p:nvPr/>
        </p:nvCxnSpPr>
        <p:spPr bwMode="auto">
          <a:xfrm>
            <a:off x="3543300" y="5087938"/>
            <a:ext cx="1146175" cy="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97" name="AutoShape 50">
            <a:extLst>
              <a:ext uri="{FF2B5EF4-FFF2-40B4-BE49-F238E27FC236}">
                <a16:creationId xmlns:a16="http://schemas.microsoft.com/office/drawing/2014/main" id="{8B6C864F-FF17-3F66-B210-F3A0B7CC4CF0}"/>
              </a:ext>
            </a:extLst>
          </p:cNvPr>
          <p:cNvSpPr>
            <a:spLocks noChangeArrowheads="1"/>
          </p:cNvSpPr>
          <p:nvPr/>
        </p:nvSpPr>
        <p:spPr bwMode="auto">
          <a:xfrm>
            <a:off x="4637088" y="4678363"/>
            <a:ext cx="1289050" cy="817562"/>
          </a:xfrm>
          <a:prstGeom prst="chevron">
            <a:avLst>
              <a:gd name="adj" fmla="val 1754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40000"/>
              </a:spcBef>
              <a:buClrTx/>
              <a:buFontTx/>
              <a:buNone/>
            </a:pPr>
            <a:r>
              <a:rPr lang="en-US" altLang="ko-KR" sz="1000">
                <a:ea typeface="굴림" panose="020b0600000101010101" pitchFamily="34" charset="-127"/>
              </a:rPr>
              <a:t>Selection of Implementation Path</a:t>
            </a:r>
          </a:p>
          <a:p>
            <a:pPr algn="ctr">
              <a:lnSpc>
                <a:spcPct val="80000"/>
              </a:lnSpc>
              <a:spcBef>
                <a:spcPct val="60000"/>
              </a:spcBef>
              <a:buClrTx/>
              <a:buFontTx/>
              <a:buNone/>
            </a:pPr>
            <a:br>
              <a:rPr lang="en-US" altLang="ko-KR" sz="1000">
                <a:ea typeface="굴림" panose="020b0600000101010101" pitchFamily="34" charset="-127"/>
              </a:rPr>
            </a:br>
            <a:endParaRPr lang="en-US" altLang="ko-KR" sz="1000">
              <a:ea typeface="굴림" panose="020b0600000101010101" pitchFamily="34" charset="-127"/>
            </a:endParaRPr>
          </a:p>
        </p:txBody>
      </p:sp>
      <p:cxnSp>
        <p:nvCxnSpPr>
          <p:cNvPr id="27698" name="AutoShape 51">
            <a:extLst>
              <a:ext uri="{FF2B5EF4-FFF2-40B4-BE49-F238E27FC236}">
                <a16:creationId xmlns:a16="http://schemas.microsoft.com/office/drawing/2014/main" id="{08D3E563-845D-3A4F-46D5-2AC5F293B849}"/>
              </a:ext>
            </a:extLst>
          </p:cNvPr>
          <p:cNvCxnSpPr>
            <a:cxnSpLocks noChangeShapeType="1"/>
            <a:stCxn id="27697" idx="1"/>
            <a:endCxn id="27697" idx="3"/>
          </p:cNvCxnSpPr>
          <p:nvPr/>
        </p:nvCxnSpPr>
        <p:spPr bwMode="auto">
          <a:xfrm>
            <a:off x="4779963" y="5087938"/>
            <a:ext cx="1146175" cy="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99" name="Oval 52">
            <a:extLst>
              <a:ext uri="{FF2B5EF4-FFF2-40B4-BE49-F238E27FC236}">
                <a16:creationId xmlns:a16="http://schemas.microsoft.com/office/drawing/2014/main" id="{04DDEBA1-20B2-D4E0-1687-AD12EC516926}"/>
              </a:ext>
            </a:extLst>
          </p:cNvPr>
          <p:cNvSpPr>
            <a:spLocks noChangeArrowheads="1"/>
          </p:cNvSpPr>
          <p:nvPr/>
        </p:nvSpPr>
        <p:spPr bwMode="auto">
          <a:xfrm>
            <a:off x="4572000" y="4573588"/>
            <a:ext cx="233363" cy="2159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4</a:t>
            </a:r>
          </a:p>
        </p:txBody>
      </p:sp>
      <p:sp>
        <p:nvSpPr>
          <p:cNvPr id="27700" name="Text Box 53">
            <a:extLst>
              <a:ext uri="{FF2B5EF4-FFF2-40B4-BE49-F238E27FC236}">
                <a16:creationId xmlns:a16="http://schemas.microsoft.com/office/drawing/2014/main" id="{FD9775D1-F837-1383-540B-C27AB39248C4}"/>
              </a:ext>
            </a:extLst>
          </p:cNvPr>
          <p:cNvSpPr txBox="1">
            <a:spLocks noChangeArrowheads="1"/>
          </p:cNvSpPr>
          <p:nvPr/>
        </p:nvSpPr>
        <p:spPr bwMode="auto">
          <a:xfrm>
            <a:off x="4662488" y="5192713"/>
            <a:ext cx="12573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75000"/>
              </a:lnSpc>
              <a:spcBef>
                <a:spcPct val="0"/>
              </a:spcBef>
              <a:buFontTx/>
              <a:buNone/>
            </a:pPr>
            <a:r>
              <a:rPr lang="en-US" altLang="ko-KR" sz="1000">
                <a:ea typeface="굴림" panose="020b0600000101010101" pitchFamily="34" charset="-127"/>
              </a:rPr>
              <a:t>Leverage-</a:t>
            </a:r>
          </a:p>
          <a:p>
            <a:pPr algn="ctr" eaLnBrk="1" hangingPunct="1">
              <a:lnSpc>
                <a:spcPct val="75000"/>
              </a:lnSpc>
              <a:spcBef>
                <a:spcPct val="0"/>
              </a:spcBef>
              <a:buFontTx/>
              <a:buNone/>
            </a:pPr>
            <a:r>
              <a:rPr lang="en-US" altLang="ko-KR" sz="1000">
                <a:ea typeface="굴림" panose="020b0600000101010101" pitchFamily="34" charset="-127"/>
              </a:rPr>
              <a:t>back neg.</a:t>
            </a:r>
          </a:p>
        </p:txBody>
      </p:sp>
      <p:sp>
        <p:nvSpPr>
          <p:cNvPr id="27701" name="AutoShape 54">
            <a:extLst>
              <a:ext uri="{FF2B5EF4-FFF2-40B4-BE49-F238E27FC236}">
                <a16:creationId xmlns:a16="http://schemas.microsoft.com/office/drawing/2014/main" id="{C8021905-4058-0132-7FEF-1CA154EAB789}"/>
              </a:ext>
            </a:extLst>
          </p:cNvPr>
          <p:cNvSpPr>
            <a:spLocks noChangeArrowheads="1"/>
          </p:cNvSpPr>
          <p:nvPr/>
        </p:nvSpPr>
        <p:spPr bwMode="auto">
          <a:xfrm flipV="1">
            <a:off x="4432300" y="5551488"/>
            <a:ext cx="1609725" cy="174625"/>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7703" name="AutoShape 55">
            <a:extLst>
              <a:ext uri="{FF2B5EF4-FFF2-40B4-BE49-F238E27FC236}">
                <a16:creationId xmlns:a16="http://schemas.microsoft.com/office/drawing/2014/main" id="{EA1BEE14-E311-8231-4790-C12BB5AD3C39}"/>
              </a:ext>
            </a:extLst>
          </p:cNvPr>
          <p:cNvSpPr>
            <a:spLocks noChangeArrowheads="1"/>
          </p:cNvSpPr>
          <p:nvPr/>
        </p:nvSpPr>
        <p:spPr bwMode="auto">
          <a:xfrm>
            <a:off x="3849688" y="5773738"/>
            <a:ext cx="2774950" cy="862012"/>
          </a:xfrm>
          <a:prstGeom prst="star16">
            <a:avLst>
              <a:gd name="adj" fmla="val 37500"/>
            </a:avLst>
          </a:prstGeom>
          <a:solidFill>
            <a:schemeClr val="tx1">
              <a:lumMod val="95000"/>
              <a:lumOff val="5000"/>
            </a:schemeClr>
          </a:solidFill>
          <a:ln w="9525" algn="ctr">
            <a:solidFill>
              <a:srgbClr val="0070C0"/>
            </a:solidFill>
            <a:miter lim="800000"/>
          </a:ln>
          <a:effectLst/>
        </p:spPr>
        <p:txBody>
          <a:bodyPr lIns="0" tIns="7200" rIns="0" bIns="7200" anchor="ctr"/>
          <a:lstStyle>
            <a:lvl1pPr defTabSz="85566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28625" indent="-190500" defTabSz="85566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55663" indent="-163513" defTabSz="85566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284288" indent="-168275" defTabSz="8556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711325" indent="-160338" defTabSz="855663">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1685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6257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0829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540125" indent="-160338" defTabSz="855663"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defRPr/>
            </a:pPr>
            <a:r>
              <a:rPr lang="en-US" altLang="ko-KR" sz="1200">
                <a:solidFill>
                  <a:schemeClr val="bg1"/>
                </a:solidFill>
                <a:ea typeface="굴림" panose="020b0600000101010101" pitchFamily="50" charset="-127"/>
              </a:rPr>
              <a:t>Savings are realized BEFORE RFP quotes are received</a:t>
            </a:r>
          </a:p>
        </p:txBody>
      </p:sp>
      <p:sp>
        <p:nvSpPr>
          <p:cNvPr id="2" name="Text Box 56">
            <a:extLst>
              <a:ext uri="{FF2B5EF4-FFF2-40B4-BE49-F238E27FC236}">
                <a16:creationId xmlns:a16="http://schemas.microsoft.com/office/drawing/2014/main" id="{7693C80A-E571-BEB2-C20B-BFE2BBA845B4}"/>
              </a:ext>
            </a:extLst>
          </p:cNvPr>
          <p:cNvSpPr txBox="1">
            <a:spLocks noChangeArrowheads="1"/>
          </p:cNvSpPr>
          <p:nvPr/>
        </p:nvSpPr>
        <p:spPr bwMode="auto">
          <a:xfrm>
            <a:off x="246063" y="4824413"/>
            <a:ext cx="682625" cy="192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200" i="1">
                <a:ea typeface="굴림" panose="020b0600000101010101" pitchFamily="34" charset="-127"/>
              </a:rPr>
              <a:t>7-Step-Sour-cing</a:t>
            </a:r>
          </a:p>
          <a:p>
            <a:pPr eaLnBrk="1" hangingPunct="1">
              <a:spcBef>
                <a:spcPct val="0"/>
              </a:spcBef>
              <a:buFontTx/>
              <a:buNone/>
            </a:pPr>
            <a:r>
              <a:rPr lang="en-US" altLang="ko-KR" sz="1200" i="1">
                <a:ea typeface="굴림" panose="020b0600000101010101" pitchFamily="34" charset="-127"/>
              </a:rPr>
              <a:t>and CRA</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9697" name="Rectangle 2">
            <a:extLst>
              <a:ext uri="{FF2B5EF4-FFF2-40B4-BE49-F238E27FC236}">
                <a16:creationId xmlns:a16="http://schemas.microsoft.com/office/drawing/2014/main" id="{805DDE6A-CC88-6ECB-74EA-3C4D2DD3C08F}"/>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Most activities run in parallel avoiding frictions between both methodologies</a:t>
            </a:r>
          </a:p>
        </p:txBody>
      </p:sp>
      <p:sp>
        <p:nvSpPr>
          <p:cNvPr id="29698" name="Rectangle 3">
            <a:extLst>
              <a:ext uri="{FF2B5EF4-FFF2-40B4-BE49-F238E27FC236}">
                <a16:creationId xmlns:a16="http://schemas.microsoft.com/office/drawing/2014/main" id="{F3C24EE4-BE6B-BD7B-1946-455BA31EE04D}"/>
              </a:ext>
            </a:extLst>
          </p:cNvPr>
          <p:cNvSpPr>
            <a:spLocks noChangeArrowheads="1"/>
          </p:cNvSpPr>
          <p:nvPr/>
        </p:nvSpPr>
        <p:spPr bwMode="auto">
          <a:xfrm>
            <a:off x="7823200" y="239713"/>
            <a:ext cx="1820863"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Approach and Deliverables</a:t>
            </a:r>
          </a:p>
        </p:txBody>
      </p:sp>
      <p:sp>
        <p:nvSpPr>
          <p:cNvPr id="29699" name="Rectangle 4">
            <a:extLst>
              <a:ext uri="{FF2B5EF4-FFF2-40B4-BE49-F238E27FC236}">
                <a16:creationId xmlns:a16="http://schemas.microsoft.com/office/drawing/2014/main" id="{57DD76A7-9546-E9BB-545E-18346D589CC7}"/>
              </a:ext>
            </a:extLst>
          </p:cNvPr>
          <p:cNvSpPr>
            <a:spLocks noChangeArrowheads="1"/>
          </p:cNvSpPr>
          <p:nvPr/>
        </p:nvSpPr>
        <p:spPr bwMode="auto">
          <a:xfrm>
            <a:off x="265113" y="1614488"/>
            <a:ext cx="4222750" cy="247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ea typeface="굴림" panose="020b0600000101010101" pitchFamily="34" charset="-127"/>
              </a:rPr>
              <a:t>Main activities: 7-Step-Sourcing + CRA</a:t>
            </a:r>
          </a:p>
        </p:txBody>
      </p:sp>
      <p:sp>
        <p:nvSpPr>
          <p:cNvPr id="29700" name="Rectangle 5">
            <a:extLst>
              <a:ext uri="{FF2B5EF4-FFF2-40B4-BE49-F238E27FC236}">
                <a16:creationId xmlns:a16="http://schemas.microsoft.com/office/drawing/2014/main" id="{C0FFB963-16A4-6FFE-83EC-1F5D0E88811F}"/>
              </a:ext>
            </a:extLst>
          </p:cNvPr>
          <p:cNvSpPr>
            <a:spLocks noChangeArrowheads="1"/>
          </p:cNvSpPr>
          <p:nvPr/>
        </p:nvSpPr>
        <p:spPr bwMode="auto">
          <a:xfrm>
            <a:off x="614363" y="3009900"/>
            <a:ext cx="1239837" cy="1503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Profile volumes, prices and suppliers</a:t>
            </a:r>
          </a:p>
          <a:p>
            <a:pPr>
              <a:spcBef>
                <a:spcPct val="30000"/>
              </a:spcBef>
              <a:buFontTx/>
              <a:buChar char="•"/>
            </a:pPr>
            <a:r>
              <a:rPr lang="en-US" altLang="ko-KR" sz="1000" b="0">
                <a:ea typeface="굴림" panose="020b0600000101010101" pitchFamily="34" charset="-127"/>
              </a:rPr>
              <a:t>Define relevant technical specifi-cations</a:t>
            </a:r>
          </a:p>
          <a:p>
            <a:pPr>
              <a:spcBef>
                <a:spcPct val="30000"/>
              </a:spcBef>
              <a:buFontTx/>
              <a:buChar char="•"/>
            </a:pPr>
            <a:r>
              <a:rPr lang="en-US" altLang="ko-KR" sz="1000" b="0">
                <a:ea typeface="굴림" panose="020b0600000101010101" pitchFamily="34" charset="-127"/>
              </a:rPr>
              <a:t>Gather </a:t>
            </a:r>
            <a:r>
              <a:rPr lang="en-US" altLang="ko-KR" sz="1000" u="sng">
                <a:ea typeface="굴림" panose="020b0600000101010101" pitchFamily="34" charset="-127"/>
              </a:rPr>
              <a:t>all</a:t>
            </a:r>
            <a:r>
              <a:rPr lang="en-US" altLang="ko-KR" sz="1000" b="0">
                <a:ea typeface="굴림" panose="020b0600000101010101" pitchFamily="34" charset="-127"/>
              </a:rPr>
              <a:t> rele-vant commercial and technical data</a:t>
            </a:r>
          </a:p>
          <a:p>
            <a:pPr>
              <a:spcBef>
                <a:spcPct val="30000"/>
              </a:spcBef>
              <a:buFontTx/>
              <a:buChar char="•"/>
            </a:pPr>
            <a:r>
              <a:rPr lang="en-US" altLang="ko-KR" sz="1000" b="0">
                <a:ea typeface="굴림" panose="020b0600000101010101" pitchFamily="34" charset="-127"/>
              </a:rPr>
              <a:t>Understand supply markets</a:t>
            </a:r>
          </a:p>
        </p:txBody>
      </p:sp>
      <p:sp>
        <p:nvSpPr>
          <p:cNvPr id="29701" name="AutoShape 6">
            <a:extLst>
              <a:ext uri="{FF2B5EF4-FFF2-40B4-BE49-F238E27FC236}">
                <a16:creationId xmlns:a16="http://schemas.microsoft.com/office/drawing/2014/main" id="{0FB90D9E-280C-9A3E-1B7A-B5F0D10A863F}"/>
              </a:ext>
            </a:extLst>
          </p:cNvPr>
          <p:cNvSpPr>
            <a:spLocks noChangeArrowheads="1"/>
          </p:cNvSpPr>
          <p:nvPr/>
        </p:nvSpPr>
        <p:spPr bwMode="auto">
          <a:xfrm rot="10800000">
            <a:off x="825500" y="4816475"/>
            <a:ext cx="819150"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02" name="AutoShape 7">
            <a:extLst>
              <a:ext uri="{FF2B5EF4-FFF2-40B4-BE49-F238E27FC236}">
                <a16:creationId xmlns:a16="http://schemas.microsoft.com/office/drawing/2014/main" id="{B5F8A6DF-7D03-4D26-8778-691600FFCA30}"/>
              </a:ext>
            </a:extLst>
          </p:cNvPr>
          <p:cNvSpPr>
            <a:spLocks noChangeArrowheads="1"/>
          </p:cNvSpPr>
          <p:nvPr/>
        </p:nvSpPr>
        <p:spPr bwMode="auto">
          <a:xfrm>
            <a:off x="614363" y="2130425"/>
            <a:ext cx="1373187" cy="804863"/>
          </a:xfrm>
          <a:prstGeom prst="homePlate">
            <a:avLst>
              <a:gd name="adj" fmla="val 19447"/>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Spend profiling</a:t>
            </a:r>
          </a:p>
        </p:txBody>
      </p:sp>
      <p:sp>
        <p:nvSpPr>
          <p:cNvPr id="29703" name="AutoShape 8">
            <a:extLst>
              <a:ext uri="{FF2B5EF4-FFF2-40B4-BE49-F238E27FC236}">
                <a16:creationId xmlns:a16="http://schemas.microsoft.com/office/drawing/2014/main" id="{40C72A56-08C2-F621-1426-A2A0B0ECA1F0}"/>
              </a:ext>
            </a:extLst>
          </p:cNvPr>
          <p:cNvSpPr>
            <a:spLocks noChangeArrowheads="1"/>
          </p:cNvSpPr>
          <p:nvPr/>
        </p:nvSpPr>
        <p:spPr bwMode="auto">
          <a:xfrm>
            <a:off x="1890713" y="2130425"/>
            <a:ext cx="1373187" cy="804863"/>
          </a:xfrm>
          <a:prstGeom prst="chevron">
            <a:avLst>
              <a:gd name="adj" fmla="val 1898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5000"/>
              </a:spcBef>
              <a:buClrTx/>
              <a:buFontTx/>
              <a:buNone/>
            </a:pPr>
            <a:r>
              <a:rPr lang="en-US" altLang="ko-KR" sz="1200">
                <a:ea typeface="굴림" panose="020b0600000101010101" pitchFamily="34" charset="-127"/>
              </a:rPr>
              <a:t>Sourcing strategy</a:t>
            </a:r>
          </a:p>
          <a:p>
            <a:pPr algn="ctr">
              <a:lnSpc>
                <a:spcPct val="80000"/>
              </a:lnSpc>
              <a:spcBef>
                <a:spcPct val="55000"/>
              </a:spcBef>
              <a:buClrTx/>
              <a:buFontTx/>
              <a:buNone/>
            </a:pPr>
            <a:r>
              <a:rPr lang="en-US" altLang="ko-KR" sz="1200">
                <a:ea typeface="굴림" panose="020b0600000101010101" pitchFamily="34" charset="-127"/>
              </a:rPr>
              <a:t>Set-up CRA models</a:t>
            </a:r>
          </a:p>
        </p:txBody>
      </p:sp>
      <p:sp>
        <p:nvSpPr>
          <p:cNvPr id="29704" name="AutoShape 9">
            <a:extLst>
              <a:ext uri="{FF2B5EF4-FFF2-40B4-BE49-F238E27FC236}">
                <a16:creationId xmlns:a16="http://schemas.microsoft.com/office/drawing/2014/main" id="{3A85D2EC-9AAD-EEED-9711-B365B0079550}"/>
              </a:ext>
            </a:extLst>
          </p:cNvPr>
          <p:cNvSpPr>
            <a:spLocks noChangeArrowheads="1"/>
          </p:cNvSpPr>
          <p:nvPr/>
        </p:nvSpPr>
        <p:spPr bwMode="auto">
          <a:xfrm>
            <a:off x="3165475" y="2130425"/>
            <a:ext cx="1373188" cy="804863"/>
          </a:xfrm>
          <a:prstGeom prst="chevron">
            <a:avLst>
              <a:gd name="adj" fmla="val 18988"/>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5000"/>
              </a:spcBef>
              <a:buClrTx/>
              <a:buFontTx/>
              <a:buNone/>
            </a:pPr>
            <a:r>
              <a:rPr lang="en-US" altLang="ko-KR" sz="1200">
                <a:ea typeface="굴림" panose="020b0600000101010101" pitchFamily="34" charset="-127"/>
              </a:rPr>
              <a:t>Supplier analysis</a:t>
            </a:r>
          </a:p>
          <a:p>
            <a:pPr algn="ctr">
              <a:lnSpc>
                <a:spcPct val="80000"/>
              </a:lnSpc>
              <a:spcBef>
                <a:spcPct val="55000"/>
              </a:spcBef>
              <a:buClrTx/>
              <a:buFontTx/>
              <a:buNone/>
            </a:pPr>
            <a:r>
              <a:rPr lang="en-US" altLang="ko-KR" sz="1200">
                <a:ea typeface="굴림" panose="020b0600000101010101" pitchFamily="34" charset="-127"/>
              </a:rPr>
              <a:t>Evaluate sa-vings potent.</a:t>
            </a:r>
          </a:p>
        </p:txBody>
      </p:sp>
      <p:sp>
        <p:nvSpPr>
          <p:cNvPr id="29705" name="AutoShape 10">
            <a:extLst>
              <a:ext uri="{FF2B5EF4-FFF2-40B4-BE49-F238E27FC236}">
                <a16:creationId xmlns:a16="http://schemas.microsoft.com/office/drawing/2014/main" id="{DBACB2DB-BBBC-13A1-D40B-77E4338C7DAE}"/>
              </a:ext>
            </a:extLst>
          </p:cNvPr>
          <p:cNvSpPr>
            <a:spLocks noChangeArrowheads="1"/>
          </p:cNvSpPr>
          <p:nvPr/>
        </p:nvSpPr>
        <p:spPr bwMode="auto">
          <a:xfrm>
            <a:off x="4438650" y="2130425"/>
            <a:ext cx="1371600" cy="804863"/>
          </a:xfrm>
          <a:prstGeom prst="chevron">
            <a:avLst>
              <a:gd name="adj" fmla="val 18966"/>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40000"/>
              </a:spcBef>
              <a:buClrTx/>
              <a:buFontTx/>
              <a:buNone/>
            </a:pPr>
            <a:r>
              <a:rPr lang="en-US" altLang="ko-KR" sz="1200">
                <a:ea typeface="굴림" panose="020b0600000101010101" pitchFamily="34" charset="-127"/>
              </a:rPr>
              <a:t>Implemen-tation path</a:t>
            </a:r>
          </a:p>
        </p:txBody>
      </p:sp>
      <p:sp>
        <p:nvSpPr>
          <p:cNvPr id="29706" name="AutoShape 11">
            <a:extLst>
              <a:ext uri="{FF2B5EF4-FFF2-40B4-BE49-F238E27FC236}">
                <a16:creationId xmlns:a16="http://schemas.microsoft.com/office/drawing/2014/main" id="{A9777759-60D3-82E2-B81F-CC05212AAB70}"/>
              </a:ext>
            </a:extLst>
          </p:cNvPr>
          <p:cNvSpPr>
            <a:spLocks noChangeArrowheads="1"/>
          </p:cNvSpPr>
          <p:nvPr/>
        </p:nvSpPr>
        <p:spPr bwMode="auto">
          <a:xfrm>
            <a:off x="5713413" y="2130425"/>
            <a:ext cx="1371600" cy="804863"/>
          </a:xfrm>
          <a:prstGeom prst="chevron">
            <a:avLst>
              <a:gd name="adj" fmla="val 18966"/>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Supplier selection</a:t>
            </a:r>
          </a:p>
        </p:txBody>
      </p:sp>
      <p:sp>
        <p:nvSpPr>
          <p:cNvPr id="29707" name="AutoShape 12">
            <a:extLst>
              <a:ext uri="{FF2B5EF4-FFF2-40B4-BE49-F238E27FC236}">
                <a16:creationId xmlns:a16="http://schemas.microsoft.com/office/drawing/2014/main" id="{2817BEF7-5A93-2FA6-DFCB-EEE6B303AFBB}"/>
              </a:ext>
            </a:extLst>
          </p:cNvPr>
          <p:cNvSpPr>
            <a:spLocks noChangeArrowheads="1"/>
          </p:cNvSpPr>
          <p:nvPr/>
        </p:nvSpPr>
        <p:spPr bwMode="auto">
          <a:xfrm>
            <a:off x="6988175" y="2130425"/>
            <a:ext cx="1371600" cy="804863"/>
          </a:xfrm>
          <a:prstGeom prst="chevron">
            <a:avLst>
              <a:gd name="adj" fmla="val 18966"/>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889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Operational integration</a:t>
            </a:r>
            <a:br>
              <a:rPr lang="en-US" altLang="ko-KR" sz="1200">
                <a:ea typeface="굴림" panose="020b0600000101010101" pitchFamily="34" charset="-127"/>
              </a:rPr>
            </a:br>
            <a:r>
              <a:rPr lang="en-US" altLang="ko-KR" sz="1200">
                <a:ea typeface="굴림" panose="020b0600000101010101" pitchFamily="34" charset="-127"/>
              </a:rPr>
              <a:t>with suppliers</a:t>
            </a:r>
          </a:p>
        </p:txBody>
      </p:sp>
      <p:sp>
        <p:nvSpPr>
          <p:cNvPr id="29708" name="AutoShape 13">
            <a:extLst>
              <a:ext uri="{FF2B5EF4-FFF2-40B4-BE49-F238E27FC236}">
                <a16:creationId xmlns:a16="http://schemas.microsoft.com/office/drawing/2014/main" id="{6F3F9324-26B4-88B0-3D49-3AFC21E1B1F9}"/>
              </a:ext>
            </a:extLst>
          </p:cNvPr>
          <p:cNvSpPr>
            <a:spLocks noChangeArrowheads="1"/>
          </p:cNvSpPr>
          <p:nvPr/>
        </p:nvSpPr>
        <p:spPr bwMode="auto">
          <a:xfrm>
            <a:off x="8259763" y="2130425"/>
            <a:ext cx="1374775" cy="804863"/>
          </a:xfrm>
          <a:prstGeom prst="chevron">
            <a:avLst>
              <a:gd name="adj" fmla="val 1901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54000" anchor="ctr"/>
          <a:lstStyle>
            <a:lvl1pPr marL="904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Tx/>
              <a:buFontTx/>
              <a:buNone/>
            </a:pPr>
            <a:r>
              <a:rPr lang="en-US" altLang="ko-KR" sz="1200">
                <a:ea typeface="굴림" panose="020b0600000101010101" pitchFamily="34" charset="-127"/>
              </a:rPr>
              <a:t>Continuous bench-marking</a:t>
            </a:r>
          </a:p>
        </p:txBody>
      </p:sp>
      <p:sp>
        <p:nvSpPr>
          <p:cNvPr id="29709" name="Rectangle 14">
            <a:extLst>
              <a:ext uri="{FF2B5EF4-FFF2-40B4-BE49-F238E27FC236}">
                <a16:creationId xmlns:a16="http://schemas.microsoft.com/office/drawing/2014/main" id="{A4C920B7-C643-B8F9-DF77-8934D93881CC}"/>
              </a:ext>
            </a:extLst>
          </p:cNvPr>
          <p:cNvSpPr>
            <a:spLocks noChangeArrowheads="1"/>
          </p:cNvSpPr>
          <p:nvPr/>
        </p:nvSpPr>
        <p:spPr bwMode="auto">
          <a:xfrm>
            <a:off x="1930400" y="3009900"/>
            <a:ext cx="1184275" cy="1412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Conduct supplier focus groups</a:t>
            </a:r>
          </a:p>
          <a:p>
            <a:pPr>
              <a:spcBef>
                <a:spcPct val="30000"/>
              </a:spcBef>
              <a:buFontTx/>
              <a:buChar char="•"/>
            </a:pPr>
            <a:r>
              <a:rPr lang="en-US" altLang="ko-KR" sz="1000" b="0">
                <a:ea typeface="굴림" panose="020b0600000101010101" pitchFamily="34" charset="-127"/>
              </a:rPr>
              <a:t>Map opportu-nities</a:t>
            </a:r>
          </a:p>
          <a:p>
            <a:pPr>
              <a:spcBef>
                <a:spcPct val="30000"/>
              </a:spcBef>
              <a:buFontTx/>
              <a:buChar char="•"/>
            </a:pPr>
            <a:r>
              <a:rPr lang="en-US" altLang="ko-KR" sz="1000" b="0">
                <a:ea typeface="굴림" panose="020b0600000101010101" pitchFamily="34" charset="-127"/>
              </a:rPr>
              <a:t>Agree final eva-luation criteria</a:t>
            </a:r>
          </a:p>
          <a:p>
            <a:pPr>
              <a:spcBef>
                <a:spcPct val="30000"/>
              </a:spcBef>
              <a:buFontTx/>
              <a:buChar char="•"/>
            </a:pPr>
            <a:r>
              <a:rPr lang="en-US" altLang="ko-KR" sz="1000" b="0">
                <a:ea typeface="굴림" panose="020b0600000101010101" pitchFamily="34" charset="-127"/>
              </a:rPr>
              <a:t>Set-up CRA models</a:t>
            </a:r>
          </a:p>
          <a:p>
            <a:pPr>
              <a:spcBef>
                <a:spcPct val="30000"/>
              </a:spcBef>
              <a:buFontTx/>
              <a:buChar char="•"/>
            </a:pPr>
            <a:r>
              <a:rPr lang="en-US" altLang="ko-KR" sz="1000" b="0">
                <a:ea typeface="굴림" panose="020b0600000101010101" pitchFamily="34" charset="-127"/>
              </a:rPr>
              <a:t>Discuss CRA models internally</a:t>
            </a:r>
          </a:p>
        </p:txBody>
      </p:sp>
      <p:sp>
        <p:nvSpPr>
          <p:cNvPr id="29710" name="AutoShape 15">
            <a:extLst>
              <a:ext uri="{FF2B5EF4-FFF2-40B4-BE49-F238E27FC236}">
                <a16:creationId xmlns:a16="http://schemas.microsoft.com/office/drawing/2014/main" id="{02737D45-0C10-D128-68D5-08ADD3DFE8E3}"/>
              </a:ext>
            </a:extLst>
          </p:cNvPr>
          <p:cNvSpPr>
            <a:spLocks noChangeArrowheads="1"/>
          </p:cNvSpPr>
          <p:nvPr/>
        </p:nvSpPr>
        <p:spPr bwMode="auto">
          <a:xfrm rot="10800000">
            <a:off x="2100263" y="4816475"/>
            <a:ext cx="817562"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11" name="Rectangle 16">
            <a:extLst>
              <a:ext uri="{FF2B5EF4-FFF2-40B4-BE49-F238E27FC236}">
                <a16:creationId xmlns:a16="http://schemas.microsoft.com/office/drawing/2014/main" id="{8A647B44-B44F-275F-3BA4-C4EDF191DBBD}"/>
              </a:ext>
            </a:extLst>
          </p:cNvPr>
          <p:cNvSpPr>
            <a:spLocks noChangeArrowheads="1"/>
          </p:cNvSpPr>
          <p:nvPr/>
        </p:nvSpPr>
        <p:spPr bwMode="auto">
          <a:xfrm>
            <a:off x="3213100" y="3009900"/>
            <a:ext cx="1184275" cy="163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Develop list of Tier 1 and com-ponent suppliers</a:t>
            </a:r>
          </a:p>
          <a:p>
            <a:pPr>
              <a:spcBef>
                <a:spcPct val="30000"/>
              </a:spcBef>
              <a:buFontTx/>
              <a:buChar char="•"/>
            </a:pPr>
            <a:r>
              <a:rPr lang="en-US" altLang="ko-KR" sz="1000" b="0">
                <a:ea typeface="굴림" panose="020b0600000101010101" pitchFamily="34" charset="-127"/>
              </a:rPr>
              <a:t>Profile supplier capabilities</a:t>
            </a:r>
          </a:p>
          <a:p>
            <a:pPr>
              <a:spcBef>
                <a:spcPct val="30000"/>
              </a:spcBef>
              <a:buFontTx/>
              <a:buChar char="•"/>
            </a:pPr>
            <a:r>
              <a:rPr lang="en-US" altLang="ko-KR" sz="1000" b="0">
                <a:ea typeface="굴림" panose="020b0600000101010101" pitchFamily="34" charset="-127"/>
              </a:rPr>
              <a:t>Evaluate savings potentials</a:t>
            </a:r>
          </a:p>
          <a:p>
            <a:pPr>
              <a:spcBef>
                <a:spcPct val="30000"/>
              </a:spcBef>
              <a:buFontTx/>
              <a:buChar char="•"/>
            </a:pPr>
            <a:r>
              <a:rPr lang="en-US" altLang="ko-KR" sz="1000" b="0">
                <a:ea typeface="굴림" panose="020b0600000101010101" pitchFamily="34" charset="-127"/>
              </a:rPr>
              <a:t>Select, prioritize suppliers for leverage-back negotiations</a:t>
            </a:r>
          </a:p>
        </p:txBody>
      </p:sp>
      <p:sp>
        <p:nvSpPr>
          <p:cNvPr id="29712" name="AutoShape 17">
            <a:extLst>
              <a:ext uri="{FF2B5EF4-FFF2-40B4-BE49-F238E27FC236}">
                <a16:creationId xmlns:a16="http://schemas.microsoft.com/office/drawing/2014/main" id="{B0423004-ED77-27B6-7FDB-5DE57A1DA5F4}"/>
              </a:ext>
            </a:extLst>
          </p:cNvPr>
          <p:cNvSpPr>
            <a:spLocks noChangeArrowheads="1"/>
          </p:cNvSpPr>
          <p:nvPr/>
        </p:nvSpPr>
        <p:spPr bwMode="auto">
          <a:xfrm rot="10800000">
            <a:off x="3378200" y="4816475"/>
            <a:ext cx="817563"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13" name="Rectangle 18">
            <a:extLst>
              <a:ext uri="{FF2B5EF4-FFF2-40B4-BE49-F238E27FC236}">
                <a16:creationId xmlns:a16="http://schemas.microsoft.com/office/drawing/2014/main" id="{562986C4-7FF2-7566-B8FE-E89C22D9EA1E}"/>
              </a:ext>
            </a:extLst>
          </p:cNvPr>
          <p:cNvSpPr>
            <a:spLocks noChangeArrowheads="1"/>
          </p:cNvSpPr>
          <p:nvPr/>
        </p:nvSpPr>
        <p:spPr bwMode="auto">
          <a:xfrm>
            <a:off x="4484688" y="3009900"/>
            <a:ext cx="1185862" cy="154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Develop RFP</a:t>
            </a:r>
          </a:p>
          <a:p>
            <a:pPr>
              <a:spcBef>
                <a:spcPct val="30000"/>
              </a:spcBef>
              <a:buFontTx/>
              <a:buChar char="•"/>
            </a:pPr>
            <a:r>
              <a:rPr lang="en-US" altLang="ko-KR" sz="1000" b="0">
                <a:ea typeface="굴림" panose="020b0600000101010101" pitchFamily="34" charset="-127"/>
              </a:rPr>
              <a:t>Prepare quote analysis</a:t>
            </a:r>
          </a:p>
          <a:p>
            <a:pPr>
              <a:spcBef>
                <a:spcPct val="30000"/>
              </a:spcBef>
              <a:buFontTx/>
              <a:buChar char="•"/>
            </a:pPr>
            <a:r>
              <a:rPr lang="en-US" altLang="ko-KR" sz="1000" b="0">
                <a:ea typeface="굴림" panose="020b0600000101010101" pitchFamily="34" charset="-127"/>
              </a:rPr>
              <a:t>Harmonize specifications</a:t>
            </a:r>
          </a:p>
          <a:p>
            <a:pPr>
              <a:spcBef>
                <a:spcPct val="30000"/>
              </a:spcBef>
              <a:buFontTx/>
              <a:buChar char="•"/>
            </a:pPr>
            <a:r>
              <a:rPr lang="en-US" altLang="ko-KR" sz="1000" b="0">
                <a:ea typeface="굴림" panose="020b0600000101010101" pitchFamily="34" charset="-127"/>
              </a:rPr>
              <a:t>Prepare leverage-back negotiations</a:t>
            </a:r>
          </a:p>
          <a:p>
            <a:pPr>
              <a:spcBef>
                <a:spcPct val="30000"/>
              </a:spcBef>
              <a:buFontTx/>
              <a:buChar char="•"/>
            </a:pPr>
            <a:r>
              <a:rPr lang="en-US" altLang="ko-KR" sz="1000" b="0">
                <a:ea typeface="굴림" panose="020b0600000101010101" pitchFamily="34" charset="-127"/>
              </a:rPr>
              <a:t>Conduct CRA-based negotia-tions</a:t>
            </a:r>
          </a:p>
        </p:txBody>
      </p:sp>
      <p:sp>
        <p:nvSpPr>
          <p:cNvPr id="29714" name="AutoShape 19">
            <a:extLst>
              <a:ext uri="{FF2B5EF4-FFF2-40B4-BE49-F238E27FC236}">
                <a16:creationId xmlns:a16="http://schemas.microsoft.com/office/drawing/2014/main" id="{AA44F057-7A97-5F2D-97B8-C6ED8313B4DD}"/>
              </a:ext>
            </a:extLst>
          </p:cNvPr>
          <p:cNvSpPr>
            <a:spLocks noChangeArrowheads="1"/>
          </p:cNvSpPr>
          <p:nvPr/>
        </p:nvSpPr>
        <p:spPr bwMode="auto">
          <a:xfrm rot="10800000">
            <a:off x="4656138" y="4816475"/>
            <a:ext cx="817562"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15" name="Rectangle 20">
            <a:extLst>
              <a:ext uri="{FF2B5EF4-FFF2-40B4-BE49-F238E27FC236}">
                <a16:creationId xmlns:a16="http://schemas.microsoft.com/office/drawing/2014/main" id="{D325628D-BE69-D88A-4913-2BDCFB8FDF9C}"/>
              </a:ext>
            </a:extLst>
          </p:cNvPr>
          <p:cNvSpPr>
            <a:spLocks noChangeArrowheads="1"/>
          </p:cNvSpPr>
          <p:nvPr/>
        </p:nvSpPr>
        <p:spPr bwMode="auto">
          <a:xfrm>
            <a:off x="5757863" y="3009900"/>
            <a:ext cx="1182687" cy="1450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10000"/>
              </a:spcBef>
              <a:buFontTx/>
              <a:buChar char="•"/>
            </a:pPr>
            <a:r>
              <a:rPr lang="en-US" altLang="ko-KR" sz="1000" b="0">
                <a:ea typeface="굴림" panose="020b0600000101010101" pitchFamily="34" charset="-127"/>
              </a:rPr>
              <a:t>Evaluate supplier proposals</a:t>
            </a:r>
          </a:p>
          <a:p>
            <a:pPr>
              <a:lnSpc>
                <a:spcPct val="85000"/>
              </a:lnSpc>
              <a:spcBef>
                <a:spcPct val="10000"/>
              </a:spcBef>
              <a:buFontTx/>
              <a:buChar char="•"/>
            </a:pPr>
            <a:r>
              <a:rPr lang="en-US" altLang="ko-KR" sz="1000" b="0">
                <a:ea typeface="굴림" panose="020b0600000101010101" pitchFamily="34" charset="-127"/>
              </a:rPr>
              <a:t>Plan negotiation events</a:t>
            </a:r>
          </a:p>
          <a:p>
            <a:pPr>
              <a:lnSpc>
                <a:spcPct val="85000"/>
              </a:lnSpc>
              <a:spcBef>
                <a:spcPct val="10000"/>
              </a:spcBef>
              <a:buFontTx/>
              <a:buChar char="•"/>
            </a:pPr>
            <a:r>
              <a:rPr lang="en-US" altLang="ko-KR" sz="1000" b="0">
                <a:ea typeface="굴림" panose="020b0600000101010101" pitchFamily="34" charset="-127"/>
              </a:rPr>
              <a:t>Prepare negotiation deck</a:t>
            </a:r>
          </a:p>
          <a:p>
            <a:pPr>
              <a:spcBef>
                <a:spcPct val="30000"/>
              </a:spcBef>
              <a:buFontTx/>
              <a:buChar char="•"/>
            </a:pPr>
            <a:r>
              <a:rPr lang="en-US" altLang="ko-KR" sz="1000" b="0">
                <a:ea typeface="굴림" panose="020b0600000101010101" pitchFamily="34" charset="-127"/>
              </a:rPr>
              <a:t>Define negotiation objectives</a:t>
            </a:r>
          </a:p>
          <a:p>
            <a:pPr>
              <a:spcBef>
                <a:spcPct val="30000"/>
              </a:spcBef>
              <a:buFontTx/>
              <a:buChar char="•"/>
            </a:pPr>
            <a:r>
              <a:rPr lang="en-US" altLang="ko-KR" sz="1000" b="0">
                <a:ea typeface="굴림" panose="020b0600000101010101" pitchFamily="34" charset="-127"/>
              </a:rPr>
              <a:t>Finalize supplier agreements</a:t>
            </a:r>
          </a:p>
        </p:txBody>
      </p:sp>
      <p:sp>
        <p:nvSpPr>
          <p:cNvPr id="29716" name="AutoShape 21">
            <a:extLst>
              <a:ext uri="{FF2B5EF4-FFF2-40B4-BE49-F238E27FC236}">
                <a16:creationId xmlns:a16="http://schemas.microsoft.com/office/drawing/2014/main" id="{1986EE50-B25D-C0C0-E0E9-656B3D345581}"/>
              </a:ext>
            </a:extLst>
          </p:cNvPr>
          <p:cNvSpPr>
            <a:spLocks noChangeArrowheads="1"/>
          </p:cNvSpPr>
          <p:nvPr/>
        </p:nvSpPr>
        <p:spPr bwMode="auto">
          <a:xfrm rot="10800000">
            <a:off x="5930900" y="4816475"/>
            <a:ext cx="819150"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17" name="AutoShape 22">
            <a:extLst>
              <a:ext uri="{FF2B5EF4-FFF2-40B4-BE49-F238E27FC236}">
                <a16:creationId xmlns:a16="http://schemas.microsoft.com/office/drawing/2014/main" id="{FE7A1A02-2365-0321-EEF7-81DFC03A41E9}"/>
              </a:ext>
            </a:extLst>
          </p:cNvPr>
          <p:cNvSpPr>
            <a:spLocks noChangeArrowheads="1"/>
          </p:cNvSpPr>
          <p:nvPr/>
        </p:nvSpPr>
        <p:spPr bwMode="auto">
          <a:xfrm rot="10800000">
            <a:off x="7208838" y="4816475"/>
            <a:ext cx="819150"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18" name="AutoShape 23">
            <a:extLst>
              <a:ext uri="{FF2B5EF4-FFF2-40B4-BE49-F238E27FC236}">
                <a16:creationId xmlns:a16="http://schemas.microsoft.com/office/drawing/2014/main" id="{67FB4579-EC25-65A2-176F-F9BEBAF47BDE}"/>
              </a:ext>
            </a:extLst>
          </p:cNvPr>
          <p:cNvSpPr>
            <a:spLocks noChangeArrowheads="1"/>
          </p:cNvSpPr>
          <p:nvPr/>
        </p:nvSpPr>
        <p:spPr bwMode="auto">
          <a:xfrm rot="10800000">
            <a:off x="8485188" y="4816475"/>
            <a:ext cx="819150" cy="125413"/>
          </a:xfrm>
          <a:prstGeom prst="triangle">
            <a:avLst>
              <a:gd name="adj" fmla="val 50000"/>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grpSp>
        <p:nvGrpSpPr>
          <p:cNvPr id="29719" name="Group 24">
            <a:extLst>
              <a:ext uri="{FF2B5EF4-FFF2-40B4-BE49-F238E27FC236}">
                <a16:creationId xmlns:a16="http://schemas.microsoft.com/office/drawing/2014/main" id="{5AED3BEE-434C-1E2C-5568-1A9F46BE2834}"/>
              </a:ext>
            </a:extLst>
          </p:cNvPr>
          <p:cNvGrpSpPr/>
          <p:nvPr/>
        </p:nvGrpSpPr>
        <p:grpSpPr>
          <a:xfrm>
            <a:off x="1890713" y="5240338"/>
            <a:ext cx="501650" cy="485775"/>
            <a:chOff x="1088" y="3433"/>
            <a:chExt cx="455" cy="483"/>
          </a:xfrm>
        </p:grpSpPr>
        <p:sp>
          <p:nvSpPr>
            <p:cNvPr id="29841" name="AutoShape 25">
              <a:extLst>
                <a:ext uri="{FF2B5EF4-FFF2-40B4-BE49-F238E27FC236}">
                  <a16:creationId xmlns:a16="http://schemas.microsoft.com/office/drawing/2014/main" id="{4E1AE0C4-DB20-A18F-EBE4-666826840EC2}"/>
                </a:ext>
              </a:extLst>
            </p:cNvPr>
            <p:cNvSpPr>
              <a:spLocks noChangeArrowheads="1"/>
            </p:cNvSpPr>
            <p:nvPr/>
          </p:nvSpPr>
          <p:spPr bwMode="auto">
            <a:xfrm rot="5400000">
              <a:off x="1075" y="3446"/>
              <a:ext cx="482" cy="455"/>
            </a:xfrm>
            <a:prstGeom prst="hexagon">
              <a:avLst>
                <a:gd name="adj" fmla="val 26484"/>
                <a:gd name="vf" fmla="val 11547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cxnSp>
          <p:nvCxnSpPr>
            <p:cNvPr id="29842" name="AutoShape 26">
              <a:extLst>
                <a:ext uri="{FF2B5EF4-FFF2-40B4-BE49-F238E27FC236}">
                  <a16:creationId xmlns:a16="http://schemas.microsoft.com/office/drawing/2014/main" id="{F5C69530-4587-170F-1679-7F11720C1874}"/>
                </a:ext>
              </a:extLst>
            </p:cNvPr>
            <p:cNvCxnSpPr>
              <a:cxnSpLocks noChangeShapeType="1"/>
              <a:stCxn id="29841" idx="2"/>
              <a:endCxn id="29841" idx="2"/>
            </p:cNvCxnSpPr>
            <p:nvPr/>
          </p:nvCxnSpPr>
          <p:spPr bwMode="auto">
            <a:xfrm flipH="1">
              <a:off x="1316" y="3434"/>
              <a:ext cx="0" cy="482"/>
            </a:xfrm>
            <a:prstGeom prst="straightConnector1">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843" name="Line 27">
              <a:extLst>
                <a:ext uri="{FF2B5EF4-FFF2-40B4-BE49-F238E27FC236}">
                  <a16:creationId xmlns:a16="http://schemas.microsoft.com/office/drawing/2014/main" id="{38ECD6BB-AD64-1EF5-968A-018A05B88A8E}"/>
                </a:ext>
              </a:extLst>
            </p:cNvPr>
            <p:cNvSpPr>
              <a:spLocks noChangeShapeType="1"/>
            </p:cNvSpPr>
            <p:nvPr/>
          </p:nvSpPr>
          <p:spPr bwMode="auto">
            <a:xfrm flipV="1">
              <a:off x="1088" y="3554"/>
              <a:ext cx="454" cy="241"/>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844" name="Line 28">
              <a:extLst>
                <a:ext uri="{FF2B5EF4-FFF2-40B4-BE49-F238E27FC236}">
                  <a16:creationId xmlns:a16="http://schemas.microsoft.com/office/drawing/2014/main" id="{0D5A0ED2-6BCF-75DD-A998-C2D3086207F6}"/>
                </a:ext>
              </a:extLst>
            </p:cNvPr>
            <p:cNvSpPr>
              <a:spLocks noChangeShapeType="1"/>
            </p:cNvSpPr>
            <p:nvPr/>
          </p:nvSpPr>
          <p:spPr bwMode="auto">
            <a:xfrm>
              <a:off x="1089" y="3554"/>
              <a:ext cx="453" cy="238"/>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845" name="AutoShape 29">
              <a:extLst>
                <a:ext uri="{FF2B5EF4-FFF2-40B4-BE49-F238E27FC236}">
                  <a16:creationId xmlns:a16="http://schemas.microsoft.com/office/drawing/2014/main" id="{05AAC9F6-0EB4-3FDF-0DFC-DAC9820D845A}"/>
                </a:ext>
              </a:extLst>
            </p:cNvPr>
            <p:cNvSpPr>
              <a:spLocks noChangeArrowheads="1"/>
            </p:cNvSpPr>
            <p:nvPr/>
          </p:nvSpPr>
          <p:spPr bwMode="auto">
            <a:xfrm rot="5400000">
              <a:off x="1218" y="3582"/>
              <a:ext cx="194" cy="184"/>
            </a:xfrm>
            <a:prstGeom prst="hexagon">
              <a:avLst>
                <a:gd name="adj" fmla="val 26359"/>
                <a:gd name="vf" fmla="val 115470"/>
              </a:avLst>
            </a:prstGeom>
            <a:solidFill>
              <a:schemeClr val="bg2"/>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pic>
        <p:nvPicPr>
          <p:cNvPr id="29720" name="Picture 30">
            <a:extLst>
              <a:ext uri="{FF2B5EF4-FFF2-40B4-BE49-F238E27FC236}">
                <a16:creationId xmlns:a16="http://schemas.microsoft.com/office/drawing/2014/main" id="{D358724B-22EC-F7F1-C4A5-5F9656603C3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54700" y="5187950"/>
            <a:ext cx="9937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21" name="Group 31">
            <a:extLst>
              <a:ext uri="{FF2B5EF4-FFF2-40B4-BE49-F238E27FC236}">
                <a16:creationId xmlns:a16="http://schemas.microsoft.com/office/drawing/2014/main" id="{4C2E585F-6D28-03AF-70FF-FA0F98C76BE2}"/>
              </a:ext>
            </a:extLst>
          </p:cNvPr>
          <p:cNvGrpSpPr/>
          <p:nvPr/>
        </p:nvGrpSpPr>
        <p:grpSpPr>
          <a:xfrm>
            <a:off x="7180263" y="5153025"/>
            <a:ext cx="885825" cy="820738"/>
            <a:chOff x="4136" y="3420"/>
            <a:chExt cx="534" cy="517"/>
          </a:xfrm>
        </p:grpSpPr>
        <p:sp>
          <p:nvSpPr>
            <p:cNvPr id="29827" name="Rectangle 32">
              <a:extLst>
                <a:ext uri="{FF2B5EF4-FFF2-40B4-BE49-F238E27FC236}">
                  <a16:creationId xmlns:a16="http://schemas.microsoft.com/office/drawing/2014/main" id="{10E1F321-20B5-8167-21FA-65E5DDF7C538}"/>
                </a:ext>
              </a:extLst>
            </p:cNvPr>
            <p:cNvSpPr>
              <a:spLocks noChangeArrowheads="1"/>
            </p:cNvSpPr>
            <p:nvPr/>
          </p:nvSpPr>
          <p:spPr bwMode="auto">
            <a:xfrm>
              <a:off x="4136" y="3420"/>
              <a:ext cx="225"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8" name="Rectangle 33">
              <a:extLst>
                <a:ext uri="{FF2B5EF4-FFF2-40B4-BE49-F238E27FC236}">
                  <a16:creationId xmlns:a16="http://schemas.microsoft.com/office/drawing/2014/main" id="{1D45431F-6149-929A-D345-4F5D348F706E}"/>
                </a:ext>
              </a:extLst>
            </p:cNvPr>
            <p:cNvSpPr>
              <a:spLocks noChangeArrowheads="1"/>
            </p:cNvSpPr>
            <p:nvPr/>
          </p:nvSpPr>
          <p:spPr bwMode="auto">
            <a:xfrm>
              <a:off x="4361"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9" name="Rectangle 34">
              <a:extLst>
                <a:ext uri="{FF2B5EF4-FFF2-40B4-BE49-F238E27FC236}">
                  <a16:creationId xmlns:a16="http://schemas.microsoft.com/office/drawing/2014/main" id="{131FEB43-4D9A-4F97-77DD-E2FC821C8BC8}"/>
                </a:ext>
              </a:extLst>
            </p:cNvPr>
            <p:cNvSpPr>
              <a:spLocks noChangeArrowheads="1"/>
            </p:cNvSpPr>
            <p:nvPr/>
          </p:nvSpPr>
          <p:spPr bwMode="auto">
            <a:xfrm>
              <a:off x="4464"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30" name="Rectangle 35">
              <a:extLst>
                <a:ext uri="{FF2B5EF4-FFF2-40B4-BE49-F238E27FC236}">
                  <a16:creationId xmlns:a16="http://schemas.microsoft.com/office/drawing/2014/main" id="{359BA1C9-7A6E-F4D9-7E5B-6482515B8841}"/>
                </a:ext>
              </a:extLst>
            </p:cNvPr>
            <p:cNvSpPr>
              <a:spLocks noChangeArrowheads="1"/>
            </p:cNvSpPr>
            <p:nvPr/>
          </p:nvSpPr>
          <p:spPr bwMode="auto">
            <a:xfrm>
              <a:off x="4567" y="3420"/>
              <a:ext cx="103" cy="9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31" name="Rectangle 36">
              <a:extLst>
                <a:ext uri="{FF2B5EF4-FFF2-40B4-BE49-F238E27FC236}">
                  <a16:creationId xmlns:a16="http://schemas.microsoft.com/office/drawing/2014/main" id="{0A70CB81-6124-1FB2-8EAF-F43F087D99BF}"/>
                </a:ext>
              </a:extLst>
            </p:cNvPr>
            <p:cNvSpPr>
              <a:spLocks noChangeArrowheads="1"/>
            </p:cNvSpPr>
            <p:nvPr/>
          </p:nvSpPr>
          <p:spPr bwMode="auto">
            <a:xfrm>
              <a:off x="4136" y="3513"/>
              <a:ext cx="225"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buFontTx/>
                <a:buNone/>
              </a:pPr>
              <a:r>
                <a:rPr lang="en-US" altLang="ko-KR" sz="800">
                  <a:ea typeface="굴림" panose="020b0600000101010101" pitchFamily="34" charset="-127"/>
                </a:rPr>
                <a:t>…</a:t>
              </a:r>
            </a:p>
            <a:p>
              <a:pPr algn="ctr" eaLnBrk="1" hangingPunct="1">
                <a:buFontTx/>
                <a:buNone/>
              </a:pPr>
              <a:r>
                <a:rPr lang="en-US" altLang="ko-KR" sz="800">
                  <a:ea typeface="굴림" panose="020b0600000101010101" pitchFamily="34" charset="-127"/>
                </a:rPr>
                <a:t>…</a:t>
              </a:r>
            </a:p>
            <a:p>
              <a:pPr algn="ctr" eaLnBrk="1" hangingPunct="1">
                <a:buFontTx/>
                <a:buNone/>
              </a:pPr>
              <a:r>
                <a:rPr lang="en-US" altLang="ko-KR" sz="800">
                  <a:ea typeface="굴림" panose="020b0600000101010101" pitchFamily="34" charset="-127"/>
                </a:rPr>
                <a:t>…</a:t>
              </a:r>
            </a:p>
          </p:txBody>
        </p:sp>
        <p:sp>
          <p:nvSpPr>
            <p:cNvPr id="29832" name="Rectangle 37">
              <a:extLst>
                <a:ext uri="{FF2B5EF4-FFF2-40B4-BE49-F238E27FC236}">
                  <a16:creationId xmlns:a16="http://schemas.microsoft.com/office/drawing/2014/main" id="{5F9968B1-352A-61F1-E8DD-E90AC79ACE7E}"/>
                </a:ext>
              </a:extLst>
            </p:cNvPr>
            <p:cNvSpPr>
              <a:spLocks noChangeArrowheads="1"/>
            </p:cNvSpPr>
            <p:nvPr/>
          </p:nvSpPr>
          <p:spPr bwMode="auto">
            <a:xfrm>
              <a:off x="4361"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33" name="Rectangle 38">
              <a:extLst>
                <a:ext uri="{FF2B5EF4-FFF2-40B4-BE49-F238E27FC236}">
                  <a16:creationId xmlns:a16="http://schemas.microsoft.com/office/drawing/2014/main" id="{A7D0464B-843C-E877-FD86-0ADFD6C31B71}"/>
                </a:ext>
              </a:extLst>
            </p:cNvPr>
            <p:cNvSpPr>
              <a:spLocks noChangeArrowheads="1"/>
            </p:cNvSpPr>
            <p:nvPr/>
          </p:nvSpPr>
          <p:spPr bwMode="auto">
            <a:xfrm>
              <a:off x="4464"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34" name="Rectangle 39">
              <a:extLst>
                <a:ext uri="{FF2B5EF4-FFF2-40B4-BE49-F238E27FC236}">
                  <a16:creationId xmlns:a16="http://schemas.microsoft.com/office/drawing/2014/main" id="{BD4F26A5-4C95-F4AE-5CB6-CC95F69E3DCD}"/>
                </a:ext>
              </a:extLst>
            </p:cNvPr>
            <p:cNvSpPr>
              <a:spLocks noChangeArrowheads="1"/>
            </p:cNvSpPr>
            <p:nvPr/>
          </p:nvSpPr>
          <p:spPr bwMode="auto">
            <a:xfrm>
              <a:off x="4567" y="3513"/>
              <a:ext cx="103" cy="424"/>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35" name="Line 40">
              <a:extLst>
                <a:ext uri="{FF2B5EF4-FFF2-40B4-BE49-F238E27FC236}">
                  <a16:creationId xmlns:a16="http://schemas.microsoft.com/office/drawing/2014/main" id="{26643D67-C72D-CAAC-792C-125EA250AF34}"/>
                </a:ext>
              </a:extLst>
            </p:cNvPr>
            <p:cNvSpPr>
              <a:spLocks noChangeShapeType="1"/>
            </p:cNvSpPr>
            <p:nvPr/>
          </p:nvSpPr>
          <p:spPr bwMode="auto">
            <a:xfrm>
              <a:off x="4377" y="3593"/>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836" name="Line 41">
              <a:extLst>
                <a:ext uri="{FF2B5EF4-FFF2-40B4-BE49-F238E27FC236}">
                  <a16:creationId xmlns:a16="http://schemas.microsoft.com/office/drawing/2014/main" id="{7ADA6B91-0DF6-89BE-1473-43CA9E7BB97E}"/>
                </a:ext>
              </a:extLst>
            </p:cNvPr>
            <p:cNvSpPr>
              <a:spLocks noChangeShapeType="1"/>
            </p:cNvSpPr>
            <p:nvPr/>
          </p:nvSpPr>
          <p:spPr bwMode="auto">
            <a:xfrm>
              <a:off x="4427" y="3731"/>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837" name="Line 42">
              <a:extLst>
                <a:ext uri="{FF2B5EF4-FFF2-40B4-BE49-F238E27FC236}">
                  <a16:creationId xmlns:a16="http://schemas.microsoft.com/office/drawing/2014/main" id="{6BC5E13A-012E-B035-A35D-FFAB1B678793}"/>
                </a:ext>
              </a:extLst>
            </p:cNvPr>
            <p:cNvSpPr>
              <a:spLocks noChangeShapeType="1"/>
            </p:cNvSpPr>
            <p:nvPr/>
          </p:nvSpPr>
          <p:spPr bwMode="auto">
            <a:xfrm>
              <a:off x="4463" y="3871"/>
              <a:ext cx="136" cy="0"/>
            </a:xfrm>
            <a:prstGeom prst="line">
              <a:avLst/>
            </a:prstGeom>
            <a:noFill/>
            <a:ln w="571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838" name="AutoShape 43">
              <a:extLst>
                <a:ext uri="{FF2B5EF4-FFF2-40B4-BE49-F238E27FC236}">
                  <a16:creationId xmlns:a16="http://schemas.microsoft.com/office/drawing/2014/main" id="{EF9D0407-FF1B-04DE-28D9-42CA024F44D7}"/>
                </a:ext>
              </a:extLst>
            </p:cNvPr>
            <p:cNvSpPr>
              <a:spLocks noChangeArrowheads="1"/>
            </p:cNvSpPr>
            <p:nvPr/>
          </p:nvSpPr>
          <p:spPr bwMode="auto">
            <a:xfrm>
              <a:off x="4543" y="3569"/>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39" name="AutoShape 44">
              <a:extLst>
                <a:ext uri="{FF2B5EF4-FFF2-40B4-BE49-F238E27FC236}">
                  <a16:creationId xmlns:a16="http://schemas.microsoft.com/office/drawing/2014/main" id="{0327927E-8CDF-CEA7-0FE5-43E2CCBF0C4C}"/>
                </a:ext>
              </a:extLst>
            </p:cNvPr>
            <p:cNvSpPr>
              <a:spLocks noChangeArrowheads="1"/>
            </p:cNvSpPr>
            <p:nvPr/>
          </p:nvSpPr>
          <p:spPr bwMode="auto">
            <a:xfrm>
              <a:off x="4576" y="3707"/>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40" name="AutoShape 45">
              <a:extLst>
                <a:ext uri="{FF2B5EF4-FFF2-40B4-BE49-F238E27FC236}">
                  <a16:creationId xmlns:a16="http://schemas.microsoft.com/office/drawing/2014/main" id="{A1C50BB6-F0F7-7709-1394-8D8481A2A02F}"/>
                </a:ext>
              </a:extLst>
            </p:cNvPr>
            <p:cNvSpPr>
              <a:spLocks noChangeArrowheads="1"/>
            </p:cNvSpPr>
            <p:nvPr/>
          </p:nvSpPr>
          <p:spPr bwMode="auto">
            <a:xfrm>
              <a:off x="4614" y="3847"/>
              <a:ext cx="56" cy="48"/>
            </a:xfrm>
            <a:prstGeom prst="triangle">
              <a:avLst>
                <a:gd name="adj" fmla="val 50000"/>
              </a:avLst>
            </a:prstGeom>
            <a:solidFill>
              <a:schemeClr val="bg2"/>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
        <p:nvSpPr>
          <p:cNvPr id="29722" name="Rectangle 46">
            <a:extLst>
              <a:ext uri="{FF2B5EF4-FFF2-40B4-BE49-F238E27FC236}">
                <a16:creationId xmlns:a16="http://schemas.microsoft.com/office/drawing/2014/main" id="{F30D95CD-B596-B9A7-445D-F582B88038E0}"/>
              </a:ext>
            </a:extLst>
          </p:cNvPr>
          <p:cNvSpPr>
            <a:spLocks noChangeArrowheads="1"/>
          </p:cNvSpPr>
          <p:nvPr/>
        </p:nvSpPr>
        <p:spPr bwMode="auto">
          <a:xfrm>
            <a:off x="8394700" y="5167313"/>
            <a:ext cx="1000125" cy="788987"/>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29723" name="Freeform 47">
            <a:extLst>
              <a:ext uri="{FF2B5EF4-FFF2-40B4-BE49-F238E27FC236}">
                <a16:creationId xmlns:a16="http://schemas.microsoft.com/office/drawing/2014/main" id="{C0E8230B-2F0B-B45B-72E8-E8A508800286}"/>
              </a:ext>
            </a:extLst>
          </p:cNvPr>
          <p:cNvSpPr/>
          <p:nvPr/>
        </p:nvSpPr>
        <p:spPr bwMode="auto">
          <a:xfrm>
            <a:off x="8399463" y="5364163"/>
            <a:ext cx="987425" cy="523875"/>
          </a:xfrm>
          <a:custGeom>
            <a:gdLst>
              <a:gd name="T0" fmla="*/ 0 w 596"/>
              <a:gd name="T1" fmla="*/ 2147483646 h 330"/>
              <a:gd name="T2" fmla="*/ 2147483646 w 596"/>
              <a:gd name="T3" fmla="*/ 2147483646 h 330"/>
              <a:gd name="T4" fmla="*/ 2147483646 w 596"/>
              <a:gd name="T5" fmla="*/ 2147483646 h 330"/>
              <a:gd name="T6" fmla="*/ 2147483646 w 596"/>
              <a:gd name="T7" fmla="*/ 2147483646 h 330"/>
              <a:gd name="T8" fmla="*/ 2147483646 w 596"/>
              <a:gd name="T9" fmla="*/ 2147483646 h 330"/>
              <a:gd name="T10" fmla="*/ 2147483646 w 596"/>
              <a:gd name="T11" fmla="*/ 2147483646 h 330"/>
              <a:gd name="T12" fmla="*/ 2147483646 w 596"/>
              <a:gd name="T13" fmla="*/ 2147483646 h 330"/>
              <a:gd name="T14" fmla="*/ 2147483646 w 596"/>
              <a:gd name="T15" fmla="*/ 2147483646 h 330"/>
              <a:gd name="T16" fmla="*/ 2147483646 w 596"/>
              <a:gd name="T17" fmla="*/ 2147483646 h 330"/>
              <a:gd name="T18" fmla="*/ 2147483646 w 596"/>
              <a:gd name="T19" fmla="*/ 2147483646 h 330"/>
              <a:gd name="T20" fmla="*/ 2147483646 w 596"/>
              <a:gd name="T21" fmla="*/ 2147483646 h 330"/>
              <a:gd name="T22" fmla="*/ 2147483646 w 596"/>
              <a:gd name="T23" fmla="*/ 2147483646 h 330"/>
              <a:gd name="T24" fmla="*/ 2147483646 w 596"/>
              <a:gd name="T25" fmla="*/ 2147483646 h 330"/>
              <a:gd name="T26" fmla="*/ 2147483646 w 596"/>
              <a:gd name="T27" fmla="*/ 2147483646 h 330"/>
              <a:gd name="T28" fmla="*/ 2147483646 w 596"/>
              <a:gd name="T29" fmla="*/ 2147483646 h 330"/>
              <a:gd name="T30" fmla="*/ 2147483646 w 596"/>
              <a:gd name="T31" fmla="*/ 2147483646 h 330"/>
              <a:gd name="T32" fmla="*/ 2147483646 w 596"/>
              <a:gd name="T33" fmla="*/ 2147483646 h 330"/>
              <a:gd name="T34" fmla="*/ 2147483646 w 596"/>
              <a:gd name="T35" fmla="*/ 2147483646 h 330"/>
              <a:gd name="T36" fmla="*/ 2147483646 w 596"/>
              <a:gd name="T37" fmla="*/ 2147483646 h 330"/>
              <a:gd name="T38" fmla="*/ 2147483646 w 596"/>
              <a:gd name="T39" fmla="*/ 0 h 3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96" h="330">
                <a:moveTo>
                  <a:pt x="0" y="330"/>
                </a:moveTo>
                <a:lnTo>
                  <a:pt x="59" y="264"/>
                </a:lnTo>
                <a:lnTo>
                  <a:pt x="77" y="295"/>
                </a:lnTo>
                <a:lnTo>
                  <a:pt x="101" y="267"/>
                </a:lnTo>
                <a:lnTo>
                  <a:pt x="123" y="291"/>
                </a:lnTo>
                <a:lnTo>
                  <a:pt x="228" y="144"/>
                </a:lnTo>
                <a:lnTo>
                  <a:pt x="246" y="186"/>
                </a:lnTo>
                <a:lnTo>
                  <a:pt x="293" y="138"/>
                </a:lnTo>
                <a:lnTo>
                  <a:pt x="302" y="160"/>
                </a:lnTo>
                <a:lnTo>
                  <a:pt x="360" y="106"/>
                </a:lnTo>
                <a:lnTo>
                  <a:pt x="368" y="136"/>
                </a:lnTo>
                <a:lnTo>
                  <a:pt x="408" y="28"/>
                </a:lnTo>
                <a:lnTo>
                  <a:pt x="435" y="222"/>
                </a:lnTo>
                <a:lnTo>
                  <a:pt x="446" y="177"/>
                </a:lnTo>
                <a:lnTo>
                  <a:pt x="464" y="207"/>
                </a:lnTo>
                <a:lnTo>
                  <a:pt x="488" y="148"/>
                </a:lnTo>
                <a:lnTo>
                  <a:pt x="510" y="183"/>
                </a:lnTo>
                <a:lnTo>
                  <a:pt x="552" y="13"/>
                </a:lnTo>
                <a:lnTo>
                  <a:pt x="567" y="43"/>
                </a:lnTo>
                <a:lnTo>
                  <a:pt x="596" y="0"/>
                </a:lnTo>
              </a:path>
            </a:pathLst>
          </a:custGeom>
          <a:noFill/>
          <a:ln w="19050" cap="flat" cmpd="sng">
            <a:solidFill>
              <a:schemeClr val="bg2"/>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724" name="Oval 48">
            <a:extLst>
              <a:ext uri="{FF2B5EF4-FFF2-40B4-BE49-F238E27FC236}">
                <a16:creationId xmlns:a16="http://schemas.microsoft.com/office/drawing/2014/main" id="{D84E738F-DD87-143C-22E4-06013AD51394}"/>
              </a:ext>
            </a:extLst>
          </p:cNvPr>
          <p:cNvSpPr>
            <a:spLocks noChangeArrowheads="1"/>
          </p:cNvSpPr>
          <p:nvPr/>
        </p:nvSpPr>
        <p:spPr bwMode="auto">
          <a:xfrm>
            <a:off x="490538" y="2024063"/>
            <a:ext cx="249237"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1</a:t>
            </a:r>
          </a:p>
        </p:txBody>
      </p:sp>
      <p:sp>
        <p:nvSpPr>
          <p:cNvPr id="29725" name="Oval 49">
            <a:extLst>
              <a:ext uri="{FF2B5EF4-FFF2-40B4-BE49-F238E27FC236}">
                <a16:creationId xmlns:a16="http://schemas.microsoft.com/office/drawing/2014/main" id="{FB0277A6-A16A-7F43-57BD-CEA048CABB19}"/>
              </a:ext>
            </a:extLst>
          </p:cNvPr>
          <p:cNvSpPr>
            <a:spLocks noChangeArrowheads="1"/>
          </p:cNvSpPr>
          <p:nvPr/>
        </p:nvSpPr>
        <p:spPr bwMode="auto">
          <a:xfrm>
            <a:off x="1806575" y="2024063"/>
            <a:ext cx="247650"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2</a:t>
            </a:r>
          </a:p>
        </p:txBody>
      </p:sp>
      <p:sp>
        <p:nvSpPr>
          <p:cNvPr id="29726" name="Oval 50">
            <a:extLst>
              <a:ext uri="{FF2B5EF4-FFF2-40B4-BE49-F238E27FC236}">
                <a16:creationId xmlns:a16="http://schemas.microsoft.com/office/drawing/2014/main" id="{8E82F5BC-BBEE-A8A9-8AD6-AC22F290BCB1}"/>
              </a:ext>
            </a:extLst>
          </p:cNvPr>
          <p:cNvSpPr>
            <a:spLocks noChangeArrowheads="1"/>
          </p:cNvSpPr>
          <p:nvPr/>
        </p:nvSpPr>
        <p:spPr bwMode="auto">
          <a:xfrm>
            <a:off x="3079750" y="2024063"/>
            <a:ext cx="247650"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3</a:t>
            </a:r>
          </a:p>
        </p:txBody>
      </p:sp>
      <p:sp>
        <p:nvSpPr>
          <p:cNvPr id="29727" name="Oval 51">
            <a:extLst>
              <a:ext uri="{FF2B5EF4-FFF2-40B4-BE49-F238E27FC236}">
                <a16:creationId xmlns:a16="http://schemas.microsoft.com/office/drawing/2014/main" id="{501234A2-6414-F7D6-152C-2CF99C9B8A4F}"/>
              </a:ext>
            </a:extLst>
          </p:cNvPr>
          <p:cNvSpPr>
            <a:spLocks noChangeArrowheads="1"/>
          </p:cNvSpPr>
          <p:nvPr/>
        </p:nvSpPr>
        <p:spPr bwMode="auto">
          <a:xfrm>
            <a:off x="4356100" y="2024063"/>
            <a:ext cx="247650"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4</a:t>
            </a:r>
          </a:p>
        </p:txBody>
      </p:sp>
      <p:sp>
        <p:nvSpPr>
          <p:cNvPr id="29728" name="Oval 52">
            <a:extLst>
              <a:ext uri="{FF2B5EF4-FFF2-40B4-BE49-F238E27FC236}">
                <a16:creationId xmlns:a16="http://schemas.microsoft.com/office/drawing/2014/main" id="{8D63A34E-1454-EC4A-99B0-AEBBFEEB2F6C}"/>
              </a:ext>
            </a:extLst>
          </p:cNvPr>
          <p:cNvSpPr>
            <a:spLocks noChangeArrowheads="1"/>
          </p:cNvSpPr>
          <p:nvPr/>
        </p:nvSpPr>
        <p:spPr bwMode="auto">
          <a:xfrm>
            <a:off x="5629275" y="2024063"/>
            <a:ext cx="249238"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5</a:t>
            </a:r>
          </a:p>
        </p:txBody>
      </p:sp>
      <p:sp>
        <p:nvSpPr>
          <p:cNvPr id="29729" name="Oval 53">
            <a:extLst>
              <a:ext uri="{FF2B5EF4-FFF2-40B4-BE49-F238E27FC236}">
                <a16:creationId xmlns:a16="http://schemas.microsoft.com/office/drawing/2014/main" id="{FF521E97-7FD1-2037-049E-DE2C4722488A}"/>
              </a:ext>
            </a:extLst>
          </p:cNvPr>
          <p:cNvSpPr>
            <a:spLocks noChangeArrowheads="1"/>
          </p:cNvSpPr>
          <p:nvPr/>
        </p:nvSpPr>
        <p:spPr bwMode="auto">
          <a:xfrm>
            <a:off x="6905625" y="2024063"/>
            <a:ext cx="249238"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6</a:t>
            </a:r>
          </a:p>
        </p:txBody>
      </p:sp>
      <p:sp>
        <p:nvSpPr>
          <p:cNvPr id="29730" name="Oval 54">
            <a:extLst>
              <a:ext uri="{FF2B5EF4-FFF2-40B4-BE49-F238E27FC236}">
                <a16:creationId xmlns:a16="http://schemas.microsoft.com/office/drawing/2014/main" id="{D6C6E142-A144-4CF2-5692-75CC480CB9D9}"/>
              </a:ext>
            </a:extLst>
          </p:cNvPr>
          <p:cNvSpPr>
            <a:spLocks noChangeArrowheads="1"/>
          </p:cNvSpPr>
          <p:nvPr/>
        </p:nvSpPr>
        <p:spPr bwMode="auto">
          <a:xfrm>
            <a:off x="8180388" y="2024063"/>
            <a:ext cx="250825" cy="2381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7</a:t>
            </a:r>
          </a:p>
        </p:txBody>
      </p:sp>
      <p:sp>
        <p:nvSpPr>
          <p:cNvPr id="29731" name="Text Box 55">
            <a:extLst>
              <a:ext uri="{FF2B5EF4-FFF2-40B4-BE49-F238E27FC236}">
                <a16:creationId xmlns:a16="http://schemas.microsoft.com/office/drawing/2014/main" id="{8BEF9DFF-EFE6-E4C9-DB0D-306EA84946DA}"/>
              </a:ext>
            </a:extLst>
          </p:cNvPr>
          <p:cNvSpPr txBox="1">
            <a:spLocks noChangeArrowheads="1"/>
          </p:cNvSpPr>
          <p:nvPr/>
        </p:nvSpPr>
        <p:spPr bwMode="auto">
          <a:xfrm>
            <a:off x="4503738" y="2598738"/>
            <a:ext cx="1212850"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75000"/>
              </a:lnSpc>
              <a:spcBef>
                <a:spcPct val="50000"/>
              </a:spcBef>
              <a:buFontTx/>
              <a:buNone/>
            </a:pPr>
            <a:r>
              <a:rPr lang="en-US" altLang="ko-KR" sz="1200">
                <a:ea typeface="굴림" panose="020b0600000101010101" pitchFamily="34" charset="-127"/>
              </a:rPr>
              <a:t>Conduct leve-rage-back neg.</a:t>
            </a:r>
          </a:p>
        </p:txBody>
      </p:sp>
      <p:cxnSp>
        <p:nvCxnSpPr>
          <p:cNvPr id="29732" name="AutoShape 56">
            <a:extLst>
              <a:ext uri="{FF2B5EF4-FFF2-40B4-BE49-F238E27FC236}">
                <a16:creationId xmlns:a16="http://schemas.microsoft.com/office/drawing/2014/main" id="{2EF0EA5A-8EAC-E3C7-7A28-ECD83FC11454}"/>
              </a:ext>
            </a:extLst>
          </p:cNvPr>
          <p:cNvCxnSpPr>
            <a:cxnSpLocks noChangeShapeType="1"/>
            <a:stCxn id="29704" idx="1"/>
            <a:endCxn id="29704" idx="3"/>
          </p:cNvCxnSpPr>
          <p:nvPr/>
        </p:nvCxnSpPr>
        <p:spPr bwMode="auto">
          <a:xfrm>
            <a:off x="3317875" y="2533650"/>
            <a:ext cx="1220788" cy="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3" name="AutoShape 57">
            <a:extLst>
              <a:ext uri="{FF2B5EF4-FFF2-40B4-BE49-F238E27FC236}">
                <a16:creationId xmlns:a16="http://schemas.microsoft.com/office/drawing/2014/main" id="{EF0888CD-770C-A39A-0B6C-1FBF1935435D}"/>
              </a:ext>
            </a:extLst>
          </p:cNvPr>
          <p:cNvCxnSpPr>
            <a:cxnSpLocks noChangeShapeType="1"/>
            <a:stCxn id="29703" idx="1"/>
            <a:endCxn id="29703" idx="3"/>
          </p:cNvCxnSpPr>
          <p:nvPr/>
        </p:nvCxnSpPr>
        <p:spPr bwMode="auto">
          <a:xfrm>
            <a:off x="2043113" y="2533650"/>
            <a:ext cx="1220787" cy="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4" name="AutoShape 58">
            <a:extLst>
              <a:ext uri="{FF2B5EF4-FFF2-40B4-BE49-F238E27FC236}">
                <a16:creationId xmlns:a16="http://schemas.microsoft.com/office/drawing/2014/main" id="{E32FD73E-8BFE-E3A9-3C24-9C8CC4A42664}"/>
              </a:ext>
            </a:extLst>
          </p:cNvPr>
          <p:cNvCxnSpPr>
            <a:cxnSpLocks noChangeShapeType="1"/>
            <a:stCxn id="29705" idx="3"/>
            <a:endCxn id="29705" idx="1"/>
          </p:cNvCxnSpPr>
          <p:nvPr/>
        </p:nvCxnSpPr>
        <p:spPr bwMode="auto">
          <a:xfrm flipH="1">
            <a:off x="4591050" y="2533650"/>
            <a:ext cx="1219200" cy="0"/>
          </a:xfrm>
          <a:prstGeom prst="straightConnector1">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35" name="Rectangle 59">
            <a:extLst>
              <a:ext uri="{FF2B5EF4-FFF2-40B4-BE49-F238E27FC236}">
                <a16:creationId xmlns:a16="http://schemas.microsoft.com/office/drawing/2014/main" id="{704C2537-7B38-8B09-BD5D-2728EBED4223}"/>
              </a:ext>
            </a:extLst>
          </p:cNvPr>
          <p:cNvSpPr>
            <a:spLocks noChangeArrowheads="1"/>
          </p:cNvSpPr>
          <p:nvPr/>
        </p:nvSpPr>
        <p:spPr bwMode="auto">
          <a:xfrm>
            <a:off x="7031038" y="3009900"/>
            <a:ext cx="1182687" cy="163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Conduct internal and manage supplier planning sessions</a:t>
            </a:r>
          </a:p>
          <a:p>
            <a:pPr>
              <a:spcBef>
                <a:spcPct val="30000"/>
              </a:spcBef>
              <a:buFontTx/>
              <a:buChar char="•"/>
            </a:pPr>
            <a:r>
              <a:rPr lang="en-US" altLang="ko-KR" sz="1000" b="0">
                <a:ea typeface="굴림" panose="020b0600000101010101" pitchFamily="34" charset="-127"/>
              </a:rPr>
              <a:t>Develop transi-tion plan</a:t>
            </a:r>
          </a:p>
          <a:p>
            <a:pPr>
              <a:spcBef>
                <a:spcPct val="30000"/>
              </a:spcBef>
              <a:buFontTx/>
              <a:buChar char="•"/>
            </a:pPr>
            <a:r>
              <a:rPr lang="en-US" altLang="ko-KR" sz="1000" b="0">
                <a:ea typeface="굴림" panose="020b0600000101010101" pitchFamily="34" charset="-127"/>
              </a:rPr>
              <a:t>Execute levera-ge-back agree-ments</a:t>
            </a:r>
          </a:p>
          <a:p>
            <a:pPr>
              <a:spcBef>
                <a:spcPct val="30000"/>
              </a:spcBef>
              <a:buFontTx/>
              <a:buChar char="•"/>
            </a:pPr>
            <a:r>
              <a:rPr lang="en-US" altLang="ko-KR" sz="1000" b="0">
                <a:ea typeface="굴림" panose="020b0600000101010101" pitchFamily="34" charset="-127"/>
              </a:rPr>
              <a:t>Execute new supplier agree-ments</a:t>
            </a:r>
          </a:p>
        </p:txBody>
      </p:sp>
      <p:sp>
        <p:nvSpPr>
          <p:cNvPr id="29736" name="Rectangle 60">
            <a:extLst>
              <a:ext uri="{FF2B5EF4-FFF2-40B4-BE49-F238E27FC236}">
                <a16:creationId xmlns:a16="http://schemas.microsoft.com/office/drawing/2014/main" id="{D889E7D8-BA32-2648-29E6-8112D4B03162}"/>
              </a:ext>
            </a:extLst>
          </p:cNvPr>
          <p:cNvSpPr>
            <a:spLocks noChangeArrowheads="1"/>
          </p:cNvSpPr>
          <p:nvPr/>
        </p:nvSpPr>
        <p:spPr bwMode="auto">
          <a:xfrm>
            <a:off x="8301038" y="3009900"/>
            <a:ext cx="1185862" cy="1320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Document long-term strategies</a:t>
            </a:r>
          </a:p>
          <a:p>
            <a:pPr>
              <a:spcBef>
                <a:spcPct val="30000"/>
              </a:spcBef>
              <a:buFontTx/>
              <a:buChar char="•"/>
            </a:pPr>
            <a:r>
              <a:rPr lang="en-US" altLang="ko-KR" sz="1000" b="0">
                <a:ea typeface="굴림" panose="020b0600000101010101" pitchFamily="34" charset="-127"/>
              </a:rPr>
              <a:t>Prepare and execute category strategic sourcing cycling plan</a:t>
            </a:r>
          </a:p>
          <a:p>
            <a:pPr>
              <a:spcBef>
                <a:spcPct val="30000"/>
              </a:spcBef>
              <a:buFontTx/>
              <a:buChar char="•"/>
            </a:pPr>
            <a:r>
              <a:rPr lang="en-US" altLang="ko-KR" sz="1000" b="0">
                <a:ea typeface="굴림" panose="020b0600000101010101" pitchFamily="34" charset="-127"/>
              </a:rPr>
              <a:t>Implement systems to track progress</a:t>
            </a:r>
          </a:p>
        </p:txBody>
      </p:sp>
      <p:sp>
        <p:nvSpPr>
          <p:cNvPr id="29737" name="Rectangle 61">
            <a:extLst>
              <a:ext uri="{FF2B5EF4-FFF2-40B4-BE49-F238E27FC236}">
                <a16:creationId xmlns:a16="http://schemas.microsoft.com/office/drawing/2014/main" id="{FAE697D5-7D2C-6C68-FFDC-D7E442E0FD82}"/>
              </a:ext>
            </a:extLst>
          </p:cNvPr>
          <p:cNvSpPr>
            <a:spLocks noChangeArrowheads="1"/>
          </p:cNvSpPr>
          <p:nvPr/>
        </p:nvSpPr>
        <p:spPr bwMode="auto">
          <a:xfrm>
            <a:off x="612775" y="6132513"/>
            <a:ext cx="1216025" cy="409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Detailed data-base with commercial and technical data</a:t>
            </a:r>
          </a:p>
        </p:txBody>
      </p:sp>
      <p:sp>
        <p:nvSpPr>
          <p:cNvPr id="29738" name="Rectangle 62">
            <a:extLst>
              <a:ext uri="{FF2B5EF4-FFF2-40B4-BE49-F238E27FC236}">
                <a16:creationId xmlns:a16="http://schemas.microsoft.com/office/drawing/2014/main" id="{116875CA-645F-6AAB-A0F3-51169EDBAA3E}"/>
              </a:ext>
            </a:extLst>
          </p:cNvPr>
          <p:cNvSpPr>
            <a:spLocks noChangeArrowheads="1"/>
          </p:cNvSpPr>
          <p:nvPr/>
        </p:nvSpPr>
        <p:spPr bwMode="auto">
          <a:xfrm>
            <a:off x="1914525" y="6132513"/>
            <a:ext cx="1216025" cy="319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Supplier strategy</a:t>
            </a:r>
          </a:p>
          <a:p>
            <a:pPr>
              <a:spcBef>
                <a:spcPct val="30000"/>
              </a:spcBef>
              <a:buFontTx/>
              <a:buChar char="•"/>
            </a:pPr>
            <a:r>
              <a:rPr lang="en-US" altLang="ko-KR" sz="1000" b="0">
                <a:ea typeface="굴림" panose="020b0600000101010101" pitchFamily="34" charset="-127"/>
              </a:rPr>
              <a:t>CRA models</a:t>
            </a:r>
          </a:p>
        </p:txBody>
      </p:sp>
      <p:sp>
        <p:nvSpPr>
          <p:cNvPr id="29739" name="Rectangle 63">
            <a:extLst>
              <a:ext uri="{FF2B5EF4-FFF2-40B4-BE49-F238E27FC236}">
                <a16:creationId xmlns:a16="http://schemas.microsoft.com/office/drawing/2014/main" id="{0CD3EC56-F4CA-8F2F-53DC-A53710E94F4B}"/>
              </a:ext>
            </a:extLst>
          </p:cNvPr>
          <p:cNvSpPr>
            <a:spLocks noChangeArrowheads="1"/>
          </p:cNvSpPr>
          <p:nvPr/>
        </p:nvSpPr>
        <p:spPr bwMode="auto">
          <a:xfrm>
            <a:off x="3213100" y="6132513"/>
            <a:ext cx="1239838" cy="319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Supplier short-list</a:t>
            </a:r>
          </a:p>
          <a:p>
            <a:pPr>
              <a:spcBef>
                <a:spcPct val="30000"/>
              </a:spcBef>
              <a:buFontTx/>
              <a:buChar char="•"/>
            </a:pPr>
            <a:r>
              <a:rPr lang="en-US" altLang="ko-KR" sz="1000" b="0">
                <a:ea typeface="굴림" panose="020b0600000101010101" pitchFamily="34" charset="-127"/>
              </a:rPr>
              <a:t>Savings potentials</a:t>
            </a:r>
          </a:p>
        </p:txBody>
      </p:sp>
      <p:sp>
        <p:nvSpPr>
          <p:cNvPr id="29740" name="Rectangle 64">
            <a:extLst>
              <a:ext uri="{FF2B5EF4-FFF2-40B4-BE49-F238E27FC236}">
                <a16:creationId xmlns:a16="http://schemas.microsoft.com/office/drawing/2014/main" id="{9F3EE107-3011-A2B1-2483-DD16191FFA65}"/>
              </a:ext>
            </a:extLst>
          </p:cNvPr>
          <p:cNvSpPr>
            <a:spLocks noChangeArrowheads="1"/>
          </p:cNvSpPr>
          <p:nvPr/>
        </p:nvSpPr>
        <p:spPr bwMode="auto">
          <a:xfrm>
            <a:off x="4484688" y="6132513"/>
            <a:ext cx="1216025" cy="455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RFP</a:t>
            </a:r>
          </a:p>
          <a:p>
            <a:pPr>
              <a:spcBef>
                <a:spcPct val="30000"/>
              </a:spcBef>
              <a:buFontTx/>
              <a:buChar char="•"/>
            </a:pPr>
            <a:r>
              <a:rPr lang="en-US" altLang="ko-KR" sz="1000" b="0">
                <a:ea typeface="굴림" panose="020b0600000101010101" pitchFamily="34" charset="-127"/>
              </a:rPr>
              <a:t>First implemented savings</a:t>
            </a:r>
          </a:p>
        </p:txBody>
      </p:sp>
      <p:sp>
        <p:nvSpPr>
          <p:cNvPr id="29741" name="Rectangle 65">
            <a:extLst>
              <a:ext uri="{FF2B5EF4-FFF2-40B4-BE49-F238E27FC236}">
                <a16:creationId xmlns:a16="http://schemas.microsoft.com/office/drawing/2014/main" id="{E150D8E6-7203-7663-57D6-1D86C69CBF83}"/>
              </a:ext>
            </a:extLst>
          </p:cNvPr>
          <p:cNvSpPr>
            <a:spLocks noChangeArrowheads="1"/>
          </p:cNvSpPr>
          <p:nvPr/>
        </p:nvSpPr>
        <p:spPr bwMode="auto">
          <a:xfrm>
            <a:off x="5757863" y="6132513"/>
            <a:ext cx="1216025" cy="319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Quote analysis</a:t>
            </a:r>
          </a:p>
          <a:p>
            <a:pPr>
              <a:spcBef>
                <a:spcPct val="30000"/>
              </a:spcBef>
              <a:buFontTx/>
              <a:buChar char="•"/>
            </a:pPr>
            <a:r>
              <a:rPr lang="en-US" altLang="ko-KR" sz="1000" b="0">
                <a:ea typeface="굴림" panose="020b0600000101010101" pitchFamily="34" charset="-127"/>
              </a:rPr>
              <a:t>Negotiations</a:t>
            </a:r>
          </a:p>
        </p:txBody>
      </p:sp>
      <p:sp>
        <p:nvSpPr>
          <p:cNvPr id="29742" name="Rectangle 66">
            <a:extLst>
              <a:ext uri="{FF2B5EF4-FFF2-40B4-BE49-F238E27FC236}">
                <a16:creationId xmlns:a16="http://schemas.microsoft.com/office/drawing/2014/main" id="{9177A290-D5EC-AC11-2485-44793DF90D7D}"/>
              </a:ext>
            </a:extLst>
          </p:cNvPr>
          <p:cNvSpPr>
            <a:spLocks noChangeArrowheads="1"/>
          </p:cNvSpPr>
          <p:nvPr/>
        </p:nvSpPr>
        <p:spPr bwMode="auto">
          <a:xfrm>
            <a:off x="7031038" y="6132513"/>
            <a:ext cx="1216025"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Implementation plan</a:t>
            </a:r>
          </a:p>
        </p:txBody>
      </p:sp>
      <p:sp>
        <p:nvSpPr>
          <p:cNvPr id="29743" name="Rectangle 67">
            <a:extLst>
              <a:ext uri="{FF2B5EF4-FFF2-40B4-BE49-F238E27FC236}">
                <a16:creationId xmlns:a16="http://schemas.microsoft.com/office/drawing/2014/main" id="{87A88C46-FF86-8803-3976-D25E3FF36631}"/>
              </a:ext>
            </a:extLst>
          </p:cNvPr>
          <p:cNvSpPr>
            <a:spLocks noChangeArrowheads="1"/>
          </p:cNvSpPr>
          <p:nvPr/>
        </p:nvSpPr>
        <p:spPr bwMode="auto">
          <a:xfrm>
            <a:off x="8301038" y="6132513"/>
            <a:ext cx="1216025" cy="319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5888" indent="-1158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76225" indent="-158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3225" indent="-1254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8366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30000"/>
              </a:spcBef>
              <a:buFontTx/>
              <a:buChar char="•"/>
            </a:pPr>
            <a:r>
              <a:rPr lang="en-US" altLang="ko-KR" sz="1000" b="0">
                <a:ea typeface="굴림" panose="020b0600000101010101" pitchFamily="34" charset="-127"/>
              </a:rPr>
              <a:t>Market index</a:t>
            </a:r>
          </a:p>
          <a:p>
            <a:pPr>
              <a:spcBef>
                <a:spcPct val="30000"/>
              </a:spcBef>
              <a:buFontTx/>
              <a:buChar char="•"/>
            </a:pPr>
            <a:r>
              <a:rPr lang="en-US" altLang="ko-KR" sz="1000" b="0">
                <a:ea typeface="굴림" panose="020b0600000101010101" pitchFamily="34" charset="-127"/>
              </a:rPr>
              <a:t>Savings tracking</a:t>
            </a:r>
          </a:p>
        </p:txBody>
      </p:sp>
      <p:grpSp>
        <p:nvGrpSpPr>
          <p:cNvPr id="29744" name="Group 68">
            <a:extLst>
              <a:ext uri="{FF2B5EF4-FFF2-40B4-BE49-F238E27FC236}">
                <a16:creationId xmlns:a16="http://schemas.microsoft.com/office/drawing/2014/main" id="{F048FB62-D13D-2418-55C1-79B46BCE0B71}"/>
              </a:ext>
            </a:extLst>
          </p:cNvPr>
          <p:cNvGrpSpPr/>
          <p:nvPr/>
        </p:nvGrpSpPr>
        <p:grpSpPr>
          <a:xfrm>
            <a:off x="2474913" y="5224463"/>
            <a:ext cx="681037" cy="495300"/>
            <a:chOff x="1439" y="3398"/>
            <a:chExt cx="396" cy="391"/>
          </a:xfrm>
        </p:grpSpPr>
        <p:sp>
          <p:nvSpPr>
            <p:cNvPr id="29752" name="Freeform 69">
              <a:extLst>
                <a:ext uri="{FF2B5EF4-FFF2-40B4-BE49-F238E27FC236}">
                  <a16:creationId xmlns:a16="http://schemas.microsoft.com/office/drawing/2014/main" id="{B183526B-09D0-6A0C-F473-7B33EB9C51C3}"/>
                </a:ext>
              </a:extLst>
            </p:cNvPr>
            <p:cNvSpPr/>
            <p:nvPr/>
          </p:nvSpPr>
          <p:spPr bwMode="auto">
            <a:xfrm>
              <a:off x="1439" y="3398"/>
              <a:ext cx="396" cy="391"/>
            </a:xfrm>
            <a:custGeom>
              <a:gdLst>
                <a:gd name="T0" fmla="*/ 0 w 276"/>
                <a:gd name="T1" fmla="*/ 0 h 391"/>
                <a:gd name="T2" fmla="*/ 0 w 276"/>
                <a:gd name="T3" fmla="*/ 391 h 391"/>
                <a:gd name="T4" fmla="*/ 3452 w 276"/>
                <a:gd name="T5" fmla="*/ 391 h 391"/>
                <a:gd name="T6" fmla="*/ 0 60000 65536"/>
                <a:gd name="T7" fmla="*/ 0 60000 65536"/>
                <a:gd name="T8" fmla="*/ 0 60000 65536"/>
              </a:gdLst>
              <a:cxnLst>
                <a:cxn ang="T6">
                  <a:pos x="T0" y="T1"/>
                </a:cxn>
                <a:cxn ang="T7">
                  <a:pos x="T2" y="T3"/>
                </a:cxn>
                <a:cxn ang="T8">
                  <a:pos x="T4" y="T5"/>
                </a:cxn>
              </a:cxnLst>
              <a:rect l="0" t="0" r="r" b="b"/>
              <a:pathLst>
                <a:path w="276" h="391">
                  <a:moveTo>
                    <a:pt x="0" y="0"/>
                  </a:moveTo>
                  <a:lnTo>
                    <a:pt x="0" y="391"/>
                  </a:lnTo>
                  <a:lnTo>
                    <a:pt x="276" y="391"/>
                  </a:lnTo>
                </a:path>
              </a:pathLst>
            </a:custGeom>
            <a:noFill/>
            <a:ln w="9525"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753" name="Oval 70">
              <a:extLst>
                <a:ext uri="{FF2B5EF4-FFF2-40B4-BE49-F238E27FC236}">
                  <a16:creationId xmlns:a16="http://schemas.microsoft.com/office/drawing/2014/main" id="{FD8F9E32-A6DA-F5DB-151B-2168260FBF30}"/>
                </a:ext>
              </a:extLst>
            </p:cNvPr>
            <p:cNvSpPr>
              <a:spLocks noChangeArrowheads="1"/>
            </p:cNvSpPr>
            <p:nvPr/>
          </p:nvSpPr>
          <p:spPr bwMode="auto">
            <a:xfrm>
              <a:off x="1580" y="353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54" name="Oval 71">
              <a:extLst>
                <a:ext uri="{FF2B5EF4-FFF2-40B4-BE49-F238E27FC236}">
                  <a16:creationId xmlns:a16="http://schemas.microsoft.com/office/drawing/2014/main" id="{95FC8B63-646C-1AAF-F305-9805AE861A45}"/>
                </a:ext>
              </a:extLst>
            </p:cNvPr>
            <p:cNvSpPr>
              <a:spLocks noChangeArrowheads="1"/>
            </p:cNvSpPr>
            <p:nvPr/>
          </p:nvSpPr>
          <p:spPr bwMode="auto">
            <a:xfrm>
              <a:off x="1568" y="356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55" name="Oval 72">
              <a:extLst>
                <a:ext uri="{FF2B5EF4-FFF2-40B4-BE49-F238E27FC236}">
                  <a16:creationId xmlns:a16="http://schemas.microsoft.com/office/drawing/2014/main" id="{898A8319-03E3-16A8-D8B1-C10589569176}"/>
                </a:ext>
              </a:extLst>
            </p:cNvPr>
            <p:cNvSpPr>
              <a:spLocks noChangeArrowheads="1"/>
            </p:cNvSpPr>
            <p:nvPr/>
          </p:nvSpPr>
          <p:spPr bwMode="auto">
            <a:xfrm>
              <a:off x="1604" y="353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56" name="Oval 73">
              <a:extLst>
                <a:ext uri="{FF2B5EF4-FFF2-40B4-BE49-F238E27FC236}">
                  <a16:creationId xmlns:a16="http://schemas.microsoft.com/office/drawing/2014/main" id="{7C146FE7-B758-EA75-EE3A-7438305DCE53}"/>
                </a:ext>
              </a:extLst>
            </p:cNvPr>
            <p:cNvSpPr>
              <a:spLocks noChangeArrowheads="1"/>
            </p:cNvSpPr>
            <p:nvPr/>
          </p:nvSpPr>
          <p:spPr bwMode="auto">
            <a:xfrm>
              <a:off x="1592" y="356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57" name="Oval 74">
              <a:extLst>
                <a:ext uri="{FF2B5EF4-FFF2-40B4-BE49-F238E27FC236}">
                  <a16:creationId xmlns:a16="http://schemas.microsoft.com/office/drawing/2014/main" id="{1F0094C6-DADB-5DE0-B7B6-9F6D199D559A}"/>
                </a:ext>
              </a:extLst>
            </p:cNvPr>
            <p:cNvSpPr>
              <a:spLocks noChangeArrowheads="1"/>
            </p:cNvSpPr>
            <p:nvPr/>
          </p:nvSpPr>
          <p:spPr bwMode="auto">
            <a:xfrm>
              <a:off x="1556" y="358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58" name="Oval 75">
              <a:extLst>
                <a:ext uri="{FF2B5EF4-FFF2-40B4-BE49-F238E27FC236}">
                  <a16:creationId xmlns:a16="http://schemas.microsoft.com/office/drawing/2014/main" id="{06353049-136E-1042-3D2F-FD2CF2C7FCA7}"/>
                </a:ext>
              </a:extLst>
            </p:cNvPr>
            <p:cNvSpPr>
              <a:spLocks noChangeArrowheads="1"/>
            </p:cNvSpPr>
            <p:nvPr/>
          </p:nvSpPr>
          <p:spPr bwMode="auto">
            <a:xfrm>
              <a:off x="1544" y="3614"/>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59" name="Oval 76">
              <a:extLst>
                <a:ext uri="{FF2B5EF4-FFF2-40B4-BE49-F238E27FC236}">
                  <a16:creationId xmlns:a16="http://schemas.microsoft.com/office/drawing/2014/main" id="{73963212-BA55-7A4C-BCA6-1E4E6943624D}"/>
                </a:ext>
              </a:extLst>
            </p:cNvPr>
            <p:cNvSpPr>
              <a:spLocks noChangeArrowheads="1"/>
            </p:cNvSpPr>
            <p:nvPr/>
          </p:nvSpPr>
          <p:spPr bwMode="auto">
            <a:xfrm>
              <a:off x="1532" y="355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0" name="Oval 77">
              <a:extLst>
                <a:ext uri="{FF2B5EF4-FFF2-40B4-BE49-F238E27FC236}">
                  <a16:creationId xmlns:a16="http://schemas.microsoft.com/office/drawing/2014/main" id="{2907FF45-4667-E00C-71C0-5E8132195524}"/>
                </a:ext>
              </a:extLst>
            </p:cNvPr>
            <p:cNvSpPr>
              <a:spLocks noChangeArrowheads="1"/>
            </p:cNvSpPr>
            <p:nvPr/>
          </p:nvSpPr>
          <p:spPr bwMode="auto">
            <a:xfrm>
              <a:off x="1520" y="358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1" name="Oval 78">
              <a:extLst>
                <a:ext uri="{FF2B5EF4-FFF2-40B4-BE49-F238E27FC236}">
                  <a16:creationId xmlns:a16="http://schemas.microsoft.com/office/drawing/2014/main" id="{33222879-5D4F-6212-0C90-2FA11DAB205E}"/>
                </a:ext>
              </a:extLst>
            </p:cNvPr>
            <p:cNvSpPr>
              <a:spLocks noChangeArrowheads="1"/>
            </p:cNvSpPr>
            <p:nvPr/>
          </p:nvSpPr>
          <p:spPr bwMode="auto">
            <a:xfrm>
              <a:off x="1604" y="357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2" name="Oval 79">
              <a:extLst>
                <a:ext uri="{FF2B5EF4-FFF2-40B4-BE49-F238E27FC236}">
                  <a16:creationId xmlns:a16="http://schemas.microsoft.com/office/drawing/2014/main" id="{76B552AF-4CA4-B7BB-98BC-B9A4B5F04B97}"/>
                </a:ext>
              </a:extLst>
            </p:cNvPr>
            <p:cNvSpPr>
              <a:spLocks noChangeArrowheads="1"/>
            </p:cNvSpPr>
            <p:nvPr/>
          </p:nvSpPr>
          <p:spPr bwMode="auto">
            <a:xfrm>
              <a:off x="1592" y="360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3" name="Oval 80">
              <a:extLst>
                <a:ext uri="{FF2B5EF4-FFF2-40B4-BE49-F238E27FC236}">
                  <a16:creationId xmlns:a16="http://schemas.microsoft.com/office/drawing/2014/main" id="{A7B6AD5A-29B8-5718-ECAE-99B858A1269E}"/>
                </a:ext>
              </a:extLst>
            </p:cNvPr>
            <p:cNvSpPr>
              <a:spLocks noChangeArrowheads="1"/>
            </p:cNvSpPr>
            <p:nvPr/>
          </p:nvSpPr>
          <p:spPr bwMode="auto">
            <a:xfrm>
              <a:off x="1628" y="357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4" name="Oval 81">
              <a:extLst>
                <a:ext uri="{FF2B5EF4-FFF2-40B4-BE49-F238E27FC236}">
                  <a16:creationId xmlns:a16="http://schemas.microsoft.com/office/drawing/2014/main" id="{F7560622-343D-37C3-CF2D-96EA5F8C8DF5}"/>
                </a:ext>
              </a:extLst>
            </p:cNvPr>
            <p:cNvSpPr>
              <a:spLocks noChangeArrowheads="1"/>
            </p:cNvSpPr>
            <p:nvPr/>
          </p:nvSpPr>
          <p:spPr bwMode="auto">
            <a:xfrm>
              <a:off x="1616" y="360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5" name="Oval 82">
              <a:extLst>
                <a:ext uri="{FF2B5EF4-FFF2-40B4-BE49-F238E27FC236}">
                  <a16:creationId xmlns:a16="http://schemas.microsoft.com/office/drawing/2014/main" id="{4BE8B7F8-0841-2D2F-069D-3580BDA30C37}"/>
                </a:ext>
              </a:extLst>
            </p:cNvPr>
            <p:cNvSpPr>
              <a:spLocks noChangeArrowheads="1"/>
            </p:cNvSpPr>
            <p:nvPr/>
          </p:nvSpPr>
          <p:spPr bwMode="auto">
            <a:xfrm>
              <a:off x="1580" y="362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6" name="Oval 83">
              <a:extLst>
                <a:ext uri="{FF2B5EF4-FFF2-40B4-BE49-F238E27FC236}">
                  <a16:creationId xmlns:a16="http://schemas.microsoft.com/office/drawing/2014/main" id="{2C701BCA-2A01-5D32-EF3A-D4E6CB0D1140}"/>
                </a:ext>
              </a:extLst>
            </p:cNvPr>
            <p:cNvSpPr>
              <a:spLocks noChangeArrowheads="1"/>
            </p:cNvSpPr>
            <p:nvPr/>
          </p:nvSpPr>
          <p:spPr bwMode="auto">
            <a:xfrm>
              <a:off x="1568" y="3654"/>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7" name="Oval 84">
              <a:extLst>
                <a:ext uri="{FF2B5EF4-FFF2-40B4-BE49-F238E27FC236}">
                  <a16:creationId xmlns:a16="http://schemas.microsoft.com/office/drawing/2014/main" id="{F25FA2C5-47A6-C49B-259F-B48297A0F393}"/>
                </a:ext>
              </a:extLst>
            </p:cNvPr>
            <p:cNvSpPr>
              <a:spLocks noChangeArrowheads="1"/>
            </p:cNvSpPr>
            <p:nvPr/>
          </p:nvSpPr>
          <p:spPr bwMode="auto">
            <a:xfrm>
              <a:off x="1556" y="359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8" name="Oval 85">
              <a:extLst>
                <a:ext uri="{FF2B5EF4-FFF2-40B4-BE49-F238E27FC236}">
                  <a16:creationId xmlns:a16="http://schemas.microsoft.com/office/drawing/2014/main" id="{62219F73-5B74-47F6-C934-D12BE6ECC339}"/>
                </a:ext>
              </a:extLst>
            </p:cNvPr>
            <p:cNvSpPr>
              <a:spLocks noChangeArrowheads="1"/>
            </p:cNvSpPr>
            <p:nvPr/>
          </p:nvSpPr>
          <p:spPr bwMode="auto">
            <a:xfrm>
              <a:off x="1544" y="362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69" name="Oval 86">
              <a:extLst>
                <a:ext uri="{FF2B5EF4-FFF2-40B4-BE49-F238E27FC236}">
                  <a16:creationId xmlns:a16="http://schemas.microsoft.com/office/drawing/2014/main" id="{53D390D1-57DE-44AD-6277-DFFD5AA4E141}"/>
                </a:ext>
              </a:extLst>
            </p:cNvPr>
            <p:cNvSpPr>
              <a:spLocks noChangeArrowheads="1"/>
            </p:cNvSpPr>
            <p:nvPr/>
          </p:nvSpPr>
          <p:spPr bwMode="auto">
            <a:xfrm>
              <a:off x="1664" y="3494"/>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0" name="Oval 87">
              <a:extLst>
                <a:ext uri="{FF2B5EF4-FFF2-40B4-BE49-F238E27FC236}">
                  <a16:creationId xmlns:a16="http://schemas.microsoft.com/office/drawing/2014/main" id="{9952A599-58D7-B41B-F484-08961DA5CEC0}"/>
                </a:ext>
              </a:extLst>
            </p:cNvPr>
            <p:cNvSpPr>
              <a:spLocks noChangeArrowheads="1"/>
            </p:cNvSpPr>
            <p:nvPr/>
          </p:nvSpPr>
          <p:spPr bwMode="auto">
            <a:xfrm>
              <a:off x="1652" y="3522"/>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1" name="Oval 88">
              <a:extLst>
                <a:ext uri="{FF2B5EF4-FFF2-40B4-BE49-F238E27FC236}">
                  <a16:creationId xmlns:a16="http://schemas.microsoft.com/office/drawing/2014/main" id="{963BF192-C957-7E16-1FB8-B825D6FC10D1}"/>
                </a:ext>
              </a:extLst>
            </p:cNvPr>
            <p:cNvSpPr>
              <a:spLocks noChangeArrowheads="1"/>
            </p:cNvSpPr>
            <p:nvPr/>
          </p:nvSpPr>
          <p:spPr bwMode="auto">
            <a:xfrm>
              <a:off x="1688" y="350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2" name="Oval 89">
              <a:extLst>
                <a:ext uri="{FF2B5EF4-FFF2-40B4-BE49-F238E27FC236}">
                  <a16:creationId xmlns:a16="http://schemas.microsoft.com/office/drawing/2014/main" id="{D1229BE7-DB13-3340-61AA-DFE63744A682}"/>
                </a:ext>
              </a:extLst>
            </p:cNvPr>
            <p:cNvSpPr>
              <a:spLocks noChangeArrowheads="1"/>
            </p:cNvSpPr>
            <p:nvPr/>
          </p:nvSpPr>
          <p:spPr bwMode="auto">
            <a:xfrm>
              <a:off x="1676" y="352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3" name="Oval 90">
              <a:extLst>
                <a:ext uri="{FF2B5EF4-FFF2-40B4-BE49-F238E27FC236}">
                  <a16:creationId xmlns:a16="http://schemas.microsoft.com/office/drawing/2014/main" id="{9BFE170C-A088-17C2-4533-47F51BF48D98}"/>
                </a:ext>
              </a:extLst>
            </p:cNvPr>
            <p:cNvSpPr>
              <a:spLocks noChangeArrowheads="1"/>
            </p:cNvSpPr>
            <p:nvPr/>
          </p:nvSpPr>
          <p:spPr bwMode="auto">
            <a:xfrm>
              <a:off x="1640" y="354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4" name="Oval 91">
              <a:extLst>
                <a:ext uri="{FF2B5EF4-FFF2-40B4-BE49-F238E27FC236}">
                  <a16:creationId xmlns:a16="http://schemas.microsoft.com/office/drawing/2014/main" id="{3FEB9228-9F18-CA29-EE42-13D5E7A89756}"/>
                </a:ext>
              </a:extLst>
            </p:cNvPr>
            <p:cNvSpPr>
              <a:spLocks noChangeArrowheads="1"/>
            </p:cNvSpPr>
            <p:nvPr/>
          </p:nvSpPr>
          <p:spPr bwMode="auto">
            <a:xfrm>
              <a:off x="1628" y="3575"/>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5" name="Oval 92">
              <a:extLst>
                <a:ext uri="{FF2B5EF4-FFF2-40B4-BE49-F238E27FC236}">
                  <a16:creationId xmlns:a16="http://schemas.microsoft.com/office/drawing/2014/main" id="{2B6EACD3-D40B-56D5-F6EF-A048A3301369}"/>
                </a:ext>
              </a:extLst>
            </p:cNvPr>
            <p:cNvSpPr>
              <a:spLocks noChangeArrowheads="1"/>
            </p:cNvSpPr>
            <p:nvPr/>
          </p:nvSpPr>
          <p:spPr bwMode="auto">
            <a:xfrm>
              <a:off x="1616" y="351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6" name="Oval 93">
              <a:extLst>
                <a:ext uri="{FF2B5EF4-FFF2-40B4-BE49-F238E27FC236}">
                  <a16:creationId xmlns:a16="http://schemas.microsoft.com/office/drawing/2014/main" id="{D28A0149-D550-5AA2-4159-302E1CE88BCB}"/>
                </a:ext>
              </a:extLst>
            </p:cNvPr>
            <p:cNvSpPr>
              <a:spLocks noChangeArrowheads="1"/>
            </p:cNvSpPr>
            <p:nvPr/>
          </p:nvSpPr>
          <p:spPr bwMode="auto">
            <a:xfrm>
              <a:off x="1604" y="354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7" name="Oval 94">
              <a:extLst>
                <a:ext uri="{FF2B5EF4-FFF2-40B4-BE49-F238E27FC236}">
                  <a16:creationId xmlns:a16="http://schemas.microsoft.com/office/drawing/2014/main" id="{F8372C79-4E3C-1C45-62D4-C83E13EFDA29}"/>
                </a:ext>
              </a:extLst>
            </p:cNvPr>
            <p:cNvSpPr>
              <a:spLocks noChangeArrowheads="1"/>
            </p:cNvSpPr>
            <p:nvPr/>
          </p:nvSpPr>
          <p:spPr bwMode="auto">
            <a:xfrm>
              <a:off x="1634" y="346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8" name="Oval 95">
              <a:extLst>
                <a:ext uri="{FF2B5EF4-FFF2-40B4-BE49-F238E27FC236}">
                  <a16:creationId xmlns:a16="http://schemas.microsoft.com/office/drawing/2014/main" id="{2C9F44CE-AE3B-A845-6561-2F0D62A242E8}"/>
                </a:ext>
              </a:extLst>
            </p:cNvPr>
            <p:cNvSpPr>
              <a:spLocks noChangeArrowheads="1"/>
            </p:cNvSpPr>
            <p:nvPr/>
          </p:nvSpPr>
          <p:spPr bwMode="auto">
            <a:xfrm>
              <a:off x="1622" y="348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79" name="Oval 96">
              <a:extLst>
                <a:ext uri="{FF2B5EF4-FFF2-40B4-BE49-F238E27FC236}">
                  <a16:creationId xmlns:a16="http://schemas.microsoft.com/office/drawing/2014/main" id="{D8F3E105-8EA9-251E-100F-BDEA83E18BDC}"/>
                </a:ext>
              </a:extLst>
            </p:cNvPr>
            <p:cNvSpPr>
              <a:spLocks noChangeArrowheads="1"/>
            </p:cNvSpPr>
            <p:nvPr/>
          </p:nvSpPr>
          <p:spPr bwMode="auto">
            <a:xfrm>
              <a:off x="1658" y="346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0" name="Oval 97">
              <a:extLst>
                <a:ext uri="{FF2B5EF4-FFF2-40B4-BE49-F238E27FC236}">
                  <a16:creationId xmlns:a16="http://schemas.microsoft.com/office/drawing/2014/main" id="{3DE71568-313C-8EE1-DBF1-7984DA753F3B}"/>
                </a:ext>
              </a:extLst>
            </p:cNvPr>
            <p:cNvSpPr>
              <a:spLocks noChangeArrowheads="1"/>
            </p:cNvSpPr>
            <p:nvPr/>
          </p:nvSpPr>
          <p:spPr bwMode="auto">
            <a:xfrm>
              <a:off x="1646" y="3495"/>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1" name="Oval 98">
              <a:extLst>
                <a:ext uri="{FF2B5EF4-FFF2-40B4-BE49-F238E27FC236}">
                  <a16:creationId xmlns:a16="http://schemas.microsoft.com/office/drawing/2014/main" id="{48E5E047-21C2-CE06-2A34-66711DF47117}"/>
                </a:ext>
              </a:extLst>
            </p:cNvPr>
            <p:cNvSpPr>
              <a:spLocks noChangeArrowheads="1"/>
            </p:cNvSpPr>
            <p:nvPr/>
          </p:nvSpPr>
          <p:spPr bwMode="auto">
            <a:xfrm>
              <a:off x="1610" y="3514"/>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2" name="Oval 99">
              <a:extLst>
                <a:ext uri="{FF2B5EF4-FFF2-40B4-BE49-F238E27FC236}">
                  <a16:creationId xmlns:a16="http://schemas.microsoft.com/office/drawing/2014/main" id="{F3AD7133-3FAE-8524-B5F4-0440F3FFF93E}"/>
                </a:ext>
              </a:extLst>
            </p:cNvPr>
            <p:cNvSpPr>
              <a:spLocks noChangeArrowheads="1"/>
            </p:cNvSpPr>
            <p:nvPr/>
          </p:nvSpPr>
          <p:spPr bwMode="auto">
            <a:xfrm>
              <a:off x="1598" y="3542"/>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3" name="Oval 100">
              <a:extLst>
                <a:ext uri="{FF2B5EF4-FFF2-40B4-BE49-F238E27FC236}">
                  <a16:creationId xmlns:a16="http://schemas.microsoft.com/office/drawing/2014/main" id="{107EABDC-196E-1283-E865-BD6EDA20FFD5}"/>
                </a:ext>
              </a:extLst>
            </p:cNvPr>
            <p:cNvSpPr>
              <a:spLocks noChangeArrowheads="1"/>
            </p:cNvSpPr>
            <p:nvPr/>
          </p:nvSpPr>
          <p:spPr bwMode="auto">
            <a:xfrm>
              <a:off x="1586" y="348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4" name="Oval 101">
              <a:extLst>
                <a:ext uri="{FF2B5EF4-FFF2-40B4-BE49-F238E27FC236}">
                  <a16:creationId xmlns:a16="http://schemas.microsoft.com/office/drawing/2014/main" id="{79B80ADF-C001-1930-E45B-614ECC22EE9F}"/>
                </a:ext>
              </a:extLst>
            </p:cNvPr>
            <p:cNvSpPr>
              <a:spLocks noChangeArrowheads="1"/>
            </p:cNvSpPr>
            <p:nvPr/>
          </p:nvSpPr>
          <p:spPr bwMode="auto">
            <a:xfrm>
              <a:off x="1574" y="3514"/>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5" name="Oval 102">
              <a:extLst>
                <a:ext uri="{FF2B5EF4-FFF2-40B4-BE49-F238E27FC236}">
                  <a16:creationId xmlns:a16="http://schemas.microsoft.com/office/drawing/2014/main" id="{18376CE1-3A6C-5FD1-7B2B-D809391D1775}"/>
                </a:ext>
              </a:extLst>
            </p:cNvPr>
            <p:cNvSpPr>
              <a:spLocks noChangeArrowheads="1"/>
            </p:cNvSpPr>
            <p:nvPr/>
          </p:nvSpPr>
          <p:spPr bwMode="auto">
            <a:xfrm>
              <a:off x="1556" y="347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6" name="Oval 103">
              <a:extLst>
                <a:ext uri="{FF2B5EF4-FFF2-40B4-BE49-F238E27FC236}">
                  <a16:creationId xmlns:a16="http://schemas.microsoft.com/office/drawing/2014/main" id="{2B6BAFFE-B66B-4854-F65D-BA44D69C1B0E}"/>
                </a:ext>
              </a:extLst>
            </p:cNvPr>
            <p:cNvSpPr>
              <a:spLocks noChangeArrowheads="1"/>
            </p:cNvSpPr>
            <p:nvPr/>
          </p:nvSpPr>
          <p:spPr bwMode="auto">
            <a:xfrm>
              <a:off x="1544" y="3505"/>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7" name="Oval 104">
              <a:extLst>
                <a:ext uri="{FF2B5EF4-FFF2-40B4-BE49-F238E27FC236}">
                  <a16:creationId xmlns:a16="http://schemas.microsoft.com/office/drawing/2014/main" id="{C68DA006-DA3B-F0E6-46A2-650DBB7784B2}"/>
                </a:ext>
              </a:extLst>
            </p:cNvPr>
            <p:cNvSpPr>
              <a:spLocks noChangeArrowheads="1"/>
            </p:cNvSpPr>
            <p:nvPr/>
          </p:nvSpPr>
          <p:spPr bwMode="auto">
            <a:xfrm>
              <a:off x="1580" y="348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8" name="Oval 105">
              <a:extLst>
                <a:ext uri="{FF2B5EF4-FFF2-40B4-BE49-F238E27FC236}">
                  <a16:creationId xmlns:a16="http://schemas.microsoft.com/office/drawing/2014/main" id="{58925421-DB78-7591-2C27-3CA2FBF493D3}"/>
                </a:ext>
              </a:extLst>
            </p:cNvPr>
            <p:cNvSpPr>
              <a:spLocks noChangeArrowheads="1"/>
            </p:cNvSpPr>
            <p:nvPr/>
          </p:nvSpPr>
          <p:spPr bwMode="auto">
            <a:xfrm>
              <a:off x="1568" y="351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89" name="Oval 106">
              <a:extLst>
                <a:ext uri="{FF2B5EF4-FFF2-40B4-BE49-F238E27FC236}">
                  <a16:creationId xmlns:a16="http://schemas.microsoft.com/office/drawing/2014/main" id="{F4F62361-0007-5844-CAB2-81233916FE62}"/>
                </a:ext>
              </a:extLst>
            </p:cNvPr>
            <p:cNvSpPr>
              <a:spLocks noChangeArrowheads="1"/>
            </p:cNvSpPr>
            <p:nvPr/>
          </p:nvSpPr>
          <p:spPr bwMode="auto">
            <a:xfrm>
              <a:off x="1532" y="353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0" name="Oval 107">
              <a:extLst>
                <a:ext uri="{FF2B5EF4-FFF2-40B4-BE49-F238E27FC236}">
                  <a16:creationId xmlns:a16="http://schemas.microsoft.com/office/drawing/2014/main" id="{6720382D-9DD3-14B3-69D8-E7BF8363F1C7}"/>
                </a:ext>
              </a:extLst>
            </p:cNvPr>
            <p:cNvSpPr>
              <a:spLocks noChangeArrowheads="1"/>
            </p:cNvSpPr>
            <p:nvPr/>
          </p:nvSpPr>
          <p:spPr bwMode="auto">
            <a:xfrm>
              <a:off x="1520" y="355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1" name="Oval 108">
              <a:extLst>
                <a:ext uri="{FF2B5EF4-FFF2-40B4-BE49-F238E27FC236}">
                  <a16:creationId xmlns:a16="http://schemas.microsoft.com/office/drawing/2014/main" id="{979B8AC1-27DE-7424-C878-66EAC94867ED}"/>
                </a:ext>
              </a:extLst>
            </p:cNvPr>
            <p:cNvSpPr>
              <a:spLocks noChangeArrowheads="1"/>
            </p:cNvSpPr>
            <p:nvPr/>
          </p:nvSpPr>
          <p:spPr bwMode="auto">
            <a:xfrm>
              <a:off x="1508" y="3502"/>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2" name="Oval 109">
              <a:extLst>
                <a:ext uri="{FF2B5EF4-FFF2-40B4-BE49-F238E27FC236}">
                  <a16:creationId xmlns:a16="http://schemas.microsoft.com/office/drawing/2014/main" id="{DD107302-BA57-26A9-122D-165111CBFD83}"/>
                </a:ext>
              </a:extLst>
            </p:cNvPr>
            <p:cNvSpPr>
              <a:spLocks noChangeArrowheads="1"/>
            </p:cNvSpPr>
            <p:nvPr/>
          </p:nvSpPr>
          <p:spPr bwMode="auto">
            <a:xfrm>
              <a:off x="1496" y="353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3" name="Oval 110">
              <a:extLst>
                <a:ext uri="{FF2B5EF4-FFF2-40B4-BE49-F238E27FC236}">
                  <a16:creationId xmlns:a16="http://schemas.microsoft.com/office/drawing/2014/main" id="{BC332EDA-B8C8-718D-72EE-9F5E4052D5C9}"/>
                </a:ext>
              </a:extLst>
            </p:cNvPr>
            <p:cNvSpPr>
              <a:spLocks noChangeArrowheads="1"/>
            </p:cNvSpPr>
            <p:nvPr/>
          </p:nvSpPr>
          <p:spPr bwMode="auto">
            <a:xfrm>
              <a:off x="1574" y="3645"/>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4" name="Oval 111">
              <a:extLst>
                <a:ext uri="{FF2B5EF4-FFF2-40B4-BE49-F238E27FC236}">
                  <a16:creationId xmlns:a16="http://schemas.microsoft.com/office/drawing/2014/main" id="{B10B911D-BDA9-2EE5-89EC-DE53EAF5ACFC}"/>
                </a:ext>
              </a:extLst>
            </p:cNvPr>
            <p:cNvSpPr>
              <a:spLocks noChangeArrowheads="1"/>
            </p:cNvSpPr>
            <p:nvPr/>
          </p:nvSpPr>
          <p:spPr bwMode="auto">
            <a:xfrm>
              <a:off x="1562" y="367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5" name="Oval 112">
              <a:extLst>
                <a:ext uri="{FF2B5EF4-FFF2-40B4-BE49-F238E27FC236}">
                  <a16:creationId xmlns:a16="http://schemas.microsoft.com/office/drawing/2014/main" id="{75246365-2FB8-83E7-B80B-AE0C3324B02E}"/>
                </a:ext>
              </a:extLst>
            </p:cNvPr>
            <p:cNvSpPr>
              <a:spLocks noChangeArrowheads="1"/>
            </p:cNvSpPr>
            <p:nvPr/>
          </p:nvSpPr>
          <p:spPr bwMode="auto">
            <a:xfrm>
              <a:off x="1598" y="365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6" name="Oval 113">
              <a:extLst>
                <a:ext uri="{FF2B5EF4-FFF2-40B4-BE49-F238E27FC236}">
                  <a16:creationId xmlns:a16="http://schemas.microsoft.com/office/drawing/2014/main" id="{363DB018-1835-C575-8B63-04B8DC2B15DD}"/>
                </a:ext>
              </a:extLst>
            </p:cNvPr>
            <p:cNvSpPr>
              <a:spLocks noChangeArrowheads="1"/>
            </p:cNvSpPr>
            <p:nvPr/>
          </p:nvSpPr>
          <p:spPr bwMode="auto">
            <a:xfrm>
              <a:off x="1586" y="367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7" name="Oval 114">
              <a:extLst>
                <a:ext uri="{FF2B5EF4-FFF2-40B4-BE49-F238E27FC236}">
                  <a16:creationId xmlns:a16="http://schemas.microsoft.com/office/drawing/2014/main" id="{D4700928-8FA1-F10C-78F8-F30A752ABA81}"/>
                </a:ext>
              </a:extLst>
            </p:cNvPr>
            <p:cNvSpPr>
              <a:spLocks noChangeArrowheads="1"/>
            </p:cNvSpPr>
            <p:nvPr/>
          </p:nvSpPr>
          <p:spPr bwMode="auto">
            <a:xfrm>
              <a:off x="1550" y="369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8" name="Oval 115">
              <a:extLst>
                <a:ext uri="{FF2B5EF4-FFF2-40B4-BE49-F238E27FC236}">
                  <a16:creationId xmlns:a16="http://schemas.microsoft.com/office/drawing/2014/main" id="{E95A48C7-9426-C745-D2F5-BB18F20C3D9D}"/>
                </a:ext>
              </a:extLst>
            </p:cNvPr>
            <p:cNvSpPr>
              <a:spLocks noChangeArrowheads="1"/>
            </p:cNvSpPr>
            <p:nvPr/>
          </p:nvSpPr>
          <p:spPr bwMode="auto">
            <a:xfrm>
              <a:off x="1538" y="372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799" name="Oval 116">
              <a:extLst>
                <a:ext uri="{FF2B5EF4-FFF2-40B4-BE49-F238E27FC236}">
                  <a16:creationId xmlns:a16="http://schemas.microsoft.com/office/drawing/2014/main" id="{6DE002C6-4E30-1DF4-73F0-CBDC4B47C75C}"/>
                </a:ext>
              </a:extLst>
            </p:cNvPr>
            <p:cNvSpPr>
              <a:spLocks noChangeArrowheads="1"/>
            </p:cNvSpPr>
            <p:nvPr/>
          </p:nvSpPr>
          <p:spPr bwMode="auto">
            <a:xfrm>
              <a:off x="1526" y="367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0" name="Oval 117">
              <a:extLst>
                <a:ext uri="{FF2B5EF4-FFF2-40B4-BE49-F238E27FC236}">
                  <a16:creationId xmlns:a16="http://schemas.microsoft.com/office/drawing/2014/main" id="{32289135-5A30-F63F-0F32-3AF696E7C417}"/>
                </a:ext>
              </a:extLst>
            </p:cNvPr>
            <p:cNvSpPr>
              <a:spLocks noChangeArrowheads="1"/>
            </p:cNvSpPr>
            <p:nvPr/>
          </p:nvSpPr>
          <p:spPr bwMode="auto">
            <a:xfrm>
              <a:off x="1514" y="369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1" name="Oval 118">
              <a:extLst>
                <a:ext uri="{FF2B5EF4-FFF2-40B4-BE49-F238E27FC236}">
                  <a16:creationId xmlns:a16="http://schemas.microsoft.com/office/drawing/2014/main" id="{F95FAC13-C34A-9E19-0596-299876EF16F5}"/>
                </a:ext>
              </a:extLst>
            </p:cNvPr>
            <p:cNvSpPr>
              <a:spLocks noChangeArrowheads="1"/>
            </p:cNvSpPr>
            <p:nvPr/>
          </p:nvSpPr>
          <p:spPr bwMode="auto">
            <a:xfrm>
              <a:off x="1526" y="3595"/>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2" name="Oval 119">
              <a:extLst>
                <a:ext uri="{FF2B5EF4-FFF2-40B4-BE49-F238E27FC236}">
                  <a16:creationId xmlns:a16="http://schemas.microsoft.com/office/drawing/2014/main" id="{7EC12FB1-F2E8-5697-D1EE-38C1B38D0C27}"/>
                </a:ext>
              </a:extLst>
            </p:cNvPr>
            <p:cNvSpPr>
              <a:spLocks noChangeArrowheads="1"/>
            </p:cNvSpPr>
            <p:nvPr/>
          </p:nvSpPr>
          <p:spPr bwMode="auto">
            <a:xfrm>
              <a:off x="1514" y="362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3" name="Oval 120">
              <a:extLst>
                <a:ext uri="{FF2B5EF4-FFF2-40B4-BE49-F238E27FC236}">
                  <a16:creationId xmlns:a16="http://schemas.microsoft.com/office/drawing/2014/main" id="{37FC43B2-1566-3482-CCBD-9F61573914DB}"/>
                </a:ext>
              </a:extLst>
            </p:cNvPr>
            <p:cNvSpPr>
              <a:spLocks noChangeArrowheads="1"/>
            </p:cNvSpPr>
            <p:nvPr/>
          </p:nvSpPr>
          <p:spPr bwMode="auto">
            <a:xfrm>
              <a:off x="1550" y="360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4" name="Oval 121">
              <a:extLst>
                <a:ext uri="{FF2B5EF4-FFF2-40B4-BE49-F238E27FC236}">
                  <a16:creationId xmlns:a16="http://schemas.microsoft.com/office/drawing/2014/main" id="{D6E2D3EE-50A7-98D0-8085-E647D6A284CB}"/>
                </a:ext>
              </a:extLst>
            </p:cNvPr>
            <p:cNvSpPr>
              <a:spLocks noChangeArrowheads="1"/>
            </p:cNvSpPr>
            <p:nvPr/>
          </p:nvSpPr>
          <p:spPr bwMode="auto">
            <a:xfrm>
              <a:off x="1538" y="362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5" name="Oval 122">
              <a:extLst>
                <a:ext uri="{FF2B5EF4-FFF2-40B4-BE49-F238E27FC236}">
                  <a16:creationId xmlns:a16="http://schemas.microsoft.com/office/drawing/2014/main" id="{9B8DC260-323A-73E0-0B78-B2DC690657BE}"/>
                </a:ext>
              </a:extLst>
            </p:cNvPr>
            <p:cNvSpPr>
              <a:spLocks noChangeArrowheads="1"/>
            </p:cNvSpPr>
            <p:nvPr/>
          </p:nvSpPr>
          <p:spPr bwMode="auto">
            <a:xfrm>
              <a:off x="1502" y="364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6" name="Oval 123">
              <a:extLst>
                <a:ext uri="{FF2B5EF4-FFF2-40B4-BE49-F238E27FC236}">
                  <a16:creationId xmlns:a16="http://schemas.microsoft.com/office/drawing/2014/main" id="{BBDFC51E-D46F-2215-6F16-F474BA226176}"/>
                </a:ext>
              </a:extLst>
            </p:cNvPr>
            <p:cNvSpPr>
              <a:spLocks noChangeArrowheads="1"/>
            </p:cNvSpPr>
            <p:nvPr/>
          </p:nvSpPr>
          <p:spPr bwMode="auto">
            <a:xfrm>
              <a:off x="1490" y="367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7" name="Oval 124">
              <a:extLst>
                <a:ext uri="{FF2B5EF4-FFF2-40B4-BE49-F238E27FC236}">
                  <a16:creationId xmlns:a16="http://schemas.microsoft.com/office/drawing/2014/main" id="{E49A2407-F614-9695-BEBC-6C163E3C1169}"/>
                </a:ext>
              </a:extLst>
            </p:cNvPr>
            <p:cNvSpPr>
              <a:spLocks noChangeArrowheads="1"/>
            </p:cNvSpPr>
            <p:nvPr/>
          </p:nvSpPr>
          <p:spPr bwMode="auto">
            <a:xfrm>
              <a:off x="1478" y="362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8" name="Oval 125">
              <a:extLst>
                <a:ext uri="{FF2B5EF4-FFF2-40B4-BE49-F238E27FC236}">
                  <a16:creationId xmlns:a16="http://schemas.microsoft.com/office/drawing/2014/main" id="{542EB337-FD53-1800-B032-88B08A5AE695}"/>
                </a:ext>
              </a:extLst>
            </p:cNvPr>
            <p:cNvSpPr>
              <a:spLocks noChangeArrowheads="1"/>
            </p:cNvSpPr>
            <p:nvPr/>
          </p:nvSpPr>
          <p:spPr bwMode="auto">
            <a:xfrm>
              <a:off x="1466" y="364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09" name="Oval 126">
              <a:extLst>
                <a:ext uri="{FF2B5EF4-FFF2-40B4-BE49-F238E27FC236}">
                  <a16:creationId xmlns:a16="http://schemas.microsoft.com/office/drawing/2014/main" id="{5E83D329-27C1-D7DD-345F-51628CDA6C5F}"/>
                </a:ext>
              </a:extLst>
            </p:cNvPr>
            <p:cNvSpPr>
              <a:spLocks noChangeArrowheads="1"/>
            </p:cNvSpPr>
            <p:nvPr/>
          </p:nvSpPr>
          <p:spPr bwMode="auto">
            <a:xfrm>
              <a:off x="1703" y="353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0" name="Oval 127">
              <a:extLst>
                <a:ext uri="{FF2B5EF4-FFF2-40B4-BE49-F238E27FC236}">
                  <a16:creationId xmlns:a16="http://schemas.microsoft.com/office/drawing/2014/main" id="{889494DF-5811-81AF-FD77-D76DF10370F0}"/>
                </a:ext>
              </a:extLst>
            </p:cNvPr>
            <p:cNvSpPr>
              <a:spLocks noChangeArrowheads="1"/>
            </p:cNvSpPr>
            <p:nvPr/>
          </p:nvSpPr>
          <p:spPr bwMode="auto">
            <a:xfrm>
              <a:off x="1691" y="356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1" name="Oval 128">
              <a:extLst>
                <a:ext uri="{FF2B5EF4-FFF2-40B4-BE49-F238E27FC236}">
                  <a16:creationId xmlns:a16="http://schemas.microsoft.com/office/drawing/2014/main" id="{346B6847-6D6F-6C5C-CBA0-EA9254343D1E}"/>
                </a:ext>
              </a:extLst>
            </p:cNvPr>
            <p:cNvSpPr>
              <a:spLocks noChangeArrowheads="1"/>
            </p:cNvSpPr>
            <p:nvPr/>
          </p:nvSpPr>
          <p:spPr bwMode="auto">
            <a:xfrm>
              <a:off x="1727" y="3539"/>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2" name="Oval 129">
              <a:extLst>
                <a:ext uri="{FF2B5EF4-FFF2-40B4-BE49-F238E27FC236}">
                  <a16:creationId xmlns:a16="http://schemas.microsoft.com/office/drawing/2014/main" id="{E6DE4FF6-2112-98D3-396A-0214EB475D4A}"/>
                </a:ext>
              </a:extLst>
            </p:cNvPr>
            <p:cNvSpPr>
              <a:spLocks noChangeArrowheads="1"/>
            </p:cNvSpPr>
            <p:nvPr/>
          </p:nvSpPr>
          <p:spPr bwMode="auto">
            <a:xfrm>
              <a:off x="1715" y="356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3" name="Oval 130">
              <a:extLst>
                <a:ext uri="{FF2B5EF4-FFF2-40B4-BE49-F238E27FC236}">
                  <a16:creationId xmlns:a16="http://schemas.microsoft.com/office/drawing/2014/main" id="{2DDB4FF7-FE30-B25E-3F7C-0D837DD4516E}"/>
                </a:ext>
              </a:extLst>
            </p:cNvPr>
            <p:cNvSpPr>
              <a:spLocks noChangeArrowheads="1"/>
            </p:cNvSpPr>
            <p:nvPr/>
          </p:nvSpPr>
          <p:spPr bwMode="auto">
            <a:xfrm>
              <a:off x="1679" y="358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4" name="Oval 131">
              <a:extLst>
                <a:ext uri="{FF2B5EF4-FFF2-40B4-BE49-F238E27FC236}">
                  <a16:creationId xmlns:a16="http://schemas.microsoft.com/office/drawing/2014/main" id="{97E169FA-34AC-B6D9-E935-4E8D46A84B4E}"/>
                </a:ext>
              </a:extLst>
            </p:cNvPr>
            <p:cNvSpPr>
              <a:spLocks noChangeArrowheads="1"/>
            </p:cNvSpPr>
            <p:nvPr/>
          </p:nvSpPr>
          <p:spPr bwMode="auto">
            <a:xfrm>
              <a:off x="1667" y="3614"/>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5" name="Oval 132">
              <a:extLst>
                <a:ext uri="{FF2B5EF4-FFF2-40B4-BE49-F238E27FC236}">
                  <a16:creationId xmlns:a16="http://schemas.microsoft.com/office/drawing/2014/main" id="{381E9665-E7D2-D823-E49B-8C2EA8C23A6A}"/>
                </a:ext>
              </a:extLst>
            </p:cNvPr>
            <p:cNvSpPr>
              <a:spLocks noChangeArrowheads="1"/>
            </p:cNvSpPr>
            <p:nvPr/>
          </p:nvSpPr>
          <p:spPr bwMode="auto">
            <a:xfrm>
              <a:off x="1655" y="355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6" name="Oval 133">
              <a:extLst>
                <a:ext uri="{FF2B5EF4-FFF2-40B4-BE49-F238E27FC236}">
                  <a16:creationId xmlns:a16="http://schemas.microsoft.com/office/drawing/2014/main" id="{66907B0D-B056-6DCE-DCA8-0BA69FCE7444}"/>
                </a:ext>
              </a:extLst>
            </p:cNvPr>
            <p:cNvSpPr>
              <a:spLocks noChangeArrowheads="1"/>
            </p:cNvSpPr>
            <p:nvPr/>
          </p:nvSpPr>
          <p:spPr bwMode="auto">
            <a:xfrm>
              <a:off x="1643" y="3586"/>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7" name="Oval 134">
              <a:extLst>
                <a:ext uri="{FF2B5EF4-FFF2-40B4-BE49-F238E27FC236}">
                  <a16:creationId xmlns:a16="http://schemas.microsoft.com/office/drawing/2014/main" id="{B3EEAA0B-6D6D-6BC3-1651-B214DC226F14}"/>
                </a:ext>
              </a:extLst>
            </p:cNvPr>
            <p:cNvSpPr>
              <a:spLocks noChangeArrowheads="1"/>
            </p:cNvSpPr>
            <p:nvPr/>
          </p:nvSpPr>
          <p:spPr bwMode="auto">
            <a:xfrm>
              <a:off x="1676" y="3607"/>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8" name="Oval 135">
              <a:extLst>
                <a:ext uri="{FF2B5EF4-FFF2-40B4-BE49-F238E27FC236}">
                  <a16:creationId xmlns:a16="http://schemas.microsoft.com/office/drawing/2014/main" id="{8FD0B163-9F27-38D6-6794-8B1707515AF4}"/>
                </a:ext>
              </a:extLst>
            </p:cNvPr>
            <p:cNvSpPr>
              <a:spLocks noChangeArrowheads="1"/>
            </p:cNvSpPr>
            <p:nvPr/>
          </p:nvSpPr>
          <p:spPr bwMode="auto">
            <a:xfrm>
              <a:off x="1664" y="3635"/>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19" name="Oval 136">
              <a:extLst>
                <a:ext uri="{FF2B5EF4-FFF2-40B4-BE49-F238E27FC236}">
                  <a16:creationId xmlns:a16="http://schemas.microsoft.com/office/drawing/2014/main" id="{2BBC5C24-A3D7-5372-1153-22F2E3EA0501}"/>
                </a:ext>
              </a:extLst>
            </p:cNvPr>
            <p:cNvSpPr>
              <a:spLocks noChangeArrowheads="1"/>
            </p:cNvSpPr>
            <p:nvPr/>
          </p:nvSpPr>
          <p:spPr bwMode="auto">
            <a:xfrm>
              <a:off x="1700" y="3613"/>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0" name="Oval 137">
              <a:extLst>
                <a:ext uri="{FF2B5EF4-FFF2-40B4-BE49-F238E27FC236}">
                  <a16:creationId xmlns:a16="http://schemas.microsoft.com/office/drawing/2014/main" id="{8825C6E5-B018-326B-6F5A-B9C6CD65EEAE}"/>
                </a:ext>
              </a:extLst>
            </p:cNvPr>
            <p:cNvSpPr>
              <a:spLocks noChangeArrowheads="1"/>
            </p:cNvSpPr>
            <p:nvPr/>
          </p:nvSpPr>
          <p:spPr bwMode="auto">
            <a:xfrm>
              <a:off x="1688" y="3641"/>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1" name="Oval 138">
              <a:extLst>
                <a:ext uri="{FF2B5EF4-FFF2-40B4-BE49-F238E27FC236}">
                  <a16:creationId xmlns:a16="http://schemas.microsoft.com/office/drawing/2014/main" id="{E8EA1C6C-D4D4-C9FC-33BA-521DC9D33A50}"/>
                </a:ext>
              </a:extLst>
            </p:cNvPr>
            <p:cNvSpPr>
              <a:spLocks noChangeArrowheads="1"/>
            </p:cNvSpPr>
            <p:nvPr/>
          </p:nvSpPr>
          <p:spPr bwMode="auto">
            <a:xfrm>
              <a:off x="1652" y="366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2" name="Oval 139">
              <a:extLst>
                <a:ext uri="{FF2B5EF4-FFF2-40B4-BE49-F238E27FC236}">
                  <a16:creationId xmlns:a16="http://schemas.microsoft.com/office/drawing/2014/main" id="{6D2E4B37-F4D6-53A3-63E2-CDF64FC2AE21}"/>
                </a:ext>
              </a:extLst>
            </p:cNvPr>
            <p:cNvSpPr>
              <a:spLocks noChangeArrowheads="1"/>
            </p:cNvSpPr>
            <p:nvPr/>
          </p:nvSpPr>
          <p:spPr bwMode="auto">
            <a:xfrm>
              <a:off x="1640" y="3688"/>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3" name="Oval 140">
              <a:extLst>
                <a:ext uri="{FF2B5EF4-FFF2-40B4-BE49-F238E27FC236}">
                  <a16:creationId xmlns:a16="http://schemas.microsoft.com/office/drawing/2014/main" id="{ADC11296-0508-5D5A-486B-C682551FFD9B}"/>
                </a:ext>
              </a:extLst>
            </p:cNvPr>
            <p:cNvSpPr>
              <a:spLocks noChangeArrowheads="1"/>
            </p:cNvSpPr>
            <p:nvPr/>
          </p:nvSpPr>
          <p:spPr bwMode="auto">
            <a:xfrm>
              <a:off x="1628" y="3632"/>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4" name="Oval 141">
              <a:extLst>
                <a:ext uri="{FF2B5EF4-FFF2-40B4-BE49-F238E27FC236}">
                  <a16:creationId xmlns:a16="http://schemas.microsoft.com/office/drawing/2014/main" id="{2FFDB2CF-52B2-031B-11D3-380D6DEE8545}"/>
                </a:ext>
              </a:extLst>
            </p:cNvPr>
            <p:cNvSpPr>
              <a:spLocks noChangeArrowheads="1"/>
            </p:cNvSpPr>
            <p:nvPr/>
          </p:nvSpPr>
          <p:spPr bwMode="auto">
            <a:xfrm>
              <a:off x="1616" y="3660"/>
              <a:ext cx="12" cy="12"/>
            </a:xfrm>
            <a:prstGeom prst="ellipse">
              <a:avLst/>
            </a:prstGeom>
            <a:solidFill>
              <a:schemeClr val="tx2"/>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9825" name="Line 142">
              <a:extLst>
                <a:ext uri="{FF2B5EF4-FFF2-40B4-BE49-F238E27FC236}">
                  <a16:creationId xmlns:a16="http://schemas.microsoft.com/office/drawing/2014/main" id="{105D6BED-4A43-BEFC-708C-01DB16CDE8EC}"/>
                </a:ext>
              </a:extLst>
            </p:cNvPr>
            <p:cNvSpPr>
              <a:spLocks noChangeShapeType="1"/>
            </p:cNvSpPr>
            <p:nvPr/>
          </p:nvSpPr>
          <p:spPr bwMode="auto">
            <a:xfrm flipV="1">
              <a:off x="1443" y="3417"/>
              <a:ext cx="319" cy="368"/>
            </a:xfrm>
            <a:prstGeom prst="line">
              <a:avLst/>
            </a:prstGeom>
            <a:noFill/>
            <a:ln w="12700">
              <a:solidFill>
                <a:schemeClr val="bg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29826" name="Line 143">
              <a:extLst>
                <a:ext uri="{FF2B5EF4-FFF2-40B4-BE49-F238E27FC236}">
                  <a16:creationId xmlns:a16="http://schemas.microsoft.com/office/drawing/2014/main" id="{8628F532-60D8-14A3-FE49-605752AC0772}"/>
                </a:ext>
              </a:extLst>
            </p:cNvPr>
            <p:cNvSpPr>
              <a:spLocks noChangeShapeType="1"/>
            </p:cNvSpPr>
            <p:nvPr/>
          </p:nvSpPr>
          <p:spPr bwMode="auto">
            <a:xfrm flipV="1">
              <a:off x="1443" y="3539"/>
              <a:ext cx="356" cy="247"/>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grpSp>
      <p:sp>
        <p:nvSpPr>
          <p:cNvPr id="29745" name="Text Box 144">
            <a:extLst>
              <a:ext uri="{FF2B5EF4-FFF2-40B4-BE49-F238E27FC236}">
                <a16:creationId xmlns:a16="http://schemas.microsoft.com/office/drawing/2014/main" id="{F70D3A3E-7B30-C159-E272-FD14AC42C6BC}"/>
              </a:ext>
            </a:extLst>
          </p:cNvPr>
          <p:cNvSpPr txBox="1">
            <a:spLocks noChangeArrowheads="1"/>
          </p:cNvSpPr>
          <p:nvPr/>
        </p:nvSpPr>
        <p:spPr bwMode="auto">
          <a:xfrm>
            <a:off x="2711450" y="5818188"/>
            <a:ext cx="374650" cy="95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700">
                <a:ea typeface="굴림" panose="020b0600000101010101" pitchFamily="34" charset="-127"/>
              </a:rPr>
              <a:t>R² &gt; 80%</a:t>
            </a:r>
          </a:p>
        </p:txBody>
      </p:sp>
      <p:sp>
        <p:nvSpPr>
          <p:cNvPr id="29746" name="Text Box 145">
            <a:extLst>
              <a:ext uri="{FF2B5EF4-FFF2-40B4-BE49-F238E27FC236}">
                <a16:creationId xmlns:a16="http://schemas.microsoft.com/office/drawing/2014/main" id="{6A0642C6-D28F-FBA2-8D47-9F542E1B646F}"/>
              </a:ext>
            </a:extLst>
          </p:cNvPr>
          <p:cNvSpPr txBox="1">
            <a:spLocks noChangeArrowheads="1"/>
          </p:cNvSpPr>
          <p:nvPr/>
        </p:nvSpPr>
        <p:spPr bwMode="auto">
          <a:xfrm>
            <a:off x="3400425" y="5867400"/>
            <a:ext cx="3238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600">
                <a:ea typeface="굴림" panose="020b0600000101010101" pitchFamily="34" charset="-127"/>
              </a:rPr>
              <a:t>Supplier </a:t>
            </a:r>
            <a:br>
              <a:rPr lang="en-US" altLang="ko-KR" sz="600">
                <a:ea typeface="굴림" panose="020b0600000101010101" pitchFamily="34" charset="-127"/>
              </a:rPr>
            </a:br>
            <a:r>
              <a:rPr lang="en-US" altLang="ko-KR" sz="600">
                <a:ea typeface="굴림" panose="020b0600000101010101" pitchFamily="34" charset="-127"/>
              </a:rPr>
              <a:t>1</a:t>
            </a:r>
          </a:p>
        </p:txBody>
      </p:sp>
      <p:sp>
        <p:nvSpPr>
          <p:cNvPr id="29747" name="Text Box 146">
            <a:extLst>
              <a:ext uri="{FF2B5EF4-FFF2-40B4-BE49-F238E27FC236}">
                <a16:creationId xmlns:a16="http://schemas.microsoft.com/office/drawing/2014/main" id="{C2A076B5-3748-2834-5782-61980D993E76}"/>
              </a:ext>
            </a:extLst>
          </p:cNvPr>
          <p:cNvSpPr txBox="1">
            <a:spLocks noChangeArrowheads="1"/>
          </p:cNvSpPr>
          <p:nvPr/>
        </p:nvSpPr>
        <p:spPr bwMode="auto">
          <a:xfrm>
            <a:off x="3760788" y="5867400"/>
            <a:ext cx="3238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600">
                <a:ea typeface="굴림" panose="020b0600000101010101" pitchFamily="34" charset="-127"/>
              </a:rPr>
              <a:t>Supplier </a:t>
            </a:r>
            <a:br>
              <a:rPr lang="en-US" altLang="ko-KR" sz="600">
                <a:ea typeface="굴림" panose="020b0600000101010101" pitchFamily="34" charset="-127"/>
              </a:rPr>
            </a:br>
            <a:r>
              <a:rPr lang="en-US" altLang="ko-KR" sz="600">
                <a:ea typeface="굴림" panose="020b0600000101010101" pitchFamily="34" charset="-127"/>
              </a:rPr>
              <a:t>2</a:t>
            </a:r>
          </a:p>
        </p:txBody>
      </p:sp>
      <p:sp>
        <p:nvSpPr>
          <p:cNvPr id="29748" name="Text Box 147">
            <a:extLst>
              <a:ext uri="{FF2B5EF4-FFF2-40B4-BE49-F238E27FC236}">
                <a16:creationId xmlns:a16="http://schemas.microsoft.com/office/drawing/2014/main" id="{94083216-6F91-B4A7-B322-0007092A730C}"/>
              </a:ext>
            </a:extLst>
          </p:cNvPr>
          <p:cNvSpPr txBox="1">
            <a:spLocks noChangeArrowheads="1"/>
          </p:cNvSpPr>
          <p:nvPr/>
        </p:nvSpPr>
        <p:spPr bwMode="auto">
          <a:xfrm>
            <a:off x="4111625" y="5867400"/>
            <a:ext cx="3238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600">
                <a:ea typeface="굴림" panose="020b0600000101010101" pitchFamily="34" charset="-127"/>
              </a:rPr>
              <a:t>Supplier </a:t>
            </a:r>
            <a:br>
              <a:rPr lang="en-US" altLang="ko-KR" sz="600">
                <a:ea typeface="굴림" panose="020b0600000101010101" pitchFamily="34" charset="-127"/>
              </a:rPr>
            </a:br>
            <a:r>
              <a:rPr lang="en-US" altLang="ko-KR" sz="600">
                <a:ea typeface="굴림" panose="020b0600000101010101" pitchFamily="34" charset="-127"/>
              </a:rPr>
              <a:t>n</a:t>
            </a:r>
          </a:p>
        </p:txBody>
      </p:sp>
      <p:pic>
        <p:nvPicPr>
          <p:cNvPr id="29749" name="Picture 148">
            <a:extLst>
              <a:ext uri="{FF2B5EF4-FFF2-40B4-BE49-F238E27FC236}">
                <a16:creationId xmlns:a16="http://schemas.microsoft.com/office/drawing/2014/main" id="{E186894C-9C1C-E636-DFAA-21D125E0EEA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47688" y="5205413"/>
            <a:ext cx="1185862" cy="5032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50" name="Picture 149">
            <a:extLst>
              <a:ext uri="{FF2B5EF4-FFF2-40B4-BE49-F238E27FC236}">
                <a16:creationId xmlns:a16="http://schemas.microsoft.com/office/drawing/2014/main" id="{27D7FC74-F764-37C3-2B23-45AEEA1C2A7E}"/>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325813" y="5089525"/>
            <a:ext cx="1014412" cy="7350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51" name="Picture 150">
            <a:extLst>
              <a:ext uri="{FF2B5EF4-FFF2-40B4-BE49-F238E27FC236}">
                <a16:creationId xmlns:a16="http://schemas.microsoft.com/office/drawing/2014/main" id="{D0C01C1E-3D5C-97B3-999B-E32E1F1E1FA6}"/>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4724400" y="5049838"/>
            <a:ext cx="704850" cy="927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33793" name="AutoShape 2">
            <a:extLst>
              <a:ext uri="{FF2B5EF4-FFF2-40B4-BE49-F238E27FC236}">
                <a16:creationId xmlns:a16="http://schemas.microsoft.com/office/drawing/2014/main" id="{24EE127A-A250-919E-B55A-016E33909E47}"/>
              </a:ext>
            </a:extLst>
          </p:cNvPr>
          <p:cNvSpPr>
            <a:spLocks noChangeAspect="1" noChangeArrowheads="1" noTextEdit="1"/>
          </p:cNvSpPr>
          <p:nvPr/>
        </p:nvSpPr>
        <p:spPr bwMode="auto">
          <a:xfrm>
            <a:off x="1782763" y="1978025"/>
            <a:ext cx="6397625" cy="403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33794" name="Rectangle 3">
            <a:extLst>
              <a:ext uri="{FF2B5EF4-FFF2-40B4-BE49-F238E27FC236}">
                <a16:creationId xmlns:a16="http://schemas.microsoft.com/office/drawing/2014/main" id="{FBD4EE4A-A75E-8A46-0630-200757D5A962}"/>
              </a:ext>
            </a:extLst>
          </p:cNvPr>
          <p:cNvSpPr>
            <a:spLocks noChangeArrowheads="1"/>
          </p:cNvSpPr>
          <p:nvPr/>
        </p:nvSpPr>
        <p:spPr bwMode="auto">
          <a:xfrm>
            <a:off x="1938338" y="2120900"/>
            <a:ext cx="6088062" cy="374491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33795" name="Freeform 4">
            <a:extLst>
              <a:ext uri="{FF2B5EF4-FFF2-40B4-BE49-F238E27FC236}">
                <a16:creationId xmlns:a16="http://schemas.microsoft.com/office/drawing/2014/main" id="{CFAFA6AE-55DF-BE59-7517-260B6777659B}"/>
              </a:ext>
            </a:extLst>
          </p:cNvPr>
          <p:cNvSpPr/>
          <p:nvPr/>
        </p:nvSpPr>
        <p:spPr bwMode="auto">
          <a:xfrm>
            <a:off x="2963863" y="2125663"/>
            <a:ext cx="5060950" cy="2862262"/>
          </a:xfrm>
          <a:custGeom>
            <a:gdLst>
              <a:gd name="T0" fmla="*/ 0 w 2863"/>
              <a:gd name="T1" fmla="*/ 0 h 1875"/>
              <a:gd name="T2" fmla="*/ 2147483646 w 2863"/>
              <a:gd name="T3" fmla="*/ 2147483646 h 1875"/>
              <a:gd name="T4" fmla="*/ 2147483646 w 2863"/>
              <a:gd name="T5" fmla="*/ 2147483646 h 1875"/>
              <a:gd name="T6" fmla="*/ 0 w 2863"/>
              <a:gd name="T7" fmla="*/ 0 h 1875"/>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2863" h="1874">
                <a:moveTo>
                  <a:pt x="0" y="0"/>
                </a:moveTo>
                <a:cubicBezTo>
                  <a:pt x="461" y="1875"/>
                  <a:pt x="2385" y="1773"/>
                  <a:pt x="2863" y="1773"/>
                </a:cubicBezTo>
                <a:lnTo>
                  <a:pt x="2863" y="2"/>
                </a:lnTo>
                <a:lnTo>
                  <a:pt x="0" y="0"/>
                </a:lnTo>
                <a:close/>
              </a:path>
            </a:pathLst>
          </a:custGeom>
          <a:solidFill>
            <a:schemeClr val="hlink"/>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33796" name="Freeform 5">
            <a:extLst>
              <a:ext uri="{FF2B5EF4-FFF2-40B4-BE49-F238E27FC236}">
                <a16:creationId xmlns:a16="http://schemas.microsoft.com/office/drawing/2014/main" id="{272D8067-20DA-B9C4-5495-D029EF7414D5}"/>
              </a:ext>
            </a:extLst>
          </p:cNvPr>
          <p:cNvSpPr/>
          <p:nvPr/>
        </p:nvSpPr>
        <p:spPr bwMode="auto">
          <a:xfrm>
            <a:off x="4484688" y="2125663"/>
            <a:ext cx="3529012" cy="2481262"/>
          </a:xfrm>
          <a:custGeom>
            <a:gdLst>
              <a:gd name="T0" fmla="*/ 0 w 2052"/>
              <a:gd name="T1" fmla="*/ 0 h 1723"/>
              <a:gd name="T2" fmla="*/ 2147483646 w 2052"/>
              <a:gd name="T3" fmla="*/ 2147483646 h 1723"/>
              <a:gd name="T4" fmla="*/ 2147483646 w 2052"/>
              <a:gd name="T5" fmla="*/ 0 h 1723"/>
              <a:gd name="T6" fmla="*/ 0 w 2052"/>
              <a:gd name="T7" fmla="*/ 0 h 1723"/>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2052" h="1723">
                <a:moveTo>
                  <a:pt x="0" y="0"/>
                </a:moveTo>
                <a:cubicBezTo>
                  <a:pt x="593" y="1333"/>
                  <a:pt x="2052" y="1723"/>
                  <a:pt x="2052" y="1723"/>
                </a:cubicBezTo>
                <a:lnTo>
                  <a:pt x="2052" y="0"/>
                </a:lnTo>
                <a:cubicBezTo>
                  <a:pt x="2052" y="0"/>
                  <a:pt x="1026" y="0"/>
                  <a:pt x="0" y="0"/>
                </a:cubicBezTo>
                <a:close/>
              </a:path>
            </a:pathLst>
          </a:custGeom>
          <a:solidFill>
            <a:schemeClr val="folHlink"/>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33797" name="Rectangle 6">
            <a:extLst>
              <a:ext uri="{FF2B5EF4-FFF2-40B4-BE49-F238E27FC236}">
                <a16:creationId xmlns:a16="http://schemas.microsoft.com/office/drawing/2014/main" id="{426DCB0C-FFA7-8AC8-AE29-28E85566ABA5}"/>
              </a:ext>
            </a:extLst>
          </p:cNvPr>
          <p:cNvSpPr>
            <a:spLocks noGrp="1" noChangeArrowheads="1"/>
          </p:cNvSpPr>
          <p:nvPr>
            <p:ph type="title"/>
          </p:nvPr>
        </p:nvSpPr>
        <p:spPr>
          <a:xfrm>
            <a:off x="266700" y="596900"/>
            <a:ext cx="9367838" cy="603250"/>
          </a:xfrm>
        </p:spPr>
        <p:txBody>
          <a:bodyPr/>
          <a:lstStyle/>
          <a:p>
            <a:r>
              <a:rPr lang="en-US" altLang="ko-KR">
                <a:ea typeface="굴림" panose="020b0600000101010101" pitchFamily="34" charset="-127"/>
              </a:rPr>
              <a:t>For wave 1, we prioritized and chose four major categories, three additional categories will follow in wave 2</a:t>
            </a:r>
          </a:p>
        </p:txBody>
      </p:sp>
      <p:sp>
        <p:nvSpPr>
          <p:cNvPr id="33798" name="Rectangle 7">
            <a:extLst>
              <a:ext uri="{FF2B5EF4-FFF2-40B4-BE49-F238E27FC236}">
                <a16:creationId xmlns:a16="http://schemas.microsoft.com/office/drawing/2014/main" id="{46C13D14-A1B7-4C5A-C898-CCBB174F9D6F}"/>
              </a:ext>
            </a:extLst>
          </p:cNvPr>
          <p:cNvSpPr>
            <a:spLocks noChangeArrowheads="1"/>
          </p:cNvSpPr>
          <p:nvPr/>
        </p:nvSpPr>
        <p:spPr bwMode="auto">
          <a:xfrm>
            <a:off x="5975350" y="239713"/>
            <a:ext cx="3668713"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ClrTx/>
              <a:buFontTx/>
              <a:buNone/>
            </a:pPr>
            <a:r>
              <a:rPr lang="en-US" altLang="ko-KR" sz="1200" b="0">
                <a:ea typeface="굴림" panose="020b0600000101010101" pitchFamily="34" charset="-127"/>
              </a:rPr>
              <a:t>Case Study: Construction Equipment OEM - Approach</a:t>
            </a:r>
          </a:p>
        </p:txBody>
      </p:sp>
      <p:sp>
        <p:nvSpPr>
          <p:cNvPr id="33799" name="Rectangle 8">
            <a:extLst>
              <a:ext uri="{FF2B5EF4-FFF2-40B4-BE49-F238E27FC236}">
                <a16:creationId xmlns:a16="http://schemas.microsoft.com/office/drawing/2014/main" id="{5B176773-A1E2-34AC-9298-82B17811EEEE}"/>
              </a:ext>
            </a:extLst>
          </p:cNvPr>
          <p:cNvSpPr>
            <a:spLocks noChangeArrowheads="1"/>
          </p:cNvSpPr>
          <p:nvPr/>
        </p:nvSpPr>
        <p:spPr bwMode="auto">
          <a:xfrm>
            <a:off x="8707438" y="1557338"/>
            <a:ext cx="942975" cy="33655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9" tIns="72009" rIns="72009" bIns="72009">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US" altLang="ko-KR" sz="1400">
                <a:ea typeface="굴림" panose="020b0600000101010101" pitchFamily="34" charset="-127"/>
              </a:rPr>
              <a:t>Selection</a:t>
            </a:r>
          </a:p>
        </p:txBody>
      </p:sp>
      <p:sp>
        <p:nvSpPr>
          <p:cNvPr id="33800" name="Oval 10">
            <a:extLst>
              <a:ext uri="{FF2B5EF4-FFF2-40B4-BE49-F238E27FC236}">
                <a16:creationId xmlns:a16="http://schemas.microsoft.com/office/drawing/2014/main" id="{56B7D00E-58D8-406C-2D70-89048E0CCE46}"/>
              </a:ext>
            </a:extLst>
          </p:cNvPr>
          <p:cNvSpPr>
            <a:spLocks noChangeArrowheads="1"/>
          </p:cNvSpPr>
          <p:nvPr/>
        </p:nvSpPr>
        <p:spPr bwMode="auto">
          <a:xfrm>
            <a:off x="265113" y="6253163"/>
            <a:ext cx="271462" cy="250825"/>
          </a:xfrm>
          <a:prstGeom prst="ellipse">
            <a:avLst/>
          </a:prstGeom>
          <a:solidFill>
            <a:schemeClr val="accent3">
              <a:lumMod val="75000"/>
            </a:schemeClr>
          </a:solidFill>
          <a:ln w="12700" algn="ctr">
            <a:solidFill>
              <a:schemeClr val="tx1"/>
            </a:solidFill>
            <a:round/>
          </a:ln>
          <a:effectLst/>
        </p:spPr>
        <p:txBody>
          <a:bodyPr wrap="none" lIns="72000" tIns="72000" rIns="72000" bIns="72000" anchor="ctr"/>
          <a:lstStyle>
            <a:lvl1pPr marL="2270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a:ea typeface="굴림" panose="020b0600000101010101" pitchFamily="34" charset="-127"/>
              </a:rPr>
              <a:t>: Purchasing volume</a:t>
            </a:r>
          </a:p>
        </p:txBody>
      </p:sp>
      <p:cxnSp>
        <p:nvCxnSpPr>
          <p:cNvPr id="33801" name="AutoShape 11">
            <a:extLst>
              <a:ext uri="{FF2B5EF4-FFF2-40B4-BE49-F238E27FC236}">
                <a16:creationId xmlns:a16="http://schemas.microsoft.com/office/drawing/2014/main" id="{09CD84C9-25C3-4D35-4510-0AA931606CA9}"/>
              </a:ext>
            </a:extLst>
          </p:cNvPr>
          <p:cNvCxnSpPr>
            <a:cxnSpLocks noChangeShapeType="1"/>
            <a:stCxn id="33800" idx="3"/>
            <a:endCxn id="33800" idx="7"/>
          </p:cNvCxnSpPr>
          <p:nvPr/>
        </p:nvCxnSpPr>
        <p:spPr bwMode="auto">
          <a:xfrm flipV="1">
            <a:off x="304800" y="6289675"/>
            <a:ext cx="192088" cy="177800"/>
          </a:xfrm>
          <a:prstGeom prst="straightConnector1">
            <a:avLst/>
          </a:prstGeom>
          <a:noFill/>
          <a:ln w="12700">
            <a:solidFill>
              <a:schemeClr val="bg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02" name="Text Box 12">
            <a:extLst>
              <a:ext uri="{FF2B5EF4-FFF2-40B4-BE49-F238E27FC236}">
                <a16:creationId xmlns:a16="http://schemas.microsoft.com/office/drawing/2014/main" id="{B265E3C4-0928-C63D-D16B-DA38A266527F}"/>
              </a:ext>
            </a:extLst>
          </p:cNvPr>
          <p:cNvSpPr txBox="1">
            <a:spLocks noChangeArrowheads="1"/>
          </p:cNvSpPr>
          <p:nvPr/>
        </p:nvSpPr>
        <p:spPr bwMode="auto">
          <a:xfrm>
            <a:off x="4152900" y="5961063"/>
            <a:ext cx="171132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Ease of implementation</a:t>
            </a:r>
          </a:p>
        </p:txBody>
      </p:sp>
      <p:sp>
        <p:nvSpPr>
          <p:cNvPr id="33803" name="Text Box 13">
            <a:extLst>
              <a:ext uri="{FF2B5EF4-FFF2-40B4-BE49-F238E27FC236}">
                <a16:creationId xmlns:a16="http://schemas.microsoft.com/office/drawing/2014/main" id="{5866DF76-0C45-12B0-E7DD-4D89692E8D26}"/>
              </a:ext>
            </a:extLst>
          </p:cNvPr>
          <p:cNvSpPr txBox="1">
            <a:spLocks noChangeArrowheads="1"/>
          </p:cNvSpPr>
          <p:nvPr/>
        </p:nvSpPr>
        <p:spPr bwMode="auto">
          <a:xfrm>
            <a:off x="7786688" y="5921375"/>
            <a:ext cx="23812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ea typeface="굴림" panose="020b0600000101010101" pitchFamily="34" charset="-127"/>
              </a:rPr>
              <a:t>high</a:t>
            </a:r>
          </a:p>
        </p:txBody>
      </p:sp>
      <p:sp>
        <p:nvSpPr>
          <p:cNvPr id="33804" name="Text Box 14">
            <a:extLst>
              <a:ext uri="{FF2B5EF4-FFF2-40B4-BE49-F238E27FC236}">
                <a16:creationId xmlns:a16="http://schemas.microsoft.com/office/drawing/2014/main" id="{1490F260-399E-A0B9-FBD1-291A3B3B19CD}"/>
              </a:ext>
            </a:extLst>
          </p:cNvPr>
          <p:cNvSpPr txBox="1">
            <a:spLocks noChangeArrowheads="1"/>
          </p:cNvSpPr>
          <p:nvPr/>
        </p:nvSpPr>
        <p:spPr bwMode="auto">
          <a:xfrm>
            <a:off x="1976438" y="5921375"/>
            <a:ext cx="19050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ea typeface="굴림" panose="020b0600000101010101" pitchFamily="34" charset="-127"/>
              </a:rPr>
              <a:t>low</a:t>
            </a:r>
          </a:p>
        </p:txBody>
      </p:sp>
      <p:sp>
        <p:nvSpPr>
          <p:cNvPr id="33805" name="Text Box 15">
            <a:extLst>
              <a:ext uri="{FF2B5EF4-FFF2-40B4-BE49-F238E27FC236}">
                <a16:creationId xmlns:a16="http://schemas.microsoft.com/office/drawing/2014/main" id="{53A2506B-78B4-575F-65B0-5774A2D798FD}"/>
              </a:ext>
            </a:extLst>
          </p:cNvPr>
          <p:cNvSpPr txBox="1">
            <a:spLocks noChangeArrowheads="1"/>
          </p:cNvSpPr>
          <p:nvPr/>
        </p:nvSpPr>
        <p:spPr bwMode="auto">
          <a:xfrm>
            <a:off x="1687513" y="5737225"/>
            <a:ext cx="19050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ea typeface="굴림" panose="020b0600000101010101" pitchFamily="34" charset="-127"/>
              </a:rPr>
              <a:t>low</a:t>
            </a:r>
          </a:p>
        </p:txBody>
      </p:sp>
      <p:sp>
        <p:nvSpPr>
          <p:cNvPr id="33806" name="Text Box 16">
            <a:extLst>
              <a:ext uri="{FF2B5EF4-FFF2-40B4-BE49-F238E27FC236}">
                <a16:creationId xmlns:a16="http://schemas.microsoft.com/office/drawing/2014/main" id="{105CEB98-5BFD-7B67-7E54-0CE3C43832DA}"/>
              </a:ext>
            </a:extLst>
          </p:cNvPr>
          <p:cNvSpPr txBox="1">
            <a:spLocks noChangeArrowheads="1"/>
          </p:cNvSpPr>
          <p:nvPr/>
        </p:nvSpPr>
        <p:spPr bwMode="auto">
          <a:xfrm>
            <a:off x="1638300" y="2124075"/>
            <a:ext cx="23812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ea typeface="굴림" panose="020b0600000101010101" pitchFamily="34" charset="-127"/>
              </a:rPr>
              <a:t>high</a:t>
            </a:r>
          </a:p>
        </p:txBody>
      </p:sp>
      <p:sp>
        <p:nvSpPr>
          <p:cNvPr id="33807" name="Text Box 17">
            <a:extLst>
              <a:ext uri="{FF2B5EF4-FFF2-40B4-BE49-F238E27FC236}">
                <a16:creationId xmlns:a16="http://schemas.microsoft.com/office/drawing/2014/main" id="{C42CBD07-1396-AFE9-6165-A8A997097120}"/>
              </a:ext>
            </a:extLst>
          </p:cNvPr>
          <p:cNvSpPr txBox="1">
            <a:spLocks noChangeArrowheads="1"/>
          </p:cNvSpPr>
          <p:nvPr/>
        </p:nvSpPr>
        <p:spPr bwMode="auto">
          <a:xfrm>
            <a:off x="941388" y="3844925"/>
            <a:ext cx="64452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Potential</a:t>
            </a:r>
          </a:p>
        </p:txBody>
      </p:sp>
      <p:sp>
        <p:nvSpPr>
          <p:cNvPr id="33808" name="Text Box 18">
            <a:extLst>
              <a:ext uri="{FF2B5EF4-FFF2-40B4-BE49-F238E27FC236}">
                <a16:creationId xmlns:a16="http://schemas.microsoft.com/office/drawing/2014/main" id="{B03280BD-0CE3-7142-735B-F89F001241E8}"/>
              </a:ext>
            </a:extLst>
          </p:cNvPr>
          <p:cNvSpPr txBox="1">
            <a:spLocks noChangeArrowheads="1"/>
          </p:cNvSpPr>
          <p:nvPr/>
        </p:nvSpPr>
        <p:spPr bwMode="auto">
          <a:xfrm>
            <a:off x="3654425" y="2820988"/>
            <a:ext cx="49212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i="1">
                <a:ea typeface="굴림" panose="020b0600000101010101" pitchFamily="34" charset="-127"/>
              </a:rPr>
              <a:t>Castings</a:t>
            </a:r>
          </a:p>
        </p:txBody>
      </p:sp>
      <p:sp>
        <p:nvSpPr>
          <p:cNvPr id="33809" name="Text Box 19">
            <a:extLst>
              <a:ext uri="{FF2B5EF4-FFF2-40B4-BE49-F238E27FC236}">
                <a16:creationId xmlns:a16="http://schemas.microsoft.com/office/drawing/2014/main" id="{F3A48E5C-86F0-8898-6C92-B8AD74CC53FA}"/>
              </a:ext>
            </a:extLst>
          </p:cNvPr>
          <p:cNvSpPr txBox="1">
            <a:spLocks noChangeArrowheads="1"/>
          </p:cNvSpPr>
          <p:nvPr/>
        </p:nvSpPr>
        <p:spPr bwMode="auto">
          <a:xfrm>
            <a:off x="3552825" y="2173288"/>
            <a:ext cx="52387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Wave 2</a:t>
            </a:r>
          </a:p>
        </p:txBody>
      </p:sp>
      <p:sp>
        <p:nvSpPr>
          <p:cNvPr id="33810" name="Text Box 20">
            <a:extLst>
              <a:ext uri="{FF2B5EF4-FFF2-40B4-BE49-F238E27FC236}">
                <a16:creationId xmlns:a16="http://schemas.microsoft.com/office/drawing/2014/main" id="{655EEB2B-1C17-59D0-5C5F-0D855F76C0E5}"/>
              </a:ext>
            </a:extLst>
          </p:cNvPr>
          <p:cNvSpPr txBox="1">
            <a:spLocks noChangeArrowheads="1"/>
          </p:cNvSpPr>
          <p:nvPr/>
        </p:nvSpPr>
        <p:spPr bwMode="auto">
          <a:xfrm>
            <a:off x="6061075" y="2152650"/>
            <a:ext cx="523875"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Wave 1</a:t>
            </a:r>
          </a:p>
        </p:txBody>
      </p:sp>
      <p:sp>
        <p:nvSpPr>
          <p:cNvPr id="33811" name="Text Box 21">
            <a:extLst>
              <a:ext uri="{FF2B5EF4-FFF2-40B4-BE49-F238E27FC236}">
                <a16:creationId xmlns:a16="http://schemas.microsoft.com/office/drawing/2014/main" id="{DCE33403-24B9-B57C-657C-70FB1E62184B}"/>
              </a:ext>
            </a:extLst>
          </p:cNvPr>
          <p:cNvSpPr txBox="1">
            <a:spLocks noChangeArrowheads="1"/>
          </p:cNvSpPr>
          <p:nvPr/>
        </p:nvSpPr>
        <p:spPr bwMode="auto">
          <a:xfrm>
            <a:off x="6591300" y="4019550"/>
            <a:ext cx="687388"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i="1">
                <a:ea typeface="굴림" panose="020b0600000101010101" pitchFamily="34" charset="-127"/>
              </a:rPr>
              <a:t>Hydraulic</a:t>
            </a:r>
            <a:br>
              <a:rPr lang="en-US" altLang="ko-KR" sz="1000" b="0" i="1">
                <a:ea typeface="굴림" panose="020b0600000101010101" pitchFamily="34" charset="-127"/>
              </a:rPr>
            </a:br>
            <a:r>
              <a:rPr lang="en-US" altLang="ko-KR" sz="1000" b="0" i="1">
                <a:ea typeface="굴림" panose="020b0600000101010101" pitchFamily="34" charset="-127"/>
              </a:rPr>
              <a:t>components</a:t>
            </a:r>
          </a:p>
        </p:txBody>
      </p:sp>
      <p:sp>
        <p:nvSpPr>
          <p:cNvPr id="33812" name="Text Box 22">
            <a:extLst>
              <a:ext uri="{FF2B5EF4-FFF2-40B4-BE49-F238E27FC236}">
                <a16:creationId xmlns:a16="http://schemas.microsoft.com/office/drawing/2014/main" id="{60C8B9ED-A4A1-D486-597F-E7708B8B4E41}"/>
              </a:ext>
            </a:extLst>
          </p:cNvPr>
          <p:cNvSpPr txBox="1">
            <a:spLocks noChangeArrowheads="1"/>
          </p:cNvSpPr>
          <p:nvPr/>
        </p:nvSpPr>
        <p:spPr bwMode="auto">
          <a:xfrm>
            <a:off x="5418138" y="3076575"/>
            <a:ext cx="687387"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i="1">
                <a:ea typeface="굴림" panose="020b0600000101010101" pitchFamily="34" charset="-127"/>
              </a:rPr>
              <a:t>Mechanical</a:t>
            </a:r>
            <a:br>
              <a:rPr lang="en-US" altLang="ko-KR" sz="1000" b="0" i="1">
                <a:ea typeface="굴림" panose="020b0600000101010101" pitchFamily="34" charset="-127"/>
              </a:rPr>
            </a:br>
            <a:r>
              <a:rPr lang="en-US" altLang="ko-KR" sz="1000" b="0" i="1">
                <a:ea typeface="굴림" panose="020b0600000101010101" pitchFamily="34" charset="-127"/>
              </a:rPr>
              <a:t>components</a:t>
            </a:r>
          </a:p>
        </p:txBody>
      </p:sp>
      <p:sp>
        <p:nvSpPr>
          <p:cNvPr id="33813" name="Text Box 23">
            <a:extLst>
              <a:ext uri="{FF2B5EF4-FFF2-40B4-BE49-F238E27FC236}">
                <a16:creationId xmlns:a16="http://schemas.microsoft.com/office/drawing/2014/main" id="{DEA40ECB-1777-828C-E8FE-85D5C7C41F0D}"/>
              </a:ext>
            </a:extLst>
          </p:cNvPr>
          <p:cNvSpPr txBox="1">
            <a:spLocks noChangeArrowheads="1"/>
          </p:cNvSpPr>
          <p:nvPr/>
        </p:nvSpPr>
        <p:spPr bwMode="auto">
          <a:xfrm>
            <a:off x="4719638" y="3865563"/>
            <a:ext cx="687387"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i="1">
                <a:ea typeface="굴림" panose="020b0600000101010101" pitchFamily="34" charset="-127"/>
              </a:rPr>
              <a:t>Electrical</a:t>
            </a:r>
            <a:br>
              <a:rPr lang="en-US" altLang="ko-KR" sz="1000" b="0" i="1">
                <a:ea typeface="굴림" panose="020b0600000101010101" pitchFamily="34" charset="-127"/>
              </a:rPr>
            </a:br>
            <a:r>
              <a:rPr lang="en-US" altLang="ko-KR" sz="1000" b="0" i="1">
                <a:ea typeface="굴림" panose="020b0600000101010101" pitchFamily="34" charset="-127"/>
              </a:rPr>
              <a:t>components</a:t>
            </a:r>
          </a:p>
        </p:txBody>
      </p:sp>
      <p:sp>
        <p:nvSpPr>
          <p:cNvPr id="33814" name="Text Box 24">
            <a:extLst>
              <a:ext uri="{FF2B5EF4-FFF2-40B4-BE49-F238E27FC236}">
                <a16:creationId xmlns:a16="http://schemas.microsoft.com/office/drawing/2014/main" id="{CBF5C972-FC2A-5F0A-FFC0-F2104ABD74AF}"/>
              </a:ext>
            </a:extLst>
          </p:cNvPr>
          <p:cNvSpPr txBox="1">
            <a:spLocks noChangeArrowheads="1"/>
          </p:cNvSpPr>
          <p:nvPr/>
        </p:nvSpPr>
        <p:spPr bwMode="auto">
          <a:xfrm>
            <a:off x="7254875" y="3475038"/>
            <a:ext cx="528638"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i="1">
                <a:ea typeface="굴림" panose="020b0600000101010101" pitchFamily="34" charset="-127"/>
              </a:rPr>
              <a:t>Cylinders</a:t>
            </a:r>
          </a:p>
        </p:txBody>
      </p:sp>
      <p:sp>
        <p:nvSpPr>
          <p:cNvPr id="33815" name="Text Box 25">
            <a:extLst>
              <a:ext uri="{FF2B5EF4-FFF2-40B4-BE49-F238E27FC236}">
                <a16:creationId xmlns:a16="http://schemas.microsoft.com/office/drawing/2014/main" id="{E4A30E0A-6583-9970-5513-9807E2C92E71}"/>
              </a:ext>
            </a:extLst>
          </p:cNvPr>
          <p:cNvSpPr txBox="1">
            <a:spLocks noChangeArrowheads="1"/>
          </p:cNvSpPr>
          <p:nvPr/>
        </p:nvSpPr>
        <p:spPr bwMode="auto">
          <a:xfrm>
            <a:off x="5588000" y="2257425"/>
            <a:ext cx="266700"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i="1">
                <a:ea typeface="굴림" panose="020b0600000101010101" pitchFamily="34" charset="-127"/>
              </a:rPr>
              <a:t>Raw</a:t>
            </a:r>
            <a:br>
              <a:rPr lang="en-US" altLang="ko-KR" sz="1000" b="0" i="1">
                <a:ea typeface="굴림" panose="020b0600000101010101" pitchFamily="34" charset="-127"/>
              </a:rPr>
            </a:br>
            <a:r>
              <a:rPr lang="en-US" altLang="ko-KR" sz="1000" b="0" i="1">
                <a:ea typeface="굴림" panose="020b0600000101010101" pitchFamily="34" charset="-127"/>
              </a:rPr>
              <a:t>steel</a:t>
            </a:r>
          </a:p>
        </p:txBody>
      </p:sp>
      <p:sp>
        <p:nvSpPr>
          <p:cNvPr id="33816" name="Rectangle 26">
            <a:extLst>
              <a:ext uri="{FF2B5EF4-FFF2-40B4-BE49-F238E27FC236}">
                <a16:creationId xmlns:a16="http://schemas.microsoft.com/office/drawing/2014/main" id="{C127DD95-CC72-B09A-DF9F-71DD47F433BD}"/>
              </a:ext>
            </a:extLst>
          </p:cNvPr>
          <p:cNvSpPr>
            <a:spLocks noChangeArrowheads="1"/>
          </p:cNvSpPr>
          <p:nvPr/>
        </p:nvSpPr>
        <p:spPr bwMode="auto">
          <a:xfrm>
            <a:off x="1938338" y="2120900"/>
            <a:ext cx="6088062"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800">
              <a:ea typeface="굴림" panose="020b0600000101010101" pitchFamily="34" charset="-127"/>
            </a:endParaRPr>
          </a:p>
        </p:txBody>
      </p:sp>
      <p:sp>
        <p:nvSpPr>
          <p:cNvPr id="33817" name="Line 27">
            <a:extLst>
              <a:ext uri="{FF2B5EF4-FFF2-40B4-BE49-F238E27FC236}">
                <a16:creationId xmlns:a16="http://schemas.microsoft.com/office/drawing/2014/main" id="{E25C4167-BF2B-F692-86FF-A3C40926B7B1}"/>
              </a:ext>
            </a:extLst>
          </p:cNvPr>
          <p:cNvSpPr>
            <a:spLocks noChangeShapeType="1"/>
          </p:cNvSpPr>
          <p:nvPr/>
        </p:nvSpPr>
        <p:spPr bwMode="auto">
          <a:xfrm flipH="1">
            <a:off x="4476750" y="2120900"/>
            <a:ext cx="0" cy="37449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33818" name="Line 28">
            <a:extLst>
              <a:ext uri="{FF2B5EF4-FFF2-40B4-BE49-F238E27FC236}">
                <a16:creationId xmlns:a16="http://schemas.microsoft.com/office/drawing/2014/main" id="{5475452C-6159-9204-4532-42FAFFA974DE}"/>
              </a:ext>
            </a:extLst>
          </p:cNvPr>
          <p:cNvSpPr>
            <a:spLocks noChangeShapeType="1"/>
          </p:cNvSpPr>
          <p:nvPr/>
        </p:nvSpPr>
        <p:spPr bwMode="auto">
          <a:xfrm>
            <a:off x="1938338" y="3997325"/>
            <a:ext cx="608806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33820" name="Oval 29">
            <a:extLst>
              <a:ext uri="{FF2B5EF4-FFF2-40B4-BE49-F238E27FC236}">
                <a16:creationId xmlns:a16="http://schemas.microsoft.com/office/drawing/2014/main" id="{2F5CB00B-23D3-9CA5-0C2E-7EAD8072B22B}"/>
              </a:ext>
            </a:extLst>
          </p:cNvPr>
          <p:cNvSpPr>
            <a:spLocks noChangeAspect="1" noChangeArrowheads="1"/>
          </p:cNvSpPr>
          <p:nvPr/>
        </p:nvSpPr>
        <p:spPr bwMode="auto">
          <a:xfrm>
            <a:off x="3524250" y="2997200"/>
            <a:ext cx="376238" cy="347663"/>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3821" name="Oval 30">
            <a:extLst>
              <a:ext uri="{FF2B5EF4-FFF2-40B4-BE49-F238E27FC236}">
                <a16:creationId xmlns:a16="http://schemas.microsoft.com/office/drawing/2014/main" id="{24801962-BE27-7E61-6A70-B82B064141EC}"/>
              </a:ext>
            </a:extLst>
          </p:cNvPr>
          <p:cNvSpPr>
            <a:spLocks noChangeArrowheads="1"/>
          </p:cNvSpPr>
          <p:nvPr/>
        </p:nvSpPr>
        <p:spPr bwMode="auto">
          <a:xfrm>
            <a:off x="4768850" y="2924175"/>
            <a:ext cx="623888" cy="576263"/>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3822" name="Oval 31">
            <a:extLst>
              <a:ext uri="{FF2B5EF4-FFF2-40B4-BE49-F238E27FC236}">
                <a16:creationId xmlns:a16="http://schemas.microsoft.com/office/drawing/2014/main" id="{06A9A4FB-3ECF-3727-97A2-5028233F97E2}"/>
              </a:ext>
            </a:extLst>
          </p:cNvPr>
          <p:cNvSpPr>
            <a:spLocks noChangeArrowheads="1"/>
          </p:cNvSpPr>
          <p:nvPr/>
        </p:nvSpPr>
        <p:spPr bwMode="auto">
          <a:xfrm>
            <a:off x="7404100" y="3989388"/>
            <a:ext cx="563563" cy="520700"/>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3823" name="Oval 32">
            <a:extLst>
              <a:ext uri="{FF2B5EF4-FFF2-40B4-BE49-F238E27FC236}">
                <a16:creationId xmlns:a16="http://schemas.microsoft.com/office/drawing/2014/main" id="{41171764-4964-EE11-1ABA-CE047E0887CA}"/>
              </a:ext>
            </a:extLst>
          </p:cNvPr>
          <p:cNvSpPr>
            <a:spLocks noChangeArrowheads="1"/>
          </p:cNvSpPr>
          <p:nvPr/>
        </p:nvSpPr>
        <p:spPr bwMode="auto">
          <a:xfrm>
            <a:off x="5476875" y="3681413"/>
            <a:ext cx="625475" cy="576262"/>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3824" name="Oval 33">
            <a:extLst>
              <a:ext uri="{FF2B5EF4-FFF2-40B4-BE49-F238E27FC236}">
                <a16:creationId xmlns:a16="http://schemas.microsoft.com/office/drawing/2014/main" id="{B0B07842-E1AA-3AB6-CEA4-FCD2854D7521}"/>
              </a:ext>
            </a:extLst>
          </p:cNvPr>
          <p:cNvSpPr>
            <a:spLocks noChangeArrowheads="1"/>
          </p:cNvSpPr>
          <p:nvPr/>
        </p:nvSpPr>
        <p:spPr bwMode="auto">
          <a:xfrm>
            <a:off x="5110163" y="2205038"/>
            <a:ext cx="422275" cy="390525"/>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3825" name="Oval 34">
            <a:extLst>
              <a:ext uri="{FF2B5EF4-FFF2-40B4-BE49-F238E27FC236}">
                <a16:creationId xmlns:a16="http://schemas.microsoft.com/office/drawing/2014/main" id="{1D250FD5-3E6B-8F93-A494-0E5B2987B9EF}"/>
              </a:ext>
            </a:extLst>
          </p:cNvPr>
          <p:cNvSpPr>
            <a:spLocks noChangeArrowheads="1"/>
          </p:cNvSpPr>
          <p:nvPr/>
        </p:nvSpPr>
        <p:spPr bwMode="auto">
          <a:xfrm>
            <a:off x="6186488" y="2565400"/>
            <a:ext cx="754062" cy="696913"/>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3826" name="Oval 35">
            <a:extLst>
              <a:ext uri="{FF2B5EF4-FFF2-40B4-BE49-F238E27FC236}">
                <a16:creationId xmlns:a16="http://schemas.microsoft.com/office/drawing/2014/main" id="{E7AA825E-68DA-70C5-BA0B-2AD562411884}"/>
              </a:ext>
            </a:extLst>
          </p:cNvPr>
          <p:cNvSpPr>
            <a:spLocks noChangeAspect="1" noChangeArrowheads="1"/>
          </p:cNvSpPr>
          <p:nvPr/>
        </p:nvSpPr>
        <p:spPr bwMode="auto">
          <a:xfrm>
            <a:off x="6729413" y="3411538"/>
            <a:ext cx="485775" cy="449262"/>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grpSp>
        <p:nvGrpSpPr>
          <p:cNvPr id="2" name="Group 36">
            <a:extLst>
              <a:ext uri="{FF2B5EF4-FFF2-40B4-BE49-F238E27FC236}">
                <a16:creationId xmlns:a16="http://schemas.microsoft.com/office/drawing/2014/main" id="{5808B752-BD5E-EE20-668D-D294C549AFBA}"/>
              </a:ext>
            </a:extLst>
          </p:cNvPr>
          <p:cNvGrpSpPr/>
          <p:nvPr/>
        </p:nvGrpSpPr>
        <p:grpSpPr>
          <a:xfrm>
            <a:off x="3365500" y="4033838"/>
            <a:ext cx="498475" cy="258762"/>
            <a:chOff x="2871" y="2739"/>
            <a:chExt cx="290" cy="163"/>
          </a:xfrm>
        </p:grpSpPr>
        <p:sp>
          <p:nvSpPr>
            <p:cNvPr id="33863" name="Oval 37">
              <a:extLst>
                <a:ext uri="{FF2B5EF4-FFF2-40B4-BE49-F238E27FC236}">
                  <a16:creationId xmlns:a16="http://schemas.microsoft.com/office/drawing/2014/main" id="{D3FDF209-E98C-0BC3-7C31-1D4758296D56}"/>
                </a:ext>
              </a:extLst>
            </p:cNvPr>
            <p:cNvSpPr>
              <a:spLocks noChangeAspect="1" noChangeArrowheads="1"/>
            </p:cNvSpPr>
            <p:nvPr/>
          </p:nvSpPr>
          <p:spPr bwMode="auto">
            <a:xfrm>
              <a:off x="2871" y="2782"/>
              <a:ext cx="122" cy="120"/>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64" name="Text Box 38">
              <a:extLst>
                <a:ext uri="{FF2B5EF4-FFF2-40B4-BE49-F238E27FC236}">
                  <a16:creationId xmlns:a16="http://schemas.microsoft.com/office/drawing/2014/main" id="{8794A416-9686-5E63-4B56-008E291D7EE1}"/>
                </a:ext>
              </a:extLst>
            </p:cNvPr>
            <p:cNvSpPr txBox="1">
              <a:spLocks noChangeArrowheads="1"/>
            </p:cNvSpPr>
            <p:nvPr/>
          </p:nvSpPr>
          <p:spPr bwMode="auto">
            <a:xfrm>
              <a:off x="2988" y="2739"/>
              <a:ext cx="173"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MRO</a:t>
              </a:r>
            </a:p>
          </p:txBody>
        </p:sp>
      </p:grpSp>
      <p:grpSp>
        <p:nvGrpSpPr>
          <p:cNvPr id="33827" name="Group 39">
            <a:extLst>
              <a:ext uri="{FF2B5EF4-FFF2-40B4-BE49-F238E27FC236}">
                <a16:creationId xmlns:a16="http://schemas.microsoft.com/office/drawing/2014/main" id="{DF302901-7F5B-E34F-6D2A-9A89F8F81872}"/>
              </a:ext>
            </a:extLst>
          </p:cNvPr>
          <p:cNvGrpSpPr/>
          <p:nvPr/>
        </p:nvGrpSpPr>
        <p:grpSpPr>
          <a:xfrm>
            <a:off x="6981825" y="5359400"/>
            <a:ext cx="673100" cy="152400"/>
            <a:chOff x="1745" y="2275"/>
            <a:chExt cx="391" cy="96"/>
          </a:xfrm>
        </p:grpSpPr>
        <p:sp>
          <p:nvSpPr>
            <p:cNvPr id="33861" name="Oval 40">
              <a:extLst>
                <a:ext uri="{FF2B5EF4-FFF2-40B4-BE49-F238E27FC236}">
                  <a16:creationId xmlns:a16="http://schemas.microsoft.com/office/drawing/2014/main" id="{7535DB6A-D695-3B99-0FAC-C8FD8477362B}"/>
                </a:ext>
              </a:extLst>
            </p:cNvPr>
            <p:cNvSpPr>
              <a:spLocks noChangeAspect="1" noChangeArrowheads="1"/>
            </p:cNvSpPr>
            <p:nvPr/>
          </p:nvSpPr>
          <p:spPr bwMode="auto">
            <a:xfrm>
              <a:off x="1745" y="2275"/>
              <a:ext cx="98" cy="96"/>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62" name="Text Box 41">
              <a:extLst>
                <a:ext uri="{FF2B5EF4-FFF2-40B4-BE49-F238E27FC236}">
                  <a16:creationId xmlns:a16="http://schemas.microsoft.com/office/drawing/2014/main" id="{F8214FD2-6C32-495C-538D-B1FC0A32777F}"/>
                </a:ext>
              </a:extLst>
            </p:cNvPr>
            <p:cNvSpPr txBox="1">
              <a:spLocks noChangeArrowheads="1"/>
            </p:cNvSpPr>
            <p:nvPr/>
          </p:nvSpPr>
          <p:spPr bwMode="auto">
            <a:xfrm>
              <a:off x="1882" y="2275"/>
              <a:ext cx="254"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Plastics</a:t>
              </a:r>
            </a:p>
          </p:txBody>
        </p:sp>
      </p:grpSp>
      <p:grpSp>
        <p:nvGrpSpPr>
          <p:cNvPr id="33828" name="Group 42">
            <a:extLst>
              <a:ext uri="{FF2B5EF4-FFF2-40B4-BE49-F238E27FC236}">
                <a16:creationId xmlns:a16="http://schemas.microsoft.com/office/drawing/2014/main" id="{08D3E9DD-562A-B5F5-A4EF-A8AFB34A0B19}"/>
              </a:ext>
            </a:extLst>
          </p:cNvPr>
          <p:cNvGrpSpPr/>
          <p:nvPr/>
        </p:nvGrpSpPr>
        <p:grpSpPr>
          <a:xfrm>
            <a:off x="6361113" y="5519738"/>
            <a:ext cx="560387" cy="190500"/>
            <a:chOff x="1384" y="2376"/>
            <a:chExt cx="325" cy="120"/>
          </a:xfrm>
        </p:grpSpPr>
        <p:sp>
          <p:nvSpPr>
            <p:cNvPr id="33859" name="Oval 43">
              <a:extLst>
                <a:ext uri="{FF2B5EF4-FFF2-40B4-BE49-F238E27FC236}">
                  <a16:creationId xmlns:a16="http://schemas.microsoft.com/office/drawing/2014/main" id="{878ED65F-CF9A-7C41-9845-426889333FFC}"/>
                </a:ext>
              </a:extLst>
            </p:cNvPr>
            <p:cNvSpPr>
              <a:spLocks noChangeAspect="1" noChangeArrowheads="1"/>
            </p:cNvSpPr>
            <p:nvPr/>
          </p:nvSpPr>
          <p:spPr bwMode="auto">
            <a:xfrm>
              <a:off x="1384" y="2376"/>
              <a:ext cx="122" cy="120"/>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60" name="Text Box 44">
              <a:extLst>
                <a:ext uri="{FF2B5EF4-FFF2-40B4-BE49-F238E27FC236}">
                  <a16:creationId xmlns:a16="http://schemas.microsoft.com/office/drawing/2014/main" id="{C8A7F80B-B8A2-D540-9EA7-9FB46AE2671B}"/>
                </a:ext>
              </a:extLst>
            </p:cNvPr>
            <p:cNvSpPr txBox="1">
              <a:spLocks noChangeArrowheads="1"/>
            </p:cNvSpPr>
            <p:nvPr/>
          </p:nvSpPr>
          <p:spPr bwMode="auto">
            <a:xfrm>
              <a:off x="1545" y="2391"/>
              <a:ext cx="164"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Tires</a:t>
              </a:r>
            </a:p>
          </p:txBody>
        </p:sp>
      </p:grpSp>
      <p:grpSp>
        <p:nvGrpSpPr>
          <p:cNvPr id="33829" name="Group 45">
            <a:extLst>
              <a:ext uri="{FF2B5EF4-FFF2-40B4-BE49-F238E27FC236}">
                <a16:creationId xmlns:a16="http://schemas.microsoft.com/office/drawing/2014/main" id="{4F1F5BE5-B5D4-BC2B-8C29-4F00EF9751E8}"/>
              </a:ext>
            </a:extLst>
          </p:cNvPr>
          <p:cNvGrpSpPr/>
          <p:nvPr/>
        </p:nvGrpSpPr>
        <p:grpSpPr>
          <a:xfrm>
            <a:off x="2381250" y="5591175"/>
            <a:ext cx="817563" cy="250825"/>
            <a:chOff x="1385" y="3522"/>
            <a:chExt cx="475" cy="158"/>
          </a:xfrm>
        </p:grpSpPr>
        <p:sp>
          <p:nvSpPr>
            <p:cNvPr id="33857" name="Oval 46">
              <a:extLst>
                <a:ext uri="{FF2B5EF4-FFF2-40B4-BE49-F238E27FC236}">
                  <a16:creationId xmlns:a16="http://schemas.microsoft.com/office/drawing/2014/main" id="{8B7A08A7-A311-007C-1386-E2517BDC614A}"/>
                </a:ext>
              </a:extLst>
            </p:cNvPr>
            <p:cNvSpPr>
              <a:spLocks noChangeAspect="1" noChangeArrowheads="1"/>
            </p:cNvSpPr>
            <p:nvPr/>
          </p:nvSpPr>
          <p:spPr bwMode="auto">
            <a:xfrm>
              <a:off x="1385" y="3522"/>
              <a:ext cx="161" cy="158"/>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58" name="Text Box 47">
              <a:extLst>
                <a:ext uri="{FF2B5EF4-FFF2-40B4-BE49-F238E27FC236}">
                  <a16:creationId xmlns:a16="http://schemas.microsoft.com/office/drawing/2014/main" id="{0B287E03-C4A0-943D-63F8-C3B05E2FEA15}"/>
                </a:ext>
              </a:extLst>
            </p:cNvPr>
            <p:cNvSpPr txBox="1">
              <a:spLocks noChangeArrowheads="1"/>
            </p:cNvSpPr>
            <p:nvPr/>
          </p:nvSpPr>
          <p:spPr bwMode="auto">
            <a:xfrm>
              <a:off x="1595" y="3575"/>
              <a:ext cx="265"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Engines</a:t>
              </a:r>
            </a:p>
          </p:txBody>
        </p:sp>
      </p:grpSp>
      <p:sp>
        <p:nvSpPr>
          <p:cNvPr id="33830" name="Text Box 48">
            <a:extLst>
              <a:ext uri="{FF2B5EF4-FFF2-40B4-BE49-F238E27FC236}">
                <a16:creationId xmlns:a16="http://schemas.microsoft.com/office/drawing/2014/main" id="{F1E0F6F6-D035-238C-72FB-79D1FC1CF7CF}"/>
              </a:ext>
            </a:extLst>
          </p:cNvPr>
          <p:cNvSpPr txBox="1">
            <a:spLocks noChangeArrowheads="1"/>
          </p:cNvSpPr>
          <p:nvPr/>
        </p:nvSpPr>
        <p:spPr bwMode="auto">
          <a:xfrm>
            <a:off x="7204075" y="2317750"/>
            <a:ext cx="582613"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i="1">
                <a:ea typeface="굴림" panose="020b0600000101010101" pitchFamily="34" charset="-127"/>
              </a:rPr>
              <a:t>Machined </a:t>
            </a:r>
            <a:br>
              <a:rPr lang="en-US" altLang="ko-KR" sz="1000" b="0" i="1">
                <a:ea typeface="굴림" panose="020b0600000101010101" pitchFamily="34" charset="-127"/>
              </a:rPr>
            </a:br>
            <a:r>
              <a:rPr lang="en-US" altLang="ko-KR" sz="1000" b="0" i="1">
                <a:ea typeface="굴림" panose="020b0600000101010101" pitchFamily="34" charset="-127"/>
              </a:rPr>
              <a:t>parts</a:t>
            </a:r>
          </a:p>
        </p:txBody>
      </p:sp>
      <p:grpSp>
        <p:nvGrpSpPr>
          <p:cNvPr id="33831" name="Group 49">
            <a:extLst>
              <a:ext uri="{FF2B5EF4-FFF2-40B4-BE49-F238E27FC236}">
                <a16:creationId xmlns:a16="http://schemas.microsoft.com/office/drawing/2014/main" id="{E549B6FB-AA11-4809-5F24-4371B5B9C4C0}"/>
              </a:ext>
            </a:extLst>
          </p:cNvPr>
          <p:cNvGrpSpPr/>
          <p:nvPr/>
        </p:nvGrpSpPr>
        <p:grpSpPr>
          <a:xfrm>
            <a:off x="2624138" y="5411788"/>
            <a:ext cx="587375" cy="190500"/>
            <a:chOff x="1526" y="3409"/>
            <a:chExt cx="341" cy="120"/>
          </a:xfrm>
        </p:grpSpPr>
        <p:sp>
          <p:nvSpPr>
            <p:cNvPr id="33855" name="Oval 50">
              <a:extLst>
                <a:ext uri="{FF2B5EF4-FFF2-40B4-BE49-F238E27FC236}">
                  <a16:creationId xmlns:a16="http://schemas.microsoft.com/office/drawing/2014/main" id="{95921E67-72A6-4EE9-2F8F-48558CEDA006}"/>
                </a:ext>
              </a:extLst>
            </p:cNvPr>
            <p:cNvSpPr>
              <a:spLocks noChangeAspect="1" noChangeArrowheads="1"/>
            </p:cNvSpPr>
            <p:nvPr/>
          </p:nvSpPr>
          <p:spPr bwMode="auto">
            <a:xfrm>
              <a:off x="1526" y="3409"/>
              <a:ext cx="122" cy="120"/>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56" name="Text Box 51">
              <a:extLst>
                <a:ext uri="{FF2B5EF4-FFF2-40B4-BE49-F238E27FC236}">
                  <a16:creationId xmlns:a16="http://schemas.microsoft.com/office/drawing/2014/main" id="{A3E62E70-0292-97D5-279B-01758F816827}"/>
                </a:ext>
              </a:extLst>
            </p:cNvPr>
            <p:cNvSpPr txBox="1">
              <a:spLocks noChangeArrowheads="1"/>
            </p:cNvSpPr>
            <p:nvPr/>
          </p:nvSpPr>
          <p:spPr bwMode="auto">
            <a:xfrm>
              <a:off x="1687" y="3424"/>
              <a:ext cx="180"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Axles</a:t>
              </a:r>
            </a:p>
          </p:txBody>
        </p:sp>
      </p:grpSp>
      <p:grpSp>
        <p:nvGrpSpPr>
          <p:cNvPr id="33832" name="Group 52">
            <a:extLst>
              <a:ext uri="{FF2B5EF4-FFF2-40B4-BE49-F238E27FC236}">
                <a16:creationId xmlns:a16="http://schemas.microsoft.com/office/drawing/2014/main" id="{C394FA63-3E00-72FD-E0C0-11EA4BB83566}"/>
              </a:ext>
            </a:extLst>
          </p:cNvPr>
          <p:cNvGrpSpPr/>
          <p:nvPr/>
        </p:nvGrpSpPr>
        <p:grpSpPr>
          <a:xfrm>
            <a:off x="3516313" y="5124450"/>
            <a:ext cx="928687" cy="190500"/>
            <a:chOff x="2045" y="3228"/>
            <a:chExt cx="540" cy="120"/>
          </a:xfrm>
        </p:grpSpPr>
        <p:sp>
          <p:nvSpPr>
            <p:cNvPr id="33853" name="Oval 53">
              <a:extLst>
                <a:ext uri="{FF2B5EF4-FFF2-40B4-BE49-F238E27FC236}">
                  <a16:creationId xmlns:a16="http://schemas.microsoft.com/office/drawing/2014/main" id="{CD3C7006-AB0E-B140-DC73-C90F23B3A85A}"/>
                </a:ext>
              </a:extLst>
            </p:cNvPr>
            <p:cNvSpPr>
              <a:spLocks noChangeAspect="1" noChangeArrowheads="1"/>
            </p:cNvSpPr>
            <p:nvPr/>
          </p:nvSpPr>
          <p:spPr bwMode="auto">
            <a:xfrm>
              <a:off x="2463" y="3228"/>
              <a:ext cx="122" cy="120"/>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54" name="Text Box 54">
              <a:extLst>
                <a:ext uri="{FF2B5EF4-FFF2-40B4-BE49-F238E27FC236}">
                  <a16:creationId xmlns:a16="http://schemas.microsoft.com/office/drawing/2014/main" id="{BCA974AF-842A-CA16-5674-BC7EB11495EB}"/>
                </a:ext>
              </a:extLst>
            </p:cNvPr>
            <p:cNvSpPr txBox="1">
              <a:spLocks noChangeArrowheads="1"/>
            </p:cNvSpPr>
            <p:nvPr/>
          </p:nvSpPr>
          <p:spPr bwMode="auto">
            <a:xfrm>
              <a:off x="2045" y="3245"/>
              <a:ext cx="359"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Gearboxes</a:t>
              </a:r>
            </a:p>
          </p:txBody>
        </p:sp>
      </p:grpSp>
      <p:grpSp>
        <p:nvGrpSpPr>
          <p:cNvPr id="33833" name="Group 55">
            <a:extLst>
              <a:ext uri="{FF2B5EF4-FFF2-40B4-BE49-F238E27FC236}">
                <a16:creationId xmlns:a16="http://schemas.microsoft.com/office/drawing/2014/main" id="{94AC31BF-B7F9-DE15-7071-04F1829350B0}"/>
              </a:ext>
            </a:extLst>
          </p:cNvPr>
          <p:cNvGrpSpPr/>
          <p:nvPr/>
        </p:nvGrpSpPr>
        <p:grpSpPr>
          <a:xfrm>
            <a:off x="2395538" y="4716463"/>
            <a:ext cx="792162" cy="136525"/>
            <a:chOff x="1393" y="2971"/>
            <a:chExt cx="460" cy="86"/>
          </a:xfrm>
        </p:grpSpPr>
        <p:sp>
          <p:nvSpPr>
            <p:cNvPr id="33851" name="Oval 56">
              <a:extLst>
                <a:ext uri="{FF2B5EF4-FFF2-40B4-BE49-F238E27FC236}">
                  <a16:creationId xmlns:a16="http://schemas.microsoft.com/office/drawing/2014/main" id="{2803F984-60D5-F4E7-42CF-B96573384B0E}"/>
                </a:ext>
              </a:extLst>
            </p:cNvPr>
            <p:cNvSpPr>
              <a:spLocks noChangeAspect="1" noChangeArrowheads="1"/>
            </p:cNvSpPr>
            <p:nvPr/>
          </p:nvSpPr>
          <p:spPr bwMode="auto">
            <a:xfrm>
              <a:off x="1393" y="2971"/>
              <a:ext cx="86" cy="85"/>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52" name="Text Box 57">
              <a:extLst>
                <a:ext uri="{FF2B5EF4-FFF2-40B4-BE49-F238E27FC236}">
                  <a16:creationId xmlns:a16="http://schemas.microsoft.com/office/drawing/2014/main" id="{12A538C6-F58B-E236-F25B-EF9EDC96BBFB}"/>
                </a:ext>
              </a:extLst>
            </p:cNvPr>
            <p:cNvSpPr txBox="1">
              <a:spLocks noChangeArrowheads="1"/>
            </p:cNvSpPr>
            <p:nvPr/>
          </p:nvSpPr>
          <p:spPr bwMode="auto">
            <a:xfrm>
              <a:off x="1509" y="2971"/>
              <a:ext cx="344" cy="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Chemicals</a:t>
              </a:r>
            </a:p>
          </p:txBody>
        </p:sp>
      </p:grpSp>
      <p:grpSp>
        <p:nvGrpSpPr>
          <p:cNvPr id="33834" name="Group 58">
            <a:extLst>
              <a:ext uri="{FF2B5EF4-FFF2-40B4-BE49-F238E27FC236}">
                <a16:creationId xmlns:a16="http://schemas.microsoft.com/office/drawing/2014/main" id="{DB591B10-7287-C91C-F4B5-F9E14C665715}"/>
              </a:ext>
            </a:extLst>
          </p:cNvPr>
          <p:cNvGrpSpPr/>
          <p:nvPr/>
        </p:nvGrpSpPr>
        <p:grpSpPr>
          <a:xfrm>
            <a:off x="1939925" y="2565400"/>
            <a:ext cx="1398588" cy="273050"/>
            <a:chOff x="3779" y="3031"/>
            <a:chExt cx="813" cy="172"/>
          </a:xfrm>
        </p:grpSpPr>
        <p:sp>
          <p:nvSpPr>
            <p:cNvPr id="33849" name="Text Box 59">
              <a:extLst>
                <a:ext uri="{FF2B5EF4-FFF2-40B4-BE49-F238E27FC236}">
                  <a16:creationId xmlns:a16="http://schemas.microsoft.com/office/drawing/2014/main" id="{3F93E6EF-D33D-F372-5DCD-BCEFE15943B5}"/>
                </a:ext>
              </a:extLst>
            </p:cNvPr>
            <p:cNvSpPr txBox="1">
              <a:spLocks noChangeArrowheads="1"/>
            </p:cNvSpPr>
            <p:nvPr/>
          </p:nvSpPr>
          <p:spPr bwMode="auto">
            <a:xfrm>
              <a:off x="3911" y="3031"/>
              <a:ext cx="681" cy="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ko-KR" sz="1000" b="0" i="1">
                  <a:ea typeface="굴림" panose="020b0600000101010101" pitchFamily="34" charset="-127"/>
                </a:rPr>
                <a:t>Product identification</a:t>
              </a:r>
              <a:br>
                <a:rPr lang="en-US" altLang="ko-KR" sz="1000" b="0" i="1">
                  <a:ea typeface="굴림" panose="020b0600000101010101" pitchFamily="34" charset="-127"/>
                </a:rPr>
              </a:br>
              <a:r>
                <a:rPr lang="en-US" altLang="ko-KR" sz="1000" b="0" i="1">
                  <a:ea typeface="굴림" panose="020b0600000101010101" pitchFamily="34" charset="-127"/>
                </a:rPr>
                <a:t>&amp; labeling</a:t>
              </a:r>
              <a:endParaRPr lang="de-DE" altLang="ko-KR" sz="1000" b="0" i="1">
                <a:ea typeface="가는각진제목체" panose="02030600000101010101" pitchFamily="18" charset="-127"/>
              </a:endParaRPr>
            </a:p>
          </p:txBody>
        </p:sp>
        <p:sp>
          <p:nvSpPr>
            <p:cNvPr id="33850" name="Oval 60">
              <a:extLst>
                <a:ext uri="{FF2B5EF4-FFF2-40B4-BE49-F238E27FC236}">
                  <a16:creationId xmlns:a16="http://schemas.microsoft.com/office/drawing/2014/main" id="{51469EBA-4431-8EB0-3A47-A73CDD3027C0}"/>
                </a:ext>
              </a:extLst>
            </p:cNvPr>
            <p:cNvSpPr>
              <a:spLocks noChangeAspect="1" noChangeArrowheads="1"/>
            </p:cNvSpPr>
            <p:nvPr/>
          </p:nvSpPr>
          <p:spPr bwMode="auto">
            <a:xfrm>
              <a:off x="3779" y="3059"/>
              <a:ext cx="63" cy="62"/>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grpSp>
        <p:nvGrpSpPr>
          <p:cNvPr id="33835" name="Group 61">
            <a:extLst>
              <a:ext uri="{FF2B5EF4-FFF2-40B4-BE49-F238E27FC236}">
                <a16:creationId xmlns:a16="http://schemas.microsoft.com/office/drawing/2014/main" id="{A9485032-D962-260E-97F6-15D378CB5FE4}"/>
              </a:ext>
            </a:extLst>
          </p:cNvPr>
          <p:cNvGrpSpPr/>
          <p:nvPr/>
        </p:nvGrpSpPr>
        <p:grpSpPr>
          <a:xfrm>
            <a:off x="4719638" y="4652963"/>
            <a:ext cx="808037" cy="273050"/>
            <a:chOff x="2744" y="2931"/>
            <a:chExt cx="470" cy="172"/>
          </a:xfrm>
        </p:grpSpPr>
        <p:sp>
          <p:nvSpPr>
            <p:cNvPr id="33847" name="Oval 62">
              <a:extLst>
                <a:ext uri="{FF2B5EF4-FFF2-40B4-BE49-F238E27FC236}">
                  <a16:creationId xmlns:a16="http://schemas.microsoft.com/office/drawing/2014/main" id="{0E6B177D-3A97-C099-EF7B-B1F822AD38A8}"/>
                </a:ext>
              </a:extLst>
            </p:cNvPr>
            <p:cNvSpPr>
              <a:spLocks noChangeAspect="1" noChangeArrowheads="1"/>
            </p:cNvSpPr>
            <p:nvPr/>
          </p:nvSpPr>
          <p:spPr bwMode="auto">
            <a:xfrm>
              <a:off x="3145" y="2939"/>
              <a:ext cx="69" cy="68"/>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48" name="Text Box 63">
              <a:extLst>
                <a:ext uri="{FF2B5EF4-FFF2-40B4-BE49-F238E27FC236}">
                  <a16:creationId xmlns:a16="http://schemas.microsoft.com/office/drawing/2014/main" id="{063E3AD1-4FF8-D1CF-065F-3F6B1F5157FF}"/>
                </a:ext>
              </a:extLst>
            </p:cNvPr>
            <p:cNvSpPr txBox="1">
              <a:spLocks noChangeArrowheads="1"/>
            </p:cNvSpPr>
            <p:nvPr/>
          </p:nvSpPr>
          <p:spPr bwMode="auto">
            <a:xfrm>
              <a:off x="2744" y="2931"/>
              <a:ext cx="429" cy="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Fasteners, </a:t>
              </a:r>
              <a:br>
                <a:rPr lang="de-DE" altLang="ko-KR" sz="1000" b="0" i="1">
                  <a:ea typeface="가는각진제목체" panose="02030600000101010101" pitchFamily="18" charset="-127"/>
                </a:rPr>
              </a:br>
              <a:r>
                <a:rPr lang="de-DE" altLang="ko-KR" sz="1000" b="0" i="1">
                  <a:ea typeface="가는각진제목체" panose="02030600000101010101" pitchFamily="18" charset="-127"/>
                </a:rPr>
                <a:t>retainer rings</a:t>
              </a:r>
            </a:p>
          </p:txBody>
        </p:sp>
      </p:grpSp>
      <p:grpSp>
        <p:nvGrpSpPr>
          <p:cNvPr id="33836" name="Group 64">
            <a:extLst>
              <a:ext uri="{FF2B5EF4-FFF2-40B4-BE49-F238E27FC236}">
                <a16:creationId xmlns:a16="http://schemas.microsoft.com/office/drawing/2014/main" id="{1DBE0AEF-6654-0A22-AC9D-2E26D783DA98}"/>
              </a:ext>
            </a:extLst>
          </p:cNvPr>
          <p:cNvGrpSpPr/>
          <p:nvPr/>
        </p:nvGrpSpPr>
        <p:grpSpPr>
          <a:xfrm>
            <a:off x="2668588" y="3729038"/>
            <a:ext cx="587375" cy="273050"/>
            <a:chOff x="2786" y="3142"/>
            <a:chExt cx="341" cy="172"/>
          </a:xfrm>
        </p:grpSpPr>
        <p:sp>
          <p:nvSpPr>
            <p:cNvPr id="33845" name="Oval 65">
              <a:extLst>
                <a:ext uri="{FF2B5EF4-FFF2-40B4-BE49-F238E27FC236}">
                  <a16:creationId xmlns:a16="http://schemas.microsoft.com/office/drawing/2014/main" id="{6B9CDA7A-5B88-5BF3-5F7A-EEE04233C2B8}"/>
                </a:ext>
              </a:extLst>
            </p:cNvPr>
            <p:cNvSpPr>
              <a:spLocks noChangeAspect="1" noChangeArrowheads="1"/>
            </p:cNvSpPr>
            <p:nvPr/>
          </p:nvSpPr>
          <p:spPr bwMode="auto">
            <a:xfrm>
              <a:off x="3075" y="3177"/>
              <a:ext cx="52" cy="51"/>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46" name="Text Box 66">
              <a:extLst>
                <a:ext uri="{FF2B5EF4-FFF2-40B4-BE49-F238E27FC236}">
                  <a16:creationId xmlns:a16="http://schemas.microsoft.com/office/drawing/2014/main" id="{5DD672BE-93B6-1746-9B5E-70C99F510074}"/>
                </a:ext>
              </a:extLst>
            </p:cNvPr>
            <p:cNvSpPr txBox="1">
              <a:spLocks noChangeArrowheads="1"/>
            </p:cNvSpPr>
            <p:nvPr/>
          </p:nvSpPr>
          <p:spPr bwMode="auto">
            <a:xfrm>
              <a:off x="2786" y="3142"/>
              <a:ext cx="285" cy="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Fittings,</a:t>
              </a:r>
              <a:br>
                <a:rPr lang="de-DE" altLang="ko-KR" sz="1000" b="0" i="1">
                  <a:ea typeface="가는각진제목체" panose="02030600000101010101" pitchFamily="18" charset="-127"/>
                </a:rPr>
              </a:br>
              <a:r>
                <a:rPr lang="de-DE" altLang="ko-KR" sz="1000" b="0" i="1">
                  <a:ea typeface="가는각진제목체" panose="02030600000101010101" pitchFamily="18" charset="-127"/>
                </a:rPr>
                <a:t>adaptors</a:t>
              </a:r>
            </a:p>
          </p:txBody>
        </p:sp>
      </p:grpSp>
      <p:grpSp>
        <p:nvGrpSpPr>
          <p:cNvPr id="33837" name="Group 67">
            <a:extLst>
              <a:ext uri="{FF2B5EF4-FFF2-40B4-BE49-F238E27FC236}">
                <a16:creationId xmlns:a16="http://schemas.microsoft.com/office/drawing/2014/main" id="{E03D5A82-8769-BC10-5633-0E1603D0F251}"/>
              </a:ext>
            </a:extLst>
          </p:cNvPr>
          <p:cNvGrpSpPr/>
          <p:nvPr/>
        </p:nvGrpSpPr>
        <p:grpSpPr>
          <a:xfrm>
            <a:off x="2308225" y="3076575"/>
            <a:ext cx="809625" cy="273050"/>
            <a:chOff x="3286" y="3100"/>
            <a:chExt cx="471" cy="172"/>
          </a:xfrm>
        </p:grpSpPr>
        <p:sp>
          <p:nvSpPr>
            <p:cNvPr id="33843" name="Oval 68">
              <a:extLst>
                <a:ext uri="{FF2B5EF4-FFF2-40B4-BE49-F238E27FC236}">
                  <a16:creationId xmlns:a16="http://schemas.microsoft.com/office/drawing/2014/main" id="{6D1EAF56-A2A2-1E9B-A6B8-734C5AD6A818}"/>
                </a:ext>
              </a:extLst>
            </p:cNvPr>
            <p:cNvSpPr>
              <a:spLocks noChangeAspect="1" noChangeArrowheads="1"/>
            </p:cNvSpPr>
            <p:nvPr/>
          </p:nvSpPr>
          <p:spPr bwMode="auto">
            <a:xfrm>
              <a:off x="3286" y="3147"/>
              <a:ext cx="52" cy="51"/>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44" name="Text Box 69">
              <a:extLst>
                <a:ext uri="{FF2B5EF4-FFF2-40B4-BE49-F238E27FC236}">
                  <a16:creationId xmlns:a16="http://schemas.microsoft.com/office/drawing/2014/main" id="{2E2ED951-4527-C227-F35E-4120AC0C449A}"/>
                </a:ext>
              </a:extLst>
            </p:cNvPr>
            <p:cNvSpPr txBox="1">
              <a:spLocks noChangeArrowheads="1"/>
            </p:cNvSpPr>
            <p:nvPr/>
          </p:nvSpPr>
          <p:spPr bwMode="auto">
            <a:xfrm>
              <a:off x="3402" y="3100"/>
              <a:ext cx="355" cy="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Clamps, </a:t>
              </a:r>
              <a:br>
                <a:rPr lang="de-DE" altLang="ko-KR" sz="1000" b="0" i="1">
                  <a:ea typeface="가는각진제목체" panose="02030600000101010101" pitchFamily="18" charset="-127"/>
                </a:rPr>
              </a:br>
              <a:r>
                <a:rPr lang="de-DE" altLang="ko-KR" sz="1000" b="0" i="1">
                  <a:ea typeface="가는각진제목체" panose="02030600000101010101" pitchFamily="18" charset="-127"/>
                </a:rPr>
                <a:t>ties, straps</a:t>
              </a:r>
            </a:p>
          </p:txBody>
        </p:sp>
      </p:grpSp>
      <p:grpSp>
        <p:nvGrpSpPr>
          <p:cNvPr id="33838" name="Group 70">
            <a:extLst>
              <a:ext uri="{FF2B5EF4-FFF2-40B4-BE49-F238E27FC236}">
                <a16:creationId xmlns:a16="http://schemas.microsoft.com/office/drawing/2014/main" id="{2CA79134-0F07-9129-85E4-21792F835C98}"/>
              </a:ext>
            </a:extLst>
          </p:cNvPr>
          <p:cNvGrpSpPr/>
          <p:nvPr/>
        </p:nvGrpSpPr>
        <p:grpSpPr>
          <a:xfrm>
            <a:off x="4167188" y="4348163"/>
            <a:ext cx="947737" cy="273050"/>
            <a:chOff x="1998" y="2610"/>
            <a:chExt cx="551" cy="172"/>
          </a:xfrm>
        </p:grpSpPr>
        <p:sp>
          <p:nvSpPr>
            <p:cNvPr id="33841" name="Oval 71">
              <a:extLst>
                <a:ext uri="{FF2B5EF4-FFF2-40B4-BE49-F238E27FC236}">
                  <a16:creationId xmlns:a16="http://schemas.microsoft.com/office/drawing/2014/main" id="{763070DF-146D-F738-7F34-C9F0FD657582}"/>
                </a:ext>
              </a:extLst>
            </p:cNvPr>
            <p:cNvSpPr>
              <a:spLocks noChangeAspect="1" noChangeArrowheads="1"/>
            </p:cNvSpPr>
            <p:nvPr/>
          </p:nvSpPr>
          <p:spPr bwMode="auto">
            <a:xfrm>
              <a:off x="1998" y="2657"/>
              <a:ext cx="63" cy="62"/>
            </a:xfrm>
            <a:prstGeom prst="ellipse">
              <a:avLst/>
            </a:prstGeom>
            <a:solidFill>
              <a:schemeClr val="accent1"/>
            </a:solidFill>
            <a:ln w="9525" algn="ctr">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3842" name="Text Box 72">
              <a:extLst>
                <a:ext uri="{FF2B5EF4-FFF2-40B4-BE49-F238E27FC236}">
                  <a16:creationId xmlns:a16="http://schemas.microsoft.com/office/drawing/2014/main" id="{841602D6-9734-BB77-A934-47EC6174ECF1}"/>
                </a:ext>
              </a:extLst>
            </p:cNvPr>
            <p:cNvSpPr txBox="1">
              <a:spLocks noChangeArrowheads="1"/>
            </p:cNvSpPr>
            <p:nvPr/>
          </p:nvSpPr>
          <p:spPr bwMode="auto">
            <a:xfrm>
              <a:off x="2114" y="2610"/>
              <a:ext cx="435" cy="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de-DE" altLang="ko-KR" sz="1000" b="0" i="1">
                  <a:ea typeface="가는각진제목체" panose="02030600000101010101" pitchFamily="18" charset="-127"/>
                </a:rPr>
                <a:t>Crawler track</a:t>
              </a:r>
              <a:br>
                <a:rPr lang="de-DE" altLang="ko-KR" sz="1000" b="0" i="1">
                  <a:ea typeface="가는각진제목체" panose="02030600000101010101" pitchFamily="18" charset="-127"/>
                </a:rPr>
              </a:br>
              <a:r>
                <a:rPr lang="de-DE" altLang="ko-KR" sz="1000" b="0" i="1">
                  <a:ea typeface="가는각진제목체" panose="02030600000101010101" pitchFamily="18" charset="-127"/>
                </a:rPr>
                <a:t>assemblies</a:t>
              </a:r>
            </a:p>
          </p:txBody>
        </p:sp>
      </p:grpSp>
      <p:sp>
        <p:nvSpPr>
          <p:cNvPr id="33840" name="Oval 73">
            <a:extLst>
              <a:ext uri="{FF2B5EF4-FFF2-40B4-BE49-F238E27FC236}">
                <a16:creationId xmlns:a16="http://schemas.microsoft.com/office/drawing/2014/main" id="{A670AB77-EB1D-4A2E-1BB1-D1FA53AB1F8B}"/>
              </a:ext>
            </a:extLst>
          </p:cNvPr>
          <p:cNvSpPr>
            <a:spLocks noChangeArrowheads="1"/>
          </p:cNvSpPr>
          <p:nvPr/>
        </p:nvSpPr>
        <p:spPr bwMode="auto">
          <a:xfrm>
            <a:off x="6864350" y="2436813"/>
            <a:ext cx="407988" cy="377825"/>
          </a:xfrm>
          <a:prstGeom prst="ellipse">
            <a:avLst/>
          </a:prstGeom>
          <a:solidFill>
            <a:schemeClr val="tx1">
              <a:lumMod val="95000"/>
              <a:lumOff val="5000"/>
            </a:schemeClr>
          </a:solidFill>
          <a:ln w="9525">
            <a:solidFill>
              <a:srgbClr val="000000"/>
            </a:solidFill>
            <a:round/>
          </a:ln>
        </p:spPr>
        <p:txBody>
          <a:bodyP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defRPr/>
            </a:pPr>
            <a:endParaRPr lang="ko-KR" altLang="en-US" sz="800">
              <a:ea typeface="굴림" panose="020b0600000101010101" pitchFamily="50" charset="-127"/>
            </a:endParaRPr>
          </a:p>
        </p:txBody>
      </p:sp>
      <p:sp>
        <p:nvSpPr>
          <p:cNvPr id="3" name="Text Box 74">
            <a:extLst>
              <a:ext uri="{FF2B5EF4-FFF2-40B4-BE49-F238E27FC236}">
                <a16:creationId xmlns:a16="http://schemas.microsoft.com/office/drawing/2014/main" id="{D1CE5100-F20E-6532-134E-43041CDB5467}"/>
              </a:ext>
            </a:extLst>
          </p:cNvPr>
          <p:cNvSpPr txBox="1">
            <a:spLocks noChangeArrowheads="1"/>
          </p:cNvSpPr>
          <p:nvPr/>
        </p:nvSpPr>
        <p:spPr bwMode="auto">
          <a:xfrm>
            <a:off x="6932613" y="2957513"/>
            <a:ext cx="646112"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i="1">
                <a:ea typeface="굴림" panose="020b0600000101010101" pitchFamily="34" charset="-127"/>
              </a:rPr>
              <a:t>Steel</a:t>
            </a:r>
            <a:br>
              <a:rPr lang="en-US" altLang="ko-KR" sz="1000" b="0" i="1">
                <a:ea typeface="굴림" panose="020b0600000101010101" pitchFamily="34" charset="-127"/>
              </a:rPr>
            </a:br>
            <a:r>
              <a:rPr lang="en-US" altLang="ko-KR" sz="1000" b="0" i="1">
                <a:ea typeface="굴림" panose="020b0600000101010101" pitchFamily="34" charset="-127"/>
              </a:rPr>
              <a:t>fabrications</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35841" name="Rectangle 2">
            <a:extLst>
              <a:ext uri="{FF2B5EF4-FFF2-40B4-BE49-F238E27FC236}">
                <a16:creationId xmlns:a16="http://schemas.microsoft.com/office/drawing/2014/main" id="{CAF433DD-DE10-1943-8E84-6A359EFBF7DB}"/>
              </a:ext>
            </a:extLst>
          </p:cNvPr>
          <p:cNvSpPr>
            <a:spLocks noChangeArrowheads="1"/>
          </p:cNvSpPr>
          <p:nvPr/>
        </p:nvSpPr>
        <p:spPr bwMode="auto">
          <a:xfrm>
            <a:off x="6253163" y="2241550"/>
            <a:ext cx="298450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46075" indent="1111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54063" indent="1603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49338" indent="3222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Tx/>
              <a:buChar char="•"/>
            </a:pPr>
            <a:r>
              <a:rPr lang="en-GB" altLang="ko-KR" sz="1200" b="0"/>
              <a:t>What the customers should expect from every interaction </a:t>
            </a:r>
          </a:p>
        </p:txBody>
      </p:sp>
      <p:sp>
        <p:nvSpPr>
          <p:cNvPr id="35842" name="Rectangle 3">
            <a:extLst>
              <a:ext uri="{FF2B5EF4-FFF2-40B4-BE49-F238E27FC236}">
                <a16:creationId xmlns:a16="http://schemas.microsoft.com/office/drawing/2014/main" id="{2C3FCF59-6344-8B3C-C2CC-C90A0737FF40}"/>
              </a:ext>
            </a:extLst>
          </p:cNvPr>
          <p:cNvSpPr>
            <a:spLocks noChangeArrowheads="1"/>
          </p:cNvSpPr>
          <p:nvPr/>
        </p:nvSpPr>
        <p:spPr bwMode="auto">
          <a:xfrm>
            <a:off x="6718300" y="4146550"/>
            <a:ext cx="2922588"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46075" indent="1111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54063" indent="1603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49338" indent="3222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ClrTx/>
              <a:buFontTx/>
              <a:buChar char="•"/>
            </a:pPr>
            <a:r>
              <a:rPr lang="en-GB" altLang="ko-KR" sz="1200" b="0">
                <a:ea typeface="가는각진제목체" panose="02030600000101010101" pitchFamily="18" charset="-127"/>
              </a:rPr>
              <a:t>What the brand is to be known for</a:t>
            </a:r>
          </a:p>
          <a:p>
            <a:pPr>
              <a:lnSpc>
                <a:spcPct val="100000"/>
              </a:lnSpc>
              <a:spcBef>
                <a:spcPct val="0"/>
              </a:spcBef>
              <a:buClrTx/>
              <a:buFontTx/>
              <a:buChar char="•"/>
            </a:pPr>
            <a:r>
              <a:rPr lang="en-GB" altLang="ko-KR" sz="1200" b="0">
                <a:ea typeface="가는각진제목체" panose="02030600000101010101" pitchFamily="18" charset="-127"/>
              </a:rPr>
              <a:t>Personality traits that customers, and staff use to describe the brand </a:t>
            </a:r>
          </a:p>
        </p:txBody>
      </p:sp>
      <p:sp>
        <p:nvSpPr>
          <p:cNvPr id="35843" name="Rectangle 4">
            <a:extLst>
              <a:ext uri="{FF2B5EF4-FFF2-40B4-BE49-F238E27FC236}">
                <a16:creationId xmlns:a16="http://schemas.microsoft.com/office/drawing/2014/main" id="{8578E1FC-1B75-6372-4AB8-4BA0FCA3556A}"/>
              </a:ext>
            </a:extLst>
          </p:cNvPr>
          <p:cNvSpPr>
            <a:spLocks noChangeArrowheads="1"/>
          </p:cNvSpPr>
          <p:nvPr/>
        </p:nvSpPr>
        <p:spPr bwMode="auto">
          <a:xfrm>
            <a:off x="3433763" y="5530850"/>
            <a:ext cx="3160712"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177800" indent="-1778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7188" indent="1111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54063" indent="1603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49338" indent="3222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Tx/>
              <a:buChar char="•"/>
            </a:pPr>
            <a:r>
              <a:rPr lang="en-GB" altLang="ko-KR" sz="1200" b="0">
                <a:ea typeface="가는각진제목체" panose="02030600000101010101" pitchFamily="18" charset="-127"/>
              </a:rPr>
              <a:t>Physical attributes: e.g. name, logo, colours, taglines, fonts, imagery </a:t>
            </a:r>
          </a:p>
          <a:p>
            <a:pPr algn="ctr">
              <a:lnSpc>
                <a:spcPct val="100000"/>
              </a:lnSpc>
              <a:spcBef>
                <a:spcPct val="0"/>
              </a:spcBef>
              <a:buFontTx/>
              <a:buNone/>
            </a:pPr>
            <a:r>
              <a:rPr lang="en-GB" altLang="ko-KR" sz="1200" b="0" i="1">
                <a:ea typeface="가는각진제목체" panose="02030600000101010101" pitchFamily="18" charset="-127"/>
              </a:rPr>
              <a:t>  </a:t>
            </a:r>
            <a:endParaRPr lang="en-GB" altLang="ko-KR" sz="1000" b="0" i="1">
              <a:ea typeface="가는각진제목체" panose="02030600000101010101" pitchFamily="18" charset="-127"/>
            </a:endParaRPr>
          </a:p>
        </p:txBody>
      </p:sp>
      <p:sp>
        <p:nvSpPr>
          <p:cNvPr id="35844" name="Rectangle 5">
            <a:extLst>
              <a:ext uri="{FF2B5EF4-FFF2-40B4-BE49-F238E27FC236}">
                <a16:creationId xmlns:a16="http://schemas.microsoft.com/office/drawing/2014/main" id="{418FBD5A-206B-6F90-4223-559713FE61EA}"/>
              </a:ext>
            </a:extLst>
          </p:cNvPr>
          <p:cNvSpPr>
            <a:spLocks noChangeArrowheads="1"/>
          </p:cNvSpPr>
          <p:nvPr/>
        </p:nvSpPr>
        <p:spPr bwMode="auto">
          <a:xfrm>
            <a:off x="776288" y="2241550"/>
            <a:ext cx="2944812"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46075" indent="1111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54063" indent="1603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49338" indent="3222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Tx/>
              <a:buChar char="•"/>
            </a:pPr>
            <a:r>
              <a:rPr lang="en-GB" altLang="ko-KR" sz="1200" b="0">
                <a:ea typeface="가는각진제목체" panose="02030600000101010101" pitchFamily="18" charset="-127"/>
              </a:rPr>
              <a:t>What company does and for whom </a:t>
            </a:r>
          </a:p>
          <a:p>
            <a:pPr>
              <a:lnSpc>
                <a:spcPct val="100000"/>
              </a:lnSpc>
              <a:spcBef>
                <a:spcPct val="0"/>
              </a:spcBef>
              <a:buFontTx/>
              <a:buChar char="•"/>
            </a:pPr>
            <a:r>
              <a:rPr lang="en-GB" altLang="ko-KR" sz="1200" b="0">
                <a:ea typeface="가는각진제목체" panose="02030600000101010101" pitchFamily="18" charset="-127"/>
              </a:rPr>
              <a:t>It’s unique value and benefits  </a:t>
            </a:r>
          </a:p>
          <a:p>
            <a:pPr>
              <a:lnSpc>
                <a:spcPct val="100000"/>
              </a:lnSpc>
              <a:spcBef>
                <a:spcPct val="0"/>
              </a:spcBef>
              <a:buFontTx/>
              <a:buChar char="•"/>
            </a:pPr>
            <a:r>
              <a:rPr lang="en-GB" altLang="ko-KR" sz="1200" b="0">
                <a:ea typeface="가는각진제목체" panose="02030600000101010101" pitchFamily="18" charset="-127"/>
              </a:rPr>
              <a:t>Key point of differentiation </a:t>
            </a:r>
          </a:p>
        </p:txBody>
      </p:sp>
      <p:sp>
        <p:nvSpPr>
          <p:cNvPr id="35845" name="Rectangle 6">
            <a:extLst>
              <a:ext uri="{FF2B5EF4-FFF2-40B4-BE49-F238E27FC236}">
                <a16:creationId xmlns:a16="http://schemas.microsoft.com/office/drawing/2014/main" id="{AA4CF17D-D842-F398-092B-15F46735E2AA}"/>
              </a:ext>
            </a:extLst>
          </p:cNvPr>
          <p:cNvSpPr>
            <a:spLocks noGrp="1" noChangeArrowheads="1"/>
          </p:cNvSpPr>
          <p:nvPr>
            <p:ph type="title"/>
          </p:nvPr>
        </p:nvSpPr>
        <p:spPr>
          <a:xfrm>
            <a:off x="266700" y="596900"/>
            <a:ext cx="9367838" cy="603250"/>
          </a:xfrm>
        </p:spPr>
        <p:txBody>
          <a:bodyPr/>
          <a:lstStyle/>
          <a:p>
            <a:r>
              <a:rPr lang="en-GB" altLang="ko-KR"/>
              <a:t>There are five fundamental elements that are the foundation of a brand</a:t>
            </a:r>
          </a:p>
        </p:txBody>
      </p:sp>
      <p:sp>
        <p:nvSpPr>
          <p:cNvPr id="35847" name="AutoShape 7">
            <a:extLst>
              <a:ext uri="{FF2B5EF4-FFF2-40B4-BE49-F238E27FC236}">
                <a16:creationId xmlns:a16="http://schemas.microsoft.com/office/drawing/2014/main" id="{1E7506E5-31C6-1448-6980-2FCC29178300}"/>
              </a:ext>
            </a:extLst>
          </p:cNvPr>
          <p:cNvSpPr>
            <a:spLocks noChangeArrowheads="1"/>
          </p:cNvSpPr>
          <p:nvPr/>
        </p:nvSpPr>
        <p:spPr bwMode="auto">
          <a:xfrm>
            <a:off x="2787650" y="2100263"/>
            <a:ext cx="4102100" cy="3252787"/>
          </a:xfrm>
          <a:prstGeom prst="pentagon">
            <a:avLst/>
          </a:prstGeom>
          <a:solidFill>
            <a:schemeClr val="tx1">
              <a:lumMod val="95000"/>
              <a:lumOff val="5000"/>
            </a:schemeClr>
          </a:solidFill>
          <a:ln w="12700">
            <a:solidFill>
              <a:schemeClr val="tx1"/>
            </a:solidFill>
            <a:miter lim="800000"/>
          </a:ln>
          <a:effectLst/>
        </p:spPr>
        <p:txBody>
          <a:bodyPr wrap="none"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hangingPunct="1">
              <a:defRPr/>
            </a:pPr>
            <a:endParaRPr lang="ko-KR" altLang="en-US"/>
          </a:p>
        </p:txBody>
      </p:sp>
      <p:sp>
        <p:nvSpPr>
          <p:cNvPr id="2" name="AutoShape 8">
            <a:extLst>
              <a:ext uri="{FF2B5EF4-FFF2-40B4-BE49-F238E27FC236}">
                <a16:creationId xmlns:a16="http://schemas.microsoft.com/office/drawing/2014/main" id="{FF45F1A5-4F9B-EDC5-15A6-3DEC85989F6D}"/>
              </a:ext>
            </a:extLst>
          </p:cNvPr>
          <p:cNvSpPr>
            <a:spLocks noChangeArrowheads="1"/>
          </p:cNvSpPr>
          <p:nvPr/>
        </p:nvSpPr>
        <p:spPr bwMode="auto">
          <a:xfrm>
            <a:off x="3978275" y="3127375"/>
            <a:ext cx="1724025" cy="1433513"/>
          </a:xfrm>
          <a:prstGeom prst="pentagon">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5848" name="Line 9">
            <a:extLst>
              <a:ext uri="{FF2B5EF4-FFF2-40B4-BE49-F238E27FC236}">
                <a16:creationId xmlns:a16="http://schemas.microsoft.com/office/drawing/2014/main" id="{A7CCA3C1-D95A-9C7C-9073-35CD225C3ACA}"/>
              </a:ext>
            </a:extLst>
          </p:cNvPr>
          <p:cNvSpPr>
            <a:spLocks noChangeShapeType="1"/>
          </p:cNvSpPr>
          <p:nvPr/>
        </p:nvSpPr>
        <p:spPr bwMode="auto">
          <a:xfrm flipV="1">
            <a:off x="3589338" y="4545013"/>
            <a:ext cx="723900" cy="79533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5849" name="Line 10">
            <a:extLst>
              <a:ext uri="{FF2B5EF4-FFF2-40B4-BE49-F238E27FC236}">
                <a16:creationId xmlns:a16="http://schemas.microsoft.com/office/drawing/2014/main" id="{BA29B146-6542-8C2E-E6E2-80436D82573D}"/>
              </a:ext>
            </a:extLst>
          </p:cNvPr>
          <p:cNvSpPr>
            <a:spLocks noChangeShapeType="1"/>
          </p:cNvSpPr>
          <p:nvPr/>
        </p:nvSpPr>
        <p:spPr bwMode="auto">
          <a:xfrm>
            <a:off x="5348288" y="4543425"/>
            <a:ext cx="738187" cy="8096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5850" name="Line 11">
            <a:extLst>
              <a:ext uri="{FF2B5EF4-FFF2-40B4-BE49-F238E27FC236}">
                <a16:creationId xmlns:a16="http://schemas.microsoft.com/office/drawing/2014/main" id="{44AC60D2-F2E7-8328-67C8-CB2BF6147DA0}"/>
              </a:ext>
            </a:extLst>
          </p:cNvPr>
          <p:cNvSpPr>
            <a:spLocks noChangeShapeType="1"/>
          </p:cNvSpPr>
          <p:nvPr/>
        </p:nvSpPr>
        <p:spPr bwMode="auto">
          <a:xfrm flipV="1">
            <a:off x="5703888" y="3357563"/>
            <a:ext cx="1185862" cy="3143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5851" name="Line 12">
            <a:extLst>
              <a:ext uri="{FF2B5EF4-FFF2-40B4-BE49-F238E27FC236}">
                <a16:creationId xmlns:a16="http://schemas.microsoft.com/office/drawing/2014/main" id="{DEEAFF05-0444-7D4F-0D40-78BC7A412ED0}"/>
              </a:ext>
            </a:extLst>
          </p:cNvPr>
          <p:cNvSpPr>
            <a:spLocks noChangeShapeType="1"/>
          </p:cNvSpPr>
          <p:nvPr/>
        </p:nvSpPr>
        <p:spPr bwMode="auto">
          <a:xfrm>
            <a:off x="2787650" y="3344863"/>
            <a:ext cx="1193800" cy="328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5852" name="Line 13">
            <a:extLst>
              <a:ext uri="{FF2B5EF4-FFF2-40B4-BE49-F238E27FC236}">
                <a16:creationId xmlns:a16="http://schemas.microsoft.com/office/drawing/2014/main" id="{E943A1DF-5CFF-C5C5-E497-95C4C94022F3}"/>
              </a:ext>
            </a:extLst>
          </p:cNvPr>
          <p:cNvSpPr>
            <a:spLocks noChangeShapeType="1"/>
          </p:cNvSpPr>
          <p:nvPr/>
        </p:nvSpPr>
        <p:spPr bwMode="auto">
          <a:xfrm flipH="1">
            <a:off x="4851400" y="2112963"/>
            <a:ext cx="0" cy="10334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35853" name="Rectangle 14">
            <a:extLst>
              <a:ext uri="{FF2B5EF4-FFF2-40B4-BE49-F238E27FC236}">
                <a16:creationId xmlns:a16="http://schemas.microsoft.com/office/drawing/2014/main" id="{9ABDDEB6-CFE8-9C7C-536A-874892A98F3F}"/>
              </a:ext>
            </a:extLst>
          </p:cNvPr>
          <p:cNvSpPr>
            <a:spLocks noChangeArrowheads="1"/>
          </p:cNvSpPr>
          <p:nvPr/>
        </p:nvSpPr>
        <p:spPr bwMode="auto">
          <a:xfrm>
            <a:off x="5181600" y="2919413"/>
            <a:ext cx="990600"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200">
                <a:solidFill>
                  <a:schemeClr val="bg1"/>
                </a:solidFill>
                <a:ea typeface="가는각진제목체" panose="02030600000101010101" pitchFamily="18" charset="-127"/>
              </a:rPr>
              <a:t>Promise </a:t>
            </a:r>
          </a:p>
        </p:txBody>
      </p:sp>
      <p:sp>
        <p:nvSpPr>
          <p:cNvPr id="35854" name="Rectangle 15">
            <a:extLst>
              <a:ext uri="{FF2B5EF4-FFF2-40B4-BE49-F238E27FC236}">
                <a16:creationId xmlns:a16="http://schemas.microsoft.com/office/drawing/2014/main" id="{B0FF62E7-5B06-D5BC-F0B7-774D6307A585}"/>
              </a:ext>
            </a:extLst>
          </p:cNvPr>
          <p:cNvSpPr>
            <a:spLocks noChangeArrowheads="1"/>
          </p:cNvSpPr>
          <p:nvPr/>
        </p:nvSpPr>
        <p:spPr bwMode="auto">
          <a:xfrm>
            <a:off x="5427663" y="3975100"/>
            <a:ext cx="1246187"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200">
                <a:solidFill>
                  <a:schemeClr val="bg1"/>
                </a:solidFill>
                <a:ea typeface="가는각진제목체" panose="02030600000101010101" pitchFamily="18" charset="-127"/>
              </a:rPr>
              <a:t>Personality </a:t>
            </a:r>
          </a:p>
        </p:txBody>
      </p:sp>
      <p:sp>
        <p:nvSpPr>
          <p:cNvPr id="35855" name="Rectangle 16">
            <a:extLst>
              <a:ext uri="{FF2B5EF4-FFF2-40B4-BE49-F238E27FC236}">
                <a16:creationId xmlns:a16="http://schemas.microsoft.com/office/drawing/2014/main" id="{9448AFD4-187E-D308-7364-A0CCB8268B26}"/>
              </a:ext>
            </a:extLst>
          </p:cNvPr>
          <p:cNvSpPr>
            <a:spLocks noChangeArrowheads="1"/>
          </p:cNvSpPr>
          <p:nvPr/>
        </p:nvSpPr>
        <p:spPr bwMode="auto">
          <a:xfrm>
            <a:off x="4224338" y="4845050"/>
            <a:ext cx="14065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200">
                <a:solidFill>
                  <a:schemeClr val="bg1"/>
                </a:solidFill>
                <a:ea typeface="가는각진제목체" panose="02030600000101010101" pitchFamily="18" charset="-127"/>
              </a:rPr>
              <a:t>Associations</a:t>
            </a:r>
          </a:p>
        </p:txBody>
      </p:sp>
      <p:sp>
        <p:nvSpPr>
          <p:cNvPr id="35856" name="Rectangle 17">
            <a:extLst>
              <a:ext uri="{FF2B5EF4-FFF2-40B4-BE49-F238E27FC236}">
                <a16:creationId xmlns:a16="http://schemas.microsoft.com/office/drawing/2014/main" id="{3DB6C6CA-8827-267E-DEEA-364DE7D82EEC}"/>
              </a:ext>
            </a:extLst>
          </p:cNvPr>
          <p:cNvSpPr>
            <a:spLocks noChangeArrowheads="1"/>
          </p:cNvSpPr>
          <p:nvPr/>
        </p:nvSpPr>
        <p:spPr bwMode="auto">
          <a:xfrm>
            <a:off x="3078163" y="3959225"/>
            <a:ext cx="1060450"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200">
                <a:solidFill>
                  <a:schemeClr val="bg1"/>
                </a:solidFill>
                <a:ea typeface="가는각진제목체" panose="02030600000101010101" pitchFamily="18" charset="-127"/>
              </a:rPr>
              <a:t>Story </a:t>
            </a:r>
          </a:p>
        </p:txBody>
      </p:sp>
      <p:sp>
        <p:nvSpPr>
          <p:cNvPr id="35857" name="Rectangle 18">
            <a:extLst>
              <a:ext uri="{FF2B5EF4-FFF2-40B4-BE49-F238E27FC236}">
                <a16:creationId xmlns:a16="http://schemas.microsoft.com/office/drawing/2014/main" id="{89E570EC-D6E2-038B-2A6B-77CAD82EB06C}"/>
              </a:ext>
            </a:extLst>
          </p:cNvPr>
          <p:cNvSpPr>
            <a:spLocks noChangeArrowheads="1"/>
          </p:cNvSpPr>
          <p:nvPr/>
        </p:nvSpPr>
        <p:spPr bwMode="auto">
          <a:xfrm>
            <a:off x="3487738" y="2874963"/>
            <a:ext cx="1235075" cy="27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200">
                <a:solidFill>
                  <a:schemeClr val="bg1"/>
                </a:solidFill>
                <a:ea typeface="가는각진제목체" panose="02030600000101010101" pitchFamily="18" charset="-127"/>
              </a:rPr>
              <a:t>Positioning </a:t>
            </a:r>
          </a:p>
        </p:txBody>
      </p:sp>
      <p:sp>
        <p:nvSpPr>
          <p:cNvPr id="35858" name="Rectangle 19">
            <a:extLst>
              <a:ext uri="{FF2B5EF4-FFF2-40B4-BE49-F238E27FC236}">
                <a16:creationId xmlns:a16="http://schemas.microsoft.com/office/drawing/2014/main" id="{F09B2CB4-9922-515F-7A65-95CF88B27970}"/>
              </a:ext>
            </a:extLst>
          </p:cNvPr>
          <p:cNvSpPr>
            <a:spLocks noChangeArrowheads="1"/>
          </p:cNvSpPr>
          <p:nvPr/>
        </p:nvSpPr>
        <p:spPr bwMode="auto">
          <a:xfrm>
            <a:off x="4186238" y="3605213"/>
            <a:ext cx="127635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400">
                <a:ea typeface="가는각진제목체" panose="02030600000101010101" pitchFamily="18" charset="-127"/>
              </a:rPr>
              <a:t>Brand </a:t>
            </a:r>
            <a:br>
              <a:rPr lang="en-GB" altLang="ko-KR" sz="1400">
                <a:ea typeface="가는각진제목체" panose="02030600000101010101" pitchFamily="18" charset="-127"/>
              </a:rPr>
            </a:br>
            <a:r>
              <a:rPr lang="en-GB" altLang="ko-KR" sz="1400">
                <a:ea typeface="가는각진제목체" panose="02030600000101010101" pitchFamily="18" charset="-127"/>
              </a:rPr>
              <a:t>Elements</a:t>
            </a:r>
            <a:r>
              <a:rPr lang="en-GB" altLang="ko-KR" sz="1400" b="0">
                <a:ea typeface="가는각진제목체" panose="02030600000101010101" pitchFamily="18" charset="-127"/>
              </a:rPr>
              <a:t> </a:t>
            </a:r>
          </a:p>
        </p:txBody>
      </p:sp>
      <p:sp>
        <p:nvSpPr>
          <p:cNvPr id="35859" name="Text Box 20">
            <a:extLst>
              <a:ext uri="{FF2B5EF4-FFF2-40B4-BE49-F238E27FC236}">
                <a16:creationId xmlns:a16="http://schemas.microsoft.com/office/drawing/2014/main" id="{3907C3B9-676A-734D-36CD-B78B743A1CDD}"/>
              </a:ext>
            </a:extLst>
          </p:cNvPr>
          <p:cNvSpPr txBox="1">
            <a:spLocks noChangeArrowheads="1"/>
          </p:cNvSpPr>
          <p:nvPr/>
        </p:nvSpPr>
        <p:spPr bwMode="auto">
          <a:xfrm>
            <a:off x="252413" y="4367213"/>
            <a:ext cx="2925762"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46075" indent="1111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54063" indent="16033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49338" indent="322263">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Tx/>
              <a:buChar char="•"/>
            </a:pPr>
            <a:r>
              <a:rPr lang="en-GB" altLang="ko-KR" sz="1200" b="0">
                <a:ea typeface="가는각진제목체" panose="02030600000101010101" pitchFamily="18" charset="-127"/>
              </a:rPr>
              <a:t>History and how the history adds value and credibility to the brand </a:t>
            </a:r>
          </a:p>
        </p:txBody>
      </p:sp>
      <p:sp>
        <p:nvSpPr>
          <p:cNvPr id="35860" name="Rectangle 21">
            <a:extLst>
              <a:ext uri="{FF2B5EF4-FFF2-40B4-BE49-F238E27FC236}">
                <a16:creationId xmlns:a16="http://schemas.microsoft.com/office/drawing/2014/main" id="{49B3E4E5-D1E2-388D-C738-534E28D29595}"/>
              </a:ext>
            </a:extLst>
          </p:cNvPr>
          <p:cNvSpPr>
            <a:spLocks noChangeArrowheads="1"/>
          </p:cNvSpPr>
          <p:nvPr/>
        </p:nvSpPr>
        <p:spPr bwMode="auto">
          <a:xfrm>
            <a:off x="395288" y="1589088"/>
            <a:ext cx="5940425" cy="33972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400">
                <a:solidFill>
                  <a:srgbClr val="0070C0"/>
                </a:solidFill>
                <a:ea typeface="가는각진제목체" panose="02030600000101010101" pitchFamily="18" charset="-127"/>
              </a:rPr>
              <a:t>"A brand is a collection of perceptions in the mind of the consumer"</a:t>
            </a:r>
          </a:p>
        </p:txBody>
      </p:sp>
      <p:sp>
        <p:nvSpPr>
          <p:cNvPr id="35861" name="Rectangle 23">
            <a:extLst>
              <a:ext uri="{FF2B5EF4-FFF2-40B4-BE49-F238E27FC236}">
                <a16:creationId xmlns:a16="http://schemas.microsoft.com/office/drawing/2014/main" id="{B7534C26-4542-7CC9-4F15-D4A3BDAEB9FC}"/>
              </a:ext>
            </a:extLst>
          </p:cNvPr>
          <p:cNvSpPr>
            <a:spLocks noChangeArrowheads="1"/>
          </p:cNvSpPr>
          <p:nvPr/>
        </p:nvSpPr>
        <p:spPr bwMode="auto">
          <a:xfrm>
            <a:off x="7758113" y="150813"/>
            <a:ext cx="1970087" cy="3079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marL="268288" indent="-268288">
              <a:lnSpc>
                <a:spcPct val="90000"/>
              </a:lnSpc>
              <a:spcBef>
                <a:spcPct val="90000"/>
              </a:spcBef>
              <a:buClr>
                <a:schemeClr val="bg2"/>
              </a:buClr>
              <a:buFont typeface="Wingdings" pitchFamily="2" charset="2"/>
              <a:buChar char="n"/>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79388">
              <a:lnSpc>
                <a:spcPct val="90000"/>
              </a:lnSpc>
              <a:spcBef>
                <a:spcPct val="50000"/>
              </a:spcBef>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tabLst>
                <a:tab pos="13716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lvl="1" algn="r" eaLnBrk="1" hangingPunct="1">
              <a:buFontTx/>
              <a:buNone/>
            </a:pPr>
            <a:r>
              <a:rPr lang="en-GB" altLang="ko-KR" sz="1200" b="0">
                <a:ea typeface="가는각진제목체" panose="02030600000101010101" pitchFamily="18" charset="-127"/>
              </a:rPr>
              <a:t>The [New retailer] Brand</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37889" name="Rectangle 2">
            <a:extLst>
              <a:ext uri="{FF2B5EF4-FFF2-40B4-BE49-F238E27FC236}">
                <a16:creationId xmlns:a16="http://schemas.microsoft.com/office/drawing/2014/main" id="{65CD203F-FBC1-A0DD-D2E2-D06F9368937C}"/>
              </a:ext>
            </a:extLst>
          </p:cNvPr>
          <p:cNvSpPr>
            <a:spLocks noGrp="1" noChangeArrowheads="1"/>
          </p:cNvSpPr>
          <p:nvPr>
            <p:ph type="title"/>
          </p:nvPr>
        </p:nvSpPr>
        <p:spPr bwMode="gray">
          <a:xfrm>
            <a:off x="266700" y="596900"/>
            <a:ext cx="9367838" cy="549275"/>
          </a:xfrm>
        </p:spPr>
        <p:txBody>
          <a:bodyPr/>
          <a:lstStyle/>
          <a:p>
            <a:r>
              <a:rPr lang="en-US" altLang="ko-KR">
                <a:ea typeface="굴림" panose="020b0600000101010101" pitchFamily="34" charset="-127"/>
              </a:rPr>
              <a:t>Every healthcare insurer has two ‘crucial’ capabilities: the composition of their ‘insured portfolio’ and ‘healthcare procurement’</a:t>
            </a:r>
          </a:p>
        </p:txBody>
      </p:sp>
      <p:sp>
        <p:nvSpPr>
          <p:cNvPr id="37890" name="Rectangle 3">
            <a:extLst>
              <a:ext uri="{FF2B5EF4-FFF2-40B4-BE49-F238E27FC236}">
                <a16:creationId xmlns:a16="http://schemas.microsoft.com/office/drawing/2014/main" id="{4F1C92E4-1083-ACC0-58F9-D81324FD025F}"/>
              </a:ext>
            </a:extLst>
          </p:cNvPr>
          <p:cNvSpPr>
            <a:spLocks noChangeArrowheads="1"/>
          </p:cNvSpPr>
          <p:nvPr/>
        </p:nvSpPr>
        <p:spPr bwMode="gray">
          <a:xfrm>
            <a:off x="1463675" y="2286000"/>
            <a:ext cx="6259513" cy="297180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439C"/>
              </a:buClr>
              <a:buSzPct val="70000"/>
              <a:buFont typeface="Wingdings" pitchFamily="2" charset="2"/>
              <a:buNone/>
            </a:pPr>
            <a:endParaRPr lang="en-GB" altLang="ko-KR" sz="1200" b="0">
              <a:ea typeface="가는각진제목체" panose="02030600000101010101" pitchFamily="18" charset="-127"/>
            </a:endParaRPr>
          </a:p>
        </p:txBody>
      </p:sp>
      <p:sp>
        <p:nvSpPr>
          <p:cNvPr id="37891" name="Text Box 4">
            <a:extLst>
              <a:ext uri="{FF2B5EF4-FFF2-40B4-BE49-F238E27FC236}">
                <a16:creationId xmlns:a16="http://schemas.microsoft.com/office/drawing/2014/main" id="{BA5FD7D3-0BFD-4CFA-9DD6-F169029DE367}"/>
              </a:ext>
            </a:extLst>
          </p:cNvPr>
          <p:cNvSpPr txBox="1">
            <a:spLocks noChangeArrowheads="1"/>
          </p:cNvSpPr>
          <p:nvPr/>
        </p:nvSpPr>
        <p:spPr bwMode="gray">
          <a:xfrm>
            <a:off x="7019925" y="5281613"/>
            <a:ext cx="558800" cy="1825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9900"/>
              </a:buClr>
              <a:buSzPct val="70000"/>
              <a:buFont typeface="Monotype Sorts" pitchFamily="2" charset="2"/>
              <a:buNone/>
            </a:pPr>
            <a:r>
              <a:rPr lang="en-US" altLang="ko-KR" sz="1200" i="1">
                <a:ea typeface="굴림" panose="020b0600000101010101" pitchFamily="34" charset="-127"/>
              </a:rPr>
              <a:t>Crucial</a:t>
            </a:r>
          </a:p>
        </p:txBody>
      </p:sp>
      <p:sp>
        <p:nvSpPr>
          <p:cNvPr id="37892" name="Text Box 5">
            <a:extLst>
              <a:ext uri="{FF2B5EF4-FFF2-40B4-BE49-F238E27FC236}">
                <a16:creationId xmlns:a16="http://schemas.microsoft.com/office/drawing/2014/main" id="{9B97EE2C-BD21-2881-C2DA-07E480F0AEB7}"/>
              </a:ext>
            </a:extLst>
          </p:cNvPr>
          <p:cNvSpPr txBox="1">
            <a:spLocks noChangeArrowheads="1"/>
          </p:cNvSpPr>
          <p:nvPr/>
        </p:nvSpPr>
        <p:spPr bwMode="gray">
          <a:xfrm>
            <a:off x="4225925" y="5281613"/>
            <a:ext cx="884238" cy="1825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9900"/>
              </a:buClr>
              <a:buSzPct val="70000"/>
              <a:buFont typeface="Monotype Sorts" pitchFamily="2" charset="2"/>
              <a:buNone/>
            </a:pPr>
            <a:r>
              <a:rPr lang="en-US" altLang="ko-KR" sz="1200" i="1">
                <a:ea typeface="굴림" panose="020b0600000101010101" pitchFamily="34" charset="-127"/>
              </a:rPr>
              <a:t>Supporting</a:t>
            </a:r>
          </a:p>
        </p:txBody>
      </p:sp>
      <p:sp>
        <p:nvSpPr>
          <p:cNvPr id="37893" name="Text Box 6">
            <a:extLst>
              <a:ext uri="{FF2B5EF4-FFF2-40B4-BE49-F238E27FC236}">
                <a16:creationId xmlns:a16="http://schemas.microsoft.com/office/drawing/2014/main" id="{B8FC1384-D892-CAFD-2E76-44041CE0844F}"/>
              </a:ext>
            </a:extLst>
          </p:cNvPr>
          <p:cNvSpPr txBox="1">
            <a:spLocks noChangeArrowheads="1"/>
          </p:cNvSpPr>
          <p:nvPr/>
        </p:nvSpPr>
        <p:spPr bwMode="gray">
          <a:xfrm>
            <a:off x="1658938" y="5281613"/>
            <a:ext cx="439737" cy="1825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9900"/>
              </a:buClr>
              <a:buSzPct val="70000"/>
              <a:buFont typeface="Monotype Sorts" pitchFamily="2" charset="2"/>
              <a:buNone/>
            </a:pPr>
            <a:r>
              <a:rPr lang="en-US" altLang="ko-KR" sz="1200" i="1">
                <a:ea typeface="굴림" panose="020b0600000101010101" pitchFamily="34" charset="-127"/>
              </a:rPr>
              <a:t>Basic</a:t>
            </a:r>
          </a:p>
        </p:txBody>
      </p:sp>
      <p:sp>
        <p:nvSpPr>
          <p:cNvPr id="37894" name="Text Box 7">
            <a:extLst>
              <a:ext uri="{FF2B5EF4-FFF2-40B4-BE49-F238E27FC236}">
                <a16:creationId xmlns:a16="http://schemas.microsoft.com/office/drawing/2014/main" id="{F2535F6C-9F01-3599-00B3-03DD478B648F}"/>
              </a:ext>
            </a:extLst>
          </p:cNvPr>
          <p:cNvSpPr txBox="1">
            <a:spLocks noChangeArrowheads="1"/>
          </p:cNvSpPr>
          <p:nvPr/>
        </p:nvSpPr>
        <p:spPr bwMode="gray">
          <a:xfrm>
            <a:off x="241300" y="4800600"/>
            <a:ext cx="1077913" cy="365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0"/>
              </a:spcBef>
              <a:buClr>
                <a:srgbClr val="009900"/>
              </a:buClr>
              <a:buSzPct val="70000"/>
              <a:buFont typeface="Monotype Sorts" pitchFamily="2" charset="2"/>
              <a:buNone/>
            </a:pPr>
            <a:r>
              <a:rPr lang="en-US" altLang="ko-KR" sz="1200" i="1">
                <a:ea typeface="굴림" panose="020b0600000101010101" pitchFamily="34" charset="-127"/>
              </a:rPr>
              <a:t>Non-</a:t>
            </a:r>
          </a:p>
          <a:p>
            <a:pPr algn="r">
              <a:lnSpc>
                <a:spcPct val="100000"/>
              </a:lnSpc>
              <a:spcBef>
                <a:spcPct val="0"/>
              </a:spcBef>
              <a:buClr>
                <a:srgbClr val="009900"/>
              </a:buClr>
              <a:buSzPct val="70000"/>
              <a:buFont typeface="Monotype Sorts" pitchFamily="2" charset="2"/>
              <a:buNone/>
            </a:pPr>
            <a:r>
              <a:rPr lang="en-US" altLang="ko-KR" sz="1200" i="1">
                <a:ea typeface="굴림" panose="020b0600000101010101" pitchFamily="34" charset="-127"/>
              </a:rPr>
              <a:t>Performing</a:t>
            </a:r>
          </a:p>
        </p:txBody>
      </p:sp>
      <p:sp>
        <p:nvSpPr>
          <p:cNvPr id="37895" name="Text Box 8">
            <a:extLst>
              <a:ext uri="{FF2B5EF4-FFF2-40B4-BE49-F238E27FC236}">
                <a16:creationId xmlns:a16="http://schemas.microsoft.com/office/drawing/2014/main" id="{3844D58B-BB05-CC11-A134-244B3BDB5D69}"/>
              </a:ext>
            </a:extLst>
          </p:cNvPr>
          <p:cNvSpPr txBox="1">
            <a:spLocks noChangeArrowheads="1"/>
          </p:cNvSpPr>
          <p:nvPr/>
        </p:nvSpPr>
        <p:spPr bwMode="gray">
          <a:xfrm>
            <a:off x="539750" y="2286000"/>
            <a:ext cx="779463" cy="365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0"/>
              </a:spcBef>
              <a:buClr>
                <a:srgbClr val="009900"/>
              </a:buClr>
              <a:buSzPct val="70000"/>
              <a:buFont typeface="Monotype Sorts" pitchFamily="2" charset="2"/>
              <a:buNone/>
            </a:pPr>
            <a:r>
              <a:rPr lang="en-US" altLang="ko-KR" sz="1200" i="1">
                <a:ea typeface="굴림" panose="020b0600000101010101" pitchFamily="34" charset="-127"/>
              </a:rPr>
              <a:t>Best-in-class</a:t>
            </a:r>
          </a:p>
        </p:txBody>
      </p:sp>
      <p:sp>
        <p:nvSpPr>
          <p:cNvPr id="37896" name="Text Box 9">
            <a:extLst>
              <a:ext uri="{FF2B5EF4-FFF2-40B4-BE49-F238E27FC236}">
                <a16:creationId xmlns:a16="http://schemas.microsoft.com/office/drawing/2014/main" id="{5E749F4D-966C-98C0-4ED3-EAA8D9324C08}"/>
              </a:ext>
            </a:extLst>
          </p:cNvPr>
          <p:cNvSpPr txBox="1">
            <a:spLocks noChangeArrowheads="1"/>
          </p:cNvSpPr>
          <p:nvPr/>
        </p:nvSpPr>
        <p:spPr bwMode="gray">
          <a:xfrm>
            <a:off x="73025" y="3589338"/>
            <a:ext cx="1079500" cy="365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9900"/>
              </a:buClr>
              <a:buSzPct val="70000"/>
              <a:buFont typeface="Monotype Sorts" pitchFamily="2" charset="2"/>
              <a:buNone/>
            </a:pPr>
            <a:r>
              <a:rPr lang="en-US" altLang="ko-KR" sz="1200">
                <a:ea typeface="굴림" panose="020b0600000101010101" pitchFamily="34" charset="-127"/>
              </a:rPr>
              <a:t>Relative performance</a:t>
            </a:r>
          </a:p>
        </p:txBody>
      </p:sp>
      <p:sp>
        <p:nvSpPr>
          <p:cNvPr id="37897" name="Oval 10">
            <a:extLst>
              <a:ext uri="{FF2B5EF4-FFF2-40B4-BE49-F238E27FC236}">
                <a16:creationId xmlns:a16="http://schemas.microsoft.com/office/drawing/2014/main" id="{4289A3A6-8516-DA00-24A6-D5CD5FD384CA}"/>
              </a:ext>
            </a:extLst>
          </p:cNvPr>
          <p:cNvSpPr>
            <a:spLocks noChangeArrowheads="1"/>
          </p:cNvSpPr>
          <p:nvPr/>
        </p:nvSpPr>
        <p:spPr bwMode="gray">
          <a:xfrm>
            <a:off x="6134100" y="2967038"/>
            <a:ext cx="1589088" cy="573087"/>
          </a:xfrm>
          <a:prstGeom prst="ellipse">
            <a:avLst/>
          </a:prstGeom>
          <a:solidFill>
            <a:schemeClr val="accent2"/>
          </a:solidFill>
          <a:ln w="12700" algn="ctr">
            <a:solidFill>
              <a:schemeClr val="tx1"/>
            </a:solidFill>
            <a:rou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
                <a:srgbClr val="009900"/>
              </a:buClr>
              <a:buSzPct val="70000"/>
              <a:buFont typeface="Monotype Sorts" pitchFamily="2" charset="2"/>
              <a:buNone/>
            </a:pPr>
            <a:r>
              <a:rPr lang="en-US" altLang="ko-KR" sz="1200">
                <a:ea typeface="굴림" panose="020b0600000101010101" pitchFamily="34" charset="-127"/>
              </a:rPr>
              <a:t>Composition</a:t>
            </a:r>
            <a:br>
              <a:rPr lang="en-US" altLang="ko-KR" sz="1200">
                <a:ea typeface="굴림" panose="020b0600000101010101" pitchFamily="34" charset="-127"/>
              </a:rPr>
            </a:br>
            <a:r>
              <a:rPr lang="en-US" altLang="ko-KR" sz="1200">
                <a:ea typeface="굴림" panose="020b0600000101010101" pitchFamily="34" charset="-127"/>
              </a:rPr>
              <a:t>of the insured</a:t>
            </a:r>
            <a:br>
              <a:rPr lang="en-US" altLang="ko-KR" sz="1200">
                <a:ea typeface="굴림" panose="020b0600000101010101" pitchFamily="34" charset="-127"/>
              </a:rPr>
            </a:br>
            <a:r>
              <a:rPr lang="en-US" altLang="ko-KR" sz="1200">
                <a:ea typeface="굴림" panose="020b0600000101010101" pitchFamily="34" charset="-127"/>
              </a:rPr>
              <a:t>portfolio</a:t>
            </a:r>
            <a:r>
              <a:rPr lang="en-US" altLang="ko-KR" sz="1200" baseline="30000">
                <a:ea typeface="굴림" panose="020b0600000101010101" pitchFamily="34" charset="-127"/>
              </a:rPr>
              <a:t>(1)</a:t>
            </a:r>
          </a:p>
        </p:txBody>
      </p:sp>
      <p:sp>
        <p:nvSpPr>
          <p:cNvPr id="37898" name="Oval 11">
            <a:extLst>
              <a:ext uri="{FF2B5EF4-FFF2-40B4-BE49-F238E27FC236}">
                <a16:creationId xmlns:a16="http://schemas.microsoft.com/office/drawing/2014/main" id="{1E6B0323-A34A-0B14-FAF3-D77EF66FCC62}"/>
              </a:ext>
            </a:extLst>
          </p:cNvPr>
          <p:cNvSpPr>
            <a:spLocks noChangeArrowheads="1"/>
          </p:cNvSpPr>
          <p:nvPr/>
        </p:nvSpPr>
        <p:spPr bwMode="gray">
          <a:xfrm>
            <a:off x="6134100" y="3540125"/>
            <a:ext cx="1589088" cy="492125"/>
          </a:xfrm>
          <a:prstGeom prst="ellipse">
            <a:avLst/>
          </a:prstGeom>
          <a:solidFill>
            <a:schemeClr val="accent2"/>
          </a:solidFill>
          <a:ln w="12700" algn="ctr">
            <a:solidFill>
              <a:schemeClr val="tx1"/>
            </a:solidFill>
            <a:rou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
                <a:srgbClr val="009900"/>
              </a:buClr>
              <a:buSzPct val="70000"/>
              <a:buFont typeface="Monotype Sorts" pitchFamily="2" charset="2"/>
              <a:buNone/>
            </a:pPr>
            <a:r>
              <a:rPr lang="en-US" altLang="ko-KR" sz="1200">
                <a:ea typeface="굴림" panose="020b0600000101010101" pitchFamily="34" charset="-127"/>
              </a:rPr>
              <a:t>Healthcare</a:t>
            </a:r>
          </a:p>
          <a:p>
            <a:pPr algn="ctr">
              <a:lnSpc>
                <a:spcPct val="80000"/>
              </a:lnSpc>
              <a:spcBef>
                <a:spcPct val="0"/>
              </a:spcBef>
              <a:buClr>
                <a:srgbClr val="009900"/>
              </a:buClr>
              <a:buSzPct val="70000"/>
              <a:buFont typeface="Monotype Sorts" pitchFamily="2" charset="2"/>
              <a:buNone/>
            </a:pPr>
            <a:r>
              <a:rPr lang="en-GB" altLang="ko-KR" sz="1200">
                <a:ea typeface="가는각진제목체" panose="02030600000101010101" pitchFamily="18" charset="-127"/>
              </a:rPr>
              <a:t>procurement</a:t>
            </a:r>
            <a:endParaRPr lang="en-US" altLang="ko-KR" sz="1200">
              <a:ea typeface="굴림" panose="020b0600000101010101" pitchFamily="34" charset="-127"/>
            </a:endParaRPr>
          </a:p>
        </p:txBody>
      </p:sp>
      <p:sp>
        <p:nvSpPr>
          <p:cNvPr id="37899" name="Oval 12">
            <a:extLst>
              <a:ext uri="{FF2B5EF4-FFF2-40B4-BE49-F238E27FC236}">
                <a16:creationId xmlns:a16="http://schemas.microsoft.com/office/drawing/2014/main" id="{4CA255AB-ED3F-ACA7-157F-1E77144AD530}"/>
              </a:ext>
            </a:extLst>
          </p:cNvPr>
          <p:cNvSpPr>
            <a:spLocks noChangeArrowheads="1"/>
          </p:cNvSpPr>
          <p:nvPr/>
        </p:nvSpPr>
        <p:spPr bwMode="gray">
          <a:xfrm>
            <a:off x="4344988" y="3484563"/>
            <a:ext cx="1590675" cy="492125"/>
          </a:xfrm>
          <a:prstGeom prst="ellipse">
            <a:avLst/>
          </a:prstGeom>
          <a:solidFill>
            <a:srgbClr val="DCDCDC"/>
          </a:solidFill>
          <a:ln w="12700" algn="ctr">
            <a:solidFill>
              <a:schemeClr val="tx1"/>
            </a:solidFill>
            <a:rou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
                <a:srgbClr val="009900"/>
              </a:buClr>
              <a:buSzPct val="70000"/>
              <a:buFont typeface="Monotype Sorts" pitchFamily="2" charset="2"/>
              <a:buNone/>
            </a:pPr>
            <a:r>
              <a:rPr lang="en-US" altLang="ko-KR" sz="1200">
                <a:ea typeface="굴림" panose="020b0600000101010101" pitchFamily="34" charset="-127"/>
              </a:rPr>
              <a:t>Distribution</a:t>
            </a:r>
          </a:p>
        </p:txBody>
      </p:sp>
      <p:sp>
        <p:nvSpPr>
          <p:cNvPr id="37900" name="Oval 13">
            <a:extLst>
              <a:ext uri="{FF2B5EF4-FFF2-40B4-BE49-F238E27FC236}">
                <a16:creationId xmlns:a16="http://schemas.microsoft.com/office/drawing/2014/main" id="{C20CA9DB-1CC9-EE71-8141-278E559DFCCE}"/>
              </a:ext>
            </a:extLst>
          </p:cNvPr>
          <p:cNvSpPr>
            <a:spLocks noChangeArrowheads="1"/>
          </p:cNvSpPr>
          <p:nvPr/>
        </p:nvSpPr>
        <p:spPr bwMode="gray">
          <a:xfrm>
            <a:off x="4344988" y="3976688"/>
            <a:ext cx="1590675" cy="492125"/>
          </a:xfrm>
          <a:prstGeom prst="ellipse">
            <a:avLst/>
          </a:prstGeom>
          <a:solidFill>
            <a:srgbClr val="DCDCDC"/>
          </a:solidFill>
          <a:ln w="12700" algn="ctr">
            <a:solidFill>
              <a:schemeClr val="tx1"/>
            </a:solidFill>
            <a:rou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
                <a:srgbClr val="009900"/>
              </a:buClr>
              <a:buSzPct val="70000"/>
              <a:buFont typeface="Monotype Sorts" pitchFamily="2" charset="2"/>
              <a:buNone/>
            </a:pPr>
            <a:r>
              <a:rPr lang="en-US" altLang="ko-KR" sz="1200">
                <a:ea typeface="굴림" panose="020b0600000101010101" pitchFamily="34" charset="-127"/>
              </a:rPr>
              <a:t>Administrative</a:t>
            </a:r>
            <a:br>
              <a:rPr lang="en-US" altLang="ko-KR" sz="1200">
                <a:ea typeface="굴림" panose="020b0600000101010101" pitchFamily="34" charset="-127"/>
              </a:rPr>
            </a:br>
            <a:r>
              <a:rPr lang="en-US" altLang="ko-KR" sz="1200">
                <a:ea typeface="굴림" panose="020b0600000101010101" pitchFamily="34" charset="-127"/>
              </a:rPr>
              <a:t>processes</a:t>
            </a:r>
          </a:p>
        </p:txBody>
      </p:sp>
      <p:sp>
        <p:nvSpPr>
          <p:cNvPr id="37901" name="Oval 14">
            <a:extLst>
              <a:ext uri="{FF2B5EF4-FFF2-40B4-BE49-F238E27FC236}">
                <a16:creationId xmlns:a16="http://schemas.microsoft.com/office/drawing/2014/main" id="{2865734F-8147-C8AA-CCE9-F61ED541906B}"/>
              </a:ext>
            </a:extLst>
          </p:cNvPr>
          <p:cNvSpPr>
            <a:spLocks noChangeArrowheads="1"/>
          </p:cNvSpPr>
          <p:nvPr/>
        </p:nvSpPr>
        <p:spPr bwMode="gray">
          <a:xfrm>
            <a:off x="3244850" y="3074988"/>
            <a:ext cx="1393825" cy="409575"/>
          </a:xfrm>
          <a:prstGeom prst="ellipse">
            <a:avLst/>
          </a:prstGeom>
          <a:solidFill>
            <a:srgbClr val="DCDCDC"/>
          </a:solidFill>
          <a:ln w="12700" algn="ctr">
            <a:solidFill>
              <a:schemeClr val="tx1"/>
            </a:solidFill>
            <a:rou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
                <a:srgbClr val="009900"/>
              </a:buClr>
              <a:buSzPct val="70000"/>
              <a:buFont typeface="Monotype Sorts" pitchFamily="2" charset="2"/>
              <a:buNone/>
            </a:pPr>
            <a:r>
              <a:rPr lang="en-US" altLang="ko-KR" sz="1200">
                <a:ea typeface="굴림" panose="020b0600000101010101" pitchFamily="34" charset="-127"/>
              </a:rPr>
              <a:t>Core process</a:t>
            </a:r>
            <a:br>
              <a:rPr lang="en-US" altLang="ko-KR" sz="1200">
                <a:ea typeface="굴림" panose="020b0600000101010101" pitchFamily="34" charset="-127"/>
              </a:rPr>
            </a:br>
            <a:r>
              <a:rPr lang="en-US" altLang="ko-KR" sz="1200">
                <a:ea typeface="굴림" panose="020b0600000101010101" pitchFamily="34" charset="-127"/>
              </a:rPr>
              <a:t>support</a:t>
            </a:r>
          </a:p>
        </p:txBody>
      </p:sp>
      <p:sp>
        <p:nvSpPr>
          <p:cNvPr id="37902" name="Oval 15">
            <a:extLst>
              <a:ext uri="{FF2B5EF4-FFF2-40B4-BE49-F238E27FC236}">
                <a16:creationId xmlns:a16="http://schemas.microsoft.com/office/drawing/2014/main" id="{D237429D-49D2-92E0-E9E4-2000EE40393E}"/>
              </a:ext>
            </a:extLst>
          </p:cNvPr>
          <p:cNvSpPr>
            <a:spLocks noChangeArrowheads="1"/>
          </p:cNvSpPr>
          <p:nvPr/>
        </p:nvSpPr>
        <p:spPr bwMode="gray">
          <a:xfrm>
            <a:off x="1663700" y="3567113"/>
            <a:ext cx="1589088" cy="492125"/>
          </a:xfrm>
          <a:prstGeom prst="ellipse">
            <a:avLst/>
          </a:prstGeom>
          <a:solidFill>
            <a:srgbClr val="DCDCDC"/>
          </a:solidFill>
          <a:ln w="12700" algn="ctr">
            <a:solidFill>
              <a:schemeClr val="tx1"/>
            </a:solidFill>
            <a:rou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0"/>
              </a:spcBef>
              <a:buClr>
                <a:srgbClr val="009900"/>
              </a:buClr>
              <a:buSzPct val="70000"/>
              <a:buFont typeface="Monotype Sorts" pitchFamily="2" charset="2"/>
              <a:buNone/>
            </a:pPr>
            <a:r>
              <a:rPr lang="en-US" altLang="ko-KR" sz="1200">
                <a:ea typeface="굴림" panose="020b0600000101010101" pitchFamily="34" charset="-127"/>
              </a:rPr>
              <a:t>Company support</a:t>
            </a:r>
          </a:p>
        </p:txBody>
      </p:sp>
      <p:sp>
        <p:nvSpPr>
          <p:cNvPr id="37903" name="Text Box 16">
            <a:extLst>
              <a:ext uri="{FF2B5EF4-FFF2-40B4-BE49-F238E27FC236}">
                <a16:creationId xmlns:a16="http://schemas.microsoft.com/office/drawing/2014/main" id="{3F5D0C50-F1FE-5196-4E04-6D0FABD8CF4E}"/>
              </a:ext>
            </a:extLst>
          </p:cNvPr>
          <p:cNvSpPr txBox="1">
            <a:spLocks noChangeArrowheads="1"/>
          </p:cNvSpPr>
          <p:nvPr/>
        </p:nvSpPr>
        <p:spPr bwMode="gray">
          <a:xfrm>
            <a:off x="8042275" y="2809875"/>
            <a:ext cx="1536700" cy="365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Clr>
                <a:srgbClr val="009900"/>
              </a:buClr>
              <a:buSzPct val="70000"/>
              <a:buFont typeface="Monotype Sorts" pitchFamily="2" charset="2"/>
              <a:buNone/>
            </a:pPr>
            <a:r>
              <a:rPr lang="en-US" altLang="ko-KR" sz="1200" b="0">
                <a:ea typeface="굴림" panose="020b0600000101010101" pitchFamily="34" charset="-127"/>
              </a:rPr>
              <a:t>- ‘Premium’ earnings</a:t>
            </a:r>
            <a:br>
              <a:rPr lang="en-US" altLang="ko-KR" sz="1200" b="0">
                <a:ea typeface="굴림" panose="020b0600000101010101" pitchFamily="34" charset="-127"/>
              </a:rPr>
            </a:br>
            <a:r>
              <a:rPr lang="en-US" altLang="ko-KR" sz="1200" b="0">
                <a:ea typeface="굴림" panose="020b0600000101010101" pitchFamily="34" charset="-127"/>
              </a:rPr>
              <a:t>- settlement earnings</a:t>
            </a:r>
          </a:p>
        </p:txBody>
      </p:sp>
      <p:sp>
        <p:nvSpPr>
          <p:cNvPr id="37904" name="Text Box 17">
            <a:extLst>
              <a:ext uri="{FF2B5EF4-FFF2-40B4-BE49-F238E27FC236}">
                <a16:creationId xmlns:a16="http://schemas.microsoft.com/office/drawing/2014/main" id="{EC7B74BB-B52B-DAA0-3831-38DD7984D305}"/>
              </a:ext>
            </a:extLst>
          </p:cNvPr>
          <p:cNvSpPr txBox="1">
            <a:spLocks noChangeArrowheads="1"/>
          </p:cNvSpPr>
          <p:nvPr/>
        </p:nvSpPr>
        <p:spPr bwMode="gray">
          <a:xfrm>
            <a:off x="7997825" y="3436938"/>
            <a:ext cx="1555750" cy="1825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9900"/>
              </a:buClr>
              <a:buSzPct val="70000"/>
              <a:buFont typeface="Monotype Sorts" pitchFamily="2" charset="2"/>
              <a:buNone/>
            </a:pPr>
            <a:r>
              <a:rPr lang="en-US" altLang="ko-KR" sz="1200" b="0">
                <a:ea typeface="굴림" panose="020b0600000101010101" pitchFamily="34" charset="-127"/>
              </a:rPr>
              <a:t>Healthcare needs</a:t>
            </a:r>
          </a:p>
        </p:txBody>
      </p:sp>
      <p:sp>
        <p:nvSpPr>
          <p:cNvPr id="37905" name="Text Box 18">
            <a:extLst>
              <a:ext uri="{FF2B5EF4-FFF2-40B4-BE49-F238E27FC236}">
                <a16:creationId xmlns:a16="http://schemas.microsoft.com/office/drawing/2014/main" id="{1DF6B2C2-96DB-5A12-5621-35C79407944C}"/>
              </a:ext>
            </a:extLst>
          </p:cNvPr>
          <p:cNvSpPr txBox="1">
            <a:spLocks noChangeArrowheads="1"/>
          </p:cNvSpPr>
          <p:nvPr/>
        </p:nvSpPr>
        <p:spPr bwMode="gray">
          <a:xfrm>
            <a:off x="2541588" y="1854200"/>
            <a:ext cx="4187825" cy="2127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lgn="ctr">
                <a:solidFill>
                  <a:srgbClr val="006600"/>
                </a:solidFill>
                <a:miter lim="800000"/>
                <a:headEnd/>
                <a:tailEnd/>
              </a14:hiddenLine>
            </a:ext>
            <a:ext uri="{AF507438-7753-43E0-B8FC-AC1667EBCBE1}">
              <a14:hiddenEffects xmlns:a14="http://schemas.microsoft.com/office/drawing/2010/main">
                <a:effectLst>
                  <a:outerShdw dist="17961" dir="2700000" algn="ctr" rotWithShape="0">
                    <a:srgbClr val="99997A"/>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9900"/>
              </a:buClr>
              <a:buSzPct val="70000"/>
              <a:buFont typeface="Monotype Sorts" pitchFamily="2" charset="2"/>
              <a:buNone/>
            </a:pPr>
            <a:r>
              <a:rPr lang="en-US" altLang="ko-KR" sz="1400">
                <a:ea typeface="굴림" panose="020b0600000101010101" pitchFamily="34" charset="-127"/>
              </a:rPr>
              <a:t>- The basic healthcare insurance value chain -</a:t>
            </a:r>
          </a:p>
        </p:txBody>
      </p:sp>
      <p:sp>
        <p:nvSpPr>
          <p:cNvPr id="37906" name="AutoShape 19">
            <a:extLst>
              <a:ext uri="{FF2B5EF4-FFF2-40B4-BE49-F238E27FC236}">
                <a16:creationId xmlns:a16="http://schemas.microsoft.com/office/drawing/2014/main" id="{B8C39933-6F78-FCB0-3C6C-1A24BE9BA998}"/>
              </a:ext>
            </a:extLst>
          </p:cNvPr>
          <p:cNvSpPr/>
          <p:nvPr/>
        </p:nvSpPr>
        <p:spPr bwMode="gray">
          <a:xfrm flipV="1">
            <a:off x="7723188" y="3314700"/>
            <a:ext cx="200025" cy="457200"/>
          </a:xfrm>
          <a:prstGeom prst="rightBracket">
            <a:avLst>
              <a:gd name="adj" fmla="val 114286"/>
            </a:avLst>
          </a:prstGeom>
          <a:noFill/>
          <a:ln w="12700">
            <a:solidFill>
              <a:schemeClr val="tx1"/>
            </a:solidFill>
            <a:round/>
            <a:headEnd type="triangle" w="med" len="me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rot="10800000"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
                <a:srgbClr val="00439C"/>
              </a:buClr>
              <a:buSzPct val="70000"/>
              <a:buFont typeface="Wingdings" pitchFamily="2" charset="2"/>
              <a:buNone/>
            </a:pPr>
            <a:endParaRPr lang="en-GB" altLang="ko-KR" sz="1200" b="0">
              <a:ea typeface="가는각진제목체" panose="02030600000101010101" pitchFamily="18" charset="-127"/>
            </a:endParaRPr>
          </a:p>
        </p:txBody>
      </p:sp>
      <p:sp>
        <p:nvSpPr>
          <p:cNvPr id="37907" name="Line 20">
            <a:extLst>
              <a:ext uri="{FF2B5EF4-FFF2-40B4-BE49-F238E27FC236}">
                <a16:creationId xmlns:a16="http://schemas.microsoft.com/office/drawing/2014/main" id="{D111AEBC-ADE1-81A0-AED7-83CEDD556088}"/>
              </a:ext>
            </a:extLst>
          </p:cNvPr>
          <p:cNvSpPr>
            <a:spLocks noChangeShapeType="1"/>
          </p:cNvSpPr>
          <p:nvPr/>
        </p:nvSpPr>
        <p:spPr bwMode="gray">
          <a:xfrm flipH="1">
            <a:off x="7639050" y="2981325"/>
            <a:ext cx="396875" cy="1524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0" tIns="0" rIns="0" bIns="0" anchor="ctr"/>
          <a:lstStyle/>
          <a:p>
            <a:endParaRPr lang="ko-KR" altLang="en-US"/>
          </a:p>
        </p:txBody>
      </p:sp>
      <p:sp>
        <p:nvSpPr>
          <p:cNvPr id="37908" name="Line 21">
            <a:extLst>
              <a:ext uri="{FF2B5EF4-FFF2-40B4-BE49-F238E27FC236}">
                <a16:creationId xmlns:a16="http://schemas.microsoft.com/office/drawing/2014/main" id="{1E769B5D-1101-D552-67A4-B2E1F66FF6C4}"/>
              </a:ext>
            </a:extLst>
          </p:cNvPr>
          <p:cNvSpPr>
            <a:spLocks noChangeShapeType="1"/>
          </p:cNvSpPr>
          <p:nvPr/>
        </p:nvSpPr>
        <p:spPr bwMode="gray">
          <a:xfrm flipH="1">
            <a:off x="6042025" y="2286000"/>
            <a:ext cx="0" cy="3717925"/>
          </a:xfrm>
          <a:prstGeom prst="line">
            <a:avLst/>
          </a:prstGeom>
          <a:noFill/>
          <a:ln w="254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37909" name="Rectangle 22">
            <a:extLst>
              <a:ext uri="{FF2B5EF4-FFF2-40B4-BE49-F238E27FC236}">
                <a16:creationId xmlns:a16="http://schemas.microsoft.com/office/drawing/2014/main" id="{CAFBA5E0-58AD-1490-A119-7E853A6DBBE2}"/>
              </a:ext>
            </a:extLst>
          </p:cNvPr>
          <p:cNvSpPr>
            <a:spLocks noChangeArrowheads="1"/>
          </p:cNvSpPr>
          <p:nvPr/>
        </p:nvSpPr>
        <p:spPr bwMode="gray">
          <a:xfrm>
            <a:off x="6122988" y="5689600"/>
            <a:ext cx="1906587" cy="869950"/>
          </a:xfrm>
          <a:prstGeom prst="rect">
            <a:avLst/>
          </a:prstGeom>
          <a:solidFill>
            <a:srgbClr val="0070C0"/>
          </a:solidFill>
          <a:ln w="12700">
            <a:solidFill>
              <a:schemeClr val="tx1"/>
            </a:solidFill>
            <a:miter lim="800000"/>
          </a:ln>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solidFill>
                  <a:schemeClr val="bg1"/>
                </a:solidFill>
                <a:ea typeface="굴림" panose="020b0600000101010101" pitchFamily="34" charset="-127"/>
              </a:rPr>
              <a:t>Optimized composition of the insured portfolio and healthcare procurement</a:t>
            </a:r>
          </a:p>
        </p:txBody>
      </p:sp>
      <p:sp>
        <p:nvSpPr>
          <p:cNvPr id="37910" name="Rectangle 23">
            <a:extLst>
              <a:ext uri="{FF2B5EF4-FFF2-40B4-BE49-F238E27FC236}">
                <a16:creationId xmlns:a16="http://schemas.microsoft.com/office/drawing/2014/main" id="{B03F21C8-C9B1-603F-7853-38361B38BF99}"/>
              </a:ext>
            </a:extLst>
          </p:cNvPr>
          <p:cNvSpPr>
            <a:spLocks noChangeArrowheads="1"/>
          </p:cNvSpPr>
          <p:nvPr/>
        </p:nvSpPr>
        <p:spPr bwMode="gray">
          <a:xfrm>
            <a:off x="1463675" y="5689600"/>
            <a:ext cx="4471988" cy="495300"/>
          </a:xfrm>
          <a:prstGeom prst="rect">
            <a:avLst/>
          </a:prstGeom>
          <a:solidFill>
            <a:srgbClr val="0070C0"/>
          </a:solidFill>
          <a:ln w="12700">
            <a:solidFill>
              <a:schemeClr val="tx1"/>
            </a:solidFill>
            <a:miter lim="800000"/>
          </a:ln>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solidFill>
                  <a:schemeClr val="bg1"/>
                </a:solidFill>
                <a:ea typeface="굴림" panose="020b0600000101010101" pitchFamily="34" charset="-127"/>
              </a:rPr>
              <a:t>Cost reductions for overall company processes</a:t>
            </a:r>
          </a:p>
        </p:txBody>
      </p:sp>
      <p:sp>
        <p:nvSpPr>
          <p:cNvPr id="37911" name="AutoShape 24">
            <a:extLst>
              <a:ext uri="{FF2B5EF4-FFF2-40B4-BE49-F238E27FC236}">
                <a16:creationId xmlns:a16="http://schemas.microsoft.com/office/drawing/2014/main" id="{66163BCE-6061-ED02-A8E9-1F41EF148564}"/>
              </a:ext>
            </a:extLst>
          </p:cNvPr>
          <p:cNvSpPr/>
          <p:nvPr/>
        </p:nvSpPr>
        <p:spPr bwMode="auto">
          <a:xfrm rot="-5400000">
            <a:off x="3609181" y="3318669"/>
            <a:ext cx="180975" cy="4471988"/>
          </a:xfrm>
          <a:prstGeom prst="leftBrace">
            <a:avLst>
              <a:gd name="adj1" fmla="val 205921"/>
              <a:gd name="adj2" fmla="val 50000"/>
            </a:avLst>
          </a:prstGeom>
          <a:noFill/>
          <a:ln w="28575">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7912" name="AutoShape 25">
            <a:extLst>
              <a:ext uri="{FF2B5EF4-FFF2-40B4-BE49-F238E27FC236}">
                <a16:creationId xmlns:a16="http://schemas.microsoft.com/office/drawing/2014/main" id="{7BF2F90A-51C7-F562-B0AF-83CA9DB42FA5}"/>
              </a:ext>
            </a:extLst>
          </p:cNvPr>
          <p:cNvSpPr/>
          <p:nvPr/>
        </p:nvSpPr>
        <p:spPr bwMode="auto">
          <a:xfrm rot="-5400000">
            <a:off x="6838156" y="4760119"/>
            <a:ext cx="180975" cy="1589088"/>
          </a:xfrm>
          <a:prstGeom prst="leftBrace">
            <a:avLst>
              <a:gd name="adj1" fmla="val 73173"/>
              <a:gd name="adj2" fmla="val 50000"/>
            </a:avLst>
          </a:prstGeom>
          <a:noFill/>
          <a:ln w="28575">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7913" name="Text Box 26">
            <a:extLst>
              <a:ext uri="{FF2B5EF4-FFF2-40B4-BE49-F238E27FC236}">
                <a16:creationId xmlns:a16="http://schemas.microsoft.com/office/drawing/2014/main" id="{426082BA-45A0-5B49-EC38-3B8E7A248E49}"/>
              </a:ext>
            </a:extLst>
          </p:cNvPr>
          <p:cNvSpPr txBox="1">
            <a:spLocks noChangeArrowheads="1"/>
          </p:cNvSpPr>
          <p:nvPr/>
        </p:nvSpPr>
        <p:spPr bwMode="auto">
          <a:xfrm>
            <a:off x="7213600" y="227013"/>
            <a:ext cx="2432050" cy="182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50000"/>
              </a:spcBef>
              <a:buClrTx/>
              <a:buFontTx/>
              <a:buNone/>
            </a:pPr>
            <a:r>
              <a:rPr lang="en-GB" altLang="ko-KR" sz="1200" b="0">
                <a:ea typeface="가는각진제목체" panose="02030600000101010101" pitchFamily="18" charset="-127"/>
              </a:rPr>
              <a:t>Strategic healthcare procurement</a:t>
            </a:r>
            <a:endParaRPr lang="en-US" altLang="ko-KR" sz="1200" b="0">
              <a:ea typeface="굴림" panose="020b0600000101010101" pitchFamily="34" charset="-127"/>
            </a:endParaRPr>
          </a:p>
        </p:txBody>
      </p:sp>
      <p:sp>
        <p:nvSpPr>
          <p:cNvPr id="37914" name="Text Box 27">
            <a:extLst>
              <a:ext uri="{FF2B5EF4-FFF2-40B4-BE49-F238E27FC236}">
                <a16:creationId xmlns:a16="http://schemas.microsoft.com/office/drawing/2014/main" id="{97D16BBA-A850-362A-AB3A-F25C4B30F4D7}"/>
              </a:ext>
            </a:extLst>
          </p:cNvPr>
          <p:cNvSpPr txBox="1">
            <a:spLocks noChangeArrowheads="1"/>
          </p:cNvSpPr>
          <p:nvPr/>
        </p:nvSpPr>
        <p:spPr bwMode="auto">
          <a:xfrm>
            <a:off x="8764588" y="1276350"/>
            <a:ext cx="846137" cy="311150"/>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ClrTx/>
              <a:buFontTx/>
              <a:buNone/>
            </a:pPr>
            <a:r>
              <a:rPr lang="en-US" altLang="ko-KR" sz="1200">
                <a:ea typeface="굴림" panose="020b0600000101010101" pitchFamily="34" charset="-127"/>
              </a:rPr>
              <a:t>Example</a:t>
            </a:r>
          </a:p>
        </p:txBody>
      </p:sp>
      <p:sp>
        <p:nvSpPr>
          <p:cNvPr id="37915" name="Line 28">
            <a:extLst>
              <a:ext uri="{FF2B5EF4-FFF2-40B4-BE49-F238E27FC236}">
                <a16:creationId xmlns:a16="http://schemas.microsoft.com/office/drawing/2014/main" id="{6F73EAC8-DFE4-3B71-B0E2-ED60606AA860}"/>
              </a:ext>
            </a:extLst>
          </p:cNvPr>
          <p:cNvSpPr>
            <a:spLocks noChangeShapeType="1"/>
          </p:cNvSpPr>
          <p:nvPr/>
        </p:nvSpPr>
        <p:spPr bwMode="gray">
          <a:xfrm flipH="1">
            <a:off x="1104900" y="2871788"/>
            <a:ext cx="0" cy="1763712"/>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91430" tIns="45715" rIns="91430" bIns="45715" anchor="ctr" anchorCtr="1"/>
          <a:lstStyle/>
          <a:p>
            <a:endParaRPr lang="ko-KR" altLang="en-US"/>
          </a:p>
        </p:txBody>
      </p:sp>
      <p:sp>
        <p:nvSpPr>
          <p:cNvPr id="37916" name="Footnote">
            <a:extLst>
              <a:ext uri="{FF2B5EF4-FFF2-40B4-BE49-F238E27FC236}">
                <a16:creationId xmlns:a16="http://schemas.microsoft.com/office/drawing/2014/main" id="{0A7F4C59-122C-8372-FA32-D9F80ECBC337}"/>
              </a:ext>
            </a:extLst>
          </p:cNvPr>
          <p:cNvSpPr>
            <a:spLocks noChangeArrowheads="1"/>
          </p:cNvSpPr>
          <p:nvPr/>
        </p:nvSpPr>
        <p:spPr bwMode="auto">
          <a:xfrm>
            <a:off x="266700" y="6600825"/>
            <a:ext cx="6675438" cy="130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800100" indent="-800100">
              <a:lnSpc>
                <a:spcPct val="90000"/>
              </a:lnSpc>
              <a:spcBef>
                <a:spcPct val="90000"/>
              </a:spcBef>
              <a:buClr>
                <a:schemeClr val="bg2"/>
              </a:buClr>
              <a:buFont typeface="Wingdings" pitchFamily="2" charset="2"/>
              <a:buChar char="n"/>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204913" indent="-190500">
              <a:lnSpc>
                <a:spcPct val="90000"/>
              </a:lnSpc>
              <a:spcBef>
                <a:spcPct val="50000"/>
              </a:spcBef>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319213" indent="-163513">
              <a:lnSpc>
                <a:spcPct val="90000"/>
              </a:lnSpc>
              <a:spcBef>
                <a:spcPct val="30000"/>
              </a:spcBef>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33513" indent="-168275">
              <a:lnSpc>
                <a:spcPct val="90000"/>
              </a:lnSpc>
              <a:spcBef>
                <a:spcPct val="10000"/>
              </a:spcBef>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r>
              <a:rPr lang="en-US" altLang="ko-KR" sz="1000" b="0">
                <a:ea typeface="굴림" panose="020b0600000101010101" pitchFamily="34" charset="-127"/>
              </a:rPr>
              <a:t>Note:	(1)	The insured portfolio designates all the insured people</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6081" name="Rectangle 2">
            <a:extLst>
              <a:ext uri="{FF2B5EF4-FFF2-40B4-BE49-F238E27FC236}">
                <a16:creationId xmlns:a16="http://schemas.microsoft.com/office/drawing/2014/main" id="{7C7024A8-6370-B359-7957-13715E47E1AE}"/>
              </a:ext>
            </a:extLst>
          </p:cNvPr>
          <p:cNvSpPr>
            <a:spLocks noGrp="1" noChangeArrowheads="1"/>
          </p:cNvSpPr>
          <p:nvPr>
            <p:ph type="title"/>
          </p:nvPr>
        </p:nvSpPr>
        <p:spPr>
          <a:xfrm>
            <a:off x="307976" y="545236"/>
            <a:ext cx="8813800" cy="609600"/>
          </a:xfrm>
        </p:spPr>
        <p:txBody>
          <a:bodyPr/>
          <a:lstStyle/>
          <a:p>
            <a:r>
              <a:rPr lang="en-US" altLang="ko-KR">
                <a:ea typeface="굴림" panose="020b0600000101010101" pitchFamily="34" charset="-127"/>
              </a:rPr>
              <a:t>The healthcare procurement takes place through a standard 7-step sourcing methodology</a:t>
            </a:r>
          </a:p>
        </p:txBody>
      </p:sp>
      <p:sp>
        <p:nvSpPr>
          <p:cNvPr id="1707011" name="AutoShape 3">
            <a:extLst>
              <a:ext uri="{FF2B5EF4-FFF2-40B4-BE49-F238E27FC236}">
                <a16:creationId xmlns:a16="http://schemas.microsoft.com/office/drawing/2014/main" id="{B51BDF64-07F3-9114-40A5-DC6D5ABFC511}"/>
              </a:ext>
            </a:extLst>
          </p:cNvPr>
          <p:cNvSpPr>
            <a:spLocks noChangeArrowheads="1"/>
          </p:cNvSpPr>
          <p:nvPr/>
        </p:nvSpPr>
        <p:spPr bwMode="auto">
          <a:xfrm>
            <a:off x="5048250" y="2990850"/>
            <a:ext cx="1220788" cy="736600"/>
          </a:xfrm>
          <a:prstGeom prst="homePlate">
            <a:avLst>
              <a:gd name="adj" fmla="val 18890"/>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168275"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Choose procurement strategy</a:t>
            </a:r>
          </a:p>
        </p:txBody>
      </p:sp>
      <p:sp>
        <p:nvSpPr>
          <p:cNvPr id="1707012" name="AutoShape 4">
            <a:extLst>
              <a:ext uri="{FF2B5EF4-FFF2-40B4-BE49-F238E27FC236}">
                <a16:creationId xmlns:a16="http://schemas.microsoft.com/office/drawing/2014/main" id="{C9E0D87E-9A66-05A9-33B3-0135E8D64379}"/>
              </a:ext>
            </a:extLst>
          </p:cNvPr>
          <p:cNvSpPr>
            <a:spLocks noChangeArrowheads="1"/>
          </p:cNvSpPr>
          <p:nvPr/>
        </p:nvSpPr>
        <p:spPr bwMode="auto">
          <a:xfrm>
            <a:off x="3916363" y="2990850"/>
            <a:ext cx="1295400" cy="736600"/>
          </a:xfrm>
          <a:prstGeom prst="homePlate">
            <a:avLst>
              <a:gd name="adj" fmla="val 20045"/>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158750"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Evaluate</a:t>
            </a:r>
          </a:p>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basic suppliers</a:t>
            </a:r>
          </a:p>
        </p:txBody>
      </p:sp>
      <p:sp>
        <p:nvSpPr>
          <p:cNvPr id="1707013" name="AutoShape 5">
            <a:extLst>
              <a:ext uri="{FF2B5EF4-FFF2-40B4-BE49-F238E27FC236}">
                <a16:creationId xmlns:a16="http://schemas.microsoft.com/office/drawing/2014/main" id="{9F4B213E-5D23-C584-E77C-4447B75CBBED}"/>
              </a:ext>
            </a:extLst>
          </p:cNvPr>
          <p:cNvSpPr>
            <a:spLocks noChangeArrowheads="1"/>
          </p:cNvSpPr>
          <p:nvPr/>
        </p:nvSpPr>
        <p:spPr bwMode="auto">
          <a:xfrm>
            <a:off x="2876550" y="2989263"/>
            <a:ext cx="1169988" cy="738187"/>
          </a:xfrm>
          <a:prstGeom prst="homePlate">
            <a:avLst>
              <a:gd name="adj" fmla="val 18065"/>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228600"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Evaluate</a:t>
            </a:r>
          </a:p>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needs</a:t>
            </a:r>
          </a:p>
        </p:txBody>
      </p:sp>
      <p:sp>
        <p:nvSpPr>
          <p:cNvPr id="1707014" name="AutoShape 6">
            <a:extLst>
              <a:ext uri="{FF2B5EF4-FFF2-40B4-BE49-F238E27FC236}">
                <a16:creationId xmlns:a16="http://schemas.microsoft.com/office/drawing/2014/main" id="{724112C0-9B43-C814-4642-B767E831BE4B}"/>
              </a:ext>
            </a:extLst>
          </p:cNvPr>
          <p:cNvSpPr>
            <a:spLocks noChangeArrowheads="1"/>
          </p:cNvSpPr>
          <p:nvPr/>
        </p:nvSpPr>
        <p:spPr bwMode="auto">
          <a:xfrm>
            <a:off x="1931988" y="2990850"/>
            <a:ext cx="1035050" cy="736600"/>
          </a:xfrm>
          <a:prstGeom prst="homePlate">
            <a:avLst>
              <a:gd name="adj" fmla="val 16016"/>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106363"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10000"/>
              </a:spcBef>
              <a:buClr>
                <a:srgbClr val="542D76"/>
              </a:buClr>
              <a:buSzPct val="70000"/>
              <a:buFont typeface="Wingdings" pitchFamily="2" charset="2"/>
              <a:buNone/>
              <a:defRPr/>
            </a:pPr>
            <a:r>
              <a:rPr lang="en-GB" altLang="ko-KR" sz="1100">
                <a:solidFill>
                  <a:srgbClr val="FFFFFF"/>
                </a:solidFill>
              </a:rPr>
              <a:t>Profile </a:t>
            </a:r>
            <a:endParaRPr lang="en-US" altLang="ko-KR" sz="1100">
              <a:solidFill>
                <a:srgbClr val="FFFFFF"/>
              </a:solidFill>
              <a:ea typeface="굴림" panose="020b0600000101010101" pitchFamily="50" charset="-127"/>
            </a:endParaRPr>
          </a:p>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procure-ment segment</a:t>
            </a:r>
          </a:p>
        </p:txBody>
      </p:sp>
      <p:sp>
        <p:nvSpPr>
          <p:cNvPr id="1707015" name="AutoShape 7">
            <a:extLst>
              <a:ext uri="{FF2B5EF4-FFF2-40B4-BE49-F238E27FC236}">
                <a16:creationId xmlns:a16="http://schemas.microsoft.com/office/drawing/2014/main" id="{7F066726-D536-DA22-C767-3539F0905ACB}"/>
              </a:ext>
            </a:extLst>
          </p:cNvPr>
          <p:cNvSpPr>
            <a:spLocks noChangeArrowheads="1"/>
          </p:cNvSpPr>
          <p:nvPr/>
        </p:nvSpPr>
        <p:spPr bwMode="auto">
          <a:xfrm>
            <a:off x="6061075" y="2981325"/>
            <a:ext cx="1057275" cy="739775"/>
          </a:xfrm>
          <a:prstGeom prst="chevron">
            <a:avLst>
              <a:gd name="adj" fmla="val 20697"/>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228600"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Compare suppliers</a:t>
            </a:r>
          </a:p>
        </p:txBody>
      </p:sp>
      <p:sp>
        <p:nvSpPr>
          <p:cNvPr id="1707016" name="AutoShape 8">
            <a:extLst>
              <a:ext uri="{FF2B5EF4-FFF2-40B4-BE49-F238E27FC236}">
                <a16:creationId xmlns:a16="http://schemas.microsoft.com/office/drawing/2014/main" id="{A44A794C-1754-E602-3EB3-8B24AF5CC350}"/>
              </a:ext>
            </a:extLst>
          </p:cNvPr>
          <p:cNvSpPr>
            <a:spLocks noChangeArrowheads="1"/>
          </p:cNvSpPr>
          <p:nvPr/>
        </p:nvSpPr>
        <p:spPr bwMode="auto">
          <a:xfrm>
            <a:off x="6977063" y="2981325"/>
            <a:ext cx="1158875" cy="739775"/>
          </a:xfrm>
          <a:prstGeom prst="chevron">
            <a:avLst>
              <a:gd name="adj" fmla="val 22686"/>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228600"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uClr>
                <a:srgbClr val="542D76"/>
              </a:buClr>
              <a:buSzPct val="70000"/>
              <a:buFont typeface="Wingdings" pitchFamily="2" charset="2"/>
              <a:buNone/>
              <a:defRPr/>
            </a:pPr>
            <a:endParaRPr lang="en-GB" altLang="ko-KR" sz="1200">
              <a:solidFill>
                <a:srgbClr val="FFFFFF"/>
              </a:solidFill>
            </a:endParaRPr>
          </a:p>
        </p:txBody>
      </p:sp>
      <p:sp>
        <p:nvSpPr>
          <p:cNvPr id="1707017" name="AutoShape 9">
            <a:extLst>
              <a:ext uri="{FF2B5EF4-FFF2-40B4-BE49-F238E27FC236}">
                <a16:creationId xmlns:a16="http://schemas.microsoft.com/office/drawing/2014/main" id="{30ABB4CE-A83E-EDE2-072D-B8925D947FB3}"/>
              </a:ext>
            </a:extLst>
          </p:cNvPr>
          <p:cNvSpPr>
            <a:spLocks noChangeArrowheads="1"/>
          </p:cNvSpPr>
          <p:nvPr/>
        </p:nvSpPr>
        <p:spPr bwMode="auto">
          <a:xfrm>
            <a:off x="7964488" y="2990850"/>
            <a:ext cx="1263650" cy="736600"/>
          </a:xfrm>
          <a:prstGeom prst="chevron">
            <a:avLst>
              <a:gd name="adj" fmla="val 24843"/>
            </a:avLst>
          </a:prstGeom>
          <a:solidFill>
            <a:srgbClr val="0070C0"/>
          </a:solidFill>
          <a:ln>
            <a:noFill/>
          </a:ln>
          <a:effectLst>
            <a:prstShdw prst="shdw17" dist="17961" dir="2700000">
              <a:schemeClr val="bg2">
                <a:gamma/>
                <a:shade val="60000"/>
                <a:invGamma/>
              </a:schemeClr>
            </a:prstShdw>
          </a:effectLst>
        </p:spPr>
        <p:txBody>
          <a:bodyPr lIns="0" tIns="0" rIns="0" bIns="0" anchor="ctr"/>
          <a:lstStyle>
            <a:lvl1pPr marL="228600" algn="l" fontAlgn="base">
              <a:spcBef>
                <a:spcPct val="0"/>
              </a:spcBef>
              <a:defRPr>
                <a:solidFill>
                  <a:schemeClr val="tx1"/>
                </a:solidFill>
                <a:latin typeface="Arial" panose="020b0604020202020204" pitchFamily="34" charset="0"/>
                <a:cs typeface="Arial" panose="020b0604020202020204" pitchFamily="34" charset="0"/>
              </a:defRPr>
            </a:lvl1pPr>
            <a:lvl2pPr marL="415925" indent="-127000" algn="l" fontAlgn="base">
              <a:spcBef>
                <a:spcPct val="0"/>
              </a:spcBef>
              <a:defRPr>
                <a:solidFill>
                  <a:schemeClr val="tx1"/>
                </a:solidFill>
                <a:latin typeface="Arial" panose="020b0604020202020204" pitchFamily="34" charset="0"/>
                <a:cs typeface="Arial" panose="020b0604020202020204" pitchFamily="34" charset="0"/>
              </a:defRPr>
            </a:lvl2pPr>
            <a:lvl3pPr marL="771525" indent="-241300" algn="l" fontAlgn="base">
              <a:spcBef>
                <a:spcPct val="0"/>
              </a:spcBef>
              <a:defRPr>
                <a:solidFill>
                  <a:schemeClr val="tx1"/>
                </a:solidFill>
                <a:latin typeface="Arial" panose="020b0604020202020204" pitchFamily="34" charset="0"/>
                <a:cs typeface="Arial" panose="020b0604020202020204" pitchFamily="34" charset="0"/>
              </a:defRPr>
            </a:lvl3pPr>
            <a:lvl4pPr algn="l" fontAlgn="base">
              <a:spcBef>
                <a:spcPct val="0"/>
              </a:spcBef>
              <a:defRPr>
                <a:solidFill>
                  <a:schemeClr val="tx1"/>
                </a:solidFill>
                <a:latin typeface="Arial" panose="020b0604020202020204" pitchFamily="34" charset="0"/>
                <a:cs typeface="Arial" panose="020b0604020202020204" pitchFamily="34" charset="0"/>
              </a:defRPr>
            </a:lvl4pPr>
            <a:lvl5pPr algn="l" fontAlgn="base">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10000"/>
              </a:spcBef>
              <a:buClr>
                <a:srgbClr val="542D76"/>
              </a:buClr>
              <a:buSzPct val="70000"/>
              <a:buFont typeface="Wingdings" pitchFamily="2" charset="2"/>
              <a:buNone/>
              <a:defRPr/>
            </a:pPr>
            <a:r>
              <a:rPr lang="en-US" altLang="ko-KR" sz="1100">
                <a:solidFill>
                  <a:srgbClr val="FFFFFF"/>
                </a:solidFill>
                <a:ea typeface="굴림" panose="020b0600000101010101" pitchFamily="50" charset="-127"/>
              </a:rPr>
              <a:t>Integrate suppliers</a:t>
            </a:r>
          </a:p>
        </p:txBody>
      </p:sp>
      <p:sp>
        <p:nvSpPr>
          <p:cNvPr id="1707018" name="Oval 10">
            <a:extLst>
              <a:ext uri="{FF2B5EF4-FFF2-40B4-BE49-F238E27FC236}">
                <a16:creationId xmlns:a16="http://schemas.microsoft.com/office/drawing/2014/main" id="{C0F7A2DF-7CF3-CEA6-1A11-8C975B825AA7}"/>
              </a:ext>
            </a:extLst>
          </p:cNvPr>
          <p:cNvSpPr>
            <a:spLocks noChangeArrowheads="1"/>
          </p:cNvSpPr>
          <p:nvPr/>
        </p:nvSpPr>
        <p:spPr bwMode="gray">
          <a:xfrm>
            <a:off x="1974850" y="2909888"/>
            <a:ext cx="188913"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1</a:t>
            </a:r>
          </a:p>
        </p:txBody>
      </p:sp>
      <p:sp>
        <p:nvSpPr>
          <p:cNvPr id="1707019" name="Oval 11">
            <a:extLst>
              <a:ext uri="{FF2B5EF4-FFF2-40B4-BE49-F238E27FC236}">
                <a16:creationId xmlns:a16="http://schemas.microsoft.com/office/drawing/2014/main" id="{71193295-457D-F268-53CC-F3005B7E03C4}"/>
              </a:ext>
            </a:extLst>
          </p:cNvPr>
          <p:cNvSpPr>
            <a:spLocks noChangeArrowheads="1"/>
          </p:cNvSpPr>
          <p:nvPr/>
        </p:nvSpPr>
        <p:spPr bwMode="gray">
          <a:xfrm>
            <a:off x="2828925" y="2909888"/>
            <a:ext cx="188913"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2</a:t>
            </a:r>
          </a:p>
        </p:txBody>
      </p:sp>
      <p:sp>
        <p:nvSpPr>
          <p:cNvPr id="1707020" name="Oval 12">
            <a:extLst>
              <a:ext uri="{FF2B5EF4-FFF2-40B4-BE49-F238E27FC236}">
                <a16:creationId xmlns:a16="http://schemas.microsoft.com/office/drawing/2014/main" id="{6C3DDF16-1DFF-9F33-2C5E-C492D8A42F9F}"/>
              </a:ext>
            </a:extLst>
          </p:cNvPr>
          <p:cNvSpPr>
            <a:spLocks noChangeArrowheads="1"/>
          </p:cNvSpPr>
          <p:nvPr/>
        </p:nvSpPr>
        <p:spPr bwMode="gray">
          <a:xfrm>
            <a:off x="3935413" y="2909888"/>
            <a:ext cx="188912"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3</a:t>
            </a:r>
          </a:p>
        </p:txBody>
      </p:sp>
      <p:sp>
        <p:nvSpPr>
          <p:cNvPr id="1707021" name="Oval 13">
            <a:extLst>
              <a:ext uri="{FF2B5EF4-FFF2-40B4-BE49-F238E27FC236}">
                <a16:creationId xmlns:a16="http://schemas.microsoft.com/office/drawing/2014/main" id="{3F0D5212-727C-E579-3825-2A148B694177}"/>
              </a:ext>
            </a:extLst>
          </p:cNvPr>
          <p:cNvSpPr>
            <a:spLocks noChangeArrowheads="1"/>
          </p:cNvSpPr>
          <p:nvPr/>
        </p:nvSpPr>
        <p:spPr bwMode="gray">
          <a:xfrm>
            <a:off x="5070475" y="2909888"/>
            <a:ext cx="188913"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4</a:t>
            </a:r>
          </a:p>
        </p:txBody>
      </p:sp>
      <p:sp>
        <p:nvSpPr>
          <p:cNvPr id="1707022" name="Oval 14">
            <a:extLst>
              <a:ext uri="{FF2B5EF4-FFF2-40B4-BE49-F238E27FC236}">
                <a16:creationId xmlns:a16="http://schemas.microsoft.com/office/drawing/2014/main" id="{CC5F0DC9-C0EB-4B80-A4AA-158F748F7F82}"/>
              </a:ext>
            </a:extLst>
          </p:cNvPr>
          <p:cNvSpPr>
            <a:spLocks noChangeArrowheads="1"/>
          </p:cNvSpPr>
          <p:nvPr/>
        </p:nvSpPr>
        <p:spPr bwMode="gray">
          <a:xfrm>
            <a:off x="6148388" y="2900363"/>
            <a:ext cx="188912"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5</a:t>
            </a:r>
          </a:p>
        </p:txBody>
      </p:sp>
      <p:sp>
        <p:nvSpPr>
          <p:cNvPr id="1707023" name="Oval 15">
            <a:extLst>
              <a:ext uri="{FF2B5EF4-FFF2-40B4-BE49-F238E27FC236}">
                <a16:creationId xmlns:a16="http://schemas.microsoft.com/office/drawing/2014/main" id="{A30BE7CF-3361-1958-B91C-8F707288575C}"/>
              </a:ext>
            </a:extLst>
          </p:cNvPr>
          <p:cNvSpPr>
            <a:spLocks noChangeArrowheads="1"/>
          </p:cNvSpPr>
          <p:nvPr/>
        </p:nvSpPr>
        <p:spPr bwMode="gray">
          <a:xfrm>
            <a:off x="6978650" y="2900363"/>
            <a:ext cx="187325"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6</a:t>
            </a:r>
          </a:p>
        </p:txBody>
      </p:sp>
      <p:sp>
        <p:nvSpPr>
          <p:cNvPr id="1707024" name="Oval 16">
            <a:extLst>
              <a:ext uri="{FF2B5EF4-FFF2-40B4-BE49-F238E27FC236}">
                <a16:creationId xmlns:a16="http://schemas.microsoft.com/office/drawing/2014/main" id="{D373FABF-BCEE-97B9-817E-BA3DAF1D42EF}"/>
              </a:ext>
            </a:extLst>
          </p:cNvPr>
          <p:cNvSpPr>
            <a:spLocks noChangeArrowheads="1"/>
          </p:cNvSpPr>
          <p:nvPr/>
        </p:nvSpPr>
        <p:spPr bwMode="gray">
          <a:xfrm>
            <a:off x="7986713" y="2909888"/>
            <a:ext cx="190500" cy="163512"/>
          </a:xfrm>
          <a:prstGeom prst="ellipse">
            <a:avLst/>
          </a:prstGeom>
          <a:solidFill>
            <a:schemeClr val="accent2">
              <a:alpha val="89999"/>
            </a:schemeClr>
          </a:solidFill>
          <a:ln w="12700">
            <a:solidFill>
              <a:schemeClr val="tx1"/>
            </a:solidFill>
            <a:round/>
          </a:ln>
          <a:effectLst>
            <a:prstShdw prst="shdw17" dist="17961" dir="2700000">
              <a:schemeClr val="tx1">
                <a:gamma/>
                <a:shade val="60000"/>
                <a:invGamma/>
              </a:schemeClr>
            </a:prstShdw>
          </a:effectLst>
        </p:spPr>
        <p:txBody>
          <a:bodyPr wrap="none" anchor="ctr"/>
          <a:lstStyle/>
          <a:p>
            <a:pPr algn="ctr">
              <a:spcBef>
                <a:spcPct val="50000"/>
              </a:spcBef>
              <a:buSzPct val="70000"/>
              <a:buFont typeface="Monotype Sorts" pitchFamily="2" charset="2"/>
              <a:buNone/>
              <a:defRPr/>
            </a:pPr>
            <a:r>
              <a:rPr lang="en-US" altLang="ko-KR" sz="1000">
                <a:solidFill>
                  <a:srgbClr val="000000"/>
                </a:solidFill>
                <a:ea typeface="굴림" panose="020b0600000101010101" pitchFamily="50" charset="-127"/>
              </a:rPr>
              <a:t>7</a:t>
            </a:r>
          </a:p>
        </p:txBody>
      </p:sp>
      <p:sp>
        <p:nvSpPr>
          <p:cNvPr id="46096" name="Text Box 17">
            <a:extLst>
              <a:ext uri="{FF2B5EF4-FFF2-40B4-BE49-F238E27FC236}">
                <a16:creationId xmlns:a16="http://schemas.microsoft.com/office/drawing/2014/main" id="{913A6C7E-C9B2-B69F-5F69-EC2F4439B60E}"/>
              </a:ext>
            </a:extLst>
          </p:cNvPr>
          <p:cNvSpPr txBox="1">
            <a:spLocks noChangeArrowheads="1"/>
          </p:cNvSpPr>
          <p:nvPr/>
        </p:nvSpPr>
        <p:spPr bwMode="auto">
          <a:xfrm>
            <a:off x="7196138" y="3195638"/>
            <a:ext cx="844550" cy="293687"/>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10000"/>
              </a:spcBef>
              <a:buFontTx/>
              <a:buNone/>
            </a:pPr>
            <a:r>
              <a:rPr lang="en-US" altLang="ko-KR" sz="1100">
                <a:solidFill>
                  <a:schemeClr val="bg1"/>
                </a:solidFill>
                <a:ea typeface="굴림" panose="020b0600000101010101" pitchFamily="34" charset="-127"/>
              </a:rPr>
              <a:t>Negotiate</a:t>
            </a:r>
          </a:p>
        </p:txBody>
      </p:sp>
      <p:sp>
        <p:nvSpPr>
          <p:cNvPr id="46097" name="Rectangle 18">
            <a:extLst>
              <a:ext uri="{FF2B5EF4-FFF2-40B4-BE49-F238E27FC236}">
                <a16:creationId xmlns:a16="http://schemas.microsoft.com/office/drawing/2014/main" id="{51A4F883-8C43-4C9C-FBBF-38B410A89007}"/>
              </a:ext>
            </a:extLst>
          </p:cNvPr>
          <p:cNvSpPr>
            <a:spLocks noChangeArrowheads="1"/>
          </p:cNvSpPr>
          <p:nvPr/>
        </p:nvSpPr>
        <p:spPr bwMode="auto">
          <a:xfrm>
            <a:off x="2841625" y="3738563"/>
            <a:ext cx="1289050" cy="774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6838" indent="-9683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048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5461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Specifications </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Procurement scenarios</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Volume assessment</a:t>
            </a:r>
          </a:p>
        </p:txBody>
      </p:sp>
      <p:sp>
        <p:nvSpPr>
          <p:cNvPr id="46098" name="Rectangle 19">
            <a:extLst>
              <a:ext uri="{FF2B5EF4-FFF2-40B4-BE49-F238E27FC236}">
                <a16:creationId xmlns:a16="http://schemas.microsoft.com/office/drawing/2014/main" id="{E92779CC-5B5F-DABF-8C4A-7485FE95EE9E}"/>
              </a:ext>
            </a:extLst>
          </p:cNvPr>
          <p:cNvSpPr>
            <a:spLocks noChangeArrowheads="1"/>
          </p:cNvSpPr>
          <p:nvPr/>
        </p:nvSpPr>
        <p:spPr bwMode="auto">
          <a:xfrm>
            <a:off x="1830388" y="3738563"/>
            <a:ext cx="1204912" cy="1457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56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112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Main spend cube statistics</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Overview of current contracts and agreements</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Overview of  Total Cost of Ownership</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Sourcing tree</a:t>
            </a:r>
          </a:p>
        </p:txBody>
      </p:sp>
      <p:sp>
        <p:nvSpPr>
          <p:cNvPr id="46099" name="Text Box 20">
            <a:extLst>
              <a:ext uri="{FF2B5EF4-FFF2-40B4-BE49-F238E27FC236}">
                <a16:creationId xmlns:a16="http://schemas.microsoft.com/office/drawing/2014/main" id="{9873593D-B413-1DC6-3CD6-ABC933D36D4A}"/>
              </a:ext>
            </a:extLst>
          </p:cNvPr>
          <p:cNvSpPr txBox="1">
            <a:spLocks noChangeArrowheads="1"/>
          </p:cNvSpPr>
          <p:nvPr/>
        </p:nvSpPr>
        <p:spPr bwMode="auto">
          <a:xfrm>
            <a:off x="3298825" y="1341438"/>
            <a:ext cx="2916238"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b="0">
                <a:ea typeface="굴림" panose="020b0600000101010101" pitchFamily="34" charset="-127"/>
              </a:rPr>
              <a:t>- Generic procurement process -</a:t>
            </a:r>
          </a:p>
        </p:txBody>
      </p:sp>
      <p:sp>
        <p:nvSpPr>
          <p:cNvPr id="46100" name="AutoShape 21">
            <a:extLst>
              <a:ext uri="{FF2B5EF4-FFF2-40B4-BE49-F238E27FC236}">
                <a16:creationId xmlns:a16="http://schemas.microsoft.com/office/drawing/2014/main" id="{0413B472-0636-A5BE-22FD-69A6981BEE6A}"/>
              </a:ext>
            </a:extLst>
          </p:cNvPr>
          <p:cNvSpPr>
            <a:spLocks noChangeArrowheads="1"/>
          </p:cNvSpPr>
          <p:nvPr/>
        </p:nvSpPr>
        <p:spPr bwMode="auto">
          <a:xfrm>
            <a:off x="3116263" y="1771650"/>
            <a:ext cx="1497012" cy="638175"/>
          </a:xfrm>
          <a:prstGeom prst="homePlate">
            <a:avLst>
              <a:gd name="adj" fmla="val 22991"/>
            </a:avLst>
          </a:prstGeom>
          <a:solidFill>
            <a:srgbClr val="0070C0"/>
          </a:solidFill>
          <a:ln w="12700">
            <a:solidFill>
              <a:schemeClr val="tx1"/>
            </a:solidFill>
            <a:miter lim="800000"/>
          </a:ln>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solidFill>
                  <a:schemeClr val="bg1"/>
                </a:solidFill>
                <a:ea typeface="굴림" panose="020b0600000101010101" pitchFamily="34" charset="-127"/>
              </a:rPr>
              <a:t>Primary Procurement Process</a:t>
            </a:r>
          </a:p>
        </p:txBody>
      </p:sp>
      <p:sp>
        <p:nvSpPr>
          <p:cNvPr id="46101" name="AutoShape 22">
            <a:extLst>
              <a:ext uri="{FF2B5EF4-FFF2-40B4-BE49-F238E27FC236}">
                <a16:creationId xmlns:a16="http://schemas.microsoft.com/office/drawing/2014/main" id="{42ACA7FA-B6FC-CDE8-CEEC-6EE98B0E05ED}"/>
              </a:ext>
            </a:extLst>
          </p:cNvPr>
          <p:cNvSpPr>
            <a:spLocks noChangeArrowheads="1"/>
          </p:cNvSpPr>
          <p:nvPr/>
        </p:nvSpPr>
        <p:spPr bwMode="auto">
          <a:xfrm>
            <a:off x="6786563" y="1771650"/>
            <a:ext cx="1350962" cy="638175"/>
          </a:xfrm>
          <a:prstGeom prst="chevron">
            <a:avLst>
              <a:gd name="adj" fmla="val 23560"/>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Supplier  Performance  Management</a:t>
            </a:r>
          </a:p>
        </p:txBody>
      </p:sp>
      <p:sp>
        <p:nvSpPr>
          <p:cNvPr id="46102" name="AutoShape 23">
            <a:extLst>
              <a:ext uri="{FF2B5EF4-FFF2-40B4-BE49-F238E27FC236}">
                <a16:creationId xmlns:a16="http://schemas.microsoft.com/office/drawing/2014/main" id="{F8E4AEBC-B5DE-EAA7-41AB-5CB8D943DFEA}"/>
              </a:ext>
            </a:extLst>
          </p:cNvPr>
          <p:cNvSpPr>
            <a:spLocks noChangeArrowheads="1"/>
          </p:cNvSpPr>
          <p:nvPr/>
        </p:nvSpPr>
        <p:spPr bwMode="auto">
          <a:xfrm>
            <a:off x="5567363" y="1771650"/>
            <a:ext cx="1322387" cy="638175"/>
          </a:xfrm>
          <a:prstGeom prst="chevron">
            <a:avLst>
              <a:gd name="adj" fmla="val 23062"/>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Contract Management</a:t>
            </a:r>
          </a:p>
        </p:txBody>
      </p:sp>
      <p:sp>
        <p:nvSpPr>
          <p:cNvPr id="46103" name="Line 24">
            <a:extLst>
              <a:ext uri="{FF2B5EF4-FFF2-40B4-BE49-F238E27FC236}">
                <a16:creationId xmlns:a16="http://schemas.microsoft.com/office/drawing/2014/main" id="{EFBA2F88-3F97-D4C6-AD12-ECF67745863A}"/>
              </a:ext>
            </a:extLst>
          </p:cNvPr>
          <p:cNvSpPr>
            <a:spLocks noChangeShapeType="1"/>
          </p:cNvSpPr>
          <p:nvPr/>
        </p:nvSpPr>
        <p:spPr bwMode="auto">
          <a:xfrm flipH="1" flipV="1">
            <a:off x="7964488" y="2395538"/>
            <a:ext cx="1077912" cy="619125"/>
          </a:xfrm>
          <a:prstGeom prst="line">
            <a:avLst/>
          </a:prstGeom>
          <a:noFill/>
          <a:ln w="19050" cap="rnd">
            <a:solidFill>
              <a:schemeClr val="bg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ko-KR" altLang="en-US"/>
          </a:p>
        </p:txBody>
      </p:sp>
      <p:sp>
        <p:nvSpPr>
          <p:cNvPr id="46104" name="Line 25">
            <a:extLst>
              <a:ext uri="{FF2B5EF4-FFF2-40B4-BE49-F238E27FC236}">
                <a16:creationId xmlns:a16="http://schemas.microsoft.com/office/drawing/2014/main" id="{33DAD925-9698-58BE-C8E2-FEF995F2C539}"/>
              </a:ext>
            </a:extLst>
          </p:cNvPr>
          <p:cNvSpPr>
            <a:spLocks noChangeShapeType="1"/>
          </p:cNvSpPr>
          <p:nvPr/>
        </p:nvSpPr>
        <p:spPr bwMode="auto">
          <a:xfrm flipV="1">
            <a:off x="2106613" y="2397125"/>
            <a:ext cx="1022350" cy="530225"/>
          </a:xfrm>
          <a:prstGeom prst="line">
            <a:avLst/>
          </a:prstGeom>
          <a:noFill/>
          <a:ln w="19050" cap="rnd">
            <a:solidFill>
              <a:schemeClr val="bg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ko-KR" altLang="en-US"/>
          </a:p>
        </p:txBody>
      </p:sp>
      <p:sp>
        <p:nvSpPr>
          <p:cNvPr id="46105" name="Line 26">
            <a:extLst>
              <a:ext uri="{FF2B5EF4-FFF2-40B4-BE49-F238E27FC236}">
                <a16:creationId xmlns:a16="http://schemas.microsoft.com/office/drawing/2014/main" id="{CE28DEAA-AB94-76F5-6527-87B88AAA74A2}"/>
              </a:ext>
            </a:extLst>
          </p:cNvPr>
          <p:cNvSpPr>
            <a:spLocks noChangeShapeType="1"/>
          </p:cNvSpPr>
          <p:nvPr/>
        </p:nvSpPr>
        <p:spPr bwMode="auto">
          <a:xfrm flipH="1" flipV="1">
            <a:off x="4457700" y="2414588"/>
            <a:ext cx="1622425" cy="555625"/>
          </a:xfrm>
          <a:prstGeom prst="line">
            <a:avLst/>
          </a:prstGeom>
          <a:noFill/>
          <a:ln w="19050" cap="rnd">
            <a:solidFill>
              <a:schemeClr val="bg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ko-KR" altLang="en-US"/>
          </a:p>
        </p:txBody>
      </p:sp>
      <p:sp>
        <p:nvSpPr>
          <p:cNvPr id="46106" name="Line 27">
            <a:extLst>
              <a:ext uri="{FF2B5EF4-FFF2-40B4-BE49-F238E27FC236}">
                <a16:creationId xmlns:a16="http://schemas.microsoft.com/office/drawing/2014/main" id="{953A821E-35E5-B2FA-114B-B17441B7C68C}"/>
              </a:ext>
            </a:extLst>
          </p:cNvPr>
          <p:cNvSpPr>
            <a:spLocks noChangeShapeType="1"/>
          </p:cNvSpPr>
          <p:nvPr/>
        </p:nvSpPr>
        <p:spPr bwMode="auto">
          <a:xfrm flipH="1" flipV="1">
            <a:off x="5497513" y="2387600"/>
            <a:ext cx="2468562" cy="592138"/>
          </a:xfrm>
          <a:prstGeom prst="line">
            <a:avLst/>
          </a:prstGeom>
          <a:noFill/>
          <a:ln w="19050" cap="rnd">
            <a:solidFill>
              <a:schemeClr val="bg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ko-KR" altLang="en-US"/>
          </a:p>
        </p:txBody>
      </p:sp>
      <p:sp>
        <p:nvSpPr>
          <p:cNvPr id="46107" name="AutoShape 28">
            <a:extLst>
              <a:ext uri="{FF2B5EF4-FFF2-40B4-BE49-F238E27FC236}">
                <a16:creationId xmlns:a16="http://schemas.microsoft.com/office/drawing/2014/main" id="{00A77F70-FCA1-187A-6D92-630539FF0663}"/>
              </a:ext>
            </a:extLst>
          </p:cNvPr>
          <p:cNvSpPr>
            <a:spLocks noChangeArrowheads="1"/>
          </p:cNvSpPr>
          <p:nvPr/>
        </p:nvSpPr>
        <p:spPr bwMode="auto">
          <a:xfrm>
            <a:off x="8018463" y="1773238"/>
            <a:ext cx="258762" cy="638175"/>
          </a:xfrm>
          <a:prstGeom prst="chevron">
            <a:avLst>
              <a:gd name="adj" fmla="val 58278"/>
            </a:avLst>
          </a:prstGeom>
          <a:solidFill>
            <a:schemeClr val="folHlink">
              <a:alpha val="59999"/>
            </a:schemeClr>
          </a:solidFill>
          <a:ln w="12700" cap="rnd" algn="ctr">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endParaRPr lang="en-GB" altLang="ko-KR" sz="1200" b="0">
              <a:ea typeface="가는각진제목체" panose="02030600000101010101" pitchFamily="18" charset="-127"/>
            </a:endParaRPr>
          </a:p>
        </p:txBody>
      </p:sp>
      <p:sp>
        <p:nvSpPr>
          <p:cNvPr id="46108" name="AutoShape 29">
            <a:extLst>
              <a:ext uri="{FF2B5EF4-FFF2-40B4-BE49-F238E27FC236}">
                <a16:creationId xmlns:a16="http://schemas.microsoft.com/office/drawing/2014/main" id="{BE4C93E4-2745-3A48-8370-D1D01A455AD6}"/>
              </a:ext>
            </a:extLst>
          </p:cNvPr>
          <p:cNvSpPr>
            <a:spLocks noChangeArrowheads="1"/>
          </p:cNvSpPr>
          <p:nvPr/>
        </p:nvSpPr>
        <p:spPr bwMode="auto">
          <a:xfrm>
            <a:off x="8154988" y="1773238"/>
            <a:ext cx="260350" cy="638175"/>
          </a:xfrm>
          <a:prstGeom prst="chevron">
            <a:avLst>
              <a:gd name="adj" fmla="val 58278"/>
            </a:avLst>
          </a:prstGeom>
          <a:solidFill>
            <a:schemeClr val="folHlink">
              <a:alpha val="59999"/>
            </a:schemeClr>
          </a:solidFill>
          <a:ln w="12700" cap="rnd" algn="ctr">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endParaRPr lang="en-GB" altLang="ko-KR" sz="1200" b="0">
              <a:ea typeface="가는각진제목체" panose="02030600000101010101" pitchFamily="18" charset="-127"/>
            </a:endParaRPr>
          </a:p>
        </p:txBody>
      </p:sp>
      <p:sp>
        <p:nvSpPr>
          <p:cNvPr id="46109" name="AutoShape 30">
            <a:extLst>
              <a:ext uri="{FF2B5EF4-FFF2-40B4-BE49-F238E27FC236}">
                <a16:creationId xmlns:a16="http://schemas.microsoft.com/office/drawing/2014/main" id="{5989370F-2D73-0D8E-5F96-9F7265286041}"/>
              </a:ext>
            </a:extLst>
          </p:cNvPr>
          <p:cNvSpPr>
            <a:spLocks noChangeArrowheads="1"/>
          </p:cNvSpPr>
          <p:nvPr/>
        </p:nvSpPr>
        <p:spPr bwMode="auto">
          <a:xfrm>
            <a:off x="8293100" y="1766888"/>
            <a:ext cx="258763" cy="638175"/>
          </a:xfrm>
          <a:prstGeom prst="chevron">
            <a:avLst>
              <a:gd name="adj" fmla="val 58278"/>
            </a:avLst>
          </a:prstGeom>
          <a:solidFill>
            <a:schemeClr val="folHlink">
              <a:alpha val="59999"/>
            </a:schemeClr>
          </a:solidFill>
          <a:ln w="12700" cap="rnd" algn="ctr">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endParaRPr lang="en-GB" altLang="ko-KR" sz="1200" b="0">
              <a:ea typeface="가는각진제목체" panose="02030600000101010101" pitchFamily="18" charset="-127"/>
            </a:endParaRPr>
          </a:p>
        </p:txBody>
      </p:sp>
      <p:sp>
        <p:nvSpPr>
          <p:cNvPr id="46110" name="Text Box 31">
            <a:extLst>
              <a:ext uri="{FF2B5EF4-FFF2-40B4-BE49-F238E27FC236}">
                <a16:creationId xmlns:a16="http://schemas.microsoft.com/office/drawing/2014/main" id="{F1D27CF0-25A1-CF1E-AF37-27428F7FBF4E}"/>
              </a:ext>
            </a:extLst>
          </p:cNvPr>
          <p:cNvSpPr txBox="1">
            <a:spLocks noChangeArrowheads="1"/>
          </p:cNvSpPr>
          <p:nvPr/>
        </p:nvSpPr>
        <p:spPr bwMode="auto">
          <a:xfrm>
            <a:off x="271463" y="4054475"/>
            <a:ext cx="1627187" cy="527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b="0">
                <a:solidFill>
                  <a:schemeClr val="bg1"/>
                </a:solidFill>
                <a:ea typeface="굴림" panose="020b0600000101010101" pitchFamily="34" charset="-127"/>
              </a:rPr>
              <a:t>Main end products</a:t>
            </a:r>
          </a:p>
        </p:txBody>
      </p:sp>
      <p:sp>
        <p:nvSpPr>
          <p:cNvPr id="46111" name="Rectangle 32">
            <a:extLst>
              <a:ext uri="{FF2B5EF4-FFF2-40B4-BE49-F238E27FC236}">
                <a16:creationId xmlns:a16="http://schemas.microsoft.com/office/drawing/2014/main" id="{72BA50BE-22E5-A89C-C447-2688BDF0BA3D}"/>
              </a:ext>
            </a:extLst>
          </p:cNvPr>
          <p:cNvSpPr>
            <a:spLocks noChangeArrowheads="1"/>
          </p:cNvSpPr>
          <p:nvPr/>
        </p:nvSpPr>
        <p:spPr bwMode="auto">
          <a:xfrm>
            <a:off x="3903663" y="3738563"/>
            <a:ext cx="1063625" cy="1593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56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112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List with all suppliers and preferred suppliers</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Supplier market analysis via various tools</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RFI</a:t>
            </a:r>
            <a:r>
              <a:rPr lang="en-US" altLang="ko-KR" sz="900" b="0" baseline="30000">
                <a:ea typeface="굴림" panose="020b0600000101010101" pitchFamily="34" charset="-127"/>
              </a:rPr>
              <a:t>(1)</a:t>
            </a:r>
            <a:r>
              <a:rPr lang="en-US" altLang="ko-KR" sz="900" b="0">
                <a:ea typeface="굴림" panose="020b0600000101010101" pitchFamily="34" charset="-127"/>
              </a:rPr>
              <a:t> packet and analysis (if applicable)</a:t>
            </a:r>
          </a:p>
        </p:txBody>
      </p:sp>
      <p:sp>
        <p:nvSpPr>
          <p:cNvPr id="46112" name="Rectangle 33">
            <a:extLst>
              <a:ext uri="{FF2B5EF4-FFF2-40B4-BE49-F238E27FC236}">
                <a16:creationId xmlns:a16="http://schemas.microsoft.com/office/drawing/2014/main" id="{2ABA6679-9676-B696-1134-B791A4250569}"/>
              </a:ext>
            </a:extLst>
          </p:cNvPr>
          <p:cNvSpPr>
            <a:spLocks noChangeArrowheads="1"/>
          </p:cNvSpPr>
          <p:nvPr/>
        </p:nvSpPr>
        <p:spPr bwMode="auto">
          <a:xfrm>
            <a:off x="4986338" y="3738563"/>
            <a:ext cx="1143000" cy="1184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56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112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Annual healthcare segment procurement plan with selected procurement strategy</a:t>
            </a:r>
          </a:p>
        </p:txBody>
      </p:sp>
      <p:sp>
        <p:nvSpPr>
          <p:cNvPr id="46113" name="Rectangle 34">
            <a:extLst>
              <a:ext uri="{FF2B5EF4-FFF2-40B4-BE49-F238E27FC236}">
                <a16:creationId xmlns:a16="http://schemas.microsoft.com/office/drawing/2014/main" id="{8F160AC2-C4B3-15B4-5451-396160C01CD1}"/>
              </a:ext>
            </a:extLst>
          </p:cNvPr>
          <p:cNvSpPr>
            <a:spLocks noChangeArrowheads="1"/>
          </p:cNvSpPr>
          <p:nvPr/>
        </p:nvSpPr>
        <p:spPr bwMode="auto">
          <a:xfrm>
            <a:off x="6081713" y="3738563"/>
            <a:ext cx="1038225" cy="2276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56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112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Concept healthcare segment contracts (modules)</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List of  suppliers for negotiation</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Well-defined negotiation plan</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RFP</a:t>
            </a:r>
            <a:r>
              <a:rPr lang="en-US" altLang="ko-KR" sz="900" b="0" baseline="30000">
                <a:ea typeface="굴림" panose="020b0600000101010101" pitchFamily="34" charset="-127"/>
              </a:rPr>
              <a:t>(2)</a:t>
            </a:r>
            <a:r>
              <a:rPr lang="en-US" altLang="ko-KR" sz="900" b="0">
                <a:ea typeface="굴림" panose="020b0600000101010101" pitchFamily="34" charset="-127"/>
              </a:rPr>
              <a:t> packet and analysis tool (if applicable)</a:t>
            </a:r>
          </a:p>
          <a:p>
            <a:pPr>
              <a:lnSpc>
                <a:spcPct val="100000"/>
              </a:lnSpc>
              <a:spcBef>
                <a:spcPct val="0"/>
              </a:spcBef>
              <a:buFont typeface="Arial" panose="020b0604020202020204" pitchFamily="34" charset="0"/>
              <a:buChar char="•"/>
            </a:pPr>
            <a:endParaRPr lang="ko-KR" altLang="en-US" sz="900" b="0">
              <a:ea typeface="굴림" panose="020b0600000101010101" pitchFamily="34" charset="-127"/>
            </a:endParaRPr>
          </a:p>
        </p:txBody>
      </p:sp>
      <p:sp>
        <p:nvSpPr>
          <p:cNvPr id="46114" name="Rectangle 35">
            <a:extLst>
              <a:ext uri="{FF2B5EF4-FFF2-40B4-BE49-F238E27FC236}">
                <a16:creationId xmlns:a16="http://schemas.microsoft.com/office/drawing/2014/main" id="{5D59A833-3F3C-1A39-F30A-E12F43BDF167}"/>
              </a:ext>
            </a:extLst>
          </p:cNvPr>
          <p:cNvSpPr>
            <a:spLocks noChangeArrowheads="1"/>
          </p:cNvSpPr>
          <p:nvPr/>
        </p:nvSpPr>
        <p:spPr bwMode="auto">
          <a:xfrm>
            <a:off x="6970713" y="3738563"/>
            <a:ext cx="1312862" cy="501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56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112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Negotiated (modular) contracts</a:t>
            </a:r>
          </a:p>
        </p:txBody>
      </p:sp>
      <p:sp>
        <p:nvSpPr>
          <p:cNvPr id="46115" name="Rectangle 36">
            <a:extLst>
              <a:ext uri="{FF2B5EF4-FFF2-40B4-BE49-F238E27FC236}">
                <a16:creationId xmlns:a16="http://schemas.microsoft.com/office/drawing/2014/main" id="{AC6946CE-A42D-A489-A608-F0A2A5D356A3}"/>
              </a:ext>
            </a:extLst>
          </p:cNvPr>
          <p:cNvSpPr>
            <a:spLocks noChangeArrowheads="1"/>
          </p:cNvSpPr>
          <p:nvPr/>
        </p:nvSpPr>
        <p:spPr bwMode="auto">
          <a:xfrm>
            <a:off x="8178800" y="3738563"/>
            <a:ext cx="1360488" cy="501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5600" indent="-1270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11200" indent="-2413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 typeface="Arial" panose="020b0604020202020204" pitchFamily="34" charset="0"/>
              <a:buChar char="•"/>
            </a:pPr>
            <a:r>
              <a:rPr lang="en-US" altLang="ko-KR" sz="900" b="0">
                <a:ea typeface="굴림" panose="020b0600000101010101" pitchFamily="34" charset="-127"/>
              </a:rPr>
              <a:t>Implementation plan</a:t>
            </a:r>
          </a:p>
          <a:p>
            <a:pPr>
              <a:lnSpc>
                <a:spcPct val="100000"/>
              </a:lnSpc>
              <a:spcBef>
                <a:spcPct val="0"/>
              </a:spcBef>
              <a:buFont typeface="Arial" panose="020b0604020202020204" pitchFamily="34" charset="0"/>
              <a:buChar char="•"/>
            </a:pPr>
            <a:r>
              <a:rPr lang="en-US" altLang="ko-KR" sz="900" b="0">
                <a:ea typeface="굴림" panose="020b0600000101010101" pitchFamily="34" charset="-127"/>
              </a:rPr>
              <a:t>Signed contracts</a:t>
            </a:r>
          </a:p>
        </p:txBody>
      </p:sp>
      <p:sp>
        <p:nvSpPr>
          <p:cNvPr id="46124" name="AutoShape 45">
            <a:extLst>
              <a:ext uri="{FF2B5EF4-FFF2-40B4-BE49-F238E27FC236}">
                <a16:creationId xmlns:a16="http://schemas.microsoft.com/office/drawing/2014/main" id="{F785E4C5-A9AD-ABCD-7D72-E8C6B1824584}"/>
              </a:ext>
            </a:extLst>
          </p:cNvPr>
          <p:cNvSpPr>
            <a:spLocks noChangeArrowheads="1"/>
          </p:cNvSpPr>
          <p:nvPr/>
        </p:nvSpPr>
        <p:spPr bwMode="auto">
          <a:xfrm>
            <a:off x="4519613" y="1771650"/>
            <a:ext cx="1146175" cy="638175"/>
          </a:xfrm>
          <a:prstGeom prst="chevron">
            <a:avLst>
              <a:gd name="adj" fmla="val 23431"/>
            </a:avLst>
          </a:prstGeom>
          <a:solidFill>
            <a:schemeClr val="accent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solidFill>
                  <a:schemeClr val="bg1"/>
                </a:solidFill>
                <a:ea typeface="굴림" panose="020b0600000101010101" pitchFamily="34" charset="-127"/>
              </a:rPr>
              <a:t>Contracts</a:t>
            </a:r>
          </a:p>
        </p:txBody>
      </p:sp>
      <p:sp>
        <p:nvSpPr>
          <p:cNvPr id="46125" name="Text Box 46">
            <a:extLst>
              <a:ext uri="{FF2B5EF4-FFF2-40B4-BE49-F238E27FC236}">
                <a16:creationId xmlns:a16="http://schemas.microsoft.com/office/drawing/2014/main" id="{C2400C58-7D32-A480-9685-FA6C098F7431}"/>
              </a:ext>
            </a:extLst>
          </p:cNvPr>
          <p:cNvSpPr txBox="1">
            <a:spLocks noChangeArrowheads="1"/>
          </p:cNvSpPr>
          <p:nvPr/>
        </p:nvSpPr>
        <p:spPr bwMode="gray">
          <a:xfrm>
            <a:off x="269875" y="6578600"/>
            <a:ext cx="2633663" cy="260350"/>
          </a:xfrm>
          <a:prstGeom prst="rect">
            <a:avLst/>
          </a:prstGeom>
          <a:noFill/>
          <a:ln>
            <a:noFill/>
          </a:ln>
          <a:effectLst>
            <a:prstShdw prst="shdw17" dist="17961" dir="2700000">
              <a:srgbClr val="4B0500"/>
            </a:prstShdw>
          </a:effectLst>
          <a:extLst>
            <a:ext uri="{909E8E84-426E-40DD-AFC4-6F175D3DCCD1}">
              <a14:hiddenFill xmlns:a14="http://schemas.microsoft.com/office/drawing/2010/main">
                <a:solidFill>
                  <a:srgbClr val="7D0900"/>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nchor="b">
            <a:spAutoFit/>
          </a:bodyPr>
          <a:lstStyle>
            <a:lvl1pPr marL="571500" indent="-5715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71500"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r>
              <a:rPr lang="en-GB" altLang="ko-KR" sz="1000" b="0">
                <a:ea typeface="가는각진제목체" panose="02030600000101010101" pitchFamily="18" charset="-127"/>
              </a:rPr>
              <a:t>Notes:	(1) RFI = Request for Information</a:t>
            </a:r>
          </a:p>
          <a:p>
            <a:pPr>
              <a:lnSpc>
                <a:spcPct val="85000"/>
              </a:lnSpc>
              <a:spcBef>
                <a:spcPct val="0"/>
              </a:spcBef>
              <a:buClrTx/>
              <a:buFontTx/>
              <a:buNone/>
            </a:pPr>
            <a:r>
              <a:rPr lang="en-GB" altLang="ko-KR" sz="1000" b="0">
                <a:ea typeface="가는각진제목체" panose="02030600000101010101" pitchFamily="18" charset="-127"/>
              </a:rPr>
              <a:t>	(2) RFP = Request for Proposal</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8129" name="Rectangle 2">
            <a:extLst>
              <a:ext uri="{FF2B5EF4-FFF2-40B4-BE49-F238E27FC236}">
                <a16:creationId xmlns:a16="http://schemas.microsoft.com/office/drawing/2014/main" id="{C1D34E38-8EF1-1469-CEE1-6072D04D8747}"/>
              </a:ext>
            </a:extLst>
          </p:cNvPr>
          <p:cNvSpPr>
            <a:spLocks noGrp="1" noChangeArrowheads="1"/>
          </p:cNvSpPr>
          <p:nvPr>
            <p:ph type="title"/>
          </p:nvPr>
        </p:nvSpPr>
        <p:spPr bwMode="gray">
          <a:xfrm>
            <a:off x="266700" y="596900"/>
            <a:ext cx="9367838" cy="549275"/>
          </a:xfrm>
        </p:spPr>
        <p:txBody>
          <a:bodyPr/>
          <a:lstStyle/>
          <a:p>
            <a:r>
              <a:rPr lang="en-US" altLang="ko-KR">
                <a:ea typeface="굴림" panose="020b0600000101010101" pitchFamily="34" charset="-127"/>
              </a:rPr>
              <a:t>The care providers market can be approached in two ways: by segment or by clinical picture (clinical picture management)</a:t>
            </a:r>
          </a:p>
        </p:txBody>
      </p:sp>
      <p:sp>
        <p:nvSpPr>
          <p:cNvPr id="48130" name="Text Box 3">
            <a:extLst>
              <a:ext uri="{FF2B5EF4-FFF2-40B4-BE49-F238E27FC236}">
                <a16:creationId xmlns:a16="http://schemas.microsoft.com/office/drawing/2014/main" id="{32903709-197D-849E-8037-13A35BC99FE8}"/>
              </a:ext>
            </a:extLst>
          </p:cNvPr>
          <p:cNvSpPr txBox="1">
            <a:spLocks noChangeArrowheads="1"/>
          </p:cNvSpPr>
          <p:nvPr/>
        </p:nvSpPr>
        <p:spPr bwMode="gray">
          <a:xfrm>
            <a:off x="687388" y="5584825"/>
            <a:ext cx="19288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200" b="0">
                <a:ea typeface="굴림" panose="020b0600000101010101" pitchFamily="34" charset="-127"/>
              </a:rPr>
              <a:t>Elimination of ‘unneeded’ chain costs</a:t>
            </a:r>
          </a:p>
        </p:txBody>
      </p:sp>
      <p:sp>
        <p:nvSpPr>
          <p:cNvPr id="48131" name="Rectangle 4">
            <a:extLst>
              <a:ext uri="{FF2B5EF4-FFF2-40B4-BE49-F238E27FC236}">
                <a16:creationId xmlns:a16="http://schemas.microsoft.com/office/drawing/2014/main" id="{3A0B31FE-8E5C-A6B2-FA1E-B8F751FD033C}"/>
              </a:ext>
            </a:extLst>
          </p:cNvPr>
          <p:cNvSpPr>
            <a:spLocks noChangeArrowheads="1"/>
          </p:cNvSpPr>
          <p:nvPr/>
        </p:nvSpPr>
        <p:spPr bwMode="gray">
          <a:xfrm>
            <a:off x="6554788" y="3987800"/>
            <a:ext cx="3098800" cy="1403350"/>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36576" bIns="36576"/>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FontTx/>
              <a:buChar char="•"/>
            </a:pPr>
            <a:r>
              <a:rPr lang="en-US" altLang="ko-KR" sz="1200" b="0">
                <a:ea typeface="굴림" panose="020b0600000101010101" pitchFamily="34" charset="-127"/>
              </a:rPr>
              <a:t>Geared towards the elimination of unneeded chain costs</a:t>
            </a:r>
          </a:p>
          <a:p>
            <a:pPr>
              <a:spcBef>
                <a:spcPct val="20000"/>
              </a:spcBef>
              <a:buFontTx/>
              <a:buChar char="•"/>
            </a:pPr>
            <a:r>
              <a:rPr lang="en-US" altLang="ko-KR" sz="1200" b="0">
                <a:ea typeface="굴림" panose="020b0600000101010101" pitchFamily="34" charset="-127"/>
              </a:rPr>
              <a:t>Directed communication towards specific target groups is possible</a:t>
            </a:r>
          </a:p>
          <a:p>
            <a:pPr>
              <a:spcBef>
                <a:spcPct val="20000"/>
              </a:spcBef>
              <a:buFontTx/>
              <a:buChar char="•"/>
            </a:pPr>
            <a:r>
              <a:rPr lang="en-US" altLang="ko-KR" sz="1200" b="0">
                <a:ea typeface="굴림" panose="020b0600000101010101" pitchFamily="34" charset="-127"/>
              </a:rPr>
              <a:t>Relatively easy to explain in a positive way to target groups</a:t>
            </a:r>
          </a:p>
        </p:txBody>
      </p:sp>
      <p:sp>
        <p:nvSpPr>
          <p:cNvPr id="48132" name="Rectangle 5">
            <a:extLst>
              <a:ext uri="{FF2B5EF4-FFF2-40B4-BE49-F238E27FC236}">
                <a16:creationId xmlns:a16="http://schemas.microsoft.com/office/drawing/2014/main" id="{643E4287-94BF-C814-7C74-85EFE5452AEF}"/>
              </a:ext>
            </a:extLst>
          </p:cNvPr>
          <p:cNvSpPr>
            <a:spLocks noChangeArrowheads="1"/>
          </p:cNvSpPr>
          <p:nvPr/>
        </p:nvSpPr>
        <p:spPr bwMode="gray">
          <a:xfrm>
            <a:off x="6554788" y="2182813"/>
            <a:ext cx="3098800" cy="1260475"/>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36576" bIns="36576"/>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FontTx/>
              <a:buChar char="•"/>
            </a:pPr>
            <a:r>
              <a:rPr lang="en-US" altLang="ko-KR" sz="1200" b="0">
                <a:ea typeface="굴림" panose="020b0600000101010101" pitchFamily="34" charset="-127"/>
              </a:rPr>
              <a:t>Maximum scale size through the application of specific procurement tools, such as commercial (tariff) negotiations</a:t>
            </a:r>
          </a:p>
          <a:p>
            <a:pPr>
              <a:spcBef>
                <a:spcPct val="20000"/>
              </a:spcBef>
              <a:buFontTx/>
              <a:buChar char="•"/>
            </a:pPr>
            <a:r>
              <a:rPr lang="en-US" altLang="ko-KR" sz="1200" b="0">
                <a:ea typeface="굴림" panose="020b0600000101010101" pitchFamily="34" charset="-127"/>
              </a:rPr>
              <a:t>Chance of confrontation with certain groups of care providers</a:t>
            </a:r>
          </a:p>
        </p:txBody>
      </p:sp>
      <p:sp>
        <p:nvSpPr>
          <p:cNvPr id="48133" name="Rectangle 6">
            <a:extLst>
              <a:ext uri="{FF2B5EF4-FFF2-40B4-BE49-F238E27FC236}">
                <a16:creationId xmlns:a16="http://schemas.microsoft.com/office/drawing/2014/main" id="{6A88AB90-5E90-A58C-74BE-6826172F630C}"/>
              </a:ext>
            </a:extLst>
          </p:cNvPr>
          <p:cNvSpPr>
            <a:spLocks noChangeArrowheads="1"/>
          </p:cNvSpPr>
          <p:nvPr/>
        </p:nvSpPr>
        <p:spPr bwMode="gray">
          <a:xfrm>
            <a:off x="5276850" y="2259013"/>
            <a:ext cx="630238" cy="2878137"/>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Etc.</a:t>
            </a:r>
          </a:p>
        </p:txBody>
      </p:sp>
      <p:sp>
        <p:nvSpPr>
          <p:cNvPr id="48134" name="Rectangle 7">
            <a:extLst>
              <a:ext uri="{FF2B5EF4-FFF2-40B4-BE49-F238E27FC236}">
                <a16:creationId xmlns:a16="http://schemas.microsoft.com/office/drawing/2014/main" id="{9D346EC6-A420-E98A-C18F-B5454AD5B0D1}"/>
              </a:ext>
            </a:extLst>
          </p:cNvPr>
          <p:cNvSpPr>
            <a:spLocks noChangeArrowheads="1"/>
          </p:cNvSpPr>
          <p:nvPr/>
        </p:nvSpPr>
        <p:spPr bwMode="gray">
          <a:xfrm>
            <a:off x="3859213" y="2255838"/>
            <a:ext cx="627062" cy="2878137"/>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Para-medics</a:t>
            </a:r>
          </a:p>
        </p:txBody>
      </p:sp>
      <p:sp>
        <p:nvSpPr>
          <p:cNvPr id="48135" name="Rectangle 8">
            <a:extLst>
              <a:ext uri="{FF2B5EF4-FFF2-40B4-BE49-F238E27FC236}">
                <a16:creationId xmlns:a16="http://schemas.microsoft.com/office/drawing/2014/main" id="{FCCCFCD7-2873-8B28-8B24-3EA36C3EAE1A}"/>
              </a:ext>
            </a:extLst>
          </p:cNvPr>
          <p:cNvSpPr>
            <a:spLocks noChangeArrowheads="1"/>
          </p:cNvSpPr>
          <p:nvPr/>
        </p:nvSpPr>
        <p:spPr bwMode="gray">
          <a:xfrm>
            <a:off x="3160713" y="2247900"/>
            <a:ext cx="628650" cy="2878138"/>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Spec-ialists</a:t>
            </a:r>
          </a:p>
        </p:txBody>
      </p:sp>
      <p:sp>
        <p:nvSpPr>
          <p:cNvPr id="48136" name="Rectangle 9">
            <a:extLst>
              <a:ext uri="{FF2B5EF4-FFF2-40B4-BE49-F238E27FC236}">
                <a16:creationId xmlns:a16="http://schemas.microsoft.com/office/drawing/2014/main" id="{0E9AD9E2-2F01-98C9-E4C3-C7E47B2ADEBD}"/>
              </a:ext>
            </a:extLst>
          </p:cNvPr>
          <p:cNvSpPr>
            <a:spLocks noChangeArrowheads="1"/>
          </p:cNvSpPr>
          <p:nvPr/>
        </p:nvSpPr>
        <p:spPr bwMode="gray">
          <a:xfrm>
            <a:off x="1066800" y="2251075"/>
            <a:ext cx="628650" cy="2878138"/>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Hospital nursing</a:t>
            </a:r>
          </a:p>
        </p:txBody>
      </p:sp>
      <p:sp>
        <p:nvSpPr>
          <p:cNvPr id="48137" name="Rectangle 10">
            <a:extLst>
              <a:ext uri="{FF2B5EF4-FFF2-40B4-BE49-F238E27FC236}">
                <a16:creationId xmlns:a16="http://schemas.microsoft.com/office/drawing/2014/main" id="{BD1406C9-CAFF-ED21-F658-8BA7F8975F15}"/>
              </a:ext>
            </a:extLst>
          </p:cNvPr>
          <p:cNvSpPr>
            <a:spLocks noChangeArrowheads="1"/>
          </p:cNvSpPr>
          <p:nvPr/>
        </p:nvSpPr>
        <p:spPr bwMode="gray">
          <a:xfrm>
            <a:off x="2457450" y="2259013"/>
            <a:ext cx="630238" cy="2878137"/>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Health aids</a:t>
            </a:r>
          </a:p>
        </p:txBody>
      </p:sp>
      <p:sp>
        <p:nvSpPr>
          <p:cNvPr id="48138" name="Rectangle 11">
            <a:extLst>
              <a:ext uri="{FF2B5EF4-FFF2-40B4-BE49-F238E27FC236}">
                <a16:creationId xmlns:a16="http://schemas.microsoft.com/office/drawing/2014/main" id="{7C129E9D-113B-7368-7185-8EE003EFDB04}"/>
              </a:ext>
            </a:extLst>
          </p:cNvPr>
          <p:cNvSpPr>
            <a:spLocks noChangeArrowheads="1"/>
          </p:cNvSpPr>
          <p:nvPr/>
        </p:nvSpPr>
        <p:spPr bwMode="gray">
          <a:xfrm>
            <a:off x="1768475" y="2254250"/>
            <a:ext cx="630238" cy="2876550"/>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Pharm-acies</a:t>
            </a:r>
          </a:p>
        </p:txBody>
      </p:sp>
      <p:sp>
        <p:nvSpPr>
          <p:cNvPr id="48139" name="Rectangle 12">
            <a:extLst>
              <a:ext uri="{FF2B5EF4-FFF2-40B4-BE49-F238E27FC236}">
                <a16:creationId xmlns:a16="http://schemas.microsoft.com/office/drawing/2014/main" id="{404DA315-FAC8-B14D-00F3-FC65D8EDB8E5}"/>
              </a:ext>
            </a:extLst>
          </p:cNvPr>
          <p:cNvSpPr>
            <a:spLocks noChangeArrowheads="1"/>
          </p:cNvSpPr>
          <p:nvPr/>
        </p:nvSpPr>
        <p:spPr bwMode="gray">
          <a:xfrm>
            <a:off x="4551363" y="2251075"/>
            <a:ext cx="627062" cy="2878138"/>
          </a:xfrm>
          <a:prstGeom prst="rect">
            <a:avLst/>
          </a:prstGeom>
          <a:solidFill>
            <a:srgbClr val="0070C0"/>
          </a:solidFill>
          <a:ln w="9525">
            <a:solidFill>
              <a:schemeClr val="tx1"/>
            </a:solidFill>
            <a:miter lim="800000"/>
          </a:ln>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000" i="1">
                <a:solidFill>
                  <a:schemeClr val="bg1"/>
                </a:solidFill>
                <a:ea typeface="굴림" panose="020b0600000101010101" pitchFamily="34" charset="-127"/>
              </a:rPr>
              <a:t>General Practit-ioners</a:t>
            </a:r>
          </a:p>
        </p:txBody>
      </p:sp>
      <p:sp>
        <p:nvSpPr>
          <p:cNvPr id="48140" name="Rectangle 13">
            <a:extLst>
              <a:ext uri="{FF2B5EF4-FFF2-40B4-BE49-F238E27FC236}">
                <a16:creationId xmlns:a16="http://schemas.microsoft.com/office/drawing/2014/main" id="{5112974B-32DE-1C1A-EE18-4AA39ADC3E98}"/>
              </a:ext>
            </a:extLst>
          </p:cNvPr>
          <p:cNvSpPr>
            <a:spLocks noChangeArrowheads="1"/>
          </p:cNvSpPr>
          <p:nvPr/>
        </p:nvSpPr>
        <p:spPr bwMode="gray">
          <a:xfrm>
            <a:off x="266700" y="4059238"/>
            <a:ext cx="5837238" cy="546100"/>
          </a:xfrm>
          <a:prstGeom prst="rect">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8572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20000"/>
              </a:spcBef>
              <a:buClrTx/>
              <a:buFontTx/>
              <a:buNone/>
            </a:pPr>
            <a:r>
              <a:rPr lang="en-US" altLang="ko-KR" sz="1200" i="1">
                <a:ea typeface="굴림" panose="020b0600000101010101" pitchFamily="34" charset="-127"/>
              </a:rPr>
              <a:t>Clinical picture</a:t>
            </a:r>
          </a:p>
        </p:txBody>
      </p:sp>
      <p:sp>
        <p:nvSpPr>
          <p:cNvPr id="48141" name="AutoShape 14">
            <a:extLst>
              <a:ext uri="{FF2B5EF4-FFF2-40B4-BE49-F238E27FC236}">
                <a16:creationId xmlns:a16="http://schemas.microsoft.com/office/drawing/2014/main" id="{8CDC7472-F7DD-C67B-137D-D91D6BDC0585}"/>
              </a:ext>
            </a:extLst>
          </p:cNvPr>
          <p:cNvSpPr>
            <a:spLocks noChangeArrowheads="1"/>
          </p:cNvSpPr>
          <p:nvPr/>
        </p:nvSpPr>
        <p:spPr bwMode="gray">
          <a:xfrm>
            <a:off x="563563" y="2128838"/>
            <a:ext cx="438150" cy="527050"/>
          </a:xfrm>
          <a:prstGeom prst="downArrow">
            <a:avLst>
              <a:gd name="adj1" fmla="val 50000"/>
              <a:gd name="adj2" fmla="val 30072"/>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48142" name="Text Box 15">
            <a:extLst>
              <a:ext uri="{FF2B5EF4-FFF2-40B4-BE49-F238E27FC236}">
                <a16:creationId xmlns:a16="http://schemas.microsoft.com/office/drawing/2014/main" id="{0D052BFB-7FDB-4EB6-4F52-C6031C8E18E1}"/>
              </a:ext>
            </a:extLst>
          </p:cNvPr>
          <p:cNvSpPr txBox="1">
            <a:spLocks noChangeArrowheads="1"/>
          </p:cNvSpPr>
          <p:nvPr/>
        </p:nvSpPr>
        <p:spPr bwMode="gray">
          <a:xfrm>
            <a:off x="250825" y="1350963"/>
            <a:ext cx="1414463"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20000"/>
              </a:spcBef>
              <a:buClrTx/>
              <a:buFontTx/>
              <a:buNone/>
            </a:pPr>
            <a:r>
              <a:rPr lang="en-US" altLang="ko-KR" sz="1200" b="0">
                <a:ea typeface="굴림" panose="020b0600000101010101" pitchFamily="34" charset="-127"/>
              </a:rPr>
              <a:t>Optimal</a:t>
            </a:r>
            <a:br>
              <a:rPr lang="en-US" altLang="ko-KR" sz="1200" b="0">
                <a:ea typeface="굴림" panose="020b0600000101010101" pitchFamily="34" charset="-127"/>
              </a:rPr>
            </a:br>
            <a:r>
              <a:rPr lang="en-US" altLang="ko-KR" sz="1200" b="0">
                <a:ea typeface="굴림" panose="020b0600000101010101" pitchFamily="34" charset="-127"/>
              </a:rPr>
              <a:t>scale size for tariff negotiations</a:t>
            </a:r>
          </a:p>
        </p:txBody>
      </p:sp>
      <p:sp>
        <p:nvSpPr>
          <p:cNvPr id="48143" name="AutoShape 16">
            <a:extLst>
              <a:ext uri="{FF2B5EF4-FFF2-40B4-BE49-F238E27FC236}">
                <a16:creationId xmlns:a16="http://schemas.microsoft.com/office/drawing/2014/main" id="{8A18FBD1-4967-F2A7-E617-E8018A9316E0}"/>
              </a:ext>
            </a:extLst>
          </p:cNvPr>
          <p:cNvSpPr>
            <a:spLocks noChangeArrowheads="1"/>
          </p:cNvSpPr>
          <p:nvPr/>
        </p:nvSpPr>
        <p:spPr bwMode="gray">
          <a:xfrm rot="-5400000">
            <a:off x="1279526" y="5113337"/>
            <a:ext cx="436562" cy="525463"/>
          </a:xfrm>
          <a:prstGeom prst="downArrow">
            <a:avLst>
              <a:gd name="adj1" fmla="val 50000"/>
              <a:gd name="adj2" fmla="val 30091"/>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48144" name="AutoShape 17">
            <a:extLst>
              <a:ext uri="{FF2B5EF4-FFF2-40B4-BE49-F238E27FC236}">
                <a16:creationId xmlns:a16="http://schemas.microsoft.com/office/drawing/2014/main" id="{D5532063-77C9-F8F4-260A-449EF8840DB1}"/>
              </a:ext>
            </a:extLst>
          </p:cNvPr>
          <p:cNvSpPr>
            <a:spLocks noChangeArrowheads="1"/>
          </p:cNvSpPr>
          <p:nvPr/>
        </p:nvSpPr>
        <p:spPr bwMode="gray">
          <a:xfrm rot="5400000">
            <a:off x="4942682" y="3545681"/>
            <a:ext cx="2743200" cy="293687"/>
          </a:xfrm>
          <a:prstGeom prst="triangle">
            <a:avLst>
              <a:gd name="adj" fmla="val 50000"/>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4D4D"/>
                  </a:outerShdw>
                </a:effectLst>
              </a14:hiddenEffects>
            </a:ext>
          </a:extLst>
        </p:spPr>
        <p:txBody>
          <a:bodyPr rot="10800000" vert="eaVert"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71500"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714500"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286000"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7432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32004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6576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41148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en-GB" altLang="ko-KR" sz="1200">
              <a:ea typeface="가는각진제목체" panose="02030600000101010101" pitchFamily="18" charset="-127"/>
            </a:endParaRPr>
          </a:p>
        </p:txBody>
      </p:sp>
      <p:sp>
        <p:nvSpPr>
          <p:cNvPr id="48145" name="Text Box 18">
            <a:extLst>
              <a:ext uri="{FF2B5EF4-FFF2-40B4-BE49-F238E27FC236}">
                <a16:creationId xmlns:a16="http://schemas.microsoft.com/office/drawing/2014/main" id="{88C9CA2D-0B35-0199-C276-B15588BA1DD1}"/>
              </a:ext>
            </a:extLst>
          </p:cNvPr>
          <p:cNvSpPr txBox="1">
            <a:spLocks noChangeArrowheads="1"/>
          </p:cNvSpPr>
          <p:nvPr/>
        </p:nvSpPr>
        <p:spPr bwMode="gray">
          <a:xfrm>
            <a:off x="6554788" y="1846263"/>
            <a:ext cx="3098800" cy="347662"/>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200">
                <a:ea typeface="굴림" panose="020b0600000101010101" pitchFamily="34" charset="-127"/>
              </a:rPr>
              <a:t>Segment approach</a:t>
            </a:r>
          </a:p>
        </p:txBody>
      </p:sp>
      <p:sp>
        <p:nvSpPr>
          <p:cNvPr id="48146" name="Text Box 19">
            <a:extLst>
              <a:ext uri="{FF2B5EF4-FFF2-40B4-BE49-F238E27FC236}">
                <a16:creationId xmlns:a16="http://schemas.microsoft.com/office/drawing/2014/main" id="{13342B15-907A-2D82-1968-0FB84DE834A6}"/>
              </a:ext>
            </a:extLst>
          </p:cNvPr>
          <p:cNvSpPr txBox="1">
            <a:spLocks noChangeArrowheads="1"/>
          </p:cNvSpPr>
          <p:nvPr/>
        </p:nvSpPr>
        <p:spPr bwMode="gray">
          <a:xfrm>
            <a:off x="6554788" y="3644900"/>
            <a:ext cx="3098800" cy="347663"/>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200">
                <a:ea typeface="굴림" panose="020b0600000101010101" pitchFamily="34" charset="-127"/>
              </a:rPr>
              <a:t>Clinical picture approach</a:t>
            </a:r>
          </a:p>
        </p:txBody>
      </p:sp>
      <p:sp>
        <p:nvSpPr>
          <p:cNvPr id="48147" name="Text Box 20">
            <a:extLst>
              <a:ext uri="{FF2B5EF4-FFF2-40B4-BE49-F238E27FC236}">
                <a16:creationId xmlns:a16="http://schemas.microsoft.com/office/drawing/2014/main" id="{73DF3580-76F2-7257-57F9-4DD2F10DDB58}"/>
              </a:ext>
            </a:extLst>
          </p:cNvPr>
          <p:cNvSpPr txBox="1">
            <a:spLocks noChangeArrowheads="1"/>
          </p:cNvSpPr>
          <p:nvPr/>
        </p:nvSpPr>
        <p:spPr bwMode="gray">
          <a:xfrm>
            <a:off x="573088" y="6015038"/>
            <a:ext cx="8753475" cy="6096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ko-KR" sz="1800">
                <a:solidFill>
                  <a:schemeClr val="bg1"/>
                </a:solidFill>
                <a:ea typeface="굴림" panose="020b0600000101010101" pitchFamily="34" charset="-127"/>
              </a:rPr>
              <a:t>These two dimensions require specific procurement processes and an organizational structure in which they can find an optimal place</a:t>
            </a:r>
          </a:p>
        </p:txBody>
      </p:sp>
      <p:sp>
        <p:nvSpPr>
          <p:cNvPr id="48148" name="Text Box 21">
            <a:extLst>
              <a:ext uri="{FF2B5EF4-FFF2-40B4-BE49-F238E27FC236}">
                <a16:creationId xmlns:a16="http://schemas.microsoft.com/office/drawing/2014/main" id="{EE5D8A85-FC50-C0B0-BF99-710E767374B9}"/>
              </a:ext>
            </a:extLst>
          </p:cNvPr>
          <p:cNvSpPr txBox="1">
            <a:spLocks noChangeArrowheads="1"/>
          </p:cNvSpPr>
          <p:nvPr/>
        </p:nvSpPr>
        <p:spPr bwMode="auto">
          <a:xfrm>
            <a:off x="7491413" y="227013"/>
            <a:ext cx="2074862" cy="182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100000"/>
              </a:lnSpc>
              <a:spcBef>
                <a:spcPct val="50000"/>
              </a:spcBef>
              <a:buClrTx/>
              <a:buFontTx/>
              <a:buNone/>
            </a:pPr>
            <a:r>
              <a:rPr lang="en-US" altLang="ko-KR" sz="1200" b="0">
                <a:ea typeface="굴림" panose="020b0600000101010101" pitchFamily="34" charset="-127"/>
              </a:rPr>
              <a:t>Clinical picture management</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2225" name="Rectangle 2">
            <a:extLst>
              <a:ext uri="{FF2B5EF4-FFF2-40B4-BE49-F238E27FC236}">
                <a16:creationId xmlns:a16="http://schemas.microsoft.com/office/drawing/2014/main" id="{BF847BE7-34F7-0D9B-9032-0A82BDB6E6CA}"/>
              </a:ext>
            </a:extLst>
          </p:cNvPr>
          <p:cNvSpPr>
            <a:spLocks noGrp="1" noChangeArrowheads="1"/>
          </p:cNvSpPr>
          <p:nvPr>
            <p:ph type="title"/>
          </p:nvPr>
        </p:nvSpPr>
        <p:spPr>
          <a:xfrm>
            <a:off x="266700" y="596900"/>
            <a:ext cx="9367838" cy="657225"/>
          </a:xfrm>
        </p:spPr>
        <p:txBody>
          <a:bodyPr/>
          <a:lstStyle/>
          <a:p>
            <a:r>
              <a:rPr lang="en-US" altLang="ko-KR">
                <a:ea typeface="굴림" panose="020b0600000101010101" pitchFamily="34" charset="-127"/>
              </a:rPr>
              <a:t>Estimated development effort was expected to decrease significantly in the blueprint phase</a:t>
            </a:r>
          </a:p>
        </p:txBody>
      </p:sp>
      <p:sp>
        <p:nvSpPr>
          <p:cNvPr id="52226" name="AutoShape 3">
            <a:extLst>
              <a:ext uri="{FF2B5EF4-FFF2-40B4-BE49-F238E27FC236}">
                <a16:creationId xmlns:a16="http://schemas.microsoft.com/office/drawing/2014/main" id="{A1E6DBA2-276A-E044-683C-DB2920D63817}"/>
              </a:ext>
            </a:extLst>
          </p:cNvPr>
          <p:cNvSpPr>
            <a:spLocks noChangeArrowheads="1"/>
          </p:cNvSpPr>
          <p:nvPr/>
        </p:nvSpPr>
        <p:spPr bwMode="auto">
          <a:xfrm rot="5400000">
            <a:off x="3735388" y="3946525"/>
            <a:ext cx="2967037" cy="290513"/>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de-DE" altLang="ko-KR" sz="1400" b="0">
              <a:ea typeface="가는각진제목체" panose="02030600000101010101" pitchFamily="18" charset="-127"/>
            </a:endParaRPr>
          </a:p>
        </p:txBody>
      </p:sp>
      <p:sp>
        <p:nvSpPr>
          <p:cNvPr id="52227" name="Rectangle 4">
            <a:extLst>
              <a:ext uri="{FF2B5EF4-FFF2-40B4-BE49-F238E27FC236}">
                <a16:creationId xmlns:a16="http://schemas.microsoft.com/office/drawing/2014/main" id="{900454AB-1EDF-A62D-2E07-EE5B4BFCB8C4}"/>
              </a:ext>
            </a:extLst>
          </p:cNvPr>
          <p:cNvSpPr>
            <a:spLocks noGrp="1" noChangeArrowheads="1"/>
          </p:cNvSpPr>
          <p:nvPr>
            <p:ph type="body" idx="1"/>
          </p:nvPr>
        </p:nvSpPr>
        <p:spPr>
          <a:xfrm>
            <a:off x="5678488" y="2473325"/>
            <a:ext cx="3956050" cy="2601463"/>
          </a:xfrm>
          <a:noFill/>
          <a:ln w="12700" algn="ctr">
            <a:solidFill>
              <a:schemeClr val="tx1"/>
            </a:solidFill>
            <a:miter lim="800000"/>
          </a:ln>
        </p:spPr>
        <p:txBody>
          <a:bodyPr lIns="72000" tIns="72000" rIns="72000" bIns="72000"/>
          <a:lstStyle/>
          <a:p>
            <a:pPr>
              <a:spcBef>
                <a:spcPct val="10000"/>
              </a:spcBef>
              <a:buClr>
                <a:srgbClr val="00B0F0"/>
              </a:buClr>
            </a:pPr>
            <a:r>
              <a:rPr lang="en-US" altLang="ko-KR" sz="1200" b="1">
                <a:ea typeface="굴림" panose="020b0600000101010101" pitchFamily="34" charset="-127"/>
              </a:rPr>
              <a:t>Reduce estimated development effort by  the agreed standard approach in the blueprint</a:t>
            </a:r>
          </a:p>
          <a:p>
            <a:pPr>
              <a:spcBef>
                <a:spcPct val="10000"/>
              </a:spcBef>
              <a:buClr>
                <a:srgbClr val="00B0F0"/>
              </a:buClr>
            </a:pPr>
            <a:r>
              <a:rPr lang="en-US" altLang="ko-KR" sz="1200" b="1">
                <a:ea typeface="굴림" panose="020b0600000101010101" pitchFamily="34" charset="-127"/>
              </a:rPr>
              <a:t>Exit clause to be enforced after the blueprint if:</a:t>
            </a:r>
          </a:p>
          <a:p>
            <a:pPr lvl="1">
              <a:spcBef>
                <a:spcPct val="10000"/>
              </a:spcBef>
              <a:buClr>
                <a:srgbClr val="00B0F0"/>
              </a:buClr>
            </a:pPr>
            <a:r>
              <a:rPr lang="en-US" altLang="ko-KR" sz="1200">
                <a:ea typeface="굴림" panose="020b0600000101010101" pitchFamily="34" charset="-127"/>
              </a:rPr>
              <a:t>Business blueprint is not approved and signed by the Steering Committee if:</a:t>
            </a:r>
          </a:p>
          <a:p>
            <a:pPr lvl="2">
              <a:spcBef>
                <a:spcPct val="10000"/>
              </a:spcBef>
              <a:buClr>
                <a:srgbClr val="00B0F0"/>
              </a:buClr>
            </a:pPr>
            <a:r>
              <a:rPr lang="en-US" altLang="ko-KR" sz="1200">
                <a:ea typeface="굴림" panose="020b0600000101010101" pitchFamily="34" charset="-127"/>
              </a:rPr>
              <a:t>business processes design is not appropriate or complete </a:t>
            </a:r>
          </a:p>
          <a:p>
            <a:pPr lvl="2">
              <a:spcBef>
                <a:spcPct val="10000"/>
              </a:spcBef>
              <a:buClr>
                <a:srgbClr val="00B0F0"/>
              </a:buClr>
            </a:pPr>
            <a:r>
              <a:rPr lang="en-US" altLang="ko-KR" sz="1200">
                <a:ea typeface="굴림" panose="020b0600000101010101" pitchFamily="34" charset="-127"/>
              </a:rPr>
              <a:t>Project objective of relying on not achieved</a:t>
            </a:r>
          </a:p>
          <a:p>
            <a:pPr lvl="2">
              <a:spcBef>
                <a:spcPct val="10000"/>
              </a:spcBef>
              <a:buClr>
                <a:srgbClr val="00B0F0"/>
              </a:buClr>
            </a:pPr>
            <a:r>
              <a:rPr lang="en-US" altLang="ko-KR" sz="1200">
                <a:ea typeface="굴림" panose="020b0600000101010101" pitchFamily="34" charset="-127"/>
              </a:rPr>
              <a:t>…other criteria to be defined</a:t>
            </a:r>
          </a:p>
          <a:p>
            <a:pPr>
              <a:spcBef>
                <a:spcPct val="10000"/>
              </a:spcBef>
              <a:buClr>
                <a:srgbClr val="00B0F0"/>
              </a:buClr>
            </a:pPr>
            <a:r>
              <a:rPr lang="en-US" altLang="ko-KR" sz="1200" b="1">
                <a:ea typeface="굴림" panose="020b0600000101010101" pitchFamily="34" charset="-127"/>
              </a:rPr>
              <a:t>If the exit clause is enforced,  can perform the realization with another implementer</a:t>
            </a:r>
          </a:p>
          <a:p>
            <a:pPr>
              <a:spcBef>
                <a:spcPct val="10000"/>
              </a:spcBef>
              <a:buClr>
                <a:srgbClr val="00B0F0"/>
              </a:buClr>
            </a:pPr>
            <a:r>
              <a:rPr lang="en-US" altLang="ko-KR" sz="1200">
                <a:ea typeface="굴림" panose="020b0600000101010101" pitchFamily="34" charset="-127"/>
              </a:rPr>
              <a:t>In order to prepare this option, the implementation service should be screened during the blueprint phase</a:t>
            </a:r>
          </a:p>
        </p:txBody>
      </p:sp>
      <p:sp>
        <p:nvSpPr>
          <p:cNvPr id="52228" name="Text Box 5">
            <a:extLst>
              <a:ext uri="{FF2B5EF4-FFF2-40B4-BE49-F238E27FC236}">
                <a16:creationId xmlns:a16="http://schemas.microsoft.com/office/drawing/2014/main" id="{E189756C-6B09-ADFE-6375-750AFA1A3990}"/>
              </a:ext>
            </a:extLst>
          </p:cNvPr>
          <p:cNvSpPr txBox="1">
            <a:spLocks noChangeArrowheads="1"/>
          </p:cNvSpPr>
          <p:nvPr/>
        </p:nvSpPr>
        <p:spPr bwMode="auto">
          <a:xfrm>
            <a:off x="271463" y="5975350"/>
            <a:ext cx="9507537" cy="3762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sz="1800">
                <a:solidFill>
                  <a:schemeClr val="bg1"/>
                </a:solidFill>
                <a:ea typeface="굴림" panose="020b0600000101010101" pitchFamily="34" charset="-127"/>
              </a:rPr>
              <a:t>The approach needs to be closely steered by the PMO</a:t>
            </a:r>
          </a:p>
        </p:txBody>
      </p:sp>
      <p:sp>
        <p:nvSpPr>
          <p:cNvPr id="52229" name="Rectangle 6">
            <a:extLst>
              <a:ext uri="{FF2B5EF4-FFF2-40B4-BE49-F238E27FC236}">
                <a16:creationId xmlns:a16="http://schemas.microsoft.com/office/drawing/2014/main" id="{AE42A213-DF70-4D69-111F-2E4830AF9DD9}"/>
              </a:ext>
            </a:extLst>
          </p:cNvPr>
          <p:cNvSpPr>
            <a:spLocks noChangeArrowheads="1"/>
          </p:cNvSpPr>
          <p:nvPr/>
        </p:nvSpPr>
        <p:spPr bwMode="auto">
          <a:xfrm>
            <a:off x="3975100" y="6443663"/>
            <a:ext cx="236538" cy="104775"/>
          </a:xfrm>
          <a:prstGeom prst="rect">
            <a:avLst/>
          </a:prstGeom>
          <a:solidFill>
            <a:schemeClr val="accent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2230" name="Text Box 7">
            <a:extLst>
              <a:ext uri="{FF2B5EF4-FFF2-40B4-BE49-F238E27FC236}">
                <a16:creationId xmlns:a16="http://schemas.microsoft.com/office/drawing/2014/main" id="{79B393DB-5165-37AB-D92B-25E9E9B5A71B}"/>
              </a:ext>
            </a:extLst>
          </p:cNvPr>
          <p:cNvSpPr txBox="1">
            <a:spLocks noChangeArrowheads="1"/>
          </p:cNvSpPr>
          <p:nvPr/>
        </p:nvSpPr>
        <p:spPr bwMode="auto">
          <a:xfrm>
            <a:off x="4279900" y="6454775"/>
            <a:ext cx="2093913"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000" b="0">
                <a:ea typeface="굴림" panose="020b0600000101010101" pitchFamily="34" charset="-127"/>
              </a:rPr>
              <a:t>Price established in the contract</a:t>
            </a:r>
          </a:p>
        </p:txBody>
      </p:sp>
      <p:sp>
        <p:nvSpPr>
          <p:cNvPr id="52231" name="Rectangle 8">
            <a:extLst>
              <a:ext uri="{FF2B5EF4-FFF2-40B4-BE49-F238E27FC236}">
                <a16:creationId xmlns:a16="http://schemas.microsoft.com/office/drawing/2014/main" id="{29A370BB-D4C4-618D-B5F9-AA8E8AC08DEA}"/>
              </a:ext>
            </a:extLst>
          </p:cNvPr>
          <p:cNvSpPr>
            <a:spLocks noChangeArrowheads="1"/>
          </p:cNvSpPr>
          <p:nvPr/>
        </p:nvSpPr>
        <p:spPr bwMode="auto">
          <a:xfrm>
            <a:off x="280988" y="6461125"/>
            <a:ext cx="236537" cy="104775"/>
          </a:xfrm>
          <a:prstGeom prst="rect">
            <a:avLst/>
          </a:prstGeom>
          <a:solidFill>
            <a:srgbClr val="0070C0"/>
          </a:solidFill>
          <a:ln w="12700" algn="ctr">
            <a:solidFill>
              <a:schemeClr val="tx1"/>
            </a:solidFill>
            <a:miter lim="800000"/>
          </a:ln>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2232" name="Text Box 9">
            <a:extLst>
              <a:ext uri="{FF2B5EF4-FFF2-40B4-BE49-F238E27FC236}">
                <a16:creationId xmlns:a16="http://schemas.microsoft.com/office/drawing/2014/main" id="{1B5DB8A0-C929-53D9-AE7A-7D53F07FCB3E}"/>
              </a:ext>
            </a:extLst>
          </p:cNvPr>
          <p:cNvSpPr txBox="1">
            <a:spLocks noChangeArrowheads="1"/>
          </p:cNvSpPr>
          <p:nvPr/>
        </p:nvSpPr>
        <p:spPr bwMode="auto">
          <a:xfrm>
            <a:off x="585788" y="6437313"/>
            <a:ext cx="316230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000" b="0">
                <a:ea typeface="굴림" panose="020b0600000101010101" pitchFamily="34" charset="-127"/>
              </a:rPr>
              <a:t>Price to be reviewed at the end of blueprint phase</a:t>
            </a:r>
          </a:p>
        </p:txBody>
      </p:sp>
      <p:sp>
        <p:nvSpPr>
          <p:cNvPr id="52233" name="Rectangle 10">
            <a:extLst>
              <a:ext uri="{FF2B5EF4-FFF2-40B4-BE49-F238E27FC236}">
                <a16:creationId xmlns:a16="http://schemas.microsoft.com/office/drawing/2014/main" id="{D3FADD86-A316-C64A-8769-33CA6FAE1A7B}"/>
              </a:ext>
            </a:extLst>
          </p:cNvPr>
          <p:cNvSpPr>
            <a:spLocks noChangeArrowheads="1"/>
          </p:cNvSpPr>
          <p:nvPr/>
        </p:nvSpPr>
        <p:spPr bwMode="auto">
          <a:xfrm>
            <a:off x="5678488" y="2105025"/>
            <a:ext cx="3956050" cy="368300"/>
          </a:xfrm>
          <a:prstGeom prst="rect">
            <a:avLst/>
          </a:prstGeom>
          <a:solidFill>
            <a:srgbClr val="0070C0"/>
          </a:solidFill>
          <a:ln w="12700" algn="ctr">
            <a:solidFill>
              <a:schemeClr val="tx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US" altLang="ko-KR" sz="1400">
                <a:solidFill>
                  <a:schemeClr val="bg1"/>
                </a:solidFill>
                <a:ea typeface="굴림" panose="020b0600000101010101" pitchFamily="34" charset="-127"/>
              </a:rPr>
              <a:t>Approach to decrease price </a:t>
            </a:r>
          </a:p>
        </p:txBody>
      </p:sp>
      <p:sp>
        <p:nvSpPr>
          <p:cNvPr id="52234" name="Text Box 11">
            <a:extLst>
              <a:ext uri="{FF2B5EF4-FFF2-40B4-BE49-F238E27FC236}">
                <a16:creationId xmlns:a16="http://schemas.microsoft.com/office/drawing/2014/main" id="{B9B4ADB4-AD20-65FF-D75B-A729953FE654}"/>
              </a:ext>
            </a:extLst>
          </p:cNvPr>
          <p:cNvSpPr txBox="1">
            <a:spLocks noChangeArrowheads="1"/>
          </p:cNvSpPr>
          <p:nvPr/>
        </p:nvSpPr>
        <p:spPr bwMode="auto">
          <a:xfrm>
            <a:off x="266700" y="1617663"/>
            <a:ext cx="6002338" cy="247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ea typeface="굴림" panose="020b0600000101010101" pitchFamily="34" charset="-127"/>
              </a:rPr>
              <a:t>Contract structure proposed to</a:t>
            </a:r>
          </a:p>
        </p:txBody>
      </p:sp>
      <p:sp>
        <p:nvSpPr>
          <p:cNvPr id="52235" name="AutoShape 12">
            <a:extLst>
              <a:ext uri="{FF2B5EF4-FFF2-40B4-BE49-F238E27FC236}">
                <a16:creationId xmlns:a16="http://schemas.microsoft.com/office/drawing/2014/main" id="{BEC042CA-2610-77CB-91BB-5C41EEEC845B}"/>
              </a:ext>
            </a:extLst>
          </p:cNvPr>
          <p:cNvSpPr>
            <a:spLocks noChangeArrowheads="1"/>
          </p:cNvSpPr>
          <p:nvPr/>
        </p:nvSpPr>
        <p:spPr bwMode="auto">
          <a:xfrm>
            <a:off x="1863725" y="2097088"/>
            <a:ext cx="1346200" cy="609600"/>
          </a:xfrm>
          <a:prstGeom prst="homePlate">
            <a:avLst>
              <a:gd name="adj" fmla="val 18065"/>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Blueprint</a:t>
            </a:r>
          </a:p>
        </p:txBody>
      </p:sp>
      <p:sp>
        <p:nvSpPr>
          <p:cNvPr id="52236" name="AutoShape 13">
            <a:extLst>
              <a:ext uri="{FF2B5EF4-FFF2-40B4-BE49-F238E27FC236}">
                <a16:creationId xmlns:a16="http://schemas.microsoft.com/office/drawing/2014/main" id="{4E8C52A5-DB4F-26A5-5C05-1E196380A8C9}"/>
              </a:ext>
            </a:extLst>
          </p:cNvPr>
          <p:cNvSpPr>
            <a:spLocks noChangeArrowheads="1"/>
          </p:cNvSpPr>
          <p:nvPr/>
        </p:nvSpPr>
        <p:spPr bwMode="auto">
          <a:xfrm>
            <a:off x="3325813" y="2097088"/>
            <a:ext cx="1365250" cy="609600"/>
          </a:xfrm>
          <a:prstGeom prst="homePlate">
            <a:avLst>
              <a:gd name="adj" fmla="val 18321"/>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Realization</a:t>
            </a:r>
          </a:p>
        </p:txBody>
      </p:sp>
      <p:sp>
        <p:nvSpPr>
          <p:cNvPr id="52237" name="Oval 14">
            <a:extLst>
              <a:ext uri="{FF2B5EF4-FFF2-40B4-BE49-F238E27FC236}">
                <a16:creationId xmlns:a16="http://schemas.microsoft.com/office/drawing/2014/main" id="{026209BC-F101-BB26-550D-ACE1291F19D1}"/>
              </a:ext>
            </a:extLst>
          </p:cNvPr>
          <p:cNvSpPr>
            <a:spLocks noChangeArrowheads="1"/>
          </p:cNvSpPr>
          <p:nvPr/>
        </p:nvSpPr>
        <p:spPr bwMode="gray">
          <a:xfrm>
            <a:off x="1773238" y="2006600"/>
            <a:ext cx="225425" cy="212725"/>
          </a:xfrm>
          <a:prstGeom prst="ellipse">
            <a:avLst/>
          </a:prstGeom>
          <a:solidFill>
            <a:srgbClr val="0070C0"/>
          </a:solidFill>
          <a:ln w="12700" algn="ctr">
            <a:solidFill>
              <a:schemeClr val="bg1"/>
            </a:solidFill>
            <a:round/>
          </a:ln>
        </p:spPr>
        <p:txBody>
          <a:bodyPr lIns="0" tIns="0" rIns="0" bIns="0" anchor="ctr" anchorCtr="1"/>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a:solidFill>
                  <a:schemeClr val="bg1"/>
                </a:solidFill>
                <a:ea typeface="굴림" panose="020b0600000101010101" pitchFamily="34" charset="-127"/>
              </a:rPr>
              <a:t>2</a:t>
            </a:r>
          </a:p>
        </p:txBody>
      </p:sp>
      <p:sp>
        <p:nvSpPr>
          <p:cNvPr id="52238" name="Oval 15">
            <a:extLst>
              <a:ext uri="{FF2B5EF4-FFF2-40B4-BE49-F238E27FC236}">
                <a16:creationId xmlns:a16="http://schemas.microsoft.com/office/drawing/2014/main" id="{B1BFC5E6-DCE7-AE36-7803-9FDBA6AB0C8C}"/>
              </a:ext>
            </a:extLst>
          </p:cNvPr>
          <p:cNvSpPr>
            <a:spLocks noChangeArrowheads="1"/>
          </p:cNvSpPr>
          <p:nvPr/>
        </p:nvSpPr>
        <p:spPr bwMode="gray">
          <a:xfrm>
            <a:off x="3214688" y="2011363"/>
            <a:ext cx="228600" cy="212725"/>
          </a:xfrm>
          <a:prstGeom prst="ellipse">
            <a:avLst/>
          </a:prstGeom>
          <a:solidFill>
            <a:srgbClr val="0070C0"/>
          </a:solidFill>
          <a:ln w="12700" algn="ctr">
            <a:solidFill>
              <a:schemeClr val="bg1"/>
            </a:solidFill>
            <a:round/>
          </a:ln>
        </p:spPr>
        <p:txBody>
          <a:bodyPr lIns="0" tIns="0" rIns="0" bIns="0" anchor="ctr" anchorCtr="1"/>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a:solidFill>
                  <a:schemeClr val="bg1"/>
                </a:solidFill>
                <a:ea typeface="굴림" panose="020b0600000101010101" pitchFamily="34" charset="-127"/>
              </a:rPr>
              <a:t>3</a:t>
            </a:r>
          </a:p>
        </p:txBody>
      </p:sp>
      <p:sp>
        <p:nvSpPr>
          <p:cNvPr id="52239" name="AutoShape 16">
            <a:extLst>
              <a:ext uri="{FF2B5EF4-FFF2-40B4-BE49-F238E27FC236}">
                <a16:creationId xmlns:a16="http://schemas.microsoft.com/office/drawing/2014/main" id="{DB1A63C9-2620-3964-A6D3-EBDAA157AFD0}"/>
              </a:ext>
            </a:extLst>
          </p:cNvPr>
          <p:cNvSpPr>
            <a:spLocks noChangeArrowheads="1"/>
          </p:cNvSpPr>
          <p:nvPr/>
        </p:nvSpPr>
        <p:spPr bwMode="auto">
          <a:xfrm>
            <a:off x="2049463" y="5314950"/>
            <a:ext cx="1354137" cy="379413"/>
          </a:xfrm>
          <a:prstGeom prst="roundRect">
            <a:avLst>
              <a:gd name="adj" fmla="val 16667"/>
            </a:avLst>
          </a:prstGeom>
          <a:solidFill>
            <a:schemeClr val="folHlink"/>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ea typeface="굴림" panose="020b0600000101010101" pitchFamily="34" charset="-127"/>
              </a:rPr>
              <a:t>Detailed Blueprint</a:t>
            </a:r>
          </a:p>
        </p:txBody>
      </p:sp>
      <p:sp>
        <p:nvSpPr>
          <p:cNvPr id="52240" name="AutoShape 17">
            <a:extLst>
              <a:ext uri="{FF2B5EF4-FFF2-40B4-BE49-F238E27FC236}">
                <a16:creationId xmlns:a16="http://schemas.microsoft.com/office/drawing/2014/main" id="{729A09D1-D7D8-F196-7A74-443B89A46079}"/>
              </a:ext>
            </a:extLst>
          </p:cNvPr>
          <p:cNvSpPr>
            <a:spLocks noChangeArrowheads="1"/>
          </p:cNvSpPr>
          <p:nvPr/>
        </p:nvSpPr>
        <p:spPr bwMode="auto">
          <a:xfrm>
            <a:off x="3092450" y="5140325"/>
            <a:ext cx="233363" cy="169863"/>
          </a:xfrm>
          <a:prstGeom prst="triangle">
            <a:avLst>
              <a:gd name="adj" fmla="val 49995"/>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endParaRPr lang="de-DE" altLang="ko-KR" sz="1400">
              <a:ea typeface="가는각진제목체" panose="02030600000101010101" pitchFamily="18" charset="-127"/>
            </a:endParaRPr>
          </a:p>
        </p:txBody>
      </p:sp>
      <p:sp>
        <p:nvSpPr>
          <p:cNvPr id="52241" name="AutoShape 18">
            <a:extLst>
              <a:ext uri="{FF2B5EF4-FFF2-40B4-BE49-F238E27FC236}">
                <a16:creationId xmlns:a16="http://schemas.microsoft.com/office/drawing/2014/main" id="{9034F0A7-C432-FFDB-278D-E6FD5B0CC7D9}"/>
              </a:ext>
            </a:extLst>
          </p:cNvPr>
          <p:cNvSpPr>
            <a:spLocks noChangeArrowheads="1"/>
          </p:cNvSpPr>
          <p:nvPr/>
        </p:nvSpPr>
        <p:spPr bwMode="auto">
          <a:xfrm>
            <a:off x="411163" y="2097088"/>
            <a:ext cx="1346200" cy="609600"/>
          </a:xfrm>
          <a:prstGeom prst="homePlate">
            <a:avLst>
              <a:gd name="adj" fmla="val 18065"/>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ea typeface="굴림" panose="020b0600000101010101" pitchFamily="34" charset="-127"/>
              </a:rPr>
              <a:t>Negotiations</a:t>
            </a:r>
          </a:p>
        </p:txBody>
      </p:sp>
      <p:grpSp>
        <p:nvGrpSpPr>
          <p:cNvPr id="52242" name="Group 19">
            <a:extLst>
              <a:ext uri="{FF2B5EF4-FFF2-40B4-BE49-F238E27FC236}">
                <a16:creationId xmlns:a16="http://schemas.microsoft.com/office/drawing/2014/main" id="{FD3E223F-AA48-DC2A-9F02-F77853158470}"/>
              </a:ext>
            </a:extLst>
          </p:cNvPr>
          <p:cNvGrpSpPr/>
          <p:nvPr/>
        </p:nvGrpSpPr>
        <p:grpSpPr>
          <a:xfrm>
            <a:off x="1757363" y="2455863"/>
            <a:ext cx="1462087" cy="2790825"/>
            <a:chOff x="1022" y="1547"/>
            <a:chExt cx="850" cy="1583"/>
          </a:xfrm>
        </p:grpSpPr>
        <p:sp>
          <p:nvSpPr>
            <p:cNvPr id="52257" name="Line 20">
              <a:extLst>
                <a:ext uri="{FF2B5EF4-FFF2-40B4-BE49-F238E27FC236}">
                  <a16:creationId xmlns:a16="http://schemas.microsoft.com/office/drawing/2014/main" id="{8C3A3883-423E-E854-5BF3-2AFBB613754A}"/>
                </a:ext>
              </a:extLst>
            </p:cNvPr>
            <p:cNvSpPr>
              <a:spLocks noChangeShapeType="1"/>
            </p:cNvSpPr>
            <p:nvPr/>
          </p:nvSpPr>
          <p:spPr bwMode="auto">
            <a:xfrm flipH="1">
              <a:off x="1866" y="1547"/>
              <a:ext cx="6" cy="156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52258" name="Line 21">
              <a:extLst>
                <a:ext uri="{FF2B5EF4-FFF2-40B4-BE49-F238E27FC236}">
                  <a16:creationId xmlns:a16="http://schemas.microsoft.com/office/drawing/2014/main" id="{2EB4E5AF-D471-FC42-3A5A-A9EFEF2FD6E8}"/>
                </a:ext>
              </a:extLst>
            </p:cNvPr>
            <p:cNvSpPr>
              <a:spLocks noChangeShapeType="1"/>
            </p:cNvSpPr>
            <p:nvPr/>
          </p:nvSpPr>
          <p:spPr bwMode="auto">
            <a:xfrm flipH="1">
              <a:off x="1022" y="1547"/>
              <a:ext cx="5" cy="158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grpSp>
      <p:sp>
        <p:nvSpPr>
          <p:cNvPr id="52243" name="AutoShape 22">
            <a:extLst>
              <a:ext uri="{FF2B5EF4-FFF2-40B4-BE49-F238E27FC236}">
                <a16:creationId xmlns:a16="http://schemas.microsoft.com/office/drawing/2014/main" id="{81E874DC-0952-7886-027E-3FC9257AF40C}"/>
              </a:ext>
            </a:extLst>
          </p:cNvPr>
          <p:cNvSpPr>
            <a:spLocks noChangeArrowheads="1"/>
          </p:cNvSpPr>
          <p:nvPr/>
        </p:nvSpPr>
        <p:spPr bwMode="auto">
          <a:xfrm>
            <a:off x="604838" y="5314950"/>
            <a:ext cx="1355725" cy="379413"/>
          </a:xfrm>
          <a:prstGeom prst="roundRect">
            <a:avLst>
              <a:gd name="adj" fmla="val 16667"/>
            </a:avLst>
          </a:prstGeom>
          <a:solidFill>
            <a:schemeClr val="folHlink"/>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ea typeface="굴림" panose="020b0600000101010101" pitchFamily="34" charset="-127"/>
              </a:rPr>
              <a:t>Kick off</a:t>
            </a:r>
          </a:p>
        </p:txBody>
      </p:sp>
      <p:sp>
        <p:nvSpPr>
          <p:cNvPr id="52244" name="AutoShape 23">
            <a:extLst>
              <a:ext uri="{FF2B5EF4-FFF2-40B4-BE49-F238E27FC236}">
                <a16:creationId xmlns:a16="http://schemas.microsoft.com/office/drawing/2014/main" id="{474948F0-1150-3B7E-60D4-662C604CA8EA}"/>
              </a:ext>
            </a:extLst>
          </p:cNvPr>
          <p:cNvSpPr>
            <a:spLocks noChangeArrowheads="1"/>
          </p:cNvSpPr>
          <p:nvPr/>
        </p:nvSpPr>
        <p:spPr bwMode="auto">
          <a:xfrm>
            <a:off x="1631950" y="5140325"/>
            <a:ext cx="250825" cy="169863"/>
          </a:xfrm>
          <a:prstGeom prst="triangle">
            <a:avLst>
              <a:gd name="adj" fmla="val 49995"/>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endParaRPr lang="de-DE" altLang="ko-KR" sz="1400">
              <a:ea typeface="가는각진제목체" panose="02030600000101010101" pitchFamily="18" charset="-127"/>
            </a:endParaRPr>
          </a:p>
        </p:txBody>
      </p:sp>
      <p:sp>
        <p:nvSpPr>
          <p:cNvPr id="52245" name="Oval 24">
            <a:extLst>
              <a:ext uri="{FF2B5EF4-FFF2-40B4-BE49-F238E27FC236}">
                <a16:creationId xmlns:a16="http://schemas.microsoft.com/office/drawing/2014/main" id="{817D2826-DC69-9290-7DC2-2A05028A2BC5}"/>
              </a:ext>
            </a:extLst>
          </p:cNvPr>
          <p:cNvSpPr>
            <a:spLocks noChangeArrowheads="1"/>
          </p:cNvSpPr>
          <p:nvPr/>
        </p:nvSpPr>
        <p:spPr bwMode="gray">
          <a:xfrm>
            <a:off x="296863" y="2006600"/>
            <a:ext cx="225425" cy="212725"/>
          </a:xfrm>
          <a:prstGeom prst="ellipse">
            <a:avLst/>
          </a:prstGeom>
          <a:solidFill>
            <a:srgbClr val="0070C0"/>
          </a:solidFill>
          <a:ln w="12700" algn="ctr">
            <a:solidFill>
              <a:schemeClr val="bg1"/>
            </a:solidFill>
            <a:round/>
          </a:ln>
        </p:spPr>
        <p:txBody>
          <a:bodyPr lIns="0" tIns="0" rIns="0" bIns="0" anchor="ctr" anchorCtr="1"/>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a:solidFill>
                  <a:schemeClr val="bg1"/>
                </a:solidFill>
                <a:ea typeface="굴림" panose="020b0600000101010101" pitchFamily="34" charset="-127"/>
              </a:rPr>
              <a:t>1</a:t>
            </a:r>
          </a:p>
        </p:txBody>
      </p:sp>
      <p:sp>
        <p:nvSpPr>
          <p:cNvPr id="52246" name="Rectangle 25">
            <a:extLst>
              <a:ext uri="{FF2B5EF4-FFF2-40B4-BE49-F238E27FC236}">
                <a16:creationId xmlns:a16="http://schemas.microsoft.com/office/drawing/2014/main" id="{19030BD5-AF47-9FBA-40FA-4F37C5C30CE9}"/>
              </a:ext>
            </a:extLst>
          </p:cNvPr>
          <p:cNvSpPr>
            <a:spLocks noChangeArrowheads="1"/>
          </p:cNvSpPr>
          <p:nvPr/>
        </p:nvSpPr>
        <p:spPr bwMode="auto">
          <a:xfrm>
            <a:off x="3317875" y="3227388"/>
            <a:ext cx="1373188" cy="292100"/>
          </a:xfrm>
          <a:prstGeom prst="rect">
            <a:avLst/>
          </a:prstGeom>
          <a:solidFill>
            <a:srgbClr val="0070C0"/>
          </a:solidFill>
          <a:ln w="12700" algn="ctr">
            <a:solidFill>
              <a:schemeClr val="tx1"/>
            </a:solidFill>
            <a:miter lim="800000"/>
          </a:ln>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Customization</a:t>
            </a:r>
          </a:p>
        </p:txBody>
      </p:sp>
      <p:sp>
        <p:nvSpPr>
          <p:cNvPr id="52247" name="Rectangle 26">
            <a:extLst>
              <a:ext uri="{FF2B5EF4-FFF2-40B4-BE49-F238E27FC236}">
                <a16:creationId xmlns:a16="http://schemas.microsoft.com/office/drawing/2014/main" id="{AA821174-D051-04F1-26B5-D6C48F68CEE0}"/>
              </a:ext>
            </a:extLst>
          </p:cNvPr>
          <p:cNvSpPr>
            <a:spLocks noChangeArrowheads="1"/>
          </p:cNvSpPr>
          <p:nvPr/>
        </p:nvSpPr>
        <p:spPr bwMode="auto">
          <a:xfrm>
            <a:off x="1884363" y="2770188"/>
            <a:ext cx="1206500" cy="292100"/>
          </a:xfrm>
          <a:prstGeom prst="rect">
            <a:avLst/>
          </a:prstGeom>
          <a:solidFill>
            <a:schemeClr val="accent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Analysis</a:t>
            </a:r>
          </a:p>
        </p:txBody>
      </p:sp>
      <p:sp>
        <p:nvSpPr>
          <p:cNvPr id="52248" name="Rectangle 27">
            <a:extLst>
              <a:ext uri="{FF2B5EF4-FFF2-40B4-BE49-F238E27FC236}">
                <a16:creationId xmlns:a16="http://schemas.microsoft.com/office/drawing/2014/main" id="{E90FF883-298E-07E3-1474-C3178AC6D374}"/>
              </a:ext>
            </a:extLst>
          </p:cNvPr>
          <p:cNvSpPr>
            <a:spLocks noChangeArrowheads="1"/>
          </p:cNvSpPr>
          <p:nvPr/>
        </p:nvSpPr>
        <p:spPr bwMode="auto">
          <a:xfrm>
            <a:off x="3317875" y="3595688"/>
            <a:ext cx="1373188" cy="292100"/>
          </a:xfrm>
          <a:prstGeom prst="rect">
            <a:avLst/>
          </a:prstGeom>
          <a:solidFill>
            <a:srgbClr val="0070C0"/>
          </a:solidFill>
          <a:ln w="12700" algn="ctr">
            <a:solidFill>
              <a:schemeClr val="tx1"/>
            </a:solidFill>
            <a:miter lim="800000"/>
          </a:ln>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Development</a:t>
            </a:r>
          </a:p>
        </p:txBody>
      </p:sp>
      <p:sp>
        <p:nvSpPr>
          <p:cNvPr id="52249" name="Rectangle 28">
            <a:extLst>
              <a:ext uri="{FF2B5EF4-FFF2-40B4-BE49-F238E27FC236}">
                <a16:creationId xmlns:a16="http://schemas.microsoft.com/office/drawing/2014/main" id="{B80CB9D3-2605-6B8C-D678-48E9B67F1AB8}"/>
              </a:ext>
            </a:extLst>
          </p:cNvPr>
          <p:cNvSpPr>
            <a:spLocks noChangeArrowheads="1"/>
          </p:cNvSpPr>
          <p:nvPr/>
        </p:nvSpPr>
        <p:spPr bwMode="auto">
          <a:xfrm>
            <a:off x="1895475" y="3968750"/>
            <a:ext cx="2795588" cy="292100"/>
          </a:xfrm>
          <a:prstGeom prst="rect">
            <a:avLst/>
          </a:prstGeom>
          <a:solidFill>
            <a:schemeClr val="accent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Project management</a:t>
            </a:r>
          </a:p>
        </p:txBody>
      </p:sp>
      <p:sp>
        <p:nvSpPr>
          <p:cNvPr id="52250" name="Rectangle 29">
            <a:extLst>
              <a:ext uri="{FF2B5EF4-FFF2-40B4-BE49-F238E27FC236}">
                <a16:creationId xmlns:a16="http://schemas.microsoft.com/office/drawing/2014/main" id="{B4B337E7-5C18-8EA3-700A-ED8C686BD960}"/>
              </a:ext>
            </a:extLst>
          </p:cNvPr>
          <p:cNvSpPr>
            <a:spLocks noChangeArrowheads="1"/>
          </p:cNvSpPr>
          <p:nvPr/>
        </p:nvSpPr>
        <p:spPr bwMode="auto">
          <a:xfrm>
            <a:off x="1895475" y="4330700"/>
            <a:ext cx="2795588" cy="292100"/>
          </a:xfrm>
          <a:prstGeom prst="rect">
            <a:avLst/>
          </a:prstGeom>
          <a:solidFill>
            <a:schemeClr val="accent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solidFill>
                  <a:schemeClr val="bg1"/>
                </a:solidFill>
                <a:ea typeface="굴림" panose="020b0600000101010101" pitchFamily="34" charset="-127"/>
              </a:rPr>
              <a:t>Basis</a:t>
            </a:r>
          </a:p>
        </p:txBody>
      </p:sp>
      <p:sp>
        <p:nvSpPr>
          <p:cNvPr id="52251" name="AutoShape 30">
            <a:extLst>
              <a:ext uri="{FF2B5EF4-FFF2-40B4-BE49-F238E27FC236}">
                <a16:creationId xmlns:a16="http://schemas.microsoft.com/office/drawing/2014/main" id="{DB0C5218-F204-EB21-8C66-CD03D65C8467}"/>
              </a:ext>
            </a:extLst>
          </p:cNvPr>
          <p:cNvSpPr>
            <a:spLocks noChangeArrowheads="1"/>
          </p:cNvSpPr>
          <p:nvPr/>
        </p:nvSpPr>
        <p:spPr bwMode="auto">
          <a:xfrm>
            <a:off x="3725863" y="5180013"/>
            <a:ext cx="941387" cy="369887"/>
          </a:xfrm>
          <a:prstGeom prst="wedgeRectCallout">
            <a:avLst>
              <a:gd name="adj1" fmla="val -84125"/>
              <a:gd name="adj2" fmla="val 81329"/>
            </a:avLst>
          </a:prstGeom>
          <a:solidFill>
            <a:srgbClr val="0070C0"/>
          </a:solidFill>
          <a:ln w="12700" algn="ctr">
            <a:solidFill>
              <a:schemeClr val="tx1"/>
            </a:solidFill>
            <a:miter lim="800000"/>
          </a:ln>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i="1">
                <a:solidFill>
                  <a:schemeClr val="bg1"/>
                </a:solidFill>
                <a:ea typeface="굴림" panose="020b0600000101010101" pitchFamily="34" charset="-127"/>
              </a:rPr>
              <a:t>Exit clause</a:t>
            </a:r>
          </a:p>
        </p:txBody>
      </p:sp>
      <p:sp>
        <p:nvSpPr>
          <p:cNvPr id="52252" name="Rectangle 31">
            <a:extLst>
              <a:ext uri="{FF2B5EF4-FFF2-40B4-BE49-F238E27FC236}">
                <a16:creationId xmlns:a16="http://schemas.microsoft.com/office/drawing/2014/main" id="{6FE58884-C594-D791-BD77-2A3689F4580A}"/>
              </a:ext>
            </a:extLst>
          </p:cNvPr>
          <p:cNvSpPr>
            <a:spLocks noChangeArrowheads="1"/>
          </p:cNvSpPr>
          <p:nvPr/>
        </p:nvSpPr>
        <p:spPr bwMode="auto">
          <a:xfrm>
            <a:off x="427038" y="2771775"/>
            <a:ext cx="1239837" cy="12287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52450"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95350"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2430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582738"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0399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4971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9543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4115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a:ea typeface="굴림" panose="020b0600000101010101" pitchFamily="34" charset="-127"/>
              </a:rPr>
              <a:t>Final fixed price</a:t>
            </a:r>
            <a:r>
              <a:rPr lang="en-US" altLang="ko-KR" sz="1000" b="0">
                <a:ea typeface="굴림" panose="020b0600000101010101" pitchFamily="34" charset="-127"/>
              </a:rPr>
              <a:t> for blueprint, project management and basis</a:t>
            </a:r>
          </a:p>
          <a:p>
            <a:pPr>
              <a:buFont typeface="Wingdings" pitchFamily="2" charset="2"/>
              <a:buNone/>
            </a:pPr>
            <a:r>
              <a:rPr lang="en-US" altLang="ko-KR" sz="1000">
                <a:ea typeface="굴림" panose="020b0600000101010101" pitchFamily="34" charset="-127"/>
              </a:rPr>
              <a:t>Estimated fixed price</a:t>
            </a:r>
            <a:r>
              <a:rPr lang="en-US" altLang="ko-KR" sz="1000" b="0">
                <a:ea typeface="굴림" panose="020b0600000101010101" pitchFamily="34" charset="-127"/>
              </a:rPr>
              <a:t> for develop-ments and standard implementation</a:t>
            </a:r>
          </a:p>
        </p:txBody>
      </p:sp>
      <p:sp>
        <p:nvSpPr>
          <p:cNvPr id="52253" name="Rectangle 32">
            <a:extLst>
              <a:ext uri="{FF2B5EF4-FFF2-40B4-BE49-F238E27FC236}">
                <a16:creationId xmlns:a16="http://schemas.microsoft.com/office/drawing/2014/main" id="{16A09CD8-A74B-EE90-952E-9178651BAA28}"/>
              </a:ext>
            </a:extLst>
          </p:cNvPr>
          <p:cNvSpPr>
            <a:spLocks noChangeArrowheads="1"/>
          </p:cNvSpPr>
          <p:nvPr/>
        </p:nvSpPr>
        <p:spPr bwMode="auto">
          <a:xfrm>
            <a:off x="1944688" y="3346450"/>
            <a:ext cx="1143000" cy="546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52450"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95350"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243013"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582738"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0399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4971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9543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411538"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buFont typeface="Wingdings" pitchFamily="2" charset="2"/>
              <a:buNone/>
            </a:pPr>
            <a:r>
              <a:rPr lang="en-US" altLang="ko-KR" sz="1000">
                <a:ea typeface="굴림" panose="020b0600000101010101" pitchFamily="34" charset="-127"/>
              </a:rPr>
              <a:t>Final fixed price</a:t>
            </a:r>
            <a:r>
              <a:rPr lang="en-US" altLang="ko-KR" sz="1000" b="0">
                <a:ea typeface="굴림" panose="020b0600000101010101" pitchFamily="34" charset="-127"/>
              </a:rPr>
              <a:t> for developments and standard implementation</a:t>
            </a:r>
          </a:p>
        </p:txBody>
      </p:sp>
      <p:sp>
        <p:nvSpPr>
          <p:cNvPr id="52254" name="AutoShape 33">
            <a:extLst>
              <a:ext uri="{FF2B5EF4-FFF2-40B4-BE49-F238E27FC236}">
                <a16:creationId xmlns:a16="http://schemas.microsoft.com/office/drawing/2014/main" id="{B00E0193-923F-E6F9-6806-115BDFFE3324}"/>
              </a:ext>
            </a:extLst>
          </p:cNvPr>
          <p:cNvSpPr>
            <a:spLocks noChangeArrowheads="1"/>
          </p:cNvSpPr>
          <p:nvPr/>
        </p:nvSpPr>
        <p:spPr bwMode="auto">
          <a:xfrm rot="10800000">
            <a:off x="1889125" y="3132138"/>
            <a:ext cx="1198563" cy="104775"/>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de-DE" altLang="ko-KR" sz="1400" b="0">
              <a:ea typeface="가는각진제목체" panose="02030600000101010101" pitchFamily="18" charset="-127"/>
            </a:endParaRPr>
          </a:p>
        </p:txBody>
      </p:sp>
      <p:sp>
        <p:nvSpPr>
          <p:cNvPr id="52255" name="Rectangle 34">
            <a:extLst>
              <a:ext uri="{FF2B5EF4-FFF2-40B4-BE49-F238E27FC236}">
                <a16:creationId xmlns:a16="http://schemas.microsoft.com/office/drawing/2014/main" id="{4678725B-16C0-571C-A9A9-5CF833DDC3C5}"/>
              </a:ext>
            </a:extLst>
          </p:cNvPr>
          <p:cNvSpPr>
            <a:spLocks noChangeArrowheads="1"/>
          </p:cNvSpPr>
          <p:nvPr/>
        </p:nvSpPr>
        <p:spPr bwMode="auto">
          <a:xfrm>
            <a:off x="407988" y="4768024"/>
            <a:ext cx="2725737" cy="21120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US" altLang="ko-KR" sz="1000">
                <a:ea typeface="굴림" panose="020b0600000101010101" pitchFamily="34" charset="-127"/>
              </a:rPr>
              <a:t>Assessment of implementers market</a:t>
            </a:r>
          </a:p>
        </p:txBody>
      </p:sp>
      <p:sp>
        <p:nvSpPr>
          <p:cNvPr id="52256" name="Text Box 35">
            <a:extLst>
              <a:ext uri="{FF2B5EF4-FFF2-40B4-BE49-F238E27FC236}">
                <a16:creationId xmlns:a16="http://schemas.microsoft.com/office/drawing/2014/main" id="{A557DB4F-AF8E-45F3-1962-240F31266FB5}"/>
              </a:ext>
            </a:extLst>
          </p:cNvPr>
          <p:cNvSpPr txBox="1">
            <a:spLocks noChangeArrowheads="1"/>
          </p:cNvSpPr>
          <p:nvPr/>
        </p:nvSpPr>
        <p:spPr bwMode="auto">
          <a:xfrm>
            <a:off x="7581900" y="241300"/>
            <a:ext cx="20637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Negotiation and mobilization</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4273" name="Rectangle 2">
            <a:extLst>
              <a:ext uri="{FF2B5EF4-FFF2-40B4-BE49-F238E27FC236}">
                <a16:creationId xmlns:a16="http://schemas.microsoft.com/office/drawing/2014/main" id="{834C77D0-33DB-8AC3-DEB1-5F96047AB5BD}"/>
              </a:ext>
            </a:extLst>
          </p:cNvPr>
          <p:cNvSpPr>
            <a:spLocks noGrp="1" noChangeArrowheads="1"/>
          </p:cNvSpPr>
          <p:nvPr>
            <p:ph type="title"/>
          </p:nvPr>
        </p:nvSpPr>
        <p:spPr>
          <a:xfrm>
            <a:off x="266700" y="596900"/>
            <a:ext cx="9367838" cy="609398"/>
          </a:xfrm>
        </p:spPr>
        <p:txBody>
          <a:bodyPr/>
          <a:lstStyle/>
          <a:p>
            <a:r>
              <a:rPr lang="en-US" altLang="ko-KR">
                <a:ea typeface="굴림" panose="020b0600000101010101" pitchFamily="34" charset="-127"/>
              </a:rPr>
              <a:t>The investment cost refers to hardware, software and implementation services</a:t>
            </a:r>
          </a:p>
        </p:txBody>
      </p:sp>
      <p:graphicFrame>
        <p:nvGraphicFramePr>
          <p:cNvPr id="54274" name="Object 3">
            <a:extLst>
              <a:ext uri="{FF2B5EF4-FFF2-40B4-BE49-F238E27FC236}">
                <a16:creationId xmlns:a16="http://schemas.microsoft.com/office/drawing/2014/main" id="{3064F227-46E5-460B-6B13-F18BF931F6B3}"/>
              </a:ext>
            </a:extLst>
          </p:cNvPr>
          <p:cNvGraphicFramePr/>
          <p:nvPr/>
        </p:nvGraphicFramePr>
        <p:xfrm>
          <a:off x="6313488" y="2930525"/>
          <a:ext cx="2749550" cy="2197100"/>
        </p:xfrm>
        <a:graphic>
          <a:graphicData uri="http://schemas.openxmlformats.org/presentationml/2006/ole">
            <mc:AlternateContent>
              <mc:Choice xmlns:v="urn:schemas-microsoft-com:vml" Requires="v">
                <p:oleObj spid="_x0000_s1043" name="Chart" r:id="rId3" imgW="2540000" imgH="2197100" progId="MSGraph.Chart.8">
                  <p:embed/>
                </p:oleObj>
              </mc:Choice>
              <mc:Fallback>
                <p:oleObj name="Chart" r:id="rId3" imgW="2540000" imgH="2197100" progId="MSGraph.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6313488" y="2930525"/>
                        <a:ext cx="2749550" cy="2197100"/>
                      </a:xfrm>
                      <a:prstGeom prst="rect">
                        <a:avLst/>
                      </a:prstGeom>
                      <a:noFill/>
                      <a:ln>
                        <a:noFill/>
                      </a:ln>
                      <a:effectLst/>
                    </p:spPr>
                  </p:pic>
                </p:oleObj>
              </mc:Fallback>
            </mc:AlternateContent>
          </a:graphicData>
        </a:graphic>
      </p:graphicFrame>
      <p:sp>
        <p:nvSpPr>
          <p:cNvPr id="54275" name="Rectangle 4">
            <a:extLst>
              <a:ext uri="{FF2B5EF4-FFF2-40B4-BE49-F238E27FC236}">
                <a16:creationId xmlns:a16="http://schemas.microsoft.com/office/drawing/2014/main" id="{F911066F-3B04-D509-F1EF-5DC9E13ADDB2}"/>
              </a:ext>
            </a:extLst>
          </p:cNvPr>
          <p:cNvSpPr>
            <a:spLocks noChangeArrowheads="1"/>
          </p:cNvSpPr>
          <p:nvPr/>
        </p:nvSpPr>
        <p:spPr bwMode="auto">
          <a:xfrm>
            <a:off x="7134225" y="2036763"/>
            <a:ext cx="1601788" cy="384175"/>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300">
                <a:ea typeface="굴림" panose="020b0600000101010101" pitchFamily="34" charset="-127"/>
              </a:rPr>
              <a:t>One-time costs </a:t>
            </a:r>
            <a:r>
              <a:rPr lang="en-US" altLang="ko-KR" sz="1300" b="0">
                <a:ea typeface="굴림" panose="020b0600000101010101" pitchFamily="34" charset="-127"/>
              </a:rPr>
              <a:t>(mil. €)</a:t>
            </a:r>
          </a:p>
        </p:txBody>
      </p:sp>
      <p:sp>
        <p:nvSpPr>
          <p:cNvPr id="54276" name="Rectangle 5">
            <a:extLst>
              <a:ext uri="{FF2B5EF4-FFF2-40B4-BE49-F238E27FC236}">
                <a16:creationId xmlns:a16="http://schemas.microsoft.com/office/drawing/2014/main" id="{25E8740C-4E69-FAAD-4033-0C0C77B013B1}"/>
              </a:ext>
            </a:extLst>
          </p:cNvPr>
          <p:cNvSpPr>
            <a:spLocks noChangeArrowheads="1"/>
          </p:cNvSpPr>
          <p:nvPr/>
        </p:nvSpPr>
        <p:spPr bwMode="auto">
          <a:xfrm>
            <a:off x="661988" y="1881188"/>
            <a:ext cx="3822700" cy="360099"/>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300">
                <a:ea typeface="굴림" panose="020b0600000101010101" pitchFamily="34" charset="-127"/>
              </a:rPr>
              <a:t>investment</a:t>
            </a:r>
            <a:r>
              <a:rPr lang="en-US" altLang="ko-KR" sz="1300" baseline="30000">
                <a:ea typeface="굴림" panose="020b0600000101010101" pitchFamily="34" charset="-127"/>
              </a:rPr>
              <a:t>1) </a:t>
            </a:r>
            <a:r>
              <a:rPr lang="en-US" altLang="ko-KR" sz="1300">
                <a:ea typeface="굴림" panose="020b0600000101010101" pitchFamily="34" charset="-127"/>
              </a:rPr>
              <a:t>by types of costs </a:t>
            </a:r>
            <a:br>
              <a:rPr lang="en-US" altLang="ko-KR" sz="1300">
                <a:ea typeface="굴림" panose="020b0600000101010101" pitchFamily="34" charset="-127"/>
              </a:rPr>
            </a:br>
            <a:r>
              <a:rPr lang="en-US" altLang="ko-KR" sz="1300" b="0">
                <a:ea typeface="굴림" panose="020b0600000101010101" pitchFamily="34" charset="-127"/>
              </a:rPr>
              <a:t>(mil. €)</a:t>
            </a:r>
          </a:p>
        </p:txBody>
      </p:sp>
      <p:sp>
        <p:nvSpPr>
          <p:cNvPr id="54277" name="Rectangle 6">
            <a:extLst>
              <a:ext uri="{FF2B5EF4-FFF2-40B4-BE49-F238E27FC236}">
                <a16:creationId xmlns:a16="http://schemas.microsoft.com/office/drawing/2014/main" id="{DCDD3DCC-535E-1ED9-41AD-8A9B65C93AD7}"/>
              </a:ext>
            </a:extLst>
          </p:cNvPr>
          <p:cNvSpPr>
            <a:spLocks noChangeArrowheads="1"/>
          </p:cNvSpPr>
          <p:nvPr/>
        </p:nvSpPr>
        <p:spPr bwMode="auto">
          <a:xfrm>
            <a:off x="6999288" y="4448175"/>
            <a:ext cx="1344612" cy="165100"/>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100">
                <a:ea typeface="굴림" panose="020b0600000101010101" pitchFamily="34" charset="-127"/>
              </a:rPr>
              <a:t>Implementation</a:t>
            </a:r>
          </a:p>
        </p:txBody>
      </p:sp>
      <p:sp>
        <p:nvSpPr>
          <p:cNvPr id="54278" name="Rectangle 7">
            <a:extLst>
              <a:ext uri="{FF2B5EF4-FFF2-40B4-BE49-F238E27FC236}">
                <a16:creationId xmlns:a16="http://schemas.microsoft.com/office/drawing/2014/main" id="{05EFFFE1-3283-8F10-4BF2-DE73992EC3AC}"/>
              </a:ext>
            </a:extLst>
          </p:cNvPr>
          <p:cNvSpPr>
            <a:spLocks noChangeArrowheads="1"/>
          </p:cNvSpPr>
          <p:nvPr/>
        </p:nvSpPr>
        <p:spPr bwMode="auto">
          <a:xfrm>
            <a:off x="6083300" y="2490788"/>
            <a:ext cx="1389063" cy="495300"/>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US" altLang="ko-KR" sz="1100">
                <a:ea typeface="굴림" panose="020b0600000101010101" pitchFamily="34" charset="-127"/>
              </a:rPr>
              <a:t>Post implementation support</a:t>
            </a:r>
          </a:p>
        </p:txBody>
      </p:sp>
      <p:sp>
        <p:nvSpPr>
          <p:cNvPr id="54279" name="Rectangle 8">
            <a:extLst>
              <a:ext uri="{FF2B5EF4-FFF2-40B4-BE49-F238E27FC236}">
                <a16:creationId xmlns:a16="http://schemas.microsoft.com/office/drawing/2014/main" id="{F103CABB-E540-EE6F-EA7A-15CF3271F2FF}"/>
              </a:ext>
            </a:extLst>
          </p:cNvPr>
          <p:cNvSpPr>
            <a:spLocks noChangeArrowheads="1"/>
          </p:cNvSpPr>
          <p:nvPr/>
        </p:nvSpPr>
        <p:spPr bwMode="auto">
          <a:xfrm>
            <a:off x="8102600" y="2697163"/>
            <a:ext cx="1331913" cy="330200"/>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100">
                <a:ea typeface="굴림" panose="020b0600000101010101" pitchFamily="34" charset="-127"/>
              </a:rPr>
              <a:t>Hardware installation</a:t>
            </a:r>
          </a:p>
        </p:txBody>
      </p:sp>
      <p:sp>
        <p:nvSpPr>
          <p:cNvPr id="54280" name="Freeform 9">
            <a:extLst>
              <a:ext uri="{FF2B5EF4-FFF2-40B4-BE49-F238E27FC236}">
                <a16:creationId xmlns:a16="http://schemas.microsoft.com/office/drawing/2014/main" id="{F8C7AAAE-9588-3B97-CB9D-01AFA669EEAD}"/>
              </a:ext>
            </a:extLst>
          </p:cNvPr>
          <p:cNvSpPr/>
          <p:nvPr/>
        </p:nvSpPr>
        <p:spPr bwMode="auto">
          <a:xfrm>
            <a:off x="7672388" y="2894013"/>
            <a:ext cx="368300" cy="150812"/>
          </a:xfrm>
          <a:custGeom>
            <a:gdLst>
              <a:gd name="T0" fmla="*/ 2147483646 w 242"/>
              <a:gd name="T1" fmla="*/ 0 h 82"/>
              <a:gd name="T2" fmla="*/ 0 w 242"/>
              <a:gd name="T3" fmla="*/ 0 h 82"/>
              <a:gd name="T4" fmla="*/ 2147483646 w 242"/>
              <a:gd name="T5" fmla="*/ 2147483646 h 82"/>
              <a:gd name="T6" fmla="*/ 0 60000 65536"/>
              <a:gd name="T7" fmla="*/ 0 60000 65536"/>
              <a:gd name="T8" fmla="*/ 0 60000 65536"/>
            </a:gdLst>
            <a:cxnLst>
              <a:cxn ang="T6">
                <a:pos x="T0" y="T1"/>
              </a:cxn>
              <a:cxn ang="T7">
                <a:pos x="T2" y="T3"/>
              </a:cxn>
              <a:cxn ang="T8">
                <a:pos x="T4" y="T5"/>
              </a:cxn>
            </a:cxnLst>
            <a:rect l="0" t="0" r="r" b="b"/>
            <a:pathLst>
              <a:path w="241" h="82">
                <a:moveTo>
                  <a:pt x="242" y="0"/>
                </a:moveTo>
                <a:lnTo>
                  <a:pt x="0" y="0"/>
                </a:lnTo>
                <a:lnTo>
                  <a:pt x="6" y="82"/>
                </a:ln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54281" name="Line 10">
            <a:extLst>
              <a:ext uri="{FF2B5EF4-FFF2-40B4-BE49-F238E27FC236}">
                <a16:creationId xmlns:a16="http://schemas.microsoft.com/office/drawing/2014/main" id="{4614ED0C-6362-B537-AAAA-9F61D4A86398}"/>
              </a:ext>
            </a:extLst>
          </p:cNvPr>
          <p:cNvSpPr>
            <a:spLocks noChangeShapeType="1"/>
          </p:cNvSpPr>
          <p:nvPr/>
        </p:nvSpPr>
        <p:spPr bwMode="auto">
          <a:xfrm>
            <a:off x="4641850" y="4964113"/>
            <a:ext cx="2995613" cy="3810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54282" name="Line 11">
            <a:extLst>
              <a:ext uri="{FF2B5EF4-FFF2-40B4-BE49-F238E27FC236}">
                <a16:creationId xmlns:a16="http://schemas.microsoft.com/office/drawing/2014/main" id="{B3E02D9C-42E9-CEF8-82F6-65BC3BC46832}"/>
              </a:ext>
            </a:extLst>
          </p:cNvPr>
          <p:cNvSpPr>
            <a:spLocks noChangeShapeType="1"/>
          </p:cNvSpPr>
          <p:nvPr/>
        </p:nvSpPr>
        <p:spPr bwMode="auto">
          <a:xfrm flipV="1">
            <a:off x="4641850" y="3019425"/>
            <a:ext cx="2892425" cy="80486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54284" name="Text Box 13">
            <a:extLst>
              <a:ext uri="{FF2B5EF4-FFF2-40B4-BE49-F238E27FC236}">
                <a16:creationId xmlns:a16="http://schemas.microsoft.com/office/drawing/2014/main" id="{3CF5C77E-F183-ED08-4660-BC569BC20659}"/>
              </a:ext>
            </a:extLst>
          </p:cNvPr>
          <p:cNvSpPr txBox="1">
            <a:spLocks noChangeArrowheads="1"/>
          </p:cNvSpPr>
          <p:nvPr/>
        </p:nvSpPr>
        <p:spPr bwMode="auto">
          <a:xfrm>
            <a:off x="271463" y="5556250"/>
            <a:ext cx="9363075" cy="6096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sz="1800">
                <a:solidFill>
                  <a:schemeClr val="bg1"/>
                </a:solidFill>
                <a:ea typeface="굴림" panose="020b0600000101010101" pitchFamily="34" charset="-127"/>
              </a:rPr>
              <a:t>Annual maintenance costs are approximately 500.000 EUR which is </a:t>
            </a:r>
            <a:br>
              <a:rPr lang="en-US" altLang="ko-KR" sz="1800">
                <a:solidFill>
                  <a:schemeClr val="bg1"/>
                </a:solidFill>
                <a:ea typeface="굴림" panose="020b0600000101010101" pitchFamily="34" charset="-127"/>
              </a:rPr>
            </a:br>
            <a:r>
              <a:rPr lang="en-US" altLang="ko-KR" sz="1800">
                <a:solidFill>
                  <a:schemeClr val="bg1"/>
                </a:solidFill>
                <a:ea typeface="굴림" panose="020b0600000101010101" pitchFamily="34" charset="-127"/>
              </a:rPr>
              <a:t>17% of the software value</a:t>
            </a:r>
          </a:p>
        </p:txBody>
      </p:sp>
      <p:graphicFrame>
        <p:nvGraphicFramePr>
          <p:cNvPr id="54285" name="Object 14">
            <a:extLst>
              <a:ext uri="{FF2B5EF4-FFF2-40B4-BE49-F238E27FC236}">
                <a16:creationId xmlns:a16="http://schemas.microsoft.com/office/drawing/2014/main" id="{C919A248-D33B-A679-3303-79435F69DBCF}"/>
              </a:ext>
            </a:extLst>
          </p:cNvPr>
          <p:cNvGraphicFramePr/>
          <p:nvPr/>
        </p:nvGraphicFramePr>
        <p:xfrm>
          <a:off x="128588" y="2106613"/>
          <a:ext cx="4981575" cy="3375025"/>
        </p:xfrm>
        <a:graphic>
          <a:graphicData uri="http://schemas.openxmlformats.org/presentationml/2006/ole">
            <mc:AlternateContent>
              <mc:Choice xmlns:v="urn:schemas-microsoft-com:vml" Requires="v">
                <p:oleObj spid="_x0000_s1044" name="차트" r:id="rId5" imgW="5194300" imgH="3530600" progId="Excel.Chart.8">
                  <p:embed/>
                </p:oleObj>
              </mc:Choice>
              <mc:Fallback>
                <p:oleObj name="차트" r:id="rId5" imgW="5194300" imgH="3530600" progId="Excel.Chart.8">
                  <p:embed/>
                  <p:pic>
                    <p:nvPicPr>
                      <p:cNvPr id="0" name="OLE substitute image"/>
                      <p:cNvPicPr/>
                      <p:nvPr/>
                    </p:nvPicPr>
                    <p:blipFill>
                      <a:blip r:embed="rId6">
                        <a:extLst>
                          <a:ext uri="{28A0092B-C50C-407E-A947-70E740481C1C}">
                            <a14:useLocalDpi xmlns:a14="http://schemas.microsoft.com/office/drawing/2010/main" val="0"/>
                          </a:ext>
                        </a:extLst>
                      </a:blip>
                      <a:stretch>
                        <a:fillRect/>
                      </a:stretch>
                    </p:blipFill>
                    <p:spPr>
                      <a:xfrm>
                        <a:off x="128588" y="2106613"/>
                        <a:ext cx="4981575" cy="3375025"/>
                      </a:xfrm>
                      <a:prstGeom prst="rect">
                        <a:avLst/>
                      </a:prstGeom>
                      <a:noFill/>
                      <a:ln>
                        <a:noFill/>
                      </a:ln>
                    </p:spPr>
                  </p:pic>
                </p:oleObj>
              </mc:Fallback>
            </mc:AlternateContent>
          </a:graphicData>
        </a:graphic>
      </p:graphicFrame>
      <p:sp>
        <p:nvSpPr>
          <p:cNvPr id="54286" name="Text Box 15">
            <a:extLst>
              <a:ext uri="{FF2B5EF4-FFF2-40B4-BE49-F238E27FC236}">
                <a16:creationId xmlns:a16="http://schemas.microsoft.com/office/drawing/2014/main" id="{39E8129C-D146-2281-853C-6B00A40C4D05}"/>
              </a:ext>
            </a:extLst>
          </p:cNvPr>
          <p:cNvSpPr txBox="1">
            <a:spLocks noChangeArrowheads="1"/>
          </p:cNvSpPr>
          <p:nvPr/>
        </p:nvSpPr>
        <p:spPr bwMode="auto">
          <a:xfrm>
            <a:off x="6838950" y="1544638"/>
            <a:ext cx="2811463" cy="363537"/>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US" altLang="ko-KR">
                <a:ea typeface="굴림" panose="020b0600000101010101" pitchFamily="34" charset="-127"/>
              </a:rPr>
              <a:t>Based on previous offers</a:t>
            </a:r>
          </a:p>
        </p:txBody>
      </p:sp>
      <p:sp>
        <p:nvSpPr>
          <p:cNvPr id="54287" name="Text Box 16">
            <a:extLst>
              <a:ext uri="{FF2B5EF4-FFF2-40B4-BE49-F238E27FC236}">
                <a16:creationId xmlns:a16="http://schemas.microsoft.com/office/drawing/2014/main" id="{B44C89D9-7571-FDC4-CA57-155B40182F70}"/>
              </a:ext>
            </a:extLst>
          </p:cNvPr>
          <p:cNvSpPr txBox="1">
            <a:spLocks noChangeArrowheads="1"/>
          </p:cNvSpPr>
          <p:nvPr/>
        </p:nvSpPr>
        <p:spPr bwMode="auto">
          <a:xfrm>
            <a:off x="7581900" y="241300"/>
            <a:ext cx="20637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Negotiation and mobilization</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6321" name="Rectangle 2">
            <a:extLst>
              <a:ext uri="{FF2B5EF4-FFF2-40B4-BE49-F238E27FC236}">
                <a16:creationId xmlns:a16="http://schemas.microsoft.com/office/drawing/2014/main" id="{3A000EA2-5077-E9AE-F1B3-5187EBFA574B}"/>
              </a:ext>
            </a:extLst>
          </p:cNvPr>
          <p:cNvSpPr>
            <a:spLocks noGrp="1" noChangeArrowheads="1"/>
          </p:cNvSpPr>
          <p:nvPr>
            <p:ph type="title"/>
          </p:nvPr>
        </p:nvSpPr>
        <p:spPr>
          <a:xfrm>
            <a:off x="266700" y="596900"/>
            <a:ext cx="9367838" cy="609398"/>
          </a:xfrm>
        </p:spPr>
        <p:txBody>
          <a:bodyPr/>
          <a:lstStyle/>
          <a:p>
            <a:r>
              <a:rPr lang="en-US" altLang="ko-KR">
                <a:ea typeface="굴림" panose="020b0600000101010101" pitchFamily="34" charset="-127"/>
              </a:rPr>
              <a:t>Biggest part of investment costs occurs in 2021 and 2022 according to the global implementation roadmap</a:t>
            </a:r>
          </a:p>
        </p:txBody>
      </p:sp>
      <p:sp>
        <p:nvSpPr>
          <p:cNvPr id="56322" name="Rectangle 3">
            <a:extLst>
              <a:ext uri="{FF2B5EF4-FFF2-40B4-BE49-F238E27FC236}">
                <a16:creationId xmlns:a16="http://schemas.microsoft.com/office/drawing/2014/main" id="{7349E000-B106-3036-CC3D-D129945F94B3}"/>
              </a:ext>
            </a:extLst>
          </p:cNvPr>
          <p:cNvSpPr>
            <a:spLocks noChangeArrowheads="1"/>
          </p:cNvSpPr>
          <p:nvPr/>
        </p:nvSpPr>
        <p:spPr bwMode="auto">
          <a:xfrm>
            <a:off x="307975" y="1830388"/>
            <a:ext cx="5387975" cy="192087"/>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300">
                <a:ea typeface="굴림" panose="020b0600000101010101" pitchFamily="34" charset="-127"/>
              </a:rPr>
              <a:t>Implementation roadmap</a:t>
            </a:r>
            <a:endParaRPr lang="en-US" altLang="ko-KR" sz="1300" b="0">
              <a:ea typeface="굴림" panose="020b0600000101010101" pitchFamily="34" charset="-127"/>
            </a:endParaRPr>
          </a:p>
        </p:txBody>
      </p:sp>
      <p:sp>
        <p:nvSpPr>
          <p:cNvPr id="56323" name="AutoShape 4">
            <a:extLst>
              <a:ext uri="{FF2B5EF4-FFF2-40B4-BE49-F238E27FC236}">
                <a16:creationId xmlns:a16="http://schemas.microsoft.com/office/drawing/2014/main" id="{8782996A-82FB-F31E-CEDE-02126AD9ED6B}"/>
              </a:ext>
            </a:extLst>
          </p:cNvPr>
          <p:cNvSpPr>
            <a:spLocks noChangeArrowheads="1"/>
          </p:cNvSpPr>
          <p:nvPr/>
        </p:nvSpPr>
        <p:spPr bwMode="auto">
          <a:xfrm rot="10800000">
            <a:off x="1646238" y="3711575"/>
            <a:ext cx="2713037" cy="222250"/>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1400" b="0">
              <a:ea typeface="굴림" panose="020b0600000101010101" pitchFamily="34" charset="-127"/>
            </a:endParaRPr>
          </a:p>
        </p:txBody>
      </p:sp>
      <p:sp>
        <p:nvSpPr>
          <p:cNvPr id="56324" name="Rectangle 5">
            <a:extLst>
              <a:ext uri="{FF2B5EF4-FFF2-40B4-BE49-F238E27FC236}">
                <a16:creationId xmlns:a16="http://schemas.microsoft.com/office/drawing/2014/main" id="{68556917-686B-0703-37D7-002F96D13FD1}"/>
              </a:ext>
            </a:extLst>
          </p:cNvPr>
          <p:cNvSpPr>
            <a:spLocks noChangeArrowheads="1"/>
          </p:cNvSpPr>
          <p:nvPr/>
        </p:nvSpPr>
        <p:spPr bwMode="auto">
          <a:xfrm>
            <a:off x="6356350" y="2557463"/>
            <a:ext cx="3278188" cy="352425"/>
          </a:xfrm>
          <a:prstGeom prst="rect">
            <a:avLst/>
          </a:prstGeom>
          <a:solidFill>
            <a:srgbClr val="0070C0"/>
          </a:solidFill>
          <a:ln w="12700">
            <a:solidFill>
              <a:schemeClr val="tx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400">
                <a:solidFill>
                  <a:schemeClr val="bg1"/>
                </a:solidFill>
                <a:ea typeface="굴림" panose="020b0600000101010101" pitchFamily="34" charset="-127"/>
              </a:rPr>
              <a:t>Assumptions</a:t>
            </a:r>
          </a:p>
        </p:txBody>
      </p:sp>
      <p:sp>
        <p:nvSpPr>
          <p:cNvPr id="56325" name="Rectangle 6">
            <a:extLst>
              <a:ext uri="{FF2B5EF4-FFF2-40B4-BE49-F238E27FC236}">
                <a16:creationId xmlns:a16="http://schemas.microsoft.com/office/drawing/2014/main" id="{C4745A3C-8B6B-8F3B-7861-88D3E1AC2519}"/>
              </a:ext>
            </a:extLst>
          </p:cNvPr>
          <p:cNvSpPr>
            <a:spLocks noChangeArrowheads="1"/>
          </p:cNvSpPr>
          <p:nvPr/>
        </p:nvSpPr>
        <p:spPr bwMode="auto">
          <a:xfrm>
            <a:off x="6356350" y="2905125"/>
            <a:ext cx="3278188" cy="3140075"/>
          </a:xfrm>
          <a:prstGeom prst="rect">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marL="112713" indent="-112713"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27050" indent="-166688"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82650" indent="-176213"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62038"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414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98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55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6130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70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FontTx/>
              <a:buChar char="•"/>
            </a:pPr>
            <a:endParaRPr lang="ko-KR" altLang="en-US" sz="1400" b="0">
              <a:ea typeface="굴림" panose="020b0600000101010101" pitchFamily="34" charset="-127"/>
            </a:endParaRPr>
          </a:p>
          <a:p>
            <a:pPr>
              <a:spcBef>
                <a:spcPct val="20000"/>
              </a:spcBef>
              <a:buFontTx/>
              <a:buChar char="•"/>
            </a:pPr>
            <a:r>
              <a:rPr lang="en-US" altLang="ko-KR" sz="1400" b="0">
                <a:ea typeface="굴림" panose="020b0600000101010101" pitchFamily="34" charset="-127"/>
              </a:rPr>
              <a:t>The highest investment cost will be incurred in 2021, due to total hardware investment cost, part of software and blueprint cost</a:t>
            </a:r>
          </a:p>
          <a:p>
            <a:pPr>
              <a:spcBef>
                <a:spcPct val="20000"/>
              </a:spcBef>
              <a:buFontTx/>
              <a:buChar char="•"/>
            </a:pPr>
            <a:endParaRPr lang="en-US" altLang="ko-KR" sz="1400" b="0">
              <a:ea typeface="굴림" panose="020b0600000101010101" pitchFamily="34" charset="-127"/>
            </a:endParaRPr>
          </a:p>
          <a:p>
            <a:pPr>
              <a:spcBef>
                <a:spcPct val="20000"/>
              </a:spcBef>
              <a:buFontTx/>
              <a:buChar char="•"/>
            </a:pPr>
            <a:r>
              <a:rPr lang="en-US" altLang="ko-KR" sz="1400" b="0">
                <a:ea typeface="굴림" panose="020b0600000101010101" pitchFamily="34" charset="-127"/>
              </a:rPr>
              <a:t>The largest amount of service costs will be allocated implementation period of 2021</a:t>
            </a:r>
          </a:p>
          <a:p>
            <a:pPr>
              <a:spcBef>
                <a:spcPct val="20000"/>
              </a:spcBef>
              <a:buFontTx/>
              <a:buChar char="•"/>
            </a:pPr>
            <a:endParaRPr lang="en-US" altLang="ko-KR" sz="1400" b="0">
              <a:ea typeface="굴림" panose="020b0600000101010101" pitchFamily="34" charset="-127"/>
            </a:endParaRPr>
          </a:p>
          <a:p>
            <a:pPr>
              <a:spcBef>
                <a:spcPct val="20000"/>
              </a:spcBef>
              <a:buFontTx/>
              <a:buChar char="•"/>
            </a:pPr>
            <a:r>
              <a:rPr lang="en-US" altLang="ko-KR" sz="1400" b="0">
                <a:ea typeface="굴림" panose="020b0600000101010101" pitchFamily="34" charset="-127"/>
              </a:rPr>
              <a:t>There should be no more investments in system in 2022</a:t>
            </a:r>
          </a:p>
        </p:txBody>
      </p:sp>
      <p:graphicFrame>
        <p:nvGraphicFramePr>
          <p:cNvPr id="2" name="Object 7">
            <a:extLst>
              <a:ext uri="{FF2B5EF4-FFF2-40B4-BE49-F238E27FC236}">
                <a16:creationId xmlns:a16="http://schemas.microsoft.com/office/drawing/2014/main" id="{14E8F219-2200-D9D7-D7E8-218C1A32F2AC}"/>
              </a:ext>
            </a:extLst>
          </p:cNvPr>
          <p:cNvGraphicFramePr>
            <a:graphicFrameLocks noGrp="1"/>
          </p:cNvGraphicFramePr>
          <p:nvPr>
            <p:ph idx="4294967295"/>
          </p:nvPr>
        </p:nvGraphicFramePr>
        <p:xfrm>
          <a:off x="382588" y="4183063"/>
          <a:ext cx="5434012" cy="2344737"/>
        </p:xfrm>
        <a:graphic>
          <a:graphicData uri="http://schemas.openxmlformats.org/drawingml/2006/chart">
            <c:chart xmlns:c="http://schemas.openxmlformats.org/drawingml/2006/chart" r:id="rId3"/>
          </a:graphicData>
        </a:graphic>
      </p:graphicFrame>
      <p:sp>
        <p:nvSpPr>
          <p:cNvPr id="56327" name="Rectangle 8">
            <a:extLst>
              <a:ext uri="{FF2B5EF4-FFF2-40B4-BE49-F238E27FC236}">
                <a16:creationId xmlns:a16="http://schemas.microsoft.com/office/drawing/2014/main" id="{4F51D107-AA52-B873-BEEF-9EC48A77C8DB}"/>
              </a:ext>
            </a:extLst>
          </p:cNvPr>
          <p:cNvSpPr>
            <a:spLocks noChangeArrowheads="1"/>
          </p:cNvSpPr>
          <p:nvPr/>
        </p:nvSpPr>
        <p:spPr bwMode="auto">
          <a:xfrm>
            <a:off x="4953000" y="4810125"/>
            <a:ext cx="93663" cy="85725"/>
          </a:xfrm>
          <a:prstGeom prst="rect">
            <a:avLst/>
          </a:prstGeom>
          <a:solidFill>
            <a:schemeClr val="accent2"/>
          </a:solidFill>
          <a:ln w="9525">
            <a:solidFill>
              <a:srgbClr val="000000"/>
            </a:solidFill>
            <a:miter lim="800000"/>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6328" name="Rectangle 9">
            <a:extLst>
              <a:ext uri="{FF2B5EF4-FFF2-40B4-BE49-F238E27FC236}">
                <a16:creationId xmlns:a16="http://schemas.microsoft.com/office/drawing/2014/main" id="{DA84BB8F-5B58-A807-9027-1D299C96DD88}"/>
              </a:ext>
            </a:extLst>
          </p:cNvPr>
          <p:cNvSpPr>
            <a:spLocks noChangeArrowheads="1"/>
          </p:cNvSpPr>
          <p:nvPr/>
        </p:nvSpPr>
        <p:spPr bwMode="auto">
          <a:xfrm>
            <a:off x="5138738" y="4784725"/>
            <a:ext cx="5397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Software</a:t>
            </a:r>
            <a:endParaRPr lang="en-US" altLang="ko-KR" sz="1000" b="0">
              <a:ea typeface="굴림" panose="020b0600000101010101" pitchFamily="34" charset="-127"/>
            </a:endParaRPr>
          </a:p>
        </p:txBody>
      </p:sp>
      <p:sp>
        <p:nvSpPr>
          <p:cNvPr id="56329" name="Rectangle 10">
            <a:extLst>
              <a:ext uri="{FF2B5EF4-FFF2-40B4-BE49-F238E27FC236}">
                <a16:creationId xmlns:a16="http://schemas.microsoft.com/office/drawing/2014/main" id="{3FBB9B8B-CDFC-83C2-1D92-030B07004DA5}"/>
              </a:ext>
            </a:extLst>
          </p:cNvPr>
          <p:cNvSpPr>
            <a:spLocks noChangeArrowheads="1"/>
          </p:cNvSpPr>
          <p:nvPr/>
        </p:nvSpPr>
        <p:spPr bwMode="auto">
          <a:xfrm>
            <a:off x="4953000" y="4443413"/>
            <a:ext cx="93663" cy="85725"/>
          </a:xfrm>
          <a:prstGeom prst="rect">
            <a:avLst/>
          </a:prstGeom>
          <a:solidFill>
            <a:schemeClr val="bg1"/>
          </a:solidFill>
          <a:ln w="9525">
            <a:solidFill>
              <a:srgbClr val="000000"/>
            </a:solidFill>
            <a:miter lim="800000"/>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6330" name="Rectangle 11">
            <a:extLst>
              <a:ext uri="{FF2B5EF4-FFF2-40B4-BE49-F238E27FC236}">
                <a16:creationId xmlns:a16="http://schemas.microsoft.com/office/drawing/2014/main" id="{BB946F56-67DB-9E5F-C63E-8061A305CFDE}"/>
              </a:ext>
            </a:extLst>
          </p:cNvPr>
          <p:cNvSpPr>
            <a:spLocks noChangeArrowheads="1"/>
          </p:cNvSpPr>
          <p:nvPr/>
        </p:nvSpPr>
        <p:spPr bwMode="auto">
          <a:xfrm>
            <a:off x="5138738" y="4416425"/>
            <a:ext cx="5953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Hardware</a:t>
            </a:r>
            <a:endParaRPr lang="en-US" altLang="ko-KR" sz="1000" b="0">
              <a:ea typeface="굴림" panose="020b0600000101010101" pitchFamily="34" charset="-127"/>
            </a:endParaRPr>
          </a:p>
        </p:txBody>
      </p:sp>
      <p:sp>
        <p:nvSpPr>
          <p:cNvPr id="56331" name="Rectangle 12">
            <a:extLst>
              <a:ext uri="{FF2B5EF4-FFF2-40B4-BE49-F238E27FC236}">
                <a16:creationId xmlns:a16="http://schemas.microsoft.com/office/drawing/2014/main" id="{217B77D5-A107-A641-1599-40F70F7FEA7D}"/>
              </a:ext>
            </a:extLst>
          </p:cNvPr>
          <p:cNvSpPr>
            <a:spLocks noChangeArrowheads="1"/>
          </p:cNvSpPr>
          <p:nvPr/>
        </p:nvSpPr>
        <p:spPr bwMode="auto">
          <a:xfrm>
            <a:off x="563563" y="4010025"/>
            <a:ext cx="4878387" cy="180049"/>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300">
                <a:ea typeface="굴림" panose="020b0600000101010101" pitchFamily="34" charset="-127"/>
              </a:rPr>
              <a:t>system investment costs by years </a:t>
            </a:r>
            <a:r>
              <a:rPr lang="en-US" altLang="ko-KR" sz="1300" b="0">
                <a:ea typeface="굴림" panose="020b0600000101010101" pitchFamily="34" charset="-127"/>
              </a:rPr>
              <a:t>(mil. €)</a:t>
            </a:r>
          </a:p>
        </p:txBody>
      </p:sp>
      <p:sp>
        <p:nvSpPr>
          <p:cNvPr id="56332" name="Rectangle 13">
            <a:extLst>
              <a:ext uri="{FF2B5EF4-FFF2-40B4-BE49-F238E27FC236}">
                <a16:creationId xmlns:a16="http://schemas.microsoft.com/office/drawing/2014/main" id="{620F813F-3DF3-EE92-C01C-422643667AFA}"/>
              </a:ext>
            </a:extLst>
          </p:cNvPr>
          <p:cNvSpPr>
            <a:spLocks noChangeArrowheads="1"/>
          </p:cNvSpPr>
          <p:nvPr/>
        </p:nvSpPr>
        <p:spPr bwMode="auto">
          <a:xfrm>
            <a:off x="376238" y="2701925"/>
            <a:ext cx="3714750" cy="347663"/>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The 1st release</a:t>
            </a:r>
          </a:p>
        </p:txBody>
      </p:sp>
      <p:sp>
        <p:nvSpPr>
          <p:cNvPr id="56333" name="Rectangle 14">
            <a:extLst>
              <a:ext uri="{FF2B5EF4-FFF2-40B4-BE49-F238E27FC236}">
                <a16:creationId xmlns:a16="http://schemas.microsoft.com/office/drawing/2014/main" id="{27DCA305-231D-231C-19C1-C2FD92083395}"/>
              </a:ext>
            </a:extLst>
          </p:cNvPr>
          <p:cNvSpPr>
            <a:spLocks noChangeArrowheads="1"/>
          </p:cNvSpPr>
          <p:nvPr/>
        </p:nvSpPr>
        <p:spPr bwMode="auto">
          <a:xfrm>
            <a:off x="376238" y="3148013"/>
            <a:ext cx="3703637" cy="347662"/>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Central functions, Mobile sales, Roll Out to Pharmacies, Stabilization</a:t>
            </a:r>
          </a:p>
        </p:txBody>
      </p:sp>
      <p:sp>
        <p:nvSpPr>
          <p:cNvPr id="56334" name="Rectangle 15">
            <a:extLst>
              <a:ext uri="{FF2B5EF4-FFF2-40B4-BE49-F238E27FC236}">
                <a16:creationId xmlns:a16="http://schemas.microsoft.com/office/drawing/2014/main" id="{5CF4891E-49D9-535F-303F-F73158FADFE6}"/>
              </a:ext>
            </a:extLst>
          </p:cNvPr>
          <p:cNvSpPr>
            <a:spLocks noChangeArrowheads="1"/>
          </p:cNvSpPr>
          <p:nvPr/>
        </p:nvSpPr>
        <p:spPr bwMode="auto">
          <a:xfrm>
            <a:off x="4191000" y="2701925"/>
            <a:ext cx="1152525" cy="7937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bg1"/>
                </a:solidFill>
                <a:ea typeface="굴림" panose="020b0600000101010101" pitchFamily="34" charset="-127"/>
              </a:rPr>
              <a:t>Further releases</a:t>
            </a:r>
          </a:p>
        </p:txBody>
      </p:sp>
      <p:sp>
        <p:nvSpPr>
          <p:cNvPr id="56335" name="AutoShape 16">
            <a:extLst>
              <a:ext uri="{FF2B5EF4-FFF2-40B4-BE49-F238E27FC236}">
                <a16:creationId xmlns:a16="http://schemas.microsoft.com/office/drawing/2014/main" id="{B5B3A237-9D4B-FC4E-0DF0-22DAAEC14087}"/>
              </a:ext>
            </a:extLst>
          </p:cNvPr>
          <p:cNvSpPr>
            <a:spLocks noChangeArrowheads="1"/>
          </p:cNvSpPr>
          <p:nvPr/>
        </p:nvSpPr>
        <p:spPr bwMode="auto">
          <a:xfrm rot="5400000">
            <a:off x="5067300" y="2978150"/>
            <a:ext cx="793750" cy="241300"/>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1000" b="0">
              <a:solidFill>
                <a:schemeClr val="bg1"/>
              </a:solidFill>
              <a:ea typeface="굴림" panose="020b0600000101010101" pitchFamily="34" charset="-127"/>
            </a:endParaRPr>
          </a:p>
        </p:txBody>
      </p:sp>
      <p:sp>
        <p:nvSpPr>
          <p:cNvPr id="56336" name="Text Box 17">
            <a:extLst>
              <a:ext uri="{FF2B5EF4-FFF2-40B4-BE49-F238E27FC236}">
                <a16:creationId xmlns:a16="http://schemas.microsoft.com/office/drawing/2014/main" id="{4E0E0BB5-BF14-67E7-4A68-C96A5548A0A0}"/>
              </a:ext>
            </a:extLst>
          </p:cNvPr>
          <p:cNvSpPr txBox="1">
            <a:spLocks noChangeArrowheads="1"/>
          </p:cNvSpPr>
          <p:nvPr/>
        </p:nvSpPr>
        <p:spPr bwMode="auto">
          <a:xfrm>
            <a:off x="954088" y="4359275"/>
            <a:ext cx="344487"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3.9</a:t>
            </a:r>
          </a:p>
        </p:txBody>
      </p:sp>
      <p:sp>
        <p:nvSpPr>
          <p:cNvPr id="56337" name="Text Box 18">
            <a:extLst>
              <a:ext uri="{FF2B5EF4-FFF2-40B4-BE49-F238E27FC236}">
                <a16:creationId xmlns:a16="http://schemas.microsoft.com/office/drawing/2014/main" id="{9934EF22-9025-A3A5-9C37-F10BDECF337E}"/>
              </a:ext>
            </a:extLst>
          </p:cNvPr>
          <p:cNvSpPr txBox="1">
            <a:spLocks noChangeArrowheads="1"/>
          </p:cNvSpPr>
          <p:nvPr/>
        </p:nvSpPr>
        <p:spPr bwMode="auto">
          <a:xfrm>
            <a:off x="2297113" y="4365625"/>
            <a:ext cx="344487"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3.6</a:t>
            </a:r>
          </a:p>
        </p:txBody>
      </p:sp>
      <p:sp>
        <p:nvSpPr>
          <p:cNvPr id="56338" name="Text Box 19">
            <a:extLst>
              <a:ext uri="{FF2B5EF4-FFF2-40B4-BE49-F238E27FC236}">
                <a16:creationId xmlns:a16="http://schemas.microsoft.com/office/drawing/2014/main" id="{EBBAF82F-C179-B742-399B-C5DE32AECFA0}"/>
              </a:ext>
            </a:extLst>
          </p:cNvPr>
          <p:cNvSpPr txBox="1">
            <a:spLocks noChangeArrowheads="1"/>
          </p:cNvSpPr>
          <p:nvPr/>
        </p:nvSpPr>
        <p:spPr bwMode="auto">
          <a:xfrm>
            <a:off x="3584575" y="5151438"/>
            <a:ext cx="342900"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ea typeface="굴림" panose="020b0600000101010101" pitchFamily="34" charset="-127"/>
              </a:rPr>
              <a:t>1.8</a:t>
            </a:r>
          </a:p>
        </p:txBody>
      </p:sp>
      <p:sp>
        <p:nvSpPr>
          <p:cNvPr id="56339" name="Rectangle 20">
            <a:extLst>
              <a:ext uri="{FF2B5EF4-FFF2-40B4-BE49-F238E27FC236}">
                <a16:creationId xmlns:a16="http://schemas.microsoft.com/office/drawing/2014/main" id="{82A5A08D-7E15-D93C-78CD-2A8F18638030}"/>
              </a:ext>
            </a:extLst>
          </p:cNvPr>
          <p:cNvSpPr>
            <a:spLocks noChangeArrowheads="1"/>
          </p:cNvSpPr>
          <p:nvPr/>
        </p:nvSpPr>
        <p:spPr bwMode="auto">
          <a:xfrm>
            <a:off x="4953000" y="4619625"/>
            <a:ext cx="93663" cy="85725"/>
          </a:xfrm>
          <a:prstGeom prst="rect">
            <a:avLst/>
          </a:prstGeom>
          <a:solidFill>
            <a:schemeClr val="folHlink"/>
          </a:solidFill>
          <a:ln w="9525">
            <a:solidFill>
              <a:srgbClr val="000000"/>
            </a:solidFill>
            <a:miter lim="800000"/>
          </a:ln>
        </p:spPr>
        <p:txBody>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6340" name="Rectangle 21">
            <a:extLst>
              <a:ext uri="{FF2B5EF4-FFF2-40B4-BE49-F238E27FC236}">
                <a16:creationId xmlns:a16="http://schemas.microsoft.com/office/drawing/2014/main" id="{D435AEED-DCFA-1E43-B801-0BB16CEA6764}"/>
              </a:ext>
            </a:extLst>
          </p:cNvPr>
          <p:cNvSpPr>
            <a:spLocks noChangeArrowheads="1"/>
          </p:cNvSpPr>
          <p:nvPr/>
        </p:nvSpPr>
        <p:spPr bwMode="auto">
          <a:xfrm>
            <a:off x="5138738" y="4594225"/>
            <a:ext cx="5270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b="0">
                <a:solidFill>
                  <a:srgbClr val="000000"/>
                </a:solidFill>
                <a:ea typeface="굴림" panose="020b0600000101010101" pitchFamily="34" charset="-127"/>
              </a:rPr>
              <a:t>Services</a:t>
            </a:r>
            <a:endParaRPr lang="en-US" altLang="ko-KR" sz="1000" b="0">
              <a:ea typeface="굴림" panose="020b0600000101010101" pitchFamily="34" charset="-127"/>
            </a:endParaRPr>
          </a:p>
        </p:txBody>
      </p:sp>
      <p:sp>
        <p:nvSpPr>
          <p:cNvPr id="56341" name="Text Box 22">
            <a:extLst>
              <a:ext uri="{FF2B5EF4-FFF2-40B4-BE49-F238E27FC236}">
                <a16:creationId xmlns:a16="http://schemas.microsoft.com/office/drawing/2014/main" id="{E622FB00-CC2D-56E5-C069-C5BB481CBD23}"/>
              </a:ext>
            </a:extLst>
          </p:cNvPr>
          <p:cNvSpPr txBox="1">
            <a:spLocks noChangeArrowheads="1"/>
          </p:cNvSpPr>
          <p:nvPr/>
        </p:nvSpPr>
        <p:spPr bwMode="auto">
          <a:xfrm>
            <a:off x="7424738" y="1552575"/>
            <a:ext cx="2225675" cy="363538"/>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US" altLang="ko-KR">
                <a:ea typeface="굴림" panose="020b0600000101010101" pitchFamily="34" charset="-127"/>
              </a:rPr>
              <a:t>Based on final offer</a:t>
            </a:r>
          </a:p>
        </p:txBody>
      </p:sp>
      <p:sp>
        <p:nvSpPr>
          <p:cNvPr id="56342" name="Rectangle 23">
            <a:extLst>
              <a:ext uri="{FF2B5EF4-FFF2-40B4-BE49-F238E27FC236}">
                <a16:creationId xmlns:a16="http://schemas.microsoft.com/office/drawing/2014/main" id="{590CAB4A-2658-A091-7822-65EF59365802}"/>
              </a:ext>
            </a:extLst>
          </p:cNvPr>
          <p:cNvSpPr>
            <a:spLocks noChangeArrowheads="1"/>
          </p:cNvSpPr>
          <p:nvPr/>
        </p:nvSpPr>
        <p:spPr bwMode="auto">
          <a:xfrm>
            <a:off x="38100" y="2203450"/>
            <a:ext cx="784225" cy="276999"/>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b="0">
                <a:ea typeface="굴림" panose="020b0600000101010101" pitchFamily="34" charset="-127"/>
              </a:rPr>
              <a:t>July </a:t>
            </a:r>
            <a:br>
              <a:rPr lang="en-US" altLang="ko-KR" sz="1000" b="0">
                <a:ea typeface="굴림" panose="020b0600000101010101" pitchFamily="34" charset="-127"/>
              </a:rPr>
            </a:br>
            <a:r>
              <a:rPr lang="en-US" altLang="ko-KR" sz="1000" b="0">
                <a:ea typeface="굴림" panose="020b0600000101010101" pitchFamily="34" charset="-127"/>
              </a:rPr>
              <a:t>2021</a:t>
            </a:r>
          </a:p>
        </p:txBody>
      </p:sp>
      <p:sp>
        <p:nvSpPr>
          <p:cNvPr id="56343" name="Rectangle 24">
            <a:extLst>
              <a:ext uri="{FF2B5EF4-FFF2-40B4-BE49-F238E27FC236}">
                <a16:creationId xmlns:a16="http://schemas.microsoft.com/office/drawing/2014/main" id="{7CB782FC-FDCF-E542-495E-71EB2B2E31B9}"/>
              </a:ext>
            </a:extLst>
          </p:cNvPr>
          <p:cNvSpPr>
            <a:spLocks noChangeArrowheads="1"/>
          </p:cNvSpPr>
          <p:nvPr/>
        </p:nvSpPr>
        <p:spPr bwMode="auto">
          <a:xfrm>
            <a:off x="3730625" y="2182813"/>
            <a:ext cx="784225" cy="276999"/>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b="0">
                <a:ea typeface="굴림" panose="020b0600000101010101" pitchFamily="34" charset="-127"/>
              </a:rPr>
              <a:t>December</a:t>
            </a:r>
            <a:br>
              <a:rPr lang="en-US" altLang="ko-KR" sz="1000" b="0">
                <a:ea typeface="굴림" panose="020b0600000101010101" pitchFamily="34" charset="-127"/>
              </a:rPr>
            </a:br>
            <a:r>
              <a:rPr lang="en-US" altLang="ko-KR" sz="1000" b="0">
                <a:ea typeface="굴림" panose="020b0600000101010101" pitchFamily="34" charset="-127"/>
              </a:rPr>
              <a:t>2023</a:t>
            </a:r>
          </a:p>
        </p:txBody>
      </p:sp>
      <p:sp>
        <p:nvSpPr>
          <p:cNvPr id="56344" name="Rectangle 25">
            <a:extLst>
              <a:ext uri="{FF2B5EF4-FFF2-40B4-BE49-F238E27FC236}">
                <a16:creationId xmlns:a16="http://schemas.microsoft.com/office/drawing/2014/main" id="{7E027E90-977A-BD62-684D-078A1B510555}"/>
              </a:ext>
            </a:extLst>
          </p:cNvPr>
          <p:cNvSpPr>
            <a:spLocks noChangeArrowheads="1"/>
          </p:cNvSpPr>
          <p:nvPr/>
        </p:nvSpPr>
        <p:spPr bwMode="auto">
          <a:xfrm>
            <a:off x="1836738" y="2182813"/>
            <a:ext cx="784225" cy="276999"/>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b="0">
                <a:ea typeface="굴림" panose="020b0600000101010101" pitchFamily="34" charset="-127"/>
              </a:rPr>
              <a:t>July </a:t>
            </a:r>
            <a:br>
              <a:rPr lang="en-US" altLang="ko-KR" sz="1000" b="0">
                <a:ea typeface="굴림" panose="020b0600000101010101" pitchFamily="34" charset="-127"/>
              </a:rPr>
            </a:br>
            <a:r>
              <a:rPr lang="en-US" altLang="ko-KR" sz="1000" b="0">
                <a:ea typeface="굴림" panose="020b0600000101010101" pitchFamily="34" charset="-127"/>
              </a:rPr>
              <a:t>2022</a:t>
            </a:r>
          </a:p>
        </p:txBody>
      </p:sp>
      <p:grpSp>
        <p:nvGrpSpPr>
          <p:cNvPr id="56345" name="Group 26">
            <a:extLst>
              <a:ext uri="{FF2B5EF4-FFF2-40B4-BE49-F238E27FC236}">
                <a16:creationId xmlns:a16="http://schemas.microsoft.com/office/drawing/2014/main" id="{F55F0134-40FE-3420-103D-129BA03E532E}"/>
              </a:ext>
            </a:extLst>
          </p:cNvPr>
          <p:cNvGrpSpPr/>
          <p:nvPr/>
        </p:nvGrpSpPr>
        <p:grpSpPr>
          <a:xfrm>
            <a:off x="342900" y="2498725"/>
            <a:ext cx="3865563" cy="139700"/>
            <a:chOff x="199" y="1531"/>
            <a:chExt cx="2248" cy="173"/>
          </a:xfrm>
        </p:grpSpPr>
        <p:sp>
          <p:nvSpPr>
            <p:cNvPr id="56347" name="AutoShape 27">
              <a:extLst>
                <a:ext uri="{FF2B5EF4-FFF2-40B4-BE49-F238E27FC236}">
                  <a16:creationId xmlns:a16="http://schemas.microsoft.com/office/drawing/2014/main" id="{B4FF8CAC-EA9D-CEFB-457A-1CCCAC1C46F7}"/>
                </a:ext>
              </a:extLst>
            </p:cNvPr>
            <p:cNvSpPr>
              <a:spLocks noChangeArrowheads="1"/>
            </p:cNvSpPr>
            <p:nvPr/>
          </p:nvSpPr>
          <p:spPr bwMode="auto">
            <a:xfrm flipV="1">
              <a:off x="1254" y="1545"/>
              <a:ext cx="101" cy="159"/>
            </a:xfrm>
            <a:prstGeom prst="triangle">
              <a:avLst>
                <a:gd name="adj" fmla="val 50000"/>
              </a:avLst>
            </a:prstGeom>
            <a:solidFill>
              <a:schemeClr val="accent1"/>
            </a:solidFill>
            <a:ln w="12700"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6348" name="AutoShape 28">
              <a:extLst>
                <a:ext uri="{FF2B5EF4-FFF2-40B4-BE49-F238E27FC236}">
                  <a16:creationId xmlns:a16="http://schemas.microsoft.com/office/drawing/2014/main" id="{2E4B9E55-80C6-9FD0-96B8-F0596AAC3366}"/>
                </a:ext>
              </a:extLst>
            </p:cNvPr>
            <p:cNvSpPr>
              <a:spLocks noChangeArrowheads="1"/>
            </p:cNvSpPr>
            <p:nvPr/>
          </p:nvSpPr>
          <p:spPr bwMode="auto">
            <a:xfrm flipV="1">
              <a:off x="199" y="1544"/>
              <a:ext cx="101" cy="159"/>
            </a:xfrm>
            <a:prstGeom prst="triangle">
              <a:avLst>
                <a:gd name="adj" fmla="val 50000"/>
              </a:avLst>
            </a:prstGeom>
            <a:solidFill>
              <a:schemeClr val="accent1"/>
            </a:solidFill>
            <a:ln w="12700"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6349" name="AutoShape 29">
              <a:extLst>
                <a:ext uri="{FF2B5EF4-FFF2-40B4-BE49-F238E27FC236}">
                  <a16:creationId xmlns:a16="http://schemas.microsoft.com/office/drawing/2014/main" id="{9E2C919C-0820-51F6-0448-36E6827D2A46}"/>
                </a:ext>
              </a:extLst>
            </p:cNvPr>
            <p:cNvSpPr>
              <a:spLocks noChangeArrowheads="1"/>
            </p:cNvSpPr>
            <p:nvPr/>
          </p:nvSpPr>
          <p:spPr bwMode="auto">
            <a:xfrm flipV="1">
              <a:off x="2346" y="1531"/>
              <a:ext cx="101" cy="159"/>
            </a:xfrm>
            <a:prstGeom prst="triangle">
              <a:avLst>
                <a:gd name="adj" fmla="val 50000"/>
              </a:avLst>
            </a:prstGeom>
            <a:solidFill>
              <a:schemeClr val="accent1"/>
            </a:solidFill>
            <a:ln w="12700"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
        <p:nvSpPr>
          <p:cNvPr id="56346" name="Text Box 30">
            <a:extLst>
              <a:ext uri="{FF2B5EF4-FFF2-40B4-BE49-F238E27FC236}">
                <a16:creationId xmlns:a16="http://schemas.microsoft.com/office/drawing/2014/main" id="{8AB7C104-B697-F41D-4FE8-34A4965F1B68}"/>
              </a:ext>
            </a:extLst>
          </p:cNvPr>
          <p:cNvSpPr txBox="1">
            <a:spLocks noChangeArrowheads="1"/>
          </p:cNvSpPr>
          <p:nvPr/>
        </p:nvSpPr>
        <p:spPr bwMode="auto">
          <a:xfrm>
            <a:off x="7581900" y="241300"/>
            <a:ext cx="20637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Negotiation and mobilization</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60417" name="Rectangle 2">
            <a:extLst>
              <a:ext uri="{FF2B5EF4-FFF2-40B4-BE49-F238E27FC236}">
                <a16:creationId xmlns:a16="http://schemas.microsoft.com/office/drawing/2014/main" id="{533218A3-76EB-1284-2FAB-21BBD8EBCC64}"/>
              </a:ext>
            </a:extLst>
          </p:cNvPr>
          <p:cNvSpPr>
            <a:spLocks noChangeArrowheads="1"/>
          </p:cNvSpPr>
          <p:nvPr/>
        </p:nvSpPr>
        <p:spPr bwMode="auto">
          <a:xfrm>
            <a:off x="6975475" y="2428875"/>
            <a:ext cx="2659063" cy="4014788"/>
          </a:xfrm>
          <a:prstGeom prst="rect">
            <a:avLst/>
          </a:prstGeom>
          <a:solidFill>
            <a:schemeClr val="bg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lstStyle>
            <a:lvl1pPr marL="139700" indent="-13970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10000"/>
              </a:lnSpc>
              <a:spcBef>
                <a:spcPct val="10000"/>
              </a:spcBef>
              <a:buFontTx/>
              <a:buChar char="•"/>
            </a:pPr>
            <a:r>
              <a:rPr lang="en-US" altLang="ko-KR" sz="1000" b="0">
                <a:ea typeface="굴림" panose="020b0600000101010101" pitchFamily="34" charset="-127"/>
              </a:rPr>
              <a:t>Leverage purchasing power across divisions</a:t>
            </a:r>
          </a:p>
          <a:p>
            <a:pPr>
              <a:lnSpc>
                <a:spcPct val="110000"/>
              </a:lnSpc>
              <a:spcBef>
                <a:spcPct val="10000"/>
              </a:spcBef>
              <a:buFontTx/>
              <a:buChar char="•"/>
            </a:pPr>
            <a:r>
              <a:rPr lang="en-US" altLang="ko-KR" sz="1000" b="0">
                <a:ea typeface="굴림" panose="020b0600000101010101" pitchFamily="34" charset="-127"/>
              </a:rPr>
              <a:t>Out of stock reduction </a:t>
            </a:r>
          </a:p>
          <a:p>
            <a:pPr>
              <a:lnSpc>
                <a:spcPct val="110000"/>
              </a:lnSpc>
              <a:spcBef>
                <a:spcPct val="10000"/>
              </a:spcBef>
              <a:buFontTx/>
              <a:buChar char="•"/>
            </a:pPr>
            <a:r>
              <a:rPr lang="en-US" altLang="ko-KR" sz="1000" b="0">
                <a:ea typeface="굴림" panose="020b0600000101010101" pitchFamily="34" charset="-127"/>
              </a:rPr>
              <a:t>Efficiency due to process automation</a:t>
            </a:r>
          </a:p>
          <a:p>
            <a:pPr>
              <a:lnSpc>
                <a:spcPct val="110000"/>
              </a:lnSpc>
              <a:spcBef>
                <a:spcPct val="10000"/>
              </a:spcBef>
              <a:buFontTx/>
              <a:buChar char="•"/>
            </a:pPr>
            <a:r>
              <a:rPr lang="en-US" altLang="ko-KR" sz="1000" b="0">
                <a:ea typeface="굴림" panose="020b0600000101010101" pitchFamily="34" charset="-127"/>
              </a:rPr>
              <a:t>Decrease in stocks rotation</a:t>
            </a:r>
          </a:p>
          <a:p>
            <a:pPr>
              <a:lnSpc>
                <a:spcPct val="110000"/>
              </a:lnSpc>
              <a:spcBef>
                <a:spcPct val="10000"/>
              </a:spcBef>
              <a:buFontTx/>
              <a:buChar char="•"/>
            </a:pPr>
            <a:r>
              <a:rPr lang="en-US" altLang="ko-KR" sz="1000" b="0">
                <a:ea typeface="굴림" panose="020b0600000101010101" pitchFamily="34" charset="-127"/>
              </a:rPr>
              <a:t>Reduction of order fulfillment cycle</a:t>
            </a:r>
          </a:p>
          <a:p>
            <a:pPr>
              <a:lnSpc>
                <a:spcPct val="110000"/>
              </a:lnSpc>
              <a:spcBef>
                <a:spcPct val="10000"/>
              </a:spcBef>
              <a:buFontTx/>
              <a:buChar char="•"/>
            </a:pPr>
            <a:r>
              <a:rPr lang="en-US" altLang="ko-KR" sz="1000" b="0">
                <a:ea typeface="굴림" panose="020b0600000101010101" pitchFamily="34" charset="-127"/>
              </a:rPr>
              <a:t>Efficient transport planning, reduction of unit transportation cost </a:t>
            </a:r>
          </a:p>
          <a:p>
            <a:pPr>
              <a:lnSpc>
                <a:spcPct val="110000"/>
              </a:lnSpc>
              <a:spcBef>
                <a:spcPct val="10000"/>
              </a:spcBef>
              <a:buFontTx/>
              <a:buChar char="•"/>
            </a:pPr>
            <a:r>
              <a:rPr lang="en-US" altLang="ko-KR" sz="1000" b="0">
                <a:ea typeface="굴림" panose="020b0600000101010101" pitchFamily="34" charset="-127"/>
              </a:rPr>
              <a:t>Reduced lost sales due to stock-outs</a:t>
            </a:r>
          </a:p>
          <a:p>
            <a:pPr>
              <a:lnSpc>
                <a:spcPct val="110000"/>
              </a:lnSpc>
              <a:spcBef>
                <a:spcPct val="10000"/>
              </a:spcBef>
              <a:buFontTx/>
              <a:buChar char="•"/>
            </a:pPr>
            <a:r>
              <a:rPr lang="en-US" altLang="ko-KR" sz="1000" b="0">
                <a:ea typeface="굴림" panose="020b0600000101010101" pitchFamily="34" charset="-127"/>
              </a:rPr>
              <a:t>Sales increase </a:t>
            </a:r>
          </a:p>
          <a:p>
            <a:pPr>
              <a:lnSpc>
                <a:spcPct val="110000"/>
              </a:lnSpc>
              <a:spcBef>
                <a:spcPct val="10000"/>
              </a:spcBef>
              <a:buFontTx/>
              <a:buChar char="•"/>
            </a:pPr>
            <a:r>
              <a:rPr lang="en-US" altLang="ko-KR" sz="1000" b="0">
                <a:ea typeface="굴림" panose="020b0600000101010101" pitchFamily="34" charset="-127"/>
              </a:rPr>
              <a:t>Increase of Internal rate of return (IRR) on investment</a:t>
            </a:r>
          </a:p>
          <a:p>
            <a:pPr>
              <a:lnSpc>
                <a:spcPct val="110000"/>
              </a:lnSpc>
              <a:spcBef>
                <a:spcPct val="10000"/>
              </a:spcBef>
              <a:buFontTx/>
              <a:buChar char="•"/>
            </a:pPr>
            <a:r>
              <a:rPr lang="en-US" altLang="ko-KR" sz="1000" b="0">
                <a:ea typeface="굴림" panose="020b0600000101010101" pitchFamily="34" charset="-127"/>
              </a:rPr>
              <a:t>Reduced cash-to-cash cycle time</a:t>
            </a:r>
          </a:p>
          <a:p>
            <a:pPr>
              <a:lnSpc>
                <a:spcPct val="110000"/>
              </a:lnSpc>
              <a:spcBef>
                <a:spcPct val="10000"/>
              </a:spcBef>
              <a:buFontTx/>
              <a:buChar char="•"/>
            </a:pPr>
            <a:r>
              <a:rPr lang="en-US" altLang="ko-KR" sz="1000" b="0">
                <a:ea typeface="굴림" panose="020b0600000101010101" pitchFamily="34" charset="-127"/>
              </a:rPr>
              <a:t>Transaction processing</a:t>
            </a:r>
          </a:p>
          <a:p>
            <a:pPr>
              <a:lnSpc>
                <a:spcPct val="110000"/>
              </a:lnSpc>
              <a:spcBef>
                <a:spcPct val="10000"/>
              </a:spcBef>
              <a:buFontTx/>
              <a:buChar char="•"/>
            </a:pPr>
            <a:r>
              <a:rPr lang="en-US" altLang="ko-KR" sz="1000" b="0">
                <a:ea typeface="굴림" panose="020b0600000101010101" pitchFamily="34" charset="-127"/>
              </a:rPr>
              <a:t>Improve reporting &amp; controls</a:t>
            </a:r>
          </a:p>
          <a:p>
            <a:pPr>
              <a:lnSpc>
                <a:spcPct val="110000"/>
              </a:lnSpc>
              <a:spcBef>
                <a:spcPct val="10000"/>
              </a:spcBef>
              <a:buFontTx/>
              <a:buChar char="•"/>
            </a:pPr>
            <a:r>
              <a:rPr lang="en-US" altLang="ko-KR" sz="1000" b="0">
                <a:ea typeface="굴림" panose="020b0600000101010101" pitchFamily="34" charset="-127"/>
              </a:rPr>
              <a:t>Reduction in HW and SW costs</a:t>
            </a:r>
          </a:p>
          <a:p>
            <a:pPr>
              <a:lnSpc>
                <a:spcPct val="110000"/>
              </a:lnSpc>
              <a:spcBef>
                <a:spcPct val="10000"/>
              </a:spcBef>
              <a:buFontTx/>
              <a:buChar char="•"/>
            </a:pPr>
            <a:r>
              <a:rPr lang="en-US" altLang="ko-KR" sz="1000" b="0">
                <a:ea typeface="굴림" panose="020b0600000101010101" pitchFamily="34" charset="-127"/>
              </a:rPr>
              <a:t>Reduction in resource costs</a:t>
            </a:r>
          </a:p>
          <a:p>
            <a:pPr>
              <a:lnSpc>
                <a:spcPct val="110000"/>
              </a:lnSpc>
              <a:spcBef>
                <a:spcPct val="10000"/>
              </a:spcBef>
              <a:buFontTx/>
              <a:buChar char="•"/>
            </a:pPr>
            <a:r>
              <a:rPr lang="en-US" altLang="ko-KR" sz="1000" b="0">
                <a:ea typeface="굴림" panose="020b0600000101010101" pitchFamily="34" charset="-127"/>
              </a:rPr>
              <a:t>Reduction in data center operations costs</a:t>
            </a:r>
          </a:p>
          <a:p>
            <a:pPr>
              <a:lnSpc>
                <a:spcPct val="110000"/>
              </a:lnSpc>
              <a:spcBef>
                <a:spcPct val="10000"/>
              </a:spcBef>
              <a:buFontTx/>
              <a:buChar char="•"/>
            </a:pPr>
            <a:r>
              <a:rPr lang="en-US" altLang="ko-KR" sz="1000" b="0">
                <a:ea typeface="굴림" panose="020b0600000101010101" pitchFamily="34" charset="-127"/>
              </a:rPr>
              <a:t>Reduction in resource costs</a:t>
            </a:r>
          </a:p>
          <a:p>
            <a:pPr>
              <a:lnSpc>
                <a:spcPct val="110000"/>
              </a:lnSpc>
              <a:spcBef>
                <a:spcPct val="10000"/>
              </a:spcBef>
              <a:buFontTx/>
              <a:buChar char="•"/>
            </a:pPr>
            <a:r>
              <a:rPr lang="en-US" altLang="ko-KR" sz="1000" b="0">
                <a:ea typeface="굴림" panose="020b0600000101010101" pitchFamily="34" charset="-127"/>
              </a:rPr>
              <a:t>Increased efficiency in employees re-allocation</a:t>
            </a:r>
          </a:p>
        </p:txBody>
      </p:sp>
      <p:sp>
        <p:nvSpPr>
          <p:cNvPr id="60418" name="Rectangle 3">
            <a:extLst>
              <a:ext uri="{FF2B5EF4-FFF2-40B4-BE49-F238E27FC236}">
                <a16:creationId xmlns:a16="http://schemas.microsoft.com/office/drawing/2014/main" id="{2D64F0F9-981F-3BEE-C53D-D69AAF972218}"/>
              </a:ext>
            </a:extLst>
          </p:cNvPr>
          <p:cNvSpPr>
            <a:spLocks noChangeArrowheads="1"/>
          </p:cNvSpPr>
          <p:nvPr/>
        </p:nvSpPr>
        <p:spPr bwMode="auto">
          <a:xfrm>
            <a:off x="5672138" y="6196013"/>
            <a:ext cx="309562" cy="889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800" b="0">
              <a:ea typeface="굴림" panose="020b0600000101010101" pitchFamily="34" charset="-127"/>
            </a:endParaRPr>
          </a:p>
        </p:txBody>
      </p:sp>
      <p:sp>
        <p:nvSpPr>
          <p:cNvPr id="60419" name="Rectangle 4">
            <a:extLst>
              <a:ext uri="{FF2B5EF4-FFF2-40B4-BE49-F238E27FC236}">
                <a16:creationId xmlns:a16="http://schemas.microsoft.com/office/drawing/2014/main" id="{5C7FB920-C6DF-0863-788C-753170995374}"/>
              </a:ext>
            </a:extLst>
          </p:cNvPr>
          <p:cNvSpPr>
            <a:spLocks noChangeArrowheads="1"/>
          </p:cNvSpPr>
          <p:nvPr/>
        </p:nvSpPr>
        <p:spPr bwMode="auto">
          <a:xfrm>
            <a:off x="5675313" y="6038850"/>
            <a:ext cx="307975" cy="88900"/>
          </a:xfrm>
          <a:prstGeom prst="rect">
            <a:avLst/>
          </a:prstGeom>
          <a:solidFill>
            <a:srgbClr val="EAEAEA"/>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800" b="0">
              <a:ea typeface="굴림" panose="020b0600000101010101" pitchFamily="34" charset="-127"/>
            </a:endParaRPr>
          </a:p>
        </p:txBody>
      </p:sp>
      <p:sp>
        <p:nvSpPr>
          <p:cNvPr id="60420" name="Rectangle 5">
            <a:extLst>
              <a:ext uri="{FF2B5EF4-FFF2-40B4-BE49-F238E27FC236}">
                <a16:creationId xmlns:a16="http://schemas.microsoft.com/office/drawing/2014/main" id="{F5910F93-3B8F-DD6A-1EAE-0AFE6867C393}"/>
              </a:ext>
            </a:extLst>
          </p:cNvPr>
          <p:cNvSpPr>
            <a:spLocks noChangeArrowheads="1"/>
          </p:cNvSpPr>
          <p:nvPr/>
        </p:nvSpPr>
        <p:spPr bwMode="auto">
          <a:xfrm>
            <a:off x="5948363" y="5951538"/>
            <a:ext cx="674687"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US" altLang="ko-KR" sz="800" b="0">
                <a:ea typeface="굴림" panose="020b0600000101010101" pitchFamily="34" charset="-127"/>
              </a:rPr>
              <a:t>Costs</a:t>
            </a:r>
          </a:p>
        </p:txBody>
      </p:sp>
      <p:sp>
        <p:nvSpPr>
          <p:cNvPr id="60421" name="Rectangle 6">
            <a:extLst>
              <a:ext uri="{FF2B5EF4-FFF2-40B4-BE49-F238E27FC236}">
                <a16:creationId xmlns:a16="http://schemas.microsoft.com/office/drawing/2014/main" id="{32878D5A-E15A-1E6B-DB72-31434C711D31}"/>
              </a:ext>
            </a:extLst>
          </p:cNvPr>
          <p:cNvSpPr>
            <a:spLocks noChangeArrowheads="1"/>
          </p:cNvSpPr>
          <p:nvPr/>
        </p:nvSpPr>
        <p:spPr bwMode="auto">
          <a:xfrm>
            <a:off x="5956300" y="6132513"/>
            <a:ext cx="66675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US" altLang="ko-KR" sz="800" b="0">
                <a:ea typeface="굴림" panose="020b0600000101010101" pitchFamily="34" charset="-127"/>
              </a:rPr>
              <a:t>Benefits</a:t>
            </a:r>
          </a:p>
        </p:txBody>
      </p:sp>
      <p:sp>
        <p:nvSpPr>
          <p:cNvPr id="60423" name="Rectangle 8">
            <a:extLst>
              <a:ext uri="{FF2B5EF4-FFF2-40B4-BE49-F238E27FC236}">
                <a16:creationId xmlns:a16="http://schemas.microsoft.com/office/drawing/2014/main" id="{F680DADE-5B08-5E97-85D4-3A12AA9B6A4B}"/>
              </a:ext>
            </a:extLst>
          </p:cNvPr>
          <p:cNvSpPr>
            <a:spLocks noChangeArrowheads="1"/>
          </p:cNvSpPr>
          <p:nvPr/>
        </p:nvSpPr>
        <p:spPr bwMode="auto">
          <a:xfrm>
            <a:off x="268288" y="2795588"/>
            <a:ext cx="6500812" cy="3648075"/>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24" name="Rectangle 9">
            <a:extLst>
              <a:ext uri="{FF2B5EF4-FFF2-40B4-BE49-F238E27FC236}">
                <a16:creationId xmlns:a16="http://schemas.microsoft.com/office/drawing/2014/main" id="{F2ABE83B-947E-CC97-B5DE-5D250D9684A6}"/>
              </a:ext>
            </a:extLst>
          </p:cNvPr>
          <p:cNvSpPr>
            <a:spLocks noChangeArrowheads="1"/>
          </p:cNvSpPr>
          <p:nvPr/>
        </p:nvSpPr>
        <p:spPr bwMode="auto">
          <a:xfrm>
            <a:off x="230188" y="2049463"/>
            <a:ext cx="140652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ClrTx/>
              <a:buFontTx/>
              <a:buNone/>
            </a:pPr>
            <a:r>
              <a:rPr lang="en-US" altLang="ko-KR" sz="1000">
                <a:solidFill>
                  <a:srgbClr val="443B43"/>
                </a:solidFill>
                <a:ea typeface="굴림" panose="020b0600000101010101" pitchFamily="34" charset="-127"/>
              </a:rPr>
              <a:t>Step 1: Implementation </a:t>
            </a:r>
            <a:br>
              <a:rPr lang="en-US" altLang="ko-KR" sz="1000">
                <a:solidFill>
                  <a:srgbClr val="443B43"/>
                </a:solidFill>
                <a:ea typeface="굴림" panose="020b0600000101010101" pitchFamily="34" charset="-127"/>
              </a:rPr>
            </a:br>
            <a:r>
              <a:rPr lang="en-US" altLang="ko-KR" sz="1000">
                <a:solidFill>
                  <a:srgbClr val="443B43"/>
                </a:solidFill>
                <a:ea typeface="굴림" panose="020b0600000101010101" pitchFamily="34" charset="-127"/>
              </a:rPr>
              <a:t>and stabilization</a:t>
            </a:r>
          </a:p>
        </p:txBody>
      </p:sp>
      <p:sp>
        <p:nvSpPr>
          <p:cNvPr id="60425" name="Rectangle 10">
            <a:extLst>
              <a:ext uri="{FF2B5EF4-FFF2-40B4-BE49-F238E27FC236}">
                <a16:creationId xmlns:a16="http://schemas.microsoft.com/office/drawing/2014/main" id="{D60A2F1B-27B0-045A-702F-07F1792683E1}"/>
              </a:ext>
            </a:extLst>
          </p:cNvPr>
          <p:cNvSpPr>
            <a:spLocks noGrp="1" noChangeArrowheads="1"/>
          </p:cNvSpPr>
          <p:nvPr>
            <p:ph type="title"/>
          </p:nvPr>
        </p:nvSpPr>
        <p:spPr>
          <a:xfrm>
            <a:off x="266700" y="596900"/>
            <a:ext cx="9367838" cy="609398"/>
          </a:xfrm>
        </p:spPr>
        <p:txBody>
          <a:bodyPr/>
          <a:lstStyle/>
          <a:p>
            <a:r>
              <a:rPr lang="en-US" altLang="ko-KR">
                <a:ea typeface="굴림" panose="020b0600000101010101" pitchFamily="34" charset="-127"/>
              </a:rPr>
              <a:t>Business benefits of the OOO investment occur after the system is implemented and stabilized</a:t>
            </a:r>
            <a:r>
              <a:rPr lang="en-US" altLang="ko-KR" baseline="30000">
                <a:ea typeface="굴림" panose="020b0600000101010101" pitchFamily="34" charset="-127"/>
              </a:rPr>
              <a:t>1)</a:t>
            </a:r>
          </a:p>
        </p:txBody>
      </p:sp>
      <p:sp>
        <p:nvSpPr>
          <p:cNvPr id="60426" name="Rectangle 11">
            <a:extLst>
              <a:ext uri="{FF2B5EF4-FFF2-40B4-BE49-F238E27FC236}">
                <a16:creationId xmlns:a16="http://schemas.microsoft.com/office/drawing/2014/main" id="{B2E63392-B1D3-5F05-777B-3C2963E325CC}"/>
              </a:ext>
            </a:extLst>
          </p:cNvPr>
          <p:cNvSpPr>
            <a:spLocks noChangeArrowheads="1"/>
          </p:cNvSpPr>
          <p:nvPr/>
        </p:nvSpPr>
        <p:spPr bwMode="auto">
          <a:xfrm>
            <a:off x="1146175" y="6105525"/>
            <a:ext cx="584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ERP </a:t>
            </a:r>
            <a:br>
              <a:rPr lang="en-US" altLang="ko-KR" sz="800" b="0">
                <a:ea typeface="굴림" panose="020b0600000101010101" pitchFamily="34" charset="-127"/>
              </a:rPr>
            </a:br>
            <a:r>
              <a:rPr lang="en-US" altLang="ko-KR" sz="800" b="0">
                <a:ea typeface="굴림" panose="020b0600000101010101" pitchFamily="34" charset="-127"/>
              </a:rPr>
              <a:t>costs</a:t>
            </a:r>
          </a:p>
        </p:txBody>
      </p:sp>
      <p:sp>
        <p:nvSpPr>
          <p:cNvPr id="60427" name="Rectangle 12">
            <a:extLst>
              <a:ext uri="{FF2B5EF4-FFF2-40B4-BE49-F238E27FC236}">
                <a16:creationId xmlns:a16="http://schemas.microsoft.com/office/drawing/2014/main" id="{F63AEDAB-4A0E-35DD-127C-6A01E13AB143}"/>
              </a:ext>
            </a:extLst>
          </p:cNvPr>
          <p:cNvSpPr>
            <a:spLocks noChangeArrowheads="1"/>
          </p:cNvSpPr>
          <p:nvPr/>
        </p:nvSpPr>
        <p:spPr bwMode="auto">
          <a:xfrm>
            <a:off x="4792663" y="2787650"/>
            <a:ext cx="18573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US" altLang="ko-KR" sz="1200">
                <a:ea typeface="굴림" panose="020b0600000101010101" pitchFamily="34" charset="-127"/>
              </a:rPr>
              <a:t>Potential benefits</a:t>
            </a:r>
            <a:r>
              <a:rPr lang="en-US" altLang="ko-KR" sz="1200" b="0" baseline="30000">
                <a:ea typeface="굴림" panose="020b0600000101010101" pitchFamily="34" charset="-127"/>
              </a:rPr>
              <a:t>1)</a:t>
            </a:r>
            <a:endParaRPr lang="en-US" altLang="ko-KR" sz="1200" b="0">
              <a:ea typeface="굴림" panose="020b0600000101010101" pitchFamily="34" charset="-127"/>
            </a:endParaRPr>
          </a:p>
        </p:txBody>
      </p:sp>
      <p:sp>
        <p:nvSpPr>
          <p:cNvPr id="60428" name="Rectangle 13">
            <a:extLst>
              <a:ext uri="{FF2B5EF4-FFF2-40B4-BE49-F238E27FC236}">
                <a16:creationId xmlns:a16="http://schemas.microsoft.com/office/drawing/2014/main" id="{9C76F25C-0D3D-2C4D-88AA-6B79AC2DD6E3}"/>
              </a:ext>
            </a:extLst>
          </p:cNvPr>
          <p:cNvSpPr>
            <a:spLocks noChangeArrowheads="1"/>
          </p:cNvSpPr>
          <p:nvPr/>
        </p:nvSpPr>
        <p:spPr bwMode="auto">
          <a:xfrm>
            <a:off x="5448300" y="3146425"/>
            <a:ext cx="325438" cy="630238"/>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29" name="Rectangle 14">
            <a:extLst>
              <a:ext uri="{FF2B5EF4-FFF2-40B4-BE49-F238E27FC236}">
                <a16:creationId xmlns:a16="http://schemas.microsoft.com/office/drawing/2014/main" id="{2598505C-EDA9-54E0-A3BC-45AD968CB4B0}"/>
              </a:ext>
            </a:extLst>
          </p:cNvPr>
          <p:cNvSpPr>
            <a:spLocks noChangeArrowheads="1"/>
          </p:cNvSpPr>
          <p:nvPr/>
        </p:nvSpPr>
        <p:spPr bwMode="auto">
          <a:xfrm>
            <a:off x="4000500" y="4318000"/>
            <a:ext cx="325438" cy="896938"/>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900" b="0">
              <a:solidFill>
                <a:schemeClr val="bg1"/>
              </a:solidFill>
              <a:ea typeface="굴림" panose="020b0600000101010101" pitchFamily="34" charset="-127"/>
            </a:endParaRPr>
          </a:p>
        </p:txBody>
      </p:sp>
      <p:sp>
        <p:nvSpPr>
          <p:cNvPr id="60430" name="Line 15">
            <a:extLst>
              <a:ext uri="{FF2B5EF4-FFF2-40B4-BE49-F238E27FC236}">
                <a16:creationId xmlns:a16="http://schemas.microsoft.com/office/drawing/2014/main" id="{DD15FDD7-8822-6C98-277C-D60826F324F0}"/>
              </a:ext>
            </a:extLst>
          </p:cNvPr>
          <p:cNvSpPr>
            <a:spLocks noChangeShapeType="1"/>
          </p:cNvSpPr>
          <p:nvPr/>
        </p:nvSpPr>
        <p:spPr bwMode="auto">
          <a:xfrm>
            <a:off x="1176338" y="4867275"/>
            <a:ext cx="54213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60431" name="Rectangle 16">
            <a:extLst>
              <a:ext uri="{FF2B5EF4-FFF2-40B4-BE49-F238E27FC236}">
                <a16:creationId xmlns:a16="http://schemas.microsoft.com/office/drawing/2014/main" id="{3F6FEA7E-26DE-8C1B-637F-EA1FD5BD5C6F}"/>
              </a:ext>
            </a:extLst>
          </p:cNvPr>
          <p:cNvSpPr>
            <a:spLocks noChangeArrowheads="1"/>
          </p:cNvSpPr>
          <p:nvPr/>
        </p:nvSpPr>
        <p:spPr bwMode="auto">
          <a:xfrm>
            <a:off x="1308100" y="4867275"/>
            <a:ext cx="322263" cy="1176338"/>
          </a:xfrm>
          <a:prstGeom prst="rect">
            <a:avLst/>
          </a:prstGeom>
          <a:solidFill>
            <a:srgbClr val="EAEAEA"/>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32" name="Rectangle 17">
            <a:extLst>
              <a:ext uri="{FF2B5EF4-FFF2-40B4-BE49-F238E27FC236}">
                <a16:creationId xmlns:a16="http://schemas.microsoft.com/office/drawing/2014/main" id="{3EE3F1A1-8A0F-0676-2168-7A464FD58153}"/>
              </a:ext>
            </a:extLst>
          </p:cNvPr>
          <p:cNvSpPr>
            <a:spLocks noChangeArrowheads="1"/>
          </p:cNvSpPr>
          <p:nvPr/>
        </p:nvSpPr>
        <p:spPr bwMode="auto">
          <a:xfrm>
            <a:off x="4722813" y="3786188"/>
            <a:ext cx="327025" cy="45085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33" name="Rectangle 18">
            <a:extLst>
              <a:ext uri="{FF2B5EF4-FFF2-40B4-BE49-F238E27FC236}">
                <a16:creationId xmlns:a16="http://schemas.microsoft.com/office/drawing/2014/main" id="{4379F9C8-4077-22FD-E461-072238325965}"/>
              </a:ext>
            </a:extLst>
          </p:cNvPr>
          <p:cNvSpPr>
            <a:spLocks noChangeArrowheads="1"/>
          </p:cNvSpPr>
          <p:nvPr/>
        </p:nvSpPr>
        <p:spPr bwMode="auto">
          <a:xfrm>
            <a:off x="1830388" y="5781675"/>
            <a:ext cx="327025" cy="230188"/>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34" name="Rectangle 19">
            <a:extLst>
              <a:ext uri="{FF2B5EF4-FFF2-40B4-BE49-F238E27FC236}">
                <a16:creationId xmlns:a16="http://schemas.microsoft.com/office/drawing/2014/main" id="{86AA2809-F226-013C-F6E6-EAEBB813B03D}"/>
              </a:ext>
            </a:extLst>
          </p:cNvPr>
          <p:cNvSpPr>
            <a:spLocks noChangeArrowheads="1"/>
          </p:cNvSpPr>
          <p:nvPr/>
        </p:nvSpPr>
        <p:spPr bwMode="auto">
          <a:xfrm>
            <a:off x="2554288" y="5584825"/>
            <a:ext cx="327025" cy="182563"/>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35" name="Rectangle 20">
            <a:extLst>
              <a:ext uri="{FF2B5EF4-FFF2-40B4-BE49-F238E27FC236}">
                <a16:creationId xmlns:a16="http://schemas.microsoft.com/office/drawing/2014/main" id="{30850DAA-A4F4-BE4E-25D4-C439EEA33D80}"/>
              </a:ext>
            </a:extLst>
          </p:cNvPr>
          <p:cNvSpPr>
            <a:spLocks noChangeArrowheads="1"/>
          </p:cNvSpPr>
          <p:nvPr/>
        </p:nvSpPr>
        <p:spPr bwMode="auto">
          <a:xfrm>
            <a:off x="3278188" y="5248275"/>
            <a:ext cx="325437" cy="27305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36" name="Rectangle 21">
            <a:extLst>
              <a:ext uri="{FF2B5EF4-FFF2-40B4-BE49-F238E27FC236}">
                <a16:creationId xmlns:a16="http://schemas.microsoft.com/office/drawing/2014/main" id="{E72D098B-A7CC-49F6-351A-64F701ECD909}"/>
              </a:ext>
            </a:extLst>
          </p:cNvPr>
          <p:cNvSpPr>
            <a:spLocks noChangeArrowheads="1"/>
          </p:cNvSpPr>
          <p:nvPr/>
        </p:nvSpPr>
        <p:spPr bwMode="auto">
          <a:xfrm>
            <a:off x="1609725" y="6081713"/>
            <a:ext cx="7207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Procurement</a:t>
            </a:r>
          </a:p>
        </p:txBody>
      </p:sp>
      <p:sp>
        <p:nvSpPr>
          <p:cNvPr id="60437" name="Rectangle 22">
            <a:extLst>
              <a:ext uri="{FF2B5EF4-FFF2-40B4-BE49-F238E27FC236}">
                <a16:creationId xmlns:a16="http://schemas.microsoft.com/office/drawing/2014/main" id="{53A04464-12CC-70D0-B741-A77C4AD76951}"/>
              </a:ext>
            </a:extLst>
          </p:cNvPr>
          <p:cNvSpPr>
            <a:spLocks noChangeArrowheads="1"/>
          </p:cNvSpPr>
          <p:nvPr/>
        </p:nvSpPr>
        <p:spPr bwMode="auto">
          <a:xfrm>
            <a:off x="2986088" y="5576888"/>
            <a:ext cx="884237"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Finance</a:t>
            </a:r>
          </a:p>
        </p:txBody>
      </p:sp>
      <p:sp>
        <p:nvSpPr>
          <p:cNvPr id="60438" name="Rectangle 23">
            <a:extLst>
              <a:ext uri="{FF2B5EF4-FFF2-40B4-BE49-F238E27FC236}">
                <a16:creationId xmlns:a16="http://schemas.microsoft.com/office/drawing/2014/main" id="{4BE2757A-C8F0-3E88-E1C1-07525622AD5A}"/>
              </a:ext>
            </a:extLst>
          </p:cNvPr>
          <p:cNvSpPr>
            <a:spLocks noChangeArrowheads="1"/>
          </p:cNvSpPr>
          <p:nvPr/>
        </p:nvSpPr>
        <p:spPr bwMode="auto">
          <a:xfrm>
            <a:off x="4411663" y="4298950"/>
            <a:ext cx="9302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Inventory Management</a:t>
            </a:r>
          </a:p>
        </p:txBody>
      </p:sp>
      <p:sp>
        <p:nvSpPr>
          <p:cNvPr id="60439" name="Rectangle 24">
            <a:extLst>
              <a:ext uri="{FF2B5EF4-FFF2-40B4-BE49-F238E27FC236}">
                <a16:creationId xmlns:a16="http://schemas.microsoft.com/office/drawing/2014/main" id="{54C9B16F-9E32-844F-6B07-FD61004CEF89}"/>
              </a:ext>
            </a:extLst>
          </p:cNvPr>
          <p:cNvSpPr>
            <a:spLocks noChangeArrowheads="1"/>
          </p:cNvSpPr>
          <p:nvPr/>
        </p:nvSpPr>
        <p:spPr bwMode="auto">
          <a:xfrm>
            <a:off x="2474913" y="5827713"/>
            <a:ext cx="458787"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IT</a:t>
            </a:r>
          </a:p>
        </p:txBody>
      </p:sp>
      <p:sp>
        <p:nvSpPr>
          <p:cNvPr id="60440" name="Rectangle 25">
            <a:extLst>
              <a:ext uri="{FF2B5EF4-FFF2-40B4-BE49-F238E27FC236}">
                <a16:creationId xmlns:a16="http://schemas.microsoft.com/office/drawing/2014/main" id="{83520A5B-6EDA-E613-A5B5-C9239462EEFF}"/>
              </a:ext>
            </a:extLst>
          </p:cNvPr>
          <p:cNvSpPr>
            <a:spLocks noChangeArrowheads="1"/>
          </p:cNvSpPr>
          <p:nvPr/>
        </p:nvSpPr>
        <p:spPr bwMode="auto">
          <a:xfrm>
            <a:off x="3706813" y="5256213"/>
            <a:ext cx="881062"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Sales</a:t>
            </a:r>
          </a:p>
        </p:txBody>
      </p:sp>
      <p:sp>
        <p:nvSpPr>
          <p:cNvPr id="60441" name="Rectangle 26">
            <a:extLst>
              <a:ext uri="{FF2B5EF4-FFF2-40B4-BE49-F238E27FC236}">
                <a16:creationId xmlns:a16="http://schemas.microsoft.com/office/drawing/2014/main" id="{9D6F1F80-4C9C-DC4F-791D-41AF45A27AC9}"/>
              </a:ext>
            </a:extLst>
          </p:cNvPr>
          <p:cNvSpPr>
            <a:spLocks noChangeArrowheads="1"/>
          </p:cNvSpPr>
          <p:nvPr/>
        </p:nvSpPr>
        <p:spPr bwMode="auto">
          <a:xfrm>
            <a:off x="6045200" y="3141663"/>
            <a:ext cx="328613" cy="1722437"/>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ko-KR" altLang="en-US" sz="1400" b="0">
              <a:ea typeface="굴림" panose="020b0600000101010101" pitchFamily="34" charset="-127"/>
            </a:endParaRPr>
          </a:p>
        </p:txBody>
      </p:sp>
      <p:sp>
        <p:nvSpPr>
          <p:cNvPr id="60442" name="Rectangle 27">
            <a:extLst>
              <a:ext uri="{FF2B5EF4-FFF2-40B4-BE49-F238E27FC236}">
                <a16:creationId xmlns:a16="http://schemas.microsoft.com/office/drawing/2014/main" id="{A04F93AB-E472-B0B8-FFAC-BC264D14D4D2}"/>
              </a:ext>
            </a:extLst>
          </p:cNvPr>
          <p:cNvSpPr>
            <a:spLocks noChangeArrowheads="1"/>
          </p:cNvSpPr>
          <p:nvPr/>
        </p:nvSpPr>
        <p:spPr bwMode="auto">
          <a:xfrm>
            <a:off x="846138" y="4691063"/>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ClrTx/>
              <a:buFontTx/>
              <a:buNone/>
            </a:pPr>
            <a:r>
              <a:rPr lang="ko-KR" altLang="en-US" sz="1800">
                <a:ea typeface="굴림" panose="020b0600000101010101" pitchFamily="34" charset="-127"/>
              </a:rPr>
              <a:t>€</a:t>
            </a:r>
          </a:p>
        </p:txBody>
      </p:sp>
      <p:sp>
        <p:nvSpPr>
          <p:cNvPr id="60443" name="Rectangle 28">
            <a:extLst>
              <a:ext uri="{FF2B5EF4-FFF2-40B4-BE49-F238E27FC236}">
                <a16:creationId xmlns:a16="http://schemas.microsoft.com/office/drawing/2014/main" id="{F1394741-0E76-81BF-CAB3-16E41F516468}"/>
              </a:ext>
            </a:extLst>
          </p:cNvPr>
          <p:cNvSpPr>
            <a:spLocks noChangeArrowheads="1"/>
          </p:cNvSpPr>
          <p:nvPr/>
        </p:nvSpPr>
        <p:spPr bwMode="auto">
          <a:xfrm>
            <a:off x="330200" y="5327650"/>
            <a:ext cx="857250" cy="471488"/>
          </a:xfrm>
          <a:prstGeom prst="rect">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1600" tIns="46038" rIns="21600" bIns="46038">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a:ea typeface="굴림" panose="020b0600000101010101" pitchFamily="34" charset="-127"/>
              </a:rPr>
              <a:t>Overall external and internal costs</a:t>
            </a:r>
          </a:p>
        </p:txBody>
      </p:sp>
      <p:sp>
        <p:nvSpPr>
          <p:cNvPr id="60444" name="Rectangle 29">
            <a:extLst>
              <a:ext uri="{FF2B5EF4-FFF2-40B4-BE49-F238E27FC236}">
                <a16:creationId xmlns:a16="http://schemas.microsoft.com/office/drawing/2014/main" id="{73EA7DD6-D50A-D258-3F05-34566A38D7E0}"/>
              </a:ext>
            </a:extLst>
          </p:cNvPr>
          <p:cNvSpPr>
            <a:spLocks noChangeArrowheads="1"/>
          </p:cNvSpPr>
          <p:nvPr/>
        </p:nvSpPr>
        <p:spPr bwMode="auto">
          <a:xfrm>
            <a:off x="382588" y="4518025"/>
            <a:ext cx="14509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US" altLang="ko-KR" sz="1200">
                <a:ea typeface="굴림" panose="020b0600000101010101" pitchFamily="34" charset="-127"/>
              </a:rPr>
              <a:t>Break Even</a:t>
            </a:r>
          </a:p>
        </p:txBody>
      </p:sp>
      <p:sp>
        <p:nvSpPr>
          <p:cNvPr id="60445" name="Rectangle 30">
            <a:extLst>
              <a:ext uri="{FF2B5EF4-FFF2-40B4-BE49-F238E27FC236}">
                <a16:creationId xmlns:a16="http://schemas.microsoft.com/office/drawing/2014/main" id="{1DE5B86D-F6AD-575C-5AAB-AA061370F12C}"/>
              </a:ext>
            </a:extLst>
          </p:cNvPr>
          <p:cNvSpPr>
            <a:spLocks noChangeArrowheads="1"/>
          </p:cNvSpPr>
          <p:nvPr/>
        </p:nvSpPr>
        <p:spPr bwMode="auto">
          <a:xfrm>
            <a:off x="5319713" y="3894138"/>
            <a:ext cx="569912"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800" b="0">
                <a:ea typeface="굴림" panose="020b0600000101010101" pitchFamily="34" charset="-127"/>
              </a:rPr>
              <a:t>Logistics</a:t>
            </a:r>
          </a:p>
        </p:txBody>
      </p:sp>
      <p:sp>
        <p:nvSpPr>
          <p:cNvPr id="60446" name="Text Box 31">
            <a:extLst>
              <a:ext uri="{FF2B5EF4-FFF2-40B4-BE49-F238E27FC236}">
                <a16:creationId xmlns:a16="http://schemas.microsoft.com/office/drawing/2014/main" id="{8E5CE2D4-8604-D586-01A9-C6AE93A629D6}"/>
              </a:ext>
            </a:extLst>
          </p:cNvPr>
          <p:cNvSpPr txBox="1">
            <a:spLocks noChangeArrowheads="1"/>
          </p:cNvSpPr>
          <p:nvPr/>
        </p:nvSpPr>
        <p:spPr bwMode="auto">
          <a:xfrm>
            <a:off x="8377238" y="1544638"/>
            <a:ext cx="1273175" cy="363537"/>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US" altLang="ko-KR">
                <a:ea typeface="굴림" panose="020b0600000101010101" pitchFamily="34" charset="-127"/>
              </a:rPr>
              <a:t>Illustrative</a:t>
            </a:r>
          </a:p>
        </p:txBody>
      </p:sp>
      <p:sp>
        <p:nvSpPr>
          <p:cNvPr id="60447" name="Text Box 32">
            <a:extLst>
              <a:ext uri="{FF2B5EF4-FFF2-40B4-BE49-F238E27FC236}">
                <a16:creationId xmlns:a16="http://schemas.microsoft.com/office/drawing/2014/main" id="{3F0BB66A-7E16-F1A1-84AB-67A5B39A8BB1}"/>
              </a:ext>
            </a:extLst>
          </p:cNvPr>
          <p:cNvSpPr txBox="1">
            <a:spLocks noChangeArrowheads="1"/>
          </p:cNvSpPr>
          <p:nvPr/>
        </p:nvSpPr>
        <p:spPr bwMode="auto">
          <a:xfrm>
            <a:off x="266700" y="1617663"/>
            <a:ext cx="6002338" cy="247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ea typeface="굴림" panose="020b0600000101010101" pitchFamily="34" charset="-127"/>
              </a:rPr>
              <a:t>Business benefits identification</a:t>
            </a:r>
          </a:p>
        </p:txBody>
      </p:sp>
      <p:sp>
        <p:nvSpPr>
          <p:cNvPr id="60448" name="AutoShape 33">
            <a:extLst>
              <a:ext uri="{FF2B5EF4-FFF2-40B4-BE49-F238E27FC236}">
                <a16:creationId xmlns:a16="http://schemas.microsoft.com/office/drawing/2014/main" id="{8407C24B-571A-CCA0-8EFE-696E53DC1BC8}"/>
              </a:ext>
            </a:extLst>
          </p:cNvPr>
          <p:cNvSpPr>
            <a:spLocks noChangeArrowheads="1"/>
          </p:cNvSpPr>
          <p:nvPr/>
        </p:nvSpPr>
        <p:spPr bwMode="auto">
          <a:xfrm>
            <a:off x="1677988" y="2097088"/>
            <a:ext cx="4824412" cy="677862"/>
          </a:xfrm>
          <a:prstGeom prst="homePlate">
            <a:avLst>
              <a:gd name="adj" fmla="val 45932"/>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30000"/>
              </a:spcBef>
              <a:buClrTx/>
              <a:buFontTx/>
              <a:buNone/>
            </a:pPr>
            <a:endParaRPr lang="ko-KR" altLang="en-US" sz="1200">
              <a:ea typeface="굴림" panose="020b0600000101010101" pitchFamily="34" charset="-127"/>
            </a:endParaRPr>
          </a:p>
        </p:txBody>
      </p:sp>
      <p:sp>
        <p:nvSpPr>
          <p:cNvPr id="60449" name="AutoShape 34">
            <a:extLst>
              <a:ext uri="{FF2B5EF4-FFF2-40B4-BE49-F238E27FC236}">
                <a16:creationId xmlns:a16="http://schemas.microsoft.com/office/drawing/2014/main" id="{F575254C-02FB-6D2D-33FE-4841B437DAA6}"/>
              </a:ext>
            </a:extLst>
          </p:cNvPr>
          <p:cNvSpPr>
            <a:spLocks noChangeArrowheads="1"/>
          </p:cNvSpPr>
          <p:nvPr/>
        </p:nvSpPr>
        <p:spPr bwMode="auto">
          <a:xfrm>
            <a:off x="5426075" y="2097088"/>
            <a:ext cx="1346200" cy="677862"/>
          </a:xfrm>
          <a:prstGeom prst="homePlate">
            <a:avLst>
              <a:gd name="adj" fmla="val 12817"/>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30000"/>
              </a:spcBef>
              <a:buClrTx/>
              <a:buFontTx/>
              <a:buNone/>
            </a:pPr>
            <a:endParaRPr lang="ko-KR" altLang="en-US" sz="1200">
              <a:ea typeface="굴림" panose="020b0600000101010101" pitchFamily="34" charset="-127"/>
            </a:endParaRPr>
          </a:p>
        </p:txBody>
      </p:sp>
      <p:sp>
        <p:nvSpPr>
          <p:cNvPr id="60450" name="Freeform 35">
            <a:extLst>
              <a:ext uri="{FF2B5EF4-FFF2-40B4-BE49-F238E27FC236}">
                <a16:creationId xmlns:a16="http://schemas.microsoft.com/office/drawing/2014/main" id="{C0A85E6B-7F66-DBF7-F95A-A3CCCC1BE808}"/>
              </a:ext>
            </a:extLst>
          </p:cNvPr>
          <p:cNvSpPr/>
          <p:nvPr/>
        </p:nvSpPr>
        <p:spPr bwMode="auto">
          <a:xfrm>
            <a:off x="1668463" y="2082800"/>
            <a:ext cx="5114925" cy="681038"/>
          </a:xfrm>
          <a:custGeom>
            <a:gdLst>
              <a:gd name="T0" fmla="*/ 0 w 2974"/>
              <a:gd name="T1" fmla="*/ 2147483646 h 429"/>
              <a:gd name="T2" fmla="*/ 0 w 2974"/>
              <a:gd name="T3" fmla="*/ 2147483646 h 429"/>
              <a:gd name="T4" fmla="*/ 2147483646 w 2974"/>
              <a:gd name="T5" fmla="*/ 0 h 429"/>
              <a:gd name="T6" fmla="*/ 2147483646 w 2974"/>
              <a:gd name="T7" fmla="*/ 2147483646 h 429"/>
              <a:gd name="T8" fmla="*/ 2147483646 w 2974"/>
              <a:gd name="T9" fmla="*/ 2147483646 h 429"/>
              <a:gd name="T10" fmla="*/ 0 w 2974"/>
              <a:gd name="T11" fmla="*/ 2147483646 h 429"/>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2974" h="429">
                <a:moveTo>
                  <a:pt x="0" y="429"/>
                </a:moveTo>
                <a:lnTo>
                  <a:pt x="0" y="3"/>
                </a:lnTo>
                <a:lnTo>
                  <a:pt x="2930" y="0"/>
                </a:lnTo>
                <a:lnTo>
                  <a:pt x="2974" y="234"/>
                </a:lnTo>
                <a:lnTo>
                  <a:pt x="2922" y="428"/>
                </a:lnTo>
                <a:lnTo>
                  <a:pt x="0" y="429"/>
                </a:lnTo>
                <a:close/>
              </a:path>
            </a:pathLst>
          </a:custGeom>
          <a:solidFill>
            <a:schemeClr val="bg1"/>
          </a:solidFill>
          <a:ln w="12700" cap="flat"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0451" name="Rectangle 36">
            <a:extLst>
              <a:ext uri="{FF2B5EF4-FFF2-40B4-BE49-F238E27FC236}">
                <a16:creationId xmlns:a16="http://schemas.microsoft.com/office/drawing/2014/main" id="{0B0D8C2E-358B-5AAF-A242-57BFDE2CABA6}"/>
              </a:ext>
            </a:extLst>
          </p:cNvPr>
          <p:cNvSpPr>
            <a:spLocks noChangeArrowheads="1"/>
          </p:cNvSpPr>
          <p:nvPr/>
        </p:nvSpPr>
        <p:spPr bwMode="auto">
          <a:xfrm>
            <a:off x="1647825" y="2036763"/>
            <a:ext cx="140652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ClrTx/>
              <a:buFontTx/>
              <a:buNone/>
            </a:pPr>
            <a:r>
              <a:rPr lang="en-US" altLang="ko-KR" sz="1000">
                <a:solidFill>
                  <a:srgbClr val="443B43"/>
                </a:solidFill>
                <a:ea typeface="굴림" panose="020b0600000101010101" pitchFamily="34" charset="-127"/>
              </a:rPr>
              <a:t>Step 2: </a:t>
            </a:r>
            <a:br>
              <a:rPr lang="en-US" altLang="ko-KR" sz="1000">
                <a:solidFill>
                  <a:srgbClr val="443B43"/>
                </a:solidFill>
                <a:ea typeface="굴림" panose="020b0600000101010101" pitchFamily="34" charset="-127"/>
              </a:rPr>
            </a:br>
            <a:r>
              <a:rPr lang="en-US" altLang="ko-KR" sz="1000">
                <a:solidFill>
                  <a:srgbClr val="443B43"/>
                </a:solidFill>
                <a:ea typeface="굴림" panose="020b0600000101010101" pitchFamily="34" charset="-127"/>
              </a:rPr>
              <a:t>Benefits </a:t>
            </a:r>
            <a:br>
              <a:rPr lang="en-US" altLang="ko-KR" sz="1000">
                <a:solidFill>
                  <a:srgbClr val="443B43"/>
                </a:solidFill>
                <a:ea typeface="굴림" panose="020b0600000101010101" pitchFamily="34" charset="-127"/>
              </a:rPr>
            </a:br>
            <a:r>
              <a:rPr lang="en-US" altLang="ko-KR" sz="1000">
                <a:solidFill>
                  <a:srgbClr val="443B43"/>
                </a:solidFill>
                <a:ea typeface="굴림" panose="020b0600000101010101" pitchFamily="34" charset="-127"/>
              </a:rPr>
              <a:t>realization</a:t>
            </a:r>
          </a:p>
        </p:txBody>
      </p:sp>
      <p:sp>
        <p:nvSpPr>
          <p:cNvPr id="60452" name="AutoShape 37">
            <a:extLst>
              <a:ext uri="{FF2B5EF4-FFF2-40B4-BE49-F238E27FC236}">
                <a16:creationId xmlns:a16="http://schemas.microsoft.com/office/drawing/2014/main" id="{B7ECAAAB-E1C2-EACA-0AD4-FD7546624272}"/>
              </a:ext>
            </a:extLst>
          </p:cNvPr>
          <p:cNvSpPr>
            <a:spLocks noChangeArrowheads="1"/>
          </p:cNvSpPr>
          <p:nvPr/>
        </p:nvSpPr>
        <p:spPr bwMode="auto">
          <a:xfrm>
            <a:off x="271463" y="2097088"/>
            <a:ext cx="1346200" cy="677862"/>
          </a:xfrm>
          <a:prstGeom prst="homePlate">
            <a:avLst>
              <a:gd name="adj" fmla="val 12817"/>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30000"/>
              </a:spcBef>
              <a:buClrTx/>
              <a:buFontTx/>
              <a:buNone/>
            </a:pPr>
            <a:endParaRPr lang="ko-KR" altLang="en-US" sz="1200">
              <a:ea typeface="굴림" panose="020b0600000101010101" pitchFamily="34" charset="-127"/>
            </a:endParaRPr>
          </a:p>
        </p:txBody>
      </p:sp>
      <p:sp>
        <p:nvSpPr>
          <p:cNvPr id="60453" name="Rectangle 38">
            <a:extLst>
              <a:ext uri="{FF2B5EF4-FFF2-40B4-BE49-F238E27FC236}">
                <a16:creationId xmlns:a16="http://schemas.microsoft.com/office/drawing/2014/main" id="{08832F48-E208-32F8-96B1-F636BBFF2E0D}"/>
              </a:ext>
            </a:extLst>
          </p:cNvPr>
          <p:cNvSpPr>
            <a:spLocks noChangeArrowheads="1"/>
          </p:cNvSpPr>
          <p:nvPr/>
        </p:nvSpPr>
        <p:spPr bwMode="auto">
          <a:xfrm>
            <a:off x="344488" y="2584450"/>
            <a:ext cx="1144587" cy="5032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chorCtr="1"/>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solidFill>
                  <a:schemeClr val="bg1"/>
                </a:solidFill>
                <a:ea typeface="굴림" panose="020b0600000101010101" pitchFamily="34" charset="-127"/>
              </a:rPr>
              <a:t>Measure KPIs to establish baseline</a:t>
            </a:r>
          </a:p>
        </p:txBody>
      </p:sp>
      <p:sp>
        <p:nvSpPr>
          <p:cNvPr id="60454" name="Rectangle 39">
            <a:extLst>
              <a:ext uri="{FF2B5EF4-FFF2-40B4-BE49-F238E27FC236}">
                <a16:creationId xmlns:a16="http://schemas.microsoft.com/office/drawing/2014/main" id="{20FDAC2C-5442-B9FB-ABE2-7AEDBEA92444}"/>
              </a:ext>
            </a:extLst>
          </p:cNvPr>
          <p:cNvSpPr>
            <a:spLocks noChangeArrowheads="1"/>
          </p:cNvSpPr>
          <p:nvPr/>
        </p:nvSpPr>
        <p:spPr bwMode="auto">
          <a:xfrm>
            <a:off x="1730375" y="2581275"/>
            <a:ext cx="3051175" cy="5032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chorCtr="1"/>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solidFill>
                  <a:schemeClr val="bg1"/>
                </a:solidFill>
                <a:ea typeface="굴림" panose="020b0600000101010101" pitchFamily="34" charset="-127"/>
              </a:rPr>
              <a:t>Identify benefits based in measured KPIs</a:t>
            </a:r>
          </a:p>
        </p:txBody>
      </p:sp>
      <p:sp>
        <p:nvSpPr>
          <p:cNvPr id="60455" name="Rectangle 40">
            <a:extLst>
              <a:ext uri="{FF2B5EF4-FFF2-40B4-BE49-F238E27FC236}">
                <a16:creationId xmlns:a16="http://schemas.microsoft.com/office/drawing/2014/main" id="{EC88B95D-3F0B-C6DC-4FDC-83DA89475572}"/>
              </a:ext>
            </a:extLst>
          </p:cNvPr>
          <p:cNvSpPr>
            <a:spLocks noChangeArrowheads="1"/>
          </p:cNvSpPr>
          <p:nvPr/>
        </p:nvSpPr>
        <p:spPr bwMode="auto">
          <a:xfrm>
            <a:off x="6970713" y="2081213"/>
            <a:ext cx="2652712" cy="352425"/>
          </a:xfrm>
          <a:prstGeom prst="rect">
            <a:avLst/>
          </a:prstGeom>
          <a:solidFill>
            <a:srgbClr val="0070C0"/>
          </a:solidFill>
          <a:ln w="12700">
            <a:solidFill>
              <a:schemeClr val="tx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400">
                <a:solidFill>
                  <a:schemeClr val="bg1"/>
                </a:solidFill>
                <a:ea typeface="굴림" panose="020b0600000101010101" pitchFamily="34" charset="-127"/>
              </a:rPr>
              <a:t>Benefits’ examples</a:t>
            </a:r>
          </a:p>
        </p:txBody>
      </p:sp>
      <p:sp>
        <p:nvSpPr>
          <p:cNvPr id="60456" name="Text Box 41">
            <a:extLst>
              <a:ext uri="{FF2B5EF4-FFF2-40B4-BE49-F238E27FC236}">
                <a16:creationId xmlns:a16="http://schemas.microsoft.com/office/drawing/2014/main" id="{2BD3440E-A074-600B-AFE5-C42F11360672}"/>
              </a:ext>
            </a:extLst>
          </p:cNvPr>
          <p:cNvSpPr txBox="1">
            <a:spLocks noChangeArrowheads="1"/>
          </p:cNvSpPr>
          <p:nvPr/>
        </p:nvSpPr>
        <p:spPr bwMode="auto">
          <a:xfrm>
            <a:off x="7581900" y="241300"/>
            <a:ext cx="20637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Negotiation and mobilization</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64513" name="Arc 2">
            <a:extLst>
              <a:ext uri="{FF2B5EF4-FFF2-40B4-BE49-F238E27FC236}">
                <a16:creationId xmlns:a16="http://schemas.microsoft.com/office/drawing/2014/main" id="{14EC5F88-3E4F-453B-8F13-0357A455A446}"/>
              </a:ext>
            </a:extLst>
          </p:cNvPr>
          <p:cNvSpPr/>
          <p:nvPr/>
        </p:nvSpPr>
        <p:spPr bwMode="gray">
          <a:xfrm rot="10800000">
            <a:off x="2122488" y="1846263"/>
            <a:ext cx="4581525" cy="4135437"/>
          </a:xfrm>
          <a:custGeom>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blipFill dpi="0" rotWithShape="0">
            <a:blip r:embed="rId3"/>
            <a:tile tx="0" ty="0" sx="100000" sy="100000" flip="none" algn="tl"/>
          </a:blipFill>
          <a:ln w="19050">
            <a:solidFill>
              <a:schemeClr val="bg2"/>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p>
            <a:endParaRPr lang="ko-KR" altLang="en-US"/>
          </a:p>
        </p:txBody>
      </p:sp>
      <p:sp>
        <p:nvSpPr>
          <p:cNvPr id="64514" name="Arc 3">
            <a:extLst>
              <a:ext uri="{FF2B5EF4-FFF2-40B4-BE49-F238E27FC236}">
                <a16:creationId xmlns:a16="http://schemas.microsoft.com/office/drawing/2014/main" id="{A7DD8EBE-8EF2-EBBC-CE85-2120D44A720F}"/>
              </a:ext>
            </a:extLst>
          </p:cNvPr>
          <p:cNvSpPr/>
          <p:nvPr/>
        </p:nvSpPr>
        <p:spPr bwMode="gray">
          <a:xfrm rot="10800000">
            <a:off x="3778250" y="1846263"/>
            <a:ext cx="2922588" cy="2697162"/>
          </a:xfrm>
          <a:custGeom>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folHlink"/>
          </a:solidFill>
          <a:ln w="19050">
            <a:solidFill>
              <a:schemeClr val="bg2"/>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p>
            <a:endParaRPr lang="ko-KR" altLang="en-US"/>
          </a:p>
        </p:txBody>
      </p:sp>
      <p:sp>
        <p:nvSpPr>
          <p:cNvPr id="64515" name="Rectangle 4">
            <a:extLst>
              <a:ext uri="{FF2B5EF4-FFF2-40B4-BE49-F238E27FC236}">
                <a16:creationId xmlns:a16="http://schemas.microsoft.com/office/drawing/2014/main" id="{D5E98999-6057-46E7-E580-DE4AA79F1FE4}"/>
              </a:ext>
            </a:extLst>
          </p:cNvPr>
          <p:cNvSpPr>
            <a:spLocks noGrp="1" noChangeArrowheads="1"/>
          </p:cNvSpPr>
          <p:nvPr>
            <p:ph type="title"/>
          </p:nvPr>
        </p:nvSpPr>
        <p:spPr bwMode="gray">
          <a:xfrm>
            <a:off x="266700" y="596900"/>
            <a:ext cx="9367838" cy="609398"/>
          </a:xfrm>
        </p:spPr>
        <p:txBody>
          <a:bodyPr/>
          <a:lstStyle/>
          <a:p>
            <a:r>
              <a:rPr lang="en-GB" altLang="zh-CN">
                <a:ea typeface="SimSun" panose="02010600030101010101" pitchFamily="2" charset="-122"/>
              </a:rPr>
              <a:t>We recommend phased implementation, with quick-wins to be captured in 2024, and the rest in medium and long-term…</a:t>
            </a:r>
          </a:p>
        </p:txBody>
      </p:sp>
      <p:sp>
        <p:nvSpPr>
          <p:cNvPr id="64516" name="Text Box 5">
            <a:extLst>
              <a:ext uri="{FF2B5EF4-FFF2-40B4-BE49-F238E27FC236}">
                <a16:creationId xmlns:a16="http://schemas.microsoft.com/office/drawing/2014/main" id="{F3DDF5AF-F9AA-30D5-736D-154453801DAD}"/>
              </a:ext>
            </a:extLst>
          </p:cNvPr>
          <p:cNvSpPr txBox="1">
            <a:spLocks noChangeArrowheads="1"/>
          </p:cNvSpPr>
          <p:nvPr/>
        </p:nvSpPr>
        <p:spPr bwMode="gray">
          <a:xfrm>
            <a:off x="7040563" y="1789113"/>
            <a:ext cx="2738437" cy="1352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Tx/>
              <a:buFontTx/>
              <a:buNone/>
            </a:pPr>
            <a:r>
              <a:rPr lang="en-US" altLang="zh-CN" sz="1400">
                <a:ea typeface="SimSun" panose="02010600030101010101" pitchFamily="2" charset="-122"/>
              </a:rPr>
              <a:t>Quick-wins: Year 2021</a:t>
            </a:r>
          </a:p>
          <a:p>
            <a:pPr lvl="1">
              <a:lnSpc>
                <a:spcPct val="85000"/>
              </a:lnSpc>
              <a:spcBef>
                <a:spcPct val="20000"/>
              </a:spcBef>
              <a:buFontTx/>
              <a:buChar char="•"/>
            </a:pPr>
            <a:r>
              <a:rPr lang="en-US" altLang="zh-CN" sz="1200" b="0">
                <a:ea typeface="SimSun" panose="02010600030101010101" pitchFamily="2" charset="-122"/>
              </a:rPr>
              <a:t>Increase Out-network Penetration</a:t>
            </a:r>
          </a:p>
          <a:p>
            <a:pPr lvl="1">
              <a:lnSpc>
                <a:spcPct val="85000"/>
              </a:lnSpc>
              <a:spcBef>
                <a:spcPct val="20000"/>
              </a:spcBef>
              <a:buFontTx/>
              <a:buChar char="•"/>
            </a:pPr>
            <a:r>
              <a:rPr lang="en-US" altLang="zh-CN" sz="1200" b="0">
                <a:ea typeface="SimSun" panose="02010600030101010101" pitchFamily="2" charset="-122"/>
              </a:rPr>
              <a:t>Enhance Supplier Sourcing Cost Management</a:t>
            </a:r>
          </a:p>
          <a:p>
            <a:pPr lvl="1">
              <a:lnSpc>
                <a:spcPct val="85000"/>
              </a:lnSpc>
              <a:spcBef>
                <a:spcPct val="20000"/>
              </a:spcBef>
              <a:buFontTx/>
              <a:buChar char="•"/>
            </a:pPr>
            <a:r>
              <a:rPr lang="en-US" altLang="zh-CN" sz="1200" b="0">
                <a:ea typeface="SimSun" panose="02010600030101010101" pitchFamily="2" charset="-122"/>
              </a:rPr>
              <a:t>Enhance Dealer Management</a:t>
            </a:r>
          </a:p>
          <a:p>
            <a:pPr lvl="1">
              <a:lnSpc>
                <a:spcPct val="85000"/>
              </a:lnSpc>
              <a:spcBef>
                <a:spcPct val="20000"/>
              </a:spcBef>
              <a:buFontTx/>
              <a:buChar char="•"/>
            </a:pPr>
            <a:r>
              <a:rPr lang="en-US" altLang="zh-CN" sz="1200" b="0">
                <a:ea typeface="SimSun" panose="02010600030101010101" pitchFamily="2" charset="-122"/>
              </a:rPr>
              <a:t>Improve Customer Relationship Management</a:t>
            </a:r>
          </a:p>
        </p:txBody>
      </p:sp>
      <p:sp>
        <p:nvSpPr>
          <p:cNvPr id="64517" name="Text Box 6">
            <a:extLst>
              <a:ext uri="{FF2B5EF4-FFF2-40B4-BE49-F238E27FC236}">
                <a16:creationId xmlns:a16="http://schemas.microsoft.com/office/drawing/2014/main" id="{E4DEF405-170B-C75F-06A5-C7FDD8E1A31E}"/>
              </a:ext>
            </a:extLst>
          </p:cNvPr>
          <p:cNvSpPr txBox="1">
            <a:spLocks noChangeArrowheads="1"/>
          </p:cNvSpPr>
          <p:nvPr/>
        </p:nvSpPr>
        <p:spPr bwMode="gray">
          <a:xfrm>
            <a:off x="7040563" y="3430588"/>
            <a:ext cx="2713037" cy="13890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Tx/>
              <a:buFontTx/>
              <a:buNone/>
            </a:pPr>
            <a:r>
              <a:rPr lang="en-US" altLang="zh-CN" sz="1400">
                <a:ea typeface="SimSun" panose="02010600030101010101" pitchFamily="2" charset="-122"/>
              </a:rPr>
              <a:t>Medium-term: 2021-2023</a:t>
            </a:r>
          </a:p>
          <a:p>
            <a:pPr lvl="1">
              <a:lnSpc>
                <a:spcPct val="85000"/>
              </a:lnSpc>
              <a:spcBef>
                <a:spcPct val="20000"/>
              </a:spcBef>
              <a:buFontTx/>
              <a:buChar char="•"/>
            </a:pPr>
            <a:r>
              <a:rPr lang="en-US" altLang="zh-CN" sz="1200" b="0">
                <a:ea typeface="SimSun" panose="02010600030101010101" pitchFamily="2" charset="-122"/>
              </a:rPr>
              <a:t>Enhance Supplier Parts Flow Management </a:t>
            </a:r>
          </a:p>
          <a:p>
            <a:pPr lvl="1">
              <a:lnSpc>
                <a:spcPct val="85000"/>
              </a:lnSpc>
              <a:spcBef>
                <a:spcPct val="20000"/>
              </a:spcBef>
              <a:buFontTx/>
              <a:buChar char="•"/>
            </a:pPr>
            <a:r>
              <a:rPr lang="en-US" altLang="zh-CN" sz="1200" b="0">
                <a:ea typeface="SimSun" panose="02010600030101010101" pitchFamily="2" charset="-122"/>
              </a:rPr>
              <a:t>Improve Service Quality </a:t>
            </a:r>
          </a:p>
          <a:p>
            <a:pPr lvl="1">
              <a:lnSpc>
                <a:spcPct val="85000"/>
              </a:lnSpc>
              <a:spcBef>
                <a:spcPct val="20000"/>
              </a:spcBef>
              <a:buFontTx/>
              <a:buChar char="•"/>
            </a:pPr>
            <a:r>
              <a:rPr lang="en-US" altLang="zh-CN" sz="1200" b="0">
                <a:ea typeface="SimSun" panose="02010600030101010101" pitchFamily="2" charset="-122"/>
              </a:rPr>
              <a:t>Reduce Inventory Related Cost</a:t>
            </a:r>
          </a:p>
          <a:p>
            <a:pPr lvl="1">
              <a:lnSpc>
                <a:spcPct val="85000"/>
              </a:lnSpc>
              <a:spcBef>
                <a:spcPct val="20000"/>
              </a:spcBef>
              <a:buFontTx/>
              <a:buChar char="•"/>
            </a:pPr>
            <a:r>
              <a:rPr lang="en-US" altLang="zh-CN" sz="1200" b="0">
                <a:ea typeface="SimSun" panose="02010600030101010101" pitchFamily="2" charset="-122"/>
              </a:rPr>
              <a:t>Reduce Packaging Cost</a:t>
            </a:r>
          </a:p>
          <a:p>
            <a:pPr lvl="1">
              <a:lnSpc>
                <a:spcPct val="85000"/>
              </a:lnSpc>
              <a:spcBef>
                <a:spcPct val="20000"/>
              </a:spcBef>
              <a:buFontTx/>
              <a:buChar char="•"/>
            </a:pPr>
            <a:r>
              <a:rPr lang="en-US" altLang="zh-CN" sz="1200" b="0">
                <a:ea typeface="SimSun" panose="02010600030101010101" pitchFamily="2" charset="-122"/>
              </a:rPr>
              <a:t>Reduce Warehouse Cost</a:t>
            </a:r>
          </a:p>
        </p:txBody>
      </p:sp>
      <p:sp>
        <p:nvSpPr>
          <p:cNvPr id="64518" name="Text Box 7">
            <a:extLst>
              <a:ext uri="{FF2B5EF4-FFF2-40B4-BE49-F238E27FC236}">
                <a16:creationId xmlns:a16="http://schemas.microsoft.com/office/drawing/2014/main" id="{D931B7EC-198E-7441-FCB7-9342DA29ECEC}"/>
              </a:ext>
            </a:extLst>
          </p:cNvPr>
          <p:cNvSpPr txBox="1">
            <a:spLocks noChangeArrowheads="1"/>
          </p:cNvSpPr>
          <p:nvPr/>
        </p:nvSpPr>
        <p:spPr bwMode="gray">
          <a:xfrm>
            <a:off x="7040563" y="5108575"/>
            <a:ext cx="2713037" cy="11604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4572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Tx/>
              <a:buFontTx/>
              <a:buNone/>
            </a:pPr>
            <a:r>
              <a:rPr lang="en-US" altLang="zh-CN" sz="1400">
                <a:ea typeface="SimSun" panose="02010600030101010101" pitchFamily="2" charset="-122"/>
              </a:rPr>
              <a:t>Long-term: beyond 2024</a:t>
            </a:r>
          </a:p>
          <a:p>
            <a:pPr lvl="1">
              <a:lnSpc>
                <a:spcPct val="85000"/>
              </a:lnSpc>
              <a:spcBef>
                <a:spcPct val="20000"/>
              </a:spcBef>
              <a:buFontTx/>
              <a:buChar char="•"/>
            </a:pPr>
            <a:r>
              <a:rPr lang="en-US" altLang="zh-CN" sz="1200" b="0">
                <a:ea typeface="SimSun" panose="02010600030101010101" pitchFamily="2" charset="-122"/>
              </a:rPr>
              <a:t>Increase % Of Parts With Proprietary Technology </a:t>
            </a:r>
          </a:p>
          <a:p>
            <a:pPr lvl="1">
              <a:lnSpc>
                <a:spcPct val="85000"/>
              </a:lnSpc>
              <a:spcBef>
                <a:spcPct val="20000"/>
              </a:spcBef>
              <a:buFontTx/>
              <a:buChar char="•"/>
            </a:pPr>
            <a:r>
              <a:rPr lang="en-US" altLang="zh-CN" sz="1200" b="0">
                <a:ea typeface="SimSun" panose="02010600030101010101" pitchFamily="2" charset="-122"/>
              </a:rPr>
              <a:t>Improve Catalog Management and Technical Competency </a:t>
            </a:r>
          </a:p>
          <a:p>
            <a:pPr lvl="1">
              <a:lnSpc>
                <a:spcPct val="85000"/>
              </a:lnSpc>
              <a:spcBef>
                <a:spcPct val="20000"/>
              </a:spcBef>
              <a:buFontTx/>
              <a:buChar char="•"/>
            </a:pPr>
            <a:r>
              <a:rPr lang="en-US" altLang="zh-CN" sz="1200" b="0">
                <a:ea typeface="SimSun" panose="02010600030101010101" pitchFamily="2" charset="-122"/>
              </a:rPr>
              <a:t>Grow Conversion Aftersales </a:t>
            </a:r>
          </a:p>
        </p:txBody>
      </p:sp>
      <p:sp>
        <p:nvSpPr>
          <p:cNvPr id="64519" name="Text Box 8">
            <a:extLst>
              <a:ext uri="{FF2B5EF4-FFF2-40B4-BE49-F238E27FC236}">
                <a16:creationId xmlns:a16="http://schemas.microsoft.com/office/drawing/2014/main" id="{88546BD0-4A16-B61A-945F-2A2244565315}"/>
              </a:ext>
            </a:extLst>
          </p:cNvPr>
          <p:cNvSpPr txBox="1">
            <a:spLocks noChangeArrowheads="1"/>
          </p:cNvSpPr>
          <p:nvPr/>
        </p:nvSpPr>
        <p:spPr bwMode="gray">
          <a:xfrm>
            <a:off x="4113213" y="2060575"/>
            <a:ext cx="106680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Enhance Dealer Management</a:t>
            </a:r>
          </a:p>
        </p:txBody>
      </p:sp>
      <p:sp>
        <p:nvSpPr>
          <p:cNvPr id="64520" name="Text Box 9">
            <a:extLst>
              <a:ext uri="{FF2B5EF4-FFF2-40B4-BE49-F238E27FC236}">
                <a16:creationId xmlns:a16="http://schemas.microsoft.com/office/drawing/2014/main" id="{F9D9BD50-46CF-B6CB-2A33-E1686397511A}"/>
              </a:ext>
            </a:extLst>
          </p:cNvPr>
          <p:cNvSpPr txBox="1">
            <a:spLocks noChangeArrowheads="1"/>
          </p:cNvSpPr>
          <p:nvPr/>
        </p:nvSpPr>
        <p:spPr bwMode="gray">
          <a:xfrm rot="-5400000">
            <a:off x="-1273174" y="3840162"/>
            <a:ext cx="3562350" cy="225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5000"/>
              </a:spcBef>
              <a:buClrTx/>
              <a:buFontTx/>
              <a:buNone/>
            </a:pPr>
            <a:r>
              <a:rPr lang="en-US" altLang="zh-CN">
                <a:ea typeface="SimSun" panose="02010600030101010101" pitchFamily="2" charset="-122"/>
              </a:rPr>
              <a:t>Importance to Aftersales Profitability</a:t>
            </a:r>
          </a:p>
        </p:txBody>
      </p:sp>
      <p:sp>
        <p:nvSpPr>
          <p:cNvPr id="64521" name="Text Box 10">
            <a:extLst>
              <a:ext uri="{FF2B5EF4-FFF2-40B4-BE49-F238E27FC236}">
                <a16:creationId xmlns:a16="http://schemas.microsoft.com/office/drawing/2014/main" id="{205D959F-5B14-2EBF-4BFA-F74D50F44F88}"/>
              </a:ext>
            </a:extLst>
          </p:cNvPr>
          <p:cNvSpPr txBox="1">
            <a:spLocks noChangeArrowheads="1"/>
          </p:cNvSpPr>
          <p:nvPr/>
        </p:nvSpPr>
        <p:spPr bwMode="gray">
          <a:xfrm>
            <a:off x="2525713" y="6169025"/>
            <a:ext cx="2473325" cy="2079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lnSpc>
                <a:spcPct val="85000"/>
              </a:lnSpc>
              <a:spcBef>
                <a:spcPct val="25000"/>
              </a:spcBef>
              <a:buClrTx/>
              <a:buFontTx/>
              <a:buNone/>
            </a:pPr>
            <a:r>
              <a:rPr lang="en-US" altLang="zh-CN">
                <a:ea typeface="SimSun" panose="02010600030101010101" pitchFamily="2" charset="-122"/>
              </a:rPr>
              <a:t>Ease of Implementation</a:t>
            </a:r>
          </a:p>
        </p:txBody>
      </p:sp>
      <p:sp>
        <p:nvSpPr>
          <p:cNvPr id="64522" name="Text Box 11">
            <a:extLst>
              <a:ext uri="{FF2B5EF4-FFF2-40B4-BE49-F238E27FC236}">
                <a16:creationId xmlns:a16="http://schemas.microsoft.com/office/drawing/2014/main" id="{A96F586A-7126-D4A6-2704-1DA0EC72CDF3}"/>
              </a:ext>
            </a:extLst>
          </p:cNvPr>
          <p:cNvSpPr txBox="1">
            <a:spLocks noChangeArrowheads="1"/>
          </p:cNvSpPr>
          <p:nvPr/>
        </p:nvSpPr>
        <p:spPr bwMode="gray">
          <a:xfrm>
            <a:off x="5235575" y="1931988"/>
            <a:ext cx="1054100" cy="390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Increase Out-network Penetration</a:t>
            </a:r>
          </a:p>
        </p:txBody>
      </p:sp>
      <p:sp>
        <p:nvSpPr>
          <p:cNvPr id="64523" name="Text Box 12">
            <a:extLst>
              <a:ext uri="{FF2B5EF4-FFF2-40B4-BE49-F238E27FC236}">
                <a16:creationId xmlns:a16="http://schemas.microsoft.com/office/drawing/2014/main" id="{0F79C3C1-5312-DE3B-D066-B5B8F0A7F7BD}"/>
              </a:ext>
            </a:extLst>
          </p:cNvPr>
          <p:cNvSpPr txBox="1">
            <a:spLocks noChangeArrowheads="1"/>
          </p:cNvSpPr>
          <p:nvPr/>
        </p:nvSpPr>
        <p:spPr bwMode="gray">
          <a:xfrm>
            <a:off x="4892675" y="3054350"/>
            <a:ext cx="1273175" cy="390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Improve Customer Relationship Management</a:t>
            </a:r>
          </a:p>
        </p:txBody>
      </p:sp>
      <p:sp>
        <p:nvSpPr>
          <p:cNvPr id="64524" name="Text Box 13">
            <a:extLst>
              <a:ext uri="{FF2B5EF4-FFF2-40B4-BE49-F238E27FC236}">
                <a16:creationId xmlns:a16="http://schemas.microsoft.com/office/drawing/2014/main" id="{88D517A3-AB89-C05D-E01E-2CB56C8FB75E}"/>
              </a:ext>
            </a:extLst>
          </p:cNvPr>
          <p:cNvSpPr txBox="1">
            <a:spLocks noChangeArrowheads="1"/>
          </p:cNvSpPr>
          <p:nvPr/>
        </p:nvSpPr>
        <p:spPr bwMode="gray">
          <a:xfrm>
            <a:off x="5813425" y="3600450"/>
            <a:ext cx="868363" cy="65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Enhance Supplier Sourcing Cost Management</a:t>
            </a:r>
          </a:p>
        </p:txBody>
      </p:sp>
      <p:sp>
        <p:nvSpPr>
          <p:cNvPr id="64525" name="Text Box 14">
            <a:extLst>
              <a:ext uri="{FF2B5EF4-FFF2-40B4-BE49-F238E27FC236}">
                <a16:creationId xmlns:a16="http://schemas.microsoft.com/office/drawing/2014/main" id="{57BD2390-DE72-2D0D-60D7-424E35C39594}"/>
              </a:ext>
            </a:extLst>
          </p:cNvPr>
          <p:cNvSpPr txBox="1">
            <a:spLocks noChangeArrowheads="1"/>
          </p:cNvSpPr>
          <p:nvPr/>
        </p:nvSpPr>
        <p:spPr bwMode="gray">
          <a:xfrm>
            <a:off x="2339975" y="2430463"/>
            <a:ext cx="106680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Enhance Supplier Parts Flow Management </a:t>
            </a:r>
          </a:p>
        </p:txBody>
      </p:sp>
      <p:sp>
        <p:nvSpPr>
          <p:cNvPr id="64526" name="Text Box 15">
            <a:extLst>
              <a:ext uri="{FF2B5EF4-FFF2-40B4-BE49-F238E27FC236}">
                <a16:creationId xmlns:a16="http://schemas.microsoft.com/office/drawing/2014/main" id="{830D65D0-43E7-F885-E21D-45A3D3FA18E9}"/>
              </a:ext>
            </a:extLst>
          </p:cNvPr>
          <p:cNvSpPr txBox="1">
            <a:spLocks noChangeArrowheads="1"/>
          </p:cNvSpPr>
          <p:nvPr/>
        </p:nvSpPr>
        <p:spPr bwMode="gray">
          <a:xfrm>
            <a:off x="3230563" y="3465513"/>
            <a:ext cx="1065212"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Improve Service Quality </a:t>
            </a:r>
          </a:p>
        </p:txBody>
      </p:sp>
      <p:sp>
        <p:nvSpPr>
          <p:cNvPr id="64527" name="Text Box 16">
            <a:extLst>
              <a:ext uri="{FF2B5EF4-FFF2-40B4-BE49-F238E27FC236}">
                <a16:creationId xmlns:a16="http://schemas.microsoft.com/office/drawing/2014/main" id="{C4F9EC86-13EB-39BF-C826-52C7987D55DE}"/>
              </a:ext>
            </a:extLst>
          </p:cNvPr>
          <p:cNvSpPr txBox="1">
            <a:spLocks noChangeArrowheads="1"/>
          </p:cNvSpPr>
          <p:nvPr/>
        </p:nvSpPr>
        <p:spPr bwMode="gray">
          <a:xfrm>
            <a:off x="3052763" y="4154488"/>
            <a:ext cx="13160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Reduce Inventory Related Cost</a:t>
            </a:r>
          </a:p>
        </p:txBody>
      </p:sp>
      <p:sp>
        <p:nvSpPr>
          <p:cNvPr id="64528" name="Text Box 17">
            <a:extLst>
              <a:ext uri="{FF2B5EF4-FFF2-40B4-BE49-F238E27FC236}">
                <a16:creationId xmlns:a16="http://schemas.microsoft.com/office/drawing/2014/main" id="{FBF88640-9E32-B177-3CCB-2C36E89A770C}"/>
              </a:ext>
            </a:extLst>
          </p:cNvPr>
          <p:cNvSpPr txBox="1">
            <a:spLocks noChangeArrowheads="1"/>
          </p:cNvSpPr>
          <p:nvPr/>
        </p:nvSpPr>
        <p:spPr bwMode="gray">
          <a:xfrm>
            <a:off x="4805363" y="4467225"/>
            <a:ext cx="1019175" cy="390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Reduce Packaging Cost</a:t>
            </a:r>
          </a:p>
        </p:txBody>
      </p:sp>
      <p:sp>
        <p:nvSpPr>
          <p:cNvPr id="64529" name="Text Box 18">
            <a:extLst>
              <a:ext uri="{FF2B5EF4-FFF2-40B4-BE49-F238E27FC236}">
                <a16:creationId xmlns:a16="http://schemas.microsoft.com/office/drawing/2014/main" id="{3F4E1525-8457-C39E-F0C4-55FD5866595B}"/>
              </a:ext>
            </a:extLst>
          </p:cNvPr>
          <p:cNvSpPr txBox="1">
            <a:spLocks noChangeArrowheads="1"/>
          </p:cNvSpPr>
          <p:nvPr/>
        </p:nvSpPr>
        <p:spPr bwMode="gray">
          <a:xfrm>
            <a:off x="4910138" y="5154613"/>
            <a:ext cx="946150" cy="390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Reduce Warehouse Cost</a:t>
            </a:r>
          </a:p>
        </p:txBody>
      </p:sp>
      <p:sp>
        <p:nvSpPr>
          <p:cNvPr id="64530" name="Text Box 19">
            <a:extLst>
              <a:ext uri="{FF2B5EF4-FFF2-40B4-BE49-F238E27FC236}">
                <a16:creationId xmlns:a16="http://schemas.microsoft.com/office/drawing/2014/main" id="{2BA6E88B-6B66-4DF3-1A9B-72EB378CF364}"/>
              </a:ext>
            </a:extLst>
          </p:cNvPr>
          <p:cNvSpPr txBox="1">
            <a:spLocks noChangeArrowheads="1"/>
          </p:cNvSpPr>
          <p:nvPr/>
        </p:nvSpPr>
        <p:spPr bwMode="gray">
          <a:xfrm>
            <a:off x="1155700" y="2500313"/>
            <a:ext cx="101600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Increase % of Parts With Proprietary Technology </a:t>
            </a:r>
          </a:p>
        </p:txBody>
      </p:sp>
      <p:sp>
        <p:nvSpPr>
          <p:cNvPr id="64531" name="Text Box 20">
            <a:extLst>
              <a:ext uri="{FF2B5EF4-FFF2-40B4-BE49-F238E27FC236}">
                <a16:creationId xmlns:a16="http://schemas.microsoft.com/office/drawing/2014/main" id="{4BED7108-FC14-294C-4874-BEAD4288D1A2}"/>
              </a:ext>
            </a:extLst>
          </p:cNvPr>
          <p:cNvSpPr txBox="1">
            <a:spLocks noChangeArrowheads="1"/>
          </p:cNvSpPr>
          <p:nvPr/>
        </p:nvSpPr>
        <p:spPr bwMode="gray">
          <a:xfrm>
            <a:off x="1544638" y="4256088"/>
            <a:ext cx="1066800" cy="65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Improve Catalog Management and Technical Competency </a:t>
            </a:r>
          </a:p>
        </p:txBody>
      </p:sp>
      <p:sp>
        <p:nvSpPr>
          <p:cNvPr id="64532" name="Text Box 21">
            <a:extLst>
              <a:ext uri="{FF2B5EF4-FFF2-40B4-BE49-F238E27FC236}">
                <a16:creationId xmlns:a16="http://schemas.microsoft.com/office/drawing/2014/main" id="{FD0B50DD-92EF-FEF8-DB15-58790BFBFAA6}"/>
              </a:ext>
            </a:extLst>
          </p:cNvPr>
          <p:cNvSpPr txBox="1">
            <a:spLocks noChangeArrowheads="1"/>
          </p:cNvSpPr>
          <p:nvPr/>
        </p:nvSpPr>
        <p:spPr bwMode="gray">
          <a:xfrm>
            <a:off x="1571625" y="5099050"/>
            <a:ext cx="1066800" cy="390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25000"/>
              </a:spcBef>
              <a:buClrTx/>
              <a:buFontTx/>
              <a:buNone/>
            </a:pPr>
            <a:r>
              <a:rPr lang="en-US" altLang="zh-CN" sz="1000">
                <a:ea typeface="SimSun" panose="02010600030101010101" pitchFamily="2" charset="-122"/>
              </a:rPr>
              <a:t>Grow Conversion Aftersales </a:t>
            </a:r>
          </a:p>
        </p:txBody>
      </p:sp>
      <p:sp>
        <p:nvSpPr>
          <p:cNvPr id="64533" name="Text Box 22">
            <a:extLst>
              <a:ext uri="{FF2B5EF4-FFF2-40B4-BE49-F238E27FC236}">
                <a16:creationId xmlns:a16="http://schemas.microsoft.com/office/drawing/2014/main" id="{858B1A29-E71F-D4E9-9075-B2588DC242C1}"/>
              </a:ext>
            </a:extLst>
          </p:cNvPr>
          <p:cNvSpPr txBox="1">
            <a:spLocks noChangeArrowheads="1"/>
          </p:cNvSpPr>
          <p:nvPr/>
        </p:nvSpPr>
        <p:spPr bwMode="auto">
          <a:xfrm>
            <a:off x="6213475" y="5992813"/>
            <a:ext cx="701675"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1400" b="0" i="1">
                <a:ea typeface="SimSun" panose="02010600030101010101" pitchFamily="2" charset="-122"/>
              </a:rPr>
              <a:t>Easy</a:t>
            </a:r>
          </a:p>
        </p:txBody>
      </p:sp>
      <p:sp>
        <p:nvSpPr>
          <p:cNvPr id="64534" name="Text Box 23">
            <a:extLst>
              <a:ext uri="{FF2B5EF4-FFF2-40B4-BE49-F238E27FC236}">
                <a16:creationId xmlns:a16="http://schemas.microsoft.com/office/drawing/2014/main" id="{F50383C3-45EF-A61F-0711-CC3AC96B3C5D}"/>
              </a:ext>
            </a:extLst>
          </p:cNvPr>
          <p:cNvSpPr txBox="1">
            <a:spLocks noChangeArrowheads="1"/>
          </p:cNvSpPr>
          <p:nvPr/>
        </p:nvSpPr>
        <p:spPr bwMode="auto">
          <a:xfrm>
            <a:off x="611188" y="5992813"/>
            <a:ext cx="989012"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1400" b="0" i="1">
                <a:ea typeface="SimSun" panose="02010600030101010101" pitchFamily="2" charset="-122"/>
              </a:rPr>
              <a:t>Difficult</a:t>
            </a:r>
          </a:p>
        </p:txBody>
      </p:sp>
      <p:sp>
        <p:nvSpPr>
          <p:cNvPr id="64535" name="Text Box 24">
            <a:extLst>
              <a:ext uri="{FF2B5EF4-FFF2-40B4-BE49-F238E27FC236}">
                <a16:creationId xmlns:a16="http://schemas.microsoft.com/office/drawing/2014/main" id="{6B14D20C-D167-33DA-835A-7C59DFE03DD7}"/>
              </a:ext>
            </a:extLst>
          </p:cNvPr>
          <p:cNvSpPr txBox="1">
            <a:spLocks noChangeArrowheads="1"/>
          </p:cNvSpPr>
          <p:nvPr/>
        </p:nvSpPr>
        <p:spPr bwMode="auto">
          <a:xfrm>
            <a:off x="193675" y="5778500"/>
            <a:ext cx="70167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1400" b="0" i="1">
                <a:ea typeface="SimSun" panose="02010600030101010101" pitchFamily="2" charset="-122"/>
              </a:rPr>
              <a:t>Low</a:t>
            </a:r>
          </a:p>
        </p:txBody>
      </p:sp>
      <p:sp>
        <p:nvSpPr>
          <p:cNvPr id="64536" name="Text Box 25">
            <a:extLst>
              <a:ext uri="{FF2B5EF4-FFF2-40B4-BE49-F238E27FC236}">
                <a16:creationId xmlns:a16="http://schemas.microsoft.com/office/drawing/2014/main" id="{F6675AF2-2E3C-89B1-47BF-6E68FE348D1C}"/>
              </a:ext>
            </a:extLst>
          </p:cNvPr>
          <p:cNvSpPr txBox="1">
            <a:spLocks noChangeArrowheads="1"/>
          </p:cNvSpPr>
          <p:nvPr/>
        </p:nvSpPr>
        <p:spPr bwMode="auto">
          <a:xfrm>
            <a:off x="231775" y="1789113"/>
            <a:ext cx="701675"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1400" b="0" i="1">
                <a:ea typeface="SimSun" panose="02010600030101010101" pitchFamily="2" charset="-122"/>
              </a:rPr>
              <a:t>High</a:t>
            </a:r>
          </a:p>
        </p:txBody>
      </p:sp>
      <p:graphicFrame>
        <p:nvGraphicFramePr>
          <p:cNvPr id="64537" name="Object 26">
            <a:extLst>
              <a:ext uri="{FF2B5EF4-FFF2-40B4-BE49-F238E27FC236}">
                <a16:creationId xmlns:a16="http://schemas.microsoft.com/office/drawing/2014/main" id="{55AC610A-E370-A75C-2E4F-6BA0FAB12815}"/>
              </a:ext>
            </a:extLst>
          </p:cNvPr>
          <p:cNvGraphicFramePr>
            <a:graphicFrameLocks noChangeAspect="1"/>
          </p:cNvGraphicFramePr>
          <p:nvPr/>
        </p:nvGraphicFramePr>
        <p:xfrm>
          <a:off x="701675" y="1844675"/>
          <a:ext cx="6054725" cy="4264025"/>
        </p:xfrm>
        <a:graphic>
          <a:graphicData uri="http://schemas.openxmlformats.org/presentationml/2006/ole">
            <mc:AlternateContent>
              <mc:Choice xmlns:v="urn:schemas-microsoft-com:vml" Requires="v">
                <p:oleObj spid="_x0000_s1045" name="차트" r:id="rId4" imgW="6305550" imgH="4445000" progId="Excel.Chart.8">
                  <p:embed/>
                </p:oleObj>
              </mc:Choice>
              <mc:Fallback>
                <p:oleObj name="차트" r:id="rId4" imgW="6305550" imgH="4445000" progId="Excel.Chart.8">
                  <p:embed/>
                  <p:pic>
                    <p:nvPicPr>
                      <p:cNvPr id="0" name="OLE substitute image"/>
                      <p:cNvPicPr/>
                      <p:nvPr/>
                    </p:nvPicPr>
                    <p:blipFill>
                      <a:blip r:embed="rId5">
                        <a:extLst>
                          <a:ext uri="{28A0092B-C50C-407E-A947-70E740481C1C}">
                            <a14:useLocalDpi xmlns:a14="http://schemas.microsoft.com/office/drawing/2010/main" val="0"/>
                          </a:ext>
                        </a:extLst>
                      </a:blip>
                      <a:stretch>
                        <a:fillRect/>
                      </a:stretch>
                    </p:blipFill>
                    <p:spPr>
                      <a:xfrm>
                        <a:off x="701675" y="1844675"/>
                        <a:ext cx="6054725" cy="4264025"/>
                      </a:xfrm>
                      <a:prstGeom prst="rect">
                        <a:avLst/>
                      </a:prstGeom>
                      <a:noFill/>
                      <a:ln>
                        <a:noFill/>
                      </a:ln>
                    </p:spPr>
                  </p:pic>
                </p:oleObj>
              </mc:Fallback>
            </mc:AlternateContent>
          </a:graphicData>
        </a:graphic>
      </p:graphicFrame>
      <p:grpSp>
        <p:nvGrpSpPr>
          <p:cNvPr id="64538" name="Group 27">
            <a:extLst>
              <a:ext uri="{FF2B5EF4-FFF2-40B4-BE49-F238E27FC236}">
                <a16:creationId xmlns:a16="http://schemas.microsoft.com/office/drawing/2014/main" id="{D7000EB8-4C92-7EF9-AF93-EB503C9D1D37}"/>
              </a:ext>
            </a:extLst>
          </p:cNvPr>
          <p:cNvGrpSpPr/>
          <p:nvPr/>
        </p:nvGrpSpPr>
        <p:grpSpPr>
          <a:xfrm>
            <a:off x="271463" y="6500813"/>
            <a:ext cx="3627437" cy="155575"/>
            <a:chOff x="158" y="4149"/>
            <a:chExt cx="2109" cy="98"/>
          </a:xfrm>
        </p:grpSpPr>
        <p:sp>
          <p:nvSpPr>
            <p:cNvPr id="64539" name="Rectangle 28">
              <a:extLst>
                <a:ext uri="{FF2B5EF4-FFF2-40B4-BE49-F238E27FC236}">
                  <a16:creationId xmlns:a16="http://schemas.microsoft.com/office/drawing/2014/main" id="{18D55F71-3962-7428-A727-3987795C6FF1}"/>
                </a:ext>
              </a:extLst>
            </p:cNvPr>
            <p:cNvSpPr>
              <a:spLocks noChangeArrowheads="1"/>
            </p:cNvSpPr>
            <p:nvPr/>
          </p:nvSpPr>
          <p:spPr bwMode="auto">
            <a:xfrm>
              <a:off x="158" y="4168"/>
              <a:ext cx="117" cy="60"/>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64540" name="Rectangle 29">
              <a:extLst>
                <a:ext uri="{FF2B5EF4-FFF2-40B4-BE49-F238E27FC236}">
                  <a16:creationId xmlns:a16="http://schemas.microsoft.com/office/drawing/2014/main" id="{E3935EB0-352C-9FD1-2645-056919E202C8}"/>
                </a:ext>
              </a:extLst>
            </p:cNvPr>
            <p:cNvSpPr>
              <a:spLocks noChangeArrowheads="1"/>
            </p:cNvSpPr>
            <p:nvPr/>
          </p:nvSpPr>
          <p:spPr bwMode="auto">
            <a:xfrm>
              <a:off x="869" y="4168"/>
              <a:ext cx="117" cy="60"/>
            </a:xfrm>
            <a:prstGeom prst="rect">
              <a:avLst/>
            </a:prstGeom>
            <a:blipFill dpi="0" rotWithShape="0">
              <a:blip r:embed="rId6"/>
              <a:tile tx="0" ty="0" sx="100000" sy="100000" flip="none" algn="tl"/>
            </a:blip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64541" name="Rectangle 30">
              <a:extLst>
                <a:ext uri="{FF2B5EF4-FFF2-40B4-BE49-F238E27FC236}">
                  <a16:creationId xmlns:a16="http://schemas.microsoft.com/office/drawing/2014/main" id="{75B177C9-1C19-4D59-5180-C91073D51745}"/>
                </a:ext>
              </a:extLst>
            </p:cNvPr>
            <p:cNvSpPr>
              <a:spLocks noChangeArrowheads="1"/>
            </p:cNvSpPr>
            <p:nvPr/>
          </p:nvSpPr>
          <p:spPr bwMode="auto">
            <a:xfrm>
              <a:off x="1677" y="4168"/>
              <a:ext cx="117" cy="6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64542" name="Text Box 31">
              <a:extLst>
                <a:ext uri="{FF2B5EF4-FFF2-40B4-BE49-F238E27FC236}">
                  <a16:creationId xmlns:a16="http://schemas.microsoft.com/office/drawing/2014/main" id="{356E1795-06B8-96F5-F86B-B5518AEA8E18}"/>
                </a:ext>
              </a:extLst>
            </p:cNvPr>
            <p:cNvSpPr txBox="1">
              <a:spLocks noChangeArrowheads="1"/>
            </p:cNvSpPr>
            <p:nvPr/>
          </p:nvSpPr>
          <p:spPr bwMode="gray">
            <a:xfrm>
              <a:off x="311" y="4149"/>
              <a:ext cx="468" cy="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Tx/>
                <a:buFontTx/>
                <a:buNone/>
              </a:pPr>
              <a:r>
                <a:rPr lang="en-US" altLang="zh-CN" sz="1200" b="0">
                  <a:ea typeface="SimSun" panose="02010600030101010101" pitchFamily="2" charset="-122"/>
                </a:rPr>
                <a:t>Quick-wins</a:t>
              </a:r>
            </a:p>
          </p:txBody>
        </p:sp>
        <p:sp>
          <p:nvSpPr>
            <p:cNvPr id="64543" name="Text Box 32">
              <a:extLst>
                <a:ext uri="{FF2B5EF4-FFF2-40B4-BE49-F238E27FC236}">
                  <a16:creationId xmlns:a16="http://schemas.microsoft.com/office/drawing/2014/main" id="{72ED27FF-6E0D-325B-1678-6070A91742AA}"/>
                </a:ext>
              </a:extLst>
            </p:cNvPr>
            <p:cNvSpPr txBox="1">
              <a:spLocks noChangeArrowheads="1"/>
            </p:cNvSpPr>
            <p:nvPr/>
          </p:nvSpPr>
          <p:spPr bwMode="gray">
            <a:xfrm>
              <a:off x="1023" y="4149"/>
              <a:ext cx="564" cy="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Tx/>
                <a:buFontTx/>
                <a:buNone/>
              </a:pPr>
              <a:r>
                <a:rPr lang="en-US" altLang="zh-CN" sz="1200" b="0">
                  <a:ea typeface="SimSun" panose="02010600030101010101" pitchFamily="2" charset="-122"/>
                </a:rPr>
                <a:t>Medium-term</a:t>
              </a:r>
            </a:p>
          </p:txBody>
        </p:sp>
        <p:sp>
          <p:nvSpPr>
            <p:cNvPr id="64544" name="Text Box 33">
              <a:extLst>
                <a:ext uri="{FF2B5EF4-FFF2-40B4-BE49-F238E27FC236}">
                  <a16:creationId xmlns:a16="http://schemas.microsoft.com/office/drawing/2014/main" id="{AA5D57EC-3223-35AA-62C6-8FB77C2EBB5A}"/>
                </a:ext>
              </a:extLst>
            </p:cNvPr>
            <p:cNvSpPr txBox="1">
              <a:spLocks noChangeArrowheads="1"/>
            </p:cNvSpPr>
            <p:nvPr/>
          </p:nvSpPr>
          <p:spPr bwMode="gray">
            <a:xfrm>
              <a:off x="1831" y="4149"/>
              <a:ext cx="436" cy="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9538" indent="-1079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Tx/>
                <a:buFontTx/>
                <a:buNone/>
              </a:pPr>
              <a:r>
                <a:rPr lang="en-US" altLang="zh-CN" sz="1200" b="0">
                  <a:ea typeface="SimSun" panose="02010600030101010101" pitchFamily="2" charset="-122"/>
                </a:rPr>
                <a:t>Long-term</a:t>
              </a:r>
            </a:p>
          </p:txBody>
        </p:sp>
      </p:gr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66561" name="Line 2">
            <a:extLst>
              <a:ext uri="{FF2B5EF4-FFF2-40B4-BE49-F238E27FC236}">
                <a16:creationId xmlns:a16="http://schemas.microsoft.com/office/drawing/2014/main" id="{10A1819F-9B17-392E-99F2-39AF07DB7296}"/>
              </a:ext>
            </a:extLst>
          </p:cNvPr>
          <p:cNvSpPr>
            <a:spLocks noChangeShapeType="1"/>
          </p:cNvSpPr>
          <p:nvPr/>
        </p:nvSpPr>
        <p:spPr bwMode="gray">
          <a:xfrm flipH="1">
            <a:off x="595313" y="4081463"/>
            <a:ext cx="0" cy="577850"/>
          </a:xfrm>
          <a:prstGeom prst="line">
            <a:avLst/>
          </a:prstGeom>
          <a:noFill/>
          <a:ln w="12700">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562" name="Rectangle 3">
            <a:extLst>
              <a:ext uri="{FF2B5EF4-FFF2-40B4-BE49-F238E27FC236}">
                <a16:creationId xmlns:a16="http://schemas.microsoft.com/office/drawing/2014/main" id="{6BC788FD-70E5-F424-7A79-3CAB621D65A0}"/>
              </a:ext>
            </a:extLst>
          </p:cNvPr>
          <p:cNvSpPr>
            <a:spLocks noGrp="1" noChangeArrowheads="1"/>
          </p:cNvSpPr>
          <p:nvPr>
            <p:ph type="title"/>
          </p:nvPr>
        </p:nvSpPr>
        <p:spPr bwMode="gray">
          <a:xfrm>
            <a:off x="266700" y="596900"/>
            <a:ext cx="9367838" cy="904875"/>
          </a:xfrm>
        </p:spPr>
        <p:txBody>
          <a:bodyPr/>
          <a:lstStyle/>
          <a:p>
            <a:r>
              <a:rPr lang="en-US" altLang="zh-CN">
                <a:ea typeface="SimSun" panose="02010600030101010101" pitchFamily="2" charset="-122"/>
              </a:rPr>
              <a:t>Case study: Charging license fee is an alternative way to collect out-network revenue, but increases difficulty in full supplier control in the future </a:t>
            </a:r>
          </a:p>
        </p:txBody>
      </p:sp>
      <p:sp>
        <p:nvSpPr>
          <p:cNvPr id="66563" name="Rectangle 4">
            <a:extLst>
              <a:ext uri="{FF2B5EF4-FFF2-40B4-BE49-F238E27FC236}">
                <a16:creationId xmlns:a16="http://schemas.microsoft.com/office/drawing/2014/main" id="{F78F1277-4F2E-CACC-CFCF-2E5F6BDD80A9}"/>
              </a:ext>
            </a:extLst>
          </p:cNvPr>
          <p:cNvSpPr>
            <a:spLocks noChangeArrowheads="1"/>
          </p:cNvSpPr>
          <p:nvPr/>
        </p:nvSpPr>
        <p:spPr bwMode="gray">
          <a:xfrm>
            <a:off x="266700" y="1816100"/>
            <a:ext cx="4003675" cy="661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a:ea typeface="SimSun" panose="02010600030101010101" pitchFamily="2" charset="-122"/>
              </a:rPr>
              <a:t>FAW Out-Network Revenue Source from Management Fee on Licensed Suppliers</a:t>
            </a:r>
          </a:p>
        </p:txBody>
      </p:sp>
      <p:sp>
        <p:nvSpPr>
          <p:cNvPr id="66564" name="Rectangle 5">
            <a:extLst>
              <a:ext uri="{FF2B5EF4-FFF2-40B4-BE49-F238E27FC236}">
                <a16:creationId xmlns:a16="http://schemas.microsoft.com/office/drawing/2014/main" id="{E758C568-D41D-A128-4141-B8A1D79D2538}"/>
              </a:ext>
            </a:extLst>
          </p:cNvPr>
          <p:cNvSpPr>
            <a:spLocks noChangeArrowheads="1"/>
          </p:cNvSpPr>
          <p:nvPr/>
        </p:nvSpPr>
        <p:spPr bwMode="gray">
          <a:xfrm>
            <a:off x="4713288" y="1706563"/>
            <a:ext cx="1751012" cy="6619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a:ea typeface="SimSun" panose="02010600030101010101" pitchFamily="2" charset="-122"/>
              </a:rPr>
              <a:t>Parts Price on Aftersales Market </a:t>
            </a:r>
          </a:p>
        </p:txBody>
      </p:sp>
      <p:sp>
        <p:nvSpPr>
          <p:cNvPr id="66565" name="Rectangle 6">
            <a:extLst>
              <a:ext uri="{FF2B5EF4-FFF2-40B4-BE49-F238E27FC236}">
                <a16:creationId xmlns:a16="http://schemas.microsoft.com/office/drawing/2014/main" id="{8251F9E9-F7BD-D550-BAF5-3A4094C3380E}"/>
              </a:ext>
            </a:extLst>
          </p:cNvPr>
          <p:cNvSpPr>
            <a:spLocks noChangeArrowheads="1"/>
          </p:cNvSpPr>
          <p:nvPr/>
        </p:nvSpPr>
        <p:spPr bwMode="gray">
          <a:xfrm>
            <a:off x="220663" y="2560638"/>
            <a:ext cx="1509712" cy="457200"/>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 tIns="27432" rIns="27432" bIns="27432"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400">
                <a:ea typeface="SimSun" panose="02010600030101010101" pitchFamily="2" charset="-122"/>
              </a:rPr>
              <a:t>FAW</a:t>
            </a:r>
          </a:p>
        </p:txBody>
      </p:sp>
      <p:sp>
        <p:nvSpPr>
          <p:cNvPr id="66566" name="Rectangle 7">
            <a:extLst>
              <a:ext uri="{FF2B5EF4-FFF2-40B4-BE49-F238E27FC236}">
                <a16:creationId xmlns:a16="http://schemas.microsoft.com/office/drawing/2014/main" id="{583CEE1C-48C2-EA57-1AF6-2B0BE4B18EBD}"/>
              </a:ext>
            </a:extLst>
          </p:cNvPr>
          <p:cNvSpPr>
            <a:spLocks noChangeArrowheads="1"/>
          </p:cNvSpPr>
          <p:nvPr/>
        </p:nvSpPr>
        <p:spPr bwMode="gray">
          <a:xfrm>
            <a:off x="220663" y="3616325"/>
            <a:ext cx="1435100" cy="457200"/>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27432" rIns="0" bIns="27432"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US" altLang="zh-CN" sz="1400">
                <a:ea typeface="SimSun" panose="02010600030101010101" pitchFamily="2" charset="-122"/>
              </a:rPr>
              <a:t>FAW Aftersales</a:t>
            </a:r>
          </a:p>
          <a:p>
            <a:pPr algn="ctr" eaLnBrk="1" hangingPunct="1">
              <a:spcBef>
                <a:spcPct val="0"/>
              </a:spcBef>
              <a:buFontTx/>
              <a:buNone/>
            </a:pPr>
            <a:r>
              <a:rPr lang="en-US" altLang="zh-CN" sz="1400">
                <a:ea typeface="SimSun" panose="02010600030101010101" pitchFamily="2" charset="-122"/>
              </a:rPr>
              <a:t>Division</a:t>
            </a:r>
          </a:p>
        </p:txBody>
      </p:sp>
      <p:sp>
        <p:nvSpPr>
          <p:cNvPr id="66567" name="Rectangle 8">
            <a:extLst>
              <a:ext uri="{FF2B5EF4-FFF2-40B4-BE49-F238E27FC236}">
                <a16:creationId xmlns:a16="http://schemas.microsoft.com/office/drawing/2014/main" id="{AAE07376-F532-6ACE-914C-DB00FF67B226}"/>
              </a:ext>
            </a:extLst>
          </p:cNvPr>
          <p:cNvSpPr>
            <a:spLocks noChangeArrowheads="1"/>
          </p:cNvSpPr>
          <p:nvPr/>
        </p:nvSpPr>
        <p:spPr bwMode="gray">
          <a:xfrm>
            <a:off x="220663" y="4672013"/>
            <a:ext cx="1733550" cy="379412"/>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 tIns="27432" rIns="27432" bIns="27432"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400">
                <a:ea typeface="SimSun" panose="02010600030101010101" pitchFamily="2" charset="-122"/>
              </a:rPr>
              <a:t>In-Network</a:t>
            </a:r>
          </a:p>
        </p:txBody>
      </p:sp>
      <p:sp>
        <p:nvSpPr>
          <p:cNvPr id="66568" name="Rectangle 9">
            <a:extLst>
              <a:ext uri="{FF2B5EF4-FFF2-40B4-BE49-F238E27FC236}">
                <a16:creationId xmlns:a16="http://schemas.microsoft.com/office/drawing/2014/main" id="{3865389B-754F-9CA4-0E7B-CC00307EBE3A}"/>
              </a:ext>
            </a:extLst>
          </p:cNvPr>
          <p:cNvSpPr>
            <a:spLocks noChangeArrowheads="1"/>
          </p:cNvSpPr>
          <p:nvPr/>
        </p:nvSpPr>
        <p:spPr bwMode="gray">
          <a:xfrm>
            <a:off x="220663" y="5437188"/>
            <a:ext cx="4111625" cy="341312"/>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 tIns="27432" rIns="27432" bIns="27432"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400">
                <a:ea typeface="SimSun" panose="02010600030101010101" pitchFamily="2" charset="-122"/>
              </a:rPr>
              <a:t>Customer</a:t>
            </a:r>
          </a:p>
        </p:txBody>
      </p:sp>
      <p:sp>
        <p:nvSpPr>
          <p:cNvPr id="66569" name="Rectangle 10">
            <a:extLst>
              <a:ext uri="{FF2B5EF4-FFF2-40B4-BE49-F238E27FC236}">
                <a16:creationId xmlns:a16="http://schemas.microsoft.com/office/drawing/2014/main" id="{6F627184-03A3-BEBE-863F-CBDD14B791C3}"/>
              </a:ext>
            </a:extLst>
          </p:cNvPr>
          <p:cNvSpPr>
            <a:spLocks noChangeArrowheads="1"/>
          </p:cNvSpPr>
          <p:nvPr/>
        </p:nvSpPr>
        <p:spPr bwMode="gray">
          <a:xfrm>
            <a:off x="2598738" y="4672013"/>
            <a:ext cx="1733550" cy="396875"/>
          </a:xfrm>
          <a:prstGeom prst="rect">
            <a:avLst/>
          </a:prstGeom>
          <a:noFill/>
          <a:ln w="12700" algn="ctr">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27432" tIns="27432" rIns="27432" bIns="27432"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400">
                <a:ea typeface="SimSun" panose="02010600030101010101" pitchFamily="2" charset="-122"/>
              </a:rPr>
              <a:t>Out-Network</a:t>
            </a:r>
          </a:p>
        </p:txBody>
      </p:sp>
      <p:sp>
        <p:nvSpPr>
          <p:cNvPr id="66570" name="Rectangle 11">
            <a:extLst>
              <a:ext uri="{FF2B5EF4-FFF2-40B4-BE49-F238E27FC236}">
                <a16:creationId xmlns:a16="http://schemas.microsoft.com/office/drawing/2014/main" id="{AA22D39A-CB71-6CDC-5D04-2CC595C0CD59}"/>
              </a:ext>
            </a:extLst>
          </p:cNvPr>
          <p:cNvSpPr>
            <a:spLocks noChangeArrowheads="1"/>
          </p:cNvSpPr>
          <p:nvPr/>
        </p:nvSpPr>
        <p:spPr bwMode="gray">
          <a:xfrm>
            <a:off x="3543300" y="3124200"/>
            <a:ext cx="471488" cy="1365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License</a:t>
            </a:r>
          </a:p>
        </p:txBody>
      </p:sp>
      <p:cxnSp>
        <p:nvCxnSpPr>
          <p:cNvPr id="66571" name="AutoShape 12">
            <a:extLst>
              <a:ext uri="{FF2B5EF4-FFF2-40B4-BE49-F238E27FC236}">
                <a16:creationId xmlns:a16="http://schemas.microsoft.com/office/drawing/2014/main" id="{2FFF6351-4883-BE11-01C2-129F5D19A67C}"/>
              </a:ext>
            </a:extLst>
          </p:cNvPr>
          <p:cNvCxnSpPr>
            <a:cxnSpLocks noChangeShapeType="1"/>
            <a:stCxn id="66565" idx="3"/>
            <a:endCxn id="66580" idx="0"/>
          </p:cNvCxnSpPr>
          <p:nvPr/>
        </p:nvCxnSpPr>
        <p:spPr bwMode="gray">
          <a:xfrm>
            <a:off x="1730375" y="2789238"/>
            <a:ext cx="1735138" cy="827087"/>
          </a:xfrm>
          <a:prstGeom prst="bentConnector2">
            <a:avLst/>
          </a:prstGeom>
          <a:noFill/>
          <a:ln w="19050">
            <a:solidFill>
              <a:srgbClr val="0070C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572" name="Line 13">
            <a:extLst>
              <a:ext uri="{FF2B5EF4-FFF2-40B4-BE49-F238E27FC236}">
                <a16:creationId xmlns:a16="http://schemas.microsoft.com/office/drawing/2014/main" id="{63D78937-EB6A-0C5B-BEB3-2AAED71C4A1A}"/>
              </a:ext>
            </a:extLst>
          </p:cNvPr>
          <p:cNvSpPr>
            <a:spLocks noChangeShapeType="1"/>
          </p:cNvSpPr>
          <p:nvPr/>
        </p:nvSpPr>
        <p:spPr bwMode="gray">
          <a:xfrm flipH="1">
            <a:off x="595313" y="3022600"/>
            <a:ext cx="0" cy="577850"/>
          </a:xfrm>
          <a:prstGeom prst="line">
            <a:avLst/>
          </a:prstGeom>
          <a:noFill/>
          <a:ln w="12700">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573" name="Line 14">
            <a:extLst>
              <a:ext uri="{FF2B5EF4-FFF2-40B4-BE49-F238E27FC236}">
                <a16:creationId xmlns:a16="http://schemas.microsoft.com/office/drawing/2014/main" id="{3C19B7C1-B57E-CC8F-841F-5396F9634C99}"/>
              </a:ext>
            </a:extLst>
          </p:cNvPr>
          <p:cNvSpPr>
            <a:spLocks noChangeShapeType="1"/>
          </p:cNvSpPr>
          <p:nvPr/>
        </p:nvSpPr>
        <p:spPr bwMode="gray">
          <a:xfrm flipH="1">
            <a:off x="1104900" y="5062538"/>
            <a:ext cx="3175" cy="369887"/>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574" name="Line 15">
            <a:extLst>
              <a:ext uri="{FF2B5EF4-FFF2-40B4-BE49-F238E27FC236}">
                <a16:creationId xmlns:a16="http://schemas.microsoft.com/office/drawing/2014/main" id="{39ACBC88-3FB9-D392-5629-A749D955831B}"/>
              </a:ext>
            </a:extLst>
          </p:cNvPr>
          <p:cNvSpPr>
            <a:spLocks noChangeShapeType="1"/>
          </p:cNvSpPr>
          <p:nvPr/>
        </p:nvSpPr>
        <p:spPr bwMode="gray">
          <a:xfrm flipH="1">
            <a:off x="3465513" y="4081463"/>
            <a:ext cx="0" cy="57785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575" name="Rectangle 16">
            <a:extLst>
              <a:ext uri="{FF2B5EF4-FFF2-40B4-BE49-F238E27FC236}">
                <a16:creationId xmlns:a16="http://schemas.microsoft.com/office/drawing/2014/main" id="{354D5D4B-4D3C-2F9C-129A-98A35676B6A5}"/>
              </a:ext>
            </a:extLst>
          </p:cNvPr>
          <p:cNvSpPr>
            <a:spLocks noChangeArrowheads="1"/>
          </p:cNvSpPr>
          <p:nvPr/>
        </p:nvSpPr>
        <p:spPr bwMode="gray">
          <a:xfrm>
            <a:off x="3543300" y="4221163"/>
            <a:ext cx="685800" cy="27305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Parts (with </a:t>
            </a:r>
            <a:br>
              <a:rPr lang="en-US" altLang="zh-CN" sz="1000" b="0">
                <a:ea typeface="SimSun" panose="02010600030101010101" pitchFamily="2" charset="-122"/>
              </a:rPr>
            </a:br>
            <a:r>
              <a:rPr lang="en-US" altLang="zh-CN" sz="1000" b="0">
                <a:ea typeface="SimSun" panose="02010600030101010101" pitchFamily="2" charset="-122"/>
              </a:rPr>
              <a:t>FAW logo)</a:t>
            </a:r>
          </a:p>
        </p:txBody>
      </p:sp>
      <p:sp>
        <p:nvSpPr>
          <p:cNvPr id="66576" name="Rectangle 17">
            <a:extLst>
              <a:ext uri="{FF2B5EF4-FFF2-40B4-BE49-F238E27FC236}">
                <a16:creationId xmlns:a16="http://schemas.microsoft.com/office/drawing/2014/main" id="{444999AB-25B5-A252-85D8-E615F1AC5060}"/>
              </a:ext>
            </a:extLst>
          </p:cNvPr>
          <p:cNvSpPr>
            <a:spLocks noChangeArrowheads="1"/>
          </p:cNvSpPr>
          <p:nvPr/>
        </p:nvSpPr>
        <p:spPr bwMode="gray">
          <a:xfrm>
            <a:off x="1168400" y="4289425"/>
            <a:ext cx="1333500" cy="1365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Parts (with FAW logo)</a:t>
            </a:r>
          </a:p>
        </p:txBody>
      </p:sp>
      <p:grpSp>
        <p:nvGrpSpPr>
          <p:cNvPr id="66577" name="Group 18">
            <a:extLst>
              <a:ext uri="{FF2B5EF4-FFF2-40B4-BE49-F238E27FC236}">
                <a16:creationId xmlns:a16="http://schemas.microsoft.com/office/drawing/2014/main" id="{DEDA7ED5-A9C5-DE9D-FC78-8ADDC3469667}"/>
              </a:ext>
            </a:extLst>
          </p:cNvPr>
          <p:cNvGrpSpPr/>
          <p:nvPr/>
        </p:nvGrpSpPr>
        <p:grpSpPr>
          <a:xfrm>
            <a:off x="1108075" y="4062413"/>
            <a:ext cx="1677988" cy="606425"/>
            <a:chOff x="662" y="2589"/>
            <a:chExt cx="976" cy="382"/>
          </a:xfrm>
        </p:grpSpPr>
        <p:sp>
          <p:nvSpPr>
            <p:cNvPr id="66601" name="Line 19">
              <a:extLst>
                <a:ext uri="{FF2B5EF4-FFF2-40B4-BE49-F238E27FC236}">
                  <a16:creationId xmlns:a16="http://schemas.microsoft.com/office/drawing/2014/main" id="{1E31694E-3363-26C2-DA8F-85DB63E6BC6F}"/>
                </a:ext>
              </a:extLst>
            </p:cNvPr>
            <p:cNvSpPr>
              <a:spLocks noChangeShapeType="1"/>
            </p:cNvSpPr>
            <p:nvPr/>
          </p:nvSpPr>
          <p:spPr bwMode="gray">
            <a:xfrm flipH="1">
              <a:off x="1638" y="2589"/>
              <a:ext cx="0" cy="109"/>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602" name="Line 20">
              <a:extLst>
                <a:ext uri="{FF2B5EF4-FFF2-40B4-BE49-F238E27FC236}">
                  <a16:creationId xmlns:a16="http://schemas.microsoft.com/office/drawing/2014/main" id="{38E507F0-0B80-BD95-8624-906F8613DE36}"/>
                </a:ext>
              </a:extLst>
            </p:cNvPr>
            <p:cNvSpPr>
              <a:spLocks noChangeShapeType="1"/>
            </p:cNvSpPr>
            <p:nvPr/>
          </p:nvSpPr>
          <p:spPr bwMode="gray">
            <a:xfrm flipH="1">
              <a:off x="662" y="2698"/>
              <a:ext cx="976"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603" name="Line 21">
              <a:extLst>
                <a:ext uri="{FF2B5EF4-FFF2-40B4-BE49-F238E27FC236}">
                  <a16:creationId xmlns:a16="http://schemas.microsoft.com/office/drawing/2014/main" id="{CAA41689-B600-AA01-8F62-CC0941DEC323}"/>
                </a:ext>
              </a:extLst>
            </p:cNvPr>
            <p:cNvSpPr>
              <a:spLocks noChangeShapeType="1"/>
            </p:cNvSpPr>
            <p:nvPr/>
          </p:nvSpPr>
          <p:spPr bwMode="gray">
            <a:xfrm flipH="1">
              <a:off x="662" y="2698"/>
              <a:ext cx="0" cy="273"/>
            </a:xfrm>
            <a:prstGeom prst="line">
              <a:avLst/>
            </a:prstGeom>
            <a:noFill/>
            <a:ln w="12700">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grpSp>
      <p:sp>
        <p:nvSpPr>
          <p:cNvPr id="66578" name="Rectangle 22">
            <a:extLst>
              <a:ext uri="{FF2B5EF4-FFF2-40B4-BE49-F238E27FC236}">
                <a16:creationId xmlns:a16="http://schemas.microsoft.com/office/drawing/2014/main" id="{59661476-B5C9-4117-BC80-59854525C591}"/>
              </a:ext>
            </a:extLst>
          </p:cNvPr>
          <p:cNvSpPr>
            <a:spLocks noChangeArrowheads="1"/>
          </p:cNvSpPr>
          <p:nvPr/>
        </p:nvSpPr>
        <p:spPr bwMode="gray">
          <a:xfrm>
            <a:off x="1744663" y="3308350"/>
            <a:ext cx="1117600" cy="27305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1000" b="0">
                <a:ea typeface="SimSun" panose="02010600030101010101" pitchFamily="2" charset="-122"/>
              </a:rPr>
              <a:t>License fee </a:t>
            </a:r>
            <a:br>
              <a:rPr lang="en-US" altLang="zh-CN" sz="1000" b="0">
                <a:ea typeface="SimSun" panose="02010600030101010101" pitchFamily="2" charset="-122"/>
              </a:rPr>
            </a:br>
            <a:r>
              <a:rPr lang="en-US" altLang="zh-CN" sz="1000" b="0">
                <a:ea typeface="SimSun" panose="02010600030101010101" pitchFamily="2" charset="-122"/>
              </a:rPr>
              <a:t>(Management fee)</a:t>
            </a:r>
          </a:p>
        </p:txBody>
      </p:sp>
      <p:grpSp>
        <p:nvGrpSpPr>
          <p:cNvPr id="66579" name="Group 23">
            <a:extLst>
              <a:ext uri="{FF2B5EF4-FFF2-40B4-BE49-F238E27FC236}">
                <a16:creationId xmlns:a16="http://schemas.microsoft.com/office/drawing/2014/main" id="{A5F0298B-1401-967D-1047-02EBAD89F0F4}"/>
              </a:ext>
            </a:extLst>
          </p:cNvPr>
          <p:cNvGrpSpPr/>
          <p:nvPr/>
        </p:nvGrpSpPr>
        <p:grpSpPr>
          <a:xfrm>
            <a:off x="1700213" y="3022600"/>
            <a:ext cx="896937" cy="654050"/>
            <a:chOff x="1013" y="1934"/>
            <a:chExt cx="521" cy="461"/>
          </a:xfrm>
        </p:grpSpPr>
        <p:sp>
          <p:nvSpPr>
            <p:cNvPr id="66599" name="Line 24">
              <a:extLst>
                <a:ext uri="{FF2B5EF4-FFF2-40B4-BE49-F238E27FC236}">
                  <a16:creationId xmlns:a16="http://schemas.microsoft.com/office/drawing/2014/main" id="{159B05D6-473E-B721-1820-7391AD45B517}"/>
                </a:ext>
              </a:extLst>
            </p:cNvPr>
            <p:cNvSpPr>
              <a:spLocks noChangeShapeType="1"/>
            </p:cNvSpPr>
            <p:nvPr/>
          </p:nvSpPr>
          <p:spPr bwMode="gray">
            <a:xfrm flipH="1">
              <a:off x="1013" y="2395"/>
              <a:ext cx="521" cy="0"/>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600" name="Line 25">
              <a:extLst>
                <a:ext uri="{FF2B5EF4-FFF2-40B4-BE49-F238E27FC236}">
                  <a16:creationId xmlns:a16="http://schemas.microsoft.com/office/drawing/2014/main" id="{E234F835-10EA-014A-1FA8-8CA9E2E02CC1}"/>
                </a:ext>
              </a:extLst>
            </p:cNvPr>
            <p:cNvSpPr>
              <a:spLocks noChangeShapeType="1"/>
            </p:cNvSpPr>
            <p:nvPr/>
          </p:nvSpPr>
          <p:spPr bwMode="gray">
            <a:xfrm flipH="1" flipV="1">
              <a:off x="1013" y="1934"/>
              <a:ext cx="0" cy="461"/>
            </a:xfrm>
            <a:prstGeom prst="line">
              <a:avLst/>
            </a:prstGeom>
            <a:noFill/>
            <a:ln w="1905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grpSp>
      <p:sp>
        <p:nvSpPr>
          <p:cNvPr id="66580" name="Rectangle 26">
            <a:extLst>
              <a:ext uri="{FF2B5EF4-FFF2-40B4-BE49-F238E27FC236}">
                <a16:creationId xmlns:a16="http://schemas.microsoft.com/office/drawing/2014/main" id="{D5B7A036-71B3-D920-3AEC-95805B2E755C}"/>
              </a:ext>
            </a:extLst>
          </p:cNvPr>
          <p:cNvSpPr>
            <a:spLocks noChangeArrowheads="1"/>
          </p:cNvSpPr>
          <p:nvPr/>
        </p:nvSpPr>
        <p:spPr bwMode="gray">
          <a:xfrm>
            <a:off x="2598738" y="3616325"/>
            <a:ext cx="1733550" cy="457200"/>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27432" tIns="27432" rIns="27432" bIns="27432"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400">
                <a:ea typeface="SimSun" panose="02010600030101010101" pitchFamily="2" charset="-122"/>
              </a:rPr>
              <a:t>Licensed Suppliers</a:t>
            </a:r>
          </a:p>
        </p:txBody>
      </p:sp>
      <p:sp>
        <p:nvSpPr>
          <p:cNvPr id="66581" name="Rectangle 27">
            <a:extLst>
              <a:ext uri="{FF2B5EF4-FFF2-40B4-BE49-F238E27FC236}">
                <a16:creationId xmlns:a16="http://schemas.microsoft.com/office/drawing/2014/main" id="{5C9F8F6B-BA02-3791-8A3A-E2B68DDBEBBD}"/>
              </a:ext>
            </a:extLst>
          </p:cNvPr>
          <p:cNvSpPr>
            <a:spLocks noChangeArrowheads="1"/>
          </p:cNvSpPr>
          <p:nvPr/>
        </p:nvSpPr>
        <p:spPr bwMode="gray">
          <a:xfrm>
            <a:off x="631825" y="3236913"/>
            <a:ext cx="319088" cy="1365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Parts</a:t>
            </a:r>
          </a:p>
        </p:txBody>
      </p:sp>
      <p:sp>
        <p:nvSpPr>
          <p:cNvPr id="66582" name="Rectangle 28">
            <a:extLst>
              <a:ext uri="{FF2B5EF4-FFF2-40B4-BE49-F238E27FC236}">
                <a16:creationId xmlns:a16="http://schemas.microsoft.com/office/drawing/2014/main" id="{DC942C6A-FCA8-6027-F628-2FBB6DF8C49F}"/>
              </a:ext>
            </a:extLst>
          </p:cNvPr>
          <p:cNvSpPr>
            <a:spLocks noChangeArrowheads="1"/>
          </p:cNvSpPr>
          <p:nvPr/>
        </p:nvSpPr>
        <p:spPr bwMode="gray">
          <a:xfrm>
            <a:off x="631825" y="4210050"/>
            <a:ext cx="319088" cy="1365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Parts</a:t>
            </a:r>
          </a:p>
        </p:txBody>
      </p:sp>
      <p:grpSp>
        <p:nvGrpSpPr>
          <p:cNvPr id="66583" name="Group 29">
            <a:extLst>
              <a:ext uri="{FF2B5EF4-FFF2-40B4-BE49-F238E27FC236}">
                <a16:creationId xmlns:a16="http://schemas.microsoft.com/office/drawing/2014/main" id="{F392945B-ECAD-FF6D-C014-D74F73204188}"/>
              </a:ext>
            </a:extLst>
          </p:cNvPr>
          <p:cNvGrpSpPr/>
          <p:nvPr/>
        </p:nvGrpSpPr>
        <p:grpSpPr>
          <a:xfrm>
            <a:off x="1741488" y="2949575"/>
            <a:ext cx="1230312" cy="647700"/>
            <a:chOff x="1066" y="1888"/>
            <a:chExt cx="680" cy="408"/>
          </a:xfrm>
        </p:grpSpPr>
        <p:sp>
          <p:nvSpPr>
            <p:cNvPr id="66597" name="Line 30">
              <a:extLst>
                <a:ext uri="{FF2B5EF4-FFF2-40B4-BE49-F238E27FC236}">
                  <a16:creationId xmlns:a16="http://schemas.microsoft.com/office/drawing/2014/main" id="{76ECEA62-A2C3-F27E-B788-8F542E9D34CC}"/>
                </a:ext>
              </a:extLst>
            </p:cNvPr>
            <p:cNvSpPr>
              <a:spLocks noChangeShapeType="1"/>
            </p:cNvSpPr>
            <p:nvPr/>
          </p:nvSpPr>
          <p:spPr bwMode="gray">
            <a:xfrm flipH="1">
              <a:off x="1066" y="1888"/>
              <a:ext cx="680" cy="0"/>
            </a:xfrm>
            <a:prstGeom prst="line">
              <a:avLst/>
            </a:prstGeom>
            <a:noFill/>
            <a:ln w="12700">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598" name="Line 31">
              <a:extLst>
                <a:ext uri="{FF2B5EF4-FFF2-40B4-BE49-F238E27FC236}">
                  <a16:creationId xmlns:a16="http://schemas.microsoft.com/office/drawing/2014/main" id="{9FAE3973-8EBF-6750-FED0-B97B149FE6ED}"/>
                </a:ext>
              </a:extLst>
            </p:cNvPr>
            <p:cNvSpPr>
              <a:spLocks noChangeShapeType="1"/>
            </p:cNvSpPr>
            <p:nvPr/>
          </p:nvSpPr>
          <p:spPr bwMode="gray">
            <a:xfrm flipH="1">
              <a:off x="1746" y="1888"/>
              <a:ext cx="0" cy="408"/>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grpSp>
      <p:sp>
        <p:nvSpPr>
          <p:cNvPr id="66584" name="Rectangle 32">
            <a:extLst>
              <a:ext uri="{FF2B5EF4-FFF2-40B4-BE49-F238E27FC236}">
                <a16:creationId xmlns:a16="http://schemas.microsoft.com/office/drawing/2014/main" id="{E3540C8D-5E6F-65AD-4584-32ECC6540E39}"/>
              </a:ext>
            </a:extLst>
          </p:cNvPr>
          <p:cNvSpPr>
            <a:spLocks noChangeArrowheads="1"/>
          </p:cNvSpPr>
          <p:nvPr/>
        </p:nvSpPr>
        <p:spPr bwMode="gray">
          <a:xfrm>
            <a:off x="2308225" y="3021013"/>
            <a:ext cx="319088" cy="1365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Parts</a:t>
            </a:r>
          </a:p>
        </p:txBody>
      </p:sp>
      <p:sp>
        <p:nvSpPr>
          <p:cNvPr id="66585" name="AutoShape 33">
            <a:extLst>
              <a:ext uri="{FF2B5EF4-FFF2-40B4-BE49-F238E27FC236}">
                <a16:creationId xmlns:a16="http://schemas.microsoft.com/office/drawing/2014/main" id="{B328F2DB-FA76-8C0F-B0F1-33D9C4E1D7DB}"/>
              </a:ext>
            </a:extLst>
          </p:cNvPr>
          <p:cNvSpPr>
            <a:spLocks noChangeArrowheads="1"/>
          </p:cNvSpPr>
          <p:nvPr/>
        </p:nvSpPr>
        <p:spPr bwMode="gray">
          <a:xfrm rot="-5400000">
            <a:off x="3354388" y="3748087"/>
            <a:ext cx="2501900" cy="206375"/>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endParaRPr lang="de-DE" altLang="ko-KR" sz="1400">
              <a:ea typeface="华文楷体" panose="02010600040101010101" pitchFamily="2" charset="-122"/>
            </a:endParaRPr>
          </a:p>
        </p:txBody>
      </p:sp>
      <p:sp>
        <p:nvSpPr>
          <p:cNvPr id="66586" name="Line 34">
            <a:extLst>
              <a:ext uri="{FF2B5EF4-FFF2-40B4-BE49-F238E27FC236}">
                <a16:creationId xmlns:a16="http://schemas.microsoft.com/office/drawing/2014/main" id="{34D78D89-0BD1-1AA0-7419-69276FA6B592}"/>
              </a:ext>
            </a:extLst>
          </p:cNvPr>
          <p:cNvSpPr>
            <a:spLocks noChangeShapeType="1"/>
          </p:cNvSpPr>
          <p:nvPr/>
        </p:nvSpPr>
        <p:spPr bwMode="gray">
          <a:xfrm flipH="1">
            <a:off x="3438525" y="5081588"/>
            <a:ext cx="3175" cy="360362"/>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66587" name="Text Box 35">
            <a:extLst>
              <a:ext uri="{FF2B5EF4-FFF2-40B4-BE49-F238E27FC236}">
                <a16:creationId xmlns:a16="http://schemas.microsoft.com/office/drawing/2014/main" id="{8A7FB83B-6EDF-2B35-A2C4-93EDCFD48CF8}"/>
              </a:ext>
            </a:extLst>
          </p:cNvPr>
          <p:cNvSpPr txBox="1">
            <a:spLocks noChangeArrowheads="1"/>
          </p:cNvSpPr>
          <p:nvPr/>
        </p:nvSpPr>
        <p:spPr bwMode="gray">
          <a:xfrm>
            <a:off x="908050" y="5888038"/>
            <a:ext cx="8072438" cy="6096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ClrTx/>
              <a:buFontTx/>
              <a:buNone/>
            </a:pPr>
            <a:r>
              <a:rPr lang="en-US" altLang="zh-CN" sz="1800">
                <a:solidFill>
                  <a:schemeClr val="bg1"/>
                </a:solidFill>
                <a:ea typeface="华文楷体" panose="02010600040101010101" pitchFamily="2" charset="-122"/>
              </a:rPr>
              <a:t>To mitigate long-term risks, collecting out-network revenue through license fee charge is not recommended</a:t>
            </a:r>
          </a:p>
        </p:txBody>
      </p:sp>
      <p:sp>
        <p:nvSpPr>
          <p:cNvPr id="66588" name="Rectangle 36">
            <a:extLst>
              <a:ext uri="{FF2B5EF4-FFF2-40B4-BE49-F238E27FC236}">
                <a16:creationId xmlns:a16="http://schemas.microsoft.com/office/drawing/2014/main" id="{E25FC66E-95BB-861D-A4A0-3514183BA5B9}"/>
              </a:ext>
            </a:extLst>
          </p:cNvPr>
          <p:cNvSpPr>
            <a:spLocks noChangeArrowheads="1"/>
          </p:cNvSpPr>
          <p:nvPr/>
        </p:nvSpPr>
        <p:spPr bwMode="gray">
          <a:xfrm>
            <a:off x="6507163" y="2128838"/>
            <a:ext cx="3165475" cy="1265237"/>
          </a:xfrm>
          <a:prstGeom prst="rect">
            <a:avLst/>
          </a:prstGeom>
          <a:noFill/>
          <a:ln w="12700">
            <a:solidFill>
              <a:schemeClr val="tx1"/>
            </a:solidFill>
            <a:miter lim="800000"/>
            <a:tailEnd type="non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576" tIns="36576" rIns="36576" bIns="36576"/>
          <a:lstStyle>
            <a:lvl1pPr marL="117475" indent="-117475"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41300" indent="-122238"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0050" indent="-112713"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22338"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FontTx/>
              <a:buChar char="•"/>
            </a:pPr>
            <a:r>
              <a:rPr lang="en-US" altLang="zh-CN" sz="1000" b="0">
                <a:ea typeface="SimSun" panose="02010600030101010101" pitchFamily="2" charset="-122"/>
              </a:rPr>
              <a:t>Licensed suppliers: may or may not be authorized suppliers for whole vehicle; however, they still undergo a strict selection and evaluation process</a:t>
            </a:r>
          </a:p>
          <a:p>
            <a:pPr>
              <a:lnSpc>
                <a:spcPct val="85000"/>
              </a:lnSpc>
              <a:spcBef>
                <a:spcPct val="0"/>
              </a:spcBef>
              <a:buFontTx/>
              <a:buChar char="•"/>
            </a:pPr>
            <a:r>
              <a:rPr lang="en-US" altLang="zh-CN" sz="1000" b="0">
                <a:ea typeface="SimSun" panose="02010600030101010101" pitchFamily="2" charset="-122"/>
              </a:rPr>
              <a:t>Management fee: a fixed annual fee, between 100K-200K RMB, depends on the volume and value of the parts category </a:t>
            </a:r>
          </a:p>
          <a:p>
            <a:pPr>
              <a:lnSpc>
                <a:spcPct val="85000"/>
              </a:lnSpc>
              <a:spcBef>
                <a:spcPct val="0"/>
              </a:spcBef>
              <a:buFontTx/>
              <a:buChar char="•"/>
            </a:pPr>
            <a:r>
              <a:rPr lang="en-US" altLang="zh-CN" sz="1000" b="0">
                <a:ea typeface="SimSun" panose="02010600030101010101" pitchFamily="2" charset="-122"/>
              </a:rPr>
              <a:t>FAW has between 1-3 licensed suppliers within each parts category</a:t>
            </a:r>
          </a:p>
        </p:txBody>
      </p:sp>
      <p:sp>
        <p:nvSpPr>
          <p:cNvPr id="66589" name="Rectangle 37">
            <a:extLst>
              <a:ext uri="{FF2B5EF4-FFF2-40B4-BE49-F238E27FC236}">
                <a16:creationId xmlns:a16="http://schemas.microsoft.com/office/drawing/2014/main" id="{3219E425-C9B2-3D06-DD9E-F194D26EEC85}"/>
              </a:ext>
            </a:extLst>
          </p:cNvPr>
          <p:cNvSpPr>
            <a:spLocks noChangeArrowheads="1"/>
          </p:cNvSpPr>
          <p:nvPr/>
        </p:nvSpPr>
        <p:spPr bwMode="gray">
          <a:xfrm>
            <a:off x="6507163" y="3736975"/>
            <a:ext cx="3165475" cy="2065338"/>
          </a:xfrm>
          <a:prstGeom prst="rect">
            <a:avLst/>
          </a:prstGeom>
          <a:noFill/>
          <a:ln w="12700">
            <a:solidFill>
              <a:schemeClr val="tx1"/>
            </a:solidFill>
            <a:miter lim="800000"/>
            <a:tailEnd type="none" w="med"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576" tIns="36576" rIns="36576" bIns="36576"/>
          <a:lstStyle>
            <a:lvl1pPr marL="117475" indent="-117475"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41300" indent="-122238"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00050" indent="-112713"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22338"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FontTx/>
              <a:buChar char="•"/>
            </a:pPr>
            <a:r>
              <a:rPr lang="en-US" altLang="zh-CN" sz="1000" b="0">
                <a:ea typeface="SimSun" panose="02010600030101010101" pitchFamily="2" charset="-122"/>
              </a:rPr>
              <a:t>Pros </a:t>
            </a:r>
          </a:p>
          <a:p>
            <a:pPr lvl="1">
              <a:lnSpc>
                <a:spcPct val="85000"/>
              </a:lnSpc>
              <a:spcBef>
                <a:spcPct val="0"/>
              </a:spcBef>
              <a:buFont typeface="Arial" panose="020b0604020202020204" pitchFamily="34" charset="0"/>
              <a:buChar char="–"/>
            </a:pPr>
            <a:r>
              <a:rPr lang="en-US" altLang="zh-CN" sz="1000" b="0">
                <a:ea typeface="SimSun" panose="02010600030101010101" pitchFamily="2" charset="-122"/>
              </a:rPr>
              <a:t>Low cost: FAW only incurs certain SG&amp;A costs such as QC, supplier selection/monitor cost</a:t>
            </a:r>
          </a:p>
          <a:p>
            <a:pPr lvl="1">
              <a:lnSpc>
                <a:spcPct val="85000"/>
              </a:lnSpc>
              <a:spcBef>
                <a:spcPct val="0"/>
              </a:spcBef>
              <a:buFont typeface="Arial" panose="020b0604020202020204" pitchFamily="34" charset="0"/>
              <a:buChar char="–"/>
            </a:pPr>
            <a:r>
              <a:rPr lang="en-US" altLang="zh-CN" sz="1000" b="0">
                <a:ea typeface="SimSun" panose="02010600030101010101" pitchFamily="2" charset="-122"/>
              </a:rPr>
              <a:t>Easy to implement: without the need to set-up large warehouse and distribution operation   </a:t>
            </a:r>
          </a:p>
          <a:p>
            <a:pPr>
              <a:lnSpc>
                <a:spcPct val="85000"/>
              </a:lnSpc>
              <a:spcBef>
                <a:spcPct val="0"/>
              </a:spcBef>
              <a:buFontTx/>
              <a:buChar char="•"/>
            </a:pPr>
            <a:r>
              <a:rPr lang="en-US" altLang="zh-CN" sz="1000" b="0">
                <a:ea typeface="SimSun" panose="02010600030101010101" pitchFamily="2" charset="-122"/>
              </a:rPr>
              <a:t>Cons</a:t>
            </a:r>
          </a:p>
          <a:p>
            <a:pPr lvl="1">
              <a:lnSpc>
                <a:spcPct val="85000"/>
              </a:lnSpc>
              <a:spcBef>
                <a:spcPct val="0"/>
              </a:spcBef>
              <a:buFont typeface="Arial" panose="020b0604020202020204" pitchFamily="34" charset="0"/>
              <a:buChar char="–"/>
            </a:pPr>
            <a:r>
              <a:rPr lang="en-US" altLang="zh-CN" sz="1000" b="0">
                <a:ea typeface="SimSun" panose="02010600030101010101" pitchFamily="2" charset="-122"/>
              </a:rPr>
              <a:t>Impact in-network sales: low priced parts with FAW logo may reduce in-network sales </a:t>
            </a:r>
          </a:p>
          <a:p>
            <a:pPr lvl="1">
              <a:lnSpc>
                <a:spcPct val="85000"/>
              </a:lnSpc>
              <a:spcBef>
                <a:spcPct val="0"/>
              </a:spcBef>
              <a:buFont typeface="Arial" panose="020b0604020202020204" pitchFamily="34" charset="0"/>
              <a:buChar char="–"/>
            </a:pPr>
            <a:r>
              <a:rPr lang="en-US" altLang="zh-CN" sz="1000" b="0">
                <a:ea typeface="SimSun" panose="02010600030101010101" pitchFamily="2" charset="-122"/>
              </a:rPr>
              <a:t>Degrade brand image: inconsistent quality may degrade FAW brand equity in the long-run</a:t>
            </a:r>
          </a:p>
          <a:p>
            <a:pPr lvl="1">
              <a:lnSpc>
                <a:spcPct val="85000"/>
              </a:lnSpc>
              <a:spcBef>
                <a:spcPct val="0"/>
              </a:spcBef>
              <a:buFont typeface="Arial" panose="020b0604020202020204" pitchFamily="34" charset="0"/>
              <a:buChar char="–"/>
            </a:pPr>
            <a:r>
              <a:rPr lang="en-US" altLang="zh-CN" sz="1000" b="0">
                <a:ea typeface="SimSun" panose="02010600030101010101" pitchFamily="2" charset="-122"/>
              </a:rPr>
              <a:t>Loss of control in the future: OEM may have difficulties to take back out-network control in the future</a:t>
            </a:r>
          </a:p>
        </p:txBody>
      </p:sp>
      <p:graphicFrame>
        <p:nvGraphicFramePr>
          <p:cNvPr id="66590" name="Object 39">
            <a:extLst>
              <a:ext uri="{FF2B5EF4-FFF2-40B4-BE49-F238E27FC236}">
                <a16:creationId xmlns:a16="http://schemas.microsoft.com/office/drawing/2014/main" id="{EA7F13A0-4C1F-AADA-3144-5B489E5815C6}"/>
              </a:ext>
            </a:extLst>
          </p:cNvPr>
          <p:cNvGraphicFramePr>
            <a:graphicFrameLocks noGrp="1"/>
          </p:cNvGraphicFramePr>
          <p:nvPr>
            <p:ph idx="4294967295"/>
          </p:nvPr>
        </p:nvGraphicFramePr>
        <p:xfrm>
          <a:off x="4856163" y="2270125"/>
          <a:ext cx="1522412" cy="3059113"/>
        </p:xfrm>
        <a:graphic>
          <a:graphicData uri="http://schemas.openxmlformats.org/presentationml/2006/ole">
            <mc:AlternateContent>
              <mc:Choice xmlns:v="urn:schemas-microsoft-com:vml" Requires="v">
                <p:oleObj spid="_x0000_s1046" name="차트" r:id="rId3" imgW="1600200" imgH="3200400" progId="Excel.Chart.8">
                  <p:embed/>
                </p:oleObj>
              </mc:Choice>
              <mc:Fallback>
                <p:oleObj name="차트" r:id="rId3" imgW="1600200" imgH="3200400" progId="Excel.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4856163" y="2270125"/>
                        <a:ext cx="1522412" cy="3059113"/>
                      </a:xfrm>
                      <a:prstGeom prst="rect">
                        <a:avLst/>
                      </a:prstGeom>
                      <a:noFill/>
                      <a:ln>
                        <a:noFill/>
                      </a:ln>
                    </p:spPr>
                  </p:pic>
                </p:oleObj>
              </mc:Fallback>
            </mc:AlternateContent>
          </a:graphicData>
        </a:graphic>
      </p:graphicFrame>
      <p:sp>
        <p:nvSpPr>
          <p:cNvPr id="66591" name="Rectangle 40">
            <a:extLst>
              <a:ext uri="{FF2B5EF4-FFF2-40B4-BE49-F238E27FC236}">
                <a16:creationId xmlns:a16="http://schemas.microsoft.com/office/drawing/2014/main" id="{13D18466-673B-7BD9-D54E-6C289F87A34C}"/>
              </a:ext>
            </a:extLst>
          </p:cNvPr>
          <p:cNvSpPr>
            <a:spLocks noChangeArrowheads="1"/>
          </p:cNvSpPr>
          <p:nvPr/>
        </p:nvSpPr>
        <p:spPr bwMode="gray">
          <a:xfrm>
            <a:off x="4822825" y="5160963"/>
            <a:ext cx="828675" cy="60007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27432" rIns="0" bIns="27432"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ea typeface="SimSun" panose="02010600030101010101" pitchFamily="2" charset="-122"/>
              </a:rPr>
              <a:t>With FAW logo from independent supplier</a:t>
            </a:r>
          </a:p>
        </p:txBody>
      </p:sp>
      <p:sp>
        <p:nvSpPr>
          <p:cNvPr id="66592" name="Rectangle 41">
            <a:extLst>
              <a:ext uri="{FF2B5EF4-FFF2-40B4-BE49-F238E27FC236}">
                <a16:creationId xmlns:a16="http://schemas.microsoft.com/office/drawing/2014/main" id="{5BA8FFEC-D44C-B855-656A-31E81794499E}"/>
              </a:ext>
            </a:extLst>
          </p:cNvPr>
          <p:cNvSpPr>
            <a:spLocks noChangeArrowheads="1"/>
          </p:cNvSpPr>
          <p:nvPr/>
        </p:nvSpPr>
        <p:spPr bwMode="gray">
          <a:xfrm>
            <a:off x="5592763" y="5160963"/>
            <a:ext cx="828675" cy="60007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27432" rIns="0" bIns="27432"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ea typeface="SimSun" panose="02010600030101010101" pitchFamily="2" charset="-122"/>
              </a:rPr>
              <a:t>Independent brand without FAW logo</a:t>
            </a:r>
          </a:p>
        </p:txBody>
      </p:sp>
      <p:sp>
        <p:nvSpPr>
          <p:cNvPr id="66593" name="Rectangle 42">
            <a:extLst>
              <a:ext uri="{FF2B5EF4-FFF2-40B4-BE49-F238E27FC236}">
                <a16:creationId xmlns:a16="http://schemas.microsoft.com/office/drawing/2014/main" id="{1F368AC8-CC9D-2B7F-5A3A-1CD029CF1540}"/>
              </a:ext>
            </a:extLst>
          </p:cNvPr>
          <p:cNvSpPr>
            <a:spLocks noChangeArrowheads="1"/>
          </p:cNvSpPr>
          <p:nvPr/>
        </p:nvSpPr>
        <p:spPr bwMode="gray">
          <a:xfrm>
            <a:off x="5103813" y="2376488"/>
            <a:ext cx="34925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110%</a:t>
            </a:r>
          </a:p>
        </p:txBody>
      </p:sp>
      <p:sp>
        <p:nvSpPr>
          <p:cNvPr id="66594" name="Rectangle 43">
            <a:extLst>
              <a:ext uri="{FF2B5EF4-FFF2-40B4-BE49-F238E27FC236}">
                <a16:creationId xmlns:a16="http://schemas.microsoft.com/office/drawing/2014/main" id="{EF7E603F-B1FB-5629-71DE-9BB653AB8FE0}"/>
              </a:ext>
            </a:extLst>
          </p:cNvPr>
          <p:cNvSpPr>
            <a:spLocks noChangeArrowheads="1"/>
          </p:cNvSpPr>
          <p:nvPr/>
        </p:nvSpPr>
        <p:spPr bwMode="gray">
          <a:xfrm>
            <a:off x="5803900" y="2578100"/>
            <a:ext cx="34925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b="0">
                <a:ea typeface="SimSun" panose="02010600030101010101" pitchFamily="2" charset="-122"/>
              </a:rPr>
              <a:t>100%</a:t>
            </a:r>
          </a:p>
        </p:txBody>
      </p:sp>
      <p:sp>
        <p:nvSpPr>
          <p:cNvPr id="66595" name="Rectangle 44">
            <a:extLst>
              <a:ext uri="{FF2B5EF4-FFF2-40B4-BE49-F238E27FC236}">
                <a16:creationId xmlns:a16="http://schemas.microsoft.com/office/drawing/2014/main" id="{C4326DF4-B507-AE7A-FD9E-3E67A1BAC3A2}"/>
              </a:ext>
            </a:extLst>
          </p:cNvPr>
          <p:cNvSpPr>
            <a:spLocks noChangeArrowheads="1"/>
          </p:cNvSpPr>
          <p:nvPr/>
        </p:nvSpPr>
        <p:spPr bwMode="gray">
          <a:xfrm>
            <a:off x="6507163" y="1844675"/>
            <a:ext cx="3165475" cy="288925"/>
          </a:xfrm>
          <a:prstGeom prst="rect">
            <a:avLst/>
          </a:prstGeom>
          <a:solidFill>
            <a:srgbClr val="DDDDDD"/>
          </a:solidFill>
          <a:ln w="12700">
            <a:solidFill>
              <a:schemeClr val="tx1"/>
            </a:solidFill>
            <a:miter lim="800000"/>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71450" indent="-190500"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11150" indent="-163513"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82613"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zh-CN">
                <a:ea typeface="SimSun" panose="02010600030101010101" pitchFamily="2" charset="-122"/>
              </a:rPr>
              <a:t>Explanation</a:t>
            </a:r>
          </a:p>
        </p:txBody>
      </p:sp>
      <p:sp>
        <p:nvSpPr>
          <p:cNvPr id="66596" name="Rectangle 45">
            <a:extLst>
              <a:ext uri="{FF2B5EF4-FFF2-40B4-BE49-F238E27FC236}">
                <a16:creationId xmlns:a16="http://schemas.microsoft.com/office/drawing/2014/main" id="{454AB43A-E430-1744-4B94-FAE3FED1F315}"/>
              </a:ext>
            </a:extLst>
          </p:cNvPr>
          <p:cNvSpPr>
            <a:spLocks noChangeArrowheads="1"/>
          </p:cNvSpPr>
          <p:nvPr/>
        </p:nvSpPr>
        <p:spPr bwMode="gray">
          <a:xfrm>
            <a:off x="6507163" y="3444875"/>
            <a:ext cx="3165475" cy="296863"/>
          </a:xfrm>
          <a:prstGeom prst="rect">
            <a:avLst/>
          </a:prstGeom>
          <a:solidFill>
            <a:srgbClr val="DDDDDD"/>
          </a:solidFill>
          <a:ln w="12700">
            <a:solidFill>
              <a:schemeClr val="tx1"/>
            </a:solidFill>
            <a:miter lim="800000"/>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71450" indent="-190500"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11150" indent="-163513"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82613"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zh-CN">
                <a:ea typeface="SimSun" panose="02010600030101010101" pitchFamily="2" charset="-122"/>
              </a:rPr>
              <a:t>Comment</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68609" name="Rectangle 2">
            <a:extLst>
              <a:ext uri="{FF2B5EF4-FFF2-40B4-BE49-F238E27FC236}">
                <a16:creationId xmlns:a16="http://schemas.microsoft.com/office/drawing/2014/main" id="{0CE7069C-F972-11A6-BD92-83E6A885D67D}"/>
              </a:ext>
            </a:extLst>
          </p:cNvPr>
          <p:cNvSpPr>
            <a:spLocks noChangeArrowheads="1"/>
          </p:cNvSpPr>
          <p:nvPr/>
        </p:nvSpPr>
        <p:spPr bwMode="auto">
          <a:xfrm>
            <a:off x="265113" y="6327775"/>
            <a:ext cx="7018337" cy="4159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714375" indent="-714375">
              <a:lnSpc>
                <a:spcPct val="90000"/>
              </a:lnSpc>
              <a:spcBef>
                <a:spcPct val="90000"/>
              </a:spcBef>
              <a:buClr>
                <a:schemeClr val="bg2"/>
              </a:buClr>
              <a:buFont typeface="Wingdings" pitchFamily="2" charset="2"/>
              <a:buChar char="n"/>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989013" indent="-190500">
              <a:lnSpc>
                <a:spcPct val="90000"/>
              </a:lnSpc>
              <a:spcBef>
                <a:spcPct val="50000"/>
              </a:spcBef>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68400" indent="-163513">
              <a:lnSpc>
                <a:spcPct val="90000"/>
              </a:lnSpc>
              <a:spcBef>
                <a:spcPct val="30000"/>
              </a:spcBef>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000" b="0">
                <a:ea typeface="굴림" panose="020b0600000101010101" pitchFamily="34" charset="-127"/>
              </a:rPr>
              <a:t>Notes:		Automotive sales market share in 2023</a:t>
            </a:r>
          </a:p>
          <a:p>
            <a:pPr>
              <a:spcBef>
                <a:spcPct val="0"/>
              </a:spcBef>
              <a:buClrTx/>
              <a:buFontTx/>
              <a:buNone/>
            </a:pPr>
            <a:r>
              <a:rPr lang="en-US" altLang="ko-KR" sz="1000" b="0">
                <a:ea typeface="굴림" panose="020b0600000101010101" pitchFamily="34" charset="-127"/>
              </a:rPr>
              <a:t>	1)	Light vehicles including passenger cars and light trucks</a:t>
            </a:r>
          </a:p>
          <a:p>
            <a:pPr>
              <a:spcBef>
                <a:spcPct val="0"/>
              </a:spcBef>
              <a:buClrTx/>
              <a:buFontTx/>
              <a:buNone/>
            </a:pPr>
            <a:r>
              <a:rPr lang="en-US" altLang="ko-KR" sz="1000" b="0">
                <a:ea typeface="굴림" panose="020b0600000101010101" pitchFamily="34" charset="-127"/>
              </a:rPr>
              <a:t>Source:	DRI WEFA</a:t>
            </a:r>
          </a:p>
        </p:txBody>
      </p:sp>
      <p:sp>
        <p:nvSpPr>
          <p:cNvPr id="68610" name="Rectangle 3">
            <a:extLst>
              <a:ext uri="{FF2B5EF4-FFF2-40B4-BE49-F238E27FC236}">
                <a16:creationId xmlns:a16="http://schemas.microsoft.com/office/drawing/2014/main" id="{56937329-6054-6D71-79F5-3D8FD279D908}"/>
              </a:ext>
            </a:extLst>
          </p:cNvPr>
          <p:cNvSpPr>
            <a:spLocks noGrp="1" noChangeArrowheads="1"/>
          </p:cNvSpPr>
          <p:nvPr>
            <p:ph type="title"/>
          </p:nvPr>
        </p:nvSpPr>
        <p:spPr>
          <a:xfrm>
            <a:off x="266700" y="596900"/>
            <a:ext cx="9367838" cy="657225"/>
          </a:xfrm>
        </p:spPr>
        <p:txBody>
          <a:bodyPr/>
          <a:lstStyle/>
          <a:p>
            <a:r>
              <a:rPr lang="en-US" altLang="ko-KR">
                <a:ea typeface="굴림" panose="020b0600000101010101" pitchFamily="34" charset="-127"/>
              </a:rPr>
              <a:t>The automotive demand stagnates in developed markets, but has a steady growth in emerging markets</a:t>
            </a:r>
          </a:p>
        </p:txBody>
      </p:sp>
      <p:sp>
        <p:nvSpPr>
          <p:cNvPr id="68611" name="Rectangle 4">
            <a:extLst>
              <a:ext uri="{FF2B5EF4-FFF2-40B4-BE49-F238E27FC236}">
                <a16:creationId xmlns:a16="http://schemas.microsoft.com/office/drawing/2014/main" id="{878A7F88-DF46-1E19-1B9F-E30FA9F69669}"/>
              </a:ext>
            </a:extLst>
          </p:cNvPr>
          <p:cNvSpPr>
            <a:spLocks noChangeArrowheads="1"/>
          </p:cNvSpPr>
          <p:nvPr/>
        </p:nvSpPr>
        <p:spPr bwMode="auto">
          <a:xfrm>
            <a:off x="265113" y="1614488"/>
            <a:ext cx="7653337" cy="4683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solidFill>
                  <a:srgbClr val="000000"/>
                </a:solidFill>
                <a:ea typeface="굴림" panose="020b0600000101010101" pitchFamily="34" charset="-127"/>
              </a:rPr>
              <a:t>Global Automotive Demand Forecast</a:t>
            </a:r>
            <a:r>
              <a:rPr lang="en-US" altLang="ko-KR" sz="1800" baseline="30000">
                <a:solidFill>
                  <a:srgbClr val="000000"/>
                </a:solidFill>
                <a:ea typeface="굴림" panose="020b0600000101010101" pitchFamily="34" charset="-127"/>
              </a:rPr>
              <a:t>1)</a:t>
            </a:r>
            <a:br>
              <a:rPr lang="en-US" altLang="ko-KR" sz="1800">
                <a:solidFill>
                  <a:srgbClr val="000000"/>
                </a:solidFill>
                <a:ea typeface="굴림" panose="020b0600000101010101" pitchFamily="34" charset="-127"/>
              </a:rPr>
            </a:br>
            <a:r>
              <a:rPr lang="en-US" altLang="ko-KR" b="0">
                <a:solidFill>
                  <a:srgbClr val="000000"/>
                </a:solidFill>
                <a:ea typeface="굴림" panose="020b0600000101010101" pitchFamily="34" charset="-127"/>
              </a:rPr>
              <a:t>(million units and CAGR)</a:t>
            </a:r>
          </a:p>
        </p:txBody>
      </p:sp>
      <p:sp>
        <p:nvSpPr>
          <p:cNvPr id="68612" name="Oval 5">
            <a:extLst>
              <a:ext uri="{FF2B5EF4-FFF2-40B4-BE49-F238E27FC236}">
                <a16:creationId xmlns:a16="http://schemas.microsoft.com/office/drawing/2014/main" id="{8D8850CC-F220-D779-EBBB-7BA9D5B1DA97}"/>
              </a:ext>
            </a:extLst>
          </p:cNvPr>
          <p:cNvSpPr>
            <a:spLocks noChangeArrowheads="1"/>
          </p:cNvSpPr>
          <p:nvPr/>
        </p:nvSpPr>
        <p:spPr bwMode="auto">
          <a:xfrm>
            <a:off x="830263" y="6288088"/>
            <a:ext cx="198437" cy="182562"/>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700">
                <a:solidFill>
                  <a:schemeClr val="bg1"/>
                </a:solidFill>
                <a:latin typeface="HelveticaNeue Extended" charset="0"/>
                <a:ea typeface="굴림" panose="020b0600000101010101" pitchFamily="34" charset="-127"/>
              </a:rPr>
              <a:t>X%</a:t>
            </a:r>
          </a:p>
        </p:txBody>
      </p:sp>
      <p:grpSp>
        <p:nvGrpSpPr>
          <p:cNvPr id="68613" name="Group 6">
            <a:extLst>
              <a:ext uri="{FF2B5EF4-FFF2-40B4-BE49-F238E27FC236}">
                <a16:creationId xmlns:a16="http://schemas.microsoft.com/office/drawing/2014/main" id="{5F9EC5FF-B549-B478-F25D-73212CC3F5BD}"/>
              </a:ext>
            </a:extLst>
          </p:cNvPr>
          <p:cNvGrpSpPr/>
          <p:nvPr/>
        </p:nvGrpSpPr>
        <p:grpSpPr>
          <a:xfrm>
            <a:off x="2230438" y="3025775"/>
            <a:ext cx="4953000" cy="2395538"/>
            <a:chOff x="700" y="939"/>
            <a:chExt cx="4532" cy="3034"/>
          </a:xfrm>
        </p:grpSpPr>
        <p:sp>
          <p:nvSpPr>
            <p:cNvPr id="68657" name="Freeform 7">
              <a:extLst>
                <a:ext uri="{FF2B5EF4-FFF2-40B4-BE49-F238E27FC236}">
                  <a16:creationId xmlns:a16="http://schemas.microsoft.com/office/drawing/2014/main" id="{B1822B0A-A237-DA36-851F-D7075342A220}"/>
                </a:ext>
              </a:extLst>
            </p:cNvPr>
            <p:cNvSpPr/>
            <p:nvPr/>
          </p:nvSpPr>
          <p:spPr bwMode="auto">
            <a:xfrm>
              <a:off x="2020" y="1008"/>
              <a:ext cx="349" cy="650"/>
            </a:xfrm>
            <a:custGeom>
              <a:gdLst>
                <a:gd name="T0" fmla="*/ 0 w 1047"/>
                <a:gd name="T1" fmla="*/ 0 h 1949"/>
                <a:gd name="T2" fmla="*/ 0 w 1047"/>
                <a:gd name="T3" fmla="*/ 0 h 1949"/>
                <a:gd name="T4" fmla="*/ 0 w 1047"/>
                <a:gd name="T5" fmla="*/ 0 h 1949"/>
                <a:gd name="T6" fmla="*/ 0 w 1047"/>
                <a:gd name="T7" fmla="*/ 0 h 1949"/>
                <a:gd name="T8" fmla="*/ 0 w 1047"/>
                <a:gd name="T9" fmla="*/ 0 h 1949"/>
                <a:gd name="T10" fmla="*/ 0 w 1047"/>
                <a:gd name="T11" fmla="*/ 0 h 1949"/>
                <a:gd name="T12" fmla="*/ 0 w 1047"/>
                <a:gd name="T13" fmla="*/ 1 h 1949"/>
                <a:gd name="T14" fmla="*/ 0 w 1047"/>
                <a:gd name="T15" fmla="*/ 1 h 1949"/>
                <a:gd name="T16" fmla="*/ 0 w 1047"/>
                <a:gd name="T17" fmla="*/ 1 h 1949"/>
                <a:gd name="T18" fmla="*/ 0 w 1047"/>
                <a:gd name="T19" fmla="*/ 1 h 1949"/>
                <a:gd name="T20" fmla="*/ 0 w 1047"/>
                <a:gd name="T21" fmla="*/ 1 h 1949"/>
                <a:gd name="T22" fmla="*/ 0 w 1047"/>
                <a:gd name="T23" fmla="*/ 1 h 1949"/>
                <a:gd name="T24" fmla="*/ 0 w 1047"/>
                <a:gd name="T25" fmla="*/ 1 h 1949"/>
                <a:gd name="T26" fmla="*/ 0 w 1047"/>
                <a:gd name="T27" fmla="*/ 1 h 1949"/>
                <a:gd name="T28" fmla="*/ 0 w 1047"/>
                <a:gd name="T29" fmla="*/ 1 h 1949"/>
                <a:gd name="T30" fmla="*/ 0 w 1047"/>
                <a:gd name="T31" fmla="*/ 1 h 1949"/>
                <a:gd name="T32" fmla="*/ 0 w 1047"/>
                <a:gd name="T33" fmla="*/ 1 h 1949"/>
                <a:gd name="T34" fmla="*/ 0 w 1047"/>
                <a:gd name="T35" fmla="*/ 1 h 1949"/>
                <a:gd name="T36" fmla="*/ 0 w 1047"/>
                <a:gd name="T37" fmla="*/ 1 h 1949"/>
                <a:gd name="T38" fmla="*/ 0 w 1047"/>
                <a:gd name="T39" fmla="*/ 1 h 1949"/>
                <a:gd name="T40" fmla="*/ 0 w 1047"/>
                <a:gd name="T41" fmla="*/ 1 h 1949"/>
                <a:gd name="T42" fmla="*/ 0 w 1047"/>
                <a:gd name="T43" fmla="*/ 1 h 1949"/>
                <a:gd name="T44" fmla="*/ 0 w 1047"/>
                <a:gd name="T45" fmla="*/ 1 h 1949"/>
                <a:gd name="T46" fmla="*/ 0 w 1047"/>
                <a:gd name="T47" fmla="*/ 1 h 1949"/>
                <a:gd name="T48" fmla="*/ 0 w 1047"/>
                <a:gd name="T49" fmla="*/ 0 h 1949"/>
                <a:gd name="T50" fmla="*/ 0 w 1047"/>
                <a:gd name="T51" fmla="*/ 0 h 1949"/>
                <a:gd name="T52" fmla="*/ 0 w 1047"/>
                <a:gd name="T53" fmla="*/ 0 h 1949"/>
                <a:gd name="T54" fmla="*/ 0 w 1047"/>
                <a:gd name="T55" fmla="*/ 0 h 1949"/>
                <a:gd name="T56" fmla="*/ 0 w 1047"/>
                <a:gd name="T57" fmla="*/ 0 h 1949"/>
                <a:gd name="T58" fmla="*/ 0 w 1047"/>
                <a:gd name="T59" fmla="*/ 0 h 1949"/>
                <a:gd name="T60" fmla="*/ 0 w 1047"/>
                <a:gd name="T61" fmla="*/ 0 h 1949"/>
                <a:gd name="T62" fmla="*/ 0 w 1047"/>
                <a:gd name="T63" fmla="*/ 0 h 1949"/>
                <a:gd name="T64" fmla="*/ 0 w 1047"/>
                <a:gd name="T65" fmla="*/ 0 h 1949"/>
                <a:gd name="T66" fmla="*/ 0 w 1047"/>
                <a:gd name="T67" fmla="*/ 0 h 1949"/>
                <a:gd name="T68" fmla="*/ 0 w 1047"/>
                <a:gd name="T69" fmla="*/ 0 h 1949"/>
                <a:gd name="T70" fmla="*/ 0 w 1047"/>
                <a:gd name="T71" fmla="*/ 0 h 1949"/>
                <a:gd name="T72" fmla="*/ 0 w 1047"/>
                <a:gd name="T73" fmla="*/ 0 h 1949"/>
                <a:gd name="T74" fmla="*/ 0 w 1047"/>
                <a:gd name="T75" fmla="*/ 0 h 1949"/>
                <a:gd name="T76" fmla="*/ 0 w 1047"/>
                <a:gd name="T77" fmla="*/ 0 h 1949"/>
                <a:gd name="T78" fmla="*/ 0 w 1047"/>
                <a:gd name="T79" fmla="*/ 0 h 1949"/>
                <a:gd name="T80" fmla="*/ 0 w 1047"/>
                <a:gd name="T81" fmla="*/ 0 h 1949"/>
                <a:gd name="T82" fmla="*/ 0 w 1047"/>
                <a:gd name="T83" fmla="*/ 0 h 1949"/>
                <a:gd name="T84" fmla="*/ 0 w 1047"/>
                <a:gd name="T85" fmla="*/ 0 h 1949"/>
                <a:gd name="T86" fmla="*/ 0 w 1047"/>
                <a:gd name="T87" fmla="*/ 0 h 1949"/>
                <a:gd name="T88" fmla="*/ 0 w 1047"/>
                <a:gd name="T89" fmla="*/ 0 h 1949"/>
                <a:gd name="T90" fmla="*/ 0 w 1047"/>
                <a:gd name="T91" fmla="*/ 0 h 1949"/>
                <a:gd name="T92" fmla="*/ 0 w 1047"/>
                <a:gd name="T93" fmla="*/ 0 h 1949"/>
                <a:gd name="T94" fmla="*/ 0 w 1047"/>
                <a:gd name="T95" fmla="*/ 0 h 1949"/>
                <a:gd name="T96" fmla="*/ 0 w 1047"/>
                <a:gd name="T97" fmla="*/ 0 h 1949"/>
                <a:gd name="T98" fmla="*/ 0 w 1047"/>
                <a:gd name="T99" fmla="*/ 0 h 1949"/>
                <a:gd name="T100" fmla="*/ 0 w 1047"/>
                <a:gd name="T101" fmla="*/ 0 h 1949"/>
                <a:gd name="T102" fmla="*/ 0 w 1047"/>
                <a:gd name="T103" fmla="*/ 0 h 1949"/>
                <a:gd name="T104" fmla="*/ 0 w 1047"/>
                <a:gd name="T105" fmla="*/ 0 h 1949"/>
                <a:gd name="T106" fmla="*/ 0 w 1047"/>
                <a:gd name="T107" fmla="*/ 0 h 1949"/>
                <a:gd name="T108" fmla="*/ 0 w 1047"/>
                <a:gd name="T109" fmla="*/ 0 h 1949"/>
                <a:gd name="T110" fmla="*/ 0 w 1047"/>
                <a:gd name="T111" fmla="*/ 0 h 1949"/>
                <a:gd name="T112" fmla="*/ 0 w 1047"/>
                <a:gd name="T113" fmla="*/ 0 h 194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047" h="1949">
                  <a:moveTo>
                    <a:pt x="27" y="406"/>
                  </a:moveTo>
                  <a:lnTo>
                    <a:pt x="85" y="551"/>
                  </a:lnTo>
                  <a:lnTo>
                    <a:pt x="231" y="610"/>
                  </a:lnTo>
                  <a:lnTo>
                    <a:pt x="292" y="814"/>
                  </a:lnTo>
                  <a:lnTo>
                    <a:pt x="231" y="961"/>
                  </a:lnTo>
                  <a:lnTo>
                    <a:pt x="319" y="1045"/>
                  </a:lnTo>
                  <a:lnTo>
                    <a:pt x="262" y="1103"/>
                  </a:lnTo>
                  <a:lnTo>
                    <a:pt x="262" y="1162"/>
                  </a:lnTo>
                  <a:lnTo>
                    <a:pt x="319" y="1162"/>
                  </a:lnTo>
                  <a:lnTo>
                    <a:pt x="319" y="1279"/>
                  </a:lnTo>
                  <a:lnTo>
                    <a:pt x="202" y="1424"/>
                  </a:lnTo>
                  <a:lnTo>
                    <a:pt x="202" y="1742"/>
                  </a:lnTo>
                  <a:lnTo>
                    <a:pt x="231" y="1772"/>
                  </a:lnTo>
                  <a:lnTo>
                    <a:pt x="292" y="1889"/>
                  </a:lnTo>
                  <a:lnTo>
                    <a:pt x="347" y="1949"/>
                  </a:lnTo>
                  <a:lnTo>
                    <a:pt x="405" y="1859"/>
                  </a:lnTo>
                  <a:lnTo>
                    <a:pt x="405" y="1742"/>
                  </a:lnTo>
                  <a:lnTo>
                    <a:pt x="523" y="1597"/>
                  </a:lnTo>
                  <a:lnTo>
                    <a:pt x="523" y="1453"/>
                  </a:lnTo>
                  <a:lnTo>
                    <a:pt x="698" y="1424"/>
                  </a:lnTo>
                  <a:lnTo>
                    <a:pt x="904" y="1218"/>
                  </a:lnTo>
                  <a:lnTo>
                    <a:pt x="1018" y="1162"/>
                  </a:lnTo>
                  <a:lnTo>
                    <a:pt x="1018" y="1103"/>
                  </a:lnTo>
                  <a:lnTo>
                    <a:pt x="904" y="1103"/>
                  </a:lnTo>
                  <a:lnTo>
                    <a:pt x="931" y="961"/>
                  </a:lnTo>
                  <a:lnTo>
                    <a:pt x="1047" y="1045"/>
                  </a:lnTo>
                  <a:lnTo>
                    <a:pt x="1047" y="989"/>
                  </a:lnTo>
                  <a:lnTo>
                    <a:pt x="904" y="871"/>
                  </a:lnTo>
                  <a:lnTo>
                    <a:pt x="931" y="756"/>
                  </a:lnTo>
                  <a:lnTo>
                    <a:pt x="989" y="756"/>
                  </a:lnTo>
                  <a:lnTo>
                    <a:pt x="1018" y="698"/>
                  </a:lnTo>
                  <a:lnTo>
                    <a:pt x="873" y="377"/>
                  </a:lnTo>
                  <a:lnTo>
                    <a:pt x="904" y="289"/>
                  </a:lnTo>
                  <a:lnTo>
                    <a:pt x="844" y="259"/>
                  </a:lnTo>
                  <a:lnTo>
                    <a:pt x="787" y="318"/>
                  </a:lnTo>
                  <a:lnTo>
                    <a:pt x="873" y="114"/>
                  </a:lnTo>
                  <a:lnTo>
                    <a:pt x="844" y="85"/>
                  </a:lnTo>
                  <a:lnTo>
                    <a:pt x="758" y="202"/>
                  </a:lnTo>
                  <a:lnTo>
                    <a:pt x="698" y="173"/>
                  </a:lnTo>
                  <a:lnTo>
                    <a:pt x="698" y="114"/>
                  </a:lnTo>
                  <a:lnTo>
                    <a:pt x="642" y="144"/>
                  </a:lnTo>
                  <a:lnTo>
                    <a:pt x="584" y="114"/>
                  </a:lnTo>
                  <a:lnTo>
                    <a:pt x="727" y="29"/>
                  </a:lnTo>
                  <a:lnTo>
                    <a:pt x="698" y="0"/>
                  </a:lnTo>
                  <a:lnTo>
                    <a:pt x="584" y="0"/>
                  </a:lnTo>
                  <a:lnTo>
                    <a:pt x="523" y="85"/>
                  </a:lnTo>
                  <a:lnTo>
                    <a:pt x="405" y="0"/>
                  </a:lnTo>
                  <a:lnTo>
                    <a:pt x="262" y="58"/>
                  </a:lnTo>
                  <a:lnTo>
                    <a:pt x="292" y="144"/>
                  </a:lnTo>
                  <a:lnTo>
                    <a:pt x="202" y="144"/>
                  </a:lnTo>
                  <a:lnTo>
                    <a:pt x="175" y="173"/>
                  </a:lnTo>
                  <a:lnTo>
                    <a:pt x="175" y="259"/>
                  </a:lnTo>
                  <a:lnTo>
                    <a:pt x="27" y="259"/>
                  </a:lnTo>
                  <a:lnTo>
                    <a:pt x="0" y="289"/>
                  </a:lnTo>
                  <a:lnTo>
                    <a:pt x="85" y="377"/>
                  </a:lnTo>
                  <a:lnTo>
                    <a:pt x="27" y="406"/>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58" name="Freeform 8">
              <a:extLst>
                <a:ext uri="{FF2B5EF4-FFF2-40B4-BE49-F238E27FC236}">
                  <a16:creationId xmlns:a16="http://schemas.microsoft.com/office/drawing/2014/main" id="{474537AB-7BD7-27C6-633E-068830658B8B}"/>
                </a:ext>
              </a:extLst>
            </p:cNvPr>
            <p:cNvSpPr/>
            <p:nvPr/>
          </p:nvSpPr>
          <p:spPr bwMode="auto">
            <a:xfrm>
              <a:off x="2020" y="1008"/>
              <a:ext cx="349" cy="650"/>
            </a:xfrm>
            <a:custGeom>
              <a:gdLst>
                <a:gd name="T0" fmla="*/ 0 w 1047"/>
                <a:gd name="T1" fmla="*/ 0 h 1949"/>
                <a:gd name="T2" fmla="*/ 0 w 1047"/>
                <a:gd name="T3" fmla="*/ 0 h 1949"/>
                <a:gd name="T4" fmla="*/ 0 w 1047"/>
                <a:gd name="T5" fmla="*/ 0 h 1949"/>
                <a:gd name="T6" fmla="*/ 0 w 1047"/>
                <a:gd name="T7" fmla="*/ 0 h 1949"/>
                <a:gd name="T8" fmla="*/ 0 w 1047"/>
                <a:gd name="T9" fmla="*/ 0 h 1949"/>
                <a:gd name="T10" fmla="*/ 0 w 1047"/>
                <a:gd name="T11" fmla="*/ 0 h 1949"/>
                <a:gd name="T12" fmla="*/ 0 w 1047"/>
                <a:gd name="T13" fmla="*/ 1 h 1949"/>
                <a:gd name="T14" fmla="*/ 0 w 1047"/>
                <a:gd name="T15" fmla="*/ 1 h 1949"/>
                <a:gd name="T16" fmla="*/ 0 w 1047"/>
                <a:gd name="T17" fmla="*/ 1 h 1949"/>
                <a:gd name="T18" fmla="*/ 0 w 1047"/>
                <a:gd name="T19" fmla="*/ 1 h 1949"/>
                <a:gd name="T20" fmla="*/ 0 w 1047"/>
                <a:gd name="T21" fmla="*/ 1 h 1949"/>
                <a:gd name="T22" fmla="*/ 0 w 1047"/>
                <a:gd name="T23" fmla="*/ 1 h 1949"/>
                <a:gd name="T24" fmla="*/ 0 w 1047"/>
                <a:gd name="T25" fmla="*/ 1 h 1949"/>
                <a:gd name="T26" fmla="*/ 0 w 1047"/>
                <a:gd name="T27" fmla="*/ 1 h 1949"/>
                <a:gd name="T28" fmla="*/ 0 w 1047"/>
                <a:gd name="T29" fmla="*/ 1 h 1949"/>
                <a:gd name="T30" fmla="*/ 0 w 1047"/>
                <a:gd name="T31" fmla="*/ 1 h 1949"/>
                <a:gd name="T32" fmla="*/ 0 w 1047"/>
                <a:gd name="T33" fmla="*/ 1 h 1949"/>
                <a:gd name="T34" fmla="*/ 0 w 1047"/>
                <a:gd name="T35" fmla="*/ 1 h 1949"/>
                <a:gd name="T36" fmla="*/ 0 w 1047"/>
                <a:gd name="T37" fmla="*/ 1 h 1949"/>
                <a:gd name="T38" fmla="*/ 0 w 1047"/>
                <a:gd name="T39" fmla="*/ 1 h 1949"/>
                <a:gd name="T40" fmla="*/ 0 w 1047"/>
                <a:gd name="T41" fmla="*/ 1 h 1949"/>
                <a:gd name="T42" fmla="*/ 0 w 1047"/>
                <a:gd name="T43" fmla="*/ 1 h 1949"/>
                <a:gd name="T44" fmla="*/ 0 w 1047"/>
                <a:gd name="T45" fmla="*/ 1 h 1949"/>
                <a:gd name="T46" fmla="*/ 0 w 1047"/>
                <a:gd name="T47" fmla="*/ 1 h 1949"/>
                <a:gd name="T48" fmla="*/ 0 w 1047"/>
                <a:gd name="T49" fmla="*/ 0 h 1949"/>
                <a:gd name="T50" fmla="*/ 0 w 1047"/>
                <a:gd name="T51" fmla="*/ 0 h 1949"/>
                <a:gd name="T52" fmla="*/ 0 w 1047"/>
                <a:gd name="T53" fmla="*/ 0 h 1949"/>
                <a:gd name="T54" fmla="*/ 0 w 1047"/>
                <a:gd name="T55" fmla="*/ 0 h 1949"/>
                <a:gd name="T56" fmla="*/ 0 w 1047"/>
                <a:gd name="T57" fmla="*/ 0 h 1949"/>
                <a:gd name="T58" fmla="*/ 0 w 1047"/>
                <a:gd name="T59" fmla="*/ 0 h 1949"/>
                <a:gd name="T60" fmla="*/ 0 w 1047"/>
                <a:gd name="T61" fmla="*/ 0 h 1949"/>
                <a:gd name="T62" fmla="*/ 0 w 1047"/>
                <a:gd name="T63" fmla="*/ 0 h 1949"/>
                <a:gd name="T64" fmla="*/ 0 w 1047"/>
                <a:gd name="T65" fmla="*/ 0 h 1949"/>
                <a:gd name="T66" fmla="*/ 0 w 1047"/>
                <a:gd name="T67" fmla="*/ 0 h 1949"/>
                <a:gd name="T68" fmla="*/ 0 w 1047"/>
                <a:gd name="T69" fmla="*/ 0 h 1949"/>
                <a:gd name="T70" fmla="*/ 0 w 1047"/>
                <a:gd name="T71" fmla="*/ 0 h 1949"/>
                <a:gd name="T72" fmla="*/ 0 w 1047"/>
                <a:gd name="T73" fmla="*/ 0 h 1949"/>
                <a:gd name="T74" fmla="*/ 0 w 1047"/>
                <a:gd name="T75" fmla="*/ 0 h 1949"/>
                <a:gd name="T76" fmla="*/ 0 w 1047"/>
                <a:gd name="T77" fmla="*/ 0 h 1949"/>
                <a:gd name="T78" fmla="*/ 0 w 1047"/>
                <a:gd name="T79" fmla="*/ 0 h 1949"/>
                <a:gd name="T80" fmla="*/ 0 w 1047"/>
                <a:gd name="T81" fmla="*/ 0 h 1949"/>
                <a:gd name="T82" fmla="*/ 0 w 1047"/>
                <a:gd name="T83" fmla="*/ 0 h 1949"/>
                <a:gd name="T84" fmla="*/ 0 w 1047"/>
                <a:gd name="T85" fmla="*/ 0 h 1949"/>
                <a:gd name="T86" fmla="*/ 0 w 1047"/>
                <a:gd name="T87" fmla="*/ 0 h 1949"/>
                <a:gd name="T88" fmla="*/ 0 w 1047"/>
                <a:gd name="T89" fmla="*/ 0 h 1949"/>
                <a:gd name="T90" fmla="*/ 0 w 1047"/>
                <a:gd name="T91" fmla="*/ 0 h 1949"/>
                <a:gd name="T92" fmla="*/ 0 w 1047"/>
                <a:gd name="T93" fmla="*/ 0 h 1949"/>
                <a:gd name="T94" fmla="*/ 0 w 1047"/>
                <a:gd name="T95" fmla="*/ 0 h 1949"/>
                <a:gd name="T96" fmla="*/ 0 w 1047"/>
                <a:gd name="T97" fmla="*/ 0 h 1949"/>
                <a:gd name="T98" fmla="*/ 0 w 1047"/>
                <a:gd name="T99" fmla="*/ 0 h 1949"/>
                <a:gd name="T100" fmla="*/ 0 w 1047"/>
                <a:gd name="T101" fmla="*/ 0 h 1949"/>
                <a:gd name="T102" fmla="*/ 0 w 1047"/>
                <a:gd name="T103" fmla="*/ 0 h 1949"/>
                <a:gd name="T104" fmla="*/ 0 w 1047"/>
                <a:gd name="T105" fmla="*/ 0 h 1949"/>
                <a:gd name="T106" fmla="*/ 0 w 1047"/>
                <a:gd name="T107" fmla="*/ 0 h 1949"/>
                <a:gd name="T108" fmla="*/ 0 w 1047"/>
                <a:gd name="T109" fmla="*/ 0 h 1949"/>
                <a:gd name="T110" fmla="*/ 0 w 1047"/>
                <a:gd name="T111" fmla="*/ 0 h 1949"/>
                <a:gd name="T112" fmla="*/ 0 w 1047"/>
                <a:gd name="T113" fmla="*/ 0 h 194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047" h="1949">
                  <a:moveTo>
                    <a:pt x="27" y="406"/>
                  </a:moveTo>
                  <a:lnTo>
                    <a:pt x="85" y="551"/>
                  </a:lnTo>
                  <a:lnTo>
                    <a:pt x="231" y="610"/>
                  </a:lnTo>
                  <a:lnTo>
                    <a:pt x="292" y="814"/>
                  </a:lnTo>
                  <a:lnTo>
                    <a:pt x="231" y="961"/>
                  </a:lnTo>
                  <a:lnTo>
                    <a:pt x="319" y="1045"/>
                  </a:lnTo>
                  <a:lnTo>
                    <a:pt x="262" y="1103"/>
                  </a:lnTo>
                  <a:lnTo>
                    <a:pt x="262" y="1162"/>
                  </a:lnTo>
                  <a:lnTo>
                    <a:pt x="319" y="1162"/>
                  </a:lnTo>
                  <a:lnTo>
                    <a:pt x="319" y="1279"/>
                  </a:lnTo>
                  <a:lnTo>
                    <a:pt x="202" y="1424"/>
                  </a:lnTo>
                  <a:lnTo>
                    <a:pt x="202" y="1742"/>
                  </a:lnTo>
                  <a:lnTo>
                    <a:pt x="231" y="1772"/>
                  </a:lnTo>
                  <a:lnTo>
                    <a:pt x="292" y="1889"/>
                  </a:lnTo>
                  <a:lnTo>
                    <a:pt x="347" y="1949"/>
                  </a:lnTo>
                  <a:lnTo>
                    <a:pt x="405" y="1859"/>
                  </a:lnTo>
                  <a:lnTo>
                    <a:pt x="405" y="1742"/>
                  </a:lnTo>
                  <a:lnTo>
                    <a:pt x="523" y="1597"/>
                  </a:lnTo>
                  <a:lnTo>
                    <a:pt x="523" y="1453"/>
                  </a:lnTo>
                  <a:lnTo>
                    <a:pt x="698" y="1424"/>
                  </a:lnTo>
                  <a:lnTo>
                    <a:pt x="904" y="1218"/>
                  </a:lnTo>
                  <a:lnTo>
                    <a:pt x="1018" y="1162"/>
                  </a:lnTo>
                  <a:lnTo>
                    <a:pt x="1018" y="1103"/>
                  </a:lnTo>
                  <a:lnTo>
                    <a:pt x="904" y="1103"/>
                  </a:lnTo>
                  <a:lnTo>
                    <a:pt x="931" y="961"/>
                  </a:lnTo>
                  <a:lnTo>
                    <a:pt x="1047" y="1045"/>
                  </a:lnTo>
                  <a:lnTo>
                    <a:pt x="1047" y="989"/>
                  </a:lnTo>
                  <a:lnTo>
                    <a:pt x="904" y="871"/>
                  </a:lnTo>
                  <a:lnTo>
                    <a:pt x="931" y="756"/>
                  </a:lnTo>
                  <a:lnTo>
                    <a:pt x="989" y="756"/>
                  </a:lnTo>
                  <a:lnTo>
                    <a:pt x="1018" y="698"/>
                  </a:lnTo>
                  <a:lnTo>
                    <a:pt x="873" y="377"/>
                  </a:lnTo>
                  <a:lnTo>
                    <a:pt x="904" y="289"/>
                  </a:lnTo>
                  <a:lnTo>
                    <a:pt x="844" y="259"/>
                  </a:lnTo>
                  <a:lnTo>
                    <a:pt x="787" y="318"/>
                  </a:lnTo>
                  <a:lnTo>
                    <a:pt x="873" y="114"/>
                  </a:lnTo>
                  <a:lnTo>
                    <a:pt x="844" y="85"/>
                  </a:lnTo>
                  <a:lnTo>
                    <a:pt x="758" y="202"/>
                  </a:lnTo>
                  <a:lnTo>
                    <a:pt x="698" y="173"/>
                  </a:lnTo>
                  <a:lnTo>
                    <a:pt x="698" y="114"/>
                  </a:lnTo>
                  <a:lnTo>
                    <a:pt x="642" y="144"/>
                  </a:lnTo>
                  <a:lnTo>
                    <a:pt x="584" y="114"/>
                  </a:lnTo>
                  <a:lnTo>
                    <a:pt x="727" y="29"/>
                  </a:lnTo>
                  <a:lnTo>
                    <a:pt x="698" y="0"/>
                  </a:lnTo>
                  <a:lnTo>
                    <a:pt x="584" y="0"/>
                  </a:lnTo>
                  <a:lnTo>
                    <a:pt x="523" y="85"/>
                  </a:lnTo>
                  <a:lnTo>
                    <a:pt x="405" y="0"/>
                  </a:lnTo>
                  <a:lnTo>
                    <a:pt x="262" y="58"/>
                  </a:lnTo>
                  <a:lnTo>
                    <a:pt x="292" y="144"/>
                  </a:lnTo>
                  <a:lnTo>
                    <a:pt x="202" y="144"/>
                  </a:lnTo>
                  <a:lnTo>
                    <a:pt x="175" y="173"/>
                  </a:lnTo>
                  <a:lnTo>
                    <a:pt x="175" y="259"/>
                  </a:lnTo>
                  <a:lnTo>
                    <a:pt x="27" y="259"/>
                  </a:lnTo>
                  <a:lnTo>
                    <a:pt x="0" y="289"/>
                  </a:lnTo>
                  <a:lnTo>
                    <a:pt x="85" y="377"/>
                  </a:lnTo>
                  <a:lnTo>
                    <a:pt x="27" y="406"/>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59" name="Freeform 9">
              <a:extLst>
                <a:ext uri="{FF2B5EF4-FFF2-40B4-BE49-F238E27FC236}">
                  <a16:creationId xmlns:a16="http://schemas.microsoft.com/office/drawing/2014/main" id="{70F275DC-48F3-EFBD-4BEE-3183A6AEA404}"/>
                </a:ext>
              </a:extLst>
            </p:cNvPr>
            <p:cNvSpPr/>
            <p:nvPr/>
          </p:nvSpPr>
          <p:spPr bwMode="auto">
            <a:xfrm>
              <a:off x="2311" y="1558"/>
              <a:ext cx="120" cy="98"/>
            </a:xfrm>
            <a:custGeom>
              <a:gdLst>
                <a:gd name="T0" fmla="*/ 0 w 362"/>
                <a:gd name="T1" fmla="*/ 0 h 294"/>
                <a:gd name="T2" fmla="*/ 0 w 362"/>
                <a:gd name="T3" fmla="*/ 0 h 294"/>
                <a:gd name="T4" fmla="*/ 0 w 362"/>
                <a:gd name="T5" fmla="*/ 0 h 294"/>
                <a:gd name="T6" fmla="*/ 0 w 362"/>
                <a:gd name="T7" fmla="*/ 0 h 294"/>
                <a:gd name="T8" fmla="*/ 0 w 362"/>
                <a:gd name="T9" fmla="*/ 0 h 294"/>
                <a:gd name="T10" fmla="*/ 0 w 362"/>
                <a:gd name="T11" fmla="*/ 0 h 294"/>
                <a:gd name="T12" fmla="*/ 0 w 362"/>
                <a:gd name="T13" fmla="*/ 0 h 294"/>
                <a:gd name="T14" fmla="*/ 0 w 362"/>
                <a:gd name="T15" fmla="*/ 0 h 294"/>
                <a:gd name="T16" fmla="*/ 0 w 362"/>
                <a:gd name="T17" fmla="*/ 0 h 294"/>
                <a:gd name="T18" fmla="*/ 0 w 362"/>
                <a:gd name="T19" fmla="*/ 0 h 294"/>
                <a:gd name="T20" fmla="*/ 0 w 362"/>
                <a:gd name="T21" fmla="*/ 0 h 294"/>
                <a:gd name="T22" fmla="*/ 0 w 362"/>
                <a:gd name="T23" fmla="*/ 0 h 294"/>
                <a:gd name="T24" fmla="*/ 0 w 362"/>
                <a:gd name="T25" fmla="*/ 0 h 294"/>
                <a:gd name="T26" fmla="*/ 0 w 362"/>
                <a:gd name="T27" fmla="*/ 0 h 294"/>
                <a:gd name="T28" fmla="*/ 0 w 362"/>
                <a:gd name="T29" fmla="*/ 0 h 294"/>
                <a:gd name="T30" fmla="*/ 0 w 362"/>
                <a:gd name="T31" fmla="*/ 0 h 294"/>
                <a:gd name="T32" fmla="*/ 0 w 362"/>
                <a:gd name="T33" fmla="*/ 0 h 294"/>
                <a:gd name="T34" fmla="*/ 0 w 362"/>
                <a:gd name="T35" fmla="*/ 0 h 2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2" h="294">
                  <a:moveTo>
                    <a:pt x="22" y="71"/>
                  </a:moveTo>
                  <a:lnTo>
                    <a:pt x="0" y="107"/>
                  </a:lnTo>
                  <a:lnTo>
                    <a:pt x="45" y="152"/>
                  </a:lnTo>
                  <a:lnTo>
                    <a:pt x="6" y="227"/>
                  </a:lnTo>
                  <a:lnTo>
                    <a:pt x="38" y="278"/>
                  </a:lnTo>
                  <a:lnTo>
                    <a:pt x="262" y="294"/>
                  </a:lnTo>
                  <a:lnTo>
                    <a:pt x="297" y="240"/>
                  </a:lnTo>
                  <a:lnTo>
                    <a:pt x="353" y="245"/>
                  </a:lnTo>
                  <a:lnTo>
                    <a:pt x="362" y="188"/>
                  </a:lnTo>
                  <a:lnTo>
                    <a:pt x="291" y="143"/>
                  </a:lnTo>
                  <a:lnTo>
                    <a:pt x="321" y="70"/>
                  </a:lnTo>
                  <a:lnTo>
                    <a:pt x="180" y="87"/>
                  </a:lnTo>
                  <a:lnTo>
                    <a:pt x="123" y="0"/>
                  </a:lnTo>
                  <a:lnTo>
                    <a:pt x="77" y="32"/>
                  </a:lnTo>
                  <a:lnTo>
                    <a:pt x="101" y="99"/>
                  </a:lnTo>
                  <a:lnTo>
                    <a:pt x="34" y="62"/>
                  </a:lnTo>
                  <a:lnTo>
                    <a:pt x="22" y="7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60" name="Freeform 10">
              <a:extLst>
                <a:ext uri="{FF2B5EF4-FFF2-40B4-BE49-F238E27FC236}">
                  <a16:creationId xmlns:a16="http://schemas.microsoft.com/office/drawing/2014/main" id="{62DF734D-0D52-D728-2E04-6AC471E1D289}"/>
                </a:ext>
              </a:extLst>
            </p:cNvPr>
            <p:cNvSpPr/>
            <p:nvPr/>
          </p:nvSpPr>
          <p:spPr bwMode="auto">
            <a:xfrm>
              <a:off x="2311" y="1558"/>
              <a:ext cx="120" cy="98"/>
            </a:xfrm>
            <a:custGeom>
              <a:gdLst>
                <a:gd name="T0" fmla="*/ 0 w 362"/>
                <a:gd name="T1" fmla="*/ 0 h 294"/>
                <a:gd name="T2" fmla="*/ 0 w 362"/>
                <a:gd name="T3" fmla="*/ 0 h 294"/>
                <a:gd name="T4" fmla="*/ 0 w 362"/>
                <a:gd name="T5" fmla="*/ 0 h 294"/>
                <a:gd name="T6" fmla="*/ 0 w 362"/>
                <a:gd name="T7" fmla="*/ 0 h 294"/>
                <a:gd name="T8" fmla="*/ 0 w 362"/>
                <a:gd name="T9" fmla="*/ 0 h 294"/>
                <a:gd name="T10" fmla="*/ 0 w 362"/>
                <a:gd name="T11" fmla="*/ 0 h 294"/>
                <a:gd name="T12" fmla="*/ 0 w 362"/>
                <a:gd name="T13" fmla="*/ 0 h 294"/>
                <a:gd name="T14" fmla="*/ 0 w 362"/>
                <a:gd name="T15" fmla="*/ 0 h 294"/>
                <a:gd name="T16" fmla="*/ 0 w 362"/>
                <a:gd name="T17" fmla="*/ 0 h 294"/>
                <a:gd name="T18" fmla="*/ 0 w 362"/>
                <a:gd name="T19" fmla="*/ 0 h 294"/>
                <a:gd name="T20" fmla="*/ 0 w 362"/>
                <a:gd name="T21" fmla="*/ 0 h 294"/>
                <a:gd name="T22" fmla="*/ 0 w 362"/>
                <a:gd name="T23" fmla="*/ 0 h 294"/>
                <a:gd name="T24" fmla="*/ 0 w 362"/>
                <a:gd name="T25" fmla="*/ 0 h 294"/>
                <a:gd name="T26" fmla="*/ 0 w 362"/>
                <a:gd name="T27" fmla="*/ 0 h 294"/>
                <a:gd name="T28" fmla="*/ 0 w 362"/>
                <a:gd name="T29" fmla="*/ 0 h 294"/>
                <a:gd name="T30" fmla="*/ 0 w 362"/>
                <a:gd name="T31" fmla="*/ 0 h 294"/>
                <a:gd name="T32" fmla="*/ 0 w 362"/>
                <a:gd name="T33" fmla="*/ 0 h 294"/>
                <a:gd name="T34" fmla="*/ 0 w 362"/>
                <a:gd name="T35" fmla="*/ 0 h 2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2" h="294">
                  <a:moveTo>
                    <a:pt x="22" y="71"/>
                  </a:moveTo>
                  <a:lnTo>
                    <a:pt x="0" y="107"/>
                  </a:lnTo>
                  <a:lnTo>
                    <a:pt x="45" y="152"/>
                  </a:lnTo>
                  <a:lnTo>
                    <a:pt x="6" y="227"/>
                  </a:lnTo>
                  <a:lnTo>
                    <a:pt x="38" y="278"/>
                  </a:lnTo>
                  <a:lnTo>
                    <a:pt x="262" y="294"/>
                  </a:lnTo>
                  <a:lnTo>
                    <a:pt x="297" y="240"/>
                  </a:lnTo>
                  <a:lnTo>
                    <a:pt x="353" y="245"/>
                  </a:lnTo>
                  <a:lnTo>
                    <a:pt x="362" y="188"/>
                  </a:lnTo>
                  <a:lnTo>
                    <a:pt x="291" y="143"/>
                  </a:lnTo>
                  <a:lnTo>
                    <a:pt x="321" y="70"/>
                  </a:lnTo>
                  <a:lnTo>
                    <a:pt x="180" y="87"/>
                  </a:lnTo>
                  <a:lnTo>
                    <a:pt x="123" y="0"/>
                  </a:lnTo>
                  <a:lnTo>
                    <a:pt x="77" y="32"/>
                  </a:lnTo>
                  <a:lnTo>
                    <a:pt x="101" y="99"/>
                  </a:lnTo>
                  <a:lnTo>
                    <a:pt x="34" y="62"/>
                  </a:lnTo>
                  <a:lnTo>
                    <a:pt x="22" y="7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61" name="Freeform 11">
              <a:extLst>
                <a:ext uri="{FF2B5EF4-FFF2-40B4-BE49-F238E27FC236}">
                  <a16:creationId xmlns:a16="http://schemas.microsoft.com/office/drawing/2014/main" id="{20A650BD-01C6-7113-DF45-F5F0A2E8FFE4}"/>
                </a:ext>
              </a:extLst>
            </p:cNvPr>
            <p:cNvSpPr/>
            <p:nvPr/>
          </p:nvSpPr>
          <p:spPr bwMode="auto">
            <a:xfrm>
              <a:off x="823" y="1024"/>
              <a:ext cx="26" cy="25"/>
            </a:xfrm>
            <a:custGeom>
              <a:gdLst>
                <a:gd name="T0" fmla="*/ 0 w 78"/>
                <a:gd name="T1" fmla="*/ 0 h 74"/>
                <a:gd name="T2" fmla="*/ 0 w 78"/>
                <a:gd name="T3" fmla="*/ 0 h 74"/>
                <a:gd name="T4" fmla="*/ 0 w 78"/>
                <a:gd name="T5" fmla="*/ 0 h 74"/>
                <a:gd name="T6" fmla="*/ 0 w 78"/>
                <a:gd name="T7" fmla="*/ 0 h 74"/>
                <a:gd name="T8" fmla="*/ 0 w 78"/>
                <a:gd name="T9" fmla="*/ 0 h 74"/>
                <a:gd name="T10" fmla="*/ 0 w 78"/>
                <a:gd name="T11" fmla="*/ 0 h 74"/>
                <a:gd name="T12" fmla="*/ 0 w 78"/>
                <a:gd name="T13" fmla="*/ 0 h 74"/>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78" h="74">
                  <a:moveTo>
                    <a:pt x="46" y="0"/>
                  </a:moveTo>
                  <a:lnTo>
                    <a:pt x="78" y="52"/>
                  </a:lnTo>
                  <a:lnTo>
                    <a:pt x="40" y="74"/>
                  </a:lnTo>
                  <a:lnTo>
                    <a:pt x="0" y="35"/>
                  </a:lnTo>
                  <a:lnTo>
                    <a:pt x="29" y="29"/>
                  </a:lnTo>
                  <a:lnTo>
                    <a:pt x="46"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62" name="Freeform 12">
              <a:extLst>
                <a:ext uri="{FF2B5EF4-FFF2-40B4-BE49-F238E27FC236}">
                  <a16:creationId xmlns:a16="http://schemas.microsoft.com/office/drawing/2014/main" id="{A7E468B3-EA95-8A71-C490-784B0E24302B}"/>
                </a:ext>
              </a:extLst>
            </p:cNvPr>
            <p:cNvSpPr/>
            <p:nvPr/>
          </p:nvSpPr>
          <p:spPr bwMode="auto">
            <a:xfrm>
              <a:off x="823" y="1024"/>
              <a:ext cx="26" cy="25"/>
            </a:xfrm>
            <a:custGeom>
              <a:gdLst>
                <a:gd name="T0" fmla="*/ 0 w 78"/>
                <a:gd name="T1" fmla="*/ 0 h 74"/>
                <a:gd name="T2" fmla="*/ 0 w 78"/>
                <a:gd name="T3" fmla="*/ 0 h 74"/>
                <a:gd name="T4" fmla="*/ 0 w 78"/>
                <a:gd name="T5" fmla="*/ 0 h 74"/>
                <a:gd name="T6" fmla="*/ 0 w 78"/>
                <a:gd name="T7" fmla="*/ 0 h 74"/>
                <a:gd name="T8" fmla="*/ 0 w 78"/>
                <a:gd name="T9" fmla="*/ 0 h 74"/>
                <a:gd name="T10" fmla="*/ 0 w 78"/>
                <a:gd name="T11" fmla="*/ 0 h 74"/>
                <a:gd name="T12" fmla="*/ 0 w 78"/>
                <a:gd name="T13" fmla="*/ 0 h 74"/>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78" h="74">
                  <a:moveTo>
                    <a:pt x="46" y="0"/>
                  </a:moveTo>
                  <a:lnTo>
                    <a:pt x="78" y="52"/>
                  </a:lnTo>
                  <a:lnTo>
                    <a:pt x="40" y="74"/>
                  </a:lnTo>
                  <a:lnTo>
                    <a:pt x="0" y="35"/>
                  </a:lnTo>
                  <a:lnTo>
                    <a:pt x="29" y="29"/>
                  </a:lnTo>
                  <a:lnTo>
                    <a:pt x="46"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63" name="Freeform 13">
              <a:extLst>
                <a:ext uri="{FF2B5EF4-FFF2-40B4-BE49-F238E27FC236}">
                  <a16:creationId xmlns:a16="http://schemas.microsoft.com/office/drawing/2014/main" id="{232F9939-0633-9769-D392-66C6A82F55F4}"/>
                </a:ext>
              </a:extLst>
            </p:cNvPr>
            <p:cNvSpPr/>
            <p:nvPr/>
          </p:nvSpPr>
          <p:spPr bwMode="auto">
            <a:xfrm>
              <a:off x="1457" y="2472"/>
              <a:ext cx="175" cy="78"/>
            </a:xfrm>
            <a:custGeom>
              <a:gdLst>
                <a:gd name="T0" fmla="*/ 0 w 525"/>
                <a:gd name="T1" fmla="*/ 0 h 234"/>
                <a:gd name="T2" fmla="*/ 0 w 525"/>
                <a:gd name="T3" fmla="*/ 0 h 234"/>
                <a:gd name="T4" fmla="*/ 0 w 525"/>
                <a:gd name="T5" fmla="*/ 0 h 234"/>
                <a:gd name="T6" fmla="*/ 0 w 525"/>
                <a:gd name="T7" fmla="*/ 0 h 234"/>
                <a:gd name="T8" fmla="*/ 0 w 525"/>
                <a:gd name="T9" fmla="*/ 0 h 234"/>
                <a:gd name="T10" fmla="*/ 0 w 525"/>
                <a:gd name="T11" fmla="*/ 0 h 234"/>
                <a:gd name="T12" fmla="*/ 0 w 525"/>
                <a:gd name="T13" fmla="*/ 0 h 234"/>
                <a:gd name="T14" fmla="*/ 0 w 525"/>
                <a:gd name="T15" fmla="*/ 0 h 234"/>
                <a:gd name="T16" fmla="*/ 0 w 525"/>
                <a:gd name="T17" fmla="*/ 0 h 234"/>
                <a:gd name="T18" fmla="*/ 0 w 525"/>
                <a:gd name="T19" fmla="*/ 0 h 234"/>
                <a:gd name="T20" fmla="*/ 0 w 525"/>
                <a:gd name="T21" fmla="*/ 0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25" h="234">
                  <a:moveTo>
                    <a:pt x="0" y="0"/>
                  </a:moveTo>
                  <a:lnTo>
                    <a:pt x="146" y="0"/>
                  </a:lnTo>
                  <a:lnTo>
                    <a:pt x="379" y="88"/>
                  </a:lnTo>
                  <a:lnTo>
                    <a:pt x="379" y="118"/>
                  </a:lnTo>
                  <a:lnTo>
                    <a:pt x="525" y="234"/>
                  </a:lnTo>
                  <a:lnTo>
                    <a:pt x="350" y="234"/>
                  </a:lnTo>
                  <a:lnTo>
                    <a:pt x="263" y="147"/>
                  </a:lnTo>
                  <a:lnTo>
                    <a:pt x="117" y="59"/>
                  </a:lnTo>
                  <a:lnTo>
                    <a:pt x="32" y="59"/>
                  </a:lnTo>
                  <a:lnTo>
                    <a:pt x="0"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64" name="Freeform 14">
              <a:extLst>
                <a:ext uri="{FF2B5EF4-FFF2-40B4-BE49-F238E27FC236}">
                  <a16:creationId xmlns:a16="http://schemas.microsoft.com/office/drawing/2014/main" id="{E410297F-1686-8D02-D698-98FB6F412D7E}"/>
                </a:ext>
              </a:extLst>
            </p:cNvPr>
            <p:cNvSpPr/>
            <p:nvPr/>
          </p:nvSpPr>
          <p:spPr bwMode="auto">
            <a:xfrm>
              <a:off x="1457" y="2472"/>
              <a:ext cx="175" cy="78"/>
            </a:xfrm>
            <a:custGeom>
              <a:gdLst>
                <a:gd name="T0" fmla="*/ 0 w 525"/>
                <a:gd name="T1" fmla="*/ 0 h 234"/>
                <a:gd name="T2" fmla="*/ 0 w 525"/>
                <a:gd name="T3" fmla="*/ 0 h 234"/>
                <a:gd name="T4" fmla="*/ 0 w 525"/>
                <a:gd name="T5" fmla="*/ 0 h 234"/>
                <a:gd name="T6" fmla="*/ 0 w 525"/>
                <a:gd name="T7" fmla="*/ 0 h 234"/>
                <a:gd name="T8" fmla="*/ 0 w 525"/>
                <a:gd name="T9" fmla="*/ 0 h 234"/>
                <a:gd name="T10" fmla="*/ 0 w 525"/>
                <a:gd name="T11" fmla="*/ 0 h 234"/>
                <a:gd name="T12" fmla="*/ 0 w 525"/>
                <a:gd name="T13" fmla="*/ 0 h 234"/>
                <a:gd name="T14" fmla="*/ 0 w 525"/>
                <a:gd name="T15" fmla="*/ 0 h 234"/>
                <a:gd name="T16" fmla="*/ 0 w 525"/>
                <a:gd name="T17" fmla="*/ 0 h 234"/>
                <a:gd name="T18" fmla="*/ 0 w 525"/>
                <a:gd name="T19" fmla="*/ 0 h 234"/>
                <a:gd name="T20" fmla="*/ 0 w 525"/>
                <a:gd name="T21" fmla="*/ 0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25" h="234">
                  <a:moveTo>
                    <a:pt x="0" y="0"/>
                  </a:moveTo>
                  <a:lnTo>
                    <a:pt x="146" y="0"/>
                  </a:lnTo>
                  <a:lnTo>
                    <a:pt x="379" y="88"/>
                  </a:lnTo>
                  <a:lnTo>
                    <a:pt x="379" y="118"/>
                  </a:lnTo>
                  <a:lnTo>
                    <a:pt x="525" y="234"/>
                  </a:lnTo>
                  <a:lnTo>
                    <a:pt x="350" y="234"/>
                  </a:lnTo>
                  <a:lnTo>
                    <a:pt x="263" y="147"/>
                  </a:lnTo>
                  <a:lnTo>
                    <a:pt x="117" y="59"/>
                  </a:lnTo>
                  <a:lnTo>
                    <a:pt x="32" y="59"/>
                  </a:lnTo>
                  <a:lnTo>
                    <a:pt x="0"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65" name="Freeform 15">
              <a:extLst>
                <a:ext uri="{FF2B5EF4-FFF2-40B4-BE49-F238E27FC236}">
                  <a16:creationId xmlns:a16="http://schemas.microsoft.com/office/drawing/2014/main" id="{A5FB0DAD-0574-A6F7-2F38-9DC762009309}"/>
                </a:ext>
              </a:extLst>
            </p:cNvPr>
            <p:cNvSpPr/>
            <p:nvPr/>
          </p:nvSpPr>
          <p:spPr bwMode="auto">
            <a:xfrm>
              <a:off x="1431" y="2488"/>
              <a:ext cx="22" cy="16"/>
            </a:xfrm>
            <a:custGeom>
              <a:gdLst>
                <a:gd name="T0" fmla="*/ 0 w 66"/>
                <a:gd name="T1" fmla="*/ 0 h 46"/>
                <a:gd name="T2" fmla="*/ 0 w 66"/>
                <a:gd name="T3" fmla="*/ 0 h 46"/>
                <a:gd name="T4" fmla="*/ 0 w 66"/>
                <a:gd name="T5" fmla="*/ 0 h 46"/>
                <a:gd name="T6" fmla="*/ 0 w 66"/>
                <a:gd name="T7" fmla="*/ 0 h 46"/>
                <a:gd name="T8" fmla="*/ 0 w 66"/>
                <a:gd name="T9" fmla="*/ 0 h 46"/>
                <a:gd name="T10" fmla="*/ 0 w 66"/>
                <a:gd name="T11" fmla="*/ 0 h 46"/>
                <a:gd name="T12" fmla="*/ 0 w 66"/>
                <a:gd name="T13" fmla="*/ 0 h 46"/>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66" h="46">
                  <a:moveTo>
                    <a:pt x="54" y="11"/>
                  </a:moveTo>
                  <a:lnTo>
                    <a:pt x="37" y="0"/>
                  </a:lnTo>
                  <a:lnTo>
                    <a:pt x="0" y="26"/>
                  </a:lnTo>
                  <a:lnTo>
                    <a:pt x="40" y="46"/>
                  </a:lnTo>
                  <a:lnTo>
                    <a:pt x="66" y="29"/>
                  </a:lnTo>
                  <a:lnTo>
                    <a:pt x="54" y="1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66" name="Freeform 16">
              <a:extLst>
                <a:ext uri="{FF2B5EF4-FFF2-40B4-BE49-F238E27FC236}">
                  <a16:creationId xmlns:a16="http://schemas.microsoft.com/office/drawing/2014/main" id="{AF5725E5-B973-F5CB-D12D-D367C0F7719B}"/>
                </a:ext>
              </a:extLst>
            </p:cNvPr>
            <p:cNvSpPr/>
            <p:nvPr/>
          </p:nvSpPr>
          <p:spPr bwMode="auto">
            <a:xfrm>
              <a:off x="1431" y="2488"/>
              <a:ext cx="22" cy="16"/>
            </a:xfrm>
            <a:custGeom>
              <a:gdLst>
                <a:gd name="T0" fmla="*/ 0 w 66"/>
                <a:gd name="T1" fmla="*/ 0 h 46"/>
                <a:gd name="T2" fmla="*/ 0 w 66"/>
                <a:gd name="T3" fmla="*/ 0 h 46"/>
                <a:gd name="T4" fmla="*/ 0 w 66"/>
                <a:gd name="T5" fmla="*/ 0 h 46"/>
                <a:gd name="T6" fmla="*/ 0 w 66"/>
                <a:gd name="T7" fmla="*/ 0 h 46"/>
                <a:gd name="T8" fmla="*/ 0 w 66"/>
                <a:gd name="T9" fmla="*/ 0 h 46"/>
                <a:gd name="T10" fmla="*/ 0 w 66"/>
                <a:gd name="T11" fmla="*/ 0 h 46"/>
                <a:gd name="T12" fmla="*/ 0 w 66"/>
                <a:gd name="T13" fmla="*/ 0 h 46"/>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66" h="46">
                  <a:moveTo>
                    <a:pt x="54" y="11"/>
                  </a:moveTo>
                  <a:lnTo>
                    <a:pt x="37" y="0"/>
                  </a:lnTo>
                  <a:lnTo>
                    <a:pt x="0" y="26"/>
                  </a:lnTo>
                  <a:lnTo>
                    <a:pt x="40" y="46"/>
                  </a:lnTo>
                  <a:lnTo>
                    <a:pt x="66" y="29"/>
                  </a:lnTo>
                  <a:lnTo>
                    <a:pt x="54" y="1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67" name="Freeform 17">
              <a:extLst>
                <a:ext uri="{FF2B5EF4-FFF2-40B4-BE49-F238E27FC236}">
                  <a16:creationId xmlns:a16="http://schemas.microsoft.com/office/drawing/2014/main" id="{EACAB471-99E5-C165-27B2-2C81F111BEA2}"/>
                </a:ext>
              </a:extLst>
            </p:cNvPr>
            <p:cNvSpPr/>
            <p:nvPr/>
          </p:nvSpPr>
          <p:spPr bwMode="auto">
            <a:xfrm>
              <a:off x="1544" y="2559"/>
              <a:ext cx="46" cy="19"/>
            </a:xfrm>
            <a:custGeom>
              <a:gdLst>
                <a:gd name="T0" fmla="*/ 0 w 137"/>
                <a:gd name="T1" fmla="*/ 0 h 58"/>
                <a:gd name="T2" fmla="*/ 0 w 137"/>
                <a:gd name="T3" fmla="*/ 0 h 58"/>
                <a:gd name="T4" fmla="*/ 0 w 137"/>
                <a:gd name="T5" fmla="*/ 0 h 58"/>
                <a:gd name="T6" fmla="*/ 0 w 137"/>
                <a:gd name="T7" fmla="*/ 0 h 58"/>
                <a:gd name="T8" fmla="*/ 0 w 137"/>
                <a:gd name="T9" fmla="*/ 0 h 58"/>
                <a:gd name="T10" fmla="*/ 0 w 137"/>
                <a:gd name="T11" fmla="*/ 0 h 58"/>
                <a:gd name="T12" fmla="*/ 0 w 137"/>
                <a:gd name="T13" fmla="*/ 0 h 58"/>
                <a:gd name="T14" fmla="*/ 0 w 137"/>
                <a:gd name="T15" fmla="*/ 0 h 58"/>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 h="57">
                  <a:moveTo>
                    <a:pt x="114" y="38"/>
                  </a:moveTo>
                  <a:lnTo>
                    <a:pt x="63" y="28"/>
                  </a:lnTo>
                  <a:lnTo>
                    <a:pt x="29" y="0"/>
                  </a:lnTo>
                  <a:lnTo>
                    <a:pt x="0" y="9"/>
                  </a:lnTo>
                  <a:lnTo>
                    <a:pt x="52" y="58"/>
                  </a:lnTo>
                  <a:lnTo>
                    <a:pt x="137" y="48"/>
                  </a:lnTo>
                  <a:lnTo>
                    <a:pt x="114" y="38"/>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68" name="Freeform 18">
              <a:extLst>
                <a:ext uri="{FF2B5EF4-FFF2-40B4-BE49-F238E27FC236}">
                  <a16:creationId xmlns:a16="http://schemas.microsoft.com/office/drawing/2014/main" id="{1860BDB7-DB49-9CDB-CC27-0A439DA27F02}"/>
                </a:ext>
              </a:extLst>
            </p:cNvPr>
            <p:cNvSpPr/>
            <p:nvPr/>
          </p:nvSpPr>
          <p:spPr bwMode="auto">
            <a:xfrm>
              <a:off x="1544" y="2559"/>
              <a:ext cx="46" cy="19"/>
            </a:xfrm>
            <a:custGeom>
              <a:gdLst>
                <a:gd name="T0" fmla="*/ 0 w 137"/>
                <a:gd name="T1" fmla="*/ 0 h 58"/>
                <a:gd name="T2" fmla="*/ 0 w 137"/>
                <a:gd name="T3" fmla="*/ 0 h 58"/>
                <a:gd name="T4" fmla="*/ 0 w 137"/>
                <a:gd name="T5" fmla="*/ 0 h 58"/>
                <a:gd name="T6" fmla="*/ 0 w 137"/>
                <a:gd name="T7" fmla="*/ 0 h 58"/>
                <a:gd name="T8" fmla="*/ 0 w 137"/>
                <a:gd name="T9" fmla="*/ 0 h 58"/>
                <a:gd name="T10" fmla="*/ 0 w 137"/>
                <a:gd name="T11" fmla="*/ 0 h 58"/>
                <a:gd name="T12" fmla="*/ 0 w 137"/>
                <a:gd name="T13" fmla="*/ 0 h 58"/>
                <a:gd name="T14" fmla="*/ 0 w 137"/>
                <a:gd name="T15" fmla="*/ 0 h 58"/>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7" h="57">
                  <a:moveTo>
                    <a:pt x="114" y="38"/>
                  </a:moveTo>
                  <a:lnTo>
                    <a:pt x="63" y="28"/>
                  </a:lnTo>
                  <a:lnTo>
                    <a:pt x="29" y="0"/>
                  </a:lnTo>
                  <a:lnTo>
                    <a:pt x="0" y="9"/>
                  </a:lnTo>
                  <a:lnTo>
                    <a:pt x="52" y="58"/>
                  </a:lnTo>
                  <a:lnTo>
                    <a:pt x="137" y="48"/>
                  </a:lnTo>
                  <a:lnTo>
                    <a:pt x="114" y="38"/>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69" name="Freeform 19">
              <a:extLst>
                <a:ext uri="{FF2B5EF4-FFF2-40B4-BE49-F238E27FC236}">
                  <a16:creationId xmlns:a16="http://schemas.microsoft.com/office/drawing/2014/main" id="{CDA2C890-C90D-FDC0-5A89-BCB371D63BD9}"/>
                </a:ext>
              </a:extLst>
            </p:cNvPr>
            <p:cNvSpPr/>
            <p:nvPr/>
          </p:nvSpPr>
          <p:spPr bwMode="auto">
            <a:xfrm>
              <a:off x="1632" y="2530"/>
              <a:ext cx="126" cy="59"/>
            </a:xfrm>
            <a:custGeom>
              <a:gdLst>
                <a:gd name="T0" fmla="*/ 0 w 379"/>
                <a:gd name="T1" fmla="*/ 0 h 177"/>
                <a:gd name="T2" fmla="*/ 0 w 379"/>
                <a:gd name="T3" fmla="*/ 0 h 177"/>
                <a:gd name="T4" fmla="*/ 0 w 379"/>
                <a:gd name="T5" fmla="*/ 0 h 177"/>
                <a:gd name="T6" fmla="*/ 0 w 379"/>
                <a:gd name="T7" fmla="*/ 0 h 177"/>
                <a:gd name="T8" fmla="*/ 0 w 379"/>
                <a:gd name="T9" fmla="*/ 0 h 177"/>
                <a:gd name="T10" fmla="*/ 0 w 379"/>
                <a:gd name="T11" fmla="*/ 0 h 177"/>
                <a:gd name="T12" fmla="*/ 0 w 379"/>
                <a:gd name="T13" fmla="*/ 0 h 177"/>
                <a:gd name="T14" fmla="*/ 0 w 379"/>
                <a:gd name="T15" fmla="*/ 0 h 177"/>
                <a:gd name="T16" fmla="*/ 0 w 379"/>
                <a:gd name="T17" fmla="*/ 0 h 177"/>
                <a:gd name="T18" fmla="*/ 0 w 379"/>
                <a:gd name="T19" fmla="*/ 0 h 177"/>
                <a:gd name="T20" fmla="*/ 0 w 379"/>
                <a:gd name="T21" fmla="*/ 0 h 1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9" h="177">
                  <a:moveTo>
                    <a:pt x="85" y="0"/>
                  </a:moveTo>
                  <a:lnTo>
                    <a:pt x="116" y="61"/>
                  </a:lnTo>
                  <a:lnTo>
                    <a:pt x="0" y="148"/>
                  </a:lnTo>
                  <a:lnTo>
                    <a:pt x="116" y="177"/>
                  </a:lnTo>
                  <a:lnTo>
                    <a:pt x="231" y="148"/>
                  </a:lnTo>
                  <a:lnTo>
                    <a:pt x="322" y="177"/>
                  </a:lnTo>
                  <a:lnTo>
                    <a:pt x="379" y="148"/>
                  </a:lnTo>
                  <a:lnTo>
                    <a:pt x="379" y="119"/>
                  </a:lnTo>
                  <a:lnTo>
                    <a:pt x="231" y="0"/>
                  </a:lnTo>
                  <a:lnTo>
                    <a:pt x="85"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70" name="Freeform 20">
              <a:extLst>
                <a:ext uri="{FF2B5EF4-FFF2-40B4-BE49-F238E27FC236}">
                  <a16:creationId xmlns:a16="http://schemas.microsoft.com/office/drawing/2014/main" id="{BC7C1180-0C0E-EFCD-E14C-50E3173FAB27}"/>
                </a:ext>
              </a:extLst>
            </p:cNvPr>
            <p:cNvSpPr/>
            <p:nvPr/>
          </p:nvSpPr>
          <p:spPr bwMode="auto">
            <a:xfrm>
              <a:off x="1632" y="2530"/>
              <a:ext cx="126" cy="59"/>
            </a:xfrm>
            <a:custGeom>
              <a:gdLst>
                <a:gd name="T0" fmla="*/ 0 w 379"/>
                <a:gd name="T1" fmla="*/ 0 h 177"/>
                <a:gd name="T2" fmla="*/ 0 w 379"/>
                <a:gd name="T3" fmla="*/ 0 h 177"/>
                <a:gd name="T4" fmla="*/ 0 w 379"/>
                <a:gd name="T5" fmla="*/ 0 h 177"/>
                <a:gd name="T6" fmla="*/ 0 w 379"/>
                <a:gd name="T7" fmla="*/ 0 h 177"/>
                <a:gd name="T8" fmla="*/ 0 w 379"/>
                <a:gd name="T9" fmla="*/ 0 h 177"/>
                <a:gd name="T10" fmla="*/ 0 w 379"/>
                <a:gd name="T11" fmla="*/ 0 h 177"/>
                <a:gd name="T12" fmla="*/ 0 w 379"/>
                <a:gd name="T13" fmla="*/ 0 h 177"/>
                <a:gd name="T14" fmla="*/ 0 w 379"/>
                <a:gd name="T15" fmla="*/ 0 h 177"/>
                <a:gd name="T16" fmla="*/ 0 w 379"/>
                <a:gd name="T17" fmla="*/ 0 h 177"/>
                <a:gd name="T18" fmla="*/ 0 w 379"/>
                <a:gd name="T19" fmla="*/ 0 h 177"/>
                <a:gd name="T20" fmla="*/ 0 w 379"/>
                <a:gd name="T21" fmla="*/ 0 h 1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9" h="177">
                  <a:moveTo>
                    <a:pt x="85" y="0"/>
                  </a:moveTo>
                  <a:lnTo>
                    <a:pt x="116" y="61"/>
                  </a:lnTo>
                  <a:lnTo>
                    <a:pt x="0" y="148"/>
                  </a:lnTo>
                  <a:lnTo>
                    <a:pt x="116" y="177"/>
                  </a:lnTo>
                  <a:lnTo>
                    <a:pt x="231" y="148"/>
                  </a:lnTo>
                  <a:lnTo>
                    <a:pt x="322" y="177"/>
                  </a:lnTo>
                  <a:lnTo>
                    <a:pt x="379" y="148"/>
                  </a:lnTo>
                  <a:lnTo>
                    <a:pt x="379" y="119"/>
                  </a:lnTo>
                  <a:lnTo>
                    <a:pt x="231" y="0"/>
                  </a:lnTo>
                  <a:lnTo>
                    <a:pt x="85"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71" name="Freeform 21">
              <a:extLst>
                <a:ext uri="{FF2B5EF4-FFF2-40B4-BE49-F238E27FC236}">
                  <a16:creationId xmlns:a16="http://schemas.microsoft.com/office/drawing/2014/main" id="{1B47D62F-45FF-C17A-D9CD-3BED73AFCF19}"/>
                </a:ext>
              </a:extLst>
            </p:cNvPr>
            <p:cNvSpPr/>
            <p:nvPr/>
          </p:nvSpPr>
          <p:spPr bwMode="auto">
            <a:xfrm>
              <a:off x="1786" y="2581"/>
              <a:ext cx="43" cy="15"/>
            </a:xfrm>
            <a:custGeom>
              <a:gdLst>
                <a:gd name="T0" fmla="*/ 0 w 128"/>
                <a:gd name="T1" fmla="*/ 0 h 43"/>
                <a:gd name="T2" fmla="*/ 0 w 128"/>
                <a:gd name="T3" fmla="*/ 0 h 43"/>
                <a:gd name="T4" fmla="*/ 0 w 128"/>
                <a:gd name="T5" fmla="*/ 0 h 43"/>
                <a:gd name="T6" fmla="*/ 0 w 128"/>
                <a:gd name="T7" fmla="*/ 0 h 43"/>
                <a:gd name="T8" fmla="*/ 0 w 128"/>
                <a:gd name="T9" fmla="*/ 0 h 43"/>
                <a:gd name="T10" fmla="*/ 0 w 128"/>
                <a:gd name="T11" fmla="*/ 0 h 43"/>
                <a:gd name="T12" fmla="*/ 0 w 128"/>
                <a:gd name="T13" fmla="*/ 0 h 43"/>
                <a:gd name="T14" fmla="*/ 0 w 128"/>
                <a:gd name="T15" fmla="*/ 0 h 43"/>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43">
                  <a:moveTo>
                    <a:pt x="0" y="23"/>
                  </a:moveTo>
                  <a:lnTo>
                    <a:pt x="50" y="0"/>
                  </a:lnTo>
                  <a:lnTo>
                    <a:pt x="117" y="0"/>
                  </a:lnTo>
                  <a:lnTo>
                    <a:pt x="128" y="17"/>
                  </a:lnTo>
                  <a:lnTo>
                    <a:pt x="84" y="43"/>
                  </a:lnTo>
                  <a:lnTo>
                    <a:pt x="13" y="40"/>
                  </a:lnTo>
                  <a:lnTo>
                    <a:pt x="0" y="23"/>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72" name="Freeform 22">
              <a:extLst>
                <a:ext uri="{FF2B5EF4-FFF2-40B4-BE49-F238E27FC236}">
                  <a16:creationId xmlns:a16="http://schemas.microsoft.com/office/drawing/2014/main" id="{307B5553-EAE5-2100-1067-8188F7F048C8}"/>
                </a:ext>
              </a:extLst>
            </p:cNvPr>
            <p:cNvSpPr/>
            <p:nvPr/>
          </p:nvSpPr>
          <p:spPr bwMode="auto">
            <a:xfrm>
              <a:off x="1786" y="2581"/>
              <a:ext cx="43" cy="15"/>
            </a:xfrm>
            <a:custGeom>
              <a:gdLst>
                <a:gd name="T0" fmla="*/ 0 w 128"/>
                <a:gd name="T1" fmla="*/ 0 h 43"/>
                <a:gd name="T2" fmla="*/ 0 w 128"/>
                <a:gd name="T3" fmla="*/ 0 h 43"/>
                <a:gd name="T4" fmla="*/ 0 w 128"/>
                <a:gd name="T5" fmla="*/ 0 h 43"/>
                <a:gd name="T6" fmla="*/ 0 w 128"/>
                <a:gd name="T7" fmla="*/ 0 h 43"/>
                <a:gd name="T8" fmla="*/ 0 w 128"/>
                <a:gd name="T9" fmla="*/ 0 h 43"/>
                <a:gd name="T10" fmla="*/ 0 w 128"/>
                <a:gd name="T11" fmla="*/ 0 h 43"/>
                <a:gd name="T12" fmla="*/ 0 w 128"/>
                <a:gd name="T13" fmla="*/ 0 h 43"/>
                <a:gd name="T14" fmla="*/ 0 w 128"/>
                <a:gd name="T15" fmla="*/ 0 h 43"/>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43">
                  <a:moveTo>
                    <a:pt x="0" y="23"/>
                  </a:moveTo>
                  <a:lnTo>
                    <a:pt x="50" y="0"/>
                  </a:lnTo>
                  <a:lnTo>
                    <a:pt x="117" y="0"/>
                  </a:lnTo>
                  <a:lnTo>
                    <a:pt x="128" y="17"/>
                  </a:lnTo>
                  <a:lnTo>
                    <a:pt x="84" y="43"/>
                  </a:lnTo>
                  <a:lnTo>
                    <a:pt x="13" y="40"/>
                  </a:lnTo>
                  <a:lnTo>
                    <a:pt x="0" y="23"/>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73" name="Freeform 23">
              <a:extLst>
                <a:ext uri="{FF2B5EF4-FFF2-40B4-BE49-F238E27FC236}">
                  <a16:creationId xmlns:a16="http://schemas.microsoft.com/office/drawing/2014/main" id="{80EE0161-712B-0C95-4820-94D0373A65BD}"/>
                </a:ext>
              </a:extLst>
            </p:cNvPr>
            <p:cNvSpPr/>
            <p:nvPr/>
          </p:nvSpPr>
          <p:spPr bwMode="auto">
            <a:xfrm>
              <a:off x="1786" y="1903"/>
              <a:ext cx="77" cy="82"/>
            </a:xfrm>
            <a:custGeom>
              <a:gdLst>
                <a:gd name="T0" fmla="*/ 0 w 231"/>
                <a:gd name="T1" fmla="*/ 0 h 246"/>
                <a:gd name="T2" fmla="*/ 0 w 231"/>
                <a:gd name="T3" fmla="*/ 0 h 246"/>
                <a:gd name="T4" fmla="*/ 0 w 231"/>
                <a:gd name="T5" fmla="*/ 0 h 246"/>
                <a:gd name="T6" fmla="*/ 0 w 231"/>
                <a:gd name="T7" fmla="*/ 0 h 246"/>
                <a:gd name="T8" fmla="*/ 0 w 231"/>
                <a:gd name="T9" fmla="*/ 0 h 246"/>
                <a:gd name="T10" fmla="*/ 0 w 231"/>
                <a:gd name="T11" fmla="*/ 0 h 246"/>
                <a:gd name="T12" fmla="*/ 0 w 231"/>
                <a:gd name="T13" fmla="*/ 0 h 246"/>
                <a:gd name="T14" fmla="*/ 0 w 231"/>
                <a:gd name="T15" fmla="*/ 0 h 246"/>
                <a:gd name="T16" fmla="*/ 0 w 231"/>
                <a:gd name="T17" fmla="*/ 0 h 246"/>
                <a:gd name="T18" fmla="*/ 0 w 231"/>
                <a:gd name="T19" fmla="*/ 0 h 246"/>
                <a:gd name="T20" fmla="*/ 0 w 231"/>
                <a:gd name="T21" fmla="*/ 0 h 246"/>
                <a:gd name="T22" fmla="*/ 0 w 231"/>
                <a:gd name="T23" fmla="*/ 0 h 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1" h="246">
                  <a:moveTo>
                    <a:pt x="19" y="182"/>
                  </a:moveTo>
                  <a:lnTo>
                    <a:pt x="48" y="115"/>
                  </a:lnTo>
                  <a:lnTo>
                    <a:pt x="174" y="26"/>
                  </a:lnTo>
                  <a:lnTo>
                    <a:pt x="188" y="0"/>
                  </a:lnTo>
                  <a:lnTo>
                    <a:pt x="231" y="0"/>
                  </a:lnTo>
                  <a:lnTo>
                    <a:pt x="205" y="59"/>
                  </a:lnTo>
                  <a:lnTo>
                    <a:pt x="142" y="128"/>
                  </a:lnTo>
                  <a:lnTo>
                    <a:pt x="48" y="196"/>
                  </a:lnTo>
                  <a:lnTo>
                    <a:pt x="4" y="246"/>
                  </a:lnTo>
                  <a:lnTo>
                    <a:pt x="0" y="208"/>
                  </a:lnTo>
                  <a:lnTo>
                    <a:pt x="19" y="182"/>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74" name="Freeform 24">
              <a:extLst>
                <a:ext uri="{FF2B5EF4-FFF2-40B4-BE49-F238E27FC236}">
                  <a16:creationId xmlns:a16="http://schemas.microsoft.com/office/drawing/2014/main" id="{5117B010-AC57-5625-BAC1-1F621D85CD36}"/>
                </a:ext>
              </a:extLst>
            </p:cNvPr>
            <p:cNvSpPr/>
            <p:nvPr/>
          </p:nvSpPr>
          <p:spPr bwMode="auto">
            <a:xfrm>
              <a:off x="1786" y="1903"/>
              <a:ext cx="77" cy="82"/>
            </a:xfrm>
            <a:custGeom>
              <a:gdLst>
                <a:gd name="T0" fmla="*/ 0 w 231"/>
                <a:gd name="T1" fmla="*/ 0 h 246"/>
                <a:gd name="T2" fmla="*/ 0 w 231"/>
                <a:gd name="T3" fmla="*/ 0 h 246"/>
                <a:gd name="T4" fmla="*/ 0 w 231"/>
                <a:gd name="T5" fmla="*/ 0 h 246"/>
                <a:gd name="T6" fmla="*/ 0 w 231"/>
                <a:gd name="T7" fmla="*/ 0 h 246"/>
                <a:gd name="T8" fmla="*/ 0 w 231"/>
                <a:gd name="T9" fmla="*/ 0 h 246"/>
                <a:gd name="T10" fmla="*/ 0 w 231"/>
                <a:gd name="T11" fmla="*/ 0 h 246"/>
                <a:gd name="T12" fmla="*/ 0 w 231"/>
                <a:gd name="T13" fmla="*/ 0 h 246"/>
                <a:gd name="T14" fmla="*/ 0 w 231"/>
                <a:gd name="T15" fmla="*/ 0 h 246"/>
                <a:gd name="T16" fmla="*/ 0 w 231"/>
                <a:gd name="T17" fmla="*/ 0 h 246"/>
                <a:gd name="T18" fmla="*/ 0 w 231"/>
                <a:gd name="T19" fmla="*/ 0 h 246"/>
                <a:gd name="T20" fmla="*/ 0 w 231"/>
                <a:gd name="T21" fmla="*/ 0 h 246"/>
                <a:gd name="T22" fmla="*/ 0 w 231"/>
                <a:gd name="T23" fmla="*/ 0 h 2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1" h="246">
                  <a:moveTo>
                    <a:pt x="19" y="182"/>
                  </a:moveTo>
                  <a:lnTo>
                    <a:pt x="48" y="115"/>
                  </a:lnTo>
                  <a:lnTo>
                    <a:pt x="174" y="26"/>
                  </a:lnTo>
                  <a:lnTo>
                    <a:pt x="188" y="0"/>
                  </a:lnTo>
                  <a:lnTo>
                    <a:pt x="231" y="0"/>
                  </a:lnTo>
                  <a:lnTo>
                    <a:pt x="205" y="59"/>
                  </a:lnTo>
                  <a:lnTo>
                    <a:pt x="142" y="128"/>
                  </a:lnTo>
                  <a:lnTo>
                    <a:pt x="48" y="196"/>
                  </a:lnTo>
                  <a:lnTo>
                    <a:pt x="4" y="246"/>
                  </a:lnTo>
                  <a:lnTo>
                    <a:pt x="0" y="208"/>
                  </a:lnTo>
                  <a:lnTo>
                    <a:pt x="19" y="182"/>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75" name="Freeform 25">
              <a:extLst>
                <a:ext uri="{FF2B5EF4-FFF2-40B4-BE49-F238E27FC236}">
                  <a16:creationId xmlns:a16="http://schemas.microsoft.com/office/drawing/2014/main" id="{3AECEF12-5F9A-FAEE-349A-7DD1CC054FB1}"/>
                </a:ext>
              </a:extLst>
            </p:cNvPr>
            <p:cNvSpPr/>
            <p:nvPr/>
          </p:nvSpPr>
          <p:spPr bwMode="auto">
            <a:xfrm>
              <a:off x="1779" y="1817"/>
              <a:ext cx="30" cy="32"/>
            </a:xfrm>
            <a:custGeom>
              <a:gdLst>
                <a:gd name="T0" fmla="*/ 0 w 89"/>
                <a:gd name="T1" fmla="*/ 0 h 94"/>
                <a:gd name="T2" fmla="*/ 0 w 89"/>
                <a:gd name="T3" fmla="*/ 0 h 94"/>
                <a:gd name="T4" fmla="*/ 0 w 89"/>
                <a:gd name="T5" fmla="*/ 0 h 94"/>
                <a:gd name="T6" fmla="*/ 0 w 89"/>
                <a:gd name="T7" fmla="*/ 0 h 94"/>
                <a:gd name="T8" fmla="*/ 0 w 89"/>
                <a:gd name="T9" fmla="*/ 0 h 94"/>
                <a:gd name="T10" fmla="*/ 0 w 89"/>
                <a:gd name="T11" fmla="*/ 0 h 94"/>
                <a:gd name="T12" fmla="*/ 0 w 89"/>
                <a:gd name="T13" fmla="*/ 0 h 94"/>
                <a:gd name="T14" fmla="*/ 0 w 89"/>
                <a:gd name="T15" fmla="*/ 0 h 94"/>
                <a:gd name="T16" fmla="*/ 0 w 89"/>
                <a:gd name="T17" fmla="*/ 0 h 94"/>
                <a:gd name="T18" fmla="*/ 0 w 89"/>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9" h="94">
                  <a:moveTo>
                    <a:pt x="26" y="0"/>
                  </a:moveTo>
                  <a:lnTo>
                    <a:pt x="0" y="21"/>
                  </a:lnTo>
                  <a:lnTo>
                    <a:pt x="8" y="86"/>
                  </a:lnTo>
                  <a:lnTo>
                    <a:pt x="47" y="94"/>
                  </a:lnTo>
                  <a:lnTo>
                    <a:pt x="81" y="79"/>
                  </a:lnTo>
                  <a:lnTo>
                    <a:pt x="89" y="45"/>
                  </a:lnTo>
                  <a:lnTo>
                    <a:pt x="55" y="41"/>
                  </a:lnTo>
                  <a:lnTo>
                    <a:pt x="54" y="5"/>
                  </a:lnTo>
                  <a:lnTo>
                    <a:pt x="26"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76" name="Freeform 26">
              <a:extLst>
                <a:ext uri="{FF2B5EF4-FFF2-40B4-BE49-F238E27FC236}">
                  <a16:creationId xmlns:a16="http://schemas.microsoft.com/office/drawing/2014/main" id="{EAA2CD90-521E-773F-159A-B4DA45106A8C}"/>
                </a:ext>
              </a:extLst>
            </p:cNvPr>
            <p:cNvSpPr/>
            <p:nvPr/>
          </p:nvSpPr>
          <p:spPr bwMode="auto">
            <a:xfrm>
              <a:off x="1779" y="1817"/>
              <a:ext cx="30" cy="32"/>
            </a:xfrm>
            <a:custGeom>
              <a:gdLst>
                <a:gd name="T0" fmla="*/ 0 w 89"/>
                <a:gd name="T1" fmla="*/ 0 h 94"/>
                <a:gd name="T2" fmla="*/ 0 w 89"/>
                <a:gd name="T3" fmla="*/ 0 h 94"/>
                <a:gd name="T4" fmla="*/ 0 w 89"/>
                <a:gd name="T5" fmla="*/ 0 h 94"/>
                <a:gd name="T6" fmla="*/ 0 w 89"/>
                <a:gd name="T7" fmla="*/ 0 h 94"/>
                <a:gd name="T8" fmla="*/ 0 w 89"/>
                <a:gd name="T9" fmla="*/ 0 h 94"/>
                <a:gd name="T10" fmla="*/ 0 w 89"/>
                <a:gd name="T11" fmla="*/ 0 h 94"/>
                <a:gd name="T12" fmla="*/ 0 w 89"/>
                <a:gd name="T13" fmla="*/ 0 h 94"/>
                <a:gd name="T14" fmla="*/ 0 w 89"/>
                <a:gd name="T15" fmla="*/ 0 h 94"/>
                <a:gd name="T16" fmla="*/ 0 w 89"/>
                <a:gd name="T17" fmla="*/ 0 h 94"/>
                <a:gd name="T18" fmla="*/ 0 w 89"/>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9" h="94">
                  <a:moveTo>
                    <a:pt x="26" y="0"/>
                  </a:moveTo>
                  <a:lnTo>
                    <a:pt x="0" y="21"/>
                  </a:lnTo>
                  <a:lnTo>
                    <a:pt x="8" y="86"/>
                  </a:lnTo>
                  <a:lnTo>
                    <a:pt x="47" y="94"/>
                  </a:lnTo>
                  <a:lnTo>
                    <a:pt x="81" y="79"/>
                  </a:lnTo>
                  <a:lnTo>
                    <a:pt x="89" y="45"/>
                  </a:lnTo>
                  <a:lnTo>
                    <a:pt x="55" y="41"/>
                  </a:lnTo>
                  <a:lnTo>
                    <a:pt x="54" y="5"/>
                  </a:lnTo>
                  <a:lnTo>
                    <a:pt x="26"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77" name="Freeform 27">
              <a:extLst>
                <a:ext uri="{FF2B5EF4-FFF2-40B4-BE49-F238E27FC236}">
                  <a16:creationId xmlns:a16="http://schemas.microsoft.com/office/drawing/2014/main" id="{B2D232BC-464C-F4B0-F593-6913B63DF2D0}"/>
                </a:ext>
              </a:extLst>
            </p:cNvPr>
            <p:cNvSpPr/>
            <p:nvPr/>
          </p:nvSpPr>
          <p:spPr bwMode="auto">
            <a:xfrm>
              <a:off x="1850" y="1791"/>
              <a:ext cx="80" cy="80"/>
            </a:xfrm>
            <a:custGeom>
              <a:gdLst>
                <a:gd name="T0" fmla="*/ 0 w 240"/>
                <a:gd name="T1" fmla="*/ 0 h 241"/>
                <a:gd name="T2" fmla="*/ 0 w 240"/>
                <a:gd name="T3" fmla="*/ 0 h 241"/>
                <a:gd name="T4" fmla="*/ 0 w 240"/>
                <a:gd name="T5" fmla="*/ 0 h 241"/>
                <a:gd name="T6" fmla="*/ 0 w 240"/>
                <a:gd name="T7" fmla="*/ 0 h 241"/>
                <a:gd name="T8" fmla="*/ 0 w 240"/>
                <a:gd name="T9" fmla="*/ 0 h 241"/>
                <a:gd name="T10" fmla="*/ 0 w 240"/>
                <a:gd name="T11" fmla="*/ 0 h 241"/>
                <a:gd name="T12" fmla="*/ 0 w 240"/>
                <a:gd name="T13" fmla="*/ 0 h 241"/>
                <a:gd name="T14" fmla="*/ 0 w 240"/>
                <a:gd name="T15" fmla="*/ 0 h 241"/>
                <a:gd name="T16" fmla="*/ 0 w 240"/>
                <a:gd name="T17" fmla="*/ 0 h 241"/>
                <a:gd name="T18" fmla="*/ 0 w 240"/>
                <a:gd name="T19" fmla="*/ 0 h 241"/>
                <a:gd name="T20" fmla="*/ 0 w 240"/>
                <a:gd name="T21" fmla="*/ 0 h 241"/>
                <a:gd name="T22" fmla="*/ 0 w 240"/>
                <a:gd name="T23" fmla="*/ 0 h 241"/>
                <a:gd name="T24" fmla="*/ 0 w 240"/>
                <a:gd name="T25" fmla="*/ 0 h 241"/>
                <a:gd name="T26" fmla="*/ 0 w 240"/>
                <a:gd name="T27" fmla="*/ 0 h 241"/>
                <a:gd name="T28" fmla="*/ 0 w 240"/>
                <a:gd name="T29" fmla="*/ 0 h 241"/>
                <a:gd name="T30" fmla="*/ 0 w 240"/>
                <a:gd name="T31" fmla="*/ 0 h 241"/>
                <a:gd name="T32" fmla="*/ 0 w 240"/>
                <a:gd name="T33" fmla="*/ 0 h 241"/>
                <a:gd name="T34" fmla="*/ 0 w 240"/>
                <a:gd name="T35" fmla="*/ 0 h 241"/>
                <a:gd name="T36" fmla="*/ 0 w 240"/>
                <a:gd name="T37" fmla="*/ 0 h 24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0" h="241">
                  <a:moveTo>
                    <a:pt x="33" y="14"/>
                  </a:moveTo>
                  <a:lnTo>
                    <a:pt x="0" y="185"/>
                  </a:lnTo>
                  <a:lnTo>
                    <a:pt x="1" y="241"/>
                  </a:lnTo>
                  <a:lnTo>
                    <a:pt x="61" y="222"/>
                  </a:lnTo>
                  <a:lnTo>
                    <a:pt x="72" y="199"/>
                  </a:lnTo>
                  <a:lnTo>
                    <a:pt x="88" y="225"/>
                  </a:lnTo>
                  <a:lnTo>
                    <a:pt x="129" y="226"/>
                  </a:lnTo>
                  <a:lnTo>
                    <a:pt x="137" y="182"/>
                  </a:lnTo>
                  <a:lnTo>
                    <a:pt x="186" y="225"/>
                  </a:lnTo>
                  <a:lnTo>
                    <a:pt x="240" y="225"/>
                  </a:lnTo>
                  <a:lnTo>
                    <a:pt x="204" y="153"/>
                  </a:lnTo>
                  <a:lnTo>
                    <a:pt x="178" y="66"/>
                  </a:lnTo>
                  <a:lnTo>
                    <a:pt x="108" y="50"/>
                  </a:lnTo>
                  <a:lnTo>
                    <a:pt x="81" y="76"/>
                  </a:lnTo>
                  <a:lnTo>
                    <a:pt x="65" y="69"/>
                  </a:lnTo>
                  <a:lnTo>
                    <a:pt x="72" y="0"/>
                  </a:lnTo>
                  <a:lnTo>
                    <a:pt x="59" y="0"/>
                  </a:lnTo>
                  <a:lnTo>
                    <a:pt x="33" y="14"/>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78" name="Freeform 28">
              <a:extLst>
                <a:ext uri="{FF2B5EF4-FFF2-40B4-BE49-F238E27FC236}">
                  <a16:creationId xmlns:a16="http://schemas.microsoft.com/office/drawing/2014/main" id="{2238BD7F-E2A5-786E-11F5-B23F30DE8421}"/>
                </a:ext>
              </a:extLst>
            </p:cNvPr>
            <p:cNvSpPr/>
            <p:nvPr/>
          </p:nvSpPr>
          <p:spPr bwMode="auto">
            <a:xfrm>
              <a:off x="1850" y="1791"/>
              <a:ext cx="80" cy="80"/>
            </a:xfrm>
            <a:custGeom>
              <a:gdLst>
                <a:gd name="T0" fmla="*/ 0 w 240"/>
                <a:gd name="T1" fmla="*/ 0 h 241"/>
                <a:gd name="T2" fmla="*/ 0 w 240"/>
                <a:gd name="T3" fmla="*/ 0 h 241"/>
                <a:gd name="T4" fmla="*/ 0 w 240"/>
                <a:gd name="T5" fmla="*/ 0 h 241"/>
                <a:gd name="T6" fmla="*/ 0 w 240"/>
                <a:gd name="T7" fmla="*/ 0 h 241"/>
                <a:gd name="T8" fmla="*/ 0 w 240"/>
                <a:gd name="T9" fmla="*/ 0 h 241"/>
                <a:gd name="T10" fmla="*/ 0 w 240"/>
                <a:gd name="T11" fmla="*/ 0 h 241"/>
                <a:gd name="T12" fmla="*/ 0 w 240"/>
                <a:gd name="T13" fmla="*/ 0 h 241"/>
                <a:gd name="T14" fmla="*/ 0 w 240"/>
                <a:gd name="T15" fmla="*/ 0 h 241"/>
                <a:gd name="T16" fmla="*/ 0 w 240"/>
                <a:gd name="T17" fmla="*/ 0 h 241"/>
                <a:gd name="T18" fmla="*/ 0 w 240"/>
                <a:gd name="T19" fmla="*/ 0 h 241"/>
                <a:gd name="T20" fmla="*/ 0 w 240"/>
                <a:gd name="T21" fmla="*/ 0 h 241"/>
                <a:gd name="T22" fmla="*/ 0 w 240"/>
                <a:gd name="T23" fmla="*/ 0 h 241"/>
                <a:gd name="T24" fmla="*/ 0 w 240"/>
                <a:gd name="T25" fmla="*/ 0 h 241"/>
                <a:gd name="T26" fmla="*/ 0 w 240"/>
                <a:gd name="T27" fmla="*/ 0 h 241"/>
                <a:gd name="T28" fmla="*/ 0 w 240"/>
                <a:gd name="T29" fmla="*/ 0 h 241"/>
                <a:gd name="T30" fmla="*/ 0 w 240"/>
                <a:gd name="T31" fmla="*/ 0 h 241"/>
                <a:gd name="T32" fmla="*/ 0 w 240"/>
                <a:gd name="T33" fmla="*/ 0 h 241"/>
                <a:gd name="T34" fmla="*/ 0 w 240"/>
                <a:gd name="T35" fmla="*/ 0 h 241"/>
                <a:gd name="T36" fmla="*/ 0 w 240"/>
                <a:gd name="T37" fmla="*/ 0 h 24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0" h="241">
                  <a:moveTo>
                    <a:pt x="33" y="14"/>
                  </a:moveTo>
                  <a:lnTo>
                    <a:pt x="0" y="185"/>
                  </a:lnTo>
                  <a:lnTo>
                    <a:pt x="1" y="241"/>
                  </a:lnTo>
                  <a:lnTo>
                    <a:pt x="61" y="222"/>
                  </a:lnTo>
                  <a:lnTo>
                    <a:pt x="72" y="199"/>
                  </a:lnTo>
                  <a:lnTo>
                    <a:pt x="88" y="225"/>
                  </a:lnTo>
                  <a:lnTo>
                    <a:pt x="129" y="226"/>
                  </a:lnTo>
                  <a:lnTo>
                    <a:pt x="137" y="182"/>
                  </a:lnTo>
                  <a:lnTo>
                    <a:pt x="186" y="225"/>
                  </a:lnTo>
                  <a:lnTo>
                    <a:pt x="240" y="225"/>
                  </a:lnTo>
                  <a:lnTo>
                    <a:pt x="204" y="153"/>
                  </a:lnTo>
                  <a:lnTo>
                    <a:pt x="178" y="66"/>
                  </a:lnTo>
                  <a:lnTo>
                    <a:pt x="108" y="50"/>
                  </a:lnTo>
                  <a:lnTo>
                    <a:pt x="81" y="76"/>
                  </a:lnTo>
                  <a:lnTo>
                    <a:pt x="65" y="69"/>
                  </a:lnTo>
                  <a:lnTo>
                    <a:pt x="72" y="0"/>
                  </a:lnTo>
                  <a:lnTo>
                    <a:pt x="59" y="0"/>
                  </a:lnTo>
                  <a:lnTo>
                    <a:pt x="33" y="14"/>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79" name="Freeform 29">
              <a:extLst>
                <a:ext uri="{FF2B5EF4-FFF2-40B4-BE49-F238E27FC236}">
                  <a16:creationId xmlns:a16="http://schemas.microsoft.com/office/drawing/2014/main" id="{5D54DFBB-A8E2-B75A-10EF-D20A785A9047}"/>
                </a:ext>
              </a:extLst>
            </p:cNvPr>
            <p:cNvSpPr/>
            <p:nvPr/>
          </p:nvSpPr>
          <p:spPr bwMode="auto">
            <a:xfrm>
              <a:off x="1482" y="1488"/>
              <a:ext cx="62" cy="61"/>
            </a:xfrm>
            <a:custGeom>
              <a:gdLst>
                <a:gd name="T0" fmla="*/ 0 w 188"/>
                <a:gd name="T1" fmla="*/ 0 h 183"/>
                <a:gd name="T2" fmla="*/ 0 w 188"/>
                <a:gd name="T3" fmla="*/ 0 h 183"/>
                <a:gd name="T4" fmla="*/ 0 w 188"/>
                <a:gd name="T5" fmla="*/ 0 h 183"/>
                <a:gd name="T6" fmla="*/ 0 w 188"/>
                <a:gd name="T7" fmla="*/ 0 h 183"/>
                <a:gd name="T8" fmla="*/ 0 w 188"/>
                <a:gd name="T9" fmla="*/ 0 h 183"/>
                <a:gd name="T10" fmla="*/ 0 w 188"/>
                <a:gd name="T11" fmla="*/ 0 h 183"/>
                <a:gd name="T12" fmla="*/ 0 w 188"/>
                <a:gd name="T13" fmla="*/ 0 h 183"/>
                <a:gd name="T14" fmla="*/ 0 w 188"/>
                <a:gd name="T15" fmla="*/ 0 h 183"/>
                <a:gd name="T16" fmla="*/ 0 w 188"/>
                <a:gd name="T17" fmla="*/ 0 h 183"/>
                <a:gd name="T18" fmla="*/ 0 w 188"/>
                <a:gd name="T19" fmla="*/ 0 h 183"/>
                <a:gd name="T20" fmla="*/ 0 w 188"/>
                <a:gd name="T21" fmla="*/ 0 h 1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83">
                  <a:moveTo>
                    <a:pt x="73" y="0"/>
                  </a:moveTo>
                  <a:lnTo>
                    <a:pt x="36" y="14"/>
                  </a:lnTo>
                  <a:lnTo>
                    <a:pt x="0" y="157"/>
                  </a:lnTo>
                  <a:lnTo>
                    <a:pt x="41" y="183"/>
                  </a:lnTo>
                  <a:lnTo>
                    <a:pt x="80" y="120"/>
                  </a:lnTo>
                  <a:lnTo>
                    <a:pt x="152" y="134"/>
                  </a:lnTo>
                  <a:lnTo>
                    <a:pt x="188" y="99"/>
                  </a:lnTo>
                  <a:lnTo>
                    <a:pt x="123" y="70"/>
                  </a:lnTo>
                  <a:lnTo>
                    <a:pt x="100" y="8"/>
                  </a:lnTo>
                  <a:lnTo>
                    <a:pt x="73"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80" name="Freeform 30">
              <a:extLst>
                <a:ext uri="{FF2B5EF4-FFF2-40B4-BE49-F238E27FC236}">
                  <a16:creationId xmlns:a16="http://schemas.microsoft.com/office/drawing/2014/main" id="{46487E4C-03E4-10CA-6DA2-BDEE0E51ADF5}"/>
                </a:ext>
              </a:extLst>
            </p:cNvPr>
            <p:cNvSpPr/>
            <p:nvPr/>
          </p:nvSpPr>
          <p:spPr bwMode="auto">
            <a:xfrm>
              <a:off x="1482" y="1488"/>
              <a:ext cx="62" cy="61"/>
            </a:xfrm>
            <a:custGeom>
              <a:gdLst>
                <a:gd name="T0" fmla="*/ 0 w 188"/>
                <a:gd name="T1" fmla="*/ 0 h 183"/>
                <a:gd name="T2" fmla="*/ 0 w 188"/>
                <a:gd name="T3" fmla="*/ 0 h 183"/>
                <a:gd name="T4" fmla="*/ 0 w 188"/>
                <a:gd name="T5" fmla="*/ 0 h 183"/>
                <a:gd name="T6" fmla="*/ 0 w 188"/>
                <a:gd name="T7" fmla="*/ 0 h 183"/>
                <a:gd name="T8" fmla="*/ 0 w 188"/>
                <a:gd name="T9" fmla="*/ 0 h 183"/>
                <a:gd name="T10" fmla="*/ 0 w 188"/>
                <a:gd name="T11" fmla="*/ 0 h 183"/>
                <a:gd name="T12" fmla="*/ 0 w 188"/>
                <a:gd name="T13" fmla="*/ 0 h 183"/>
                <a:gd name="T14" fmla="*/ 0 w 188"/>
                <a:gd name="T15" fmla="*/ 0 h 183"/>
                <a:gd name="T16" fmla="*/ 0 w 188"/>
                <a:gd name="T17" fmla="*/ 0 h 183"/>
                <a:gd name="T18" fmla="*/ 0 w 188"/>
                <a:gd name="T19" fmla="*/ 0 h 183"/>
                <a:gd name="T20" fmla="*/ 0 w 188"/>
                <a:gd name="T21" fmla="*/ 0 h 1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83">
                  <a:moveTo>
                    <a:pt x="73" y="0"/>
                  </a:moveTo>
                  <a:lnTo>
                    <a:pt x="36" y="14"/>
                  </a:lnTo>
                  <a:lnTo>
                    <a:pt x="0" y="157"/>
                  </a:lnTo>
                  <a:lnTo>
                    <a:pt x="41" y="183"/>
                  </a:lnTo>
                  <a:lnTo>
                    <a:pt x="80" y="120"/>
                  </a:lnTo>
                  <a:lnTo>
                    <a:pt x="152" y="134"/>
                  </a:lnTo>
                  <a:lnTo>
                    <a:pt x="188" y="99"/>
                  </a:lnTo>
                  <a:lnTo>
                    <a:pt x="123" y="70"/>
                  </a:lnTo>
                  <a:lnTo>
                    <a:pt x="100" y="8"/>
                  </a:lnTo>
                  <a:lnTo>
                    <a:pt x="73"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81" name="Freeform 31">
              <a:extLst>
                <a:ext uri="{FF2B5EF4-FFF2-40B4-BE49-F238E27FC236}">
                  <a16:creationId xmlns:a16="http://schemas.microsoft.com/office/drawing/2014/main" id="{A12698DA-D28C-5319-C682-0909FE291CCE}"/>
                </a:ext>
              </a:extLst>
            </p:cNvPr>
            <p:cNvSpPr/>
            <p:nvPr/>
          </p:nvSpPr>
          <p:spPr bwMode="auto">
            <a:xfrm>
              <a:off x="1535" y="1231"/>
              <a:ext cx="311" cy="358"/>
            </a:xfrm>
            <a:custGeom>
              <a:gdLst>
                <a:gd name="T0" fmla="*/ 0 w 931"/>
                <a:gd name="T1" fmla="*/ 0 h 1073"/>
                <a:gd name="T2" fmla="*/ 0 w 931"/>
                <a:gd name="T3" fmla="*/ 0 h 1073"/>
                <a:gd name="T4" fmla="*/ 0 w 931"/>
                <a:gd name="T5" fmla="*/ 0 h 1073"/>
                <a:gd name="T6" fmla="*/ 0 w 931"/>
                <a:gd name="T7" fmla="*/ 0 h 1073"/>
                <a:gd name="T8" fmla="*/ 0 w 931"/>
                <a:gd name="T9" fmla="*/ 0 h 1073"/>
                <a:gd name="T10" fmla="*/ 0 w 931"/>
                <a:gd name="T11" fmla="*/ 0 h 1073"/>
                <a:gd name="T12" fmla="*/ 0 w 931"/>
                <a:gd name="T13" fmla="*/ 0 h 1073"/>
                <a:gd name="T14" fmla="*/ 0 w 931"/>
                <a:gd name="T15" fmla="*/ 0 h 1073"/>
                <a:gd name="T16" fmla="*/ 0 w 931"/>
                <a:gd name="T17" fmla="*/ 0 h 1073"/>
                <a:gd name="T18" fmla="*/ 0 w 931"/>
                <a:gd name="T19" fmla="*/ 0 h 1073"/>
                <a:gd name="T20" fmla="*/ 0 w 931"/>
                <a:gd name="T21" fmla="*/ 0 h 1073"/>
                <a:gd name="T22" fmla="*/ 0 w 931"/>
                <a:gd name="T23" fmla="*/ 0 h 1073"/>
                <a:gd name="T24" fmla="*/ 0 w 931"/>
                <a:gd name="T25" fmla="*/ 0 h 1073"/>
                <a:gd name="T26" fmla="*/ 0 w 931"/>
                <a:gd name="T27" fmla="*/ 0 h 1073"/>
                <a:gd name="T28" fmla="*/ 0 w 931"/>
                <a:gd name="T29" fmla="*/ 0 h 1073"/>
                <a:gd name="T30" fmla="*/ 0 w 931"/>
                <a:gd name="T31" fmla="*/ 0 h 1073"/>
                <a:gd name="T32" fmla="*/ 0 w 931"/>
                <a:gd name="T33" fmla="*/ 0 h 1073"/>
                <a:gd name="T34" fmla="*/ 0 w 931"/>
                <a:gd name="T35" fmla="*/ 0 h 1073"/>
                <a:gd name="T36" fmla="*/ 0 w 931"/>
                <a:gd name="T37" fmla="*/ 0 h 1073"/>
                <a:gd name="T38" fmla="*/ 0 w 931"/>
                <a:gd name="T39" fmla="*/ 0 h 1073"/>
                <a:gd name="T40" fmla="*/ 0 w 931"/>
                <a:gd name="T41" fmla="*/ 0 h 1073"/>
                <a:gd name="T42" fmla="*/ 0 w 931"/>
                <a:gd name="T43" fmla="*/ 0 h 1073"/>
                <a:gd name="T44" fmla="*/ 0 w 931"/>
                <a:gd name="T45" fmla="*/ 0 h 1073"/>
                <a:gd name="T46" fmla="*/ 0 w 931"/>
                <a:gd name="T47" fmla="*/ 0 h 1073"/>
                <a:gd name="T48" fmla="*/ 0 w 931"/>
                <a:gd name="T49" fmla="*/ 0 h 1073"/>
                <a:gd name="T50" fmla="*/ 0 w 931"/>
                <a:gd name="T51" fmla="*/ 0 h 1073"/>
                <a:gd name="T52" fmla="*/ 0 w 931"/>
                <a:gd name="T53" fmla="*/ 0 h 1073"/>
                <a:gd name="T54" fmla="*/ 0 w 931"/>
                <a:gd name="T55" fmla="*/ 0 h 1073"/>
                <a:gd name="T56" fmla="*/ 0 w 931"/>
                <a:gd name="T57" fmla="*/ 0 h 1073"/>
                <a:gd name="T58" fmla="*/ 0 w 931"/>
                <a:gd name="T59" fmla="*/ 0 h 1073"/>
                <a:gd name="T60" fmla="*/ 0 w 931"/>
                <a:gd name="T61" fmla="*/ 0 h 1073"/>
                <a:gd name="T62" fmla="*/ 0 w 931"/>
                <a:gd name="T63" fmla="*/ 0 h 1073"/>
                <a:gd name="T64" fmla="*/ 0 w 931"/>
                <a:gd name="T65" fmla="*/ 0 h 1073"/>
                <a:gd name="T66" fmla="*/ 0 w 931"/>
                <a:gd name="T67" fmla="*/ 0 h 1073"/>
                <a:gd name="T68" fmla="*/ 0 w 931"/>
                <a:gd name="T69" fmla="*/ 0 h 1073"/>
                <a:gd name="T70" fmla="*/ 0 w 931"/>
                <a:gd name="T71" fmla="*/ 0 h 1073"/>
                <a:gd name="T72" fmla="*/ 0 w 931"/>
                <a:gd name="T73" fmla="*/ 0 h 1073"/>
                <a:gd name="T74" fmla="*/ 0 w 931"/>
                <a:gd name="T75" fmla="*/ 0 h 1073"/>
                <a:gd name="T76" fmla="*/ 0 w 931"/>
                <a:gd name="T77" fmla="*/ 0 h 107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31" h="1073">
                  <a:moveTo>
                    <a:pt x="56" y="231"/>
                  </a:moveTo>
                  <a:lnTo>
                    <a:pt x="201" y="376"/>
                  </a:lnTo>
                  <a:lnTo>
                    <a:pt x="374" y="376"/>
                  </a:lnTo>
                  <a:lnTo>
                    <a:pt x="493" y="466"/>
                  </a:lnTo>
                  <a:lnTo>
                    <a:pt x="405" y="522"/>
                  </a:lnTo>
                  <a:lnTo>
                    <a:pt x="464" y="697"/>
                  </a:lnTo>
                  <a:lnTo>
                    <a:pt x="405" y="724"/>
                  </a:lnTo>
                  <a:lnTo>
                    <a:pt x="319" y="898"/>
                  </a:lnTo>
                  <a:lnTo>
                    <a:pt x="464" y="870"/>
                  </a:lnTo>
                  <a:lnTo>
                    <a:pt x="611" y="898"/>
                  </a:lnTo>
                  <a:lnTo>
                    <a:pt x="611" y="989"/>
                  </a:lnTo>
                  <a:lnTo>
                    <a:pt x="697" y="989"/>
                  </a:lnTo>
                  <a:lnTo>
                    <a:pt x="756" y="1073"/>
                  </a:lnTo>
                  <a:lnTo>
                    <a:pt x="841" y="1073"/>
                  </a:lnTo>
                  <a:lnTo>
                    <a:pt x="898" y="870"/>
                  </a:lnTo>
                  <a:lnTo>
                    <a:pt x="841" y="814"/>
                  </a:lnTo>
                  <a:lnTo>
                    <a:pt x="668" y="697"/>
                  </a:lnTo>
                  <a:lnTo>
                    <a:pt x="578" y="697"/>
                  </a:lnTo>
                  <a:lnTo>
                    <a:pt x="578" y="610"/>
                  </a:lnTo>
                  <a:lnTo>
                    <a:pt x="785" y="668"/>
                  </a:lnTo>
                  <a:lnTo>
                    <a:pt x="841" y="755"/>
                  </a:lnTo>
                  <a:lnTo>
                    <a:pt x="931" y="639"/>
                  </a:lnTo>
                  <a:lnTo>
                    <a:pt x="841" y="522"/>
                  </a:lnTo>
                  <a:lnTo>
                    <a:pt x="756" y="522"/>
                  </a:lnTo>
                  <a:lnTo>
                    <a:pt x="668" y="466"/>
                  </a:lnTo>
                  <a:lnTo>
                    <a:pt x="697" y="320"/>
                  </a:lnTo>
                  <a:lnTo>
                    <a:pt x="578" y="320"/>
                  </a:lnTo>
                  <a:lnTo>
                    <a:pt x="549" y="202"/>
                  </a:lnTo>
                  <a:lnTo>
                    <a:pt x="348" y="116"/>
                  </a:lnTo>
                  <a:lnTo>
                    <a:pt x="348" y="174"/>
                  </a:lnTo>
                  <a:lnTo>
                    <a:pt x="289" y="174"/>
                  </a:lnTo>
                  <a:lnTo>
                    <a:pt x="259" y="29"/>
                  </a:lnTo>
                  <a:lnTo>
                    <a:pt x="201" y="0"/>
                  </a:lnTo>
                  <a:lnTo>
                    <a:pt x="201" y="174"/>
                  </a:lnTo>
                  <a:lnTo>
                    <a:pt x="143" y="29"/>
                  </a:lnTo>
                  <a:lnTo>
                    <a:pt x="0" y="116"/>
                  </a:lnTo>
                  <a:lnTo>
                    <a:pt x="114" y="174"/>
                  </a:lnTo>
                  <a:lnTo>
                    <a:pt x="56" y="23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82" name="Freeform 32">
              <a:extLst>
                <a:ext uri="{FF2B5EF4-FFF2-40B4-BE49-F238E27FC236}">
                  <a16:creationId xmlns:a16="http://schemas.microsoft.com/office/drawing/2014/main" id="{D483F03E-DEC9-0371-54FA-6A729B5915EA}"/>
                </a:ext>
              </a:extLst>
            </p:cNvPr>
            <p:cNvSpPr/>
            <p:nvPr/>
          </p:nvSpPr>
          <p:spPr bwMode="auto">
            <a:xfrm>
              <a:off x="1535" y="1231"/>
              <a:ext cx="311" cy="358"/>
            </a:xfrm>
            <a:custGeom>
              <a:gdLst>
                <a:gd name="T0" fmla="*/ 0 w 931"/>
                <a:gd name="T1" fmla="*/ 0 h 1073"/>
                <a:gd name="T2" fmla="*/ 0 w 931"/>
                <a:gd name="T3" fmla="*/ 0 h 1073"/>
                <a:gd name="T4" fmla="*/ 0 w 931"/>
                <a:gd name="T5" fmla="*/ 0 h 1073"/>
                <a:gd name="T6" fmla="*/ 0 w 931"/>
                <a:gd name="T7" fmla="*/ 0 h 1073"/>
                <a:gd name="T8" fmla="*/ 0 w 931"/>
                <a:gd name="T9" fmla="*/ 0 h 1073"/>
                <a:gd name="T10" fmla="*/ 0 w 931"/>
                <a:gd name="T11" fmla="*/ 0 h 1073"/>
                <a:gd name="T12" fmla="*/ 0 w 931"/>
                <a:gd name="T13" fmla="*/ 0 h 1073"/>
                <a:gd name="T14" fmla="*/ 0 w 931"/>
                <a:gd name="T15" fmla="*/ 0 h 1073"/>
                <a:gd name="T16" fmla="*/ 0 w 931"/>
                <a:gd name="T17" fmla="*/ 0 h 1073"/>
                <a:gd name="T18" fmla="*/ 0 w 931"/>
                <a:gd name="T19" fmla="*/ 0 h 1073"/>
                <a:gd name="T20" fmla="*/ 0 w 931"/>
                <a:gd name="T21" fmla="*/ 0 h 1073"/>
                <a:gd name="T22" fmla="*/ 0 w 931"/>
                <a:gd name="T23" fmla="*/ 0 h 1073"/>
                <a:gd name="T24" fmla="*/ 0 w 931"/>
                <a:gd name="T25" fmla="*/ 0 h 1073"/>
                <a:gd name="T26" fmla="*/ 0 w 931"/>
                <a:gd name="T27" fmla="*/ 0 h 1073"/>
                <a:gd name="T28" fmla="*/ 0 w 931"/>
                <a:gd name="T29" fmla="*/ 0 h 1073"/>
                <a:gd name="T30" fmla="*/ 0 w 931"/>
                <a:gd name="T31" fmla="*/ 0 h 1073"/>
                <a:gd name="T32" fmla="*/ 0 w 931"/>
                <a:gd name="T33" fmla="*/ 0 h 1073"/>
                <a:gd name="T34" fmla="*/ 0 w 931"/>
                <a:gd name="T35" fmla="*/ 0 h 1073"/>
                <a:gd name="T36" fmla="*/ 0 w 931"/>
                <a:gd name="T37" fmla="*/ 0 h 1073"/>
                <a:gd name="T38" fmla="*/ 0 w 931"/>
                <a:gd name="T39" fmla="*/ 0 h 1073"/>
                <a:gd name="T40" fmla="*/ 0 w 931"/>
                <a:gd name="T41" fmla="*/ 0 h 1073"/>
                <a:gd name="T42" fmla="*/ 0 w 931"/>
                <a:gd name="T43" fmla="*/ 0 h 1073"/>
                <a:gd name="T44" fmla="*/ 0 w 931"/>
                <a:gd name="T45" fmla="*/ 0 h 1073"/>
                <a:gd name="T46" fmla="*/ 0 w 931"/>
                <a:gd name="T47" fmla="*/ 0 h 1073"/>
                <a:gd name="T48" fmla="*/ 0 w 931"/>
                <a:gd name="T49" fmla="*/ 0 h 1073"/>
                <a:gd name="T50" fmla="*/ 0 w 931"/>
                <a:gd name="T51" fmla="*/ 0 h 1073"/>
                <a:gd name="T52" fmla="*/ 0 w 931"/>
                <a:gd name="T53" fmla="*/ 0 h 1073"/>
                <a:gd name="T54" fmla="*/ 0 w 931"/>
                <a:gd name="T55" fmla="*/ 0 h 1073"/>
                <a:gd name="T56" fmla="*/ 0 w 931"/>
                <a:gd name="T57" fmla="*/ 0 h 1073"/>
                <a:gd name="T58" fmla="*/ 0 w 931"/>
                <a:gd name="T59" fmla="*/ 0 h 1073"/>
                <a:gd name="T60" fmla="*/ 0 w 931"/>
                <a:gd name="T61" fmla="*/ 0 h 1073"/>
                <a:gd name="T62" fmla="*/ 0 w 931"/>
                <a:gd name="T63" fmla="*/ 0 h 1073"/>
                <a:gd name="T64" fmla="*/ 0 w 931"/>
                <a:gd name="T65" fmla="*/ 0 h 1073"/>
                <a:gd name="T66" fmla="*/ 0 w 931"/>
                <a:gd name="T67" fmla="*/ 0 h 1073"/>
                <a:gd name="T68" fmla="*/ 0 w 931"/>
                <a:gd name="T69" fmla="*/ 0 h 1073"/>
                <a:gd name="T70" fmla="*/ 0 w 931"/>
                <a:gd name="T71" fmla="*/ 0 h 1073"/>
                <a:gd name="T72" fmla="*/ 0 w 931"/>
                <a:gd name="T73" fmla="*/ 0 h 1073"/>
                <a:gd name="T74" fmla="*/ 0 w 931"/>
                <a:gd name="T75" fmla="*/ 0 h 1073"/>
                <a:gd name="T76" fmla="*/ 0 w 931"/>
                <a:gd name="T77" fmla="*/ 0 h 107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31" h="1073">
                  <a:moveTo>
                    <a:pt x="56" y="231"/>
                  </a:moveTo>
                  <a:lnTo>
                    <a:pt x="201" y="376"/>
                  </a:lnTo>
                  <a:lnTo>
                    <a:pt x="374" y="376"/>
                  </a:lnTo>
                  <a:lnTo>
                    <a:pt x="493" y="466"/>
                  </a:lnTo>
                  <a:lnTo>
                    <a:pt x="405" y="522"/>
                  </a:lnTo>
                  <a:lnTo>
                    <a:pt x="464" y="697"/>
                  </a:lnTo>
                  <a:lnTo>
                    <a:pt x="405" y="724"/>
                  </a:lnTo>
                  <a:lnTo>
                    <a:pt x="319" y="898"/>
                  </a:lnTo>
                  <a:lnTo>
                    <a:pt x="464" y="870"/>
                  </a:lnTo>
                  <a:lnTo>
                    <a:pt x="611" y="898"/>
                  </a:lnTo>
                  <a:lnTo>
                    <a:pt x="611" y="989"/>
                  </a:lnTo>
                  <a:lnTo>
                    <a:pt x="697" y="989"/>
                  </a:lnTo>
                  <a:lnTo>
                    <a:pt x="756" y="1073"/>
                  </a:lnTo>
                  <a:lnTo>
                    <a:pt x="841" y="1073"/>
                  </a:lnTo>
                  <a:lnTo>
                    <a:pt x="898" y="870"/>
                  </a:lnTo>
                  <a:lnTo>
                    <a:pt x="841" y="814"/>
                  </a:lnTo>
                  <a:lnTo>
                    <a:pt x="668" y="697"/>
                  </a:lnTo>
                  <a:lnTo>
                    <a:pt x="578" y="697"/>
                  </a:lnTo>
                  <a:lnTo>
                    <a:pt x="578" y="610"/>
                  </a:lnTo>
                  <a:lnTo>
                    <a:pt x="785" y="668"/>
                  </a:lnTo>
                  <a:lnTo>
                    <a:pt x="841" y="755"/>
                  </a:lnTo>
                  <a:lnTo>
                    <a:pt x="931" y="639"/>
                  </a:lnTo>
                  <a:lnTo>
                    <a:pt x="841" y="522"/>
                  </a:lnTo>
                  <a:lnTo>
                    <a:pt x="756" y="522"/>
                  </a:lnTo>
                  <a:lnTo>
                    <a:pt x="668" y="466"/>
                  </a:lnTo>
                  <a:lnTo>
                    <a:pt x="697" y="320"/>
                  </a:lnTo>
                  <a:lnTo>
                    <a:pt x="578" y="320"/>
                  </a:lnTo>
                  <a:lnTo>
                    <a:pt x="549" y="202"/>
                  </a:lnTo>
                  <a:lnTo>
                    <a:pt x="348" y="116"/>
                  </a:lnTo>
                  <a:lnTo>
                    <a:pt x="348" y="174"/>
                  </a:lnTo>
                  <a:lnTo>
                    <a:pt x="289" y="174"/>
                  </a:lnTo>
                  <a:lnTo>
                    <a:pt x="259" y="29"/>
                  </a:lnTo>
                  <a:lnTo>
                    <a:pt x="201" y="0"/>
                  </a:lnTo>
                  <a:lnTo>
                    <a:pt x="201" y="174"/>
                  </a:lnTo>
                  <a:lnTo>
                    <a:pt x="143" y="29"/>
                  </a:lnTo>
                  <a:lnTo>
                    <a:pt x="0" y="116"/>
                  </a:lnTo>
                  <a:lnTo>
                    <a:pt x="114" y="174"/>
                  </a:lnTo>
                  <a:lnTo>
                    <a:pt x="56" y="23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83" name="Freeform 33">
              <a:extLst>
                <a:ext uri="{FF2B5EF4-FFF2-40B4-BE49-F238E27FC236}">
                  <a16:creationId xmlns:a16="http://schemas.microsoft.com/office/drawing/2014/main" id="{9FCFDF09-A0E6-3E5F-92EF-A1705C3A5DD3}"/>
                </a:ext>
              </a:extLst>
            </p:cNvPr>
            <p:cNvSpPr/>
            <p:nvPr/>
          </p:nvSpPr>
          <p:spPr bwMode="auto">
            <a:xfrm>
              <a:off x="1739" y="1152"/>
              <a:ext cx="89" cy="127"/>
            </a:xfrm>
            <a:custGeom>
              <a:gdLst>
                <a:gd name="T0" fmla="*/ 0 w 268"/>
                <a:gd name="T1" fmla="*/ 0 h 381"/>
                <a:gd name="T2" fmla="*/ 0 w 268"/>
                <a:gd name="T3" fmla="*/ 0 h 381"/>
                <a:gd name="T4" fmla="*/ 0 w 268"/>
                <a:gd name="T5" fmla="*/ 0 h 381"/>
                <a:gd name="T6" fmla="*/ 0 w 268"/>
                <a:gd name="T7" fmla="*/ 0 h 381"/>
                <a:gd name="T8" fmla="*/ 0 w 268"/>
                <a:gd name="T9" fmla="*/ 0 h 381"/>
                <a:gd name="T10" fmla="*/ 0 w 268"/>
                <a:gd name="T11" fmla="*/ 0 h 381"/>
                <a:gd name="T12" fmla="*/ 0 w 268"/>
                <a:gd name="T13" fmla="*/ 0 h 381"/>
                <a:gd name="T14" fmla="*/ 0 w 268"/>
                <a:gd name="T15" fmla="*/ 0 h 381"/>
                <a:gd name="T16" fmla="*/ 0 w 268"/>
                <a:gd name="T17" fmla="*/ 0 h 381"/>
                <a:gd name="T18" fmla="*/ 0 w 268"/>
                <a:gd name="T19" fmla="*/ 0 h 381"/>
                <a:gd name="T20" fmla="*/ 0 w 268"/>
                <a:gd name="T21" fmla="*/ 0 h 3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8" h="381">
                  <a:moveTo>
                    <a:pt x="57" y="0"/>
                  </a:moveTo>
                  <a:lnTo>
                    <a:pt x="0" y="177"/>
                  </a:lnTo>
                  <a:lnTo>
                    <a:pt x="113" y="265"/>
                  </a:lnTo>
                  <a:lnTo>
                    <a:pt x="174" y="381"/>
                  </a:lnTo>
                  <a:lnTo>
                    <a:pt x="230" y="381"/>
                  </a:lnTo>
                  <a:lnTo>
                    <a:pt x="268" y="304"/>
                  </a:lnTo>
                  <a:lnTo>
                    <a:pt x="210" y="187"/>
                  </a:lnTo>
                  <a:lnTo>
                    <a:pt x="113" y="138"/>
                  </a:lnTo>
                  <a:lnTo>
                    <a:pt x="113" y="29"/>
                  </a:lnTo>
                  <a:lnTo>
                    <a:pt x="57"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84" name="Freeform 34">
              <a:extLst>
                <a:ext uri="{FF2B5EF4-FFF2-40B4-BE49-F238E27FC236}">
                  <a16:creationId xmlns:a16="http://schemas.microsoft.com/office/drawing/2014/main" id="{E9CB0BFA-3586-8101-6AC6-DE643048D1F0}"/>
                </a:ext>
              </a:extLst>
            </p:cNvPr>
            <p:cNvSpPr/>
            <p:nvPr/>
          </p:nvSpPr>
          <p:spPr bwMode="auto">
            <a:xfrm>
              <a:off x="1739" y="1152"/>
              <a:ext cx="89" cy="127"/>
            </a:xfrm>
            <a:custGeom>
              <a:gdLst>
                <a:gd name="T0" fmla="*/ 0 w 268"/>
                <a:gd name="T1" fmla="*/ 0 h 381"/>
                <a:gd name="T2" fmla="*/ 0 w 268"/>
                <a:gd name="T3" fmla="*/ 0 h 381"/>
                <a:gd name="T4" fmla="*/ 0 w 268"/>
                <a:gd name="T5" fmla="*/ 0 h 381"/>
                <a:gd name="T6" fmla="*/ 0 w 268"/>
                <a:gd name="T7" fmla="*/ 0 h 381"/>
                <a:gd name="T8" fmla="*/ 0 w 268"/>
                <a:gd name="T9" fmla="*/ 0 h 381"/>
                <a:gd name="T10" fmla="*/ 0 w 268"/>
                <a:gd name="T11" fmla="*/ 0 h 381"/>
                <a:gd name="T12" fmla="*/ 0 w 268"/>
                <a:gd name="T13" fmla="*/ 0 h 381"/>
                <a:gd name="T14" fmla="*/ 0 w 268"/>
                <a:gd name="T15" fmla="*/ 0 h 381"/>
                <a:gd name="T16" fmla="*/ 0 w 268"/>
                <a:gd name="T17" fmla="*/ 0 h 381"/>
                <a:gd name="T18" fmla="*/ 0 w 268"/>
                <a:gd name="T19" fmla="*/ 0 h 381"/>
                <a:gd name="T20" fmla="*/ 0 w 268"/>
                <a:gd name="T21" fmla="*/ 0 h 3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8" h="381">
                  <a:moveTo>
                    <a:pt x="57" y="0"/>
                  </a:moveTo>
                  <a:lnTo>
                    <a:pt x="0" y="177"/>
                  </a:lnTo>
                  <a:lnTo>
                    <a:pt x="113" y="265"/>
                  </a:lnTo>
                  <a:lnTo>
                    <a:pt x="174" y="381"/>
                  </a:lnTo>
                  <a:lnTo>
                    <a:pt x="230" y="381"/>
                  </a:lnTo>
                  <a:lnTo>
                    <a:pt x="268" y="304"/>
                  </a:lnTo>
                  <a:lnTo>
                    <a:pt x="210" y="187"/>
                  </a:lnTo>
                  <a:lnTo>
                    <a:pt x="113" y="138"/>
                  </a:lnTo>
                  <a:lnTo>
                    <a:pt x="113" y="29"/>
                  </a:lnTo>
                  <a:lnTo>
                    <a:pt x="57"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85" name="Freeform 35">
              <a:extLst>
                <a:ext uri="{FF2B5EF4-FFF2-40B4-BE49-F238E27FC236}">
                  <a16:creationId xmlns:a16="http://schemas.microsoft.com/office/drawing/2014/main" id="{FC5692A2-2297-AC89-5761-B99FF6170726}"/>
                </a:ext>
              </a:extLst>
            </p:cNvPr>
            <p:cNvSpPr/>
            <p:nvPr/>
          </p:nvSpPr>
          <p:spPr bwMode="auto">
            <a:xfrm>
              <a:off x="1797" y="988"/>
              <a:ext cx="135" cy="223"/>
            </a:xfrm>
            <a:custGeom>
              <a:gdLst>
                <a:gd name="T0" fmla="*/ 0 w 405"/>
                <a:gd name="T1" fmla="*/ 0 h 671"/>
                <a:gd name="T2" fmla="*/ 0 w 405"/>
                <a:gd name="T3" fmla="*/ 0 h 671"/>
                <a:gd name="T4" fmla="*/ 0 w 405"/>
                <a:gd name="T5" fmla="*/ 0 h 671"/>
                <a:gd name="T6" fmla="*/ 0 w 405"/>
                <a:gd name="T7" fmla="*/ 0 h 671"/>
                <a:gd name="T8" fmla="*/ 0 w 405"/>
                <a:gd name="T9" fmla="*/ 0 h 671"/>
                <a:gd name="T10" fmla="*/ 0 w 405"/>
                <a:gd name="T11" fmla="*/ 0 h 671"/>
                <a:gd name="T12" fmla="*/ 0 w 405"/>
                <a:gd name="T13" fmla="*/ 0 h 671"/>
                <a:gd name="T14" fmla="*/ 0 w 405"/>
                <a:gd name="T15" fmla="*/ 0 h 671"/>
                <a:gd name="T16" fmla="*/ 0 w 405"/>
                <a:gd name="T17" fmla="*/ 0 h 671"/>
                <a:gd name="T18" fmla="*/ 0 w 405"/>
                <a:gd name="T19" fmla="*/ 0 h 671"/>
                <a:gd name="T20" fmla="*/ 0 w 405"/>
                <a:gd name="T21" fmla="*/ 0 h 671"/>
                <a:gd name="T22" fmla="*/ 0 w 405"/>
                <a:gd name="T23" fmla="*/ 0 h 671"/>
                <a:gd name="T24" fmla="*/ 0 w 405"/>
                <a:gd name="T25" fmla="*/ 0 h 671"/>
                <a:gd name="T26" fmla="*/ 0 w 405"/>
                <a:gd name="T27" fmla="*/ 0 h 671"/>
                <a:gd name="T28" fmla="*/ 0 w 405"/>
                <a:gd name="T29" fmla="*/ 0 h 671"/>
                <a:gd name="T30" fmla="*/ 0 w 405"/>
                <a:gd name="T31" fmla="*/ 0 h 671"/>
                <a:gd name="T32" fmla="*/ 0 w 405"/>
                <a:gd name="T33" fmla="*/ 0 h 671"/>
                <a:gd name="T34" fmla="*/ 0 w 405"/>
                <a:gd name="T35" fmla="*/ 0 h 671"/>
                <a:gd name="T36" fmla="*/ 0 w 405"/>
                <a:gd name="T37" fmla="*/ 0 h 671"/>
                <a:gd name="T38" fmla="*/ 0 w 405"/>
                <a:gd name="T39" fmla="*/ 0 h 671"/>
                <a:gd name="T40" fmla="*/ 0 w 405"/>
                <a:gd name="T41" fmla="*/ 0 h 671"/>
                <a:gd name="T42" fmla="*/ 0 w 405"/>
                <a:gd name="T43" fmla="*/ 0 h 671"/>
                <a:gd name="T44" fmla="*/ 0 w 405"/>
                <a:gd name="T45" fmla="*/ 0 h 671"/>
                <a:gd name="T46" fmla="*/ 0 w 405"/>
                <a:gd name="T47" fmla="*/ 0 h 671"/>
                <a:gd name="T48" fmla="*/ 0 w 405"/>
                <a:gd name="T49" fmla="*/ 0 h 671"/>
                <a:gd name="T50" fmla="*/ 0 w 405"/>
                <a:gd name="T51" fmla="*/ 0 h 671"/>
                <a:gd name="T52" fmla="*/ 0 w 405"/>
                <a:gd name="T53" fmla="*/ 0 h 6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05" h="671">
                  <a:moveTo>
                    <a:pt x="0" y="175"/>
                  </a:moveTo>
                  <a:lnTo>
                    <a:pt x="85" y="263"/>
                  </a:lnTo>
                  <a:lnTo>
                    <a:pt x="175" y="234"/>
                  </a:lnTo>
                  <a:lnTo>
                    <a:pt x="204" y="175"/>
                  </a:lnTo>
                  <a:lnTo>
                    <a:pt x="231" y="234"/>
                  </a:lnTo>
                  <a:lnTo>
                    <a:pt x="175" y="350"/>
                  </a:lnTo>
                  <a:lnTo>
                    <a:pt x="175" y="411"/>
                  </a:lnTo>
                  <a:lnTo>
                    <a:pt x="231" y="379"/>
                  </a:lnTo>
                  <a:lnTo>
                    <a:pt x="231" y="411"/>
                  </a:lnTo>
                  <a:lnTo>
                    <a:pt x="204" y="467"/>
                  </a:lnTo>
                  <a:lnTo>
                    <a:pt x="260" y="523"/>
                  </a:lnTo>
                  <a:lnTo>
                    <a:pt x="175" y="584"/>
                  </a:lnTo>
                  <a:lnTo>
                    <a:pt x="175" y="671"/>
                  </a:lnTo>
                  <a:lnTo>
                    <a:pt x="291" y="612"/>
                  </a:lnTo>
                  <a:lnTo>
                    <a:pt x="348" y="671"/>
                  </a:lnTo>
                  <a:lnTo>
                    <a:pt x="405" y="584"/>
                  </a:lnTo>
                  <a:lnTo>
                    <a:pt x="348" y="523"/>
                  </a:lnTo>
                  <a:lnTo>
                    <a:pt x="405" y="379"/>
                  </a:lnTo>
                  <a:lnTo>
                    <a:pt x="405" y="320"/>
                  </a:lnTo>
                  <a:lnTo>
                    <a:pt x="319" y="379"/>
                  </a:lnTo>
                  <a:lnTo>
                    <a:pt x="319" y="234"/>
                  </a:lnTo>
                  <a:lnTo>
                    <a:pt x="376" y="146"/>
                  </a:lnTo>
                  <a:lnTo>
                    <a:pt x="376" y="29"/>
                  </a:lnTo>
                  <a:lnTo>
                    <a:pt x="319" y="0"/>
                  </a:lnTo>
                  <a:lnTo>
                    <a:pt x="85" y="90"/>
                  </a:lnTo>
                  <a:lnTo>
                    <a:pt x="0" y="175"/>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86" name="Freeform 36">
              <a:extLst>
                <a:ext uri="{FF2B5EF4-FFF2-40B4-BE49-F238E27FC236}">
                  <a16:creationId xmlns:a16="http://schemas.microsoft.com/office/drawing/2014/main" id="{3E197924-16EB-B856-B93D-73A81F6F99E5}"/>
                </a:ext>
              </a:extLst>
            </p:cNvPr>
            <p:cNvSpPr/>
            <p:nvPr/>
          </p:nvSpPr>
          <p:spPr bwMode="auto">
            <a:xfrm>
              <a:off x="1797" y="988"/>
              <a:ext cx="135" cy="223"/>
            </a:xfrm>
            <a:custGeom>
              <a:gdLst>
                <a:gd name="T0" fmla="*/ 0 w 405"/>
                <a:gd name="T1" fmla="*/ 0 h 671"/>
                <a:gd name="T2" fmla="*/ 0 w 405"/>
                <a:gd name="T3" fmla="*/ 0 h 671"/>
                <a:gd name="T4" fmla="*/ 0 w 405"/>
                <a:gd name="T5" fmla="*/ 0 h 671"/>
                <a:gd name="T6" fmla="*/ 0 w 405"/>
                <a:gd name="T7" fmla="*/ 0 h 671"/>
                <a:gd name="T8" fmla="*/ 0 w 405"/>
                <a:gd name="T9" fmla="*/ 0 h 671"/>
                <a:gd name="T10" fmla="*/ 0 w 405"/>
                <a:gd name="T11" fmla="*/ 0 h 671"/>
                <a:gd name="T12" fmla="*/ 0 w 405"/>
                <a:gd name="T13" fmla="*/ 0 h 671"/>
                <a:gd name="T14" fmla="*/ 0 w 405"/>
                <a:gd name="T15" fmla="*/ 0 h 671"/>
                <a:gd name="T16" fmla="*/ 0 w 405"/>
                <a:gd name="T17" fmla="*/ 0 h 671"/>
                <a:gd name="T18" fmla="*/ 0 w 405"/>
                <a:gd name="T19" fmla="*/ 0 h 671"/>
                <a:gd name="T20" fmla="*/ 0 w 405"/>
                <a:gd name="T21" fmla="*/ 0 h 671"/>
                <a:gd name="T22" fmla="*/ 0 w 405"/>
                <a:gd name="T23" fmla="*/ 0 h 671"/>
                <a:gd name="T24" fmla="*/ 0 w 405"/>
                <a:gd name="T25" fmla="*/ 0 h 671"/>
                <a:gd name="T26" fmla="*/ 0 w 405"/>
                <a:gd name="T27" fmla="*/ 0 h 671"/>
                <a:gd name="T28" fmla="*/ 0 w 405"/>
                <a:gd name="T29" fmla="*/ 0 h 671"/>
                <a:gd name="T30" fmla="*/ 0 w 405"/>
                <a:gd name="T31" fmla="*/ 0 h 671"/>
                <a:gd name="T32" fmla="*/ 0 w 405"/>
                <a:gd name="T33" fmla="*/ 0 h 671"/>
                <a:gd name="T34" fmla="*/ 0 w 405"/>
                <a:gd name="T35" fmla="*/ 0 h 671"/>
                <a:gd name="T36" fmla="*/ 0 w 405"/>
                <a:gd name="T37" fmla="*/ 0 h 671"/>
                <a:gd name="T38" fmla="*/ 0 w 405"/>
                <a:gd name="T39" fmla="*/ 0 h 671"/>
                <a:gd name="T40" fmla="*/ 0 w 405"/>
                <a:gd name="T41" fmla="*/ 0 h 671"/>
                <a:gd name="T42" fmla="*/ 0 w 405"/>
                <a:gd name="T43" fmla="*/ 0 h 671"/>
                <a:gd name="T44" fmla="*/ 0 w 405"/>
                <a:gd name="T45" fmla="*/ 0 h 671"/>
                <a:gd name="T46" fmla="*/ 0 w 405"/>
                <a:gd name="T47" fmla="*/ 0 h 671"/>
                <a:gd name="T48" fmla="*/ 0 w 405"/>
                <a:gd name="T49" fmla="*/ 0 h 671"/>
                <a:gd name="T50" fmla="*/ 0 w 405"/>
                <a:gd name="T51" fmla="*/ 0 h 671"/>
                <a:gd name="T52" fmla="*/ 0 w 405"/>
                <a:gd name="T53" fmla="*/ 0 h 6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05" h="671">
                  <a:moveTo>
                    <a:pt x="0" y="175"/>
                  </a:moveTo>
                  <a:lnTo>
                    <a:pt x="85" y="263"/>
                  </a:lnTo>
                  <a:lnTo>
                    <a:pt x="175" y="234"/>
                  </a:lnTo>
                  <a:lnTo>
                    <a:pt x="204" y="175"/>
                  </a:lnTo>
                  <a:lnTo>
                    <a:pt x="231" y="234"/>
                  </a:lnTo>
                  <a:lnTo>
                    <a:pt x="175" y="350"/>
                  </a:lnTo>
                  <a:lnTo>
                    <a:pt x="175" y="411"/>
                  </a:lnTo>
                  <a:lnTo>
                    <a:pt x="231" y="379"/>
                  </a:lnTo>
                  <a:lnTo>
                    <a:pt x="231" y="411"/>
                  </a:lnTo>
                  <a:lnTo>
                    <a:pt x="204" y="467"/>
                  </a:lnTo>
                  <a:lnTo>
                    <a:pt x="260" y="523"/>
                  </a:lnTo>
                  <a:lnTo>
                    <a:pt x="175" y="584"/>
                  </a:lnTo>
                  <a:lnTo>
                    <a:pt x="175" y="671"/>
                  </a:lnTo>
                  <a:lnTo>
                    <a:pt x="291" y="612"/>
                  </a:lnTo>
                  <a:lnTo>
                    <a:pt x="348" y="671"/>
                  </a:lnTo>
                  <a:lnTo>
                    <a:pt x="405" y="584"/>
                  </a:lnTo>
                  <a:lnTo>
                    <a:pt x="348" y="523"/>
                  </a:lnTo>
                  <a:lnTo>
                    <a:pt x="405" y="379"/>
                  </a:lnTo>
                  <a:lnTo>
                    <a:pt x="405" y="320"/>
                  </a:lnTo>
                  <a:lnTo>
                    <a:pt x="319" y="379"/>
                  </a:lnTo>
                  <a:lnTo>
                    <a:pt x="319" y="234"/>
                  </a:lnTo>
                  <a:lnTo>
                    <a:pt x="376" y="146"/>
                  </a:lnTo>
                  <a:lnTo>
                    <a:pt x="376" y="29"/>
                  </a:lnTo>
                  <a:lnTo>
                    <a:pt x="319" y="0"/>
                  </a:lnTo>
                  <a:lnTo>
                    <a:pt x="85" y="90"/>
                  </a:lnTo>
                  <a:lnTo>
                    <a:pt x="0" y="175"/>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87" name="Freeform 37">
              <a:extLst>
                <a:ext uri="{FF2B5EF4-FFF2-40B4-BE49-F238E27FC236}">
                  <a16:creationId xmlns:a16="http://schemas.microsoft.com/office/drawing/2014/main" id="{C9D1C2AD-73DA-5713-6CA2-82B75FE6722C}"/>
                </a:ext>
              </a:extLst>
            </p:cNvPr>
            <p:cNvSpPr/>
            <p:nvPr/>
          </p:nvSpPr>
          <p:spPr bwMode="auto">
            <a:xfrm>
              <a:off x="1322" y="1220"/>
              <a:ext cx="126" cy="118"/>
            </a:xfrm>
            <a:custGeom>
              <a:gdLst>
                <a:gd name="T0" fmla="*/ 0 w 378"/>
                <a:gd name="T1" fmla="*/ 0 h 352"/>
                <a:gd name="T2" fmla="*/ 0 w 378"/>
                <a:gd name="T3" fmla="*/ 0 h 352"/>
                <a:gd name="T4" fmla="*/ 0 w 378"/>
                <a:gd name="T5" fmla="*/ 0 h 352"/>
                <a:gd name="T6" fmla="*/ 0 w 378"/>
                <a:gd name="T7" fmla="*/ 0 h 352"/>
                <a:gd name="T8" fmla="*/ 0 w 378"/>
                <a:gd name="T9" fmla="*/ 0 h 352"/>
                <a:gd name="T10" fmla="*/ 0 w 378"/>
                <a:gd name="T11" fmla="*/ 0 h 352"/>
                <a:gd name="T12" fmla="*/ 0 w 378"/>
                <a:gd name="T13" fmla="*/ 0 h 352"/>
                <a:gd name="T14" fmla="*/ 0 w 378"/>
                <a:gd name="T15" fmla="*/ 0 h 352"/>
                <a:gd name="T16" fmla="*/ 0 w 378"/>
                <a:gd name="T17" fmla="*/ 0 h 352"/>
                <a:gd name="T18" fmla="*/ 0 w 378"/>
                <a:gd name="T19" fmla="*/ 0 h 352"/>
                <a:gd name="T20" fmla="*/ 0 w 378"/>
                <a:gd name="T21" fmla="*/ 0 h 352"/>
                <a:gd name="T22" fmla="*/ 0 w 378"/>
                <a:gd name="T23" fmla="*/ 0 h 352"/>
                <a:gd name="T24" fmla="*/ 0 w 378"/>
                <a:gd name="T25" fmla="*/ 0 h 352"/>
                <a:gd name="T26" fmla="*/ 0 w 378"/>
                <a:gd name="T27" fmla="*/ 0 h 3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78" h="352">
                  <a:moveTo>
                    <a:pt x="0" y="206"/>
                  </a:moveTo>
                  <a:lnTo>
                    <a:pt x="114" y="324"/>
                  </a:lnTo>
                  <a:lnTo>
                    <a:pt x="230" y="291"/>
                  </a:lnTo>
                  <a:lnTo>
                    <a:pt x="259" y="352"/>
                  </a:lnTo>
                  <a:lnTo>
                    <a:pt x="320" y="352"/>
                  </a:lnTo>
                  <a:lnTo>
                    <a:pt x="320" y="324"/>
                  </a:lnTo>
                  <a:lnTo>
                    <a:pt x="378" y="263"/>
                  </a:lnTo>
                  <a:lnTo>
                    <a:pt x="292" y="32"/>
                  </a:lnTo>
                  <a:lnTo>
                    <a:pt x="230" y="61"/>
                  </a:lnTo>
                  <a:lnTo>
                    <a:pt x="114" y="0"/>
                  </a:lnTo>
                  <a:lnTo>
                    <a:pt x="29" y="119"/>
                  </a:lnTo>
                  <a:lnTo>
                    <a:pt x="114" y="148"/>
                  </a:lnTo>
                  <a:lnTo>
                    <a:pt x="0" y="206"/>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88" name="Freeform 38">
              <a:extLst>
                <a:ext uri="{FF2B5EF4-FFF2-40B4-BE49-F238E27FC236}">
                  <a16:creationId xmlns:a16="http://schemas.microsoft.com/office/drawing/2014/main" id="{2C240A2F-0E0B-9AD5-9B06-170B1F90ED1B}"/>
                </a:ext>
              </a:extLst>
            </p:cNvPr>
            <p:cNvSpPr/>
            <p:nvPr/>
          </p:nvSpPr>
          <p:spPr bwMode="auto">
            <a:xfrm>
              <a:off x="1322" y="1220"/>
              <a:ext cx="126" cy="118"/>
            </a:xfrm>
            <a:custGeom>
              <a:gdLst>
                <a:gd name="T0" fmla="*/ 0 w 378"/>
                <a:gd name="T1" fmla="*/ 0 h 352"/>
                <a:gd name="T2" fmla="*/ 0 w 378"/>
                <a:gd name="T3" fmla="*/ 0 h 352"/>
                <a:gd name="T4" fmla="*/ 0 w 378"/>
                <a:gd name="T5" fmla="*/ 0 h 352"/>
                <a:gd name="T6" fmla="*/ 0 w 378"/>
                <a:gd name="T7" fmla="*/ 0 h 352"/>
                <a:gd name="T8" fmla="*/ 0 w 378"/>
                <a:gd name="T9" fmla="*/ 0 h 352"/>
                <a:gd name="T10" fmla="*/ 0 w 378"/>
                <a:gd name="T11" fmla="*/ 0 h 352"/>
                <a:gd name="T12" fmla="*/ 0 w 378"/>
                <a:gd name="T13" fmla="*/ 0 h 352"/>
                <a:gd name="T14" fmla="*/ 0 w 378"/>
                <a:gd name="T15" fmla="*/ 0 h 352"/>
                <a:gd name="T16" fmla="*/ 0 w 378"/>
                <a:gd name="T17" fmla="*/ 0 h 352"/>
                <a:gd name="T18" fmla="*/ 0 w 378"/>
                <a:gd name="T19" fmla="*/ 0 h 352"/>
                <a:gd name="T20" fmla="*/ 0 w 378"/>
                <a:gd name="T21" fmla="*/ 0 h 352"/>
                <a:gd name="T22" fmla="*/ 0 w 378"/>
                <a:gd name="T23" fmla="*/ 0 h 352"/>
                <a:gd name="T24" fmla="*/ 0 w 378"/>
                <a:gd name="T25" fmla="*/ 0 h 352"/>
                <a:gd name="T26" fmla="*/ 0 w 378"/>
                <a:gd name="T27" fmla="*/ 0 h 3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78" h="352">
                  <a:moveTo>
                    <a:pt x="0" y="206"/>
                  </a:moveTo>
                  <a:lnTo>
                    <a:pt x="114" y="324"/>
                  </a:lnTo>
                  <a:lnTo>
                    <a:pt x="230" y="291"/>
                  </a:lnTo>
                  <a:lnTo>
                    <a:pt x="259" y="352"/>
                  </a:lnTo>
                  <a:lnTo>
                    <a:pt x="320" y="352"/>
                  </a:lnTo>
                  <a:lnTo>
                    <a:pt x="320" y="324"/>
                  </a:lnTo>
                  <a:lnTo>
                    <a:pt x="378" y="263"/>
                  </a:lnTo>
                  <a:lnTo>
                    <a:pt x="292" y="32"/>
                  </a:lnTo>
                  <a:lnTo>
                    <a:pt x="230" y="61"/>
                  </a:lnTo>
                  <a:lnTo>
                    <a:pt x="114" y="0"/>
                  </a:lnTo>
                  <a:lnTo>
                    <a:pt x="29" y="119"/>
                  </a:lnTo>
                  <a:lnTo>
                    <a:pt x="114" y="148"/>
                  </a:lnTo>
                  <a:lnTo>
                    <a:pt x="0" y="206"/>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89" name="Freeform 39">
              <a:extLst>
                <a:ext uri="{FF2B5EF4-FFF2-40B4-BE49-F238E27FC236}">
                  <a16:creationId xmlns:a16="http://schemas.microsoft.com/office/drawing/2014/main" id="{6ACA8CC6-143C-599C-0A16-D1AC78E5E629}"/>
                </a:ext>
              </a:extLst>
            </p:cNvPr>
            <p:cNvSpPr/>
            <p:nvPr/>
          </p:nvSpPr>
          <p:spPr bwMode="auto">
            <a:xfrm>
              <a:off x="1262" y="1154"/>
              <a:ext cx="94" cy="88"/>
            </a:xfrm>
            <a:custGeom>
              <a:gdLst>
                <a:gd name="T0" fmla="*/ 0 w 282"/>
                <a:gd name="T1" fmla="*/ 0 h 264"/>
                <a:gd name="T2" fmla="*/ 0 w 282"/>
                <a:gd name="T3" fmla="*/ 0 h 264"/>
                <a:gd name="T4" fmla="*/ 0 w 282"/>
                <a:gd name="T5" fmla="*/ 0 h 264"/>
                <a:gd name="T6" fmla="*/ 0 w 282"/>
                <a:gd name="T7" fmla="*/ 0 h 264"/>
                <a:gd name="T8" fmla="*/ 0 w 282"/>
                <a:gd name="T9" fmla="*/ 0 h 264"/>
                <a:gd name="T10" fmla="*/ 0 w 282"/>
                <a:gd name="T11" fmla="*/ 0 h 264"/>
                <a:gd name="T12" fmla="*/ 0 w 282"/>
                <a:gd name="T13" fmla="*/ 0 h 264"/>
                <a:gd name="T14" fmla="*/ 0 w 282"/>
                <a:gd name="T15" fmla="*/ 0 h 264"/>
                <a:gd name="T16" fmla="*/ 0 w 282"/>
                <a:gd name="T17" fmla="*/ 0 h 264"/>
                <a:gd name="T18" fmla="*/ 0 w 282"/>
                <a:gd name="T19" fmla="*/ 0 h 264"/>
                <a:gd name="T20" fmla="*/ 0 w 282"/>
                <a:gd name="T21" fmla="*/ 0 h 2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2" h="264">
                  <a:moveTo>
                    <a:pt x="182" y="127"/>
                  </a:moveTo>
                  <a:lnTo>
                    <a:pt x="282" y="140"/>
                  </a:lnTo>
                  <a:lnTo>
                    <a:pt x="236" y="37"/>
                  </a:lnTo>
                  <a:lnTo>
                    <a:pt x="95" y="0"/>
                  </a:lnTo>
                  <a:lnTo>
                    <a:pt x="0" y="227"/>
                  </a:lnTo>
                  <a:lnTo>
                    <a:pt x="77" y="264"/>
                  </a:lnTo>
                  <a:lnTo>
                    <a:pt x="101" y="211"/>
                  </a:lnTo>
                  <a:lnTo>
                    <a:pt x="140" y="180"/>
                  </a:lnTo>
                  <a:lnTo>
                    <a:pt x="156" y="117"/>
                  </a:lnTo>
                  <a:lnTo>
                    <a:pt x="182" y="127"/>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90" name="Freeform 40">
              <a:extLst>
                <a:ext uri="{FF2B5EF4-FFF2-40B4-BE49-F238E27FC236}">
                  <a16:creationId xmlns:a16="http://schemas.microsoft.com/office/drawing/2014/main" id="{1B1A29C0-6B78-2E0D-198D-2FD8BF9D849F}"/>
                </a:ext>
              </a:extLst>
            </p:cNvPr>
            <p:cNvSpPr/>
            <p:nvPr/>
          </p:nvSpPr>
          <p:spPr bwMode="auto">
            <a:xfrm>
              <a:off x="1262" y="1154"/>
              <a:ext cx="94" cy="88"/>
            </a:xfrm>
            <a:custGeom>
              <a:gdLst>
                <a:gd name="T0" fmla="*/ 0 w 282"/>
                <a:gd name="T1" fmla="*/ 0 h 264"/>
                <a:gd name="T2" fmla="*/ 0 w 282"/>
                <a:gd name="T3" fmla="*/ 0 h 264"/>
                <a:gd name="T4" fmla="*/ 0 w 282"/>
                <a:gd name="T5" fmla="*/ 0 h 264"/>
                <a:gd name="T6" fmla="*/ 0 w 282"/>
                <a:gd name="T7" fmla="*/ 0 h 264"/>
                <a:gd name="T8" fmla="*/ 0 w 282"/>
                <a:gd name="T9" fmla="*/ 0 h 264"/>
                <a:gd name="T10" fmla="*/ 0 w 282"/>
                <a:gd name="T11" fmla="*/ 0 h 264"/>
                <a:gd name="T12" fmla="*/ 0 w 282"/>
                <a:gd name="T13" fmla="*/ 0 h 264"/>
                <a:gd name="T14" fmla="*/ 0 w 282"/>
                <a:gd name="T15" fmla="*/ 0 h 264"/>
                <a:gd name="T16" fmla="*/ 0 w 282"/>
                <a:gd name="T17" fmla="*/ 0 h 264"/>
                <a:gd name="T18" fmla="*/ 0 w 282"/>
                <a:gd name="T19" fmla="*/ 0 h 264"/>
                <a:gd name="T20" fmla="*/ 0 w 282"/>
                <a:gd name="T21" fmla="*/ 0 h 2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2" h="264">
                  <a:moveTo>
                    <a:pt x="182" y="127"/>
                  </a:moveTo>
                  <a:lnTo>
                    <a:pt x="282" y="140"/>
                  </a:lnTo>
                  <a:lnTo>
                    <a:pt x="236" y="37"/>
                  </a:lnTo>
                  <a:lnTo>
                    <a:pt x="95" y="0"/>
                  </a:lnTo>
                  <a:lnTo>
                    <a:pt x="0" y="227"/>
                  </a:lnTo>
                  <a:lnTo>
                    <a:pt x="77" y="264"/>
                  </a:lnTo>
                  <a:lnTo>
                    <a:pt x="101" y="211"/>
                  </a:lnTo>
                  <a:lnTo>
                    <a:pt x="140" y="180"/>
                  </a:lnTo>
                  <a:lnTo>
                    <a:pt x="156" y="117"/>
                  </a:lnTo>
                  <a:lnTo>
                    <a:pt x="182" y="127"/>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91" name="Freeform 41">
              <a:extLst>
                <a:ext uri="{FF2B5EF4-FFF2-40B4-BE49-F238E27FC236}">
                  <a16:creationId xmlns:a16="http://schemas.microsoft.com/office/drawing/2014/main" id="{07AE72EF-5502-9AB0-563D-E825338B2F02}"/>
                </a:ext>
              </a:extLst>
            </p:cNvPr>
            <p:cNvSpPr/>
            <p:nvPr/>
          </p:nvSpPr>
          <p:spPr bwMode="auto">
            <a:xfrm>
              <a:off x="1643" y="1239"/>
              <a:ext cx="26" cy="16"/>
            </a:xfrm>
            <a:custGeom>
              <a:gdLst>
                <a:gd name="T0" fmla="*/ 0 w 76"/>
                <a:gd name="T1" fmla="*/ 0 h 47"/>
                <a:gd name="T2" fmla="*/ 0 w 76"/>
                <a:gd name="T3" fmla="*/ 0 h 47"/>
                <a:gd name="T4" fmla="*/ 0 w 76"/>
                <a:gd name="T5" fmla="*/ 0 h 47"/>
                <a:gd name="T6" fmla="*/ 0 w 76"/>
                <a:gd name="T7" fmla="*/ 0 h 47"/>
                <a:gd name="T8" fmla="*/ 0 w 76"/>
                <a:gd name="T9" fmla="*/ 0 h 47"/>
                <a:gd name="T10" fmla="*/ 0 w 76"/>
                <a:gd name="T11" fmla="*/ 0 h 47"/>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76" h="47">
                  <a:moveTo>
                    <a:pt x="39" y="0"/>
                  </a:moveTo>
                  <a:lnTo>
                    <a:pt x="0" y="26"/>
                  </a:lnTo>
                  <a:lnTo>
                    <a:pt x="43" y="47"/>
                  </a:lnTo>
                  <a:lnTo>
                    <a:pt x="76" y="0"/>
                  </a:lnTo>
                  <a:lnTo>
                    <a:pt x="39"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92" name="Freeform 42">
              <a:extLst>
                <a:ext uri="{FF2B5EF4-FFF2-40B4-BE49-F238E27FC236}">
                  <a16:creationId xmlns:a16="http://schemas.microsoft.com/office/drawing/2014/main" id="{41365213-6CD3-34AA-9FE6-788BE5C281D5}"/>
                </a:ext>
              </a:extLst>
            </p:cNvPr>
            <p:cNvSpPr/>
            <p:nvPr/>
          </p:nvSpPr>
          <p:spPr bwMode="auto">
            <a:xfrm>
              <a:off x="1643" y="1239"/>
              <a:ext cx="26" cy="16"/>
            </a:xfrm>
            <a:custGeom>
              <a:gdLst>
                <a:gd name="T0" fmla="*/ 0 w 76"/>
                <a:gd name="T1" fmla="*/ 0 h 47"/>
                <a:gd name="T2" fmla="*/ 0 w 76"/>
                <a:gd name="T3" fmla="*/ 0 h 47"/>
                <a:gd name="T4" fmla="*/ 0 w 76"/>
                <a:gd name="T5" fmla="*/ 0 h 47"/>
                <a:gd name="T6" fmla="*/ 0 w 76"/>
                <a:gd name="T7" fmla="*/ 0 h 47"/>
                <a:gd name="T8" fmla="*/ 0 w 76"/>
                <a:gd name="T9" fmla="*/ 0 h 47"/>
                <a:gd name="T10" fmla="*/ 0 w 76"/>
                <a:gd name="T11" fmla="*/ 0 h 47"/>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76" h="47">
                  <a:moveTo>
                    <a:pt x="39" y="0"/>
                  </a:moveTo>
                  <a:lnTo>
                    <a:pt x="0" y="26"/>
                  </a:lnTo>
                  <a:lnTo>
                    <a:pt x="43" y="47"/>
                  </a:lnTo>
                  <a:lnTo>
                    <a:pt x="76" y="0"/>
                  </a:lnTo>
                  <a:lnTo>
                    <a:pt x="39"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93" name="Freeform 43">
              <a:extLst>
                <a:ext uri="{FF2B5EF4-FFF2-40B4-BE49-F238E27FC236}">
                  <a16:creationId xmlns:a16="http://schemas.microsoft.com/office/drawing/2014/main" id="{06AC65DA-C191-ED25-056B-54F0A53B9702}"/>
                </a:ext>
              </a:extLst>
            </p:cNvPr>
            <p:cNvSpPr/>
            <p:nvPr/>
          </p:nvSpPr>
          <p:spPr bwMode="auto">
            <a:xfrm>
              <a:off x="1537" y="1177"/>
              <a:ext cx="35" cy="38"/>
            </a:xfrm>
            <a:custGeom>
              <a:gdLst>
                <a:gd name="T0" fmla="*/ 0 w 104"/>
                <a:gd name="T1" fmla="*/ 0 h 115"/>
                <a:gd name="T2" fmla="*/ 0 w 104"/>
                <a:gd name="T3" fmla="*/ 0 h 115"/>
                <a:gd name="T4" fmla="*/ 0 w 104"/>
                <a:gd name="T5" fmla="*/ 0 h 115"/>
                <a:gd name="T6" fmla="*/ 0 w 104"/>
                <a:gd name="T7" fmla="*/ 0 h 115"/>
                <a:gd name="T8" fmla="*/ 0 w 104"/>
                <a:gd name="T9" fmla="*/ 0 h 115"/>
                <a:gd name="T10" fmla="*/ 0 w 104"/>
                <a:gd name="T11" fmla="*/ 0 h 115"/>
                <a:gd name="T12" fmla="*/ 0 w 104"/>
                <a:gd name="T13" fmla="*/ 0 h 115"/>
                <a:gd name="T14" fmla="*/ 0 w 104"/>
                <a:gd name="T15" fmla="*/ 0 h 11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 h="115">
                  <a:moveTo>
                    <a:pt x="13" y="0"/>
                  </a:moveTo>
                  <a:lnTo>
                    <a:pt x="0" y="46"/>
                  </a:lnTo>
                  <a:lnTo>
                    <a:pt x="55" y="115"/>
                  </a:lnTo>
                  <a:lnTo>
                    <a:pt x="104" y="91"/>
                  </a:lnTo>
                  <a:lnTo>
                    <a:pt x="70" y="52"/>
                  </a:lnTo>
                  <a:lnTo>
                    <a:pt x="70" y="4"/>
                  </a:lnTo>
                  <a:lnTo>
                    <a:pt x="13"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94" name="Freeform 44">
              <a:extLst>
                <a:ext uri="{FF2B5EF4-FFF2-40B4-BE49-F238E27FC236}">
                  <a16:creationId xmlns:a16="http://schemas.microsoft.com/office/drawing/2014/main" id="{58F45E8B-A99B-A7C3-A2E6-4593E67D82EC}"/>
                </a:ext>
              </a:extLst>
            </p:cNvPr>
            <p:cNvSpPr/>
            <p:nvPr/>
          </p:nvSpPr>
          <p:spPr bwMode="auto">
            <a:xfrm>
              <a:off x="1537" y="1177"/>
              <a:ext cx="35" cy="38"/>
            </a:xfrm>
            <a:custGeom>
              <a:gdLst>
                <a:gd name="T0" fmla="*/ 0 w 104"/>
                <a:gd name="T1" fmla="*/ 0 h 115"/>
                <a:gd name="T2" fmla="*/ 0 w 104"/>
                <a:gd name="T3" fmla="*/ 0 h 115"/>
                <a:gd name="T4" fmla="*/ 0 w 104"/>
                <a:gd name="T5" fmla="*/ 0 h 115"/>
                <a:gd name="T6" fmla="*/ 0 w 104"/>
                <a:gd name="T7" fmla="*/ 0 h 115"/>
                <a:gd name="T8" fmla="*/ 0 w 104"/>
                <a:gd name="T9" fmla="*/ 0 h 115"/>
                <a:gd name="T10" fmla="*/ 0 w 104"/>
                <a:gd name="T11" fmla="*/ 0 h 115"/>
                <a:gd name="T12" fmla="*/ 0 w 104"/>
                <a:gd name="T13" fmla="*/ 0 h 115"/>
                <a:gd name="T14" fmla="*/ 0 w 104"/>
                <a:gd name="T15" fmla="*/ 0 h 11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 h="115">
                  <a:moveTo>
                    <a:pt x="13" y="0"/>
                  </a:moveTo>
                  <a:lnTo>
                    <a:pt x="0" y="46"/>
                  </a:lnTo>
                  <a:lnTo>
                    <a:pt x="55" y="115"/>
                  </a:lnTo>
                  <a:lnTo>
                    <a:pt x="104" y="91"/>
                  </a:lnTo>
                  <a:lnTo>
                    <a:pt x="70" y="52"/>
                  </a:lnTo>
                  <a:lnTo>
                    <a:pt x="70" y="4"/>
                  </a:lnTo>
                  <a:lnTo>
                    <a:pt x="13"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95" name="Freeform 45">
              <a:extLst>
                <a:ext uri="{FF2B5EF4-FFF2-40B4-BE49-F238E27FC236}">
                  <a16:creationId xmlns:a16="http://schemas.microsoft.com/office/drawing/2014/main" id="{19B34505-CFF1-C520-2387-97F8C7B80EE1}"/>
                </a:ext>
              </a:extLst>
            </p:cNvPr>
            <p:cNvSpPr/>
            <p:nvPr/>
          </p:nvSpPr>
          <p:spPr bwMode="auto">
            <a:xfrm>
              <a:off x="1491" y="1185"/>
              <a:ext cx="33" cy="69"/>
            </a:xfrm>
            <a:custGeom>
              <a:gdLst>
                <a:gd name="T0" fmla="*/ 0 w 98"/>
                <a:gd name="T1" fmla="*/ 0 h 205"/>
                <a:gd name="T2" fmla="*/ 0 w 98"/>
                <a:gd name="T3" fmla="*/ 0 h 205"/>
                <a:gd name="T4" fmla="*/ 0 w 98"/>
                <a:gd name="T5" fmla="*/ 0 h 205"/>
                <a:gd name="T6" fmla="*/ 0 w 98"/>
                <a:gd name="T7" fmla="*/ 0 h 205"/>
                <a:gd name="T8" fmla="*/ 0 w 98"/>
                <a:gd name="T9" fmla="*/ 0 h 205"/>
                <a:gd name="T10" fmla="*/ 0 w 98"/>
                <a:gd name="T11" fmla="*/ 0 h 205"/>
                <a:gd name="T12" fmla="*/ 0 w 98"/>
                <a:gd name="T13" fmla="*/ 0 h 205"/>
                <a:gd name="T14" fmla="*/ 0 w 98"/>
                <a:gd name="T15" fmla="*/ 0 h 20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8" h="205">
                  <a:moveTo>
                    <a:pt x="98" y="89"/>
                  </a:moveTo>
                  <a:lnTo>
                    <a:pt x="98" y="126"/>
                  </a:lnTo>
                  <a:lnTo>
                    <a:pt x="68" y="205"/>
                  </a:lnTo>
                  <a:lnTo>
                    <a:pt x="0" y="136"/>
                  </a:lnTo>
                  <a:lnTo>
                    <a:pt x="4" y="0"/>
                  </a:lnTo>
                  <a:lnTo>
                    <a:pt x="47" y="0"/>
                  </a:lnTo>
                  <a:lnTo>
                    <a:pt x="98" y="89"/>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96" name="Freeform 46">
              <a:extLst>
                <a:ext uri="{FF2B5EF4-FFF2-40B4-BE49-F238E27FC236}">
                  <a16:creationId xmlns:a16="http://schemas.microsoft.com/office/drawing/2014/main" id="{81AEC2B6-46B4-8340-267C-54ACE1C80E7F}"/>
                </a:ext>
              </a:extLst>
            </p:cNvPr>
            <p:cNvSpPr/>
            <p:nvPr/>
          </p:nvSpPr>
          <p:spPr bwMode="auto">
            <a:xfrm>
              <a:off x="1491" y="1185"/>
              <a:ext cx="33" cy="69"/>
            </a:xfrm>
            <a:custGeom>
              <a:gdLst>
                <a:gd name="T0" fmla="*/ 0 w 98"/>
                <a:gd name="T1" fmla="*/ 0 h 205"/>
                <a:gd name="T2" fmla="*/ 0 w 98"/>
                <a:gd name="T3" fmla="*/ 0 h 205"/>
                <a:gd name="T4" fmla="*/ 0 w 98"/>
                <a:gd name="T5" fmla="*/ 0 h 205"/>
                <a:gd name="T6" fmla="*/ 0 w 98"/>
                <a:gd name="T7" fmla="*/ 0 h 205"/>
                <a:gd name="T8" fmla="*/ 0 w 98"/>
                <a:gd name="T9" fmla="*/ 0 h 205"/>
                <a:gd name="T10" fmla="*/ 0 w 98"/>
                <a:gd name="T11" fmla="*/ 0 h 205"/>
                <a:gd name="T12" fmla="*/ 0 w 98"/>
                <a:gd name="T13" fmla="*/ 0 h 205"/>
                <a:gd name="T14" fmla="*/ 0 w 98"/>
                <a:gd name="T15" fmla="*/ 0 h 20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8" h="205">
                  <a:moveTo>
                    <a:pt x="98" y="89"/>
                  </a:moveTo>
                  <a:lnTo>
                    <a:pt x="98" y="126"/>
                  </a:lnTo>
                  <a:lnTo>
                    <a:pt x="68" y="205"/>
                  </a:lnTo>
                  <a:lnTo>
                    <a:pt x="0" y="136"/>
                  </a:lnTo>
                  <a:lnTo>
                    <a:pt x="4" y="0"/>
                  </a:lnTo>
                  <a:lnTo>
                    <a:pt x="47" y="0"/>
                  </a:lnTo>
                  <a:lnTo>
                    <a:pt x="98" y="89"/>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97" name="Freeform 47">
              <a:extLst>
                <a:ext uri="{FF2B5EF4-FFF2-40B4-BE49-F238E27FC236}">
                  <a16:creationId xmlns:a16="http://schemas.microsoft.com/office/drawing/2014/main" id="{1A29FC5C-A4DB-BEC9-357F-8E3120180DC8}"/>
                </a:ext>
              </a:extLst>
            </p:cNvPr>
            <p:cNvSpPr/>
            <p:nvPr/>
          </p:nvSpPr>
          <p:spPr bwMode="auto">
            <a:xfrm>
              <a:off x="1554" y="1082"/>
              <a:ext cx="99" cy="74"/>
            </a:xfrm>
            <a:custGeom>
              <a:gdLst>
                <a:gd name="T0" fmla="*/ 0 w 298"/>
                <a:gd name="T1" fmla="*/ 0 h 222"/>
                <a:gd name="T2" fmla="*/ 0 w 298"/>
                <a:gd name="T3" fmla="*/ 0 h 222"/>
                <a:gd name="T4" fmla="*/ 0 w 298"/>
                <a:gd name="T5" fmla="*/ 0 h 222"/>
                <a:gd name="T6" fmla="*/ 0 w 298"/>
                <a:gd name="T7" fmla="*/ 0 h 222"/>
                <a:gd name="T8" fmla="*/ 0 w 298"/>
                <a:gd name="T9" fmla="*/ 0 h 222"/>
                <a:gd name="T10" fmla="*/ 0 w 298"/>
                <a:gd name="T11" fmla="*/ 0 h 222"/>
                <a:gd name="T12" fmla="*/ 0 w 298"/>
                <a:gd name="T13" fmla="*/ 0 h 222"/>
                <a:gd name="T14" fmla="*/ 0 w 298"/>
                <a:gd name="T15" fmla="*/ 0 h 222"/>
                <a:gd name="T16" fmla="*/ 0 w 298"/>
                <a:gd name="T17" fmla="*/ 0 h 222"/>
                <a:gd name="T18" fmla="*/ 0 w 298"/>
                <a:gd name="T19" fmla="*/ 0 h 222"/>
                <a:gd name="T20" fmla="*/ 0 w 298"/>
                <a:gd name="T21" fmla="*/ 0 h 222"/>
                <a:gd name="T22" fmla="*/ 0 w 298"/>
                <a:gd name="T23" fmla="*/ 0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221">
                  <a:moveTo>
                    <a:pt x="3" y="22"/>
                  </a:moveTo>
                  <a:lnTo>
                    <a:pt x="19" y="54"/>
                  </a:lnTo>
                  <a:lnTo>
                    <a:pt x="0" y="119"/>
                  </a:lnTo>
                  <a:lnTo>
                    <a:pt x="167" y="152"/>
                  </a:lnTo>
                  <a:lnTo>
                    <a:pt x="146" y="222"/>
                  </a:lnTo>
                  <a:lnTo>
                    <a:pt x="218" y="217"/>
                  </a:lnTo>
                  <a:lnTo>
                    <a:pt x="298" y="158"/>
                  </a:lnTo>
                  <a:lnTo>
                    <a:pt x="266" y="31"/>
                  </a:lnTo>
                  <a:lnTo>
                    <a:pt x="160" y="0"/>
                  </a:lnTo>
                  <a:lnTo>
                    <a:pt x="165" y="29"/>
                  </a:lnTo>
                  <a:lnTo>
                    <a:pt x="3" y="22"/>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698" name="Freeform 48">
              <a:extLst>
                <a:ext uri="{FF2B5EF4-FFF2-40B4-BE49-F238E27FC236}">
                  <a16:creationId xmlns:a16="http://schemas.microsoft.com/office/drawing/2014/main" id="{80718B88-1989-AB3A-8853-44573CBC4BC5}"/>
                </a:ext>
              </a:extLst>
            </p:cNvPr>
            <p:cNvSpPr/>
            <p:nvPr/>
          </p:nvSpPr>
          <p:spPr bwMode="auto">
            <a:xfrm>
              <a:off x="1554" y="1082"/>
              <a:ext cx="99" cy="74"/>
            </a:xfrm>
            <a:custGeom>
              <a:gdLst>
                <a:gd name="T0" fmla="*/ 0 w 298"/>
                <a:gd name="T1" fmla="*/ 0 h 222"/>
                <a:gd name="T2" fmla="*/ 0 w 298"/>
                <a:gd name="T3" fmla="*/ 0 h 222"/>
                <a:gd name="T4" fmla="*/ 0 w 298"/>
                <a:gd name="T5" fmla="*/ 0 h 222"/>
                <a:gd name="T6" fmla="*/ 0 w 298"/>
                <a:gd name="T7" fmla="*/ 0 h 222"/>
                <a:gd name="T8" fmla="*/ 0 w 298"/>
                <a:gd name="T9" fmla="*/ 0 h 222"/>
                <a:gd name="T10" fmla="*/ 0 w 298"/>
                <a:gd name="T11" fmla="*/ 0 h 222"/>
                <a:gd name="T12" fmla="*/ 0 w 298"/>
                <a:gd name="T13" fmla="*/ 0 h 222"/>
                <a:gd name="T14" fmla="*/ 0 w 298"/>
                <a:gd name="T15" fmla="*/ 0 h 222"/>
                <a:gd name="T16" fmla="*/ 0 w 298"/>
                <a:gd name="T17" fmla="*/ 0 h 222"/>
                <a:gd name="T18" fmla="*/ 0 w 298"/>
                <a:gd name="T19" fmla="*/ 0 h 222"/>
                <a:gd name="T20" fmla="*/ 0 w 298"/>
                <a:gd name="T21" fmla="*/ 0 h 222"/>
                <a:gd name="T22" fmla="*/ 0 w 298"/>
                <a:gd name="T23" fmla="*/ 0 h 2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221">
                  <a:moveTo>
                    <a:pt x="3" y="22"/>
                  </a:moveTo>
                  <a:lnTo>
                    <a:pt x="19" y="54"/>
                  </a:lnTo>
                  <a:lnTo>
                    <a:pt x="0" y="119"/>
                  </a:lnTo>
                  <a:lnTo>
                    <a:pt x="167" y="152"/>
                  </a:lnTo>
                  <a:lnTo>
                    <a:pt x="146" y="222"/>
                  </a:lnTo>
                  <a:lnTo>
                    <a:pt x="218" y="217"/>
                  </a:lnTo>
                  <a:lnTo>
                    <a:pt x="298" y="158"/>
                  </a:lnTo>
                  <a:lnTo>
                    <a:pt x="266" y="31"/>
                  </a:lnTo>
                  <a:lnTo>
                    <a:pt x="160" y="0"/>
                  </a:lnTo>
                  <a:lnTo>
                    <a:pt x="165" y="29"/>
                  </a:lnTo>
                  <a:lnTo>
                    <a:pt x="3" y="22"/>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699" name="Freeform 49">
              <a:extLst>
                <a:ext uri="{FF2B5EF4-FFF2-40B4-BE49-F238E27FC236}">
                  <a16:creationId xmlns:a16="http://schemas.microsoft.com/office/drawing/2014/main" id="{7525CF36-5A71-05BC-B6ED-CAE9D98DB06B}"/>
                </a:ext>
              </a:extLst>
            </p:cNvPr>
            <p:cNvSpPr/>
            <p:nvPr/>
          </p:nvSpPr>
          <p:spPr bwMode="auto">
            <a:xfrm>
              <a:off x="1707" y="1133"/>
              <a:ext cx="18" cy="42"/>
            </a:xfrm>
            <a:custGeom>
              <a:gdLst>
                <a:gd name="T0" fmla="*/ 0 w 53"/>
                <a:gd name="T1" fmla="*/ 0 h 126"/>
                <a:gd name="T2" fmla="*/ 0 w 53"/>
                <a:gd name="T3" fmla="*/ 0 h 126"/>
                <a:gd name="T4" fmla="*/ 0 w 53"/>
                <a:gd name="T5" fmla="*/ 0 h 126"/>
                <a:gd name="T6" fmla="*/ 0 w 53"/>
                <a:gd name="T7" fmla="*/ 0 h 126"/>
                <a:gd name="T8" fmla="*/ 0 w 53"/>
                <a:gd name="T9" fmla="*/ 0 h 126"/>
                <a:gd name="T10" fmla="*/ 0 w 53"/>
                <a:gd name="T11" fmla="*/ 0 h 126"/>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52" h="125">
                  <a:moveTo>
                    <a:pt x="53" y="75"/>
                  </a:moveTo>
                  <a:lnTo>
                    <a:pt x="34" y="0"/>
                  </a:lnTo>
                  <a:lnTo>
                    <a:pt x="0" y="22"/>
                  </a:lnTo>
                  <a:lnTo>
                    <a:pt x="2" y="126"/>
                  </a:lnTo>
                  <a:lnTo>
                    <a:pt x="53" y="75"/>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00" name="Freeform 50">
              <a:extLst>
                <a:ext uri="{FF2B5EF4-FFF2-40B4-BE49-F238E27FC236}">
                  <a16:creationId xmlns:a16="http://schemas.microsoft.com/office/drawing/2014/main" id="{0F902416-2D34-B137-EA7C-D4641DFE1722}"/>
                </a:ext>
              </a:extLst>
            </p:cNvPr>
            <p:cNvSpPr/>
            <p:nvPr/>
          </p:nvSpPr>
          <p:spPr bwMode="auto">
            <a:xfrm>
              <a:off x="1707" y="1133"/>
              <a:ext cx="18" cy="42"/>
            </a:xfrm>
            <a:custGeom>
              <a:gdLst>
                <a:gd name="T0" fmla="*/ 0 w 53"/>
                <a:gd name="T1" fmla="*/ 0 h 126"/>
                <a:gd name="T2" fmla="*/ 0 w 53"/>
                <a:gd name="T3" fmla="*/ 0 h 126"/>
                <a:gd name="T4" fmla="*/ 0 w 53"/>
                <a:gd name="T5" fmla="*/ 0 h 126"/>
                <a:gd name="T6" fmla="*/ 0 w 53"/>
                <a:gd name="T7" fmla="*/ 0 h 126"/>
                <a:gd name="T8" fmla="*/ 0 w 53"/>
                <a:gd name="T9" fmla="*/ 0 h 126"/>
                <a:gd name="T10" fmla="*/ 0 w 53"/>
                <a:gd name="T11" fmla="*/ 0 h 126"/>
                <a:gd name="T12" fmla="*/ 0 60000 65536"/>
                <a:gd name="T13" fmla="*/ 0 60000 65536"/>
                <a:gd name="T14" fmla="*/ 0 60000 65536"/>
                <a:gd name="T15" fmla="*/ 0 60000 65536"/>
                <a:gd name="T16" fmla="*/ 0 60000 65536"/>
                <a:gd name="T17" fmla="*/ 0 60000 65536"/>
              </a:gdLst>
              <a:cxnLst>
                <a:cxn ang="T12">
                  <a:pos x="T0" y="T1"/>
                </a:cxn>
                <a:cxn ang="T13">
                  <a:pos x="T2" y="T3"/>
                </a:cxn>
                <a:cxn ang="T14">
                  <a:pos x="T4" y="T5"/>
                </a:cxn>
                <a:cxn ang="T15">
                  <a:pos x="T6" y="T7"/>
                </a:cxn>
                <a:cxn ang="T16">
                  <a:pos x="T8" y="T9"/>
                </a:cxn>
                <a:cxn ang="T17">
                  <a:pos x="T10" y="T11"/>
                </a:cxn>
              </a:cxnLst>
              <a:rect l="0" t="0" r="r" b="b"/>
              <a:pathLst>
                <a:path w="52" h="125">
                  <a:moveTo>
                    <a:pt x="53" y="75"/>
                  </a:moveTo>
                  <a:lnTo>
                    <a:pt x="34" y="0"/>
                  </a:lnTo>
                  <a:lnTo>
                    <a:pt x="0" y="22"/>
                  </a:lnTo>
                  <a:lnTo>
                    <a:pt x="2" y="126"/>
                  </a:lnTo>
                  <a:lnTo>
                    <a:pt x="53" y="75"/>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01" name="Freeform 51">
              <a:extLst>
                <a:ext uri="{FF2B5EF4-FFF2-40B4-BE49-F238E27FC236}">
                  <a16:creationId xmlns:a16="http://schemas.microsoft.com/office/drawing/2014/main" id="{D1162CF9-534A-52A2-AA7F-D4CE0856280D}"/>
                </a:ext>
              </a:extLst>
            </p:cNvPr>
            <p:cNvSpPr/>
            <p:nvPr/>
          </p:nvSpPr>
          <p:spPr bwMode="auto">
            <a:xfrm>
              <a:off x="1541" y="1041"/>
              <a:ext cx="44" cy="26"/>
            </a:xfrm>
            <a:custGeom>
              <a:gdLst>
                <a:gd name="T0" fmla="*/ 0 w 132"/>
                <a:gd name="T1" fmla="*/ 0 h 77"/>
                <a:gd name="T2" fmla="*/ 0 w 132"/>
                <a:gd name="T3" fmla="*/ 0 h 77"/>
                <a:gd name="T4" fmla="*/ 0 w 132"/>
                <a:gd name="T5" fmla="*/ 0 h 77"/>
                <a:gd name="T6" fmla="*/ 0 w 132"/>
                <a:gd name="T7" fmla="*/ 0 h 77"/>
                <a:gd name="T8" fmla="*/ 0 w 132"/>
                <a:gd name="T9" fmla="*/ 0 h 77"/>
                <a:gd name="T10" fmla="*/ 0 w 132"/>
                <a:gd name="T11" fmla="*/ 0 h 77"/>
                <a:gd name="T12" fmla="*/ 0 w 132"/>
                <a:gd name="T13" fmla="*/ 0 h 77"/>
                <a:gd name="T14" fmla="*/ 0 w 132"/>
                <a:gd name="T15" fmla="*/ 0 h 77"/>
                <a:gd name="T16" fmla="*/ 0 w 132"/>
                <a:gd name="T17" fmla="*/ 0 h 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2" h="77">
                  <a:moveTo>
                    <a:pt x="132" y="35"/>
                  </a:moveTo>
                  <a:lnTo>
                    <a:pt x="104" y="0"/>
                  </a:lnTo>
                  <a:lnTo>
                    <a:pt x="0" y="42"/>
                  </a:lnTo>
                  <a:lnTo>
                    <a:pt x="0" y="77"/>
                  </a:lnTo>
                  <a:lnTo>
                    <a:pt x="84" y="44"/>
                  </a:lnTo>
                  <a:lnTo>
                    <a:pt x="84" y="77"/>
                  </a:lnTo>
                  <a:lnTo>
                    <a:pt x="132" y="60"/>
                  </a:lnTo>
                  <a:lnTo>
                    <a:pt x="132" y="35"/>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02" name="Freeform 52">
              <a:extLst>
                <a:ext uri="{FF2B5EF4-FFF2-40B4-BE49-F238E27FC236}">
                  <a16:creationId xmlns:a16="http://schemas.microsoft.com/office/drawing/2014/main" id="{629F8B1D-0F03-2989-5D8C-F76F6FF00F1A}"/>
                </a:ext>
              </a:extLst>
            </p:cNvPr>
            <p:cNvSpPr/>
            <p:nvPr/>
          </p:nvSpPr>
          <p:spPr bwMode="auto">
            <a:xfrm>
              <a:off x="1541" y="1041"/>
              <a:ext cx="44" cy="26"/>
            </a:xfrm>
            <a:custGeom>
              <a:gdLst>
                <a:gd name="T0" fmla="*/ 0 w 132"/>
                <a:gd name="T1" fmla="*/ 0 h 77"/>
                <a:gd name="T2" fmla="*/ 0 w 132"/>
                <a:gd name="T3" fmla="*/ 0 h 77"/>
                <a:gd name="T4" fmla="*/ 0 w 132"/>
                <a:gd name="T5" fmla="*/ 0 h 77"/>
                <a:gd name="T6" fmla="*/ 0 w 132"/>
                <a:gd name="T7" fmla="*/ 0 h 77"/>
                <a:gd name="T8" fmla="*/ 0 w 132"/>
                <a:gd name="T9" fmla="*/ 0 h 77"/>
                <a:gd name="T10" fmla="*/ 0 w 132"/>
                <a:gd name="T11" fmla="*/ 0 h 77"/>
                <a:gd name="T12" fmla="*/ 0 w 132"/>
                <a:gd name="T13" fmla="*/ 0 h 77"/>
                <a:gd name="T14" fmla="*/ 0 w 132"/>
                <a:gd name="T15" fmla="*/ 0 h 77"/>
                <a:gd name="T16" fmla="*/ 0 w 132"/>
                <a:gd name="T17" fmla="*/ 0 h 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2" h="77">
                  <a:moveTo>
                    <a:pt x="132" y="35"/>
                  </a:moveTo>
                  <a:lnTo>
                    <a:pt x="104" y="0"/>
                  </a:lnTo>
                  <a:lnTo>
                    <a:pt x="0" y="42"/>
                  </a:lnTo>
                  <a:lnTo>
                    <a:pt x="0" y="77"/>
                  </a:lnTo>
                  <a:lnTo>
                    <a:pt x="84" y="44"/>
                  </a:lnTo>
                  <a:lnTo>
                    <a:pt x="84" y="77"/>
                  </a:lnTo>
                  <a:lnTo>
                    <a:pt x="132" y="60"/>
                  </a:lnTo>
                  <a:lnTo>
                    <a:pt x="132" y="35"/>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03" name="Freeform 53">
              <a:extLst>
                <a:ext uri="{FF2B5EF4-FFF2-40B4-BE49-F238E27FC236}">
                  <a16:creationId xmlns:a16="http://schemas.microsoft.com/office/drawing/2014/main" id="{ED108458-742B-A892-6EBB-74BDFD02F9B0}"/>
                </a:ext>
              </a:extLst>
            </p:cNvPr>
            <p:cNvSpPr/>
            <p:nvPr/>
          </p:nvSpPr>
          <p:spPr bwMode="auto">
            <a:xfrm>
              <a:off x="1607" y="1038"/>
              <a:ext cx="19" cy="23"/>
            </a:xfrm>
            <a:custGeom>
              <a:gdLst>
                <a:gd name="T0" fmla="*/ 0 w 57"/>
                <a:gd name="T1" fmla="*/ 0 h 70"/>
                <a:gd name="T2" fmla="*/ 0 w 57"/>
                <a:gd name="T3" fmla="*/ 0 h 70"/>
                <a:gd name="T4" fmla="*/ 0 w 57"/>
                <a:gd name="T5" fmla="*/ 0 h 70"/>
                <a:gd name="T6" fmla="*/ 0 w 57"/>
                <a:gd name="T7" fmla="*/ 0 h 70"/>
                <a:gd name="T8" fmla="*/ 0 w 57"/>
                <a:gd name="T9" fmla="*/ 0 h 70"/>
                <a:gd name="T10" fmla="*/ 0 w 57"/>
                <a:gd name="T11" fmla="*/ 0 h 70"/>
                <a:gd name="T12" fmla="*/ 0 w 57"/>
                <a:gd name="T13" fmla="*/ 0 h 70"/>
                <a:gd name="T14" fmla="*/ 0 w 57"/>
                <a:gd name="T15" fmla="*/ 0 h 70"/>
                <a:gd name="T16" fmla="*/ 0 w 57"/>
                <a:gd name="T17" fmla="*/ 0 h 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 h="70">
                  <a:moveTo>
                    <a:pt x="22" y="0"/>
                  </a:moveTo>
                  <a:lnTo>
                    <a:pt x="5" y="18"/>
                  </a:lnTo>
                  <a:lnTo>
                    <a:pt x="0" y="70"/>
                  </a:lnTo>
                  <a:lnTo>
                    <a:pt x="36" y="70"/>
                  </a:lnTo>
                  <a:lnTo>
                    <a:pt x="46" y="31"/>
                  </a:lnTo>
                  <a:lnTo>
                    <a:pt x="57" y="16"/>
                  </a:lnTo>
                  <a:lnTo>
                    <a:pt x="44" y="2"/>
                  </a:lnTo>
                  <a:lnTo>
                    <a:pt x="22"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04" name="Freeform 54">
              <a:extLst>
                <a:ext uri="{FF2B5EF4-FFF2-40B4-BE49-F238E27FC236}">
                  <a16:creationId xmlns:a16="http://schemas.microsoft.com/office/drawing/2014/main" id="{A754173E-D597-02CA-58B3-F14E3536CAEE}"/>
                </a:ext>
              </a:extLst>
            </p:cNvPr>
            <p:cNvSpPr/>
            <p:nvPr/>
          </p:nvSpPr>
          <p:spPr bwMode="auto">
            <a:xfrm>
              <a:off x="1607" y="1038"/>
              <a:ext cx="19" cy="23"/>
            </a:xfrm>
            <a:custGeom>
              <a:gdLst>
                <a:gd name="T0" fmla="*/ 0 w 57"/>
                <a:gd name="T1" fmla="*/ 0 h 70"/>
                <a:gd name="T2" fmla="*/ 0 w 57"/>
                <a:gd name="T3" fmla="*/ 0 h 70"/>
                <a:gd name="T4" fmla="*/ 0 w 57"/>
                <a:gd name="T5" fmla="*/ 0 h 70"/>
                <a:gd name="T6" fmla="*/ 0 w 57"/>
                <a:gd name="T7" fmla="*/ 0 h 70"/>
                <a:gd name="T8" fmla="*/ 0 w 57"/>
                <a:gd name="T9" fmla="*/ 0 h 70"/>
                <a:gd name="T10" fmla="*/ 0 w 57"/>
                <a:gd name="T11" fmla="*/ 0 h 70"/>
                <a:gd name="T12" fmla="*/ 0 w 57"/>
                <a:gd name="T13" fmla="*/ 0 h 70"/>
                <a:gd name="T14" fmla="*/ 0 w 57"/>
                <a:gd name="T15" fmla="*/ 0 h 70"/>
                <a:gd name="T16" fmla="*/ 0 w 57"/>
                <a:gd name="T17" fmla="*/ 0 h 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 h="70">
                  <a:moveTo>
                    <a:pt x="22" y="0"/>
                  </a:moveTo>
                  <a:lnTo>
                    <a:pt x="5" y="18"/>
                  </a:lnTo>
                  <a:lnTo>
                    <a:pt x="0" y="70"/>
                  </a:lnTo>
                  <a:lnTo>
                    <a:pt x="36" y="70"/>
                  </a:lnTo>
                  <a:lnTo>
                    <a:pt x="46" y="31"/>
                  </a:lnTo>
                  <a:lnTo>
                    <a:pt x="57" y="16"/>
                  </a:lnTo>
                  <a:lnTo>
                    <a:pt x="44" y="2"/>
                  </a:lnTo>
                  <a:lnTo>
                    <a:pt x="22"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05" name="Freeform 55">
              <a:extLst>
                <a:ext uri="{FF2B5EF4-FFF2-40B4-BE49-F238E27FC236}">
                  <a16:creationId xmlns:a16="http://schemas.microsoft.com/office/drawing/2014/main" id="{7BB28413-46AF-C8D6-679C-B64A8999619C}"/>
                </a:ext>
              </a:extLst>
            </p:cNvPr>
            <p:cNvSpPr/>
            <p:nvPr/>
          </p:nvSpPr>
          <p:spPr bwMode="auto">
            <a:xfrm>
              <a:off x="1636" y="1016"/>
              <a:ext cx="30" cy="45"/>
            </a:xfrm>
            <a:custGeom>
              <a:gdLst>
                <a:gd name="T0" fmla="*/ 0 w 90"/>
                <a:gd name="T1" fmla="*/ 0 h 135"/>
                <a:gd name="T2" fmla="*/ 0 w 90"/>
                <a:gd name="T3" fmla="*/ 0 h 135"/>
                <a:gd name="T4" fmla="*/ 0 w 90"/>
                <a:gd name="T5" fmla="*/ 0 h 135"/>
                <a:gd name="T6" fmla="*/ 0 w 90"/>
                <a:gd name="T7" fmla="*/ 0 h 135"/>
                <a:gd name="T8" fmla="*/ 0 w 90"/>
                <a:gd name="T9" fmla="*/ 0 h 135"/>
                <a:gd name="T10" fmla="*/ 0 w 90"/>
                <a:gd name="T11" fmla="*/ 0 h 135"/>
                <a:gd name="T12" fmla="*/ 0 w 90"/>
                <a:gd name="T13" fmla="*/ 0 h 135"/>
                <a:gd name="T14" fmla="*/ 0 w 90"/>
                <a:gd name="T15" fmla="*/ 0 h 13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135">
                  <a:moveTo>
                    <a:pt x="0" y="0"/>
                  </a:moveTo>
                  <a:lnTo>
                    <a:pt x="42" y="107"/>
                  </a:lnTo>
                  <a:lnTo>
                    <a:pt x="33" y="135"/>
                  </a:lnTo>
                  <a:lnTo>
                    <a:pt x="90" y="129"/>
                  </a:lnTo>
                  <a:lnTo>
                    <a:pt x="90" y="90"/>
                  </a:lnTo>
                  <a:lnTo>
                    <a:pt x="48" y="23"/>
                  </a:lnTo>
                  <a:lnTo>
                    <a:pt x="0"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06" name="Freeform 56">
              <a:extLst>
                <a:ext uri="{FF2B5EF4-FFF2-40B4-BE49-F238E27FC236}">
                  <a16:creationId xmlns:a16="http://schemas.microsoft.com/office/drawing/2014/main" id="{63565F58-BDB5-A0A2-69EF-81EB3FE3402C}"/>
                </a:ext>
              </a:extLst>
            </p:cNvPr>
            <p:cNvSpPr/>
            <p:nvPr/>
          </p:nvSpPr>
          <p:spPr bwMode="auto">
            <a:xfrm>
              <a:off x="1636" y="1016"/>
              <a:ext cx="30" cy="45"/>
            </a:xfrm>
            <a:custGeom>
              <a:gdLst>
                <a:gd name="T0" fmla="*/ 0 w 90"/>
                <a:gd name="T1" fmla="*/ 0 h 135"/>
                <a:gd name="T2" fmla="*/ 0 w 90"/>
                <a:gd name="T3" fmla="*/ 0 h 135"/>
                <a:gd name="T4" fmla="*/ 0 w 90"/>
                <a:gd name="T5" fmla="*/ 0 h 135"/>
                <a:gd name="T6" fmla="*/ 0 w 90"/>
                <a:gd name="T7" fmla="*/ 0 h 135"/>
                <a:gd name="T8" fmla="*/ 0 w 90"/>
                <a:gd name="T9" fmla="*/ 0 h 135"/>
                <a:gd name="T10" fmla="*/ 0 w 90"/>
                <a:gd name="T11" fmla="*/ 0 h 135"/>
                <a:gd name="T12" fmla="*/ 0 w 90"/>
                <a:gd name="T13" fmla="*/ 0 h 135"/>
                <a:gd name="T14" fmla="*/ 0 w 90"/>
                <a:gd name="T15" fmla="*/ 0 h 13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135">
                  <a:moveTo>
                    <a:pt x="0" y="0"/>
                  </a:moveTo>
                  <a:lnTo>
                    <a:pt x="42" y="107"/>
                  </a:lnTo>
                  <a:lnTo>
                    <a:pt x="33" y="135"/>
                  </a:lnTo>
                  <a:lnTo>
                    <a:pt x="90" y="129"/>
                  </a:lnTo>
                  <a:lnTo>
                    <a:pt x="90" y="90"/>
                  </a:lnTo>
                  <a:lnTo>
                    <a:pt x="48" y="23"/>
                  </a:lnTo>
                  <a:lnTo>
                    <a:pt x="0"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07" name="Freeform 57">
              <a:extLst>
                <a:ext uri="{FF2B5EF4-FFF2-40B4-BE49-F238E27FC236}">
                  <a16:creationId xmlns:a16="http://schemas.microsoft.com/office/drawing/2014/main" id="{799FDC6A-B0F3-76AE-5003-96060FAC9AA3}"/>
                </a:ext>
              </a:extLst>
            </p:cNvPr>
            <p:cNvSpPr/>
            <p:nvPr/>
          </p:nvSpPr>
          <p:spPr bwMode="auto">
            <a:xfrm>
              <a:off x="2330" y="2268"/>
              <a:ext cx="1145" cy="1290"/>
            </a:xfrm>
            <a:custGeom>
              <a:gdLst>
                <a:gd name="T0" fmla="*/ 0 w 3434"/>
                <a:gd name="T1" fmla="*/ 1 h 3870"/>
                <a:gd name="T2" fmla="*/ 0 w 3434"/>
                <a:gd name="T3" fmla="*/ 1 h 3870"/>
                <a:gd name="T4" fmla="*/ 0 w 3434"/>
                <a:gd name="T5" fmla="*/ 1 h 3870"/>
                <a:gd name="T6" fmla="*/ 1 w 3434"/>
                <a:gd name="T7" fmla="*/ 1 h 3870"/>
                <a:gd name="T8" fmla="*/ 1 w 3434"/>
                <a:gd name="T9" fmla="*/ 1 h 3870"/>
                <a:gd name="T10" fmla="*/ 1 w 3434"/>
                <a:gd name="T11" fmla="*/ 1 h 3870"/>
                <a:gd name="T12" fmla="*/ 1 w 3434"/>
                <a:gd name="T13" fmla="*/ 1 h 3870"/>
                <a:gd name="T14" fmla="*/ 1 w 3434"/>
                <a:gd name="T15" fmla="*/ 2 h 3870"/>
                <a:gd name="T16" fmla="*/ 1 w 3434"/>
                <a:gd name="T17" fmla="*/ 2 h 3870"/>
                <a:gd name="T18" fmla="*/ 1 w 3434"/>
                <a:gd name="T19" fmla="*/ 2 h 3870"/>
                <a:gd name="T20" fmla="*/ 1 w 3434"/>
                <a:gd name="T21" fmla="*/ 2 h 3870"/>
                <a:gd name="T22" fmla="*/ 1 w 3434"/>
                <a:gd name="T23" fmla="*/ 1 h 3870"/>
                <a:gd name="T24" fmla="*/ 1 w 3434"/>
                <a:gd name="T25" fmla="*/ 1 h 3870"/>
                <a:gd name="T26" fmla="*/ 1 w 3434"/>
                <a:gd name="T27" fmla="*/ 1 h 3870"/>
                <a:gd name="T28" fmla="*/ 1 w 3434"/>
                <a:gd name="T29" fmla="*/ 1 h 3870"/>
                <a:gd name="T30" fmla="*/ 2 w 3434"/>
                <a:gd name="T31" fmla="*/ 1 h 3870"/>
                <a:gd name="T32" fmla="*/ 1 w 3434"/>
                <a:gd name="T33" fmla="*/ 1 h 3870"/>
                <a:gd name="T34" fmla="*/ 1 w 3434"/>
                <a:gd name="T35" fmla="*/ 1 h 3870"/>
                <a:gd name="T36" fmla="*/ 1 w 3434"/>
                <a:gd name="T37" fmla="*/ 0 h 3870"/>
                <a:gd name="T38" fmla="*/ 1 w 3434"/>
                <a:gd name="T39" fmla="*/ 0 h 3870"/>
                <a:gd name="T40" fmla="*/ 1 w 3434"/>
                <a:gd name="T41" fmla="*/ 0 h 3870"/>
                <a:gd name="T42" fmla="*/ 1 w 3434"/>
                <a:gd name="T43" fmla="*/ 0 h 3870"/>
                <a:gd name="T44" fmla="*/ 1 w 3434"/>
                <a:gd name="T45" fmla="*/ 0 h 3870"/>
                <a:gd name="T46" fmla="*/ 1 w 3434"/>
                <a:gd name="T47" fmla="*/ 0 h 3870"/>
                <a:gd name="T48" fmla="*/ 1 w 3434"/>
                <a:gd name="T49" fmla="*/ 0 h 3870"/>
                <a:gd name="T50" fmla="*/ 1 w 3434"/>
                <a:gd name="T51" fmla="*/ 0 h 3870"/>
                <a:gd name="T52" fmla="*/ 0 w 3434"/>
                <a:gd name="T53" fmla="*/ 0 h 3870"/>
                <a:gd name="T54" fmla="*/ 0 w 3434"/>
                <a:gd name="T55" fmla="*/ 0 h 3870"/>
                <a:gd name="T56" fmla="*/ 0 w 3434"/>
                <a:gd name="T57" fmla="*/ 0 h 3870"/>
                <a:gd name="T58" fmla="*/ 0 w 3434"/>
                <a:gd name="T59" fmla="*/ 0 h 3870"/>
                <a:gd name="T60" fmla="*/ 0 w 3434"/>
                <a:gd name="T61" fmla="*/ 0 h 3870"/>
                <a:gd name="T62" fmla="*/ 0 w 3434"/>
                <a:gd name="T63" fmla="*/ 1 h 38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33" h="3870">
                  <a:moveTo>
                    <a:pt x="0" y="1197"/>
                  </a:moveTo>
                  <a:lnTo>
                    <a:pt x="262" y="1602"/>
                  </a:lnTo>
                  <a:lnTo>
                    <a:pt x="377" y="1690"/>
                  </a:lnTo>
                  <a:lnTo>
                    <a:pt x="525" y="1602"/>
                  </a:lnTo>
                  <a:lnTo>
                    <a:pt x="697" y="1720"/>
                  </a:lnTo>
                  <a:lnTo>
                    <a:pt x="846" y="1661"/>
                  </a:lnTo>
                  <a:lnTo>
                    <a:pt x="933" y="1573"/>
                  </a:lnTo>
                  <a:lnTo>
                    <a:pt x="1338" y="1748"/>
                  </a:lnTo>
                  <a:lnTo>
                    <a:pt x="1310" y="1982"/>
                  </a:lnTo>
                  <a:lnTo>
                    <a:pt x="1572" y="2531"/>
                  </a:lnTo>
                  <a:lnTo>
                    <a:pt x="1543" y="2679"/>
                  </a:lnTo>
                  <a:lnTo>
                    <a:pt x="1427" y="2765"/>
                  </a:lnTo>
                  <a:lnTo>
                    <a:pt x="1458" y="3000"/>
                  </a:lnTo>
                  <a:lnTo>
                    <a:pt x="1543" y="3086"/>
                  </a:lnTo>
                  <a:lnTo>
                    <a:pt x="1601" y="3435"/>
                  </a:lnTo>
                  <a:lnTo>
                    <a:pt x="1657" y="3464"/>
                  </a:lnTo>
                  <a:lnTo>
                    <a:pt x="1657" y="3579"/>
                  </a:lnTo>
                  <a:lnTo>
                    <a:pt x="1716" y="3610"/>
                  </a:lnTo>
                  <a:lnTo>
                    <a:pt x="1745" y="3870"/>
                  </a:lnTo>
                  <a:lnTo>
                    <a:pt x="2097" y="3812"/>
                  </a:lnTo>
                  <a:lnTo>
                    <a:pt x="2387" y="3550"/>
                  </a:lnTo>
                  <a:lnTo>
                    <a:pt x="2445" y="3348"/>
                  </a:lnTo>
                  <a:lnTo>
                    <a:pt x="2562" y="3290"/>
                  </a:lnTo>
                  <a:lnTo>
                    <a:pt x="2593" y="3000"/>
                  </a:lnTo>
                  <a:lnTo>
                    <a:pt x="2880" y="2823"/>
                  </a:lnTo>
                  <a:lnTo>
                    <a:pt x="2880" y="2561"/>
                  </a:lnTo>
                  <a:lnTo>
                    <a:pt x="2792" y="2504"/>
                  </a:lnTo>
                  <a:lnTo>
                    <a:pt x="2792" y="2271"/>
                  </a:lnTo>
                  <a:lnTo>
                    <a:pt x="2911" y="2040"/>
                  </a:lnTo>
                  <a:lnTo>
                    <a:pt x="3203" y="1863"/>
                  </a:lnTo>
                  <a:lnTo>
                    <a:pt x="3434" y="1484"/>
                  </a:lnTo>
                  <a:lnTo>
                    <a:pt x="3434" y="1282"/>
                  </a:lnTo>
                  <a:lnTo>
                    <a:pt x="3317" y="1282"/>
                  </a:lnTo>
                  <a:lnTo>
                    <a:pt x="3259" y="1341"/>
                  </a:lnTo>
                  <a:lnTo>
                    <a:pt x="2996" y="1372"/>
                  </a:lnTo>
                  <a:lnTo>
                    <a:pt x="2853" y="1165"/>
                  </a:lnTo>
                  <a:lnTo>
                    <a:pt x="2677" y="1051"/>
                  </a:lnTo>
                  <a:lnTo>
                    <a:pt x="2677" y="847"/>
                  </a:lnTo>
                  <a:lnTo>
                    <a:pt x="2619" y="701"/>
                  </a:lnTo>
                  <a:lnTo>
                    <a:pt x="2503" y="642"/>
                  </a:lnTo>
                  <a:lnTo>
                    <a:pt x="2445" y="409"/>
                  </a:lnTo>
                  <a:lnTo>
                    <a:pt x="2535" y="438"/>
                  </a:lnTo>
                  <a:lnTo>
                    <a:pt x="2503" y="261"/>
                  </a:lnTo>
                  <a:lnTo>
                    <a:pt x="2357" y="261"/>
                  </a:lnTo>
                  <a:lnTo>
                    <a:pt x="2299" y="321"/>
                  </a:lnTo>
                  <a:lnTo>
                    <a:pt x="1951" y="234"/>
                  </a:lnTo>
                  <a:lnTo>
                    <a:pt x="1862" y="261"/>
                  </a:lnTo>
                  <a:lnTo>
                    <a:pt x="1832" y="379"/>
                  </a:lnTo>
                  <a:lnTo>
                    <a:pt x="1686" y="234"/>
                  </a:lnTo>
                  <a:lnTo>
                    <a:pt x="1485" y="175"/>
                  </a:lnTo>
                  <a:lnTo>
                    <a:pt x="1572" y="29"/>
                  </a:lnTo>
                  <a:lnTo>
                    <a:pt x="1458" y="0"/>
                  </a:lnTo>
                  <a:lnTo>
                    <a:pt x="933" y="0"/>
                  </a:lnTo>
                  <a:lnTo>
                    <a:pt x="902" y="29"/>
                  </a:lnTo>
                  <a:lnTo>
                    <a:pt x="756" y="0"/>
                  </a:lnTo>
                  <a:lnTo>
                    <a:pt x="671" y="29"/>
                  </a:lnTo>
                  <a:lnTo>
                    <a:pt x="671" y="117"/>
                  </a:lnTo>
                  <a:lnTo>
                    <a:pt x="525" y="175"/>
                  </a:lnTo>
                  <a:lnTo>
                    <a:pt x="377" y="438"/>
                  </a:lnTo>
                  <a:lnTo>
                    <a:pt x="205" y="496"/>
                  </a:lnTo>
                  <a:lnTo>
                    <a:pt x="30" y="701"/>
                  </a:lnTo>
                  <a:lnTo>
                    <a:pt x="58" y="934"/>
                  </a:lnTo>
                  <a:lnTo>
                    <a:pt x="0" y="1197"/>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08" name="Freeform 58">
              <a:extLst>
                <a:ext uri="{FF2B5EF4-FFF2-40B4-BE49-F238E27FC236}">
                  <a16:creationId xmlns:a16="http://schemas.microsoft.com/office/drawing/2014/main" id="{B2BE4C4B-6C64-F0EE-991C-07E1BF46C9BB}"/>
                </a:ext>
              </a:extLst>
            </p:cNvPr>
            <p:cNvSpPr/>
            <p:nvPr/>
          </p:nvSpPr>
          <p:spPr bwMode="auto">
            <a:xfrm>
              <a:off x="2330" y="2268"/>
              <a:ext cx="1145" cy="1290"/>
            </a:xfrm>
            <a:custGeom>
              <a:gdLst>
                <a:gd name="T0" fmla="*/ 0 w 3434"/>
                <a:gd name="T1" fmla="*/ 1 h 3870"/>
                <a:gd name="T2" fmla="*/ 0 w 3434"/>
                <a:gd name="T3" fmla="*/ 1 h 3870"/>
                <a:gd name="T4" fmla="*/ 0 w 3434"/>
                <a:gd name="T5" fmla="*/ 1 h 3870"/>
                <a:gd name="T6" fmla="*/ 1 w 3434"/>
                <a:gd name="T7" fmla="*/ 1 h 3870"/>
                <a:gd name="T8" fmla="*/ 1 w 3434"/>
                <a:gd name="T9" fmla="*/ 1 h 3870"/>
                <a:gd name="T10" fmla="*/ 1 w 3434"/>
                <a:gd name="T11" fmla="*/ 1 h 3870"/>
                <a:gd name="T12" fmla="*/ 1 w 3434"/>
                <a:gd name="T13" fmla="*/ 1 h 3870"/>
                <a:gd name="T14" fmla="*/ 1 w 3434"/>
                <a:gd name="T15" fmla="*/ 2 h 3870"/>
                <a:gd name="T16" fmla="*/ 1 w 3434"/>
                <a:gd name="T17" fmla="*/ 2 h 3870"/>
                <a:gd name="T18" fmla="*/ 1 w 3434"/>
                <a:gd name="T19" fmla="*/ 2 h 3870"/>
                <a:gd name="T20" fmla="*/ 1 w 3434"/>
                <a:gd name="T21" fmla="*/ 2 h 3870"/>
                <a:gd name="T22" fmla="*/ 1 w 3434"/>
                <a:gd name="T23" fmla="*/ 1 h 3870"/>
                <a:gd name="T24" fmla="*/ 1 w 3434"/>
                <a:gd name="T25" fmla="*/ 1 h 3870"/>
                <a:gd name="T26" fmla="*/ 1 w 3434"/>
                <a:gd name="T27" fmla="*/ 1 h 3870"/>
                <a:gd name="T28" fmla="*/ 1 w 3434"/>
                <a:gd name="T29" fmla="*/ 1 h 3870"/>
                <a:gd name="T30" fmla="*/ 2 w 3434"/>
                <a:gd name="T31" fmla="*/ 1 h 3870"/>
                <a:gd name="T32" fmla="*/ 1 w 3434"/>
                <a:gd name="T33" fmla="*/ 1 h 3870"/>
                <a:gd name="T34" fmla="*/ 1 w 3434"/>
                <a:gd name="T35" fmla="*/ 1 h 3870"/>
                <a:gd name="T36" fmla="*/ 1 w 3434"/>
                <a:gd name="T37" fmla="*/ 0 h 3870"/>
                <a:gd name="T38" fmla="*/ 1 w 3434"/>
                <a:gd name="T39" fmla="*/ 0 h 3870"/>
                <a:gd name="T40" fmla="*/ 1 w 3434"/>
                <a:gd name="T41" fmla="*/ 0 h 3870"/>
                <a:gd name="T42" fmla="*/ 1 w 3434"/>
                <a:gd name="T43" fmla="*/ 0 h 3870"/>
                <a:gd name="T44" fmla="*/ 1 w 3434"/>
                <a:gd name="T45" fmla="*/ 0 h 3870"/>
                <a:gd name="T46" fmla="*/ 1 w 3434"/>
                <a:gd name="T47" fmla="*/ 0 h 3870"/>
                <a:gd name="T48" fmla="*/ 1 w 3434"/>
                <a:gd name="T49" fmla="*/ 0 h 3870"/>
                <a:gd name="T50" fmla="*/ 1 w 3434"/>
                <a:gd name="T51" fmla="*/ 0 h 3870"/>
                <a:gd name="T52" fmla="*/ 0 w 3434"/>
                <a:gd name="T53" fmla="*/ 0 h 3870"/>
                <a:gd name="T54" fmla="*/ 0 w 3434"/>
                <a:gd name="T55" fmla="*/ 0 h 3870"/>
                <a:gd name="T56" fmla="*/ 0 w 3434"/>
                <a:gd name="T57" fmla="*/ 0 h 3870"/>
                <a:gd name="T58" fmla="*/ 0 w 3434"/>
                <a:gd name="T59" fmla="*/ 0 h 3870"/>
                <a:gd name="T60" fmla="*/ 0 w 3434"/>
                <a:gd name="T61" fmla="*/ 0 h 3870"/>
                <a:gd name="T62" fmla="*/ 0 w 3434"/>
                <a:gd name="T63" fmla="*/ 1 h 38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33" h="3870">
                  <a:moveTo>
                    <a:pt x="0" y="1197"/>
                  </a:moveTo>
                  <a:lnTo>
                    <a:pt x="262" y="1602"/>
                  </a:lnTo>
                  <a:lnTo>
                    <a:pt x="377" y="1690"/>
                  </a:lnTo>
                  <a:lnTo>
                    <a:pt x="525" y="1602"/>
                  </a:lnTo>
                  <a:lnTo>
                    <a:pt x="697" y="1720"/>
                  </a:lnTo>
                  <a:lnTo>
                    <a:pt x="846" y="1661"/>
                  </a:lnTo>
                  <a:lnTo>
                    <a:pt x="933" y="1573"/>
                  </a:lnTo>
                  <a:lnTo>
                    <a:pt x="1338" y="1748"/>
                  </a:lnTo>
                  <a:lnTo>
                    <a:pt x="1310" y="1982"/>
                  </a:lnTo>
                  <a:lnTo>
                    <a:pt x="1572" y="2531"/>
                  </a:lnTo>
                  <a:lnTo>
                    <a:pt x="1543" y="2679"/>
                  </a:lnTo>
                  <a:lnTo>
                    <a:pt x="1427" y="2765"/>
                  </a:lnTo>
                  <a:lnTo>
                    <a:pt x="1458" y="3000"/>
                  </a:lnTo>
                  <a:lnTo>
                    <a:pt x="1543" y="3086"/>
                  </a:lnTo>
                  <a:lnTo>
                    <a:pt x="1601" y="3435"/>
                  </a:lnTo>
                  <a:lnTo>
                    <a:pt x="1657" y="3464"/>
                  </a:lnTo>
                  <a:lnTo>
                    <a:pt x="1657" y="3579"/>
                  </a:lnTo>
                  <a:lnTo>
                    <a:pt x="1716" y="3610"/>
                  </a:lnTo>
                  <a:lnTo>
                    <a:pt x="1745" y="3870"/>
                  </a:lnTo>
                  <a:lnTo>
                    <a:pt x="2097" y="3812"/>
                  </a:lnTo>
                  <a:lnTo>
                    <a:pt x="2387" y="3550"/>
                  </a:lnTo>
                  <a:lnTo>
                    <a:pt x="2445" y="3348"/>
                  </a:lnTo>
                  <a:lnTo>
                    <a:pt x="2562" y="3290"/>
                  </a:lnTo>
                  <a:lnTo>
                    <a:pt x="2593" y="3000"/>
                  </a:lnTo>
                  <a:lnTo>
                    <a:pt x="2880" y="2823"/>
                  </a:lnTo>
                  <a:lnTo>
                    <a:pt x="2880" y="2561"/>
                  </a:lnTo>
                  <a:lnTo>
                    <a:pt x="2792" y="2504"/>
                  </a:lnTo>
                  <a:lnTo>
                    <a:pt x="2792" y="2271"/>
                  </a:lnTo>
                  <a:lnTo>
                    <a:pt x="2911" y="2040"/>
                  </a:lnTo>
                  <a:lnTo>
                    <a:pt x="3203" y="1863"/>
                  </a:lnTo>
                  <a:lnTo>
                    <a:pt x="3434" y="1484"/>
                  </a:lnTo>
                  <a:lnTo>
                    <a:pt x="3434" y="1282"/>
                  </a:lnTo>
                  <a:lnTo>
                    <a:pt x="3317" y="1282"/>
                  </a:lnTo>
                  <a:lnTo>
                    <a:pt x="3259" y="1341"/>
                  </a:lnTo>
                  <a:lnTo>
                    <a:pt x="2996" y="1372"/>
                  </a:lnTo>
                  <a:lnTo>
                    <a:pt x="2853" y="1165"/>
                  </a:lnTo>
                  <a:lnTo>
                    <a:pt x="2677" y="1051"/>
                  </a:lnTo>
                  <a:lnTo>
                    <a:pt x="2677" y="847"/>
                  </a:lnTo>
                  <a:lnTo>
                    <a:pt x="2619" y="701"/>
                  </a:lnTo>
                  <a:lnTo>
                    <a:pt x="2503" y="642"/>
                  </a:lnTo>
                  <a:lnTo>
                    <a:pt x="2445" y="409"/>
                  </a:lnTo>
                  <a:lnTo>
                    <a:pt x="2535" y="438"/>
                  </a:lnTo>
                  <a:lnTo>
                    <a:pt x="2503" y="261"/>
                  </a:lnTo>
                  <a:lnTo>
                    <a:pt x="2357" y="261"/>
                  </a:lnTo>
                  <a:lnTo>
                    <a:pt x="2299" y="321"/>
                  </a:lnTo>
                  <a:lnTo>
                    <a:pt x="1951" y="234"/>
                  </a:lnTo>
                  <a:lnTo>
                    <a:pt x="1862" y="261"/>
                  </a:lnTo>
                  <a:lnTo>
                    <a:pt x="1832" y="379"/>
                  </a:lnTo>
                  <a:lnTo>
                    <a:pt x="1686" y="234"/>
                  </a:lnTo>
                  <a:lnTo>
                    <a:pt x="1485" y="175"/>
                  </a:lnTo>
                  <a:lnTo>
                    <a:pt x="1572" y="29"/>
                  </a:lnTo>
                  <a:lnTo>
                    <a:pt x="1458" y="0"/>
                  </a:lnTo>
                  <a:lnTo>
                    <a:pt x="933" y="0"/>
                  </a:lnTo>
                  <a:lnTo>
                    <a:pt x="902" y="29"/>
                  </a:lnTo>
                  <a:lnTo>
                    <a:pt x="756" y="0"/>
                  </a:lnTo>
                  <a:lnTo>
                    <a:pt x="671" y="29"/>
                  </a:lnTo>
                  <a:lnTo>
                    <a:pt x="671" y="117"/>
                  </a:lnTo>
                  <a:lnTo>
                    <a:pt x="525" y="175"/>
                  </a:lnTo>
                  <a:lnTo>
                    <a:pt x="377" y="438"/>
                  </a:lnTo>
                  <a:lnTo>
                    <a:pt x="205" y="496"/>
                  </a:lnTo>
                  <a:lnTo>
                    <a:pt x="30" y="701"/>
                  </a:lnTo>
                  <a:lnTo>
                    <a:pt x="58" y="934"/>
                  </a:lnTo>
                  <a:lnTo>
                    <a:pt x="0" y="1197"/>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09" name="Freeform 59">
              <a:extLst>
                <a:ext uri="{FF2B5EF4-FFF2-40B4-BE49-F238E27FC236}">
                  <a16:creationId xmlns:a16="http://schemas.microsoft.com/office/drawing/2014/main" id="{F8A94767-3D56-6001-E935-C1F0775D1690}"/>
                </a:ext>
              </a:extLst>
            </p:cNvPr>
            <p:cNvSpPr/>
            <p:nvPr/>
          </p:nvSpPr>
          <p:spPr bwMode="auto">
            <a:xfrm>
              <a:off x="3290" y="3161"/>
              <a:ext cx="165" cy="242"/>
            </a:xfrm>
            <a:custGeom>
              <a:gdLst>
                <a:gd name="T0" fmla="*/ 0 w 496"/>
                <a:gd name="T1" fmla="*/ 0 h 727"/>
                <a:gd name="T2" fmla="*/ 0 w 496"/>
                <a:gd name="T3" fmla="*/ 0 h 727"/>
                <a:gd name="T4" fmla="*/ 0 w 496"/>
                <a:gd name="T5" fmla="*/ 0 h 727"/>
                <a:gd name="T6" fmla="*/ 0 w 496"/>
                <a:gd name="T7" fmla="*/ 0 h 727"/>
                <a:gd name="T8" fmla="*/ 0 w 496"/>
                <a:gd name="T9" fmla="*/ 0 h 727"/>
                <a:gd name="T10" fmla="*/ 0 w 496"/>
                <a:gd name="T11" fmla="*/ 0 h 727"/>
                <a:gd name="T12" fmla="*/ 0 w 496"/>
                <a:gd name="T13" fmla="*/ 0 h 727"/>
                <a:gd name="T14" fmla="*/ 0 w 496"/>
                <a:gd name="T15" fmla="*/ 0 h 727"/>
                <a:gd name="T16" fmla="*/ 0 w 496"/>
                <a:gd name="T17" fmla="*/ 0 h 727"/>
                <a:gd name="T18" fmla="*/ 0 w 496"/>
                <a:gd name="T19" fmla="*/ 0 h 727"/>
                <a:gd name="T20" fmla="*/ 0 w 496"/>
                <a:gd name="T21" fmla="*/ 0 h 727"/>
                <a:gd name="T22" fmla="*/ 0 w 496"/>
                <a:gd name="T23" fmla="*/ 0 h 727"/>
                <a:gd name="T24" fmla="*/ 0 w 496"/>
                <a:gd name="T25" fmla="*/ 0 h 727"/>
                <a:gd name="T26" fmla="*/ 0 w 496"/>
                <a:gd name="T27" fmla="*/ 0 h 727"/>
                <a:gd name="T28" fmla="*/ 0 w 496"/>
                <a:gd name="T29" fmla="*/ 0 h 727"/>
                <a:gd name="T30" fmla="*/ 0 w 496"/>
                <a:gd name="T31" fmla="*/ 0 h 727"/>
                <a:gd name="T32" fmla="*/ 0 w 496"/>
                <a:gd name="T33" fmla="*/ 0 h 7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96" h="727">
                  <a:moveTo>
                    <a:pt x="116" y="202"/>
                  </a:moveTo>
                  <a:lnTo>
                    <a:pt x="89" y="321"/>
                  </a:lnTo>
                  <a:lnTo>
                    <a:pt x="89" y="349"/>
                  </a:lnTo>
                  <a:lnTo>
                    <a:pt x="60" y="494"/>
                  </a:lnTo>
                  <a:lnTo>
                    <a:pt x="0" y="523"/>
                  </a:lnTo>
                  <a:lnTo>
                    <a:pt x="31" y="611"/>
                  </a:lnTo>
                  <a:lnTo>
                    <a:pt x="206" y="727"/>
                  </a:lnTo>
                  <a:lnTo>
                    <a:pt x="292" y="669"/>
                  </a:lnTo>
                  <a:lnTo>
                    <a:pt x="292" y="464"/>
                  </a:lnTo>
                  <a:lnTo>
                    <a:pt x="437" y="289"/>
                  </a:lnTo>
                  <a:lnTo>
                    <a:pt x="437" y="175"/>
                  </a:lnTo>
                  <a:lnTo>
                    <a:pt x="496" y="144"/>
                  </a:lnTo>
                  <a:lnTo>
                    <a:pt x="496" y="0"/>
                  </a:lnTo>
                  <a:lnTo>
                    <a:pt x="410" y="28"/>
                  </a:lnTo>
                  <a:lnTo>
                    <a:pt x="350" y="144"/>
                  </a:lnTo>
                  <a:lnTo>
                    <a:pt x="116" y="202"/>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10" name="Freeform 60">
              <a:extLst>
                <a:ext uri="{FF2B5EF4-FFF2-40B4-BE49-F238E27FC236}">
                  <a16:creationId xmlns:a16="http://schemas.microsoft.com/office/drawing/2014/main" id="{0D0789F3-2DEA-BEA7-986A-0C6B349CB358}"/>
                </a:ext>
              </a:extLst>
            </p:cNvPr>
            <p:cNvSpPr/>
            <p:nvPr/>
          </p:nvSpPr>
          <p:spPr bwMode="auto">
            <a:xfrm>
              <a:off x="3290" y="3161"/>
              <a:ext cx="165" cy="242"/>
            </a:xfrm>
            <a:custGeom>
              <a:gdLst>
                <a:gd name="T0" fmla="*/ 0 w 496"/>
                <a:gd name="T1" fmla="*/ 0 h 727"/>
                <a:gd name="T2" fmla="*/ 0 w 496"/>
                <a:gd name="T3" fmla="*/ 0 h 727"/>
                <a:gd name="T4" fmla="*/ 0 w 496"/>
                <a:gd name="T5" fmla="*/ 0 h 727"/>
                <a:gd name="T6" fmla="*/ 0 w 496"/>
                <a:gd name="T7" fmla="*/ 0 h 727"/>
                <a:gd name="T8" fmla="*/ 0 w 496"/>
                <a:gd name="T9" fmla="*/ 0 h 727"/>
                <a:gd name="T10" fmla="*/ 0 w 496"/>
                <a:gd name="T11" fmla="*/ 0 h 727"/>
                <a:gd name="T12" fmla="*/ 0 w 496"/>
                <a:gd name="T13" fmla="*/ 0 h 727"/>
                <a:gd name="T14" fmla="*/ 0 w 496"/>
                <a:gd name="T15" fmla="*/ 0 h 727"/>
                <a:gd name="T16" fmla="*/ 0 w 496"/>
                <a:gd name="T17" fmla="*/ 0 h 727"/>
                <a:gd name="T18" fmla="*/ 0 w 496"/>
                <a:gd name="T19" fmla="*/ 0 h 727"/>
                <a:gd name="T20" fmla="*/ 0 w 496"/>
                <a:gd name="T21" fmla="*/ 0 h 727"/>
                <a:gd name="T22" fmla="*/ 0 w 496"/>
                <a:gd name="T23" fmla="*/ 0 h 727"/>
                <a:gd name="T24" fmla="*/ 0 w 496"/>
                <a:gd name="T25" fmla="*/ 0 h 727"/>
                <a:gd name="T26" fmla="*/ 0 w 496"/>
                <a:gd name="T27" fmla="*/ 0 h 727"/>
                <a:gd name="T28" fmla="*/ 0 w 496"/>
                <a:gd name="T29" fmla="*/ 0 h 727"/>
                <a:gd name="T30" fmla="*/ 0 w 496"/>
                <a:gd name="T31" fmla="*/ 0 h 727"/>
                <a:gd name="T32" fmla="*/ 0 w 496"/>
                <a:gd name="T33" fmla="*/ 0 h 7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96" h="727">
                  <a:moveTo>
                    <a:pt x="116" y="202"/>
                  </a:moveTo>
                  <a:lnTo>
                    <a:pt x="89" y="321"/>
                  </a:lnTo>
                  <a:lnTo>
                    <a:pt x="89" y="349"/>
                  </a:lnTo>
                  <a:lnTo>
                    <a:pt x="60" y="494"/>
                  </a:lnTo>
                  <a:lnTo>
                    <a:pt x="0" y="523"/>
                  </a:lnTo>
                  <a:lnTo>
                    <a:pt x="31" y="611"/>
                  </a:lnTo>
                  <a:lnTo>
                    <a:pt x="206" y="727"/>
                  </a:lnTo>
                  <a:lnTo>
                    <a:pt x="292" y="669"/>
                  </a:lnTo>
                  <a:lnTo>
                    <a:pt x="292" y="464"/>
                  </a:lnTo>
                  <a:lnTo>
                    <a:pt x="437" y="289"/>
                  </a:lnTo>
                  <a:lnTo>
                    <a:pt x="437" y="175"/>
                  </a:lnTo>
                  <a:lnTo>
                    <a:pt x="496" y="144"/>
                  </a:lnTo>
                  <a:lnTo>
                    <a:pt x="496" y="0"/>
                  </a:lnTo>
                  <a:lnTo>
                    <a:pt x="410" y="28"/>
                  </a:lnTo>
                  <a:lnTo>
                    <a:pt x="350" y="144"/>
                  </a:lnTo>
                  <a:lnTo>
                    <a:pt x="116" y="202"/>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11" name="Freeform 61">
              <a:extLst>
                <a:ext uri="{FF2B5EF4-FFF2-40B4-BE49-F238E27FC236}">
                  <a16:creationId xmlns:a16="http://schemas.microsoft.com/office/drawing/2014/main" id="{0F44B87A-CD3B-8054-2B2A-203C00215DC1}"/>
                </a:ext>
              </a:extLst>
            </p:cNvPr>
            <p:cNvSpPr/>
            <p:nvPr/>
          </p:nvSpPr>
          <p:spPr bwMode="auto">
            <a:xfrm>
              <a:off x="4270" y="3121"/>
              <a:ext cx="612" cy="554"/>
            </a:xfrm>
            <a:custGeom>
              <a:gdLst>
                <a:gd name="T0" fmla="*/ 0 w 1835"/>
                <a:gd name="T1" fmla="*/ 0 h 1660"/>
                <a:gd name="T2" fmla="*/ 0 w 1835"/>
                <a:gd name="T3" fmla="*/ 0 h 1660"/>
                <a:gd name="T4" fmla="*/ 0 w 1835"/>
                <a:gd name="T5" fmla="*/ 0 h 1660"/>
                <a:gd name="T6" fmla="*/ 0 w 1835"/>
                <a:gd name="T7" fmla="*/ 0 h 1660"/>
                <a:gd name="T8" fmla="*/ 0 w 1835"/>
                <a:gd name="T9" fmla="*/ 0 h 1660"/>
                <a:gd name="T10" fmla="*/ 0 w 1835"/>
                <a:gd name="T11" fmla="*/ 1 h 1660"/>
                <a:gd name="T12" fmla="*/ 0 w 1835"/>
                <a:gd name="T13" fmla="*/ 1 h 1660"/>
                <a:gd name="T14" fmla="*/ 0 w 1835"/>
                <a:gd name="T15" fmla="*/ 1 h 1660"/>
                <a:gd name="T16" fmla="*/ 0 w 1835"/>
                <a:gd name="T17" fmla="*/ 1 h 1660"/>
                <a:gd name="T18" fmla="*/ 0 w 1835"/>
                <a:gd name="T19" fmla="*/ 0 h 1660"/>
                <a:gd name="T20" fmla="*/ 0 w 1835"/>
                <a:gd name="T21" fmla="*/ 1 h 1660"/>
                <a:gd name="T22" fmla="*/ 0 w 1835"/>
                <a:gd name="T23" fmla="*/ 0 h 1660"/>
                <a:gd name="T24" fmla="*/ 0 w 1835"/>
                <a:gd name="T25" fmla="*/ 1 h 1660"/>
                <a:gd name="T26" fmla="*/ 0 w 1835"/>
                <a:gd name="T27" fmla="*/ 1 h 1660"/>
                <a:gd name="T28" fmla="*/ 0 w 1835"/>
                <a:gd name="T29" fmla="*/ 1 h 1660"/>
                <a:gd name="T30" fmla="*/ 1 w 1835"/>
                <a:gd name="T31" fmla="*/ 1 h 1660"/>
                <a:gd name="T32" fmla="*/ 0 w 1835"/>
                <a:gd name="T33" fmla="*/ 1 h 1660"/>
                <a:gd name="T34" fmla="*/ 0 w 1835"/>
                <a:gd name="T35" fmla="*/ 1 h 1660"/>
                <a:gd name="T36" fmla="*/ 1 w 1835"/>
                <a:gd name="T37" fmla="*/ 1 h 1660"/>
                <a:gd name="T38" fmla="*/ 1 w 1835"/>
                <a:gd name="T39" fmla="*/ 1 h 1660"/>
                <a:gd name="T40" fmla="*/ 1 w 1835"/>
                <a:gd name="T41" fmla="*/ 1 h 1660"/>
                <a:gd name="T42" fmla="*/ 1 w 1835"/>
                <a:gd name="T43" fmla="*/ 1 h 1660"/>
                <a:gd name="T44" fmla="*/ 1 w 1835"/>
                <a:gd name="T45" fmla="*/ 1 h 1660"/>
                <a:gd name="T46" fmla="*/ 1 w 1835"/>
                <a:gd name="T47" fmla="*/ 1 h 1660"/>
                <a:gd name="T48" fmla="*/ 1 w 1835"/>
                <a:gd name="T49" fmla="*/ 1 h 1660"/>
                <a:gd name="T50" fmla="*/ 1 w 1835"/>
                <a:gd name="T51" fmla="*/ 0 h 1660"/>
                <a:gd name="T52" fmla="*/ 1 w 1835"/>
                <a:gd name="T53" fmla="*/ 0 h 1660"/>
                <a:gd name="T54" fmla="*/ 1 w 1835"/>
                <a:gd name="T55" fmla="*/ 0 h 1660"/>
                <a:gd name="T56" fmla="*/ 1 w 1835"/>
                <a:gd name="T57" fmla="*/ 0 h 1660"/>
                <a:gd name="T58" fmla="*/ 1 w 1835"/>
                <a:gd name="T59" fmla="*/ 0 h 1660"/>
                <a:gd name="T60" fmla="*/ 1 w 1835"/>
                <a:gd name="T61" fmla="*/ 0 h 1660"/>
                <a:gd name="T62" fmla="*/ 1 w 1835"/>
                <a:gd name="T63" fmla="*/ 0 h 1660"/>
                <a:gd name="T64" fmla="*/ 1 w 1835"/>
                <a:gd name="T65" fmla="*/ 0 h 1660"/>
                <a:gd name="T66" fmla="*/ 0 w 1835"/>
                <a:gd name="T67" fmla="*/ 0 h 1660"/>
                <a:gd name="T68" fmla="*/ 0 w 1835"/>
                <a:gd name="T69" fmla="*/ 0 h 1660"/>
                <a:gd name="T70" fmla="*/ 0 w 1835"/>
                <a:gd name="T71" fmla="*/ 0 h 1660"/>
                <a:gd name="T72" fmla="*/ 0 w 1835"/>
                <a:gd name="T73" fmla="*/ 0 h 1660"/>
                <a:gd name="T74" fmla="*/ 0 w 1835"/>
                <a:gd name="T75" fmla="*/ 0 h 1660"/>
                <a:gd name="T76" fmla="*/ 0 w 1835"/>
                <a:gd name="T77" fmla="*/ 0 h 1660"/>
                <a:gd name="T78" fmla="*/ 0 w 1835"/>
                <a:gd name="T79" fmla="*/ 0 h 1660"/>
                <a:gd name="T80" fmla="*/ 0 w 1835"/>
                <a:gd name="T81" fmla="*/ 0 h 1660"/>
                <a:gd name="T82" fmla="*/ 0 w 1835"/>
                <a:gd name="T83" fmla="*/ 0 h 1660"/>
                <a:gd name="T84" fmla="*/ 0 w 1835"/>
                <a:gd name="T85" fmla="*/ 0 h 1660"/>
                <a:gd name="T86" fmla="*/ 0 w 1835"/>
                <a:gd name="T87" fmla="*/ 0 h 1660"/>
                <a:gd name="T88" fmla="*/ 0 w 1835"/>
                <a:gd name="T89" fmla="*/ 0 h 1660"/>
                <a:gd name="T90" fmla="*/ 0 w 1835"/>
                <a:gd name="T91" fmla="*/ 0 h 16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834" h="1660">
                  <a:moveTo>
                    <a:pt x="117" y="381"/>
                  </a:moveTo>
                  <a:lnTo>
                    <a:pt x="90" y="641"/>
                  </a:lnTo>
                  <a:lnTo>
                    <a:pt x="0" y="641"/>
                  </a:lnTo>
                  <a:lnTo>
                    <a:pt x="90" y="932"/>
                  </a:lnTo>
                  <a:lnTo>
                    <a:pt x="29" y="1049"/>
                  </a:lnTo>
                  <a:lnTo>
                    <a:pt x="90" y="1222"/>
                  </a:lnTo>
                  <a:lnTo>
                    <a:pt x="321" y="1105"/>
                  </a:lnTo>
                  <a:lnTo>
                    <a:pt x="376" y="1164"/>
                  </a:lnTo>
                  <a:lnTo>
                    <a:pt x="440" y="1135"/>
                  </a:lnTo>
                  <a:lnTo>
                    <a:pt x="440" y="1078"/>
                  </a:lnTo>
                  <a:lnTo>
                    <a:pt x="587" y="1098"/>
                  </a:lnTo>
                  <a:lnTo>
                    <a:pt x="788" y="1078"/>
                  </a:lnTo>
                  <a:lnTo>
                    <a:pt x="902" y="1135"/>
                  </a:lnTo>
                  <a:lnTo>
                    <a:pt x="909" y="1228"/>
                  </a:lnTo>
                  <a:lnTo>
                    <a:pt x="993" y="1264"/>
                  </a:lnTo>
                  <a:lnTo>
                    <a:pt x="1106" y="1195"/>
                  </a:lnTo>
                  <a:lnTo>
                    <a:pt x="990" y="1339"/>
                  </a:lnTo>
                  <a:lnTo>
                    <a:pt x="1048" y="1368"/>
                  </a:lnTo>
                  <a:lnTo>
                    <a:pt x="1115" y="1345"/>
                  </a:lnTo>
                  <a:lnTo>
                    <a:pt x="1164" y="1368"/>
                  </a:lnTo>
                  <a:lnTo>
                    <a:pt x="1106" y="1427"/>
                  </a:lnTo>
                  <a:lnTo>
                    <a:pt x="1106" y="1542"/>
                  </a:lnTo>
                  <a:lnTo>
                    <a:pt x="1369" y="1660"/>
                  </a:lnTo>
                  <a:lnTo>
                    <a:pt x="1573" y="1601"/>
                  </a:lnTo>
                  <a:lnTo>
                    <a:pt x="1835" y="1164"/>
                  </a:lnTo>
                  <a:lnTo>
                    <a:pt x="1835" y="932"/>
                  </a:lnTo>
                  <a:lnTo>
                    <a:pt x="1628" y="467"/>
                  </a:lnTo>
                  <a:lnTo>
                    <a:pt x="1517" y="118"/>
                  </a:lnTo>
                  <a:lnTo>
                    <a:pt x="1485" y="118"/>
                  </a:lnTo>
                  <a:lnTo>
                    <a:pt x="1517" y="349"/>
                  </a:lnTo>
                  <a:lnTo>
                    <a:pt x="1456" y="495"/>
                  </a:lnTo>
                  <a:lnTo>
                    <a:pt x="1223" y="235"/>
                  </a:lnTo>
                  <a:lnTo>
                    <a:pt x="1223" y="175"/>
                  </a:lnTo>
                  <a:lnTo>
                    <a:pt x="1077" y="0"/>
                  </a:lnTo>
                  <a:lnTo>
                    <a:pt x="1048" y="60"/>
                  </a:lnTo>
                  <a:lnTo>
                    <a:pt x="961" y="60"/>
                  </a:lnTo>
                  <a:lnTo>
                    <a:pt x="902" y="118"/>
                  </a:lnTo>
                  <a:lnTo>
                    <a:pt x="875" y="204"/>
                  </a:lnTo>
                  <a:lnTo>
                    <a:pt x="815" y="175"/>
                  </a:lnTo>
                  <a:lnTo>
                    <a:pt x="788" y="89"/>
                  </a:lnTo>
                  <a:lnTo>
                    <a:pt x="613" y="262"/>
                  </a:lnTo>
                  <a:lnTo>
                    <a:pt x="523" y="235"/>
                  </a:lnTo>
                  <a:lnTo>
                    <a:pt x="467" y="381"/>
                  </a:lnTo>
                  <a:lnTo>
                    <a:pt x="293" y="439"/>
                  </a:lnTo>
                  <a:lnTo>
                    <a:pt x="117" y="38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12" name="Freeform 62">
              <a:extLst>
                <a:ext uri="{FF2B5EF4-FFF2-40B4-BE49-F238E27FC236}">
                  <a16:creationId xmlns:a16="http://schemas.microsoft.com/office/drawing/2014/main" id="{C0972DF0-0411-372C-4A2B-0AD633CF5C55}"/>
                </a:ext>
              </a:extLst>
            </p:cNvPr>
            <p:cNvSpPr/>
            <p:nvPr/>
          </p:nvSpPr>
          <p:spPr bwMode="auto">
            <a:xfrm>
              <a:off x="4270" y="3121"/>
              <a:ext cx="612" cy="554"/>
            </a:xfrm>
            <a:custGeom>
              <a:gdLst>
                <a:gd name="T0" fmla="*/ 0 w 1835"/>
                <a:gd name="T1" fmla="*/ 0 h 1660"/>
                <a:gd name="T2" fmla="*/ 0 w 1835"/>
                <a:gd name="T3" fmla="*/ 0 h 1660"/>
                <a:gd name="T4" fmla="*/ 0 w 1835"/>
                <a:gd name="T5" fmla="*/ 0 h 1660"/>
                <a:gd name="T6" fmla="*/ 0 w 1835"/>
                <a:gd name="T7" fmla="*/ 0 h 1660"/>
                <a:gd name="T8" fmla="*/ 0 w 1835"/>
                <a:gd name="T9" fmla="*/ 0 h 1660"/>
                <a:gd name="T10" fmla="*/ 0 w 1835"/>
                <a:gd name="T11" fmla="*/ 1 h 1660"/>
                <a:gd name="T12" fmla="*/ 0 w 1835"/>
                <a:gd name="T13" fmla="*/ 1 h 1660"/>
                <a:gd name="T14" fmla="*/ 0 w 1835"/>
                <a:gd name="T15" fmla="*/ 1 h 1660"/>
                <a:gd name="T16" fmla="*/ 0 w 1835"/>
                <a:gd name="T17" fmla="*/ 1 h 1660"/>
                <a:gd name="T18" fmla="*/ 0 w 1835"/>
                <a:gd name="T19" fmla="*/ 0 h 1660"/>
                <a:gd name="T20" fmla="*/ 0 w 1835"/>
                <a:gd name="T21" fmla="*/ 1 h 1660"/>
                <a:gd name="T22" fmla="*/ 0 w 1835"/>
                <a:gd name="T23" fmla="*/ 0 h 1660"/>
                <a:gd name="T24" fmla="*/ 0 w 1835"/>
                <a:gd name="T25" fmla="*/ 1 h 1660"/>
                <a:gd name="T26" fmla="*/ 0 w 1835"/>
                <a:gd name="T27" fmla="*/ 1 h 1660"/>
                <a:gd name="T28" fmla="*/ 0 w 1835"/>
                <a:gd name="T29" fmla="*/ 1 h 1660"/>
                <a:gd name="T30" fmla="*/ 1 w 1835"/>
                <a:gd name="T31" fmla="*/ 1 h 1660"/>
                <a:gd name="T32" fmla="*/ 0 w 1835"/>
                <a:gd name="T33" fmla="*/ 1 h 1660"/>
                <a:gd name="T34" fmla="*/ 0 w 1835"/>
                <a:gd name="T35" fmla="*/ 1 h 1660"/>
                <a:gd name="T36" fmla="*/ 1 w 1835"/>
                <a:gd name="T37" fmla="*/ 1 h 1660"/>
                <a:gd name="T38" fmla="*/ 1 w 1835"/>
                <a:gd name="T39" fmla="*/ 1 h 1660"/>
                <a:gd name="T40" fmla="*/ 1 w 1835"/>
                <a:gd name="T41" fmla="*/ 1 h 1660"/>
                <a:gd name="T42" fmla="*/ 1 w 1835"/>
                <a:gd name="T43" fmla="*/ 1 h 1660"/>
                <a:gd name="T44" fmla="*/ 1 w 1835"/>
                <a:gd name="T45" fmla="*/ 1 h 1660"/>
                <a:gd name="T46" fmla="*/ 1 w 1835"/>
                <a:gd name="T47" fmla="*/ 1 h 1660"/>
                <a:gd name="T48" fmla="*/ 1 w 1835"/>
                <a:gd name="T49" fmla="*/ 1 h 1660"/>
                <a:gd name="T50" fmla="*/ 1 w 1835"/>
                <a:gd name="T51" fmla="*/ 0 h 1660"/>
                <a:gd name="T52" fmla="*/ 1 w 1835"/>
                <a:gd name="T53" fmla="*/ 0 h 1660"/>
                <a:gd name="T54" fmla="*/ 1 w 1835"/>
                <a:gd name="T55" fmla="*/ 0 h 1660"/>
                <a:gd name="T56" fmla="*/ 1 w 1835"/>
                <a:gd name="T57" fmla="*/ 0 h 1660"/>
                <a:gd name="T58" fmla="*/ 1 w 1835"/>
                <a:gd name="T59" fmla="*/ 0 h 1660"/>
                <a:gd name="T60" fmla="*/ 1 w 1835"/>
                <a:gd name="T61" fmla="*/ 0 h 1660"/>
                <a:gd name="T62" fmla="*/ 1 w 1835"/>
                <a:gd name="T63" fmla="*/ 0 h 1660"/>
                <a:gd name="T64" fmla="*/ 1 w 1835"/>
                <a:gd name="T65" fmla="*/ 0 h 1660"/>
                <a:gd name="T66" fmla="*/ 0 w 1835"/>
                <a:gd name="T67" fmla="*/ 0 h 1660"/>
                <a:gd name="T68" fmla="*/ 0 w 1835"/>
                <a:gd name="T69" fmla="*/ 0 h 1660"/>
                <a:gd name="T70" fmla="*/ 0 w 1835"/>
                <a:gd name="T71" fmla="*/ 0 h 1660"/>
                <a:gd name="T72" fmla="*/ 0 w 1835"/>
                <a:gd name="T73" fmla="*/ 0 h 1660"/>
                <a:gd name="T74" fmla="*/ 0 w 1835"/>
                <a:gd name="T75" fmla="*/ 0 h 1660"/>
                <a:gd name="T76" fmla="*/ 0 w 1835"/>
                <a:gd name="T77" fmla="*/ 0 h 1660"/>
                <a:gd name="T78" fmla="*/ 0 w 1835"/>
                <a:gd name="T79" fmla="*/ 0 h 1660"/>
                <a:gd name="T80" fmla="*/ 0 w 1835"/>
                <a:gd name="T81" fmla="*/ 0 h 1660"/>
                <a:gd name="T82" fmla="*/ 0 w 1835"/>
                <a:gd name="T83" fmla="*/ 0 h 1660"/>
                <a:gd name="T84" fmla="*/ 0 w 1835"/>
                <a:gd name="T85" fmla="*/ 0 h 1660"/>
                <a:gd name="T86" fmla="*/ 0 w 1835"/>
                <a:gd name="T87" fmla="*/ 0 h 1660"/>
                <a:gd name="T88" fmla="*/ 0 w 1835"/>
                <a:gd name="T89" fmla="*/ 0 h 1660"/>
                <a:gd name="T90" fmla="*/ 0 w 1835"/>
                <a:gd name="T91" fmla="*/ 0 h 16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834" h="1660">
                  <a:moveTo>
                    <a:pt x="117" y="381"/>
                  </a:moveTo>
                  <a:lnTo>
                    <a:pt x="90" y="641"/>
                  </a:lnTo>
                  <a:lnTo>
                    <a:pt x="0" y="641"/>
                  </a:lnTo>
                  <a:lnTo>
                    <a:pt x="90" y="932"/>
                  </a:lnTo>
                  <a:lnTo>
                    <a:pt x="29" y="1049"/>
                  </a:lnTo>
                  <a:lnTo>
                    <a:pt x="90" y="1222"/>
                  </a:lnTo>
                  <a:lnTo>
                    <a:pt x="321" y="1105"/>
                  </a:lnTo>
                  <a:lnTo>
                    <a:pt x="376" y="1164"/>
                  </a:lnTo>
                  <a:lnTo>
                    <a:pt x="440" y="1135"/>
                  </a:lnTo>
                  <a:lnTo>
                    <a:pt x="440" y="1078"/>
                  </a:lnTo>
                  <a:lnTo>
                    <a:pt x="587" y="1098"/>
                  </a:lnTo>
                  <a:lnTo>
                    <a:pt x="788" y="1078"/>
                  </a:lnTo>
                  <a:lnTo>
                    <a:pt x="902" y="1135"/>
                  </a:lnTo>
                  <a:lnTo>
                    <a:pt x="909" y="1228"/>
                  </a:lnTo>
                  <a:lnTo>
                    <a:pt x="993" y="1264"/>
                  </a:lnTo>
                  <a:lnTo>
                    <a:pt x="1106" y="1195"/>
                  </a:lnTo>
                  <a:lnTo>
                    <a:pt x="990" y="1339"/>
                  </a:lnTo>
                  <a:lnTo>
                    <a:pt x="1048" y="1368"/>
                  </a:lnTo>
                  <a:lnTo>
                    <a:pt x="1115" y="1345"/>
                  </a:lnTo>
                  <a:lnTo>
                    <a:pt x="1164" y="1368"/>
                  </a:lnTo>
                  <a:lnTo>
                    <a:pt x="1106" y="1427"/>
                  </a:lnTo>
                  <a:lnTo>
                    <a:pt x="1106" y="1542"/>
                  </a:lnTo>
                  <a:lnTo>
                    <a:pt x="1369" y="1660"/>
                  </a:lnTo>
                  <a:lnTo>
                    <a:pt x="1573" y="1601"/>
                  </a:lnTo>
                  <a:lnTo>
                    <a:pt x="1835" y="1164"/>
                  </a:lnTo>
                  <a:lnTo>
                    <a:pt x="1835" y="932"/>
                  </a:lnTo>
                  <a:lnTo>
                    <a:pt x="1628" y="467"/>
                  </a:lnTo>
                  <a:lnTo>
                    <a:pt x="1517" y="118"/>
                  </a:lnTo>
                  <a:lnTo>
                    <a:pt x="1485" y="118"/>
                  </a:lnTo>
                  <a:lnTo>
                    <a:pt x="1517" y="349"/>
                  </a:lnTo>
                  <a:lnTo>
                    <a:pt x="1456" y="495"/>
                  </a:lnTo>
                  <a:lnTo>
                    <a:pt x="1223" y="235"/>
                  </a:lnTo>
                  <a:lnTo>
                    <a:pt x="1223" y="175"/>
                  </a:lnTo>
                  <a:lnTo>
                    <a:pt x="1077" y="0"/>
                  </a:lnTo>
                  <a:lnTo>
                    <a:pt x="1048" y="60"/>
                  </a:lnTo>
                  <a:lnTo>
                    <a:pt x="961" y="60"/>
                  </a:lnTo>
                  <a:lnTo>
                    <a:pt x="902" y="118"/>
                  </a:lnTo>
                  <a:lnTo>
                    <a:pt x="875" y="204"/>
                  </a:lnTo>
                  <a:lnTo>
                    <a:pt x="815" y="175"/>
                  </a:lnTo>
                  <a:lnTo>
                    <a:pt x="788" y="89"/>
                  </a:lnTo>
                  <a:lnTo>
                    <a:pt x="613" y="262"/>
                  </a:lnTo>
                  <a:lnTo>
                    <a:pt x="523" y="235"/>
                  </a:lnTo>
                  <a:lnTo>
                    <a:pt x="467" y="381"/>
                  </a:lnTo>
                  <a:lnTo>
                    <a:pt x="293" y="439"/>
                  </a:lnTo>
                  <a:lnTo>
                    <a:pt x="117" y="38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13" name="Freeform 63">
              <a:extLst>
                <a:ext uri="{FF2B5EF4-FFF2-40B4-BE49-F238E27FC236}">
                  <a16:creationId xmlns:a16="http://schemas.microsoft.com/office/drawing/2014/main" id="{E425DF5D-FCC0-A237-AF64-FCCCD89FF974}"/>
                </a:ext>
              </a:extLst>
            </p:cNvPr>
            <p:cNvSpPr/>
            <p:nvPr/>
          </p:nvSpPr>
          <p:spPr bwMode="auto">
            <a:xfrm>
              <a:off x="4693" y="3707"/>
              <a:ext cx="79" cy="101"/>
            </a:xfrm>
            <a:custGeom>
              <a:gdLst>
                <a:gd name="T0" fmla="*/ 0 w 237"/>
                <a:gd name="T1" fmla="*/ 0 h 301"/>
                <a:gd name="T2" fmla="*/ 0 w 237"/>
                <a:gd name="T3" fmla="*/ 0 h 301"/>
                <a:gd name="T4" fmla="*/ 0 w 237"/>
                <a:gd name="T5" fmla="*/ 0 h 301"/>
                <a:gd name="T6" fmla="*/ 0 w 237"/>
                <a:gd name="T7" fmla="*/ 0 h 301"/>
                <a:gd name="T8" fmla="*/ 0 w 237"/>
                <a:gd name="T9" fmla="*/ 0 h 301"/>
                <a:gd name="T10" fmla="*/ 0 w 237"/>
                <a:gd name="T11" fmla="*/ 0 h 301"/>
                <a:gd name="T12" fmla="*/ 0 w 237"/>
                <a:gd name="T13" fmla="*/ 0 h 301"/>
                <a:gd name="T14" fmla="*/ 0 w 237"/>
                <a:gd name="T15" fmla="*/ 0 h 301"/>
                <a:gd name="T16" fmla="*/ 0 w 237"/>
                <a:gd name="T17" fmla="*/ 0 h 301"/>
                <a:gd name="T18" fmla="*/ 0 w 237"/>
                <a:gd name="T19" fmla="*/ 0 h 301"/>
                <a:gd name="T20" fmla="*/ 0 w 237"/>
                <a:gd name="T21" fmla="*/ 0 h 301"/>
                <a:gd name="T22" fmla="*/ 0 w 237"/>
                <a:gd name="T23" fmla="*/ 0 h 301"/>
                <a:gd name="T24" fmla="*/ 0 w 237"/>
                <a:gd name="T25" fmla="*/ 0 h 3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6" h="301">
                  <a:moveTo>
                    <a:pt x="113" y="41"/>
                  </a:moveTo>
                  <a:lnTo>
                    <a:pt x="72" y="39"/>
                  </a:lnTo>
                  <a:lnTo>
                    <a:pt x="14" y="6"/>
                  </a:lnTo>
                  <a:lnTo>
                    <a:pt x="0" y="64"/>
                  </a:lnTo>
                  <a:lnTo>
                    <a:pt x="56" y="144"/>
                  </a:lnTo>
                  <a:lnTo>
                    <a:pt x="67" y="253"/>
                  </a:lnTo>
                  <a:lnTo>
                    <a:pt x="84" y="301"/>
                  </a:lnTo>
                  <a:lnTo>
                    <a:pt x="185" y="268"/>
                  </a:lnTo>
                  <a:lnTo>
                    <a:pt x="192" y="187"/>
                  </a:lnTo>
                  <a:lnTo>
                    <a:pt x="237" y="48"/>
                  </a:lnTo>
                  <a:lnTo>
                    <a:pt x="205" y="0"/>
                  </a:lnTo>
                  <a:lnTo>
                    <a:pt x="113" y="4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14" name="Freeform 64">
              <a:extLst>
                <a:ext uri="{FF2B5EF4-FFF2-40B4-BE49-F238E27FC236}">
                  <a16:creationId xmlns:a16="http://schemas.microsoft.com/office/drawing/2014/main" id="{33005AF6-FC6B-E566-695E-E65609528C05}"/>
                </a:ext>
              </a:extLst>
            </p:cNvPr>
            <p:cNvSpPr/>
            <p:nvPr/>
          </p:nvSpPr>
          <p:spPr bwMode="auto">
            <a:xfrm>
              <a:off x="4693" y="3707"/>
              <a:ext cx="79" cy="101"/>
            </a:xfrm>
            <a:custGeom>
              <a:gdLst>
                <a:gd name="T0" fmla="*/ 0 w 237"/>
                <a:gd name="T1" fmla="*/ 0 h 301"/>
                <a:gd name="T2" fmla="*/ 0 w 237"/>
                <a:gd name="T3" fmla="*/ 0 h 301"/>
                <a:gd name="T4" fmla="*/ 0 w 237"/>
                <a:gd name="T5" fmla="*/ 0 h 301"/>
                <a:gd name="T6" fmla="*/ 0 w 237"/>
                <a:gd name="T7" fmla="*/ 0 h 301"/>
                <a:gd name="T8" fmla="*/ 0 w 237"/>
                <a:gd name="T9" fmla="*/ 0 h 301"/>
                <a:gd name="T10" fmla="*/ 0 w 237"/>
                <a:gd name="T11" fmla="*/ 0 h 301"/>
                <a:gd name="T12" fmla="*/ 0 w 237"/>
                <a:gd name="T13" fmla="*/ 0 h 301"/>
                <a:gd name="T14" fmla="*/ 0 w 237"/>
                <a:gd name="T15" fmla="*/ 0 h 301"/>
                <a:gd name="T16" fmla="*/ 0 w 237"/>
                <a:gd name="T17" fmla="*/ 0 h 301"/>
                <a:gd name="T18" fmla="*/ 0 w 237"/>
                <a:gd name="T19" fmla="*/ 0 h 301"/>
                <a:gd name="T20" fmla="*/ 0 w 237"/>
                <a:gd name="T21" fmla="*/ 0 h 301"/>
                <a:gd name="T22" fmla="*/ 0 w 237"/>
                <a:gd name="T23" fmla="*/ 0 h 301"/>
                <a:gd name="T24" fmla="*/ 0 w 237"/>
                <a:gd name="T25" fmla="*/ 0 h 3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6" h="301">
                  <a:moveTo>
                    <a:pt x="113" y="41"/>
                  </a:moveTo>
                  <a:lnTo>
                    <a:pt x="72" y="39"/>
                  </a:lnTo>
                  <a:lnTo>
                    <a:pt x="14" y="6"/>
                  </a:lnTo>
                  <a:lnTo>
                    <a:pt x="0" y="64"/>
                  </a:lnTo>
                  <a:lnTo>
                    <a:pt x="56" y="144"/>
                  </a:lnTo>
                  <a:lnTo>
                    <a:pt x="67" y="253"/>
                  </a:lnTo>
                  <a:lnTo>
                    <a:pt x="84" y="301"/>
                  </a:lnTo>
                  <a:lnTo>
                    <a:pt x="185" y="268"/>
                  </a:lnTo>
                  <a:lnTo>
                    <a:pt x="192" y="187"/>
                  </a:lnTo>
                  <a:lnTo>
                    <a:pt x="237" y="48"/>
                  </a:lnTo>
                  <a:lnTo>
                    <a:pt x="205" y="0"/>
                  </a:lnTo>
                  <a:lnTo>
                    <a:pt x="113" y="4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15" name="Freeform 65">
              <a:extLst>
                <a:ext uri="{FF2B5EF4-FFF2-40B4-BE49-F238E27FC236}">
                  <a16:creationId xmlns:a16="http://schemas.microsoft.com/office/drawing/2014/main" id="{B2AC3D44-251F-7D2F-71C5-3BE45E0A2396}"/>
                </a:ext>
              </a:extLst>
            </p:cNvPr>
            <p:cNvSpPr/>
            <p:nvPr/>
          </p:nvSpPr>
          <p:spPr bwMode="auto">
            <a:xfrm>
              <a:off x="3870" y="2746"/>
              <a:ext cx="38" cy="54"/>
            </a:xfrm>
            <a:custGeom>
              <a:gdLst>
                <a:gd name="T0" fmla="*/ 0 w 115"/>
                <a:gd name="T1" fmla="*/ 0 h 162"/>
                <a:gd name="T2" fmla="*/ 0 w 115"/>
                <a:gd name="T3" fmla="*/ 0 h 162"/>
                <a:gd name="T4" fmla="*/ 0 w 115"/>
                <a:gd name="T5" fmla="*/ 0 h 162"/>
                <a:gd name="T6" fmla="*/ 0 w 115"/>
                <a:gd name="T7" fmla="*/ 0 h 162"/>
                <a:gd name="T8" fmla="*/ 0 w 115"/>
                <a:gd name="T9" fmla="*/ 0 h 162"/>
                <a:gd name="T10" fmla="*/ 0 w 115"/>
                <a:gd name="T11" fmla="*/ 0 h 162"/>
                <a:gd name="T12" fmla="*/ 0 w 115"/>
                <a:gd name="T13" fmla="*/ 0 h 162"/>
                <a:gd name="T14" fmla="*/ 0 w 115"/>
                <a:gd name="T15" fmla="*/ 0 h 162"/>
                <a:gd name="T16" fmla="*/ 0 w 115"/>
                <a:gd name="T17" fmla="*/ 0 h 1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 h="162">
                  <a:moveTo>
                    <a:pt x="35" y="0"/>
                  </a:moveTo>
                  <a:lnTo>
                    <a:pt x="0" y="55"/>
                  </a:lnTo>
                  <a:lnTo>
                    <a:pt x="10" y="154"/>
                  </a:lnTo>
                  <a:lnTo>
                    <a:pt x="72" y="162"/>
                  </a:lnTo>
                  <a:lnTo>
                    <a:pt x="115" y="100"/>
                  </a:lnTo>
                  <a:lnTo>
                    <a:pt x="72" y="81"/>
                  </a:lnTo>
                  <a:lnTo>
                    <a:pt x="75" y="35"/>
                  </a:lnTo>
                  <a:lnTo>
                    <a:pt x="35"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16" name="Freeform 66">
              <a:extLst>
                <a:ext uri="{FF2B5EF4-FFF2-40B4-BE49-F238E27FC236}">
                  <a16:creationId xmlns:a16="http://schemas.microsoft.com/office/drawing/2014/main" id="{EC6E8BCB-F761-105E-79A1-E7AD6A4BAFD9}"/>
                </a:ext>
              </a:extLst>
            </p:cNvPr>
            <p:cNvSpPr/>
            <p:nvPr/>
          </p:nvSpPr>
          <p:spPr bwMode="auto">
            <a:xfrm>
              <a:off x="3870" y="2746"/>
              <a:ext cx="38" cy="54"/>
            </a:xfrm>
            <a:custGeom>
              <a:gdLst>
                <a:gd name="T0" fmla="*/ 0 w 115"/>
                <a:gd name="T1" fmla="*/ 0 h 162"/>
                <a:gd name="T2" fmla="*/ 0 w 115"/>
                <a:gd name="T3" fmla="*/ 0 h 162"/>
                <a:gd name="T4" fmla="*/ 0 w 115"/>
                <a:gd name="T5" fmla="*/ 0 h 162"/>
                <a:gd name="T6" fmla="*/ 0 w 115"/>
                <a:gd name="T7" fmla="*/ 0 h 162"/>
                <a:gd name="T8" fmla="*/ 0 w 115"/>
                <a:gd name="T9" fmla="*/ 0 h 162"/>
                <a:gd name="T10" fmla="*/ 0 w 115"/>
                <a:gd name="T11" fmla="*/ 0 h 162"/>
                <a:gd name="T12" fmla="*/ 0 w 115"/>
                <a:gd name="T13" fmla="*/ 0 h 162"/>
                <a:gd name="T14" fmla="*/ 0 w 115"/>
                <a:gd name="T15" fmla="*/ 0 h 162"/>
                <a:gd name="T16" fmla="*/ 0 w 115"/>
                <a:gd name="T17" fmla="*/ 0 h 1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 h="162">
                  <a:moveTo>
                    <a:pt x="35" y="0"/>
                  </a:moveTo>
                  <a:lnTo>
                    <a:pt x="0" y="55"/>
                  </a:lnTo>
                  <a:lnTo>
                    <a:pt x="10" y="154"/>
                  </a:lnTo>
                  <a:lnTo>
                    <a:pt x="72" y="162"/>
                  </a:lnTo>
                  <a:lnTo>
                    <a:pt x="115" y="100"/>
                  </a:lnTo>
                  <a:lnTo>
                    <a:pt x="72" y="81"/>
                  </a:lnTo>
                  <a:lnTo>
                    <a:pt x="75" y="35"/>
                  </a:lnTo>
                  <a:lnTo>
                    <a:pt x="35"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17" name="Freeform 67">
              <a:extLst>
                <a:ext uri="{FF2B5EF4-FFF2-40B4-BE49-F238E27FC236}">
                  <a16:creationId xmlns:a16="http://schemas.microsoft.com/office/drawing/2014/main" id="{D7456E58-6519-7CF6-F8AE-32D7BF25C661}"/>
                </a:ext>
              </a:extLst>
            </p:cNvPr>
            <p:cNvSpPr/>
            <p:nvPr/>
          </p:nvSpPr>
          <p:spPr bwMode="auto">
            <a:xfrm>
              <a:off x="3014" y="2294"/>
              <a:ext cx="48" cy="24"/>
            </a:xfrm>
            <a:custGeom>
              <a:gdLst>
                <a:gd name="T0" fmla="*/ 0 w 143"/>
                <a:gd name="T1" fmla="*/ 0 h 71"/>
                <a:gd name="T2" fmla="*/ 0 w 143"/>
                <a:gd name="T3" fmla="*/ 0 h 71"/>
                <a:gd name="T4" fmla="*/ 0 w 143"/>
                <a:gd name="T5" fmla="*/ 0 h 71"/>
                <a:gd name="T6" fmla="*/ 0 w 143"/>
                <a:gd name="T7" fmla="*/ 0 h 71"/>
                <a:gd name="T8" fmla="*/ 0 w 143"/>
                <a:gd name="T9" fmla="*/ 0 h 71"/>
                <a:gd name="T10" fmla="*/ 0 w 143"/>
                <a:gd name="T11" fmla="*/ 0 h 71"/>
                <a:gd name="T12" fmla="*/ 0 w 143"/>
                <a:gd name="T13" fmla="*/ 0 h 71"/>
                <a:gd name="T14" fmla="*/ 0 w 143"/>
                <a:gd name="T15" fmla="*/ 0 h 71"/>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3" h="71">
                  <a:moveTo>
                    <a:pt x="57" y="0"/>
                  </a:moveTo>
                  <a:lnTo>
                    <a:pt x="0" y="32"/>
                  </a:lnTo>
                  <a:lnTo>
                    <a:pt x="22" y="71"/>
                  </a:lnTo>
                  <a:lnTo>
                    <a:pt x="100" y="57"/>
                  </a:lnTo>
                  <a:lnTo>
                    <a:pt x="143" y="57"/>
                  </a:lnTo>
                  <a:lnTo>
                    <a:pt x="143" y="26"/>
                  </a:lnTo>
                  <a:lnTo>
                    <a:pt x="57"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18" name="Freeform 68">
              <a:extLst>
                <a:ext uri="{FF2B5EF4-FFF2-40B4-BE49-F238E27FC236}">
                  <a16:creationId xmlns:a16="http://schemas.microsoft.com/office/drawing/2014/main" id="{1665FBED-C08F-D757-D10D-8AA56066F3F0}"/>
                </a:ext>
              </a:extLst>
            </p:cNvPr>
            <p:cNvSpPr/>
            <p:nvPr/>
          </p:nvSpPr>
          <p:spPr bwMode="auto">
            <a:xfrm>
              <a:off x="3014" y="2294"/>
              <a:ext cx="48" cy="24"/>
            </a:xfrm>
            <a:custGeom>
              <a:gdLst>
                <a:gd name="T0" fmla="*/ 0 w 143"/>
                <a:gd name="T1" fmla="*/ 0 h 71"/>
                <a:gd name="T2" fmla="*/ 0 w 143"/>
                <a:gd name="T3" fmla="*/ 0 h 71"/>
                <a:gd name="T4" fmla="*/ 0 w 143"/>
                <a:gd name="T5" fmla="*/ 0 h 71"/>
                <a:gd name="T6" fmla="*/ 0 w 143"/>
                <a:gd name="T7" fmla="*/ 0 h 71"/>
                <a:gd name="T8" fmla="*/ 0 w 143"/>
                <a:gd name="T9" fmla="*/ 0 h 71"/>
                <a:gd name="T10" fmla="*/ 0 w 143"/>
                <a:gd name="T11" fmla="*/ 0 h 71"/>
                <a:gd name="T12" fmla="*/ 0 w 143"/>
                <a:gd name="T13" fmla="*/ 0 h 71"/>
                <a:gd name="T14" fmla="*/ 0 w 143"/>
                <a:gd name="T15" fmla="*/ 0 h 71"/>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3" h="71">
                  <a:moveTo>
                    <a:pt x="57" y="0"/>
                  </a:moveTo>
                  <a:lnTo>
                    <a:pt x="0" y="32"/>
                  </a:lnTo>
                  <a:lnTo>
                    <a:pt x="22" y="71"/>
                  </a:lnTo>
                  <a:lnTo>
                    <a:pt x="100" y="57"/>
                  </a:lnTo>
                  <a:lnTo>
                    <a:pt x="143" y="57"/>
                  </a:lnTo>
                  <a:lnTo>
                    <a:pt x="143" y="26"/>
                  </a:lnTo>
                  <a:lnTo>
                    <a:pt x="57"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19" name="Freeform 69">
              <a:extLst>
                <a:ext uri="{FF2B5EF4-FFF2-40B4-BE49-F238E27FC236}">
                  <a16:creationId xmlns:a16="http://schemas.microsoft.com/office/drawing/2014/main" id="{7F1AB956-E1E4-B724-4C32-BBFE3A9B9FD2}"/>
                </a:ext>
              </a:extLst>
            </p:cNvPr>
            <p:cNvSpPr/>
            <p:nvPr/>
          </p:nvSpPr>
          <p:spPr bwMode="auto">
            <a:xfrm>
              <a:off x="4096" y="2835"/>
              <a:ext cx="146" cy="170"/>
            </a:xfrm>
            <a:custGeom>
              <a:gdLst>
                <a:gd name="T0" fmla="*/ 0 w 436"/>
                <a:gd name="T1" fmla="*/ 0 h 512"/>
                <a:gd name="T2" fmla="*/ 0 w 436"/>
                <a:gd name="T3" fmla="*/ 0 h 512"/>
                <a:gd name="T4" fmla="*/ 0 w 436"/>
                <a:gd name="T5" fmla="*/ 0 h 512"/>
                <a:gd name="T6" fmla="*/ 0 w 436"/>
                <a:gd name="T7" fmla="*/ 0 h 512"/>
                <a:gd name="T8" fmla="*/ 0 w 436"/>
                <a:gd name="T9" fmla="*/ 0 h 512"/>
                <a:gd name="T10" fmla="*/ 0 w 436"/>
                <a:gd name="T11" fmla="*/ 0 h 512"/>
                <a:gd name="T12" fmla="*/ 0 w 436"/>
                <a:gd name="T13" fmla="*/ 0 h 512"/>
                <a:gd name="T14" fmla="*/ 0 w 436"/>
                <a:gd name="T15" fmla="*/ 0 h 512"/>
                <a:gd name="T16" fmla="*/ 0 w 436"/>
                <a:gd name="T17" fmla="*/ 0 h 512"/>
                <a:gd name="T18" fmla="*/ 0 w 436"/>
                <a:gd name="T19" fmla="*/ 0 h 512"/>
                <a:gd name="T20" fmla="*/ 0 w 436"/>
                <a:gd name="T21" fmla="*/ 0 h 5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36" h="512">
                  <a:moveTo>
                    <a:pt x="0" y="19"/>
                  </a:moveTo>
                  <a:lnTo>
                    <a:pt x="174" y="250"/>
                  </a:lnTo>
                  <a:lnTo>
                    <a:pt x="174" y="339"/>
                  </a:lnTo>
                  <a:lnTo>
                    <a:pt x="405" y="512"/>
                  </a:lnTo>
                  <a:lnTo>
                    <a:pt x="436" y="512"/>
                  </a:lnTo>
                  <a:lnTo>
                    <a:pt x="376" y="339"/>
                  </a:lnTo>
                  <a:lnTo>
                    <a:pt x="174" y="135"/>
                  </a:lnTo>
                  <a:lnTo>
                    <a:pt x="174" y="106"/>
                  </a:lnTo>
                  <a:lnTo>
                    <a:pt x="65" y="0"/>
                  </a:lnTo>
                  <a:lnTo>
                    <a:pt x="0" y="19"/>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20" name="Freeform 70">
              <a:extLst>
                <a:ext uri="{FF2B5EF4-FFF2-40B4-BE49-F238E27FC236}">
                  <a16:creationId xmlns:a16="http://schemas.microsoft.com/office/drawing/2014/main" id="{B7E971BE-A799-14C3-0F7C-B73E65ABB02E}"/>
                </a:ext>
              </a:extLst>
            </p:cNvPr>
            <p:cNvSpPr/>
            <p:nvPr/>
          </p:nvSpPr>
          <p:spPr bwMode="auto">
            <a:xfrm>
              <a:off x="4096" y="2835"/>
              <a:ext cx="146" cy="170"/>
            </a:xfrm>
            <a:custGeom>
              <a:gdLst>
                <a:gd name="T0" fmla="*/ 0 w 436"/>
                <a:gd name="T1" fmla="*/ 0 h 512"/>
                <a:gd name="T2" fmla="*/ 0 w 436"/>
                <a:gd name="T3" fmla="*/ 0 h 512"/>
                <a:gd name="T4" fmla="*/ 0 w 436"/>
                <a:gd name="T5" fmla="*/ 0 h 512"/>
                <a:gd name="T6" fmla="*/ 0 w 436"/>
                <a:gd name="T7" fmla="*/ 0 h 512"/>
                <a:gd name="T8" fmla="*/ 0 w 436"/>
                <a:gd name="T9" fmla="*/ 0 h 512"/>
                <a:gd name="T10" fmla="*/ 0 w 436"/>
                <a:gd name="T11" fmla="*/ 0 h 512"/>
                <a:gd name="T12" fmla="*/ 0 w 436"/>
                <a:gd name="T13" fmla="*/ 0 h 512"/>
                <a:gd name="T14" fmla="*/ 0 w 436"/>
                <a:gd name="T15" fmla="*/ 0 h 512"/>
                <a:gd name="T16" fmla="*/ 0 w 436"/>
                <a:gd name="T17" fmla="*/ 0 h 512"/>
                <a:gd name="T18" fmla="*/ 0 w 436"/>
                <a:gd name="T19" fmla="*/ 0 h 512"/>
                <a:gd name="T20" fmla="*/ 0 w 436"/>
                <a:gd name="T21" fmla="*/ 0 h 5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36" h="512">
                  <a:moveTo>
                    <a:pt x="0" y="19"/>
                  </a:moveTo>
                  <a:lnTo>
                    <a:pt x="174" y="250"/>
                  </a:lnTo>
                  <a:lnTo>
                    <a:pt x="174" y="339"/>
                  </a:lnTo>
                  <a:lnTo>
                    <a:pt x="405" y="512"/>
                  </a:lnTo>
                  <a:lnTo>
                    <a:pt x="436" y="512"/>
                  </a:lnTo>
                  <a:lnTo>
                    <a:pt x="376" y="339"/>
                  </a:lnTo>
                  <a:lnTo>
                    <a:pt x="174" y="135"/>
                  </a:lnTo>
                  <a:lnTo>
                    <a:pt x="174" y="106"/>
                  </a:lnTo>
                  <a:lnTo>
                    <a:pt x="65" y="0"/>
                  </a:lnTo>
                  <a:lnTo>
                    <a:pt x="0" y="19"/>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21" name="Freeform 71">
              <a:extLst>
                <a:ext uri="{FF2B5EF4-FFF2-40B4-BE49-F238E27FC236}">
                  <a16:creationId xmlns:a16="http://schemas.microsoft.com/office/drawing/2014/main" id="{674C3F41-F570-1A60-9EC7-F275CF111EEF}"/>
                </a:ext>
              </a:extLst>
            </p:cNvPr>
            <p:cNvSpPr/>
            <p:nvPr/>
          </p:nvSpPr>
          <p:spPr bwMode="auto">
            <a:xfrm>
              <a:off x="4639" y="2948"/>
              <a:ext cx="252" cy="232"/>
            </a:xfrm>
            <a:custGeom>
              <a:gdLst>
                <a:gd name="T0" fmla="*/ 0 w 756"/>
                <a:gd name="T1" fmla="*/ 0 h 696"/>
                <a:gd name="T2" fmla="*/ 0 w 756"/>
                <a:gd name="T3" fmla="*/ 0 h 696"/>
                <a:gd name="T4" fmla="*/ 0 w 756"/>
                <a:gd name="T5" fmla="*/ 0 h 696"/>
                <a:gd name="T6" fmla="*/ 0 w 756"/>
                <a:gd name="T7" fmla="*/ 0 h 696"/>
                <a:gd name="T8" fmla="*/ 0 w 756"/>
                <a:gd name="T9" fmla="*/ 0 h 696"/>
                <a:gd name="T10" fmla="*/ 0 w 756"/>
                <a:gd name="T11" fmla="*/ 0 h 696"/>
                <a:gd name="T12" fmla="*/ 0 w 756"/>
                <a:gd name="T13" fmla="*/ 0 h 696"/>
                <a:gd name="T14" fmla="*/ 0 w 756"/>
                <a:gd name="T15" fmla="*/ 0 h 696"/>
                <a:gd name="T16" fmla="*/ 0 w 756"/>
                <a:gd name="T17" fmla="*/ 0 h 696"/>
                <a:gd name="T18" fmla="*/ 0 w 756"/>
                <a:gd name="T19" fmla="*/ 0 h 696"/>
                <a:gd name="T20" fmla="*/ 0 w 756"/>
                <a:gd name="T21" fmla="*/ 0 h 696"/>
                <a:gd name="T22" fmla="*/ 0 w 756"/>
                <a:gd name="T23" fmla="*/ 0 h 696"/>
                <a:gd name="T24" fmla="*/ 0 w 756"/>
                <a:gd name="T25" fmla="*/ 0 h 696"/>
                <a:gd name="T26" fmla="*/ 0 w 756"/>
                <a:gd name="T27" fmla="*/ 0 h 696"/>
                <a:gd name="T28" fmla="*/ 0 w 756"/>
                <a:gd name="T29" fmla="*/ 0 h 696"/>
                <a:gd name="T30" fmla="*/ 0 w 756"/>
                <a:gd name="T31" fmla="*/ 0 h 696"/>
                <a:gd name="T32" fmla="*/ 0 w 756"/>
                <a:gd name="T33" fmla="*/ 0 h 696"/>
                <a:gd name="T34" fmla="*/ 0 w 756"/>
                <a:gd name="T35" fmla="*/ 0 h 696"/>
                <a:gd name="T36" fmla="*/ 0 w 756"/>
                <a:gd name="T37" fmla="*/ 0 h 696"/>
                <a:gd name="T38" fmla="*/ 0 w 756"/>
                <a:gd name="T39" fmla="*/ 0 h 696"/>
                <a:gd name="T40" fmla="*/ 0 w 756"/>
                <a:gd name="T41" fmla="*/ 0 h 6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56" h="696">
                  <a:moveTo>
                    <a:pt x="0" y="57"/>
                  </a:moveTo>
                  <a:lnTo>
                    <a:pt x="58" y="115"/>
                  </a:lnTo>
                  <a:lnTo>
                    <a:pt x="0" y="202"/>
                  </a:lnTo>
                  <a:lnTo>
                    <a:pt x="145" y="202"/>
                  </a:lnTo>
                  <a:lnTo>
                    <a:pt x="263" y="318"/>
                  </a:lnTo>
                  <a:lnTo>
                    <a:pt x="231" y="347"/>
                  </a:lnTo>
                  <a:lnTo>
                    <a:pt x="350" y="550"/>
                  </a:lnTo>
                  <a:lnTo>
                    <a:pt x="467" y="581"/>
                  </a:lnTo>
                  <a:lnTo>
                    <a:pt x="495" y="491"/>
                  </a:lnTo>
                  <a:lnTo>
                    <a:pt x="522" y="491"/>
                  </a:lnTo>
                  <a:lnTo>
                    <a:pt x="697" y="696"/>
                  </a:lnTo>
                  <a:lnTo>
                    <a:pt x="756" y="696"/>
                  </a:lnTo>
                  <a:lnTo>
                    <a:pt x="668" y="491"/>
                  </a:lnTo>
                  <a:lnTo>
                    <a:pt x="668" y="436"/>
                  </a:lnTo>
                  <a:lnTo>
                    <a:pt x="607" y="368"/>
                  </a:lnTo>
                  <a:lnTo>
                    <a:pt x="560" y="257"/>
                  </a:lnTo>
                  <a:lnTo>
                    <a:pt x="347" y="143"/>
                  </a:lnTo>
                  <a:lnTo>
                    <a:pt x="204" y="150"/>
                  </a:lnTo>
                  <a:lnTo>
                    <a:pt x="88" y="0"/>
                  </a:lnTo>
                  <a:lnTo>
                    <a:pt x="0" y="57"/>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22" name="Freeform 72">
              <a:extLst>
                <a:ext uri="{FF2B5EF4-FFF2-40B4-BE49-F238E27FC236}">
                  <a16:creationId xmlns:a16="http://schemas.microsoft.com/office/drawing/2014/main" id="{19FEDB6A-3A87-4641-4545-A6E249A85707}"/>
                </a:ext>
              </a:extLst>
            </p:cNvPr>
            <p:cNvSpPr/>
            <p:nvPr/>
          </p:nvSpPr>
          <p:spPr bwMode="auto">
            <a:xfrm>
              <a:off x="4639" y="2948"/>
              <a:ext cx="252" cy="232"/>
            </a:xfrm>
            <a:custGeom>
              <a:gdLst>
                <a:gd name="T0" fmla="*/ 0 w 756"/>
                <a:gd name="T1" fmla="*/ 0 h 696"/>
                <a:gd name="T2" fmla="*/ 0 w 756"/>
                <a:gd name="T3" fmla="*/ 0 h 696"/>
                <a:gd name="T4" fmla="*/ 0 w 756"/>
                <a:gd name="T5" fmla="*/ 0 h 696"/>
                <a:gd name="T6" fmla="*/ 0 w 756"/>
                <a:gd name="T7" fmla="*/ 0 h 696"/>
                <a:gd name="T8" fmla="*/ 0 w 756"/>
                <a:gd name="T9" fmla="*/ 0 h 696"/>
                <a:gd name="T10" fmla="*/ 0 w 756"/>
                <a:gd name="T11" fmla="*/ 0 h 696"/>
                <a:gd name="T12" fmla="*/ 0 w 756"/>
                <a:gd name="T13" fmla="*/ 0 h 696"/>
                <a:gd name="T14" fmla="*/ 0 w 756"/>
                <a:gd name="T15" fmla="*/ 0 h 696"/>
                <a:gd name="T16" fmla="*/ 0 w 756"/>
                <a:gd name="T17" fmla="*/ 0 h 696"/>
                <a:gd name="T18" fmla="*/ 0 w 756"/>
                <a:gd name="T19" fmla="*/ 0 h 696"/>
                <a:gd name="T20" fmla="*/ 0 w 756"/>
                <a:gd name="T21" fmla="*/ 0 h 696"/>
                <a:gd name="T22" fmla="*/ 0 w 756"/>
                <a:gd name="T23" fmla="*/ 0 h 696"/>
                <a:gd name="T24" fmla="*/ 0 w 756"/>
                <a:gd name="T25" fmla="*/ 0 h 696"/>
                <a:gd name="T26" fmla="*/ 0 w 756"/>
                <a:gd name="T27" fmla="*/ 0 h 696"/>
                <a:gd name="T28" fmla="*/ 0 w 756"/>
                <a:gd name="T29" fmla="*/ 0 h 696"/>
                <a:gd name="T30" fmla="*/ 0 w 756"/>
                <a:gd name="T31" fmla="*/ 0 h 696"/>
                <a:gd name="T32" fmla="*/ 0 w 756"/>
                <a:gd name="T33" fmla="*/ 0 h 696"/>
                <a:gd name="T34" fmla="*/ 0 w 756"/>
                <a:gd name="T35" fmla="*/ 0 h 696"/>
                <a:gd name="T36" fmla="*/ 0 w 756"/>
                <a:gd name="T37" fmla="*/ 0 h 696"/>
                <a:gd name="T38" fmla="*/ 0 w 756"/>
                <a:gd name="T39" fmla="*/ 0 h 696"/>
                <a:gd name="T40" fmla="*/ 0 w 756"/>
                <a:gd name="T41" fmla="*/ 0 h 6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56" h="696">
                  <a:moveTo>
                    <a:pt x="0" y="57"/>
                  </a:moveTo>
                  <a:lnTo>
                    <a:pt x="58" y="115"/>
                  </a:lnTo>
                  <a:lnTo>
                    <a:pt x="0" y="202"/>
                  </a:lnTo>
                  <a:lnTo>
                    <a:pt x="145" y="202"/>
                  </a:lnTo>
                  <a:lnTo>
                    <a:pt x="263" y="318"/>
                  </a:lnTo>
                  <a:lnTo>
                    <a:pt x="231" y="347"/>
                  </a:lnTo>
                  <a:lnTo>
                    <a:pt x="350" y="550"/>
                  </a:lnTo>
                  <a:lnTo>
                    <a:pt x="467" y="581"/>
                  </a:lnTo>
                  <a:lnTo>
                    <a:pt x="495" y="491"/>
                  </a:lnTo>
                  <a:lnTo>
                    <a:pt x="522" y="491"/>
                  </a:lnTo>
                  <a:lnTo>
                    <a:pt x="697" y="696"/>
                  </a:lnTo>
                  <a:lnTo>
                    <a:pt x="756" y="696"/>
                  </a:lnTo>
                  <a:lnTo>
                    <a:pt x="668" y="491"/>
                  </a:lnTo>
                  <a:lnTo>
                    <a:pt x="668" y="436"/>
                  </a:lnTo>
                  <a:lnTo>
                    <a:pt x="607" y="368"/>
                  </a:lnTo>
                  <a:lnTo>
                    <a:pt x="560" y="257"/>
                  </a:lnTo>
                  <a:lnTo>
                    <a:pt x="347" y="143"/>
                  </a:lnTo>
                  <a:lnTo>
                    <a:pt x="204" y="150"/>
                  </a:lnTo>
                  <a:lnTo>
                    <a:pt x="88" y="0"/>
                  </a:lnTo>
                  <a:lnTo>
                    <a:pt x="0" y="57"/>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23" name="Freeform 73">
              <a:extLst>
                <a:ext uri="{FF2B5EF4-FFF2-40B4-BE49-F238E27FC236}">
                  <a16:creationId xmlns:a16="http://schemas.microsoft.com/office/drawing/2014/main" id="{F3C0726D-038A-2575-2680-B12E3EF1ADA1}"/>
                </a:ext>
              </a:extLst>
            </p:cNvPr>
            <p:cNvSpPr/>
            <p:nvPr/>
          </p:nvSpPr>
          <p:spPr bwMode="auto">
            <a:xfrm>
              <a:off x="4890" y="3057"/>
              <a:ext cx="72" cy="47"/>
            </a:xfrm>
            <a:custGeom>
              <a:gdLst>
                <a:gd name="T0" fmla="*/ 0 w 216"/>
                <a:gd name="T1" fmla="*/ 0 h 141"/>
                <a:gd name="T2" fmla="*/ 0 w 216"/>
                <a:gd name="T3" fmla="*/ 0 h 141"/>
                <a:gd name="T4" fmla="*/ 0 w 216"/>
                <a:gd name="T5" fmla="*/ 0 h 141"/>
                <a:gd name="T6" fmla="*/ 0 w 216"/>
                <a:gd name="T7" fmla="*/ 0 h 141"/>
                <a:gd name="T8" fmla="*/ 0 w 216"/>
                <a:gd name="T9" fmla="*/ 0 h 141"/>
                <a:gd name="T10" fmla="*/ 0 w 216"/>
                <a:gd name="T11" fmla="*/ 0 h 141"/>
                <a:gd name="T12" fmla="*/ 0 w 216"/>
                <a:gd name="T13" fmla="*/ 0 h 141"/>
                <a:gd name="T14" fmla="*/ 0 w 216"/>
                <a:gd name="T15" fmla="*/ 0 h 141"/>
                <a:gd name="T16" fmla="*/ 0 w 216"/>
                <a:gd name="T17" fmla="*/ 0 h 141"/>
                <a:gd name="T18" fmla="*/ 0 w 216"/>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 h="141">
                  <a:moveTo>
                    <a:pt x="0" y="87"/>
                  </a:moveTo>
                  <a:lnTo>
                    <a:pt x="76" y="141"/>
                  </a:lnTo>
                  <a:lnTo>
                    <a:pt x="172" y="131"/>
                  </a:lnTo>
                  <a:lnTo>
                    <a:pt x="216" y="23"/>
                  </a:lnTo>
                  <a:lnTo>
                    <a:pt x="155" y="0"/>
                  </a:lnTo>
                  <a:lnTo>
                    <a:pt x="115" y="88"/>
                  </a:lnTo>
                  <a:lnTo>
                    <a:pt x="63" y="69"/>
                  </a:lnTo>
                  <a:lnTo>
                    <a:pt x="31" y="6"/>
                  </a:lnTo>
                  <a:lnTo>
                    <a:pt x="0" y="87"/>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24" name="Freeform 74">
              <a:extLst>
                <a:ext uri="{FF2B5EF4-FFF2-40B4-BE49-F238E27FC236}">
                  <a16:creationId xmlns:a16="http://schemas.microsoft.com/office/drawing/2014/main" id="{C6032988-EDD6-D622-DED6-F516C4742E33}"/>
                </a:ext>
              </a:extLst>
            </p:cNvPr>
            <p:cNvSpPr/>
            <p:nvPr/>
          </p:nvSpPr>
          <p:spPr bwMode="auto">
            <a:xfrm>
              <a:off x="4890" y="3057"/>
              <a:ext cx="72" cy="47"/>
            </a:xfrm>
            <a:custGeom>
              <a:gdLst>
                <a:gd name="T0" fmla="*/ 0 w 216"/>
                <a:gd name="T1" fmla="*/ 0 h 141"/>
                <a:gd name="T2" fmla="*/ 0 w 216"/>
                <a:gd name="T3" fmla="*/ 0 h 141"/>
                <a:gd name="T4" fmla="*/ 0 w 216"/>
                <a:gd name="T5" fmla="*/ 0 h 141"/>
                <a:gd name="T6" fmla="*/ 0 w 216"/>
                <a:gd name="T7" fmla="*/ 0 h 141"/>
                <a:gd name="T8" fmla="*/ 0 w 216"/>
                <a:gd name="T9" fmla="*/ 0 h 141"/>
                <a:gd name="T10" fmla="*/ 0 w 216"/>
                <a:gd name="T11" fmla="*/ 0 h 141"/>
                <a:gd name="T12" fmla="*/ 0 w 216"/>
                <a:gd name="T13" fmla="*/ 0 h 141"/>
                <a:gd name="T14" fmla="*/ 0 w 216"/>
                <a:gd name="T15" fmla="*/ 0 h 141"/>
                <a:gd name="T16" fmla="*/ 0 w 216"/>
                <a:gd name="T17" fmla="*/ 0 h 141"/>
                <a:gd name="T18" fmla="*/ 0 w 216"/>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 h="141">
                  <a:moveTo>
                    <a:pt x="0" y="87"/>
                  </a:moveTo>
                  <a:lnTo>
                    <a:pt x="76" y="141"/>
                  </a:lnTo>
                  <a:lnTo>
                    <a:pt x="172" y="131"/>
                  </a:lnTo>
                  <a:lnTo>
                    <a:pt x="216" y="23"/>
                  </a:lnTo>
                  <a:lnTo>
                    <a:pt x="155" y="0"/>
                  </a:lnTo>
                  <a:lnTo>
                    <a:pt x="115" y="88"/>
                  </a:lnTo>
                  <a:lnTo>
                    <a:pt x="63" y="69"/>
                  </a:lnTo>
                  <a:lnTo>
                    <a:pt x="31" y="6"/>
                  </a:lnTo>
                  <a:lnTo>
                    <a:pt x="0" y="87"/>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25" name="Freeform 75">
              <a:extLst>
                <a:ext uri="{FF2B5EF4-FFF2-40B4-BE49-F238E27FC236}">
                  <a16:creationId xmlns:a16="http://schemas.microsoft.com/office/drawing/2014/main" id="{A2DF8FB3-FBA8-43E6-0B7D-4F83C157B4A0}"/>
                </a:ext>
              </a:extLst>
            </p:cNvPr>
            <p:cNvSpPr/>
            <p:nvPr/>
          </p:nvSpPr>
          <p:spPr bwMode="auto">
            <a:xfrm>
              <a:off x="4998" y="3771"/>
              <a:ext cx="156" cy="126"/>
            </a:xfrm>
            <a:custGeom>
              <a:gdLst>
                <a:gd name="T0" fmla="*/ 0 w 470"/>
                <a:gd name="T1" fmla="*/ 0 h 378"/>
                <a:gd name="T2" fmla="*/ 0 w 470"/>
                <a:gd name="T3" fmla="*/ 0 h 378"/>
                <a:gd name="T4" fmla="*/ 0 w 470"/>
                <a:gd name="T5" fmla="*/ 0 h 378"/>
                <a:gd name="T6" fmla="*/ 0 w 470"/>
                <a:gd name="T7" fmla="*/ 0 h 378"/>
                <a:gd name="T8" fmla="*/ 0 w 470"/>
                <a:gd name="T9" fmla="*/ 0 h 378"/>
                <a:gd name="T10" fmla="*/ 0 w 470"/>
                <a:gd name="T11" fmla="*/ 0 h 378"/>
                <a:gd name="T12" fmla="*/ 0 w 470"/>
                <a:gd name="T13" fmla="*/ 0 h 378"/>
                <a:gd name="T14" fmla="*/ 0 w 470"/>
                <a:gd name="T15" fmla="*/ 0 h 378"/>
                <a:gd name="T16" fmla="*/ 0 w 470"/>
                <a:gd name="T17" fmla="*/ 0 h 378"/>
                <a:gd name="T18" fmla="*/ 0 w 470"/>
                <a:gd name="T19" fmla="*/ 0 h 378"/>
                <a:gd name="T20" fmla="*/ 0 w 470"/>
                <a:gd name="T21" fmla="*/ 0 h 378"/>
                <a:gd name="T22" fmla="*/ 0 w 470"/>
                <a:gd name="T23" fmla="*/ 0 h 378"/>
                <a:gd name="T24" fmla="*/ 0 w 470"/>
                <a:gd name="T25" fmla="*/ 0 h 3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0" h="378">
                  <a:moveTo>
                    <a:pt x="436" y="0"/>
                  </a:moveTo>
                  <a:lnTo>
                    <a:pt x="266" y="136"/>
                  </a:lnTo>
                  <a:lnTo>
                    <a:pt x="197" y="103"/>
                  </a:lnTo>
                  <a:lnTo>
                    <a:pt x="141" y="191"/>
                  </a:lnTo>
                  <a:lnTo>
                    <a:pt x="0" y="262"/>
                  </a:lnTo>
                  <a:lnTo>
                    <a:pt x="87" y="378"/>
                  </a:lnTo>
                  <a:lnTo>
                    <a:pt x="175" y="350"/>
                  </a:lnTo>
                  <a:lnTo>
                    <a:pt x="233" y="378"/>
                  </a:lnTo>
                  <a:lnTo>
                    <a:pt x="321" y="175"/>
                  </a:lnTo>
                  <a:lnTo>
                    <a:pt x="376" y="175"/>
                  </a:lnTo>
                  <a:lnTo>
                    <a:pt x="470" y="71"/>
                  </a:lnTo>
                  <a:lnTo>
                    <a:pt x="436"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26" name="Freeform 76">
              <a:extLst>
                <a:ext uri="{FF2B5EF4-FFF2-40B4-BE49-F238E27FC236}">
                  <a16:creationId xmlns:a16="http://schemas.microsoft.com/office/drawing/2014/main" id="{1CD81732-6E7D-F2CE-01A7-13679701FEE6}"/>
                </a:ext>
              </a:extLst>
            </p:cNvPr>
            <p:cNvSpPr/>
            <p:nvPr/>
          </p:nvSpPr>
          <p:spPr bwMode="auto">
            <a:xfrm>
              <a:off x="4998" y="3771"/>
              <a:ext cx="156" cy="126"/>
            </a:xfrm>
            <a:custGeom>
              <a:gdLst>
                <a:gd name="T0" fmla="*/ 0 w 470"/>
                <a:gd name="T1" fmla="*/ 0 h 378"/>
                <a:gd name="T2" fmla="*/ 0 w 470"/>
                <a:gd name="T3" fmla="*/ 0 h 378"/>
                <a:gd name="T4" fmla="*/ 0 w 470"/>
                <a:gd name="T5" fmla="*/ 0 h 378"/>
                <a:gd name="T6" fmla="*/ 0 w 470"/>
                <a:gd name="T7" fmla="*/ 0 h 378"/>
                <a:gd name="T8" fmla="*/ 0 w 470"/>
                <a:gd name="T9" fmla="*/ 0 h 378"/>
                <a:gd name="T10" fmla="*/ 0 w 470"/>
                <a:gd name="T11" fmla="*/ 0 h 378"/>
                <a:gd name="T12" fmla="*/ 0 w 470"/>
                <a:gd name="T13" fmla="*/ 0 h 378"/>
                <a:gd name="T14" fmla="*/ 0 w 470"/>
                <a:gd name="T15" fmla="*/ 0 h 378"/>
                <a:gd name="T16" fmla="*/ 0 w 470"/>
                <a:gd name="T17" fmla="*/ 0 h 378"/>
                <a:gd name="T18" fmla="*/ 0 w 470"/>
                <a:gd name="T19" fmla="*/ 0 h 378"/>
                <a:gd name="T20" fmla="*/ 0 w 470"/>
                <a:gd name="T21" fmla="*/ 0 h 378"/>
                <a:gd name="T22" fmla="*/ 0 w 470"/>
                <a:gd name="T23" fmla="*/ 0 h 378"/>
                <a:gd name="T24" fmla="*/ 0 w 470"/>
                <a:gd name="T25" fmla="*/ 0 h 3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0" h="378">
                  <a:moveTo>
                    <a:pt x="436" y="0"/>
                  </a:moveTo>
                  <a:lnTo>
                    <a:pt x="266" y="136"/>
                  </a:lnTo>
                  <a:lnTo>
                    <a:pt x="197" y="103"/>
                  </a:lnTo>
                  <a:lnTo>
                    <a:pt x="141" y="191"/>
                  </a:lnTo>
                  <a:lnTo>
                    <a:pt x="0" y="262"/>
                  </a:lnTo>
                  <a:lnTo>
                    <a:pt x="87" y="378"/>
                  </a:lnTo>
                  <a:lnTo>
                    <a:pt x="175" y="350"/>
                  </a:lnTo>
                  <a:lnTo>
                    <a:pt x="233" y="378"/>
                  </a:lnTo>
                  <a:lnTo>
                    <a:pt x="321" y="175"/>
                  </a:lnTo>
                  <a:lnTo>
                    <a:pt x="376" y="175"/>
                  </a:lnTo>
                  <a:lnTo>
                    <a:pt x="470" y="71"/>
                  </a:lnTo>
                  <a:lnTo>
                    <a:pt x="436"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27" name="Freeform 77">
              <a:extLst>
                <a:ext uri="{FF2B5EF4-FFF2-40B4-BE49-F238E27FC236}">
                  <a16:creationId xmlns:a16="http://schemas.microsoft.com/office/drawing/2014/main" id="{C16D6483-6BCA-F095-D22D-327366680355}"/>
                </a:ext>
              </a:extLst>
            </p:cNvPr>
            <p:cNvSpPr/>
            <p:nvPr/>
          </p:nvSpPr>
          <p:spPr bwMode="auto">
            <a:xfrm>
              <a:off x="5161" y="3684"/>
              <a:ext cx="71" cy="98"/>
            </a:xfrm>
            <a:custGeom>
              <a:gdLst>
                <a:gd name="T0" fmla="*/ 0 w 212"/>
                <a:gd name="T1" fmla="*/ 0 h 294"/>
                <a:gd name="T2" fmla="*/ 0 w 212"/>
                <a:gd name="T3" fmla="*/ 0 h 294"/>
                <a:gd name="T4" fmla="*/ 0 w 212"/>
                <a:gd name="T5" fmla="*/ 0 h 294"/>
                <a:gd name="T6" fmla="*/ 0 w 212"/>
                <a:gd name="T7" fmla="*/ 0 h 294"/>
                <a:gd name="T8" fmla="*/ 0 w 212"/>
                <a:gd name="T9" fmla="*/ 0 h 294"/>
                <a:gd name="T10" fmla="*/ 0 w 212"/>
                <a:gd name="T11" fmla="*/ 0 h 294"/>
                <a:gd name="T12" fmla="*/ 0 w 212"/>
                <a:gd name="T13" fmla="*/ 0 h 294"/>
                <a:gd name="T14" fmla="*/ 0 w 212"/>
                <a:gd name="T15" fmla="*/ 0 h 294"/>
                <a:gd name="T16" fmla="*/ 0 w 212"/>
                <a:gd name="T17" fmla="*/ 0 h 294"/>
                <a:gd name="T18" fmla="*/ 0 w 212"/>
                <a:gd name="T19" fmla="*/ 0 h 294"/>
                <a:gd name="T20" fmla="*/ 0 w 212"/>
                <a:gd name="T21" fmla="*/ 0 h 294"/>
                <a:gd name="T22" fmla="*/ 0 w 212"/>
                <a:gd name="T23" fmla="*/ 0 h 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 h="294">
                  <a:moveTo>
                    <a:pt x="63" y="0"/>
                  </a:moveTo>
                  <a:lnTo>
                    <a:pt x="34" y="146"/>
                  </a:lnTo>
                  <a:lnTo>
                    <a:pt x="6" y="174"/>
                  </a:lnTo>
                  <a:lnTo>
                    <a:pt x="0" y="252"/>
                  </a:lnTo>
                  <a:lnTo>
                    <a:pt x="45" y="294"/>
                  </a:lnTo>
                  <a:lnTo>
                    <a:pt x="125" y="283"/>
                  </a:lnTo>
                  <a:lnTo>
                    <a:pt x="212" y="187"/>
                  </a:lnTo>
                  <a:lnTo>
                    <a:pt x="197" y="98"/>
                  </a:lnTo>
                  <a:lnTo>
                    <a:pt x="142" y="117"/>
                  </a:lnTo>
                  <a:lnTo>
                    <a:pt x="92" y="0"/>
                  </a:lnTo>
                  <a:lnTo>
                    <a:pt x="63"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28" name="Freeform 78">
              <a:extLst>
                <a:ext uri="{FF2B5EF4-FFF2-40B4-BE49-F238E27FC236}">
                  <a16:creationId xmlns:a16="http://schemas.microsoft.com/office/drawing/2014/main" id="{7DED6E91-F153-D568-9E4D-0C239699F99E}"/>
                </a:ext>
              </a:extLst>
            </p:cNvPr>
            <p:cNvSpPr/>
            <p:nvPr/>
          </p:nvSpPr>
          <p:spPr bwMode="auto">
            <a:xfrm>
              <a:off x="5161" y="3684"/>
              <a:ext cx="71" cy="98"/>
            </a:xfrm>
            <a:custGeom>
              <a:gdLst>
                <a:gd name="T0" fmla="*/ 0 w 212"/>
                <a:gd name="T1" fmla="*/ 0 h 294"/>
                <a:gd name="T2" fmla="*/ 0 w 212"/>
                <a:gd name="T3" fmla="*/ 0 h 294"/>
                <a:gd name="T4" fmla="*/ 0 w 212"/>
                <a:gd name="T5" fmla="*/ 0 h 294"/>
                <a:gd name="T6" fmla="*/ 0 w 212"/>
                <a:gd name="T7" fmla="*/ 0 h 294"/>
                <a:gd name="T8" fmla="*/ 0 w 212"/>
                <a:gd name="T9" fmla="*/ 0 h 294"/>
                <a:gd name="T10" fmla="*/ 0 w 212"/>
                <a:gd name="T11" fmla="*/ 0 h 294"/>
                <a:gd name="T12" fmla="*/ 0 w 212"/>
                <a:gd name="T13" fmla="*/ 0 h 294"/>
                <a:gd name="T14" fmla="*/ 0 w 212"/>
                <a:gd name="T15" fmla="*/ 0 h 294"/>
                <a:gd name="T16" fmla="*/ 0 w 212"/>
                <a:gd name="T17" fmla="*/ 0 h 294"/>
                <a:gd name="T18" fmla="*/ 0 w 212"/>
                <a:gd name="T19" fmla="*/ 0 h 294"/>
                <a:gd name="T20" fmla="*/ 0 w 212"/>
                <a:gd name="T21" fmla="*/ 0 h 294"/>
                <a:gd name="T22" fmla="*/ 0 w 212"/>
                <a:gd name="T23" fmla="*/ 0 h 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1" h="294">
                  <a:moveTo>
                    <a:pt x="63" y="0"/>
                  </a:moveTo>
                  <a:lnTo>
                    <a:pt x="34" y="146"/>
                  </a:lnTo>
                  <a:lnTo>
                    <a:pt x="6" y="174"/>
                  </a:lnTo>
                  <a:lnTo>
                    <a:pt x="0" y="252"/>
                  </a:lnTo>
                  <a:lnTo>
                    <a:pt x="45" y="294"/>
                  </a:lnTo>
                  <a:lnTo>
                    <a:pt x="125" y="283"/>
                  </a:lnTo>
                  <a:lnTo>
                    <a:pt x="212" y="187"/>
                  </a:lnTo>
                  <a:lnTo>
                    <a:pt x="197" y="98"/>
                  </a:lnTo>
                  <a:lnTo>
                    <a:pt x="142" y="117"/>
                  </a:lnTo>
                  <a:lnTo>
                    <a:pt x="92" y="0"/>
                  </a:lnTo>
                  <a:lnTo>
                    <a:pt x="63"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29" name="Freeform 79">
              <a:extLst>
                <a:ext uri="{FF2B5EF4-FFF2-40B4-BE49-F238E27FC236}">
                  <a16:creationId xmlns:a16="http://schemas.microsoft.com/office/drawing/2014/main" id="{D92515A3-6DBF-1574-853A-9FFDBC7DFF8D}"/>
                </a:ext>
              </a:extLst>
            </p:cNvPr>
            <p:cNvSpPr/>
            <p:nvPr/>
          </p:nvSpPr>
          <p:spPr bwMode="auto">
            <a:xfrm>
              <a:off x="2544" y="1793"/>
              <a:ext cx="49" cy="68"/>
            </a:xfrm>
            <a:custGeom>
              <a:gdLst>
                <a:gd name="T0" fmla="*/ 0 w 146"/>
                <a:gd name="T1" fmla="*/ 0 h 204"/>
                <a:gd name="T2" fmla="*/ 0 w 146"/>
                <a:gd name="T3" fmla="*/ 0 h 204"/>
                <a:gd name="T4" fmla="*/ 0 w 146"/>
                <a:gd name="T5" fmla="*/ 0 h 204"/>
                <a:gd name="T6" fmla="*/ 0 w 146"/>
                <a:gd name="T7" fmla="*/ 0 h 204"/>
                <a:gd name="T8" fmla="*/ 0 w 146"/>
                <a:gd name="T9" fmla="*/ 0 h 204"/>
                <a:gd name="T10" fmla="*/ 0 w 146"/>
                <a:gd name="T11" fmla="*/ 0 h 204"/>
                <a:gd name="T12" fmla="*/ 0 w 146"/>
                <a:gd name="T13" fmla="*/ 0 h 204"/>
                <a:gd name="T14" fmla="*/ 0 w 146"/>
                <a:gd name="T15" fmla="*/ 0 h 204"/>
                <a:gd name="T16" fmla="*/ 0 w 146"/>
                <a:gd name="T17" fmla="*/ 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6" h="204">
                  <a:moveTo>
                    <a:pt x="29" y="0"/>
                  </a:moveTo>
                  <a:lnTo>
                    <a:pt x="0" y="173"/>
                  </a:lnTo>
                  <a:lnTo>
                    <a:pt x="85" y="204"/>
                  </a:lnTo>
                  <a:lnTo>
                    <a:pt x="146" y="204"/>
                  </a:lnTo>
                  <a:lnTo>
                    <a:pt x="146" y="114"/>
                  </a:lnTo>
                  <a:lnTo>
                    <a:pt x="146" y="59"/>
                  </a:lnTo>
                  <a:lnTo>
                    <a:pt x="114" y="27"/>
                  </a:lnTo>
                  <a:lnTo>
                    <a:pt x="29"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30" name="Freeform 80">
              <a:extLst>
                <a:ext uri="{FF2B5EF4-FFF2-40B4-BE49-F238E27FC236}">
                  <a16:creationId xmlns:a16="http://schemas.microsoft.com/office/drawing/2014/main" id="{844A3350-1E3A-77F0-531F-95BF26724B33}"/>
                </a:ext>
              </a:extLst>
            </p:cNvPr>
            <p:cNvSpPr/>
            <p:nvPr/>
          </p:nvSpPr>
          <p:spPr bwMode="auto">
            <a:xfrm>
              <a:off x="2544" y="1793"/>
              <a:ext cx="49" cy="68"/>
            </a:xfrm>
            <a:custGeom>
              <a:gdLst>
                <a:gd name="T0" fmla="*/ 0 w 146"/>
                <a:gd name="T1" fmla="*/ 0 h 204"/>
                <a:gd name="T2" fmla="*/ 0 w 146"/>
                <a:gd name="T3" fmla="*/ 0 h 204"/>
                <a:gd name="T4" fmla="*/ 0 w 146"/>
                <a:gd name="T5" fmla="*/ 0 h 204"/>
                <a:gd name="T6" fmla="*/ 0 w 146"/>
                <a:gd name="T7" fmla="*/ 0 h 204"/>
                <a:gd name="T8" fmla="*/ 0 w 146"/>
                <a:gd name="T9" fmla="*/ 0 h 204"/>
                <a:gd name="T10" fmla="*/ 0 w 146"/>
                <a:gd name="T11" fmla="*/ 0 h 204"/>
                <a:gd name="T12" fmla="*/ 0 w 146"/>
                <a:gd name="T13" fmla="*/ 0 h 204"/>
                <a:gd name="T14" fmla="*/ 0 w 146"/>
                <a:gd name="T15" fmla="*/ 0 h 204"/>
                <a:gd name="T16" fmla="*/ 0 w 146"/>
                <a:gd name="T17" fmla="*/ 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6" h="204">
                  <a:moveTo>
                    <a:pt x="29" y="0"/>
                  </a:moveTo>
                  <a:lnTo>
                    <a:pt x="0" y="173"/>
                  </a:lnTo>
                  <a:lnTo>
                    <a:pt x="85" y="204"/>
                  </a:lnTo>
                  <a:lnTo>
                    <a:pt x="146" y="204"/>
                  </a:lnTo>
                  <a:lnTo>
                    <a:pt x="146" y="114"/>
                  </a:lnTo>
                  <a:lnTo>
                    <a:pt x="146" y="59"/>
                  </a:lnTo>
                  <a:lnTo>
                    <a:pt x="114" y="27"/>
                  </a:lnTo>
                  <a:lnTo>
                    <a:pt x="29"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31" name="Freeform 81">
              <a:extLst>
                <a:ext uri="{FF2B5EF4-FFF2-40B4-BE49-F238E27FC236}">
                  <a16:creationId xmlns:a16="http://schemas.microsoft.com/office/drawing/2014/main" id="{0044A353-D1EC-E7DD-9195-8B9FF1E3E1F2}"/>
                </a:ext>
              </a:extLst>
            </p:cNvPr>
            <p:cNvSpPr/>
            <p:nvPr/>
          </p:nvSpPr>
          <p:spPr bwMode="auto">
            <a:xfrm>
              <a:off x="2582" y="1747"/>
              <a:ext cx="97" cy="181"/>
            </a:xfrm>
            <a:custGeom>
              <a:gdLst>
                <a:gd name="T0" fmla="*/ 0 w 291"/>
                <a:gd name="T1" fmla="*/ 0 h 544"/>
                <a:gd name="T2" fmla="*/ 0 w 291"/>
                <a:gd name="T3" fmla="*/ 0 h 544"/>
                <a:gd name="T4" fmla="*/ 0 w 291"/>
                <a:gd name="T5" fmla="*/ 0 h 544"/>
                <a:gd name="T6" fmla="*/ 0 w 291"/>
                <a:gd name="T7" fmla="*/ 0 h 544"/>
                <a:gd name="T8" fmla="*/ 0 w 291"/>
                <a:gd name="T9" fmla="*/ 0 h 544"/>
                <a:gd name="T10" fmla="*/ 0 w 291"/>
                <a:gd name="T11" fmla="*/ 0 h 544"/>
                <a:gd name="T12" fmla="*/ 0 w 291"/>
                <a:gd name="T13" fmla="*/ 0 h 544"/>
                <a:gd name="T14" fmla="*/ 0 w 291"/>
                <a:gd name="T15" fmla="*/ 0 h 544"/>
                <a:gd name="T16" fmla="*/ 0 w 291"/>
                <a:gd name="T17" fmla="*/ 0 h 544"/>
                <a:gd name="T18" fmla="*/ 0 w 291"/>
                <a:gd name="T19" fmla="*/ 0 h 544"/>
                <a:gd name="T20" fmla="*/ 0 w 291"/>
                <a:gd name="T21" fmla="*/ 0 h 544"/>
                <a:gd name="T22" fmla="*/ 0 w 291"/>
                <a:gd name="T23" fmla="*/ 0 h 544"/>
                <a:gd name="T24" fmla="*/ 0 w 291"/>
                <a:gd name="T25" fmla="*/ 0 h 544"/>
                <a:gd name="T26" fmla="*/ 0 w 291"/>
                <a:gd name="T27" fmla="*/ 0 h 544"/>
                <a:gd name="T28" fmla="*/ 0 w 291"/>
                <a:gd name="T29" fmla="*/ 0 h 544"/>
                <a:gd name="T30" fmla="*/ 0 w 291"/>
                <a:gd name="T31" fmla="*/ 0 h 544"/>
                <a:gd name="T32" fmla="*/ 0 w 291"/>
                <a:gd name="T33" fmla="*/ 0 h 544"/>
                <a:gd name="T34" fmla="*/ 0 w 291"/>
                <a:gd name="T35" fmla="*/ 0 h 544"/>
                <a:gd name="T36" fmla="*/ 0 w 291"/>
                <a:gd name="T37" fmla="*/ 0 h 544"/>
                <a:gd name="T38" fmla="*/ 0 w 291"/>
                <a:gd name="T39" fmla="*/ 0 h 544"/>
                <a:gd name="T40" fmla="*/ 0 w 291"/>
                <a:gd name="T41" fmla="*/ 0 h 544"/>
                <a:gd name="T42" fmla="*/ 0 w 291"/>
                <a:gd name="T43" fmla="*/ 0 h 5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91" h="544">
                  <a:moveTo>
                    <a:pt x="117" y="21"/>
                  </a:moveTo>
                  <a:lnTo>
                    <a:pt x="90" y="78"/>
                  </a:lnTo>
                  <a:lnTo>
                    <a:pt x="90" y="165"/>
                  </a:lnTo>
                  <a:lnTo>
                    <a:pt x="146" y="252"/>
                  </a:lnTo>
                  <a:lnTo>
                    <a:pt x="146" y="282"/>
                  </a:lnTo>
                  <a:lnTo>
                    <a:pt x="117" y="282"/>
                  </a:lnTo>
                  <a:lnTo>
                    <a:pt x="117" y="342"/>
                  </a:lnTo>
                  <a:lnTo>
                    <a:pt x="0" y="457"/>
                  </a:lnTo>
                  <a:lnTo>
                    <a:pt x="32" y="486"/>
                  </a:lnTo>
                  <a:lnTo>
                    <a:pt x="117" y="486"/>
                  </a:lnTo>
                  <a:lnTo>
                    <a:pt x="206" y="544"/>
                  </a:lnTo>
                  <a:lnTo>
                    <a:pt x="263" y="515"/>
                  </a:lnTo>
                  <a:lnTo>
                    <a:pt x="235" y="428"/>
                  </a:lnTo>
                  <a:lnTo>
                    <a:pt x="291" y="428"/>
                  </a:lnTo>
                  <a:lnTo>
                    <a:pt x="291" y="370"/>
                  </a:lnTo>
                  <a:lnTo>
                    <a:pt x="263" y="342"/>
                  </a:lnTo>
                  <a:lnTo>
                    <a:pt x="235" y="252"/>
                  </a:lnTo>
                  <a:lnTo>
                    <a:pt x="243" y="190"/>
                  </a:lnTo>
                  <a:lnTo>
                    <a:pt x="204" y="125"/>
                  </a:lnTo>
                  <a:lnTo>
                    <a:pt x="198" y="0"/>
                  </a:lnTo>
                  <a:lnTo>
                    <a:pt x="117" y="2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32" name="Freeform 82">
              <a:extLst>
                <a:ext uri="{FF2B5EF4-FFF2-40B4-BE49-F238E27FC236}">
                  <a16:creationId xmlns:a16="http://schemas.microsoft.com/office/drawing/2014/main" id="{1E718BE0-047E-47C3-9B10-F3F357AD54B5}"/>
                </a:ext>
              </a:extLst>
            </p:cNvPr>
            <p:cNvSpPr/>
            <p:nvPr/>
          </p:nvSpPr>
          <p:spPr bwMode="auto">
            <a:xfrm>
              <a:off x="2582" y="1747"/>
              <a:ext cx="97" cy="181"/>
            </a:xfrm>
            <a:custGeom>
              <a:gdLst>
                <a:gd name="T0" fmla="*/ 0 w 291"/>
                <a:gd name="T1" fmla="*/ 0 h 544"/>
                <a:gd name="T2" fmla="*/ 0 w 291"/>
                <a:gd name="T3" fmla="*/ 0 h 544"/>
                <a:gd name="T4" fmla="*/ 0 w 291"/>
                <a:gd name="T5" fmla="*/ 0 h 544"/>
                <a:gd name="T6" fmla="*/ 0 w 291"/>
                <a:gd name="T7" fmla="*/ 0 h 544"/>
                <a:gd name="T8" fmla="*/ 0 w 291"/>
                <a:gd name="T9" fmla="*/ 0 h 544"/>
                <a:gd name="T10" fmla="*/ 0 w 291"/>
                <a:gd name="T11" fmla="*/ 0 h 544"/>
                <a:gd name="T12" fmla="*/ 0 w 291"/>
                <a:gd name="T13" fmla="*/ 0 h 544"/>
                <a:gd name="T14" fmla="*/ 0 w 291"/>
                <a:gd name="T15" fmla="*/ 0 h 544"/>
                <a:gd name="T16" fmla="*/ 0 w 291"/>
                <a:gd name="T17" fmla="*/ 0 h 544"/>
                <a:gd name="T18" fmla="*/ 0 w 291"/>
                <a:gd name="T19" fmla="*/ 0 h 544"/>
                <a:gd name="T20" fmla="*/ 0 w 291"/>
                <a:gd name="T21" fmla="*/ 0 h 544"/>
                <a:gd name="T22" fmla="*/ 0 w 291"/>
                <a:gd name="T23" fmla="*/ 0 h 544"/>
                <a:gd name="T24" fmla="*/ 0 w 291"/>
                <a:gd name="T25" fmla="*/ 0 h 544"/>
                <a:gd name="T26" fmla="*/ 0 w 291"/>
                <a:gd name="T27" fmla="*/ 0 h 544"/>
                <a:gd name="T28" fmla="*/ 0 w 291"/>
                <a:gd name="T29" fmla="*/ 0 h 544"/>
                <a:gd name="T30" fmla="*/ 0 w 291"/>
                <a:gd name="T31" fmla="*/ 0 h 544"/>
                <a:gd name="T32" fmla="*/ 0 w 291"/>
                <a:gd name="T33" fmla="*/ 0 h 544"/>
                <a:gd name="T34" fmla="*/ 0 w 291"/>
                <a:gd name="T35" fmla="*/ 0 h 544"/>
                <a:gd name="T36" fmla="*/ 0 w 291"/>
                <a:gd name="T37" fmla="*/ 0 h 544"/>
                <a:gd name="T38" fmla="*/ 0 w 291"/>
                <a:gd name="T39" fmla="*/ 0 h 544"/>
                <a:gd name="T40" fmla="*/ 0 w 291"/>
                <a:gd name="T41" fmla="*/ 0 h 544"/>
                <a:gd name="T42" fmla="*/ 0 w 291"/>
                <a:gd name="T43" fmla="*/ 0 h 5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91" h="544">
                  <a:moveTo>
                    <a:pt x="117" y="21"/>
                  </a:moveTo>
                  <a:lnTo>
                    <a:pt x="90" y="78"/>
                  </a:lnTo>
                  <a:lnTo>
                    <a:pt x="90" y="165"/>
                  </a:lnTo>
                  <a:lnTo>
                    <a:pt x="146" y="252"/>
                  </a:lnTo>
                  <a:lnTo>
                    <a:pt x="146" y="282"/>
                  </a:lnTo>
                  <a:lnTo>
                    <a:pt x="117" y="282"/>
                  </a:lnTo>
                  <a:lnTo>
                    <a:pt x="117" y="342"/>
                  </a:lnTo>
                  <a:lnTo>
                    <a:pt x="0" y="457"/>
                  </a:lnTo>
                  <a:lnTo>
                    <a:pt x="32" y="486"/>
                  </a:lnTo>
                  <a:lnTo>
                    <a:pt x="117" y="486"/>
                  </a:lnTo>
                  <a:lnTo>
                    <a:pt x="206" y="544"/>
                  </a:lnTo>
                  <a:lnTo>
                    <a:pt x="263" y="515"/>
                  </a:lnTo>
                  <a:lnTo>
                    <a:pt x="235" y="428"/>
                  </a:lnTo>
                  <a:lnTo>
                    <a:pt x="291" y="428"/>
                  </a:lnTo>
                  <a:lnTo>
                    <a:pt x="291" y="370"/>
                  </a:lnTo>
                  <a:lnTo>
                    <a:pt x="263" y="342"/>
                  </a:lnTo>
                  <a:lnTo>
                    <a:pt x="235" y="252"/>
                  </a:lnTo>
                  <a:lnTo>
                    <a:pt x="243" y="190"/>
                  </a:lnTo>
                  <a:lnTo>
                    <a:pt x="204" y="125"/>
                  </a:lnTo>
                  <a:lnTo>
                    <a:pt x="198" y="0"/>
                  </a:lnTo>
                  <a:lnTo>
                    <a:pt x="117" y="2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33" name="Freeform 83">
              <a:extLst>
                <a:ext uri="{FF2B5EF4-FFF2-40B4-BE49-F238E27FC236}">
                  <a16:creationId xmlns:a16="http://schemas.microsoft.com/office/drawing/2014/main" id="{D1252B07-E558-A271-0B1F-E7EEE3297A3B}"/>
                </a:ext>
              </a:extLst>
            </p:cNvPr>
            <p:cNvSpPr/>
            <p:nvPr/>
          </p:nvSpPr>
          <p:spPr bwMode="auto">
            <a:xfrm>
              <a:off x="4289" y="2782"/>
              <a:ext cx="137" cy="194"/>
            </a:xfrm>
            <a:custGeom>
              <a:gdLst>
                <a:gd name="T0" fmla="*/ 0 w 409"/>
                <a:gd name="T1" fmla="*/ 0 h 582"/>
                <a:gd name="T2" fmla="*/ 0 w 409"/>
                <a:gd name="T3" fmla="*/ 0 h 582"/>
                <a:gd name="T4" fmla="*/ 0 w 409"/>
                <a:gd name="T5" fmla="*/ 0 h 582"/>
                <a:gd name="T6" fmla="*/ 0 w 409"/>
                <a:gd name="T7" fmla="*/ 0 h 582"/>
                <a:gd name="T8" fmla="*/ 0 w 409"/>
                <a:gd name="T9" fmla="*/ 0 h 582"/>
                <a:gd name="T10" fmla="*/ 0 w 409"/>
                <a:gd name="T11" fmla="*/ 0 h 582"/>
                <a:gd name="T12" fmla="*/ 0 w 409"/>
                <a:gd name="T13" fmla="*/ 0 h 582"/>
                <a:gd name="T14" fmla="*/ 0 w 409"/>
                <a:gd name="T15" fmla="*/ 0 h 582"/>
                <a:gd name="T16" fmla="*/ 0 w 409"/>
                <a:gd name="T17" fmla="*/ 0 h 582"/>
                <a:gd name="T18" fmla="*/ 0 w 409"/>
                <a:gd name="T19" fmla="*/ 0 h 582"/>
                <a:gd name="T20" fmla="*/ 0 w 409"/>
                <a:gd name="T21" fmla="*/ 0 h 582"/>
                <a:gd name="T22" fmla="*/ 0 w 409"/>
                <a:gd name="T23" fmla="*/ 0 h 582"/>
                <a:gd name="T24" fmla="*/ 0 w 409"/>
                <a:gd name="T25" fmla="*/ 0 h 582"/>
                <a:gd name="T26" fmla="*/ 0 w 409"/>
                <a:gd name="T27" fmla="*/ 0 h 582"/>
                <a:gd name="T28" fmla="*/ 0 w 409"/>
                <a:gd name="T29" fmla="*/ 0 h 582"/>
                <a:gd name="T30" fmla="*/ 0 w 409"/>
                <a:gd name="T31" fmla="*/ 0 h 582"/>
                <a:gd name="T32" fmla="*/ 0 w 409"/>
                <a:gd name="T33" fmla="*/ 0 h 5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9" h="582">
                  <a:moveTo>
                    <a:pt x="146" y="204"/>
                  </a:moveTo>
                  <a:lnTo>
                    <a:pt x="263" y="146"/>
                  </a:lnTo>
                  <a:lnTo>
                    <a:pt x="351" y="0"/>
                  </a:lnTo>
                  <a:lnTo>
                    <a:pt x="409" y="58"/>
                  </a:lnTo>
                  <a:lnTo>
                    <a:pt x="409" y="146"/>
                  </a:lnTo>
                  <a:lnTo>
                    <a:pt x="409" y="263"/>
                  </a:lnTo>
                  <a:lnTo>
                    <a:pt x="318" y="553"/>
                  </a:lnTo>
                  <a:lnTo>
                    <a:pt x="146" y="553"/>
                  </a:lnTo>
                  <a:lnTo>
                    <a:pt x="118" y="582"/>
                  </a:lnTo>
                  <a:lnTo>
                    <a:pt x="32" y="582"/>
                  </a:lnTo>
                  <a:lnTo>
                    <a:pt x="32" y="496"/>
                  </a:lnTo>
                  <a:lnTo>
                    <a:pt x="0" y="496"/>
                  </a:lnTo>
                  <a:lnTo>
                    <a:pt x="32" y="292"/>
                  </a:lnTo>
                  <a:lnTo>
                    <a:pt x="88" y="292"/>
                  </a:lnTo>
                  <a:lnTo>
                    <a:pt x="146" y="263"/>
                  </a:lnTo>
                  <a:lnTo>
                    <a:pt x="146" y="204"/>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34" name="Freeform 84">
              <a:extLst>
                <a:ext uri="{FF2B5EF4-FFF2-40B4-BE49-F238E27FC236}">
                  <a16:creationId xmlns:a16="http://schemas.microsoft.com/office/drawing/2014/main" id="{B85B3C6C-5A7F-205E-D085-1E997EDC0802}"/>
                </a:ext>
              </a:extLst>
            </p:cNvPr>
            <p:cNvSpPr/>
            <p:nvPr/>
          </p:nvSpPr>
          <p:spPr bwMode="auto">
            <a:xfrm>
              <a:off x="4289" y="2782"/>
              <a:ext cx="137" cy="194"/>
            </a:xfrm>
            <a:custGeom>
              <a:gdLst>
                <a:gd name="T0" fmla="*/ 0 w 409"/>
                <a:gd name="T1" fmla="*/ 0 h 582"/>
                <a:gd name="T2" fmla="*/ 0 w 409"/>
                <a:gd name="T3" fmla="*/ 0 h 582"/>
                <a:gd name="T4" fmla="*/ 0 w 409"/>
                <a:gd name="T5" fmla="*/ 0 h 582"/>
                <a:gd name="T6" fmla="*/ 0 w 409"/>
                <a:gd name="T7" fmla="*/ 0 h 582"/>
                <a:gd name="T8" fmla="*/ 0 w 409"/>
                <a:gd name="T9" fmla="*/ 0 h 582"/>
                <a:gd name="T10" fmla="*/ 0 w 409"/>
                <a:gd name="T11" fmla="*/ 0 h 582"/>
                <a:gd name="T12" fmla="*/ 0 w 409"/>
                <a:gd name="T13" fmla="*/ 0 h 582"/>
                <a:gd name="T14" fmla="*/ 0 w 409"/>
                <a:gd name="T15" fmla="*/ 0 h 582"/>
                <a:gd name="T16" fmla="*/ 0 w 409"/>
                <a:gd name="T17" fmla="*/ 0 h 582"/>
                <a:gd name="T18" fmla="*/ 0 w 409"/>
                <a:gd name="T19" fmla="*/ 0 h 582"/>
                <a:gd name="T20" fmla="*/ 0 w 409"/>
                <a:gd name="T21" fmla="*/ 0 h 582"/>
                <a:gd name="T22" fmla="*/ 0 w 409"/>
                <a:gd name="T23" fmla="*/ 0 h 582"/>
                <a:gd name="T24" fmla="*/ 0 w 409"/>
                <a:gd name="T25" fmla="*/ 0 h 582"/>
                <a:gd name="T26" fmla="*/ 0 w 409"/>
                <a:gd name="T27" fmla="*/ 0 h 582"/>
                <a:gd name="T28" fmla="*/ 0 w 409"/>
                <a:gd name="T29" fmla="*/ 0 h 582"/>
                <a:gd name="T30" fmla="*/ 0 w 409"/>
                <a:gd name="T31" fmla="*/ 0 h 582"/>
                <a:gd name="T32" fmla="*/ 0 w 409"/>
                <a:gd name="T33" fmla="*/ 0 h 5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9" h="582">
                  <a:moveTo>
                    <a:pt x="146" y="204"/>
                  </a:moveTo>
                  <a:lnTo>
                    <a:pt x="263" y="146"/>
                  </a:lnTo>
                  <a:lnTo>
                    <a:pt x="351" y="0"/>
                  </a:lnTo>
                  <a:lnTo>
                    <a:pt x="409" y="58"/>
                  </a:lnTo>
                  <a:lnTo>
                    <a:pt x="409" y="146"/>
                  </a:lnTo>
                  <a:lnTo>
                    <a:pt x="409" y="263"/>
                  </a:lnTo>
                  <a:lnTo>
                    <a:pt x="318" y="553"/>
                  </a:lnTo>
                  <a:lnTo>
                    <a:pt x="146" y="553"/>
                  </a:lnTo>
                  <a:lnTo>
                    <a:pt x="118" y="582"/>
                  </a:lnTo>
                  <a:lnTo>
                    <a:pt x="32" y="582"/>
                  </a:lnTo>
                  <a:lnTo>
                    <a:pt x="32" y="496"/>
                  </a:lnTo>
                  <a:lnTo>
                    <a:pt x="0" y="496"/>
                  </a:lnTo>
                  <a:lnTo>
                    <a:pt x="32" y="292"/>
                  </a:lnTo>
                  <a:lnTo>
                    <a:pt x="88" y="292"/>
                  </a:lnTo>
                  <a:lnTo>
                    <a:pt x="146" y="263"/>
                  </a:lnTo>
                  <a:lnTo>
                    <a:pt x="146" y="204"/>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35" name="Freeform 85">
              <a:extLst>
                <a:ext uri="{FF2B5EF4-FFF2-40B4-BE49-F238E27FC236}">
                  <a16:creationId xmlns:a16="http://schemas.microsoft.com/office/drawing/2014/main" id="{BA680278-F200-379C-62C1-81FCD7DA1B0A}"/>
                </a:ext>
              </a:extLst>
            </p:cNvPr>
            <p:cNvSpPr/>
            <p:nvPr/>
          </p:nvSpPr>
          <p:spPr bwMode="auto">
            <a:xfrm>
              <a:off x="4251" y="3017"/>
              <a:ext cx="17" cy="25"/>
            </a:xfrm>
            <a:custGeom>
              <a:gdLst>
                <a:gd name="T0" fmla="*/ 0 w 51"/>
                <a:gd name="T1" fmla="*/ 0 h 73"/>
                <a:gd name="T2" fmla="*/ 0 w 51"/>
                <a:gd name="T3" fmla="*/ 0 h 73"/>
                <a:gd name="T4" fmla="*/ 0 w 51"/>
                <a:gd name="T5" fmla="*/ 0 h 73"/>
                <a:gd name="T6" fmla="*/ 0 w 51"/>
                <a:gd name="T7" fmla="*/ 0 h 73"/>
                <a:gd name="T8" fmla="*/ 0 w 51"/>
                <a:gd name="T9" fmla="*/ 0 h 73"/>
                <a:gd name="T10" fmla="*/ 0 w 51"/>
                <a:gd name="T11" fmla="*/ 0 h 73"/>
                <a:gd name="T12" fmla="*/ 0 w 51"/>
                <a:gd name="T13" fmla="*/ 0 h 73"/>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51" h="73">
                  <a:moveTo>
                    <a:pt x="26" y="0"/>
                  </a:moveTo>
                  <a:lnTo>
                    <a:pt x="0" y="32"/>
                  </a:lnTo>
                  <a:lnTo>
                    <a:pt x="22" y="73"/>
                  </a:lnTo>
                  <a:lnTo>
                    <a:pt x="33" y="49"/>
                  </a:lnTo>
                  <a:lnTo>
                    <a:pt x="51" y="32"/>
                  </a:lnTo>
                  <a:lnTo>
                    <a:pt x="26"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36" name="Freeform 86">
              <a:extLst>
                <a:ext uri="{FF2B5EF4-FFF2-40B4-BE49-F238E27FC236}">
                  <a16:creationId xmlns:a16="http://schemas.microsoft.com/office/drawing/2014/main" id="{3882103F-0B2C-8611-4B83-A6C5BFA2E13C}"/>
                </a:ext>
              </a:extLst>
            </p:cNvPr>
            <p:cNvSpPr/>
            <p:nvPr/>
          </p:nvSpPr>
          <p:spPr bwMode="auto">
            <a:xfrm>
              <a:off x="4251" y="3017"/>
              <a:ext cx="17" cy="25"/>
            </a:xfrm>
            <a:custGeom>
              <a:gdLst>
                <a:gd name="T0" fmla="*/ 0 w 51"/>
                <a:gd name="T1" fmla="*/ 0 h 73"/>
                <a:gd name="T2" fmla="*/ 0 w 51"/>
                <a:gd name="T3" fmla="*/ 0 h 73"/>
                <a:gd name="T4" fmla="*/ 0 w 51"/>
                <a:gd name="T5" fmla="*/ 0 h 73"/>
                <a:gd name="T6" fmla="*/ 0 w 51"/>
                <a:gd name="T7" fmla="*/ 0 h 73"/>
                <a:gd name="T8" fmla="*/ 0 w 51"/>
                <a:gd name="T9" fmla="*/ 0 h 73"/>
                <a:gd name="T10" fmla="*/ 0 w 51"/>
                <a:gd name="T11" fmla="*/ 0 h 73"/>
                <a:gd name="T12" fmla="*/ 0 w 51"/>
                <a:gd name="T13" fmla="*/ 0 h 73"/>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51" h="73">
                  <a:moveTo>
                    <a:pt x="26" y="0"/>
                  </a:moveTo>
                  <a:lnTo>
                    <a:pt x="0" y="32"/>
                  </a:lnTo>
                  <a:lnTo>
                    <a:pt x="22" y="73"/>
                  </a:lnTo>
                  <a:lnTo>
                    <a:pt x="33" y="49"/>
                  </a:lnTo>
                  <a:lnTo>
                    <a:pt x="51" y="32"/>
                  </a:lnTo>
                  <a:lnTo>
                    <a:pt x="26"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37" name="Freeform 87">
              <a:extLst>
                <a:ext uri="{FF2B5EF4-FFF2-40B4-BE49-F238E27FC236}">
                  <a16:creationId xmlns:a16="http://schemas.microsoft.com/office/drawing/2014/main" id="{83D8D208-BB4F-3C67-572B-1D40E7B18AC1}"/>
                </a:ext>
              </a:extLst>
            </p:cNvPr>
            <p:cNvSpPr/>
            <p:nvPr/>
          </p:nvSpPr>
          <p:spPr bwMode="auto">
            <a:xfrm>
              <a:off x="4425" y="2870"/>
              <a:ext cx="101" cy="120"/>
            </a:xfrm>
            <a:custGeom>
              <a:gdLst>
                <a:gd name="T0" fmla="*/ 0 w 302"/>
                <a:gd name="T1" fmla="*/ 0 h 361"/>
                <a:gd name="T2" fmla="*/ 0 w 302"/>
                <a:gd name="T3" fmla="*/ 0 h 361"/>
                <a:gd name="T4" fmla="*/ 0 w 302"/>
                <a:gd name="T5" fmla="*/ 0 h 361"/>
                <a:gd name="T6" fmla="*/ 0 w 302"/>
                <a:gd name="T7" fmla="*/ 0 h 361"/>
                <a:gd name="T8" fmla="*/ 0 w 302"/>
                <a:gd name="T9" fmla="*/ 0 h 361"/>
                <a:gd name="T10" fmla="*/ 0 w 302"/>
                <a:gd name="T11" fmla="*/ 0 h 361"/>
                <a:gd name="T12" fmla="*/ 0 w 302"/>
                <a:gd name="T13" fmla="*/ 0 h 361"/>
                <a:gd name="T14" fmla="*/ 0 w 302"/>
                <a:gd name="T15" fmla="*/ 0 h 361"/>
                <a:gd name="T16" fmla="*/ 0 w 302"/>
                <a:gd name="T17" fmla="*/ 0 h 361"/>
                <a:gd name="T18" fmla="*/ 0 w 302"/>
                <a:gd name="T19" fmla="*/ 0 h 361"/>
                <a:gd name="T20" fmla="*/ 0 w 302"/>
                <a:gd name="T21" fmla="*/ 0 h 361"/>
                <a:gd name="T22" fmla="*/ 0 w 302"/>
                <a:gd name="T23" fmla="*/ 0 h 361"/>
                <a:gd name="T24" fmla="*/ 0 w 302"/>
                <a:gd name="T25" fmla="*/ 0 h 361"/>
                <a:gd name="T26" fmla="*/ 0 w 302"/>
                <a:gd name="T27" fmla="*/ 0 h 3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02" h="361">
                  <a:moveTo>
                    <a:pt x="0" y="361"/>
                  </a:moveTo>
                  <a:lnTo>
                    <a:pt x="4" y="235"/>
                  </a:lnTo>
                  <a:lnTo>
                    <a:pt x="56" y="102"/>
                  </a:lnTo>
                  <a:lnTo>
                    <a:pt x="240" y="0"/>
                  </a:lnTo>
                  <a:lnTo>
                    <a:pt x="302" y="0"/>
                  </a:lnTo>
                  <a:lnTo>
                    <a:pt x="286" y="55"/>
                  </a:lnTo>
                  <a:lnTo>
                    <a:pt x="192" y="72"/>
                  </a:lnTo>
                  <a:lnTo>
                    <a:pt x="185" y="95"/>
                  </a:lnTo>
                  <a:lnTo>
                    <a:pt x="221" y="134"/>
                  </a:lnTo>
                  <a:lnTo>
                    <a:pt x="185" y="225"/>
                  </a:lnTo>
                  <a:lnTo>
                    <a:pt x="88" y="273"/>
                  </a:lnTo>
                  <a:lnTo>
                    <a:pt x="63" y="331"/>
                  </a:lnTo>
                  <a:lnTo>
                    <a:pt x="0" y="361"/>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38" name="Freeform 88">
              <a:extLst>
                <a:ext uri="{FF2B5EF4-FFF2-40B4-BE49-F238E27FC236}">
                  <a16:creationId xmlns:a16="http://schemas.microsoft.com/office/drawing/2014/main" id="{643A5184-4BC5-E797-C270-B5F6441F2307}"/>
                </a:ext>
              </a:extLst>
            </p:cNvPr>
            <p:cNvSpPr/>
            <p:nvPr/>
          </p:nvSpPr>
          <p:spPr bwMode="auto">
            <a:xfrm>
              <a:off x="4425" y="2870"/>
              <a:ext cx="101" cy="120"/>
            </a:xfrm>
            <a:custGeom>
              <a:gdLst>
                <a:gd name="T0" fmla="*/ 0 w 302"/>
                <a:gd name="T1" fmla="*/ 0 h 361"/>
                <a:gd name="T2" fmla="*/ 0 w 302"/>
                <a:gd name="T3" fmla="*/ 0 h 361"/>
                <a:gd name="T4" fmla="*/ 0 w 302"/>
                <a:gd name="T5" fmla="*/ 0 h 361"/>
                <a:gd name="T6" fmla="*/ 0 w 302"/>
                <a:gd name="T7" fmla="*/ 0 h 361"/>
                <a:gd name="T8" fmla="*/ 0 w 302"/>
                <a:gd name="T9" fmla="*/ 0 h 361"/>
                <a:gd name="T10" fmla="*/ 0 w 302"/>
                <a:gd name="T11" fmla="*/ 0 h 361"/>
                <a:gd name="T12" fmla="*/ 0 w 302"/>
                <a:gd name="T13" fmla="*/ 0 h 361"/>
                <a:gd name="T14" fmla="*/ 0 w 302"/>
                <a:gd name="T15" fmla="*/ 0 h 361"/>
                <a:gd name="T16" fmla="*/ 0 w 302"/>
                <a:gd name="T17" fmla="*/ 0 h 361"/>
                <a:gd name="T18" fmla="*/ 0 w 302"/>
                <a:gd name="T19" fmla="*/ 0 h 361"/>
                <a:gd name="T20" fmla="*/ 0 w 302"/>
                <a:gd name="T21" fmla="*/ 0 h 361"/>
                <a:gd name="T22" fmla="*/ 0 w 302"/>
                <a:gd name="T23" fmla="*/ 0 h 361"/>
                <a:gd name="T24" fmla="*/ 0 w 302"/>
                <a:gd name="T25" fmla="*/ 0 h 361"/>
                <a:gd name="T26" fmla="*/ 0 w 302"/>
                <a:gd name="T27" fmla="*/ 0 h 3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02" h="361">
                  <a:moveTo>
                    <a:pt x="0" y="361"/>
                  </a:moveTo>
                  <a:lnTo>
                    <a:pt x="4" y="235"/>
                  </a:lnTo>
                  <a:lnTo>
                    <a:pt x="56" y="102"/>
                  </a:lnTo>
                  <a:lnTo>
                    <a:pt x="240" y="0"/>
                  </a:lnTo>
                  <a:lnTo>
                    <a:pt x="302" y="0"/>
                  </a:lnTo>
                  <a:lnTo>
                    <a:pt x="286" y="55"/>
                  </a:lnTo>
                  <a:lnTo>
                    <a:pt x="192" y="72"/>
                  </a:lnTo>
                  <a:lnTo>
                    <a:pt x="185" y="95"/>
                  </a:lnTo>
                  <a:lnTo>
                    <a:pt x="221" y="134"/>
                  </a:lnTo>
                  <a:lnTo>
                    <a:pt x="185" y="225"/>
                  </a:lnTo>
                  <a:lnTo>
                    <a:pt x="88" y="273"/>
                  </a:lnTo>
                  <a:lnTo>
                    <a:pt x="63" y="331"/>
                  </a:lnTo>
                  <a:lnTo>
                    <a:pt x="0" y="361"/>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39" name="Freeform 89">
              <a:extLst>
                <a:ext uri="{FF2B5EF4-FFF2-40B4-BE49-F238E27FC236}">
                  <a16:creationId xmlns:a16="http://schemas.microsoft.com/office/drawing/2014/main" id="{BB3593BD-5FC2-BDD8-003D-4940B79898F8}"/>
                </a:ext>
              </a:extLst>
            </p:cNvPr>
            <p:cNvSpPr/>
            <p:nvPr/>
          </p:nvSpPr>
          <p:spPr bwMode="auto">
            <a:xfrm>
              <a:off x="4283" y="3029"/>
              <a:ext cx="105" cy="32"/>
            </a:xfrm>
            <a:custGeom>
              <a:gdLst>
                <a:gd name="T0" fmla="*/ 0 w 314"/>
                <a:gd name="T1" fmla="*/ 0 h 94"/>
                <a:gd name="T2" fmla="*/ 0 w 314"/>
                <a:gd name="T3" fmla="*/ 0 h 94"/>
                <a:gd name="T4" fmla="*/ 0 w 314"/>
                <a:gd name="T5" fmla="*/ 0 h 94"/>
                <a:gd name="T6" fmla="*/ 0 w 314"/>
                <a:gd name="T7" fmla="*/ 0 h 94"/>
                <a:gd name="T8" fmla="*/ 0 w 314"/>
                <a:gd name="T9" fmla="*/ 0 h 94"/>
                <a:gd name="T10" fmla="*/ 0 w 314"/>
                <a:gd name="T11" fmla="*/ 0 h 94"/>
                <a:gd name="T12" fmla="*/ 0 w 314"/>
                <a:gd name="T13" fmla="*/ 0 h 94"/>
                <a:gd name="T14" fmla="*/ 0 w 314"/>
                <a:gd name="T15" fmla="*/ 0 h 94"/>
                <a:gd name="T16" fmla="*/ 0 w 314"/>
                <a:gd name="T17" fmla="*/ 0 h 94"/>
                <a:gd name="T18" fmla="*/ 0 w 314"/>
                <a:gd name="T19" fmla="*/ 0 h 94"/>
                <a:gd name="T20" fmla="*/ 0 w 314"/>
                <a:gd name="T21" fmla="*/ 0 h 94"/>
                <a:gd name="T22" fmla="*/ 0 w 314"/>
                <a:gd name="T23" fmla="*/ 0 h 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14" h="94">
                  <a:moveTo>
                    <a:pt x="25" y="15"/>
                  </a:moveTo>
                  <a:lnTo>
                    <a:pt x="146" y="0"/>
                  </a:lnTo>
                  <a:lnTo>
                    <a:pt x="262" y="31"/>
                  </a:lnTo>
                  <a:lnTo>
                    <a:pt x="295" y="31"/>
                  </a:lnTo>
                  <a:lnTo>
                    <a:pt x="314" y="65"/>
                  </a:lnTo>
                  <a:lnTo>
                    <a:pt x="258" y="70"/>
                  </a:lnTo>
                  <a:lnTo>
                    <a:pt x="190" y="54"/>
                  </a:lnTo>
                  <a:lnTo>
                    <a:pt x="77" y="80"/>
                  </a:lnTo>
                  <a:lnTo>
                    <a:pt x="25" y="94"/>
                  </a:lnTo>
                  <a:lnTo>
                    <a:pt x="0" y="47"/>
                  </a:lnTo>
                  <a:lnTo>
                    <a:pt x="25" y="15"/>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40" name="Freeform 90">
              <a:extLst>
                <a:ext uri="{FF2B5EF4-FFF2-40B4-BE49-F238E27FC236}">
                  <a16:creationId xmlns:a16="http://schemas.microsoft.com/office/drawing/2014/main" id="{AF7185D5-F588-4E46-0085-62161D29E3B9}"/>
                </a:ext>
              </a:extLst>
            </p:cNvPr>
            <p:cNvSpPr/>
            <p:nvPr/>
          </p:nvSpPr>
          <p:spPr bwMode="auto">
            <a:xfrm>
              <a:off x="4283" y="3029"/>
              <a:ext cx="105" cy="32"/>
            </a:xfrm>
            <a:custGeom>
              <a:gdLst>
                <a:gd name="T0" fmla="*/ 0 w 314"/>
                <a:gd name="T1" fmla="*/ 0 h 94"/>
                <a:gd name="T2" fmla="*/ 0 w 314"/>
                <a:gd name="T3" fmla="*/ 0 h 94"/>
                <a:gd name="T4" fmla="*/ 0 w 314"/>
                <a:gd name="T5" fmla="*/ 0 h 94"/>
                <a:gd name="T6" fmla="*/ 0 w 314"/>
                <a:gd name="T7" fmla="*/ 0 h 94"/>
                <a:gd name="T8" fmla="*/ 0 w 314"/>
                <a:gd name="T9" fmla="*/ 0 h 94"/>
                <a:gd name="T10" fmla="*/ 0 w 314"/>
                <a:gd name="T11" fmla="*/ 0 h 94"/>
                <a:gd name="T12" fmla="*/ 0 w 314"/>
                <a:gd name="T13" fmla="*/ 0 h 94"/>
                <a:gd name="T14" fmla="*/ 0 w 314"/>
                <a:gd name="T15" fmla="*/ 0 h 94"/>
                <a:gd name="T16" fmla="*/ 0 w 314"/>
                <a:gd name="T17" fmla="*/ 0 h 94"/>
                <a:gd name="T18" fmla="*/ 0 w 314"/>
                <a:gd name="T19" fmla="*/ 0 h 94"/>
                <a:gd name="T20" fmla="*/ 0 w 314"/>
                <a:gd name="T21" fmla="*/ 0 h 94"/>
                <a:gd name="T22" fmla="*/ 0 w 314"/>
                <a:gd name="T23" fmla="*/ 0 h 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14" h="94">
                  <a:moveTo>
                    <a:pt x="25" y="15"/>
                  </a:moveTo>
                  <a:lnTo>
                    <a:pt x="146" y="0"/>
                  </a:lnTo>
                  <a:lnTo>
                    <a:pt x="262" y="31"/>
                  </a:lnTo>
                  <a:lnTo>
                    <a:pt x="295" y="31"/>
                  </a:lnTo>
                  <a:lnTo>
                    <a:pt x="314" y="65"/>
                  </a:lnTo>
                  <a:lnTo>
                    <a:pt x="258" y="70"/>
                  </a:lnTo>
                  <a:lnTo>
                    <a:pt x="190" y="54"/>
                  </a:lnTo>
                  <a:lnTo>
                    <a:pt x="77" y="80"/>
                  </a:lnTo>
                  <a:lnTo>
                    <a:pt x="25" y="94"/>
                  </a:lnTo>
                  <a:lnTo>
                    <a:pt x="0" y="47"/>
                  </a:lnTo>
                  <a:lnTo>
                    <a:pt x="25" y="15"/>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41" name="Freeform 91">
              <a:extLst>
                <a:ext uri="{FF2B5EF4-FFF2-40B4-BE49-F238E27FC236}">
                  <a16:creationId xmlns:a16="http://schemas.microsoft.com/office/drawing/2014/main" id="{07CEB921-0C57-1FD5-26F8-E9AD6E67FAFD}"/>
                </a:ext>
              </a:extLst>
            </p:cNvPr>
            <p:cNvSpPr/>
            <p:nvPr/>
          </p:nvSpPr>
          <p:spPr bwMode="auto">
            <a:xfrm>
              <a:off x="4474" y="2725"/>
              <a:ext cx="88" cy="67"/>
            </a:xfrm>
            <a:custGeom>
              <a:gdLst>
                <a:gd name="T0" fmla="*/ 0 w 262"/>
                <a:gd name="T1" fmla="*/ 0 h 201"/>
                <a:gd name="T2" fmla="*/ 0 w 262"/>
                <a:gd name="T3" fmla="*/ 0 h 201"/>
                <a:gd name="T4" fmla="*/ 0 w 262"/>
                <a:gd name="T5" fmla="*/ 0 h 201"/>
                <a:gd name="T6" fmla="*/ 0 w 262"/>
                <a:gd name="T7" fmla="*/ 0 h 201"/>
                <a:gd name="T8" fmla="*/ 0 w 262"/>
                <a:gd name="T9" fmla="*/ 0 h 201"/>
                <a:gd name="T10" fmla="*/ 0 w 262"/>
                <a:gd name="T11" fmla="*/ 0 h 201"/>
                <a:gd name="T12" fmla="*/ 0 w 262"/>
                <a:gd name="T13" fmla="*/ 0 h 201"/>
                <a:gd name="T14" fmla="*/ 0 w 262"/>
                <a:gd name="T15" fmla="*/ 0 h 201"/>
                <a:gd name="T16" fmla="*/ 0 w 262"/>
                <a:gd name="T17" fmla="*/ 0 h 2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2" h="201">
                  <a:moveTo>
                    <a:pt x="0" y="112"/>
                  </a:moveTo>
                  <a:lnTo>
                    <a:pt x="27" y="56"/>
                  </a:lnTo>
                  <a:lnTo>
                    <a:pt x="146" y="26"/>
                  </a:lnTo>
                  <a:lnTo>
                    <a:pt x="175" y="0"/>
                  </a:lnTo>
                  <a:lnTo>
                    <a:pt x="262" y="0"/>
                  </a:lnTo>
                  <a:lnTo>
                    <a:pt x="175" y="201"/>
                  </a:lnTo>
                  <a:lnTo>
                    <a:pt x="146" y="112"/>
                  </a:lnTo>
                  <a:lnTo>
                    <a:pt x="0" y="112"/>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42" name="Freeform 92">
              <a:extLst>
                <a:ext uri="{FF2B5EF4-FFF2-40B4-BE49-F238E27FC236}">
                  <a16:creationId xmlns:a16="http://schemas.microsoft.com/office/drawing/2014/main" id="{67D8CC63-9C8E-F55C-907A-460F56ACECDC}"/>
                </a:ext>
              </a:extLst>
            </p:cNvPr>
            <p:cNvSpPr/>
            <p:nvPr/>
          </p:nvSpPr>
          <p:spPr bwMode="auto">
            <a:xfrm>
              <a:off x="4474" y="2725"/>
              <a:ext cx="88" cy="67"/>
            </a:xfrm>
            <a:custGeom>
              <a:gdLst>
                <a:gd name="T0" fmla="*/ 0 w 262"/>
                <a:gd name="T1" fmla="*/ 0 h 201"/>
                <a:gd name="T2" fmla="*/ 0 w 262"/>
                <a:gd name="T3" fmla="*/ 0 h 201"/>
                <a:gd name="T4" fmla="*/ 0 w 262"/>
                <a:gd name="T5" fmla="*/ 0 h 201"/>
                <a:gd name="T6" fmla="*/ 0 w 262"/>
                <a:gd name="T7" fmla="*/ 0 h 201"/>
                <a:gd name="T8" fmla="*/ 0 w 262"/>
                <a:gd name="T9" fmla="*/ 0 h 201"/>
                <a:gd name="T10" fmla="*/ 0 w 262"/>
                <a:gd name="T11" fmla="*/ 0 h 201"/>
                <a:gd name="T12" fmla="*/ 0 w 262"/>
                <a:gd name="T13" fmla="*/ 0 h 201"/>
                <a:gd name="T14" fmla="*/ 0 w 262"/>
                <a:gd name="T15" fmla="*/ 0 h 201"/>
                <a:gd name="T16" fmla="*/ 0 w 262"/>
                <a:gd name="T17" fmla="*/ 0 h 2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2" h="201">
                  <a:moveTo>
                    <a:pt x="0" y="112"/>
                  </a:moveTo>
                  <a:lnTo>
                    <a:pt x="27" y="56"/>
                  </a:lnTo>
                  <a:lnTo>
                    <a:pt x="146" y="26"/>
                  </a:lnTo>
                  <a:lnTo>
                    <a:pt x="175" y="0"/>
                  </a:lnTo>
                  <a:lnTo>
                    <a:pt x="262" y="0"/>
                  </a:lnTo>
                  <a:lnTo>
                    <a:pt x="175" y="201"/>
                  </a:lnTo>
                  <a:lnTo>
                    <a:pt x="146" y="112"/>
                  </a:lnTo>
                  <a:lnTo>
                    <a:pt x="0" y="112"/>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43" name="Freeform 93">
              <a:extLst>
                <a:ext uri="{FF2B5EF4-FFF2-40B4-BE49-F238E27FC236}">
                  <a16:creationId xmlns:a16="http://schemas.microsoft.com/office/drawing/2014/main" id="{B87E9BCC-4975-9BF8-4B33-2C465D9F33AC}"/>
                </a:ext>
              </a:extLst>
            </p:cNvPr>
            <p:cNvSpPr/>
            <p:nvPr/>
          </p:nvSpPr>
          <p:spPr bwMode="auto">
            <a:xfrm>
              <a:off x="4435" y="2579"/>
              <a:ext cx="48" cy="88"/>
            </a:xfrm>
            <a:custGeom>
              <a:gdLst>
                <a:gd name="T0" fmla="*/ 0 w 146"/>
                <a:gd name="T1" fmla="*/ 0 h 263"/>
                <a:gd name="T2" fmla="*/ 0 w 146"/>
                <a:gd name="T3" fmla="*/ 0 h 263"/>
                <a:gd name="T4" fmla="*/ 0 w 146"/>
                <a:gd name="T5" fmla="*/ 0 h 263"/>
                <a:gd name="T6" fmla="*/ 0 w 146"/>
                <a:gd name="T7" fmla="*/ 0 h 263"/>
                <a:gd name="T8" fmla="*/ 0 w 146"/>
                <a:gd name="T9" fmla="*/ 0 h 263"/>
                <a:gd name="T10" fmla="*/ 0 w 146"/>
                <a:gd name="T11" fmla="*/ 0 h 263"/>
                <a:gd name="T12" fmla="*/ 0 w 146"/>
                <a:gd name="T13" fmla="*/ 0 h 263"/>
                <a:gd name="T14" fmla="*/ 0 w 146"/>
                <a:gd name="T15" fmla="*/ 0 h 263"/>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6" h="263">
                  <a:moveTo>
                    <a:pt x="63" y="0"/>
                  </a:moveTo>
                  <a:lnTo>
                    <a:pt x="63" y="117"/>
                  </a:lnTo>
                  <a:lnTo>
                    <a:pt x="0" y="202"/>
                  </a:lnTo>
                  <a:lnTo>
                    <a:pt x="0" y="263"/>
                  </a:lnTo>
                  <a:lnTo>
                    <a:pt x="119" y="144"/>
                  </a:lnTo>
                  <a:lnTo>
                    <a:pt x="146" y="0"/>
                  </a:lnTo>
                  <a:lnTo>
                    <a:pt x="63"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44" name="Freeform 94">
              <a:extLst>
                <a:ext uri="{FF2B5EF4-FFF2-40B4-BE49-F238E27FC236}">
                  <a16:creationId xmlns:a16="http://schemas.microsoft.com/office/drawing/2014/main" id="{EF2F1598-79CC-5A95-517C-6A9C87545EDC}"/>
                </a:ext>
              </a:extLst>
            </p:cNvPr>
            <p:cNvSpPr/>
            <p:nvPr/>
          </p:nvSpPr>
          <p:spPr bwMode="auto">
            <a:xfrm>
              <a:off x="4435" y="2579"/>
              <a:ext cx="48" cy="88"/>
            </a:xfrm>
            <a:custGeom>
              <a:gdLst>
                <a:gd name="T0" fmla="*/ 0 w 146"/>
                <a:gd name="T1" fmla="*/ 0 h 263"/>
                <a:gd name="T2" fmla="*/ 0 w 146"/>
                <a:gd name="T3" fmla="*/ 0 h 263"/>
                <a:gd name="T4" fmla="*/ 0 w 146"/>
                <a:gd name="T5" fmla="*/ 0 h 263"/>
                <a:gd name="T6" fmla="*/ 0 w 146"/>
                <a:gd name="T7" fmla="*/ 0 h 263"/>
                <a:gd name="T8" fmla="*/ 0 w 146"/>
                <a:gd name="T9" fmla="*/ 0 h 263"/>
                <a:gd name="T10" fmla="*/ 0 w 146"/>
                <a:gd name="T11" fmla="*/ 0 h 263"/>
                <a:gd name="T12" fmla="*/ 0 w 146"/>
                <a:gd name="T13" fmla="*/ 0 h 263"/>
                <a:gd name="T14" fmla="*/ 0 w 146"/>
                <a:gd name="T15" fmla="*/ 0 h 263"/>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6" h="263">
                  <a:moveTo>
                    <a:pt x="63" y="0"/>
                  </a:moveTo>
                  <a:lnTo>
                    <a:pt x="63" y="117"/>
                  </a:lnTo>
                  <a:lnTo>
                    <a:pt x="0" y="202"/>
                  </a:lnTo>
                  <a:lnTo>
                    <a:pt x="0" y="263"/>
                  </a:lnTo>
                  <a:lnTo>
                    <a:pt x="119" y="144"/>
                  </a:lnTo>
                  <a:lnTo>
                    <a:pt x="146" y="0"/>
                  </a:lnTo>
                  <a:lnTo>
                    <a:pt x="63"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45" name="Freeform 95">
              <a:extLst>
                <a:ext uri="{FF2B5EF4-FFF2-40B4-BE49-F238E27FC236}">
                  <a16:creationId xmlns:a16="http://schemas.microsoft.com/office/drawing/2014/main" id="{C19FC4EC-05C0-B6AF-D199-3DE44EBB324E}"/>
                </a:ext>
              </a:extLst>
            </p:cNvPr>
            <p:cNvSpPr/>
            <p:nvPr/>
          </p:nvSpPr>
          <p:spPr bwMode="auto">
            <a:xfrm>
              <a:off x="2933" y="1127"/>
              <a:ext cx="50" cy="50"/>
            </a:xfrm>
            <a:custGeom>
              <a:gdLst>
                <a:gd name="T0" fmla="*/ 0 w 151"/>
                <a:gd name="T1" fmla="*/ 0 h 150"/>
                <a:gd name="T2" fmla="*/ 0 w 151"/>
                <a:gd name="T3" fmla="*/ 0 h 150"/>
                <a:gd name="T4" fmla="*/ 0 w 151"/>
                <a:gd name="T5" fmla="*/ 0 h 150"/>
                <a:gd name="T6" fmla="*/ 0 w 151"/>
                <a:gd name="T7" fmla="*/ 0 h 150"/>
                <a:gd name="T8" fmla="*/ 0 w 151"/>
                <a:gd name="T9" fmla="*/ 0 h 150"/>
                <a:gd name="T10" fmla="*/ 0 w 151"/>
                <a:gd name="T11" fmla="*/ 0 h 150"/>
                <a:gd name="T12" fmla="*/ 0 w 151"/>
                <a:gd name="T13" fmla="*/ 0 h 150"/>
                <a:gd name="T14" fmla="*/ 0 w 151"/>
                <a:gd name="T15" fmla="*/ 0 h 150"/>
                <a:gd name="T16" fmla="*/ 0 w 151"/>
                <a:gd name="T17" fmla="*/ 0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1" h="150">
                  <a:moveTo>
                    <a:pt x="0" y="29"/>
                  </a:moveTo>
                  <a:lnTo>
                    <a:pt x="30" y="150"/>
                  </a:lnTo>
                  <a:lnTo>
                    <a:pt x="78" y="134"/>
                  </a:lnTo>
                  <a:lnTo>
                    <a:pt x="93" y="105"/>
                  </a:lnTo>
                  <a:lnTo>
                    <a:pt x="151" y="92"/>
                  </a:lnTo>
                  <a:lnTo>
                    <a:pt x="151" y="32"/>
                  </a:lnTo>
                  <a:lnTo>
                    <a:pt x="85" y="0"/>
                  </a:lnTo>
                  <a:lnTo>
                    <a:pt x="0" y="29"/>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46" name="Freeform 96">
              <a:extLst>
                <a:ext uri="{FF2B5EF4-FFF2-40B4-BE49-F238E27FC236}">
                  <a16:creationId xmlns:a16="http://schemas.microsoft.com/office/drawing/2014/main" id="{95024E21-E476-4CFE-6734-52203798AE63}"/>
                </a:ext>
              </a:extLst>
            </p:cNvPr>
            <p:cNvSpPr/>
            <p:nvPr/>
          </p:nvSpPr>
          <p:spPr bwMode="auto">
            <a:xfrm>
              <a:off x="2933" y="1127"/>
              <a:ext cx="50" cy="50"/>
            </a:xfrm>
            <a:custGeom>
              <a:gdLst>
                <a:gd name="T0" fmla="*/ 0 w 151"/>
                <a:gd name="T1" fmla="*/ 0 h 150"/>
                <a:gd name="T2" fmla="*/ 0 w 151"/>
                <a:gd name="T3" fmla="*/ 0 h 150"/>
                <a:gd name="T4" fmla="*/ 0 w 151"/>
                <a:gd name="T5" fmla="*/ 0 h 150"/>
                <a:gd name="T6" fmla="*/ 0 w 151"/>
                <a:gd name="T7" fmla="*/ 0 h 150"/>
                <a:gd name="T8" fmla="*/ 0 w 151"/>
                <a:gd name="T9" fmla="*/ 0 h 150"/>
                <a:gd name="T10" fmla="*/ 0 w 151"/>
                <a:gd name="T11" fmla="*/ 0 h 150"/>
                <a:gd name="T12" fmla="*/ 0 w 151"/>
                <a:gd name="T13" fmla="*/ 0 h 150"/>
                <a:gd name="T14" fmla="*/ 0 w 151"/>
                <a:gd name="T15" fmla="*/ 0 h 150"/>
                <a:gd name="T16" fmla="*/ 0 w 151"/>
                <a:gd name="T17" fmla="*/ 0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1" h="150">
                  <a:moveTo>
                    <a:pt x="0" y="29"/>
                  </a:moveTo>
                  <a:lnTo>
                    <a:pt x="30" y="150"/>
                  </a:lnTo>
                  <a:lnTo>
                    <a:pt x="78" y="134"/>
                  </a:lnTo>
                  <a:lnTo>
                    <a:pt x="93" y="105"/>
                  </a:lnTo>
                  <a:lnTo>
                    <a:pt x="151" y="92"/>
                  </a:lnTo>
                  <a:lnTo>
                    <a:pt x="151" y="32"/>
                  </a:lnTo>
                  <a:lnTo>
                    <a:pt x="85" y="0"/>
                  </a:lnTo>
                  <a:lnTo>
                    <a:pt x="0" y="29"/>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47" name="Freeform 97">
              <a:extLst>
                <a:ext uri="{FF2B5EF4-FFF2-40B4-BE49-F238E27FC236}">
                  <a16:creationId xmlns:a16="http://schemas.microsoft.com/office/drawing/2014/main" id="{3E865987-8B59-CF96-8481-388CE83FA7AE}"/>
                </a:ext>
              </a:extLst>
            </p:cNvPr>
            <p:cNvSpPr/>
            <p:nvPr/>
          </p:nvSpPr>
          <p:spPr bwMode="auto">
            <a:xfrm>
              <a:off x="2825" y="1133"/>
              <a:ext cx="98" cy="154"/>
            </a:xfrm>
            <a:custGeom>
              <a:gdLst>
                <a:gd name="T0" fmla="*/ 0 w 295"/>
                <a:gd name="T1" fmla="*/ 0 h 462"/>
                <a:gd name="T2" fmla="*/ 0 w 295"/>
                <a:gd name="T3" fmla="*/ 0 h 462"/>
                <a:gd name="T4" fmla="*/ 0 w 295"/>
                <a:gd name="T5" fmla="*/ 0 h 462"/>
                <a:gd name="T6" fmla="*/ 0 w 295"/>
                <a:gd name="T7" fmla="*/ 0 h 462"/>
                <a:gd name="T8" fmla="*/ 0 w 295"/>
                <a:gd name="T9" fmla="*/ 0 h 462"/>
                <a:gd name="T10" fmla="*/ 0 w 295"/>
                <a:gd name="T11" fmla="*/ 0 h 462"/>
                <a:gd name="T12" fmla="*/ 0 w 295"/>
                <a:gd name="T13" fmla="*/ 0 h 462"/>
                <a:gd name="T14" fmla="*/ 0 w 295"/>
                <a:gd name="T15" fmla="*/ 0 h 462"/>
                <a:gd name="T16" fmla="*/ 0 w 295"/>
                <a:gd name="T17" fmla="*/ 0 h 462"/>
                <a:gd name="T18" fmla="*/ 0 w 295"/>
                <a:gd name="T19" fmla="*/ 0 h 462"/>
                <a:gd name="T20" fmla="*/ 0 w 295"/>
                <a:gd name="T21" fmla="*/ 0 h 462"/>
                <a:gd name="T22" fmla="*/ 0 w 295"/>
                <a:gd name="T23" fmla="*/ 0 h 462"/>
                <a:gd name="T24" fmla="*/ 0 w 295"/>
                <a:gd name="T25" fmla="*/ 0 h 462"/>
                <a:gd name="T26" fmla="*/ 0 w 295"/>
                <a:gd name="T27" fmla="*/ 0 h 462"/>
                <a:gd name="T28" fmla="*/ 0 w 295"/>
                <a:gd name="T29" fmla="*/ 0 h 462"/>
                <a:gd name="T30" fmla="*/ 0 w 295"/>
                <a:gd name="T31" fmla="*/ 0 h 462"/>
                <a:gd name="T32" fmla="*/ 0 w 295"/>
                <a:gd name="T33" fmla="*/ 0 h 4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5" h="462">
                  <a:moveTo>
                    <a:pt x="95" y="0"/>
                  </a:moveTo>
                  <a:lnTo>
                    <a:pt x="63" y="26"/>
                  </a:lnTo>
                  <a:lnTo>
                    <a:pt x="0" y="4"/>
                  </a:lnTo>
                  <a:lnTo>
                    <a:pt x="0" y="115"/>
                  </a:lnTo>
                  <a:lnTo>
                    <a:pt x="70" y="205"/>
                  </a:lnTo>
                  <a:lnTo>
                    <a:pt x="188" y="169"/>
                  </a:lnTo>
                  <a:lnTo>
                    <a:pt x="196" y="201"/>
                  </a:lnTo>
                  <a:lnTo>
                    <a:pt x="134" y="253"/>
                  </a:lnTo>
                  <a:lnTo>
                    <a:pt x="172" y="258"/>
                  </a:lnTo>
                  <a:lnTo>
                    <a:pt x="140" y="328"/>
                  </a:lnTo>
                  <a:lnTo>
                    <a:pt x="201" y="462"/>
                  </a:lnTo>
                  <a:lnTo>
                    <a:pt x="295" y="144"/>
                  </a:lnTo>
                  <a:lnTo>
                    <a:pt x="196" y="49"/>
                  </a:lnTo>
                  <a:lnTo>
                    <a:pt x="114" y="102"/>
                  </a:lnTo>
                  <a:lnTo>
                    <a:pt x="146" y="10"/>
                  </a:lnTo>
                  <a:lnTo>
                    <a:pt x="95"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48" name="Freeform 98">
              <a:extLst>
                <a:ext uri="{FF2B5EF4-FFF2-40B4-BE49-F238E27FC236}">
                  <a16:creationId xmlns:a16="http://schemas.microsoft.com/office/drawing/2014/main" id="{3B36A142-8ED0-7F39-EE4B-5A01C219044F}"/>
                </a:ext>
              </a:extLst>
            </p:cNvPr>
            <p:cNvSpPr/>
            <p:nvPr/>
          </p:nvSpPr>
          <p:spPr bwMode="auto">
            <a:xfrm>
              <a:off x="2825" y="1133"/>
              <a:ext cx="98" cy="154"/>
            </a:xfrm>
            <a:custGeom>
              <a:gdLst>
                <a:gd name="T0" fmla="*/ 0 w 295"/>
                <a:gd name="T1" fmla="*/ 0 h 462"/>
                <a:gd name="T2" fmla="*/ 0 w 295"/>
                <a:gd name="T3" fmla="*/ 0 h 462"/>
                <a:gd name="T4" fmla="*/ 0 w 295"/>
                <a:gd name="T5" fmla="*/ 0 h 462"/>
                <a:gd name="T6" fmla="*/ 0 w 295"/>
                <a:gd name="T7" fmla="*/ 0 h 462"/>
                <a:gd name="T8" fmla="*/ 0 w 295"/>
                <a:gd name="T9" fmla="*/ 0 h 462"/>
                <a:gd name="T10" fmla="*/ 0 w 295"/>
                <a:gd name="T11" fmla="*/ 0 h 462"/>
                <a:gd name="T12" fmla="*/ 0 w 295"/>
                <a:gd name="T13" fmla="*/ 0 h 462"/>
                <a:gd name="T14" fmla="*/ 0 w 295"/>
                <a:gd name="T15" fmla="*/ 0 h 462"/>
                <a:gd name="T16" fmla="*/ 0 w 295"/>
                <a:gd name="T17" fmla="*/ 0 h 462"/>
                <a:gd name="T18" fmla="*/ 0 w 295"/>
                <a:gd name="T19" fmla="*/ 0 h 462"/>
                <a:gd name="T20" fmla="*/ 0 w 295"/>
                <a:gd name="T21" fmla="*/ 0 h 462"/>
                <a:gd name="T22" fmla="*/ 0 w 295"/>
                <a:gd name="T23" fmla="*/ 0 h 462"/>
                <a:gd name="T24" fmla="*/ 0 w 295"/>
                <a:gd name="T25" fmla="*/ 0 h 462"/>
                <a:gd name="T26" fmla="*/ 0 w 295"/>
                <a:gd name="T27" fmla="*/ 0 h 462"/>
                <a:gd name="T28" fmla="*/ 0 w 295"/>
                <a:gd name="T29" fmla="*/ 0 h 462"/>
                <a:gd name="T30" fmla="*/ 0 w 295"/>
                <a:gd name="T31" fmla="*/ 0 h 462"/>
                <a:gd name="T32" fmla="*/ 0 w 295"/>
                <a:gd name="T33" fmla="*/ 0 h 4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5" h="462">
                  <a:moveTo>
                    <a:pt x="95" y="0"/>
                  </a:moveTo>
                  <a:lnTo>
                    <a:pt x="63" y="26"/>
                  </a:lnTo>
                  <a:lnTo>
                    <a:pt x="0" y="4"/>
                  </a:lnTo>
                  <a:lnTo>
                    <a:pt x="0" y="115"/>
                  </a:lnTo>
                  <a:lnTo>
                    <a:pt x="70" y="205"/>
                  </a:lnTo>
                  <a:lnTo>
                    <a:pt x="188" y="169"/>
                  </a:lnTo>
                  <a:lnTo>
                    <a:pt x="196" y="201"/>
                  </a:lnTo>
                  <a:lnTo>
                    <a:pt x="134" y="253"/>
                  </a:lnTo>
                  <a:lnTo>
                    <a:pt x="172" y="258"/>
                  </a:lnTo>
                  <a:lnTo>
                    <a:pt x="140" y="328"/>
                  </a:lnTo>
                  <a:lnTo>
                    <a:pt x="201" y="462"/>
                  </a:lnTo>
                  <a:lnTo>
                    <a:pt x="295" y="144"/>
                  </a:lnTo>
                  <a:lnTo>
                    <a:pt x="196" y="49"/>
                  </a:lnTo>
                  <a:lnTo>
                    <a:pt x="114" y="102"/>
                  </a:lnTo>
                  <a:lnTo>
                    <a:pt x="146" y="10"/>
                  </a:lnTo>
                  <a:lnTo>
                    <a:pt x="95"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49" name="Freeform 99">
              <a:extLst>
                <a:ext uri="{FF2B5EF4-FFF2-40B4-BE49-F238E27FC236}">
                  <a16:creationId xmlns:a16="http://schemas.microsoft.com/office/drawing/2014/main" id="{43540DCC-E4CA-04D7-F796-8F1207389805}"/>
                </a:ext>
              </a:extLst>
            </p:cNvPr>
            <p:cNvSpPr/>
            <p:nvPr/>
          </p:nvSpPr>
          <p:spPr bwMode="auto">
            <a:xfrm>
              <a:off x="2933" y="1218"/>
              <a:ext cx="23" cy="38"/>
            </a:xfrm>
            <a:custGeom>
              <a:gdLst>
                <a:gd name="T0" fmla="*/ 0 w 69"/>
                <a:gd name="T1" fmla="*/ 0 h 114"/>
                <a:gd name="T2" fmla="*/ 0 w 69"/>
                <a:gd name="T3" fmla="*/ 0 h 114"/>
                <a:gd name="T4" fmla="*/ 0 w 69"/>
                <a:gd name="T5" fmla="*/ 0 h 114"/>
                <a:gd name="T6" fmla="*/ 0 w 69"/>
                <a:gd name="T7" fmla="*/ 0 h 114"/>
                <a:gd name="T8" fmla="*/ 0 w 69"/>
                <a:gd name="T9" fmla="*/ 0 h 114"/>
                <a:gd name="T10" fmla="*/ 0 w 69"/>
                <a:gd name="T11" fmla="*/ 0 h 114"/>
                <a:gd name="T12" fmla="*/ 0 w 69"/>
                <a:gd name="T13" fmla="*/ 0 h 114"/>
                <a:gd name="T14" fmla="*/ 0 w 69"/>
                <a:gd name="T15" fmla="*/ 0 h 114"/>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9" h="114">
                  <a:moveTo>
                    <a:pt x="7" y="0"/>
                  </a:moveTo>
                  <a:lnTo>
                    <a:pt x="0" y="36"/>
                  </a:lnTo>
                  <a:lnTo>
                    <a:pt x="21" y="114"/>
                  </a:lnTo>
                  <a:lnTo>
                    <a:pt x="69" y="74"/>
                  </a:lnTo>
                  <a:lnTo>
                    <a:pt x="31" y="39"/>
                  </a:lnTo>
                  <a:lnTo>
                    <a:pt x="37" y="7"/>
                  </a:lnTo>
                  <a:lnTo>
                    <a:pt x="7"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50" name="Freeform 100">
              <a:extLst>
                <a:ext uri="{FF2B5EF4-FFF2-40B4-BE49-F238E27FC236}">
                  <a16:creationId xmlns:a16="http://schemas.microsoft.com/office/drawing/2014/main" id="{13B04CA0-B48A-E60C-46D0-0737C8A2BF39}"/>
                </a:ext>
              </a:extLst>
            </p:cNvPr>
            <p:cNvSpPr/>
            <p:nvPr/>
          </p:nvSpPr>
          <p:spPr bwMode="auto">
            <a:xfrm>
              <a:off x="2933" y="1218"/>
              <a:ext cx="23" cy="38"/>
            </a:xfrm>
            <a:custGeom>
              <a:gdLst>
                <a:gd name="T0" fmla="*/ 0 w 69"/>
                <a:gd name="T1" fmla="*/ 0 h 114"/>
                <a:gd name="T2" fmla="*/ 0 w 69"/>
                <a:gd name="T3" fmla="*/ 0 h 114"/>
                <a:gd name="T4" fmla="*/ 0 w 69"/>
                <a:gd name="T5" fmla="*/ 0 h 114"/>
                <a:gd name="T6" fmla="*/ 0 w 69"/>
                <a:gd name="T7" fmla="*/ 0 h 114"/>
                <a:gd name="T8" fmla="*/ 0 w 69"/>
                <a:gd name="T9" fmla="*/ 0 h 114"/>
                <a:gd name="T10" fmla="*/ 0 w 69"/>
                <a:gd name="T11" fmla="*/ 0 h 114"/>
                <a:gd name="T12" fmla="*/ 0 w 69"/>
                <a:gd name="T13" fmla="*/ 0 h 114"/>
                <a:gd name="T14" fmla="*/ 0 w 69"/>
                <a:gd name="T15" fmla="*/ 0 h 114"/>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9" h="114">
                  <a:moveTo>
                    <a:pt x="7" y="0"/>
                  </a:moveTo>
                  <a:lnTo>
                    <a:pt x="0" y="36"/>
                  </a:lnTo>
                  <a:lnTo>
                    <a:pt x="21" y="114"/>
                  </a:lnTo>
                  <a:lnTo>
                    <a:pt x="69" y="74"/>
                  </a:lnTo>
                  <a:lnTo>
                    <a:pt x="31" y="39"/>
                  </a:lnTo>
                  <a:lnTo>
                    <a:pt x="37" y="7"/>
                  </a:lnTo>
                  <a:lnTo>
                    <a:pt x="7"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51" name="Freeform 101">
              <a:extLst>
                <a:ext uri="{FF2B5EF4-FFF2-40B4-BE49-F238E27FC236}">
                  <a16:creationId xmlns:a16="http://schemas.microsoft.com/office/drawing/2014/main" id="{CAE8030A-08FF-80BD-10B0-ABE3565995EE}"/>
                </a:ext>
              </a:extLst>
            </p:cNvPr>
            <p:cNvSpPr/>
            <p:nvPr/>
          </p:nvSpPr>
          <p:spPr bwMode="auto">
            <a:xfrm>
              <a:off x="3288" y="1377"/>
              <a:ext cx="86" cy="93"/>
            </a:xfrm>
            <a:custGeom>
              <a:gdLst>
                <a:gd name="T0" fmla="*/ 0 w 258"/>
                <a:gd name="T1" fmla="*/ 0 h 280"/>
                <a:gd name="T2" fmla="*/ 0 w 258"/>
                <a:gd name="T3" fmla="*/ 0 h 280"/>
                <a:gd name="T4" fmla="*/ 0 w 258"/>
                <a:gd name="T5" fmla="*/ 0 h 280"/>
                <a:gd name="T6" fmla="*/ 0 w 258"/>
                <a:gd name="T7" fmla="*/ 0 h 280"/>
                <a:gd name="T8" fmla="*/ 0 w 258"/>
                <a:gd name="T9" fmla="*/ 0 h 280"/>
                <a:gd name="T10" fmla="*/ 0 w 258"/>
                <a:gd name="T11" fmla="*/ 0 h 280"/>
                <a:gd name="T12" fmla="*/ 0 w 258"/>
                <a:gd name="T13" fmla="*/ 0 h 280"/>
                <a:gd name="T14" fmla="*/ 0 w 258"/>
                <a:gd name="T15" fmla="*/ 0 h 280"/>
                <a:gd name="T16" fmla="*/ 0 w 258"/>
                <a:gd name="T17" fmla="*/ 0 h 280"/>
                <a:gd name="T18" fmla="*/ 0 w 258"/>
                <a:gd name="T19" fmla="*/ 0 h 280"/>
                <a:gd name="T20" fmla="*/ 0 w 258"/>
                <a:gd name="T21" fmla="*/ 0 h 280"/>
                <a:gd name="T22" fmla="*/ 0 w 258"/>
                <a:gd name="T23" fmla="*/ 0 h 280"/>
                <a:gd name="T24" fmla="*/ 0 w 258"/>
                <a:gd name="T25" fmla="*/ 0 h 280"/>
                <a:gd name="T26" fmla="*/ 0 w 258"/>
                <a:gd name="T27" fmla="*/ 0 h 280"/>
                <a:gd name="T28" fmla="*/ 0 w 258"/>
                <a:gd name="T29" fmla="*/ 0 h 2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8" h="280">
                  <a:moveTo>
                    <a:pt x="67" y="0"/>
                  </a:moveTo>
                  <a:lnTo>
                    <a:pt x="42" y="75"/>
                  </a:lnTo>
                  <a:lnTo>
                    <a:pt x="7" y="111"/>
                  </a:lnTo>
                  <a:lnTo>
                    <a:pt x="0" y="173"/>
                  </a:lnTo>
                  <a:lnTo>
                    <a:pt x="36" y="218"/>
                  </a:lnTo>
                  <a:lnTo>
                    <a:pt x="120" y="222"/>
                  </a:lnTo>
                  <a:lnTo>
                    <a:pt x="181" y="276"/>
                  </a:lnTo>
                  <a:lnTo>
                    <a:pt x="258" y="280"/>
                  </a:lnTo>
                  <a:lnTo>
                    <a:pt x="245" y="244"/>
                  </a:lnTo>
                  <a:lnTo>
                    <a:pt x="190" y="206"/>
                  </a:lnTo>
                  <a:lnTo>
                    <a:pt x="182" y="166"/>
                  </a:lnTo>
                  <a:lnTo>
                    <a:pt x="125" y="134"/>
                  </a:lnTo>
                  <a:lnTo>
                    <a:pt x="133" y="23"/>
                  </a:lnTo>
                  <a:lnTo>
                    <a:pt x="67"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52" name="Freeform 102">
              <a:extLst>
                <a:ext uri="{FF2B5EF4-FFF2-40B4-BE49-F238E27FC236}">
                  <a16:creationId xmlns:a16="http://schemas.microsoft.com/office/drawing/2014/main" id="{67434A78-5C46-4F7D-44D5-C3AB3A0902F2}"/>
                </a:ext>
              </a:extLst>
            </p:cNvPr>
            <p:cNvSpPr/>
            <p:nvPr/>
          </p:nvSpPr>
          <p:spPr bwMode="auto">
            <a:xfrm>
              <a:off x="3288" y="1377"/>
              <a:ext cx="86" cy="93"/>
            </a:xfrm>
            <a:custGeom>
              <a:gdLst>
                <a:gd name="T0" fmla="*/ 0 w 258"/>
                <a:gd name="T1" fmla="*/ 0 h 280"/>
                <a:gd name="T2" fmla="*/ 0 w 258"/>
                <a:gd name="T3" fmla="*/ 0 h 280"/>
                <a:gd name="T4" fmla="*/ 0 w 258"/>
                <a:gd name="T5" fmla="*/ 0 h 280"/>
                <a:gd name="T6" fmla="*/ 0 w 258"/>
                <a:gd name="T7" fmla="*/ 0 h 280"/>
                <a:gd name="T8" fmla="*/ 0 w 258"/>
                <a:gd name="T9" fmla="*/ 0 h 280"/>
                <a:gd name="T10" fmla="*/ 0 w 258"/>
                <a:gd name="T11" fmla="*/ 0 h 280"/>
                <a:gd name="T12" fmla="*/ 0 w 258"/>
                <a:gd name="T13" fmla="*/ 0 h 280"/>
                <a:gd name="T14" fmla="*/ 0 w 258"/>
                <a:gd name="T15" fmla="*/ 0 h 280"/>
                <a:gd name="T16" fmla="*/ 0 w 258"/>
                <a:gd name="T17" fmla="*/ 0 h 280"/>
                <a:gd name="T18" fmla="*/ 0 w 258"/>
                <a:gd name="T19" fmla="*/ 0 h 280"/>
                <a:gd name="T20" fmla="*/ 0 w 258"/>
                <a:gd name="T21" fmla="*/ 0 h 280"/>
                <a:gd name="T22" fmla="*/ 0 w 258"/>
                <a:gd name="T23" fmla="*/ 0 h 280"/>
                <a:gd name="T24" fmla="*/ 0 w 258"/>
                <a:gd name="T25" fmla="*/ 0 h 280"/>
                <a:gd name="T26" fmla="*/ 0 w 258"/>
                <a:gd name="T27" fmla="*/ 0 h 280"/>
                <a:gd name="T28" fmla="*/ 0 w 258"/>
                <a:gd name="T29" fmla="*/ 0 h 2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8" h="280">
                  <a:moveTo>
                    <a:pt x="67" y="0"/>
                  </a:moveTo>
                  <a:lnTo>
                    <a:pt x="42" y="75"/>
                  </a:lnTo>
                  <a:lnTo>
                    <a:pt x="7" y="111"/>
                  </a:lnTo>
                  <a:lnTo>
                    <a:pt x="0" y="173"/>
                  </a:lnTo>
                  <a:lnTo>
                    <a:pt x="36" y="218"/>
                  </a:lnTo>
                  <a:lnTo>
                    <a:pt x="120" y="222"/>
                  </a:lnTo>
                  <a:lnTo>
                    <a:pt x="181" y="276"/>
                  </a:lnTo>
                  <a:lnTo>
                    <a:pt x="258" y="280"/>
                  </a:lnTo>
                  <a:lnTo>
                    <a:pt x="245" y="244"/>
                  </a:lnTo>
                  <a:lnTo>
                    <a:pt x="190" y="206"/>
                  </a:lnTo>
                  <a:lnTo>
                    <a:pt x="182" y="166"/>
                  </a:lnTo>
                  <a:lnTo>
                    <a:pt x="125" y="134"/>
                  </a:lnTo>
                  <a:lnTo>
                    <a:pt x="133" y="23"/>
                  </a:lnTo>
                  <a:lnTo>
                    <a:pt x="67"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53" name="Freeform 103">
              <a:extLst>
                <a:ext uri="{FF2B5EF4-FFF2-40B4-BE49-F238E27FC236}">
                  <a16:creationId xmlns:a16="http://schemas.microsoft.com/office/drawing/2014/main" id="{C75FDF69-B5EE-7C3E-4169-9D12800078CD}"/>
                </a:ext>
              </a:extLst>
            </p:cNvPr>
            <p:cNvSpPr/>
            <p:nvPr/>
          </p:nvSpPr>
          <p:spPr bwMode="auto">
            <a:xfrm>
              <a:off x="3310" y="1202"/>
              <a:ext cx="136" cy="154"/>
            </a:xfrm>
            <a:custGeom>
              <a:gdLst>
                <a:gd name="T0" fmla="*/ 0 w 407"/>
                <a:gd name="T1" fmla="*/ 0 h 464"/>
                <a:gd name="T2" fmla="*/ 0 w 407"/>
                <a:gd name="T3" fmla="*/ 0 h 464"/>
                <a:gd name="T4" fmla="*/ 0 w 407"/>
                <a:gd name="T5" fmla="*/ 0 h 464"/>
                <a:gd name="T6" fmla="*/ 0 w 407"/>
                <a:gd name="T7" fmla="*/ 0 h 464"/>
                <a:gd name="T8" fmla="*/ 0 w 407"/>
                <a:gd name="T9" fmla="*/ 0 h 464"/>
                <a:gd name="T10" fmla="*/ 0 w 407"/>
                <a:gd name="T11" fmla="*/ 0 h 464"/>
                <a:gd name="T12" fmla="*/ 0 w 407"/>
                <a:gd name="T13" fmla="*/ 0 h 464"/>
                <a:gd name="T14" fmla="*/ 0 w 407"/>
                <a:gd name="T15" fmla="*/ 0 h 464"/>
                <a:gd name="T16" fmla="*/ 0 w 407"/>
                <a:gd name="T17" fmla="*/ 0 h 464"/>
                <a:gd name="T18" fmla="*/ 0 w 407"/>
                <a:gd name="T19" fmla="*/ 0 h 464"/>
                <a:gd name="T20" fmla="*/ 0 w 407"/>
                <a:gd name="T21" fmla="*/ 0 h 464"/>
                <a:gd name="T22" fmla="*/ 0 w 407"/>
                <a:gd name="T23" fmla="*/ 0 h 464"/>
                <a:gd name="T24" fmla="*/ 0 w 407"/>
                <a:gd name="T25" fmla="*/ 0 h 464"/>
                <a:gd name="T26" fmla="*/ 0 w 407"/>
                <a:gd name="T27" fmla="*/ 0 h 464"/>
                <a:gd name="T28" fmla="*/ 0 w 407"/>
                <a:gd name="T29" fmla="*/ 0 h 464"/>
                <a:gd name="T30" fmla="*/ 0 w 407"/>
                <a:gd name="T31" fmla="*/ 0 h 4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7" h="463">
                  <a:moveTo>
                    <a:pt x="117" y="464"/>
                  </a:moveTo>
                  <a:lnTo>
                    <a:pt x="263" y="175"/>
                  </a:lnTo>
                  <a:lnTo>
                    <a:pt x="319" y="175"/>
                  </a:lnTo>
                  <a:lnTo>
                    <a:pt x="407" y="117"/>
                  </a:lnTo>
                  <a:lnTo>
                    <a:pt x="319" y="0"/>
                  </a:lnTo>
                  <a:lnTo>
                    <a:pt x="290" y="29"/>
                  </a:lnTo>
                  <a:lnTo>
                    <a:pt x="232" y="0"/>
                  </a:lnTo>
                  <a:lnTo>
                    <a:pt x="176" y="117"/>
                  </a:lnTo>
                  <a:lnTo>
                    <a:pt x="117" y="117"/>
                  </a:lnTo>
                  <a:lnTo>
                    <a:pt x="86" y="262"/>
                  </a:lnTo>
                  <a:lnTo>
                    <a:pt x="14" y="288"/>
                  </a:lnTo>
                  <a:lnTo>
                    <a:pt x="0" y="347"/>
                  </a:lnTo>
                  <a:lnTo>
                    <a:pt x="56" y="408"/>
                  </a:lnTo>
                  <a:lnTo>
                    <a:pt x="29" y="464"/>
                  </a:lnTo>
                  <a:lnTo>
                    <a:pt x="117" y="464"/>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54" name="Freeform 104">
              <a:extLst>
                <a:ext uri="{FF2B5EF4-FFF2-40B4-BE49-F238E27FC236}">
                  <a16:creationId xmlns:a16="http://schemas.microsoft.com/office/drawing/2014/main" id="{E5E18EBC-A547-E1BB-BAE3-8F14AA1F62F3}"/>
                </a:ext>
              </a:extLst>
            </p:cNvPr>
            <p:cNvSpPr/>
            <p:nvPr/>
          </p:nvSpPr>
          <p:spPr bwMode="auto">
            <a:xfrm>
              <a:off x="3310" y="1202"/>
              <a:ext cx="136" cy="154"/>
            </a:xfrm>
            <a:custGeom>
              <a:gdLst>
                <a:gd name="T0" fmla="*/ 0 w 407"/>
                <a:gd name="T1" fmla="*/ 0 h 464"/>
                <a:gd name="T2" fmla="*/ 0 w 407"/>
                <a:gd name="T3" fmla="*/ 0 h 464"/>
                <a:gd name="T4" fmla="*/ 0 w 407"/>
                <a:gd name="T5" fmla="*/ 0 h 464"/>
                <a:gd name="T6" fmla="*/ 0 w 407"/>
                <a:gd name="T7" fmla="*/ 0 h 464"/>
                <a:gd name="T8" fmla="*/ 0 w 407"/>
                <a:gd name="T9" fmla="*/ 0 h 464"/>
                <a:gd name="T10" fmla="*/ 0 w 407"/>
                <a:gd name="T11" fmla="*/ 0 h 464"/>
                <a:gd name="T12" fmla="*/ 0 w 407"/>
                <a:gd name="T13" fmla="*/ 0 h 464"/>
                <a:gd name="T14" fmla="*/ 0 w 407"/>
                <a:gd name="T15" fmla="*/ 0 h 464"/>
                <a:gd name="T16" fmla="*/ 0 w 407"/>
                <a:gd name="T17" fmla="*/ 0 h 464"/>
                <a:gd name="T18" fmla="*/ 0 w 407"/>
                <a:gd name="T19" fmla="*/ 0 h 464"/>
                <a:gd name="T20" fmla="*/ 0 w 407"/>
                <a:gd name="T21" fmla="*/ 0 h 464"/>
                <a:gd name="T22" fmla="*/ 0 w 407"/>
                <a:gd name="T23" fmla="*/ 0 h 464"/>
                <a:gd name="T24" fmla="*/ 0 w 407"/>
                <a:gd name="T25" fmla="*/ 0 h 464"/>
                <a:gd name="T26" fmla="*/ 0 w 407"/>
                <a:gd name="T27" fmla="*/ 0 h 464"/>
                <a:gd name="T28" fmla="*/ 0 w 407"/>
                <a:gd name="T29" fmla="*/ 0 h 464"/>
                <a:gd name="T30" fmla="*/ 0 w 407"/>
                <a:gd name="T31" fmla="*/ 0 h 4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7" h="463">
                  <a:moveTo>
                    <a:pt x="117" y="464"/>
                  </a:moveTo>
                  <a:lnTo>
                    <a:pt x="263" y="175"/>
                  </a:lnTo>
                  <a:lnTo>
                    <a:pt x="319" y="175"/>
                  </a:lnTo>
                  <a:lnTo>
                    <a:pt x="407" y="117"/>
                  </a:lnTo>
                  <a:lnTo>
                    <a:pt x="319" y="0"/>
                  </a:lnTo>
                  <a:lnTo>
                    <a:pt x="290" y="29"/>
                  </a:lnTo>
                  <a:lnTo>
                    <a:pt x="232" y="0"/>
                  </a:lnTo>
                  <a:lnTo>
                    <a:pt x="176" y="117"/>
                  </a:lnTo>
                  <a:lnTo>
                    <a:pt x="117" y="117"/>
                  </a:lnTo>
                  <a:lnTo>
                    <a:pt x="86" y="262"/>
                  </a:lnTo>
                  <a:lnTo>
                    <a:pt x="14" y="288"/>
                  </a:lnTo>
                  <a:lnTo>
                    <a:pt x="0" y="347"/>
                  </a:lnTo>
                  <a:lnTo>
                    <a:pt x="56" y="408"/>
                  </a:lnTo>
                  <a:lnTo>
                    <a:pt x="29" y="464"/>
                  </a:lnTo>
                  <a:lnTo>
                    <a:pt x="117" y="464"/>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55" name="Freeform 105">
              <a:extLst>
                <a:ext uri="{FF2B5EF4-FFF2-40B4-BE49-F238E27FC236}">
                  <a16:creationId xmlns:a16="http://schemas.microsoft.com/office/drawing/2014/main" id="{A4C089FF-F096-6077-49B9-E729A0D54270}"/>
                </a:ext>
              </a:extLst>
            </p:cNvPr>
            <p:cNvSpPr/>
            <p:nvPr/>
          </p:nvSpPr>
          <p:spPr bwMode="auto">
            <a:xfrm>
              <a:off x="3698" y="1023"/>
              <a:ext cx="69" cy="71"/>
            </a:xfrm>
            <a:custGeom>
              <a:gdLst>
                <a:gd name="T0" fmla="*/ 0 w 206"/>
                <a:gd name="T1" fmla="*/ 0 h 214"/>
                <a:gd name="T2" fmla="*/ 0 w 206"/>
                <a:gd name="T3" fmla="*/ 0 h 214"/>
                <a:gd name="T4" fmla="*/ 0 w 206"/>
                <a:gd name="T5" fmla="*/ 0 h 214"/>
                <a:gd name="T6" fmla="*/ 0 w 206"/>
                <a:gd name="T7" fmla="*/ 0 h 214"/>
                <a:gd name="T8" fmla="*/ 0 w 206"/>
                <a:gd name="T9" fmla="*/ 0 h 214"/>
                <a:gd name="T10" fmla="*/ 0 w 206"/>
                <a:gd name="T11" fmla="*/ 0 h 214"/>
                <a:gd name="T12" fmla="*/ 0 w 206"/>
                <a:gd name="T13" fmla="*/ 0 h 214"/>
                <a:gd name="T14" fmla="*/ 0 w 206"/>
                <a:gd name="T15" fmla="*/ 0 h 214"/>
                <a:gd name="T16" fmla="*/ 0 w 206"/>
                <a:gd name="T17" fmla="*/ 0 h 214"/>
                <a:gd name="T18" fmla="*/ 0 w 206"/>
                <a:gd name="T19" fmla="*/ 0 h 214"/>
                <a:gd name="T20" fmla="*/ 0 w 206"/>
                <a:gd name="T21" fmla="*/ 0 h 2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214">
                  <a:moveTo>
                    <a:pt x="0" y="13"/>
                  </a:moveTo>
                  <a:lnTo>
                    <a:pt x="33" y="89"/>
                  </a:lnTo>
                  <a:lnTo>
                    <a:pt x="30" y="131"/>
                  </a:lnTo>
                  <a:lnTo>
                    <a:pt x="83" y="214"/>
                  </a:lnTo>
                  <a:lnTo>
                    <a:pt x="137" y="157"/>
                  </a:lnTo>
                  <a:lnTo>
                    <a:pt x="206" y="154"/>
                  </a:lnTo>
                  <a:lnTo>
                    <a:pt x="199" y="96"/>
                  </a:lnTo>
                  <a:lnTo>
                    <a:pt x="105" y="63"/>
                  </a:lnTo>
                  <a:lnTo>
                    <a:pt x="39" y="0"/>
                  </a:lnTo>
                  <a:lnTo>
                    <a:pt x="0" y="13"/>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56" name="Freeform 106">
              <a:extLst>
                <a:ext uri="{FF2B5EF4-FFF2-40B4-BE49-F238E27FC236}">
                  <a16:creationId xmlns:a16="http://schemas.microsoft.com/office/drawing/2014/main" id="{A89544A0-DF10-477F-B9A8-4E1FED6B6689}"/>
                </a:ext>
              </a:extLst>
            </p:cNvPr>
            <p:cNvSpPr/>
            <p:nvPr/>
          </p:nvSpPr>
          <p:spPr bwMode="auto">
            <a:xfrm>
              <a:off x="3698" y="1023"/>
              <a:ext cx="69" cy="71"/>
            </a:xfrm>
            <a:custGeom>
              <a:gdLst>
                <a:gd name="T0" fmla="*/ 0 w 206"/>
                <a:gd name="T1" fmla="*/ 0 h 214"/>
                <a:gd name="T2" fmla="*/ 0 w 206"/>
                <a:gd name="T3" fmla="*/ 0 h 214"/>
                <a:gd name="T4" fmla="*/ 0 w 206"/>
                <a:gd name="T5" fmla="*/ 0 h 214"/>
                <a:gd name="T6" fmla="*/ 0 w 206"/>
                <a:gd name="T7" fmla="*/ 0 h 214"/>
                <a:gd name="T8" fmla="*/ 0 w 206"/>
                <a:gd name="T9" fmla="*/ 0 h 214"/>
                <a:gd name="T10" fmla="*/ 0 w 206"/>
                <a:gd name="T11" fmla="*/ 0 h 214"/>
                <a:gd name="T12" fmla="*/ 0 w 206"/>
                <a:gd name="T13" fmla="*/ 0 h 214"/>
                <a:gd name="T14" fmla="*/ 0 w 206"/>
                <a:gd name="T15" fmla="*/ 0 h 214"/>
                <a:gd name="T16" fmla="*/ 0 w 206"/>
                <a:gd name="T17" fmla="*/ 0 h 214"/>
                <a:gd name="T18" fmla="*/ 0 w 206"/>
                <a:gd name="T19" fmla="*/ 0 h 214"/>
                <a:gd name="T20" fmla="*/ 0 w 206"/>
                <a:gd name="T21" fmla="*/ 0 h 2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214">
                  <a:moveTo>
                    <a:pt x="0" y="13"/>
                  </a:moveTo>
                  <a:lnTo>
                    <a:pt x="33" y="89"/>
                  </a:lnTo>
                  <a:lnTo>
                    <a:pt x="30" y="131"/>
                  </a:lnTo>
                  <a:lnTo>
                    <a:pt x="83" y="214"/>
                  </a:lnTo>
                  <a:lnTo>
                    <a:pt x="137" y="157"/>
                  </a:lnTo>
                  <a:lnTo>
                    <a:pt x="206" y="154"/>
                  </a:lnTo>
                  <a:lnTo>
                    <a:pt x="199" y="96"/>
                  </a:lnTo>
                  <a:lnTo>
                    <a:pt x="105" y="63"/>
                  </a:lnTo>
                  <a:lnTo>
                    <a:pt x="39" y="0"/>
                  </a:lnTo>
                  <a:lnTo>
                    <a:pt x="0" y="13"/>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57" name="Freeform 107">
              <a:extLst>
                <a:ext uri="{FF2B5EF4-FFF2-40B4-BE49-F238E27FC236}">
                  <a16:creationId xmlns:a16="http://schemas.microsoft.com/office/drawing/2014/main" id="{26E091D6-66A4-931F-A6D9-A3A8B747CFDA}"/>
                </a:ext>
              </a:extLst>
            </p:cNvPr>
            <p:cNvSpPr/>
            <p:nvPr/>
          </p:nvSpPr>
          <p:spPr bwMode="auto">
            <a:xfrm>
              <a:off x="3621" y="997"/>
              <a:ext cx="58" cy="59"/>
            </a:xfrm>
            <a:custGeom>
              <a:gdLst>
                <a:gd name="T0" fmla="*/ 0 w 174"/>
                <a:gd name="T1" fmla="*/ 0 h 176"/>
                <a:gd name="T2" fmla="*/ 0 w 174"/>
                <a:gd name="T3" fmla="*/ 0 h 176"/>
                <a:gd name="T4" fmla="*/ 0 w 174"/>
                <a:gd name="T5" fmla="*/ 0 h 176"/>
                <a:gd name="T6" fmla="*/ 0 w 174"/>
                <a:gd name="T7" fmla="*/ 0 h 176"/>
                <a:gd name="T8" fmla="*/ 0 w 174"/>
                <a:gd name="T9" fmla="*/ 0 h 176"/>
                <a:gd name="T10" fmla="*/ 0 w 174"/>
                <a:gd name="T11" fmla="*/ 0 h 176"/>
                <a:gd name="T12" fmla="*/ 0 w 174"/>
                <a:gd name="T13" fmla="*/ 0 h 176"/>
                <a:gd name="T14" fmla="*/ 0 w 174"/>
                <a:gd name="T15" fmla="*/ 0 h 176"/>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4" h="176">
                  <a:moveTo>
                    <a:pt x="84" y="0"/>
                  </a:moveTo>
                  <a:lnTo>
                    <a:pt x="0" y="32"/>
                  </a:lnTo>
                  <a:lnTo>
                    <a:pt x="54" y="146"/>
                  </a:lnTo>
                  <a:lnTo>
                    <a:pt x="174" y="176"/>
                  </a:lnTo>
                  <a:lnTo>
                    <a:pt x="174" y="146"/>
                  </a:lnTo>
                  <a:lnTo>
                    <a:pt x="145" y="117"/>
                  </a:lnTo>
                  <a:lnTo>
                    <a:pt x="84"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58" name="Freeform 108">
              <a:extLst>
                <a:ext uri="{FF2B5EF4-FFF2-40B4-BE49-F238E27FC236}">
                  <a16:creationId xmlns:a16="http://schemas.microsoft.com/office/drawing/2014/main" id="{974193B2-14EC-C6CE-2EFD-6C1A21F9120D}"/>
                </a:ext>
              </a:extLst>
            </p:cNvPr>
            <p:cNvSpPr/>
            <p:nvPr/>
          </p:nvSpPr>
          <p:spPr bwMode="auto">
            <a:xfrm>
              <a:off x="3621" y="997"/>
              <a:ext cx="58" cy="59"/>
            </a:xfrm>
            <a:custGeom>
              <a:gdLst>
                <a:gd name="T0" fmla="*/ 0 w 174"/>
                <a:gd name="T1" fmla="*/ 0 h 176"/>
                <a:gd name="T2" fmla="*/ 0 w 174"/>
                <a:gd name="T3" fmla="*/ 0 h 176"/>
                <a:gd name="T4" fmla="*/ 0 w 174"/>
                <a:gd name="T5" fmla="*/ 0 h 176"/>
                <a:gd name="T6" fmla="*/ 0 w 174"/>
                <a:gd name="T7" fmla="*/ 0 h 176"/>
                <a:gd name="T8" fmla="*/ 0 w 174"/>
                <a:gd name="T9" fmla="*/ 0 h 176"/>
                <a:gd name="T10" fmla="*/ 0 w 174"/>
                <a:gd name="T11" fmla="*/ 0 h 176"/>
                <a:gd name="T12" fmla="*/ 0 w 174"/>
                <a:gd name="T13" fmla="*/ 0 h 176"/>
                <a:gd name="T14" fmla="*/ 0 w 174"/>
                <a:gd name="T15" fmla="*/ 0 h 176"/>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4" h="176">
                  <a:moveTo>
                    <a:pt x="84" y="0"/>
                  </a:moveTo>
                  <a:lnTo>
                    <a:pt x="0" y="32"/>
                  </a:lnTo>
                  <a:lnTo>
                    <a:pt x="54" y="146"/>
                  </a:lnTo>
                  <a:lnTo>
                    <a:pt x="174" y="176"/>
                  </a:lnTo>
                  <a:lnTo>
                    <a:pt x="174" y="146"/>
                  </a:lnTo>
                  <a:lnTo>
                    <a:pt x="145" y="117"/>
                  </a:lnTo>
                  <a:lnTo>
                    <a:pt x="84"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59" name="Freeform 109">
              <a:extLst>
                <a:ext uri="{FF2B5EF4-FFF2-40B4-BE49-F238E27FC236}">
                  <a16:creationId xmlns:a16="http://schemas.microsoft.com/office/drawing/2014/main" id="{B9E582AC-BA3F-3A17-402A-87AA84B41BDD}"/>
                </a:ext>
              </a:extLst>
            </p:cNvPr>
            <p:cNvSpPr/>
            <p:nvPr/>
          </p:nvSpPr>
          <p:spPr bwMode="auto">
            <a:xfrm>
              <a:off x="3562" y="939"/>
              <a:ext cx="49" cy="49"/>
            </a:xfrm>
            <a:custGeom>
              <a:gdLst>
                <a:gd name="T0" fmla="*/ 0 w 146"/>
                <a:gd name="T1" fmla="*/ 0 h 145"/>
                <a:gd name="T2" fmla="*/ 0 w 146"/>
                <a:gd name="T3" fmla="*/ 0 h 145"/>
                <a:gd name="T4" fmla="*/ 0 w 146"/>
                <a:gd name="T5" fmla="*/ 0 h 145"/>
                <a:gd name="T6" fmla="*/ 0 w 146"/>
                <a:gd name="T7" fmla="*/ 0 h 145"/>
                <a:gd name="T8" fmla="*/ 0 w 146"/>
                <a:gd name="T9" fmla="*/ 0 h 145"/>
                <a:gd name="T10" fmla="*/ 0 w 146"/>
                <a:gd name="T11" fmla="*/ 0 h 145"/>
                <a:gd name="T12" fmla="*/ 0 w 146"/>
                <a:gd name="T13" fmla="*/ 0 h 145"/>
                <a:gd name="T14" fmla="*/ 0 w 146"/>
                <a:gd name="T15" fmla="*/ 0 h 14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6" h="145">
                  <a:moveTo>
                    <a:pt x="146" y="87"/>
                  </a:moveTo>
                  <a:lnTo>
                    <a:pt x="146" y="116"/>
                  </a:lnTo>
                  <a:lnTo>
                    <a:pt x="86" y="145"/>
                  </a:lnTo>
                  <a:lnTo>
                    <a:pt x="0" y="87"/>
                  </a:lnTo>
                  <a:lnTo>
                    <a:pt x="29" y="28"/>
                  </a:lnTo>
                  <a:lnTo>
                    <a:pt x="117" y="0"/>
                  </a:lnTo>
                  <a:lnTo>
                    <a:pt x="146" y="87"/>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60" name="Freeform 110">
              <a:extLst>
                <a:ext uri="{FF2B5EF4-FFF2-40B4-BE49-F238E27FC236}">
                  <a16:creationId xmlns:a16="http://schemas.microsoft.com/office/drawing/2014/main" id="{EED51775-4829-DEA6-BAD6-1AC25DC36A67}"/>
                </a:ext>
              </a:extLst>
            </p:cNvPr>
            <p:cNvSpPr/>
            <p:nvPr/>
          </p:nvSpPr>
          <p:spPr bwMode="auto">
            <a:xfrm>
              <a:off x="3562" y="939"/>
              <a:ext cx="49" cy="49"/>
            </a:xfrm>
            <a:custGeom>
              <a:gdLst>
                <a:gd name="T0" fmla="*/ 0 w 146"/>
                <a:gd name="T1" fmla="*/ 0 h 145"/>
                <a:gd name="T2" fmla="*/ 0 w 146"/>
                <a:gd name="T3" fmla="*/ 0 h 145"/>
                <a:gd name="T4" fmla="*/ 0 w 146"/>
                <a:gd name="T5" fmla="*/ 0 h 145"/>
                <a:gd name="T6" fmla="*/ 0 w 146"/>
                <a:gd name="T7" fmla="*/ 0 h 145"/>
                <a:gd name="T8" fmla="*/ 0 w 146"/>
                <a:gd name="T9" fmla="*/ 0 h 145"/>
                <a:gd name="T10" fmla="*/ 0 w 146"/>
                <a:gd name="T11" fmla="*/ 0 h 145"/>
                <a:gd name="T12" fmla="*/ 0 w 146"/>
                <a:gd name="T13" fmla="*/ 0 h 145"/>
                <a:gd name="T14" fmla="*/ 0 w 146"/>
                <a:gd name="T15" fmla="*/ 0 h 145"/>
                <a:gd name="T16" fmla="*/ 0 60000 65536"/>
                <a:gd name="T17" fmla="*/ 0 60000 65536"/>
                <a:gd name="T18" fmla="*/ 0 60000 65536"/>
                <a:gd name="T19" fmla="*/ 0 60000 65536"/>
                <a:gd name="T20" fmla="*/ 0 60000 65536"/>
                <a:gd name="T21" fmla="*/ 0 60000 65536"/>
                <a:gd name="T22" fmla="*/ 0 60000 65536"/>
                <a:gd name="T23" fmla="*/ 0 60000 65536"/>
              </a:gd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6" h="145">
                  <a:moveTo>
                    <a:pt x="146" y="87"/>
                  </a:moveTo>
                  <a:lnTo>
                    <a:pt x="146" y="116"/>
                  </a:lnTo>
                  <a:lnTo>
                    <a:pt x="86" y="145"/>
                  </a:lnTo>
                  <a:lnTo>
                    <a:pt x="0" y="87"/>
                  </a:lnTo>
                  <a:lnTo>
                    <a:pt x="29" y="28"/>
                  </a:lnTo>
                  <a:lnTo>
                    <a:pt x="117" y="0"/>
                  </a:lnTo>
                  <a:lnTo>
                    <a:pt x="146" y="87"/>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61" name="Freeform 111">
              <a:extLst>
                <a:ext uri="{FF2B5EF4-FFF2-40B4-BE49-F238E27FC236}">
                  <a16:creationId xmlns:a16="http://schemas.microsoft.com/office/drawing/2014/main" id="{CC96074A-02D0-BDF6-7FA0-9525F6DCB33A}"/>
                </a:ext>
              </a:extLst>
            </p:cNvPr>
            <p:cNvSpPr/>
            <p:nvPr/>
          </p:nvSpPr>
          <p:spPr bwMode="auto">
            <a:xfrm>
              <a:off x="4154" y="1036"/>
              <a:ext cx="88" cy="78"/>
            </a:xfrm>
            <a:custGeom>
              <a:gdLst>
                <a:gd name="T0" fmla="*/ 0 w 262"/>
                <a:gd name="T1" fmla="*/ 0 h 233"/>
                <a:gd name="T2" fmla="*/ 0 w 262"/>
                <a:gd name="T3" fmla="*/ 0 h 233"/>
                <a:gd name="T4" fmla="*/ 0 w 262"/>
                <a:gd name="T5" fmla="*/ 0 h 233"/>
                <a:gd name="T6" fmla="*/ 0 w 262"/>
                <a:gd name="T7" fmla="*/ 0 h 233"/>
                <a:gd name="T8" fmla="*/ 0 w 262"/>
                <a:gd name="T9" fmla="*/ 0 h 233"/>
                <a:gd name="T10" fmla="*/ 0 w 262"/>
                <a:gd name="T11" fmla="*/ 0 h 233"/>
                <a:gd name="T12" fmla="*/ 0 w 262"/>
                <a:gd name="T13" fmla="*/ 0 h 233"/>
                <a:gd name="T14" fmla="*/ 0 w 262"/>
                <a:gd name="T15" fmla="*/ 0 h 233"/>
                <a:gd name="T16" fmla="*/ 0 w 262"/>
                <a:gd name="T17" fmla="*/ 0 h 233"/>
                <a:gd name="T18" fmla="*/ 0 w 262"/>
                <a:gd name="T19" fmla="*/ 0 h 2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2" h="233">
                  <a:moveTo>
                    <a:pt x="0" y="59"/>
                  </a:moveTo>
                  <a:lnTo>
                    <a:pt x="27" y="233"/>
                  </a:lnTo>
                  <a:lnTo>
                    <a:pt x="114" y="204"/>
                  </a:lnTo>
                  <a:lnTo>
                    <a:pt x="145" y="204"/>
                  </a:lnTo>
                  <a:lnTo>
                    <a:pt x="202" y="88"/>
                  </a:lnTo>
                  <a:lnTo>
                    <a:pt x="262" y="88"/>
                  </a:lnTo>
                  <a:lnTo>
                    <a:pt x="231" y="0"/>
                  </a:lnTo>
                  <a:lnTo>
                    <a:pt x="58" y="0"/>
                  </a:lnTo>
                  <a:lnTo>
                    <a:pt x="0" y="59"/>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62" name="Freeform 112">
              <a:extLst>
                <a:ext uri="{FF2B5EF4-FFF2-40B4-BE49-F238E27FC236}">
                  <a16:creationId xmlns:a16="http://schemas.microsoft.com/office/drawing/2014/main" id="{93DA3E2F-5B22-D289-497A-5C49700302BA}"/>
                </a:ext>
              </a:extLst>
            </p:cNvPr>
            <p:cNvSpPr/>
            <p:nvPr/>
          </p:nvSpPr>
          <p:spPr bwMode="auto">
            <a:xfrm>
              <a:off x="4154" y="1036"/>
              <a:ext cx="88" cy="78"/>
            </a:xfrm>
            <a:custGeom>
              <a:gdLst>
                <a:gd name="T0" fmla="*/ 0 w 262"/>
                <a:gd name="T1" fmla="*/ 0 h 233"/>
                <a:gd name="T2" fmla="*/ 0 w 262"/>
                <a:gd name="T3" fmla="*/ 0 h 233"/>
                <a:gd name="T4" fmla="*/ 0 w 262"/>
                <a:gd name="T5" fmla="*/ 0 h 233"/>
                <a:gd name="T6" fmla="*/ 0 w 262"/>
                <a:gd name="T7" fmla="*/ 0 h 233"/>
                <a:gd name="T8" fmla="*/ 0 w 262"/>
                <a:gd name="T9" fmla="*/ 0 h 233"/>
                <a:gd name="T10" fmla="*/ 0 w 262"/>
                <a:gd name="T11" fmla="*/ 0 h 233"/>
                <a:gd name="T12" fmla="*/ 0 w 262"/>
                <a:gd name="T13" fmla="*/ 0 h 233"/>
                <a:gd name="T14" fmla="*/ 0 w 262"/>
                <a:gd name="T15" fmla="*/ 0 h 233"/>
                <a:gd name="T16" fmla="*/ 0 w 262"/>
                <a:gd name="T17" fmla="*/ 0 h 233"/>
                <a:gd name="T18" fmla="*/ 0 w 262"/>
                <a:gd name="T19" fmla="*/ 0 h 2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2" h="233">
                  <a:moveTo>
                    <a:pt x="0" y="59"/>
                  </a:moveTo>
                  <a:lnTo>
                    <a:pt x="27" y="233"/>
                  </a:lnTo>
                  <a:lnTo>
                    <a:pt x="114" y="204"/>
                  </a:lnTo>
                  <a:lnTo>
                    <a:pt x="145" y="204"/>
                  </a:lnTo>
                  <a:lnTo>
                    <a:pt x="202" y="88"/>
                  </a:lnTo>
                  <a:lnTo>
                    <a:pt x="262" y="88"/>
                  </a:lnTo>
                  <a:lnTo>
                    <a:pt x="231" y="0"/>
                  </a:lnTo>
                  <a:lnTo>
                    <a:pt x="58" y="0"/>
                  </a:lnTo>
                  <a:lnTo>
                    <a:pt x="0" y="59"/>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63" name="Freeform 113">
              <a:extLst>
                <a:ext uri="{FF2B5EF4-FFF2-40B4-BE49-F238E27FC236}">
                  <a16:creationId xmlns:a16="http://schemas.microsoft.com/office/drawing/2014/main" id="{5582A272-9F1B-BBEE-47A8-0E3FF2C44288}"/>
                </a:ext>
              </a:extLst>
            </p:cNvPr>
            <p:cNvSpPr/>
            <p:nvPr/>
          </p:nvSpPr>
          <p:spPr bwMode="auto">
            <a:xfrm>
              <a:off x="4596" y="2172"/>
              <a:ext cx="121" cy="164"/>
            </a:xfrm>
            <a:custGeom>
              <a:gdLst>
                <a:gd name="T0" fmla="*/ 0 w 365"/>
                <a:gd name="T1" fmla="*/ 0 h 492"/>
                <a:gd name="T2" fmla="*/ 0 w 365"/>
                <a:gd name="T3" fmla="*/ 0 h 492"/>
                <a:gd name="T4" fmla="*/ 0 w 365"/>
                <a:gd name="T5" fmla="*/ 0 h 492"/>
                <a:gd name="T6" fmla="*/ 0 w 365"/>
                <a:gd name="T7" fmla="*/ 0 h 492"/>
                <a:gd name="T8" fmla="*/ 0 w 365"/>
                <a:gd name="T9" fmla="*/ 0 h 492"/>
                <a:gd name="T10" fmla="*/ 0 w 365"/>
                <a:gd name="T11" fmla="*/ 0 h 492"/>
                <a:gd name="T12" fmla="*/ 0 w 365"/>
                <a:gd name="T13" fmla="*/ 0 h 492"/>
                <a:gd name="T14" fmla="*/ 0 w 365"/>
                <a:gd name="T15" fmla="*/ 0 h 492"/>
                <a:gd name="T16" fmla="*/ 0 w 365"/>
                <a:gd name="T17" fmla="*/ 0 h 492"/>
                <a:gd name="T18" fmla="*/ 0 w 365"/>
                <a:gd name="T19" fmla="*/ 0 h 492"/>
                <a:gd name="T20" fmla="*/ 0 w 365"/>
                <a:gd name="T21" fmla="*/ 0 h 492"/>
                <a:gd name="T22" fmla="*/ 0 w 365"/>
                <a:gd name="T23" fmla="*/ 0 h 492"/>
                <a:gd name="T24" fmla="*/ 0 w 365"/>
                <a:gd name="T25" fmla="*/ 0 h 492"/>
                <a:gd name="T26" fmla="*/ 0 w 365"/>
                <a:gd name="T27" fmla="*/ 0 h 492"/>
                <a:gd name="T28" fmla="*/ 0 w 365"/>
                <a:gd name="T29" fmla="*/ 0 h 492"/>
                <a:gd name="T30" fmla="*/ 0 w 365"/>
                <a:gd name="T31" fmla="*/ 0 h 492"/>
                <a:gd name="T32" fmla="*/ 0 w 365"/>
                <a:gd name="T33" fmla="*/ 0 h 492"/>
                <a:gd name="T34" fmla="*/ 0 w 365"/>
                <a:gd name="T35" fmla="*/ 0 h 4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5" h="492">
                  <a:moveTo>
                    <a:pt x="0" y="402"/>
                  </a:moveTo>
                  <a:lnTo>
                    <a:pt x="11" y="347"/>
                  </a:lnTo>
                  <a:lnTo>
                    <a:pt x="122" y="264"/>
                  </a:lnTo>
                  <a:lnTo>
                    <a:pt x="125" y="227"/>
                  </a:lnTo>
                  <a:lnTo>
                    <a:pt x="274" y="181"/>
                  </a:lnTo>
                  <a:lnTo>
                    <a:pt x="277" y="0"/>
                  </a:lnTo>
                  <a:lnTo>
                    <a:pt x="349" y="16"/>
                  </a:lnTo>
                  <a:lnTo>
                    <a:pt x="365" y="109"/>
                  </a:lnTo>
                  <a:lnTo>
                    <a:pt x="334" y="230"/>
                  </a:lnTo>
                  <a:lnTo>
                    <a:pt x="334" y="353"/>
                  </a:lnTo>
                  <a:lnTo>
                    <a:pt x="288" y="350"/>
                  </a:lnTo>
                  <a:lnTo>
                    <a:pt x="249" y="400"/>
                  </a:lnTo>
                  <a:lnTo>
                    <a:pt x="187" y="376"/>
                  </a:lnTo>
                  <a:lnTo>
                    <a:pt x="157" y="470"/>
                  </a:lnTo>
                  <a:lnTo>
                    <a:pt x="76" y="492"/>
                  </a:lnTo>
                  <a:lnTo>
                    <a:pt x="70" y="400"/>
                  </a:lnTo>
                  <a:lnTo>
                    <a:pt x="0" y="402"/>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64" name="Freeform 114">
              <a:extLst>
                <a:ext uri="{FF2B5EF4-FFF2-40B4-BE49-F238E27FC236}">
                  <a16:creationId xmlns:a16="http://schemas.microsoft.com/office/drawing/2014/main" id="{56DBF2EC-A880-218D-0574-39485AC6C7C5}"/>
                </a:ext>
              </a:extLst>
            </p:cNvPr>
            <p:cNvSpPr/>
            <p:nvPr/>
          </p:nvSpPr>
          <p:spPr bwMode="auto">
            <a:xfrm>
              <a:off x="4596" y="2172"/>
              <a:ext cx="121" cy="164"/>
            </a:xfrm>
            <a:custGeom>
              <a:gdLst>
                <a:gd name="T0" fmla="*/ 0 w 365"/>
                <a:gd name="T1" fmla="*/ 0 h 492"/>
                <a:gd name="T2" fmla="*/ 0 w 365"/>
                <a:gd name="T3" fmla="*/ 0 h 492"/>
                <a:gd name="T4" fmla="*/ 0 w 365"/>
                <a:gd name="T5" fmla="*/ 0 h 492"/>
                <a:gd name="T6" fmla="*/ 0 w 365"/>
                <a:gd name="T7" fmla="*/ 0 h 492"/>
                <a:gd name="T8" fmla="*/ 0 w 365"/>
                <a:gd name="T9" fmla="*/ 0 h 492"/>
                <a:gd name="T10" fmla="*/ 0 w 365"/>
                <a:gd name="T11" fmla="*/ 0 h 492"/>
                <a:gd name="T12" fmla="*/ 0 w 365"/>
                <a:gd name="T13" fmla="*/ 0 h 492"/>
                <a:gd name="T14" fmla="*/ 0 w 365"/>
                <a:gd name="T15" fmla="*/ 0 h 492"/>
                <a:gd name="T16" fmla="*/ 0 w 365"/>
                <a:gd name="T17" fmla="*/ 0 h 492"/>
                <a:gd name="T18" fmla="*/ 0 w 365"/>
                <a:gd name="T19" fmla="*/ 0 h 492"/>
                <a:gd name="T20" fmla="*/ 0 w 365"/>
                <a:gd name="T21" fmla="*/ 0 h 492"/>
                <a:gd name="T22" fmla="*/ 0 w 365"/>
                <a:gd name="T23" fmla="*/ 0 h 492"/>
                <a:gd name="T24" fmla="*/ 0 w 365"/>
                <a:gd name="T25" fmla="*/ 0 h 492"/>
                <a:gd name="T26" fmla="*/ 0 w 365"/>
                <a:gd name="T27" fmla="*/ 0 h 492"/>
                <a:gd name="T28" fmla="*/ 0 w 365"/>
                <a:gd name="T29" fmla="*/ 0 h 492"/>
                <a:gd name="T30" fmla="*/ 0 w 365"/>
                <a:gd name="T31" fmla="*/ 0 h 492"/>
                <a:gd name="T32" fmla="*/ 0 w 365"/>
                <a:gd name="T33" fmla="*/ 0 h 492"/>
                <a:gd name="T34" fmla="*/ 0 w 365"/>
                <a:gd name="T35" fmla="*/ 0 h 4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5" h="492">
                  <a:moveTo>
                    <a:pt x="0" y="402"/>
                  </a:moveTo>
                  <a:lnTo>
                    <a:pt x="11" y="347"/>
                  </a:lnTo>
                  <a:lnTo>
                    <a:pt x="122" y="264"/>
                  </a:lnTo>
                  <a:lnTo>
                    <a:pt x="125" y="227"/>
                  </a:lnTo>
                  <a:lnTo>
                    <a:pt x="274" y="181"/>
                  </a:lnTo>
                  <a:lnTo>
                    <a:pt x="277" y="0"/>
                  </a:lnTo>
                  <a:lnTo>
                    <a:pt x="349" y="16"/>
                  </a:lnTo>
                  <a:lnTo>
                    <a:pt x="365" y="109"/>
                  </a:lnTo>
                  <a:lnTo>
                    <a:pt x="334" y="230"/>
                  </a:lnTo>
                  <a:lnTo>
                    <a:pt x="334" y="353"/>
                  </a:lnTo>
                  <a:lnTo>
                    <a:pt x="288" y="350"/>
                  </a:lnTo>
                  <a:lnTo>
                    <a:pt x="249" y="400"/>
                  </a:lnTo>
                  <a:lnTo>
                    <a:pt x="187" y="376"/>
                  </a:lnTo>
                  <a:lnTo>
                    <a:pt x="157" y="470"/>
                  </a:lnTo>
                  <a:lnTo>
                    <a:pt x="76" y="492"/>
                  </a:lnTo>
                  <a:lnTo>
                    <a:pt x="70" y="400"/>
                  </a:lnTo>
                  <a:lnTo>
                    <a:pt x="0" y="402"/>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65" name="Freeform 115">
              <a:extLst>
                <a:ext uri="{FF2B5EF4-FFF2-40B4-BE49-F238E27FC236}">
                  <a16:creationId xmlns:a16="http://schemas.microsoft.com/office/drawing/2014/main" id="{B8C35081-2B10-1BB3-01D6-C6AC8E3B0535}"/>
                </a:ext>
              </a:extLst>
            </p:cNvPr>
            <p:cNvSpPr/>
            <p:nvPr/>
          </p:nvSpPr>
          <p:spPr bwMode="auto">
            <a:xfrm>
              <a:off x="4572" y="2333"/>
              <a:ext cx="25" cy="26"/>
            </a:xfrm>
            <a:custGeom>
              <a:gdLst>
                <a:gd name="T0" fmla="*/ 0 w 73"/>
                <a:gd name="T1" fmla="*/ 0 h 78"/>
                <a:gd name="T2" fmla="*/ 0 w 73"/>
                <a:gd name="T3" fmla="*/ 0 h 78"/>
                <a:gd name="T4" fmla="*/ 0 w 73"/>
                <a:gd name="T5" fmla="*/ 0 h 78"/>
                <a:gd name="T6" fmla="*/ 0 w 73"/>
                <a:gd name="T7" fmla="*/ 0 h 78"/>
                <a:gd name="T8" fmla="*/ 0 w 73"/>
                <a:gd name="T9" fmla="*/ 0 h 78"/>
                <a:gd name="T10" fmla="*/ 0 w 73"/>
                <a:gd name="T11" fmla="*/ 0 h 78"/>
                <a:gd name="T12" fmla="*/ 0 w 73"/>
                <a:gd name="T13" fmla="*/ 0 h 78"/>
                <a:gd name="T14" fmla="*/ 0 w 73"/>
                <a:gd name="T15" fmla="*/ 0 h 78"/>
                <a:gd name="T16" fmla="*/ 0 w 73"/>
                <a:gd name="T17" fmla="*/ 0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78">
                  <a:moveTo>
                    <a:pt x="50" y="0"/>
                  </a:moveTo>
                  <a:lnTo>
                    <a:pt x="11" y="24"/>
                  </a:lnTo>
                  <a:lnTo>
                    <a:pt x="0" y="78"/>
                  </a:lnTo>
                  <a:lnTo>
                    <a:pt x="17" y="78"/>
                  </a:lnTo>
                  <a:lnTo>
                    <a:pt x="26" y="66"/>
                  </a:lnTo>
                  <a:lnTo>
                    <a:pt x="63" y="74"/>
                  </a:lnTo>
                  <a:lnTo>
                    <a:pt x="73" y="36"/>
                  </a:lnTo>
                  <a:lnTo>
                    <a:pt x="50"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66" name="Freeform 116">
              <a:extLst>
                <a:ext uri="{FF2B5EF4-FFF2-40B4-BE49-F238E27FC236}">
                  <a16:creationId xmlns:a16="http://schemas.microsoft.com/office/drawing/2014/main" id="{E2E91391-732E-7D72-18F0-068898410CA6}"/>
                </a:ext>
              </a:extLst>
            </p:cNvPr>
            <p:cNvSpPr/>
            <p:nvPr/>
          </p:nvSpPr>
          <p:spPr bwMode="auto">
            <a:xfrm>
              <a:off x="4572" y="2333"/>
              <a:ext cx="25" cy="26"/>
            </a:xfrm>
            <a:custGeom>
              <a:gdLst>
                <a:gd name="T0" fmla="*/ 0 w 73"/>
                <a:gd name="T1" fmla="*/ 0 h 78"/>
                <a:gd name="T2" fmla="*/ 0 w 73"/>
                <a:gd name="T3" fmla="*/ 0 h 78"/>
                <a:gd name="T4" fmla="*/ 0 w 73"/>
                <a:gd name="T5" fmla="*/ 0 h 78"/>
                <a:gd name="T6" fmla="*/ 0 w 73"/>
                <a:gd name="T7" fmla="*/ 0 h 78"/>
                <a:gd name="T8" fmla="*/ 0 w 73"/>
                <a:gd name="T9" fmla="*/ 0 h 78"/>
                <a:gd name="T10" fmla="*/ 0 w 73"/>
                <a:gd name="T11" fmla="*/ 0 h 78"/>
                <a:gd name="T12" fmla="*/ 0 w 73"/>
                <a:gd name="T13" fmla="*/ 0 h 78"/>
                <a:gd name="T14" fmla="*/ 0 w 73"/>
                <a:gd name="T15" fmla="*/ 0 h 78"/>
                <a:gd name="T16" fmla="*/ 0 w 73"/>
                <a:gd name="T17" fmla="*/ 0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78">
                  <a:moveTo>
                    <a:pt x="50" y="0"/>
                  </a:moveTo>
                  <a:lnTo>
                    <a:pt x="11" y="24"/>
                  </a:lnTo>
                  <a:lnTo>
                    <a:pt x="0" y="78"/>
                  </a:lnTo>
                  <a:lnTo>
                    <a:pt x="17" y="78"/>
                  </a:lnTo>
                  <a:lnTo>
                    <a:pt x="26" y="66"/>
                  </a:lnTo>
                  <a:lnTo>
                    <a:pt x="63" y="74"/>
                  </a:lnTo>
                  <a:lnTo>
                    <a:pt x="73" y="36"/>
                  </a:lnTo>
                  <a:lnTo>
                    <a:pt x="50"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67" name="Freeform 117">
              <a:extLst>
                <a:ext uri="{FF2B5EF4-FFF2-40B4-BE49-F238E27FC236}">
                  <a16:creationId xmlns:a16="http://schemas.microsoft.com/office/drawing/2014/main" id="{2587A71F-C039-CEF2-ACE9-F71684B491A3}"/>
                </a:ext>
              </a:extLst>
            </p:cNvPr>
            <p:cNvSpPr/>
            <p:nvPr/>
          </p:nvSpPr>
          <p:spPr bwMode="auto">
            <a:xfrm>
              <a:off x="4678" y="2045"/>
              <a:ext cx="77" cy="88"/>
            </a:xfrm>
            <a:custGeom>
              <a:gdLst>
                <a:gd name="T0" fmla="*/ 0 w 233"/>
                <a:gd name="T1" fmla="*/ 0 h 264"/>
                <a:gd name="T2" fmla="*/ 0 w 233"/>
                <a:gd name="T3" fmla="*/ 0 h 264"/>
                <a:gd name="T4" fmla="*/ 0 w 233"/>
                <a:gd name="T5" fmla="*/ 0 h 264"/>
                <a:gd name="T6" fmla="*/ 0 w 233"/>
                <a:gd name="T7" fmla="*/ 0 h 264"/>
                <a:gd name="T8" fmla="*/ 0 w 233"/>
                <a:gd name="T9" fmla="*/ 0 h 264"/>
                <a:gd name="T10" fmla="*/ 0 w 233"/>
                <a:gd name="T11" fmla="*/ 0 h 264"/>
                <a:gd name="T12" fmla="*/ 0 w 233"/>
                <a:gd name="T13" fmla="*/ 0 h 264"/>
                <a:gd name="T14" fmla="*/ 0 w 233"/>
                <a:gd name="T15" fmla="*/ 0 h 264"/>
                <a:gd name="T16" fmla="*/ 0 w 233"/>
                <a:gd name="T17" fmla="*/ 0 h 264"/>
                <a:gd name="T18" fmla="*/ 0 w 233"/>
                <a:gd name="T19" fmla="*/ 0 h 264"/>
                <a:gd name="T20" fmla="*/ 0 w 233"/>
                <a:gd name="T21" fmla="*/ 0 h 264"/>
                <a:gd name="T22" fmla="*/ 0 w 233"/>
                <a:gd name="T23" fmla="*/ 0 h 264"/>
                <a:gd name="T24" fmla="*/ 0 w 233"/>
                <a:gd name="T25" fmla="*/ 0 h 2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3" h="264">
                  <a:moveTo>
                    <a:pt x="28" y="0"/>
                  </a:moveTo>
                  <a:lnTo>
                    <a:pt x="57" y="118"/>
                  </a:lnTo>
                  <a:lnTo>
                    <a:pt x="0" y="264"/>
                  </a:lnTo>
                  <a:lnTo>
                    <a:pt x="57" y="264"/>
                  </a:lnTo>
                  <a:lnTo>
                    <a:pt x="87" y="231"/>
                  </a:lnTo>
                  <a:lnTo>
                    <a:pt x="146" y="264"/>
                  </a:lnTo>
                  <a:lnTo>
                    <a:pt x="177" y="175"/>
                  </a:lnTo>
                  <a:lnTo>
                    <a:pt x="233" y="175"/>
                  </a:lnTo>
                  <a:lnTo>
                    <a:pt x="233" y="118"/>
                  </a:lnTo>
                  <a:lnTo>
                    <a:pt x="114" y="87"/>
                  </a:lnTo>
                  <a:lnTo>
                    <a:pt x="114" y="29"/>
                  </a:lnTo>
                  <a:lnTo>
                    <a:pt x="28" y="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68" name="Freeform 118">
              <a:extLst>
                <a:ext uri="{FF2B5EF4-FFF2-40B4-BE49-F238E27FC236}">
                  <a16:creationId xmlns:a16="http://schemas.microsoft.com/office/drawing/2014/main" id="{7B34A260-9B0C-57AC-3DCC-16885AAA4982}"/>
                </a:ext>
              </a:extLst>
            </p:cNvPr>
            <p:cNvSpPr/>
            <p:nvPr/>
          </p:nvSpPr>
          <p:spPr bwMode="auto">
            <a:xfrm>
              <a:off x="4678" y="2045"/>
              <a:ext cx="77" cy="88"/>
            </a:xfrm>
            <a:custGeom>
              <a:gdLst>
                <a:gd name="T0" fmla="*/ 0 w 233"/>
                <a:gd name="T1" fmla="*/ 0 h 264"/>
                <a:gd name="T2" fmla="*/ 0 w 233"/>
                <a:gd name="T3" fmla="*/ 0 h 264"/>
                <a:gd name="T4" fmla="*/ 0 w 233"/>
                <a:gd name="T5" fmla="*/ 0 h 264"/>
                <a:gd name="T6" fmla="*/ 0 w 233"/>
                <a:gd name="T7" fmla="*/ 0 h 264"/>
                <a:gd name="T8" fmla="*/ 0 w 233"/>
                <a:gd name="T9" fmla="*/ 0 h 264"/>
                <a:gd name="T10" fmla="*/ 0 w 233"/>
                <a:gd name="T11" fmla="*/ 0 h 264"/>
                <a:gd name="T12" fmla="*/ 0 w 233"/>
                <a:gd name="T13" fmla="*/ 0 h 264"/>
                <a:gd name="T14" fmla="*/ 0 w 233"/>
                <a:gd name="T15" fmla="*/ 0 h 264"/>
                <a:gd name="T16" fmla="*/ 0 w 233"/>
                <a:gd name="T17" fmla="*/ 0 h 264"/>
                <a:gd name="T18" fmla="*/ 0 w 233"/>
                <a:gd name="T19" fmla="*/ 0 h 264"/>
                <a:gd name="T20" fmla="*/ 0 w 233"/>
                <a:gd name="T21" fmla="*/ 0 h 264"/>
                <a:gd name="T22" fmla="*/ 0 w 233"/>
                <a:gd name="T23" fmla="*/ 0 h 264"/>
                <a:gd name="T24" fmla="*/ 0 w 233"/>
                <a:gd name="T25" fmla="*/ 0 h 2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33" h="264">
                  <a:moveTo>
                    <a:pt x="28" y="0"/>
                  </a:moveTo>
                  <a:lnTo>
                    <a:pt x="57" y="118"/>
                  </a:lnTo>
                  <a:lnTo>
                    <a:pt x="0" y="264"/>
                  </a:lnTo>
                  <a:lnTo>
                    <a:pt x="57" y="264"/>
                  </a:lnTo>
                  <a:lnTo>
                    <a:pt x="87" y="231"/>
                  </a:lnTo>
                  <a:lnTo>
                    <a:pt x="146" y="264"/>
                  </a:lnTo>
                  <a:lnTo>
                    <a:pt x="177" y="175"/>
                  </a:lnTo>
                  <a:lnTo>
                    <a:pt x="233" y="175"/>
                  </a:lnTo>
                  <a:lnTo>
                    <a:pt x="233" y="118"/>
                  </a:lnTo>
                  <a:lnTo>
                    <a:pt x="114" y="87"/>
                  </a:lnTo>
                  <a:lnTo>
                    <a:pt x="114" y="29"/>
                  </a:lnTo>
                  <a:lnTo>
                    <a:pt x="28" y="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69" name="Freeform 119">
              <a:extLst>
                <a:ext uri="{FF2B5EF4-FFF2-40B4-BE49-F238E27FC236}">
                  <a16:creationId xmlns:a16="http://schemas.microsoft.com/office/drawing/2014/main" id="{75DEADB2-5FF0-9007-5C79-0CA6F20510E3}"/>
                </a:ext>
              </a:extLst>
            </p:cNvPr>
            <p:cNvSpPr/>
            <p:nvPr/>
          </p:nvSpPr>
          <p:spPr bwMode="auto">
            <a:xfrm>
              <a:off x="4629" y="1816"/>
              <a:ext cx="89" cy="213"/>
            </a:xfrm>
            <a:custGeom>
              <a:gdLst>
                <a:gd name="T0" fmla="*/ 0 w 269"/>
                <a:gd name="T1" fmla="*/ 0 h 639"/>
                <a:gd name="T2" fmla="*/ 0 w 269"/>
                <a:gd name="T3" fmla="*/ 0 h 639"/>
                <a:gd name="T4" fmla="*/ 0 w 269"/>
                <a:gd name="T5" fmla="*/ 0 h 639"/>
                <a:gd name="T6" fmla="*/ 0 w 269"/>
                <a:gd name="T7" fmla="*/ 0 h 639"/>
                <a:gd name="T8" fmla="*/ 0 w 269"/>
                <a:gd name="T9" fmla="*/ 0 h 639"/>
                <a:gd name="T10" fmla="*/ 0 w 269"/>
                <a:gd name="T11" fmla="*/ 0 h 639"/>
                <a:gd name="T12" fmla="*/ 0 w 269"/>
                <a:gd name="T13" fmla="*/ 0 h 639"/>
                <a:gd name="T14" fmla="*/ 0 w 269"/>
                <a:gd name="T15" fmla="*/ 0 h 639"/>
                <a:gd name="T16" fmla="*/ 0 w 269"/>
                <a:gd name="T17" fmla="*/ 0 h 639"/>
                <a:gd name="T18" fmla="*/ 0 w 269"/>
                <a:gd name="T19" fmla="*/ 0 h 639"/>
                <a:gd name="T20" fmla="*/ 0 w 269"/>
                <a:gd name="T21" fmla="*/ 0 h 639"/>
                <a:gd name="T22" fmla="*/ 0 w 269"/>
                <a:gd name="T23" fmla="*/ 0 h 639"/>
                <a:gd name="T24" fmla="*/ 0 w 269"/>
                <a:gd name="T25" fmla="*/ 0 h 639"/>
                <a:gd name="T26" fmla="*/ 0 w 269"/>
                <a:gd name="T27" fmla="*/ 0 h 639"/>
                <a:gd name="T28" fmla="*/ 0 w 269"/>
                <a:gd name="T29" fmla="*/ 0 h 639"/>
                <a:gd name="T30" fmla="*/ 0 w 269"/>
                <a:gd name="T31" fmla="*/ 0 h 6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69" h="639">
                  <a:moveTo>
                    <a:pt x="0" y="7"/>
                  </a:moveTo>
                  <a:lnTo>
                    <a:pt x="98" y="236"/>
                  </a:lnTo>
                  <a:lnTo>
                    <a:pt x="127" y="402"/>
                  </a:lnTo>
                  <a:lnTo>
                    <a:pt x="94" y="515"/>
                  </a:lnTo>
                  <a:lnTo>
                    <a:pt x="136" y="635"/>
                  </a:lnTo>
                  <a:lnTo>
                    <a:pt x="191" y="615"/>
                  </a:lnTo>
                  <a:lnTo>
                    <a:pt x="269" y="639"/>
                  </a:lnTo>
                  <a:lnTo>
                    <a:pt x="185" y="467"/>
                  </a:lnTo>
                  <a:lnTo>
                    <a:pt x="196" y="431"/>
                  </a:lnTo>
                  <a:lnTo>
                    <a:pt x="247" y="409"/>
                  </a:lnTo>
                  <a:lnTo>
                    <a:pt x="238" y="328"/>
                  </a:lnTo>
                  <a:lnTo>
                    <a:pt x="191" y="299"/>
                  </a:lnTo>
                  <a:lnTo>
                    <a:pt x="117" y="124"/>
                  </a:lnTo>
                  <a:lnTo>
                    <a:pt x="45" y="0"/>
                  </a:lnTo>
                  <a:lnTo>
                    <a:pt x="0" y="7"/>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70" name="Freeform 120">
              <a:extLst>
                <a:ext uri="{FF2B5EF4-FFF2-40B4-BE49-F238E27FC236}">
                  <a16:creationId xmlns:a16="http://schemas.microsoft.com/office/drawing/2014/main" id="{6DF04416-0D35-261B-4521-D0E7E6EEBFD2}"/>
                </a:ext>
              </a:extLst>
            </p:cNvPr>
            <p:cNvSpPr/>
            <p:nvPr/>
          </p:nvSpPr>
          <p:spPr bwMode="auto">
            <a:xfrm>
              <a:off x="4629" y="1816"/>
              <a:ext cx="89" cy="213"/>
            </a:xfrm>
            <a:custGeom>
              <a:gdLst>
                <a:gd name="T0" fmla="*/ 0 w 269"/>
                <a:gd name="T1" fmla="*/ 0 h 639"/>
                <a:gd name="T2" fmla="*/ 0 w 269"/>
                <a:gd name="T3" fmla="*/ 0 h 639"/>
                <a:gd name="T4" fmla="*/ 0 w 269"/>
                <a:gd name="T5" fmla="*/ 0 h 639"/>
                <a:gd name="T6" fmla="*/ 0 w 269"/>
                <a:gd name="T7" fmla="*/ 0 h 639"/>
                <a:gd name="T8" fmla="*/ 0 w 269"/>
                <a:gd name="T9" fmla="*/ 0 h 639"/>
                <a:gd name="T10" fmla="*/ 0 w 269"/>
                <a:gd name="T11" fmla="*/ 0 h 639"/>
                <a:gd name="T12" fmla="*/ 0 w 269"/>
                <a:gd name="T13" fmla="*/ 0 h 639"/>
                <a:gd name="T14" fmla="*/ 0 w 269"/>
                <a:gd name="T15" fmla="*/ 0 h 639"/>
                <a:gd name="T16" fmla="*/ 0 w 269"/>
                <a:gd name="T17" fmla="*/ 0 h 639"/>
                <a:gd name="T18" fmla="*/ 0 w 269"/>
                <a:gd name="T19" fmla="*/ 0 h 639"/>
                <a:gd name="T20" fmla="*/ 0 w 269"/>
                <a:gd name="T21" fmla="*/ 0 h 639"/>
                <a:gd name="T22" fmla="*/ 0 w 269"/>
                <a:gd name="T23" fmla="*/ 0 h 639"/>
                <a:gd name="T24" fmla="*/ 0 w 269"/>
                <a:gd name="T25" fmla="*/ 0 h 639"/>
                <a:gd name="T26" fmla="*/ 0 w 269"/>
                <a:gd name="T27" fmla="*/ 0 h 639"/>
                <a:gd name="T28" fmla="*/ 0 w 269"/>
                <a:gd name="T29" fmla="*/ 0 h 639"/>
                <a:gd name="T30" fmla="*/ 0 w 269"/>
                <a:gd name="T31" fmla="*/ 0 h 6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69" h="639">
                  <a:moveTo>
                    <a:pt x="0" y="7"/>
                  </a:moveTo>
                  <a:lnTo>
                    <a:pt x="98" y="236"/>
                  </a:lnTo>
                  <a:lnTo>
                    <a:pt x="127" y="402"/>
                  </a:lnTo>
                  <a:lnTo>
                    <a:pt x="94" y="515"/>
                  </a:lnTo>
                  <a:lnTo>
                    <a:pt x="136" y="635"/>
                  </a:lnTo>
                  <a:lnTo>
                    <a:pt x="191" y="615"/>
                  </a:lnTo>
                  <a:lnTo>
                    <a:pt x="269" y="639"/>
                  </a:lnTo>
                  <a:lnTo>
                    <a:pt x="185" y="467"/>
                  </a:lnTo>
                  <a:lnTo>
                    <a:pt x="196" y="431"/>
                  </a:lnTo>
                  <a:lnTo>
                    <a:pt x="247" y="409"/>
                  </a:lnTo>
                  <a:lnTo>
                    <a:pt x="238" y="328"/>
                  </a:lnTo>
                  <a:lnTo>
                    <a:pt x="191" y="299"/>
                  </a:lnTo>
                  <a:lnTo>
                    <a:pt x="117" y="124"/>
                  </a:lnTo>
                  <a:lnTo>
                    <a:pt x="45" y="0"/>
                  </a:lnTo>
                  <a:lnTo>
                    <a:pt x="0" y="7"/>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71" name="Freeform 121">
              <a:extLst>
                <a:ext uri="{FF2B5EF4-FFF2-40B4-BE49-F238E27FC236}">
                  <a16:creationId xmlns:a16="http://schemas.microsoft.com/office/drawing/2014/main" id="{D8BCC193-C104-56B1-109D-A69DD81E9C4F}"/>
                </a:ext>
              </a:extLst>
            </p:cNvPr>
            <p:cNvSpPr/>
            <p:nvPr/>
          </p:nvSpPr>
          <p:spPr bwMode="auto">
            <a:xfrm>
              <a:off x="2521" y="1106"/>
              <a:ext cx="2521" cy="1778"/>
            </a:xfrm>
            <a:custGeom>
              <a:gdLst>
                <a:gd name="T0" fmla="*/ 1 w 7563"/>
                <a:gd name="T1" fmla="*/ 2 h 5333"/>
                <a:gd name="T2" fmla="*/ 1 w 7563"/>
                <a:gd name="T3" fmla="*/ 2 h 5333"/>
                <a:gd name="T4" fmla="*/ 1 w 7563"/>
                <a:gd name="T5" fmla="*/ 2 h 5333"/>
                <a:gd name="T6" fmla="*/ 2 w 7563"/>
                <a:gd name="T7" fmla="*/ 2 h 5333"/>
                <a:gd name="T8" fmla="*/ 2 w 7563"/>
                <a:gd name="T9" fmla="*/ 2 h 5333"/>
                <a:gd name="T10" fmla="*/ 2 w 7563"/>
                <a:gd name="T11" fmla="*/ 2 h 5333"/>
                <a:gd name="T12" fmla="*/ 2 w 7563"/>
                <a:gd name="T13" fmla="*/ 2 h 5333"/>
                <a:gd name="T14" fmla="*/ 2 w 7563"/>
                <a:gd name="T15" fmla="*/ 2 h 5333"/>
                <a:gd name="T16" fmla="*/ 2 w 7563"/>
                <a:gd name="T17" fmla="*/ 2 h 5333"/>
                <a:gd name="T18" fmla="*/ 2 w 7563"/>
                <a:gd name="T19" fmla="*/ 2 h 5333"/>
                <a:gd name="T20" fmla="*/ 2 w 7563"/>
                <a:gd name="T21" fmla="*/ 2 h 5333"/>
                <a:gd name="T22" fmla="*/ 3 w 7563"/>
                <a:gd name="T23" fmla="*/ 2 h 5333"/>
                <a:gd name="T24" fmla="*/ 3 w 7563"/>
                <a:gd name="T25" fmla="*/ 2 h 5333"/>
                <a:gd name="T26" fmla="*/ 3 w 7563"/>
                <a:gd name="T27" fmla="*/ 1 h 5333"/>
                <a:gd name="T28" fmla="*/ 3 w 7563"/>
                <a:gd name="T29" fmla="*/ 2 h 5333"/>
                <a:gd name="T30" fmla="*/ 3 w 7563"/>
                <a:gd name="T31" fmla="*/ 1 h 5333"/>
                <a:gd name="T32" fmla="*/ 3 w 7563"/>
                <a:gd name="T33" fmla="*/ 1 h 5333"/>
                <a:gd name="T34" fmla="*/ 3 w 7563"/>
                <a:gd name="T35" fmla="*/ 1 h 5333"/>
                <a:gd name="T36" fmla="*/ 3 w 7563"/>
                <a:gd name="T37" fmla="*/ 1 h 5333"/>
                <a:gd name="T38" fmla="*/ 3 w 7563"/>
                <a:gd name="T39" fmla="*/ 1 h 5333"/>
                <a:gd name="T40" fmla="*/ 3 w 7563"/>
                <a:gd name="T41" fmla="*/ 1 h 5333"/>
                <a:gd name="T42" fmla="*/ 3 w 7563"/>
                <a:gd name="T43" fmla="*/ 0 h 5333"/>
                <a:gd name="T44" fmla="*/ 3 w 7563"/>
                <a:gd name="T45" fmla="*/ 0 h 5333"/>
                <a:gd name="T46" fmla="*/ 3 w 7563"/>
                <a:gd name="T47" fmla="*/ 0 h 5333"/>
                <a:gd name="T48" fmla="*/ 3 w 7563"/>
                <a:gd name="T49" fmla="*/ 0 h 5333"/>
                <a:gd name="T50" fmla="*/ 2 w 7563"/>
                <a:gd name="T51" fmla="*/ 0 h 5333"/>
                <a:gd name="T52" fmla="*/ 2 w 7563"/>
                <a:gd name="T53" fmla="*/ 0 h 5333"/>
                <a:gd name="T54" fmla="*/ 2 w 7563"/>
                <a:gd name="T55" fmla="*/ 0 h 5333"/>
                <a:gd name="T56" fmla="*/ 2 w 7563"/>
                <a:gd name="T57" fmla="*/ 0 h 5333"/>
                <a:gd name="T58" fmla="*/ 2 w 7563"/>
                <a:gd name="T59" fmla="*/ 0 h 5333"/>
                <a:gd name="T60" fmla="*/ 1 w 7563"/>
                <a:gd name="T61" fmla="*/ 0 h 5333"/>
                <a:gd name="T62" fmla="*/ 1 w 7563"/>
                <a:gd name="T63" fmla="*/ 1 h 5333"/>
                <a:gd name="T64" fmla="*/ 1 w 7563"/>
                <a:gd name="T65" fmla="*/ 0 h 5333"/>
                <a:gd name="T66" fmla="*/ 1 w 7563"/>
                <a:gd name="T67" fmla="*/ 1 h 5333"/>
                <a:gd name="T68" fmla="*/ 1 w 7563"/>
                <a:gd name="T69" fmla="*/ 1 h 5333"/>
                <a:gd name="T70" fmla="*/ 1 w 7563"/>
                <a:gd name="T71" fmla="*/ 1 h 5333"/>
                <a:gd name="T72" fmla="*/ 0 w 7563"/>
                <a:gd name="T73" fmla="*/ 1 h 5333"/>
                <a:gd name="T74" fmla="*/ 0 w 7563"/>
                <a:gd name="T75" fmla="*/ 1 h 5333"/>
                <a:gd name="T76" fmla="*/ 1 w 7563"/>
                <a:gd name="T77" fmla="*/ 1 h 5333"/>
                <a:gd name="T78" fmla="*/ 1 w 7563"/>
                <a:gd name="T79" fmla="*/ 1 h 5333"/>
                <a:gd name="T80" fmla="*/ 1 w 7563"/>
                <a:gd name="T81" fmla="*/ 1 h 5333"/>
                <a:gd name="T82" fmla="*/ 1 w 7563"/>
                <a:gd name="T83" fmla="*/ 1 h 5333"/>
                <a:gd name="T84" fmla="*/ 0 w 7563"/>
                <a:gd name="T85" fmla="*/ 1 h 5333"/>
                <a:gd name="T86" fmla="*/ 0 w 7563"/>
                <a:gd name="T87" fmla="*/ 1 h 5333"/>
                <a:gd name="T88" fmla="*/ 0 w 7563"/>
                <a:gd name="T89" fmla="*/ 1 h 5333"/>
                <a:gd name="T90" fmla="*/ 0 w 7563"/>
                <a:gd name="T91" fmla="*/ 2 h 5333"/>
                <a:gd name="T92" fmla="*/ 0 w 7563"/>
                <a:gd name="T93" fmla="*/ 2 h 5333"/>
                <a:gd name="T94" fmla="*/ 0 w 7563"/>
                <a:gd name="T95" fmla="*/ 1 h 5333"/>
                <a:gd name="T96" fmla="*/ 1 w 7563"/>
                <a:gd name="T97" fmla="*/ 1 h 5333"/>
                <a:gd name="T98" fmla="*/ 1 w 7563"/>
                <a:gd name="T99" fmla="*/ 2 h 5333"/>
                <a:gd name="T100" fmla="*/ 1 w 7563"/>
                <a:gd name="T101" fmla="*/ 2 h 5333"/>
                <a:gd name="T102" fmla="*/ 1 w 7563"/>
                <a:gd name="T103" fmla="*/ 2 h 533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563" h="5333">
                  <a:moveTo>
                    <a:pt x="1923" y="3900"/>
                  </a:moveTo>
                  <a:lnTo>
                    <a:pt x="2124" y="4142"/>
                  </a:lnTo>
                  <a:lnTo>
                    <a:pt x="2153" y="4230"/>
                  </a:lnTo>
                  <a:lnTo>
                    <a:pt x="2413" y="4577"/>
                  </a:lnTo>
                  <a:lnTo>
                    <a:pt x="2676" y="4577"/>
                  </a:lnTo>
                  <a:lnTo>
                    <a:pt x="3025" y="4403"/>
                  </a:lnTo>
                  <a:lnTo>
                    <a:pt x="3025" y="4345"/>
                  </a:lnTo>
                  <a:lnTo>
                    <a:pt x="3085" y="4257"/>
                  </a:lnTo>
                  <a:lnTo>
                    <a:pt x="2881" y="4111"/>
                  </a:lnTo>
                  <a:lnTo>
                    <a:pt x="2793" y="4142"/>
                  </a:lnTo>
                  <a:lnTo>
                    <a:pt x="2618" y="3965"/>
                  </a:lnTo>
                  <a:lnTo>
                    <a:pt x="2588" y="3819"/>
                  </a:lnTo>
                  <a:lnTo>
                    <a:pt x="2938" y="4082"/>
                  </a:lnTo>
                  <a:lnTo>
                    <a:pt x="3521" y="4172"/>
                  </a:lnTo>
                  <a:lnTo>
                    <a:pt x="3490" y="4285"/>
                  </a:lnTo>
                  <a:lnTo>
                    <a:pt x="3578" y="4316"/>
                  </a:lnTo>
                  <a:lnTo>
                    <a:pt x="3664" y="4285"/>
                  </a:lnTo>
                  <a:lnTo>
                    <a:pt x="3635" y="4403"/>
                  </a:lnTo>
                  <a:lnTo>
                    <a:pt x="3721" y="4607"/>
                  </a:lnTo>
                  <a:lnTo>
                    <a:pt x="3721" y="4666"/>
                  </a:lnTo>
                  <a:lnTo>
                    <a:pt x="3869" y="4927"/>
                  </a:lnTo>
                  <a:lnTo>
                    <a:pt x="3986" y="4840"/>
                  </a:lnTo>
                  <a:lnTo>
                    <a:pt x="4134" y="4520"/>
                  </a:lnTo>
                  <a:lnTo>
                    <a:pt x="4337" y="4432"/>
                  </a:lnTo>
                  <a:lnTo>
                    <a:pt x="4483" y="4230"/>
                  </a:lnTo>
                  <a:lnTo>
                    <a:pt x="4538" y="4403"/>
                  </a:lnTo>
                  <a:lnTo>
                    <a:pt x="4596" y="4461"/>
                  </a:lnTo>
                  <a:lnTo>
                    <a:pt x="4625" y="4577"/>
                  </a:lnTo>
                  <a:lnTo>
                    <a:pt x="4683" y="4607"/>
                  </a:lnTo>
                  <a:lnTo>
                    <a:pt x="4744" y="4520"/>
                  </a:lnTo>
                  <a:lnTo>
                    <a:pt x="4859" y="4809"/>
                  </a:lnTo>
                  <a:lnTo>
                    <a:pt x="4859" y="5013"/>
                  </a:lnTo>
                  <a:lnTo>
                    <a:pt x="4975" y="5246"/>
                  </a:lnTo>
                  <a:lnTo>
                    <a:pt x="5094" y="5333"/>
                  </a:lnTo>
                  <a:lnTo>
                    <a:pt x="5034" y="5132"/>
                  </a:lnTo>
                  <a:lnTo>
                    <a:pt x="4917" y="4986"/>
                  </a:lnTo>
                  <a:lnTo>
                    <a:pt x="4917" y="4752"/>
                  </a:lnTo>
                  <a:lnTo>
                    <a:pt x="5005" y="4781"/>
                  </a:lnTo>
                  <a:lnTo>
                    <a:pt x="5045" y="4905"/>
                  </a:lnTo>
                  <a:lnTo>
                    <a:pt x="5150" y="5013"/>
                  </a:lnTo>
                  <a:lnTo>
                    <a:pt x="5355" y="4781"/>
                  </a:lnTo>
                  <a:lnTo>
                    <a:pt x="5355" y="4635"/>
                  </a:lnTo>
                  <a:lnTo>
                    <a:pt x="5267" y="4490"/>
                  </a:lnTo>
                  <a:lnTo>
                    <a:pt x="5150" y="4461"/>
                  </a:lnTo>
                  <a:lnTo>
                    <a:pt x="5267" y="4316"/>
                  </a:lnTo>
                  <a:lnTo>
                    <a:pt x="5298" y="4345"/>
                  </a:lnTo>
                  <a:lnTo>
                    <a:pt x="5585" y="4257"/>
                  </a:lnTo>
                  <a:lnTo>
                    <a:pt x="5791" y="4052"/>
                  </a:lnTo>
                  <a:lnTo>
                    <a:pt x="5848" y="3877"/>
                  </a:lnTo>
                  <a:lnTo>
                    <a:pt x="5791" y="3848"/>
                  </a:lnTo>
                  <a:lnTo>
                    <a:pt x="5702" y="3644"/>
                  </a:lnTo>
                  <a:lnTo>
                    <a:pt x="5731" y="3413"/>
                  </a:lnTo>
                  <a:lnTo>
                    <a:pt x="5646" y="3498"/>
                  </a:lnTo>
                  <a:lnTo>
                    <a:pt x="5585" y="3442"/>
                  </a:lnTo>
                  <a:lnTo>
                    <a:pt x="5585" y="3325"/>
                  </a:lnTo>
                  <a:lnTo>
                    <a:pt x="5702" y="3209"/>
                  </a:lnTo>
                  <a:lnTo>
                    <a:pt x="5762" y="3260"/>
                  </a:lnTo>
                  <a:lnTo>
                    <a:pt x="5848" y="3209"/>
                  </a:lnTo>
                  <a:lnTo>
                    <a:pt x="5848" y="3413"/>
                  </a:lnTo>
                  <a:lnTo>
                    <a:pt x="5964" y="3471"/>
                  </a:lnTo>
                  <a:lnTo>
                    <a:pt x="5964" y="3557"/>
                  </a:lnTo>
                  <a:lnTo>
                    <a:pt x="6023" y="3673"/>
                  </a:lnTo>
                  <a:lnTo>
                    <a:pt x="6110" y="3529"/>
                  </a:lnTo>
                  <a:lnTo>
                    <a:pt x="5964" y="3267"/>
                  </a:lnTo>
                  <a:lnTo>
                    <a:pt x="6081" y="3004"/>
                  </a:lnTo>
                  <a:lnTo>
                    <a:pt x="6141" y="3093"/>
                  </a:lnTo>
                  <a:lnTo>
                    <a:pt x="6315" y="2744"/>
                  </a:lnTo>
                  <a:lnTo>
                    <a:pt x="6284" y="2278"/>
                  </a:lnTo>
                  <a:lnTo>
                    <a:pt x="6197" y="2105"/>
                  </a:lnTo>
                  <a:lnTo>
                    <a:pt x="6081" y="2048"/>
                  </a:lnTo>
                  <a:lnTo>
                    <a:pt x="6120" y="1680"/>
                  </a:lnTo>
                  <a:lnTo>
                    <a:pt x="6404" y="1551"/>
                  </a:lnTo>
                  <a:lnTo>
                    <a:pt x="6489" y="1638"/>
                  </a:lnTo>
                  <a:lnTo>
                    <a:pt x="6865" y="1172"/>
                  </a:lnTo>
                  <a:lnTo>
                    <a:pt x="6865" y="1348"/>
                  </a:lnTo>
                  <a:lnTo>
                    <a:pt x="6722" y="1668"/>
                  </a:lnTo>
                  <a:lnTo>
                    <a:pt x="6722" y="1841"/>
                  </a:lnTo>
                  <a:lnTo>
                    <a:pt x="6837" y="2161"/>
                  </a:lnTo>
                  <a:lnTo>
                    <a:pt x="6924" y="2190"/>
                  </a:lnTo>
                  <a:lnTo>
                    <a:pt x="6982" y="2394"/>
                  </a:lnTo>
                  <a:lnTo>
                    <a:pt x="7041" y="2015"/>
                  </a:lnTo>
                  <a:lnTo>
                    <a:pt x="7099" y="1987"/>
                  </a:lnTo>
                  <a:lnTo>
                    <a:pt x="6982" y="1814"/>
                  </a:lnTo>
                  <a:lnTo>
                    <a:pt x="6936" y="1497"/>
                  </a:lnTo>
                  <a:lnTo>
                    <a:pt x="7141" y="1350"/>
                  </a:lnTo>
                  <a:lnTo>
                    <a:pt x="7244" y="1056"/>
                  </a:lnTo>
                  <a:lnTo>
                    <a:pt x="7332" y="1029"/>
                  </a:lnTo>
                  <a:lnTo>
                    <a:pt x="7156" y="779"/>
                  </a:lnTo>
                  <a:lnTo>
                    <a:pt x="7477" y="707"/>
                  </a:lnTo>
                  <a:lnTo>
                    <a:pt x="7563" y="592"/>
                  </a:lnTo>
                  <a:lnTo>
                    <a:pt x="7439" y="527"/>
                  </a:lnTo>
                  <a:lnTo>
                    <a:pt x="7537" y="491"/>
                  </a:lnTo>
                  <a:lnTo>
                    <a:pt x="7427" y="389"/>
                  </a:lnTo>
                  <a:lnTo>
                    <a:pt x="7332" y="446"/>
                  </a:lnTo>
                  <a:lnTo>
                    <a:pt x="6953" y="183"/>
                  </a:lnTo>
                  <a:lnTo>
                    <a:pt x="6837" y="214"/>
                  </a:lnTo>
                  <a:lnTo>
                    <a:pt x="6606" y="154"/>
                  </a:lnTo>
                  <a:lnTo>
                    <a:pt x="6489" y="243"/>
                  </a:lnTo>
                  <a:lnTo>
                    <a:pt x="6664" y="389"/>
                  </a:lnTo>
                  <a:lnTo>
                    <a:pt x="6343" y="354"/>
                  </a:lnTo>
                  <a:lnTo>
                    <a:pt x="6081" y="436"/>
                  </a:lnTo>
                  <a:lnTo>
                    <a:pt x="5500" y="329"/>
                  </a:lnTo>
                  <a:lnTo>
                    <a:pt x="5413" y="243"/>
                  </a:lnTo>
                  <a:lnTo>
                    <a:pt x="5298" y="357"/>
                  </a:lnTo>
                  <a:lnTo>
                    <a:pt x="5355" y="475"/>
                  </a:lnTo>
                  <a:lnTo>
                    <a:pt x="5124" y="592"/>
                  </a:lnTo>
                  <a:lnTo>
                    <a:pt x="4770" y="361"/>
                  </a:lnTo>
                  <a:lnTo>
                    <a:pt x="4625" y="417"/>
                  </a:lnTo>
                  <a:lnTo>
                    <a:pt x="4423" y="389"/>
                  </a:lnTo>
                  <a:lnTo>
                    <a:pt x="4134" y="562"/>
                  </a:lnTo>
                  <a:lnTo>
                    <a:pt x="4105" y="389"/>
                  </a:lnTo>
                  <a:lnTo>
                    <a:pt x="4220" y="270"/>
                  </a:lnTo>
                  <a:lnTo>
                    <a:pt x="4191" y="69"/>
                  </a:lnTo>
                  <a:lnTo>
                    <a:pt x="3957" y="69"/>
                  </a:lnTo>
                  <a:lnTo>
                    <a:pt x="3869" y="154"/>
                  </a:lnTo>
                  <a:lnTo>
                    <a:pt x="3788" y="0"/>
                  </a:lnTo>
                  <a:lnTo>
                    <a:pt x="3664" y="39"/>
                  </a:lnTo>
                  <a:lnTo>
                    <a:pt x="3606" y="277"/>
                  </a:lnTo>
                  <a:lnTo>
                    <a:pt x="3374" y="533"/>
                  </a:lnTo>
                  <a:lnTo>
                    <a:pt x="3473" y="598"/>
                  </a:lnTo>
                  <a:lnTo>
                    <a:pt x="3259" y="679"/>
                  </a:lnTo>
                  <a:lnTo>
                    <a:pt x="3490" y="880"/>
                  </a:lnTo>
                  <a:lnTo>
                    <a:pt x="3403" y="993"/>
                  </a:lnTo>
                  <a:lnTo>
                    <a:pt x="3143" y="854"/>
                  </a:lnTo>
                  <a:lnTo>
                    <a:pt x="3172" y="1029"/>
                  </a:lnTo>
                  <a:lnTo>
                    <a:pt x="3403" y="1230"/>
                  </a:lnTo>
                  <a:lnTo>
                    <a:pt x="3256" y="1217"/>
                  </a:lnTo>
                  <a:lnTo>
                    <a:pt x="3069" y="1434"/>
                  </a:lnTo>
                  <a:lnTo>
                    <a:pt x="3143" y="1202"/>
                  </a:lnTo>
                  <a:lnTo>
                    <a:pt x="3025" y="766"/>
                  </a:lnTo>
                  <a:lnTo>
                    <a:pt x="2965" y="801"/>
                  </a:lnTo>
                  <a:lnTo>
                    <a:pt x="2958" y="1032"/>
                  </a:lnTo>
                  <a:lnTo>
                    <a:pt x="3025" y="1230"/>
                  </a:lnTo>
                  <a:lnTo>
                    <a:pt x="2824" y="1114"/>
                  </a:lnTo>
                  <a:lnTo>
                    <a:pt x="2734" y="1114"/>
                  </a:lnTo>
                  <a:lnTo>
                    <a:pt x="2763" y="1230"/>
                  </a:lnTo>
                  <a:lnTo>
                    <a:pt x="2208" y="1333"/>
                  </a:lnTo>
                  <a:lnTo>
                    <a:pt x="2124" y="1493"/>
                  </a:lnTo>
                  <a:lnTo>
                    <a:pt x="1891" y="1668"/>
                  </a:lnTo>
                  <a:lnTo>
                    <a:pt x="1804" y="1445"/>
                  </a:lnTo>
                  <a:lnTo>
                    <a:pt x="1966" y="1438"/>
                  </a:lnTo>
                  <a:lnTo>
                    <a:pt x="1979" y="1298"/>
                  </a:lnTo>
                  <a:lnTo>
                    <a:pt x="1670" y="1220"/>
                  </a:lnTo>
                  <a:lnTo>
                    <a:pt x="1586" y="1132"/>
                  </a:lnTo>
                  <a:lnTo>
                    <a:pt x="1135" y="1279"/>
                  </a:lnTo>
                  <a:lnTo>
                    <a:pt x="1093" y="1393"/>
                  </a:lnTo>
                  <a:lnTo>
                    <a:pt x="701" y="1841"/>
                  </a:lnTo>
                  <a:lnTo>
                    <a:pt x="710" y="1908"/>
                  </a:lnTo>
                  <a:lnTo>
                    <a:pt x="669" y="1987"/>
                  </a:lnTo>
                  <a:lnTo>
                    <a:pt x="698" y="2190"/>
                  </a:lnTo>
                  <a:lnTo>
                    <a:pt x="783" y="2161"/>
                  </a:lnTo>
                  <a:lnTo>
                    <a:pt x="843" y="2074"/>
                  </a:lnTo>
                  <a:lnTo>
                    <a:pt x="1018" y="2337"/>
                  </a:lnTo>
                  <a:lnTo>
                    <a:pt x="1075" y="2307"/>
                  </a:lnTo>
                  <a:lnTo>
                    <a:pt x="1075" y="2190"/>
                  </a:lnTo>
                  <a:lnTo>
                    <a:pt x="1193" y="2105"/>
                  </a:lnTo>
                  <a:lnTo>
                    <a:pt x="1104" y="1928"/>
                  </a:lnTo>
                  <a:lnTo>
                    <a:pt x="1133" y="1841"/>
                  </a:lnTo>
                  <a:lnTo>
                    <a:pt x="1220" y="1841"/>
                  </a:lnTo>
                  <a:lnTo>
                    <a:pt x="1279" y="1609"/>
                  </a:lnTo>
                  <a:lnTo>
                    <a:pt x="1366" y="1580"/>
                  </a:lnTo>
                  <a:lnTo>
                    <a:pt x="1453" y="1697"/>
                  </a:lnTo>
                  <a:lnTo>
                    <a:pt x="1308" y="1869"/>
                  </a:lnTo>
                  <a:lnTo>
                    <a:pt x="1330" y="2011"/>
                  </a:lnTo>
                  <a:lnTo>
                    <a:pt x="1589" y="1934"/>
                  </a:lnTo>
                  <a:lnTo>
                    <a:pt x="1657" y="2040"/>
                  </a:lnTo>
                  <a:lnTo>
                    <a:pt x="1301" y="2262"/>
                  </a:lnTo>
                  <a:lnTo>
                    <a:pt x="1278" y="2352"/>
                  </a:lnTo>
                  <a:lnTo>
                    <a:pt x="1018" y="2452"/>
                  </a:lnTo>
                  <a:lnTo>
                    <a:pt x="843" y="2452"/>
                  </a:lnTo>
                  <a:lnTo>
                    <a:pt x="873" y="2249"/>
                  </a:lnTo>
                  <a:lnTo>
                    <a:pt x="754" y="2337"/>
                  </a:lnTo>
                  <a:lnTo>
                    <a:pt x="754" y="2424"/>
                  </a:lnTo>
                  <a:lnTo>
                    <a:pt x="642" y="2452"/>
                  </a:lnTo>
                  <a:lnTo>
                    <a:pt x="523" y="2686"/>
                  </a:lnTo>
                  <a:lnTo>
                    <a:pt x="260" y="2744"/>
                  </a:lnTo>
                  <a:lnTo>
                    <a:pt x="264" y="2796"/>
                  </a:lnTo>
                  <a:lnTo>
                    <a:pt x="350" y="2801"/>
                  </a:lnTo>
                  <a:lnTo>
                    <a:pt x="319" y="3034"/>
                  </a:lnTo>
                  <a:lnTo>
                    <a:pt x="204" y="3064"/>
                  </a:lnTo>
                  <a:lnTo>
                    <a:pt x="29" y="3034"/>
                  </a:lnTo>
                  <a:lnTo>
                    <a:pt x="0" y="3296"/>
                  </a:lnTo>
                  <a:lnTo>
                    <a:pt x="85" y="3413"/>
                  </a:lnTo>
                  <a:lnTo>
                    <a:pt x="319" y="3413"/>
                  </a:lnTo>
                  <a:lnTo>
                    <a:pt x="435" y="3179"/>
                  </a:lnTo>
                  <a:lnTo>
                    <a:pt x="727" y="3034"/>
                  </a:lnTo>
                  <a:lnTo>
                    <a:pt x="1048" y="3263"/>
                  </a:lnTo>
                  <a:lnTo>
                    <a:pt x="1052" y="3427"/>
                  </a:lnTo>
                  <a:lnTo>
                    <a:pt x="1106" y="3306"/>
                  </a:lnTo>
                  <a:lnTo>
                    <a:pt x="1171" y="3296"/>
                  </a:lnTo>
                  <a:lnTo>
                    <a:pt x="1175" y="3245"/>
                  </a:lnTo>
                  <a:lnTo>
                    <a:pt x="902" y="3064"/>
                  </a:lnTo>
                  <a:lnTo>
                    <a:pt x="960" y="3004"/>
                  </a:lnTo>
                  <a:lnTo>
                    <a:pt x="1104" y="3034"/>
                  </a:lnTo>
                  <a:lnTo>
                    <a:pt x="1104" y="3093"/>
                  </a:lnTo>
                  <a:lnTo>
                    <a:pt x="1250" y="3209"/>
                  </a:lnTo>
                  <a:lnTo>
                    <a:pt x="1255" y="3312"/>
                  </a:lnTo>
                  <a:lnTo>
                    <a:pt x="1339" y="3325"/>
                  </a:lnTo>
                  <a:lnTo>
                    <a:pt x="1308" y="3413"/>
                  </a:lnTo>
                  <a:lnTo>
                    <a:pt x="1396" y="3442"/>
                  </a:lnTo>
                  <a:lnTo>
                    <a:pt x="1425" y="3384"/>
                  </a:lnTo>
                  <a:lnTo>
                    <a:pt x="1396" y="3267"/>
                  </a:lnTo>
                  <a:lnTo>
                    <a:pt x="1571" y="3296"/>
                  </a:lnTo>
                  <a:lnTo>
                    <a:pt x="1602" y="3442"/>
                  </a:lnTo>
                  <a:lnTo>
                    <a:pt x="1833" y="3557"/>
                  </a:lnTo>
                  <a:lnTo>
                    <a:pt x="1947" y="3487"/>
                  </a:lnTo>
                  <a:lnTo>
                    <a:pt x="2008" y="3498"/>
                  </a:lnTo>
                  <a:lnTo>
                    <a:pt x="1891" y="3732"/>
                  </a:lnTo>
                  <a:lnTo>
                    <a:pt x="1923" y="3900"/>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72" name="Freeform 122">
              <a:extLst>
                <a:ext uri="{FF2B5EF4-FFF2-40B4-BE49-F238E27FC236}">
                  <a16:creationId xmlns:a16="http://schemas.microsoft.com/office/drawing/2014/main" id="{73D9083E-85E1-F1EB-2F1D-E402369F5598}"/>
                </a:ext>
              </a:extLst>
            </p:cNvPr>
            <p:cNvSpPr/>
            <p:nvPr/>
          </p:nvSpPr>
          <p:spPr bwMode="auto">
            <a:xfrm>
              <a:off x="2521" y="1106"/>
              <a:ext cx="2521" cy="1778"/>
            </a:xfrm>
            <a:custGeom>
              <a:gdLst>
                <a:gd name="T0" fmla="*/ 1 w 7563"/>
                <a:gd name="T1" fmla="*/ 2 h 5333"/>
                <a:gd name="T2" fmla="*/ 1 w 7563"/>
                <a:gd name="T3" fmla="*/ 2 h 5333"/>
                <a:gd name="T4" fmla="*/ 1 w 7563"/>
                <a:gd name="T5" fmla="*/ 2 h 5333"/>
                <a:gd name="T6" fmla="*/ 2 w 7563"/>
                <a:gd name="T7" fmla="*/ 2 h 5333"/>
                <a:gd name="T8" fmla="*/ 2 w 7563"/>
                <a:gd name="T9" fmla="*/ 2 h 5333"/>
                <a:gd name="T10" fmla="*/ 2 w 7563"/>
                <a:gd name="T11" fmla="*/ 2 h 5333"/>
                <a:gd name="T12" fmla="*/ 2 w 7563"/>
                <a:gd name="T13" fmla="*/ 2 h 5333"/>
                <a:gd name="T14" fmla="*/ 2 w 7563"/>
                <a:gd name="T15" fmla="*/ 2 h 5333"/>
                <a:gd name="T16" fmla="*/ 2 w 7563"/>
                <a:gd name="T17" fmla="*/ 2 h 5333"/>
                <a:gd name="T18" fmla="*/ 2 w 7563"/>
                <a:gd name="T19" fmla="*/ 2 h 5333"/>
                <a:gd name="T20" fmla="*/ 2 w 7563"/>
                <a:gd name="T21" fmla="*/ 2 h 5333"/>
                <a:gd name="T22" fmla="*/ 3 w 7563"/>
                <a:gd name="T23" fmla="*/ 2 h 5333"/>
                <a:gd name="T24" fmla="*/ 3 w 7563"/>
                <a:gd name="T25" fmla="*/ 2 h 5333"/>
                <a:gd name="T26" fmla="*/ 3 w 7563"/>
                <a:gd name="T27" fmla="*/ 1 h 5333"/>
                <a:gd name="T28" fmla="*/ 3 w 7563"/>
                <a:gd name="T29" fmla="*/ 2 h 5333"/>
                <a:gd name="T30" fmla="*/ 3 w 7563"/>
                <a:gd name="T31" fmla="*/ 1 h 5333"/>
                <a:gd name="T32" fmla="*/ 3 w 7563"/>
                <a:gd name="T33" fmla="*/ 1 h 5333"/>
                <a:gd name="T34" fmla="*/ 3 w 7563"/>
                <a:gd name="T35" fmla="*/ 1 h 5333"/>
                <a:gd name="T36" fmla="*/ 3 w 7563"/>
                <a:gd name="T37" fmla="*/ 1 h 5333"/>
                <a:gd name="T38" fmla="*/ 3 w 7563"/>
                <a:gd name="T39" fmla="*/ 1 h 5333"/>
                <a:gd name="T40" fmla="*/ 3 w 7563"/>
                <a:gd name="T41" fmla="*/ 1 h 5333"/>
                <a:gd name="T42" fmla="*/ 3 w 7563"/>
                <a:gd name="T43" fmla="*/ 0 h 5333"/>
                <a:gd name="T44" fmla="*/ 3 w 7563"/>
                <a:gd name="T45" fmla="*/ 0 h 5333"/>
                <a:gd name="T46" fmla="*/ 3 w 7563"/>
                <a:gd name="T47" fmla="*/ 0 h 5333"/>
                <a:gd name="T48" fmla="*/ 3 w 7563"/>
                <a:gd name="T49" fmla="*/ 0 h 5333"/>
                <a:gd name="T50" fmla="*/ 2 w 7563"/>
                <a:gd name="T51" fmla="*/ 0 h 5333"/>
                <a:gd name="T52" fmla="*/ 2 w 7563"/>
                <a:gd name="T53" fmla="*/ 0 h 5333"/>
                <a:gd name="T54" fmla="*/ 2 w 7563"/>
                <a:gd name="T55" fmla="*/ 0 h 5333"/>
                <a:gd name="T56" fmla="*/ 2 w 7563"/>
                <a:gd name="T57" fmla="*/ 0 h 5333"/>
                <a:gd name="T58" fmla="*/ 2 w 7563"/>
                <a:gd name="T59" fmla="*/ 0 h 5333"/>
                <a:gd name="T60" fmla="*/ 1 w 7563"/>
                <a:gd name="T61" fmla="*/ 0 h 5333"/>
                <a:gd name="T62" fmla="*/ 1 w 7563"/>
                <a:gd name="T63" fmla="*/ 1 h 5333"/>
                <a:gd name="T64" fmla="*/ 1 w 7563"/>
                <a:gd name="T65" fmla="*/ 0 h 5333"/>
                <a:gd name="T66" fmla="*/ 1 w 7563"/>
                <a:gd name="T67" fmla="*/ 1 h 5333"/>
                <a:gd name="T68" fmla="*/ 1 w 7563"/>
                <a:gd name="T69" fmla="*/ 1 h 5333"/>
                <a:gd name="T70" fmla="*/ 1 w 7563"/>
                <a:gd name="T71" fmla="*/ 1 h 5333"/>
                <a:gd name="T72" fmla="*/ 0 w 7563"/>
                <a:gd name="T73" fmla="*/ 1 h 5333"/>
                <a:gd name="T74" fmla="*/ 0 w 7563"/>
                <a:gd name="T75" fmla="*/ 1 h 5333"/>
                <a:gd name="T76" fmla="*/ 1 w 7563"/>
                <a:gd name="T77" fmla="*/ 1 h 5333"/>
                <a:gd name="T78" fmla="*/ 1 w 7563"/>
                <a:gd name="T79" fmla="*/ 1 h 5333"/>
                <a:gd name="T80" fmla="*/ 1 w 7563"/>
                <a:gd name="T81" fmla="*/ 1 h 5333"/>
                <a:gd name="T82" fmla="*/ 1 w 7563"/>
                <a:gd name="T83" fmla="*/ 1 h 5333"/>
                <a:gd name="T84" fmla="*/ 0 w 7563"/>
                <a:gd name="T85" fmla="*/ 1 h 5333"/>
                <a:gd name="T86" fmla="*/ 0 w 7563"/>
                <a:gd name="T87" fmla="*/ 1 h 5333"/>
                <a:gd name="T88" fmla="*/ 0 w 7563"/>
                <a:gd name="T89" fmla="*/ 1 h 5333"/>
                <a:gd name="T90" fmla="*/ 0 w 7563"/>
                <a:gd name="T91" fmla="*/ 2 h 5333"/>
                <a:gd name="T92" fmla="*/ 0 w 7563"/>
                <a:gd name="T93" fmla="*/ 2 h 5333"/>
                <a:gd name="T94" fmla="*/ 0 w 7563"/>
                <a:gd name="T95" fmla="*/ 1 h 5333"/>
                <a:gd name="T96" fmla="*/ 1 w 7563"/>
                <a:gd name="T97" fmla="*/ 1 h 5333"/>
                <a:gd name="T98" fmla="*/ 1 w 7563"/>
                <a:gd name="T99" fmla="*/ 2 h 5333"/>
                <a:gd name="T100" fmla="*/ 1 w 7563"/>
                <a:gd name="T101" fmla="*/ 2 h 5333"/>
                <a:gd name="T102" fmla="*/ 1 w 7563"/>
                <a:gd name="T103" fmla="*/ 2 h 533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563" h="5333">
                  <a:moveTo>
                    <a:pt x="1923" y="3900"/>
                  </a:moveTo>
                  <a:lnTo>
                    <a:pt x="2124" y="4142"/>
                  </a:lnTo>
                  <a:lnTo>
                    <a:pt x="2153" y="4230"/>
                  </a:lnTo>
                  <a:lnTo>
                    <a:pt x="2413" y="4577"/>
                  </a:lnTo>
                  <a:lnTo>
                    <a:pt x="2676" y="4577"/>
                  </a:lnTo>
                  <a:lnTo>
                    <a:pt x="3025" y="4403"/>
                  </a:lnTo>
                  <a:lnTo>
                    <a:pt x="3025" y="4345"/>
                  </a:lnTo>
                  <a:lnTo>
                    <a:pt x="3085" y="4257"/>
                  </a:lnTo>
                  <a:lnTo>
                    <a:pt x="2881" y="4111"/>
                  </a:lnTo>
                  <a:lnTo>
                    <a:pt x="2793" y="4142"/>
                  </a:lnTo>
                  <a:lnTo>
                    <a:pt x="2618" y="3965"/>
                  </a:lnTo>
                  <a:lnTo>
                    <a:pt x="2588" y="3819"/>
                  </a:lnTo>
                  <a:lnTo>
                    <a:pt x="2938" y="4082"/>
                  </a:lnTo>
                  <a:lnTo>
                    <a:pt x="3521" y="4172"/>
                  </a:lnTo>
                  <a:lnTo>
                    <a:pt x="3490" y="4285"/>
                  </a:lnTo>
                  <a:lnTo>
                    <a:pt x="3578" y="4316"/>
                  </a:lnTo>
                  <a:lnTo>
                    <a:pt x="3664" y="4285"/>
                  </a:lnTo>
                  <a:lnTo>
                    <a:pt x="3635" y="4403"/>
                  </a:lnTo>
                  <a:lnTo>
                    <a:pt x="3721" y="4607"/>
                  </a:lnTo>
                  <a:lnTo>
                    <a:pt x="3721" y="4666"/>
                  </a:lnTo>
                  <a:lnTo>
                    <a:pt x="3869" y="4927"/>
                  </a:lnTo>
                  <a:lnTo>
                    <a:pt x="3986" y="4840"/>
                  </a:lnTo>
                  <a:lnTo>
                    <a:pt x="4134" y="4520"/>
                  </a:lnTo>
                  <a:lnTo>
                    <a:pt x="4337" y="4432"/>
                  </a:lnTo>
                  <a:lnTo>
                    <a:pt x="4483" y="4230"/>
                  </a:lnTo>
                  <a:lnTo>
                    <a:pt x="4538" y="4403"/>
                  </a:lnTo>
                  <a:lnTo>
                    <a:pt x="4596" y="4461"/>
                  </a:lnTo>
                  <a:lnTo>
                    <a:pt x="4625" y="4577"/>
                  </a:lnTo>
                  <a:lnTo>
                    <a:pt x="4683" y="4607"/>
                  </a:lnTo>
                  <a:lnTo>
                    <a:pt x="4744" y="4520"/>
                  </a:lnTo>
                  <a:lnTo>
                    <a:pt x="4859" y="4809"/>
                  </a:lnTo>
                  <a:lnTo>
                    <a:pt x="4859" y="5013"/>
                  </a:lnTo>
                  <a:lnTo>
                    <a:pt x="4975" y="5246"/>
                  </a:lnTo>
                  <a:lnTo>
                    <a:pt x="5094" y="5333"/>
                  </a:lnTo>
                  <a:lnTo>
                    <a:pt x="5034" y="5132"/>
                  </a:lnTo>
                  <a:lnTo>
                    <a:pt x="4917" y="4986"/>
                  </a:lnTo>
                  <a:lnTo>
                    <a:pt x="4917" y="4752"/>
                  </a:lnTo>
                  <a:lnTo>
                    <a:pt x="5005" y="4781"/>
                  </a:lnTo>
                  <a:lnTo>
                    <a:pt x="5045" y="4905"/>
                  </a:lnTo>
                  <a:lnTo>
                    <a:pt x="5150" y="5013"/>
                  </a:lnTo>
                  <a:lnTo>
                    <a:pt x="5355" y="4781"/>
                  </a:lnTo>
                  <a:lnTo>
                    <a:pt x="5355" y="4635"/>
                  </a:lnTo>
                  <a:lnTo>
                    <a:pt x="5267" y="4490"/>
                  </a:lnTo>
                  <a:lnTo>
                    <a:pt x="5150" y="4461"/>
                  </a:lnTo>
                  <a:lnTo>
                    <a:pt x="5267" y="4316"/>
                  </a:lnTo>
                  <a:lnTo>
                    <a:pt x="5298" y="4345"/>
                  </a:lnTo>
                  <a:lnTo>
                    <a:pt x="5585" y="4257"/>
                  </a:lnTo>
                  <a:lnTo>
                    <a:pt x="5791" y="4052"/>
                  </a:lnTo>
                  <a:lnTo>
                    <a:pt x="5848" y="3877"/>
                  </a:lnTo>
                  <a:lnTo>
                    <a:pt x="5791" y="3848"/>
                  </a:lnTo>
                  <a:lnTo>
                    <a:pt x="5702" y="3644"/>
                  </a:lnTo>
                  <a:lnTo>
                    <a:pt x="5731" y="3413"/>
                  </a:lnTo>
                  <a:lnTo>
                    <a:pt x="5646" y="3498"/>
                  </a:lnTo>
                  <a:lnTo>
                    <a:pt x="5585" y="3442"/>
                  </a:lnTo>
                  <a:lnTo>
                    <a:pt x="5585" y="3325"/>
                  </a:lnTo>
                  <a:lnTo>
                    <a:pt x="5702" y="3209"/>
                  </a:lnTo>
                  <a:lnTo>
                    <a:pt x="5762" y="3260"/>
                  </a:lnTo>
                  <a:lnTo>
                    <a:pt x="5848" y="3209"/>
                  </a:lnTo>
                  <a:lnTo>
                    <a:pt x="5848" y="3413"/>
                  </a:lnTo>
                  <a:lnTo>
                    <a:pt x="5964" y="3471"/>
                  </a:lnTo>
                  <a:lnTo>
                    <a:pt x="5964" y="3557"/>
                  </a:lnTo>
                  <a:lnTo>
                    <a:pt x="6023" y="3673"/>
                  </a:lnTo>
                  <a:lnTo>
                    <a:pt x="6110" y="3529"/>
                  </a:lnTo>
                  <a:lnTo>
                    <a:pt x="5964" y="3267"/>
                  </a:lnTo>
                  <a:lnTo>
                    <a:pt x="6081" y="3004"/>
                  </a:lnTo>
                  <a:lnTo>
                    <a:pt x="6141" y="3093"/>
                  </a:lnTo>
                  <a:lnTo>
                    <a:pt x="6315" y="2744"/>
                  </a:lnTo>
                  <a:lnTo>
                    <a:pt x="6284" y="2278"/>
                  </a:lnTo>
                  <a:lnTo>
                    <a:pt x="6197" y="2105"/>
                  </a:lnTo>
                  <a:lnTo>
                    <a:pt x="6081" y="2048"/>
                  </a:lnTo>
                  <a:lnTo>
                    <a:pt x="6120" y="1680"/>
                  </a:lnTo>
                  <a:lnTo>
                    <a:pt x="6404" y="1551"/>
                  </a:lnTo>
                  <a:lnTo>
                    <a:pt x="6489" y="1638"/>
                  </a:lnTo>
                  <a:lnTo>
                    <a:pt x="6865" y="1172"/>
                  </a:lnTo>
                  <a:lnTo>
                    <a:pt x="6865" y="1348"/>
                  </a:lnTo>
                  <a:lnTo>
                    <a:pt x="6722" y="1668"/>
                  </a:lnTo>
                  <a:lnTo>
                    <a:pt x="6722" y="1841"/>
                  </a:lnTo>
                  <a:lnTo>
                    <a:pt x="6837" y="2161"/>
                  </a:lnTo>
                  <a:lnTo>
                    <a:pt x="6924" y="2190"/>
                  </a:lnTo>
                  <a:lnTo>
                    <a:pt x="6982" y="2394"/>
                  </a:lnTo>
                  <a:lnTo>
                    <a:pt x="7041" y="2015"/>
                  </a:lnTo>
                  <a:lnTo>
                    <a:pt x="7099" y="1987"/>
                  </a:lnTo>
                  <a:lnTo>
                    <a:pt x="6982" y="1814"/>
                  </a:lnTo>
                  <a:lnTo>
                    <a:pt x="6936" y="1497"/>
                  </a:lnTo>
                  <a:lnTo>
                    <a:pt x="7141" y="1350"/>
                  </a:lnTo>
                  <a:lnTo>
                    <a:pt x="7244" y="1056"/>
                  </a:lnTo>
                  <a:lnTo>
                    <a:pt x="7332" y="1029"/>
                  </a:lnTo>
                  <a:lnTo>
                    <a:pt x="7156" y="779"/>
                  </a:lnTo>
                  <a:lnTo>
                    <a:pt x="7477" y="707"/>
                  </a:lnTo>
                  <a:lnTo>
                    <a:pt x="7563" y="592"/>
                  </a:lnTo>
                  <a:lnTo>
                    <a:pt x="7439" y="527"/>
                  </a:lnTo>
                  <a:lnTo>
                    <a:pt x="7537" y="491"/>
                  </a:lnTo>
                  <a:lnTo>
                    <a:pt x="7427" y="389"/>
                  </a:lnTo>
                  <a:lnTo>
                    <a:pt x="7332" y="446"/>
                  </a:lnTo>
                  <a:lnTo>
                    <a:pt x="6953" y="183"/>
                  </a:lnTo>
                  <a:lnTo>
                    <a:pt x="6837" y="214"/>
                  </a:lnTo>
                  <a:lnTo>
                    <a:pt x="6606" y="154"/>
                  </a:lnTo>
                  <a:lnTo>
                    <a:pt x="6489" y="243"/>
                  </a:lnTo>
                  <a:lnTo>
                    <a:pt x="6664" y="389"/>
                  </a:lnTo>
                  <a:lnTo>
                    <a:pt x="6343" y="354"/>
                  </a:lnTo>
                  <a:lnTo>
                    <a:pt x="6081" y="436"/>
                  </a:lnTo>
                  <a:lnTo>
                    <a:pt x="5500" y="329"/>
                  </a:lnTo>
                  <a:lnTo>
                    <a:pt x="5413" y="243"/>
                  </a:lnTo>
                  <a:lnTo>
                    <a:pt x="5298" y="357"/>
                  </a:lnTo>
                  <a:lnTo>
                    <a:pt x="5355" y="475"/>
                  </a:lnTo>
                  <a:lnTo>
                    <a:pt x="5124" y="592"/>
                  </a:lnTo>
                  <a:lnTo>
                    <a:pt x="4770" y="361"/>
                  </a:lnTo>
                  <a:lnTo>
                    <a:pt x="4625" y="417"/>
                  </a:lnTo>
                  <a:lnTo>
                    <a:pt x="4423" y="389"/>
                  </a:lnTo>
                  <a:lnTo>
                    <a:pt x="4134" y="562"/>
                  </a:lnTo>
                  <a:lnTo>
                    <a:pt x="4105" y="389"/>
                  </a:lnTo>
                  <a:lnTo>
                    <a:pt x="4220" y="270"/>
                  </a:lnTo>
                  <a:lnTo>
                    <a:pt x="4191" y="69"/>
                  </a:lnTo>
                  <a:lnTo>
                    <a:pt x="3957" y="69"/>
                  </a:lnTo>
                  <a:lnTo>
                    <a:pt x="3869" y="154"/>
                  </a:lnTo>
                  <a:lnTo>
                    <a:pt x="3788" y="0"/>
                  </a:lnTo>
                  <a:lnTo>
                    <a:pt x="3664" y="39"/>
                  </a:lnTo>
                  <a:lnTo>
                    <a:pt x="3606" y="277"/>
                  </a:lnTo>
                  <a:lnTo>
                    <a:pt x="3374" y="533"/>
                  </a:lnTo>
                  <a:lnTo>
                    <a:pt x="3473" y="598"/>
                  </a:lnTo>
                  <a:lnTo>
                    <a:pt x="3259" y="679"/>
                  </a:lnTo>
                  <a:lnTo>
                    <a:pt x="3490" y="880"/>
                  </a:lnTo>
                  <a:lnTo>
                    <a:pt x="3403" y="993"/>
                  </a:lnTo>
                  <a:lnTo>
                    <a:pt x="3143" y="854"/>
                  </a:lnTo>
                  <a:lnTo>
                    <a:pt x="3172" y="1029"/>
                  </a:lnTo>
                  <a:lnTo>
                    <a:pt x="3403" y="1230"/>
                  </a:lnTo>
                  <a:lnTo>
                    <a:pt x="3256" y="1217"/>
                  </a:lnTo>
                  <a:lnTo>
                    <a:pt x="3069" y="1434"/>
                  </a:lnTo>
                  <a:lnTo>
                    <a:pt x="3143" y="1202"/>
                  </a:lnTo>
                  <a:lnTo>
                    <a:pt x="3025" y="766"/>
                  </a:lnTo>
                  <a:lnTo>
                    <a:pt x="2965" y="801"/>
                  </a:lnTo>
                  <a:lnTo>
                    <a:pt x="2958" y="1032"/>
                  </a:lnTo>
                  <a:lnTo>
                    <a:pt x="3025" y="1230"/>
                  </a:lnTo>
                  <a:lnTo>
                    <a:pt x="2824" y="1114"/>
                  </a:lnTo>
                  <a:lnTo>
                    <a:pt x="2734" y="1114"/>
                  </a:lnTo>
                  <a:lnTo>
                    <a:pt x="2763" y="1230"/>
                  </a:lnTo>
                  <a:lnTo>
                    <a:pt x="2208" y="1333"/>
                  </a:lnTo>
                  <a:lnTo>
                    <a:pt x="2124" y="1493"/>
                  </a:lnTo>
                  <a:lnTo>
                    <a:pt x="1891" y="1668"/>
                  </a:lnTo>
                  <a:lnTo>
                    <a:pt x="1804" y="1445"/>
                  </a:lnTo>
                  <a:lnTo>
                    <a:pt x="1966" y="1438"/>
                  </a:lnTo>
                  <a:lnTo>
                    <a:pt x="1979" y="1298"/>
                  </a:lnTo>
                  <a:lnTo>
                    <a:pt x="1670" y="1220"/>
                  </a:lnTo>
                  <a:lnTo>
                    <a:pt x="1586" y="1132"/>
                  </a:lnTo>
                  <a:lnTo>
                    <a:pt x="1135" y="1279"/>
                  </a:lnTo>
                  <a:lnTo>
                    <a:pt x="1093" y="1393"/>
                  </a:lnTo>
                  <a:lnTo>
                    <a:pt x="701" y="1841"/>
                  </a:lnTo>
                  <a:lnTo>
                    <a:pt x="710" y="1908"/>
                  </a:lnTo>
                  <a:lnTo>
                    <a:pt x="669" y="1987"/>
                  </a:lnTo>
                  <a:lnTo>
                    <a:pt x="698" y="2190"/>
                  </a:lnTo>
                  <a:lnTo>
                    <a:pt x="783" y="2161"/>
                  </a:lnTo>
                  <a:lnTo>
                    <a:pt x="843" y="2074"/>
                  </a:lnTo>
                  <a:lnTo>
                    <a:pt x="1018" y="2337"/>
                  </a:lnTo>
                  <a:lnTo>
                    <a:pt x="1075" y="2307"/>
                  </a:lnTo>
                  <a:lnTo>
                    <a:pt x="1075" y="2190"/>
                  </a:lnTo>
                  <a:lnTo>
                    <a:pt x="1193" y="2105"/>
                  </a:lnTo>
                  <a:lnTo>
                    <a:pt x="1104" y="1928"/>
                  </a:lnTo>
                  <a:lnTo>
                    <a:pt x="1133" y="1841"/>
                  </a:lnTo>
                  <a:lnTo>
                    <a:pt x="1220" y="1841"/>
                  </a:lnTo>
                  <a:lnTo>
                    <a:pt x="1279" y="1609"/>
                  </a:lnTo>
                  <a:lnTo>
                    <a:pt x="1366" y="1580"/>
                  </a:lnTo>
                  <a:lnTo>
                    <a:pt x="1453" y="1697"/>
                  </a:lnTo>
                  <a:lnTo>
                    <a:pt x="1308" y="1869"/>
                  </a:lnTo>
                  <a:lnTo>
                    <a:pt x="1330" y="2011"/>
                  </a:lnTo>
                  <a:lnTo>
                    <a:pt x="1589" y="1934"/>
                  </a:lnTo>
                  <a:lnTo>
                    <a:pt x="1657" y="2040"/>
                  </a:lnTo>
                  <a:lnTo>
                    <a:pt x="1301" y="2262"/>
                  </a:lnTo>
                  <a:lnTo>
                    <a:pt x="1278" y="2352"/>
                  </a:lnTo>
                  <a:lnTo>
                    <a:pt x="1018" y="2452"/>
                  </a:lnTo>
                  <a:lnTo>
                    <a:pt x="843" y="2452"/>
                  </a:lnTo>
                  <a:lnTo>
                    <a:pt x="873" y="2249"/>
                  </a:lnTo>
                  <a:lnTo>
                    <a:pt x="754" y="2337"/>
                  </a:lnTo>
                  <a:lnTo>
                    <a:pt x="754" y="2424"/>
                  </a:lnTo>
                  <a:lnTo>
                    <a:pt x="642" y="2452"/>
                  </a:lnTo>
                  <a:lnTo>
                    <a:pt x="523" y="2686"/>
                  </a:lnTo>
                  <a:lnTo>
                    <a:pt x="260" y="2744"/>
                  </a:lnTo>
                  <a:lnTo>
                    <a:pt x="264" y="2796"/>
                  </a:lnTo>
                  <a:lnTo>
                    <a:pt x="350" y="2801"/>
                  </a:lnTo>
                  <a:lnTo>
                    <a:pt x="319" y="3034"/>
                  </a:lnTo>
                  <a:lnTo>
                    <a:pt x="204" y="3064"/>
                  </a:lnTo>
                  <a:lnTo>
                    <a:pt x="29" y="3034"/>
                  </a:lnTo>
                  <a:lnTo>
                    <a:pt x="0" y="3296"/>
                  </a:lnTo>
                  <a:lnTo>
                    <a:pt x="85" y="3413"/>
                  </a:lnTo>
                  <a:lnTo>
                    <a:pt x="319" y="3413"/>
                  </a:lnTo>
                  <a:lnTo>
                    <a:pt x="435" y="3179"/>
                  </a:lnTo>
                  <a:lnTo>
                    <a:pt x="727" y="3034"/>
                  </a:lnTo>
                  <a:lnTo>
                    <a:pt x="1048" y="3263"/>
                  </a:lnTo>
                  <a:lnTo>
                    <a:pt x="1052" y="3427"/>
                  </a:lnTo>
                  <a:lnTo>
                    <a:pt x="1106" y="3306"/>
                  </a:lnTo>
                  <a:lnTo>
                    <a:pt x="1171" y="3296"/>
                  </a:lnTo>
                  <a:lnTo>
                    <a:pt x="1175" y="3245"/>
                  </a:lnTo>
                  <a:lnTo>
                    <a:pt x="902" y="3064"/>
                  </a:lnTo>
                  <a:lnTo>
                    <a:pt x="960" y="3004"/>
                  </a:lnTo>
                  <a:lnTo>
                    <a:pt x="1104" y="3034"/>
                  </a:lnTo>
                  <a:lnTo>
                    <a:pt x="1104" y="3093"/>
                  </a:lnTo>
                  <a:lnTo>
                    <a:pt x="1250" y="3209"/>
                  </a:lnTo>
                  <a:lnTo>
                    <a:pt x="1255" y="3312"/>
                  </a:lnTo>
                  <a:lnTo>
                    <a:pt x="1339" y="3325"/>
                  </a:lnTo>
                  <a:lnTo>
                    <a:pt x="1308" y="3413"/>
                  </a:lnTo>
                  <a:lnTo>
                    <a:pt x="1396" y="3442"/>
                  </a:lnTo>
                  <a:lnTo>
                    <a:pt x="1425" y="3384"/>
                  </a:lnTo>
                  <a:lnTo>
                    <a:pt x="1396" y="3267"/>
                  </a:lnTo>
                  <a:lnTo>
                    <a:pt x="1571" y="3296"/>
                  </a:lnTo>
                  <a:lnTo>
                    <a:pt x="1602" y="3442"/>
                  </a:lnTo>
                  <a:lnTo>
                    <a:pt x="1833" y="3557"/>
                  </a:lnTo>
                  <a:lnTo>
                    <a:pt x="1947" y="3487"/>
                  </a:lnTo>
                  <a:lnTo>
                    <a:pt x="2008" y="3498"/>
                  </a:lnTo>
                  <a:lnTo>
                    <a:pt x="1891" y="3732"/>
                  </a:lnTo>
                  <a:lnTo>
                    <a:pt x="1923" y="3900"/>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73" name="Freeform 123">
              <a:extLst>
                <a:ext uri="{FF2B5EF4-FFF2-40B4-BE49-F238E27FC236}">
                  <a16:creationId xmlns:a16="http://schemas.microsoft.com/office/drawing/2014/main" id="{B807B104-CF2C-6249-31C3-AF98499C7665}"/>
                </a:ext>
              </a:extLst>
            </p:cNvPr>
            <p:cNvSpPr/>
            <p:nvPr/>
          </p:nvSpPr>
          <p:spPr bwMode="auto">
            <a:xfrm>
              <a:off x="700" y="1034"/>
              <a:ext cx="1531" cy="2939"/>
            </a:xfrm>
            <a:custGeom>
              <a:gdLst>
                <a:gd name="T0" fmla="*/ 0 w 4594"/>
                <a:gd name="T1" fmla="*/ 0 h 8815"/>
                <a:gd name="T2" fmla="*/ 0 w 4594"/>
                <a:gd name="T3" fmla="*/ 1 h 8815"/>
                <a:gd name="T4" fmla="*/ 0 w 4594"/>
                <a:gd name="T5" fmla="*/ 1 h 8815"/>
                <a:gd name="T6" fmla="*/ 0 w 4594"/>
                <a:gd name="T7" fmla="*/ 1 h 8815"/>
                <a:gd name="T8" fmla="*/ 0 w 4594"/>
                <a:gd name="T9" fmla="*/ 1 h 8815"/>
                <a:gd name="T10" fmla="*/ 0 w 4594"/>
                <a:gd name="T11" fmla="*/ 2 h 8815"/>
                <a:gd name="T12" fmla="*/ 0 w 4594"/>
                <a:gd name="T13" fmla="*/ 1 h 8815"/>
                <a:gd name="T14" fmla="*/ 0 w 4594"/>
                <a:gd name="T15" fmla="*/ 2 h 8815"/>
                <a:gd name="T16" fmla="*/ 1 w 4594"/>
                <a:gd name="T17" fmla="*/ 2 h 8815"/>
                <a:gd name="T18" fmla="*/ 1 w 4594"/>
                <a:gd name="T19" fmla="*/ 2 h 8815"/>
                <a:gd name="T20" fmla="*/ 1 w 4594"/>
                <a:gd name="T21" fmla="*/ 2 h 8815"/>
                <a:gd name="T22" fmla="*/ 1 w 4594"/>
                <a:gd name="T23" fmla="*/ 2 h 8815"/>
                <a:gd name="T24" fmla="*/ 1 w 4594"/>
                <a:gd name="T25" fmla="*/ 3 h 8815"/>
                <a:gd name="T26" fmla="*/ 1 w 4594"/>
                <a:gd name="T27" fmla="*/ 3 h 8815"/>
                <a:gd name="T28" fmla="*/ 1 w 4594"/>
                <a:gd name="T29" fmla="*/ 3 h 8815"/>
                <a:gd name="T30" fmla="*/ 1 w 4594"/>
                <a:gd name="T31" fmla="*/ 4 h 8815"/>
                <a:gd name="T32" fmla="*/ 1 w 4594"/>
                <a:gd name="T33" fmla="*/ 4 h 8815"/>
                <a:gd name="T34" fmla="*/ 1 w 4594"/>
                <a:gd name="T35" fmla="*/ 4 h 8815"/>
                <a:gd name="T36" fmla="*/ 1 w 4594"/>
                <a:gd name="T37" fmla="*/ 4 h 8815"/>
                <a:gd name="T38" fmla="*/ 2 w 4594"/>
                <a:gd name="T39" fmla="*/ 3 h 8815"/>
                <a:gd name="T40" fmla="*/ 2 w 4594"/>
                <a:gd name="T41" fmla="*/ 3 h 8815"/>
                <a:gd name="T42" fmla="*/ 2 w 4594"/>
                <a:gd name="T43" fmla="*/ 3 h 8815"/>
                <a:gd name="T44" fmla="*/ 2 w 4594"/>
                <a:gd name="T45" fmla="*/ 3 h 8815"/>
                <a:gd name="T46" fmla="*/ 2 w 4594"/>
                <a:gd name="T47" fmla="*/ 3 h 8815"/>
                <a:gd name="T48" fmla="*/ 2 w 4594"/>
                <a:gd name="T49" fmla="*/ 2 h 8815"/>
                <a:gd name="T50" fmla="*/ 1 w 4594"/>
                <a:gd name="T51" fmla="*/ 2 h 8815"/>
                <a:gd name="T52" fmla="*/ 1 w 4594"/>
                <a:gd name="T53" fmla="*/ 2 h 8815"/>
                <a:gd name="T54" fmla="*/ 1 w 4594"/>
                <a:gd name="T55" fmla="*/ 2 h 8815"/>
                <a:gd name="T56" fmla="*/ 1 w 4594"/>
                <a:gd name="T57" fmla="*/ 2 h 8815"/>
                <a:gd name="T58" fmla="*/ 1 w 4594"/>
                <a:gd name="T59" fmla="*/ 2 h 8815"/>
                <a:gd name="T60" fmla="*/ 1 w 4594"/>
                <a:gd name="T61" fmla="*/ 2 h 8815"/>
                <a:gd name="T62" fmla="*/ 1 w 4594"/>
                <a:gd name="T63" fmla="*/ 2 h 8815"/>
                <a:gd name="T64" fmla="*/ 1 w 4594"/>
                <a:gd name="T65" fmla="*/ 2 h 8815"/>
                <a:gd name="T66" fmla="*/ 1 w 4594"/>
                <a:gd name="T67" fmla="*/ 2 h 8815"/>
                <a:gd name="T68" fmla="*/ 1 w 4594"/>
                <a:gd name="T69" fmla="*/ 2 h 8815"/>
                <a:gd name="T70" fmla="*/ 1 w 4594"/>
                <a:gd name="T71" fmla="*/ 1 h 8815"/>
                <a:gd name="T72" fmla="*/ 1 w 4594"/>
                <a:gd name="T73" fmla="*/ 1 h 8815"/>
                <a:gd name="T74" fmla="*/ 2 w 4594"/>
                <a:gd name="T75" fmla="*/ 1 h 8815"/>
                <a:gd name="T76" fmla="*/ 1 w 4594"/>
                <a:gd name="T77" fmla="*/ 1 h 8815"/>
                <a:gd name="T78" fmla="*/ 1 w 4594"/>
                <a:gd name="T79" fmla="*/ 1 h 8815"/>
                <a:gd name="T80" fmla="*/ 1 w 4594"/>
                <a:gd name="T81" fmla="*/ 1 h 8815"/>
                <a:gd name="T82" fmla="*/ 1 w 4594"/>
                <a:gd name="T83" fmla="*/ 1 h 8815"/>
                <a:gd name="T84" fmla="*/ 1 w 4594"/>
                <a:gd name="T85" fmla="*/ 1 h 8815"/>
                <a:gd name="T86" fmla="*/ 1 w 4594"/>
                <a:gd name="T87" fmla="*/ 1 h 8815"/>
                <a:gd name="T88" fmla="*/ 1 w 4594"/>
                <a:gd name="T89" fmla="*/ 1 h 8815"/>
                <a:gd name="T90" fmla="*/ 1 w 4594"/>
                <a:gd name="T91" fmla="*/ 1 h 8815"/>
                <a:gd name="T92" fmla="*/ 1 w 4594"/>
                <a:gd name="T93" fmla="*/ 0 h 8815"/>
                <a:gd name="T94" fmla="*/ 0 w 4594"/>
                <a:gd name="T95" fmla="*/ 0 h 8815"/>
                <a:gd name="T96" fmla="*/ 0 w 4594"/>
                <a:gd name="T97" fmla="*/ 0 h 8815"/>
                <a:gd name="T98" fmla="*/ 0 w 4594"/>
                <a:gd name="T99" fmla="*/ 0 h 8815"/>
                <a:gd name="T100" fmla="*/ 0 w 4594"/>
                <a:gd name="T101" fmla="*/ 0 h 8815"/>
                <a:gd name="T102" fmla="*/ 0 w 4594"/>
                <a:gd name="T103" fmla="*/ 0 h 881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594" h="8815">
                  <a:moveTo>
                    <a:pt x="0" y="583"/>
                  </a:moveTo>
                  <a:lnTo>
                    <a:pt x="292" y="729"/>
                  </a:lnTo>
                  <a:lnTo>
                    <a:pt x="495" y="670"/>
                  </a:lnTo>
                  <a:lnTo>
                    <a:pt x="668" y="729"/>
                  </a:lnTo>
                  <a:lnTo>
                    <a:pt x="466" y="758"/>
                  </a:lnTo>
                  <a:lnTo>
                    <a:pt x="641" y="816"/>
                  </a:lnTo>
                  <a:lnTo>
                    <a:pt x="697" y="1018"/>
                  </a:lnTo>
                  <a:lnTo>
                    <a:pt x="697" y="1252"/>
                  </a:lnTo>
                  <a:lnTo>
                    <a:pt x="814" y="1164"/>
                  </a:lnTo>
                  <a:lnTo>
                    <a:pt x="814" y="1337"/>
                  </a:lnTo>
                  <a:lnTo>
                    <a:pt x="729" y="1426"/>
                  </a:lnTo>
                  <a:lnTo>
                    <a:pt x="668" y="1689"/>
                  </a:lnTo>
                  <a:lnTo>
                    <a:pt x="756" y="1978"/>
                  </a:lnTo>
                  <a:lnTo>
                    <a:pt x="697" y="2124"/>
                  </a:lnTo>
                  <a:lnTo>
                    <a:pt x="668" y="2037"/>
                  </a:lnTo>
                  <a:lnTo>
                    <a:pt x="408" y="2413"/>
                  </a:lnTo>
                  <a:lnTo>
                    <a:pt x="379" y="2824"/>
                  </a:lnTo>
                  <a:lnTo>
                    <a:pt x="320" y="2910"/>
                  </a:lnTo>
                  <a:lnTo>
                    <a:pt x="350" y="3084"/>
                  </a:lnTo>
                  <a:lnTo>
                    <a:pt x="408" y="3084"/>
                  </a:lnTo>
                  <a:lnTo>
                    <a:pt x="437" y="3373"/>
                  </a:lnTo>
                  <a:lnTo>
                    <a:pt x="408" y="3461"/>
                  </a:lnTo>
                  <a:lnTo>
                    <a:pt x="583" y="3896"/>
                  </a:lnTo>
                  <a:lnTo>
                    <a:pt x="612" y="3782"/>
                  </a:lnTo>
                  <a:lnTo>
                    <a:pt x="552" y="3694"/>
                  </a:lnTo>
                  <a:lnTo>
                    <a:pt x="552" y="3434"/>
                  </a:lnTo>
                  <a:lnTo>
                    <a:pt x="495" y="3346"/>
                  </a:lnTo>
                  <a:lnTo>
                    <a:pt x="523" y="3259"/>
                  </a:lnTo>
                  <a:lnTo>
                    <a:pt x="583" y="3346"/>
                  </a:lnTo>
                  <a:lnTo>
                    <a:pt x="583" y="3461"/>
                  </a:lnTo>
                  <a:lnTo>
                    <a:pt x="697" y="3869"/>
                  </a:lnTo>
                  <a:lnTo>
                    <a:pt x="814" y="3985"/>
                  </a:lnTo>
                  <a:lnTo>
                    <a:pt x="814" y="4219"/>
                  </a:lnTo>
                  <a:lnTo>
                    <a:pt x="989" y="4423"/>
                  </a:lnTo>
                  <a:lnTo>
                    <a:pt x="1048" y="4423"/>
                  </a:lnTo>
                  <a:lnTo>
                    <a:pt x="1309" y="4570"/>
                  </a:lnTo>
                  <a:lnTo>
                    <a:pt x="1453" y="4570"/>
                  </a:lnTo>
                  <a:lnTo>
                    <a:pt x="1543" y="4744"/>
                  </a:lnTo>
                  <a:lnTo>
                    <a:pt x="1745" y="4859"/>
                  </a:lnTo>
                  <a:lnTo>
                    <a:pt x="1864" y="4859"/>
                  </a:lnTo>
                  <a:lnTo>
                    <a:pt x="1864" y="5034"/>
                  </a:lnTo>
                  <a:lnTo>
                    <a:pt x="1920" y="5034"/>
                  </a:lnTo>
                  <a:lnTo>
                    <a:pt x="1949" y="5209"/>
                  </a:lnTo>
                  <a:lnTo>
                    <a:pt x="2008" y="5209"/>
                  </a:lnTo>
                  <a:lnTo>
                    <a:pt x="2214" y="5383"/>
                  </a:lnTo>
                  <a:lnTo>
                    <a:pt x="2269" y="5383"/>
                  </a:lnTo>
                  <a:lnTo>
                    <a:pt x="2328" y="5325"/>
                  </a:lnTo>
                  <a:lnTo>
                    <a:pt x="2386" y="5325"/>
                  </a:lnTo>
                  <a:lnTo>
                    <a:pt x="2386" y="5443"/>
                  </a:lnTo>
                  <a:lnTo>
                    <a:pt x="2442" y="5443"/>
                  </a:lnTo>
                  <a:lnTo>
                    <a:pt x="2475" y="5644"/>
                  </a:lnTo>
                  <a:lnTo>
                    <a:pt x="2269" y="5877"/>
                  </a:lnTo>
                  <a:lnTo>
                    <a:pt x="2214" y="5994"/>
                  </a:lnTo>
                  <a:lnTo>
                    <a:pt x="2300" y="6023"/>
                  </a:lnTo>
                  <a:lnTo>
                    <a:pt x="2183" y="6196"/>
                  </a:lnTo>
                  <a:lnTo>
                    <a:pt x="2183" y="6285"/>
                  </a:lnTo>
                  <a:lnTo>
                    <a:pt x="2442" y="6721"/>
                  </a:lnTo>
                  <a:lnTo>
                    <a:pt x="2533" y="6752"/>
                  </a:lnTo>
                  <a:lnTo>
                    <a:pt x="2705" y="7041"/>
                  </a:lnTo>
                  <a:lnTo>
                    <a:pt x="2649" y="7389"/>
                  </a:lnTo>
                  <a:lnTo>
                    <a:pt x="2561" y="7450"/>
                  </a:lnTo>
                  <a:lnTo>
                    <a:pt x="2442" y="8204"/>
                  </a:lnTo>
                  <a:lnTo>
                    <a:pt x="2533" y="8089"/>
                  </a:lnTo>
                  <a:lnTo>
                    <a:pt x="2503" y="8322"/>
                  </a:lnTo>
                  <a:lnTo>
                    <a:pt x="2442" y="8378"/>
                  </a:lnTo>
                  <a:lnTo>
                    <a:pt x="2561" y="8815"/>
                  </a:lnTo>
                  <a:lnTo>
                    <a:pt x="2620" y="8815"/>
                  </a:lnTo>
                  <a:lnTo>
                    <a:pt x="2705" y="8641"/>
                  </a:lnTo>
                  <a:lnTo>
                    <a:pt x="2794" y="8583"/>
                  </a:lnTo>
                  <a:lnTo>
                    <a:pt x="2794" y="8495"/>
                  </a:lnTo>
                  <a:lnTo>
                    <a:pt x="2734" y="8436"/>
                  </a:lnTo>
                  <a:lnTo>
                    <a:pt x="2851" y="8322"/>
                  </a:lnTo>
                  <a:lnTo>
                    <a:pt x="2880" y="8118"/>
                  </a:lnTo>
                  <a:lnTo>
                    <a:pt x="3112" y="8116"/>
                  </a:lnTo>
                  <a:lnTo>
                    <a:pt x="3200" y="8060"/>
                  </a:lnTo>
                  <a:lnTo>
                    <a:pt x="3172" y="7886"/>
                  </a:lnTo>
                  <a:lnTo>
                    <a:pt x="3317" y="7914"/>
                  </a:lnTo>
                  <a:lnTo>
                    <a:pt x="3694" y="7652"/>
                  </a:lnTo>
                  <a:lnTo>
                    <a:pt x="3694" y="7535"/>
                  </a:lnTo>
                  <a:lnTo>
                    <a:pt x="3929" y="7362"/>
                  </a:lnTo>
                  <a:lnTo>
                    <a:pt x="3929" y="7450"/>
                  </a:lnTo>
                  <a:lnTo>
                    <a:pt x="4104" y="7362"/>
                  </a:lnTo>
                  <a:lnTo>
                    <a:pt x="4305" y="7070"/>
                  </a:lnTo>
                  <a:lnTo>
                    <a:pt x="4305" y="6954"/>
                  </a:lnTo>
                  <a:lnTo>
                    <a:pt x="4510" y="6866"/>
                  </a:lnTo>
                  <a:lnTo>
                    <a:pt x="4594" y="6620"/>
                  </a:lnTo>
                  <a:lnTo>
                    <a:pt x="4396" y="6373"/>
                  </a:lnTo>
                  <a:lnTo>
                    <a:pt x="4247" y="6342"/>
                  </a:lnTo>
                  <a:lnTo>
                    <a:pt x="4104" y="6169"/>
                  </a:lnTo>
                  <a:lnTo>
                    <a:pt x="3957" y="6169"/>
                  </a:lnTo>
                  <a:lnTo>
                    <a:pt x="3957" y="6254"/>
                  </a:lnTo>
                  <a:lnTo>
                    <a:pt x="3840" y="6140"/>
                  </a:lnTo>
                  <a:lnTo>
                    <a:pt x="3755" y="6196"/>
                  </a:lnTo>
                  <a:lnTo>
                    <a:pt x="3755" y="6081"/>
                  </a:lnTo>
                  <a:lnTo>
                    <a:pt x="3869" y="6023"/>
                  </a:lnTo>
                  <a:lnTo>
                    <a:pt x="3900" y="5935"/>
                  </a:lnTo>
                  <a:lnTo>
                    <a:pt x="3784" y="5675"/>
                  </a:lnTo>
                  <a:lnTo>
                    <a:pt x="3548" y="5644"/>
                  </a:lnTo>
                  <a:lnTo>
                    <a:pt x="3493" y="5500"/>
                  </a:lnTo>
                  <a:lnTo>
                    <a:pt x="3317" y="5355"/>
                  </a:lnTo>
                  <a:lnTo>
                    <a:pt x="3172" y="5383"/>
                  </a:lnTo>
                  <a:lnTo>
                    <a:pt x="3083" y="5294"/>
                  </a:lnTo>
                  <a:lnTo>
                    <a:pt x="2883" y="5294"/>
                  </a:lnTo>
                  <a:lnTo>
                    <a:pt x="2853" y="5397"/>
                  </a:lnTo>
                  <a:lnTo>
                    <a:pt x="2763" y="5355"/>
                  </a:lnTo>
                  <a:lnTo>
                    <a:pt x="2851" y="5238"/>
                  </a:lnTo>
                  <a:lnTo>
                    <a:pt x="2588" y="5355"/>
                  </a:lnTo>
                  <a:lnTo>
                    <a:pt x="2561" y="5413"/>
                  </a:lnTo>
                  <a:lnTo>
                    <a:pt x="2503" y="5413"/>
                  </a:lnTo>
                  <a:lnTo>
                    <a:pt x="2413" y="5238"/>
                  </a:lnTo>
                  <a:lnTo>
                    <a:pt x="2214" y="5238"/>
                  </a:lnTo>
                  <a:lnTo>
                    <a:pt x="2063" y="5121"/>
                  </a:lnTo>
                  <a:lnTo>
                    <a:pt x="2123" y="4918"/>
                  </a:lnTo>
                  <a:lnTo>
                    <a:pt x="2094" y="4744"/>
                  </a:lnTo>
                  <a:lnTo>
                    <a:pt x="1920" y="4772"/>
                  </a:lnTo>
                  <a:lnTo>
                    <a:pt x="1803" y="4744"/>
                  </a:lnTo>
                  <a:lnTo>
                    <a:pt x="1864" y="4570"/>
                  </a:lnTo>
                  <a:lnTo>
                    <a:pt x="1977" y="4395"/>
                  </a:lnTo>
                  <a:lnTo>
                    <a:pt x="1920" y="4365"/>
                  </a:lnTo>
                  <a:lnTo>
                    <a:pt x="1745" y="4395"/>
                  </a:lnTo>
                  <a:lnTo>
                    <a:pt x="1689" y="4570"/>
                  </a:lnTo>
                  <a:lnTo>
                    <a:pt x="1572" y="4570"/>
                  </a:lnTo>
                  <a:lnTo>
                    <a:pt x="1280" y="4395"/>
                  </a:lnTo>
                  <a:lnTo>
                    <a:pt x="1284" y="4275"/>
                  </a:lnTo>
                  <a:lnTo>
                    <a:pt x="1254" y="4161"/>
                  </a:lnTo>
                  <a:lnTo>
                    <a:pt x="1368" y="3896"/>
                  </a:lnTo>
                  <a:lnTo>
                    <a:pt x="1601" y="3782"/>
                  </a:lnTo>
                  <a:lnTo>
                    <a:pt x="1774" y="3782"/>
                  </a:lnTo>
                  <a:lnTo>
                    <a:pt x="1891" y="3869"/>
                  </a:lnTo>
                  <a:lnTo>
                    <a:pt x="1949" y="3869"/>
                  </a:lnTo>
                  <a:lnTo>
                    <a:pt x="1920" y="3782"/>
                  </a:lnTo>
                  <a:lnTo>
                    <a:pt x="2183" y="3811"/>
                  </a:lnTo>
                  <a:lnTo>
                    <a:pt x="2269" y="3896"/>
                  </a:lnTo>
                  <a:lnTo>
                    <a:pt x="2300" y="4015"/>
                  </a:lnTo>
                  <a:lnTo>
                    <a:pt x="2386" y="4190"/>
                  </a:lnTo>
                  <a:lnTo>
                    <a:pt x="2442" y="4102"/>
                  </a:lnTo>
                  <a:lnTo>
                    <a:pt x="2442" y="3957"/>
                  </a:lnTo>
                  <a:lnTo>
                    <a:pt x="2386" y="3782"/>
                  </a:lnTo>
                  <a:lnTo>
                    <a:pt x="2475" y="3578"/>
                  </a:lnTo>
                  <a:lnTo>
                    <a:pt x="2678" y="3492"/>
                  </a:lnTo>
                  <a:lnTo>
                    <a:pt x="2649" y="3228"/>
                  </a:lnTo>
                  <a:lnTo>
                    <a:pt x="2734" y="3317"/>
                  </a:lnTo>
                  <a:lnTo>
                    <a:pt x="2763" y="3201"/>
                  </a:lnTo>
                  <a:lnTo>
                    <a:pt x="2866" y="3082"/>
                  </a:lnTo>
                  <a:lnTo>
                    <a:pt x="2968" y="3025"/>
                  </a:lnTo>
                  <a:lnTo>
                    <a:pt x="2938" y="2936"/>
                  </a:lnTo>
                  <a:lnTo>
                    <a:pt x="3259" y="2649"/>
                  </a:lnTo>
                  <a:lnTo>
                    <a:pt x="3200" y="2649"/>
                  </a:lnTo>
                  <a:lnTo>
                    <a:pt x="3200" y="2503"/>
                  </a:lnTo>
                  <a:lnTo>
                    <a:pt x="2997" y="2532"/>
                  </a:lnTo>
                  <a:lnTo>
                    <a:pt x="3083" y="2357"/>
                  </a:lnTo>
                  <a:lnTo>
                    <a:pt x="3463" y="2240"/>
                  </a:lnTo>
                  <a:lnTo>
                    <a:pt x="3463" y="2124"/>
                  </a:lnTo>
                  <a:lnTo>
                    <a:pt x="3259" y="2124"/>
                  </a:lnTo>
                  <a:lnTo>
                    <a:pt x="3317" y="2008"/>
                  </a:lnTo>
                  <a:lnTo>
                    <a:pt x="3200" y="2008"/>
                  </a:lnTo>
                  <a:lnTo>
                    <a:pt x="3054" y="1689"/>
                  </a:lnTo>
                  <a:lnTo>
                    <a:pt x="2997" y="1803"/>
                  </a:lnTo>
                  <a:lnTo>
                    <a:pt x="2938" y="1803"/>
                  </a:lnTo>
                  <a:lnTo>
                    <a:pt x="2880" y="1689"/>
                  </a:lnTo>
                  <a:lnTo>
                    <a:pt x="2533" y="1572"/>
                  </a:lnTo>
                  <a:lnTo>
                    <a:pt x="2533" y="1833"/>
                  </a:lnTo>
                  <a:lnTo>
                    <a:pt x="2620" y="1950"/>
                  </a:lnTo>
                  <a:lnTo>
                    <a:pt x="2561" y="2066"/>
                  </a:lnTo>
                  <a:lnTo>
                    <a:pt x="2620" y="2386"/>
                  </a:lnTo>
                  <a:lnTo>
                    <a:pt x="2475" y="2386"/>
                  </a:lnTo>
                  <a:lnTo>
                    <a:pt x="2357" y="2094"/>
                  </a:lnTo>
                  <a:lnTo>
                    <a:pt x="2183" y="1922"/>
                  </a:lnTo>
                  <a:lnTo>
                    <a:pt x="2094" y="1950"/>
                  </a:lnTo>
                  <a:lnTo>
                    <a:pt x="2063" y="1602"/>
                  </a:lnTo>
                  <a:lnTo>
                    <a:pt x="2094" y="1455"/>
                  </a:lnTo>
                  <a:lnTo>
                    <a:pt x="2183" y="1543"/>
                  </a:lnTo>
                  <a:lnTo>
                    <a:pt x="2240" y="1482"/>
                  </a:lnTo>
                  <a:lnTo>
                    <a:pt x="2183" y="1368"/>
                  </a:lnTo>
                  <a:lnTo>
                    <a:pt x="2300" y="1397"/>
                  </a:lnTo>
                  <a:lnTo>
                    <a:pt x="2475" y="1252"/>
                  </a:lnTo>
                  <a:lnTo>
                    <a:pt x="2475" y="1134"/>
                  </a:lnTo>
                  <a:lnTo>
                    <a:pt x="2328" y="1223"/>
                  </a:lnTo>
                  <a:lnTo>
                    <a:pt x="2183" y="960"/>
                  </a:lnTo>
                  <a:lnTo>
                    <a:pt x="2183" y="1193"/>
                  </a:lnTo>
                  <a:lnTo>
                    <a:pt x="2094" y="1223"/>
                  </a:lnTo>
                  <a:lnTo>
                    <a:pt x="2094" y="1164"/>
                  </a:lnTo>
                  <a:lnTo>
                    <a:pt x="1864" y="1105"/>
                  </a:lnTo>
                  <a:lnTo>
                    <a:pt x="1835" y="1193"/>
                  </a:lnTo>
                  <a:lnTo>
                    <a:pt x="1658" y="1018"/>
                  </a:lnTo>
                  <a:lnTo>
                    <a:pt x="1716" y="931"/>
                  </a:lnTo>
                  <a:lnTo>
                    <a:pt x="1368" y="670"/>
                  </a:lnTo>
                  <a:lnTo>
                    <a:pt x="1280" y="670"/>
                  </a:lnTo>
                  <a:lnTo>
                    <a:pt x="1254" y="378"/>
                  </a:lnTo>
                  <a:lnTo>
                    <a:pt x="1194" y="292"/>
                  </a:lnTo>
                  <a:lnTo>
                    <a:pt x="1223" y="203"/>
                  </a:lnTo>
                  <a:lnTo>
                    <a:pt x="989" y="29"/>
                  </a:lnTo>
                  <a:lnTo>
                    <a:pt x="873" y="0"/>
                  </a:lnTo>
                  <a:lnTo>
                    <a:pt x="842" y="145"/>
                  </a:lnTo>
                  <a:lnTo>
                    <a:pt x="784" y="174"/>
                  </a:lnTo>
                  <a:lnTo>
                    <a:pt x="756" y="88"/>
                  </a:lnTo>
                  <a:lnTo>
                    <a:pt x="641" y="88"/>
                  </a:lnTo>
                  <a:lnTo>
                    <a:pt x="641" y="203"/>
                  </a:lnTo>
                  <a:lnTo>
                    <a:pt x="668" y="292"/>
                  </a:lnTo>
                  <a:lnTo>
                    <a:pt x="612" y="321"/>
                  </a:lnTo>
                  <a:lnTo>
                    <a:pt x="408" y="233"/>
                  </a:lnTo>
                  <a:lnTo>
                    <a:pt x="263" y="321"/>
                  </a:lnTo>
                  <a:lnTo>
                    <a:pt x="320" y="408"/>
                  </a:lnTo>
                  <a:lnTo>
                    <a:pt x="292" y="437"/>
                  </a:lnTo>
                  <a:lnTo>
                    <a:pt x="320" y="583"/>
                  </a:lnTo>
                  <a:lnTo>
                    <a:pt x="292" y="613"/>
                  </a:lnTo>
                  <a:lnTo>
                    <a:pt x="0" y="583"/>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74" name="Freeform 124">
              <a:extLst>
                <a:ext uri="{FF2B5EF4-FFF2-40B4-BE49-F238E27FC236}">
                  <a16:creationId xmlns:a16="http://schemas.microsoft.com/office/drawing/2014/main" id="{67E05786-A669-295E-7753-1A4726E26FDA}"/>
                </a:ext>
              </a:extLst>
            </p:cNvPr>
            <p:cNvSpPr/>
            <p:nvPr/>
          </p:nvSpPr>
          <p:spPr bwMode="auto">
            <a:xfrm>
              <a:off x="700" y="1034"/>
              <a:ext cx="1531" cy="2939"/>
            </a:xfrm>
            <a:custGeom>
              <a:gdLst>
                <a:gd name="T0" fmla="*/ 0 w 4594"/>
                <a:gd name="T1" fmla="*/ 0 h 8815"/>
                <a:gd name="T2" fmla="*/ 0 w 4594"/>
                <a:gd name="T3" fmla="*/ 1 h 8815"/>
                <a:gd name="T4" fmla="*/ 0 w 4594"/>
                <a:gd name="T5" fmla="*/ 1 h 8815"/>
                <a:gd name="T6" fmla="*/ 0 w 4594"/>
                <a:gd name="T7" fmla="*/ 1 h 8815"/>
                <a:gd name="T8" fmla="*/ 0 w 4594"/>
                <a:gd name="T9" fmla="*/ 1 h 8815"/>
                <a:gd name="T10" fmla="*/ 0 w 4594"/>
                <a:gd name="T11" fmla="*/ 2 h 8815"/>
                <a:gd name="T12" fmla="*/ 0 w 4594"/>
                <a:gd name="T13" fmla="*/ 1 h 8815"/>
                <a:gd name="T14" fmla="*/ 0 w 4594"/>
                <a:gd name="T15" fmla="*/ 2 h 8815"/>
                <a:gd name="T16" fmla="*/ 1 w 4594"/>
                <a:gd name="T17" fmla="*/ 2 h 8815"/>
                <a:gd name="T18" fmla="*/ 1 w 4594"/>
                <a:gd name="T19" fmla="*/ 2 h 8815"/>
                <a:gd name="T20" fmla="*/ 1 w 4594"/>
                <a:gd name="T21" fmla="*/ 2 h 8815"/>
                <a:gd name="T22" fmla="*/ 1 w 4594"/>
                <a:gd name="T23" fmla="*/ 2 h 8815"/>
                <a:gd name="T24" fmla="*/ 1 w 4594"/>
                <a:gd name="T25" fmla="*/ 3 h 8815"/>
                <a:gd name="T26" fmla="*/ 1 w 4594"/>
                <a:gd name="T27" fmla="*/ 3 h 8815"/>
                <a:gd name="T28" fmla="*/ 1 w 4594"/>
                <a:gd name="T29" fmla="*/ 3 h 8815"/>
                <a:gd name="T30" fmla="*/ 1 w 4594"/>
                <a:gd name="T31" fmla="*/ 4 h 8815"/>
                <a:gd name="T32" fmla="*/ 1 w 4594"/>
                <a:gd name="T33" fmla="*/ 4 h 8815"/>
                <a:gd name="T34" fmla="*/ 1 w 4594"/>
                <a:gd name="T35" fmla="*/ 4 h 8815"/>
                <a:gd name="T36" fmla="*/ 1 w 4594"/>
                <a:gd name="T37" fmla="*/ 4 h 8815"/>
                <a:gd name="T38" fmla="*/ 2 w 4594"/>
                <a:gd name="T39" fmla="*/ 3 h 8815"/>
                <a:gd name="T40" fmla="*/ 2 w 4594"/>
                <a:gd name="T41" fmla="*/ 3 h 8815"/>
                <a:gd name="T42" fmla="*/ 2 w 4594"/>
                <a:gd name="T43" fmla="*/ 3 h 8815"/>
                <a:gd name="T44" fmla="*/ 2 w 4594"/>
                <a:gd name="T45" fmla="*/ 3 h 8815"/>
                <a:gd name="T46" fmla="*/ 2 w 4594"/>
                <a:gd name="T47" fmla="*/ 3 h 8815"/>
                <a:gd name="T48" fmla="*/ 2 w 4594"/>
                <a:gd name="T49" fmla="*/ 2 h 8815"/>
                <a:gd name="T50" fmla="*/ 1 w 4594"/>
                <a:gd name="T51" fmla="*/ 2 h 8815"/>
                <a:gd name="T52" fmla="*/ 1 w 4594"/>
                <a:gd name="T53" fmla="*/ 2 h 8815"/>
                <a:gd name="T54" fmla="*/ 1 w 4594"/>
                <a:gd name="T55" fmla="*/ 2 h 8815"/>
                <a:gd name="T56" fmla="*/ 1 w 4594"/>
                <a:gd name="T57" fmla="*/ 2 h 8815"/>
                <a:gd name="T58" fmla="*/ 1 w 4594"/>
                <a:gd name="T59" fmla="*/ 2 h 8815"/>
                <a:gd name="T60" fmla="*/ 1 w 4594"/>
                <a:gd name="T61" fmla="*/ 2 h 8815"/>
                <a:gd name="T62" fmla="*/ 1 w 4594"/>
                <a:gd name="T63" fmla="*/ 2 h 8815"/>
                <a:gd name="T64" fmla="*/ 1 w 4594"/>
                <a:gd name="T65" fmla="*/ 2 h 8815"/>
                <a:gd name="T66" fmla="*/ 1 w 4594"/>
                <a:gd name="T67" fmla="*/ 2 h 8815"/>
                <a:gd name="T68" fmla="*/ 1 w 4594"/>
                <a:gd name="T69" fmla="*/ 2 h 8815"/>
                <a:gd name="T70" fmla="*/ 1 w 4594"/>
                <a:gd name="T71" fmla="*/ 1 h 8815"/>
                <a:gd name="T72" fmla="*/ 1 w 4594"/>
                <a:gd name="T73" fmla="*/ 1 h 8815"/>
                <a:gd name="T74" fmla="*/ 2 w 4594"/>
                <a:gd name="T75" fmla="*/ 1 h 8815"/>
                <a:gd name="T76" fmla="*/ 1 w 4594"/>
                <a:gd name="T77" fmla="*/ 1 h 8815"/>
                <a:gd name="T78" fmla="*/ 1 w 4594"/>
                <a:gd name="T79" fmla="*/ 1 h 8815"/>
                <a:gd name="T80" fmla="*/ 1 w 4594"/>
                <a:gd name="T81" fmla="*/ 1 h 8815"/>
                <a:gd name="T82" fmla="*/ 1 w 4594"/>
                <a:gd name="T83" fmla="*/ 1 h 8815"/>
                <a:gd name="T84" fmla="*/ 1 w 4594"/>
                <a:gd name="T85" fmla="*/ 1 h 8815"/>
                <a:gd name="T86" fmla="*/ 1 w 4594"/>
                <a:gd name="T87" fmla="*/ 1 h 8815"/>
                <a:gd name="T88" fmla="*/ 1 w 4594"/>
                <a:gd name="T89" fmla="*/ 1 h 8815"/>
                <a:gd name="T90" fmla="*/ 1 w 4594"/>
                <a:gd name="T91" fmla="*/ 1 h 8815"/>
                <a:gd name="T92" fmla="*/ 1 w 4594"/>
                <a:gd name="T93" fmla="*/ 0 h 8815"/>
                <a:gd name="T94" fmla="*/ 0 w 4594"/>
                <a:gd name="T95" fmla="*/ 0 h 8815"/>
                <a:gd name="T96" fmla="*/ 0 w 4594"/>
                <a:gd name="T97" fmla="*/ 0 h 8815"/>
                <a:gd name="T98" fmla="*/ 0 w 4594"/>
                <a:gd name="T99" fmla="*/ 0 h 8815"/>
                <a:gd name="T100" fmla="*/ 0 w 4594"/>
                <a:gd name="T101" fmla="*/ 0 h 8815"/>
                <a:gd name="T102" fmla="*/ 0 w 4594"/>
                <a:gd name="T103" fmla="*/ 0 h 881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594" h="8815">
                  <a:moveTo>
                    <a:pt x="0" y="583"/>
                  </a:moveTo>
                  <a:lnTo>
                    <a:pt x="292" y="729"/>
                  </a:lnTo>
                  <a:lnTo>
                    <a:pt x="495" y="670"/>
                  </a:lnTo>
                  <a:lnTo>
                    <a:pt x="668" y="729"/>
                  </a:lnTo>
                  <a:lnTo>
                    <a:pt x="466" y="758"/>
                  </a:lnTo>
                  <a:lnTo>
                    <a:pt x="641" y="816"/>
                  </a:lnTo>
                  <a:lnTo>
                    <a:pt x="697" y="1018"/>
                  </a:lnTo>
                  <a:lnTo>
                    <a:pt x="697" y="1252"/>
                  </a:lnTo>
                  <a:lnTo>
                    <a:pt x="814" y="1164"/>
                  </a:lnTo>
                  <a:lnTo>
                    <a:pt x="814" y="1337"/>
                  </a:lnTo>
                  <a:lnTo>
                    <a:pt x="729" y="1426"/>
                  </a:lnTo>
                  <a:lnTo>
                    <a:pt x="668" y="1689"/>
                  </a:lnTo>
                  <a:lnTo>
                    <a:pt x="756" y="1978"/>
                  </a:lnTo>
                  <a:lnTo>
                    <a:pt x="697" y="2124"/>
                  </a:lnTo>
                  <a:lnTo>
                    <a:pt x="668" y="2037"/>
                  </a:lnTo>
                  <a:lnTo>
                    <a:pt x="408" y="2413"/>
                  </a:lnTo>
                  <a:lnTo>
                    <a:pt x="379" y="2824"/>
                  </a:lnTo>
                  <a:lnTo>
                    <a:pt x="320" y="2910"/>
                  </a:lnTo>
                  <a:lnTo>
                    <a:pt x="350" y="3084"/>
                  </a:lnTo>
                  <a:lnTo>
                    <a:pt x="408" y="3084"/>
                  </a:lnTo>
                  <a:lnTo>
                    <a:pt x="437" y="3373"/>
                  </a:lnTo>
                  <a:lnTo>
                    <a:pt x="408" y="3461"/>
                  </a:lnTo>
                  <a:lnTo>
                    <a:pt x="583" y="3896"/>
                  </a:lnTo>
                  <a:lnTo>
                    <a:pt x="612" y="3782"/>
                  </a:lnTo>
                  <a:lnTo>
                    <a:pt x="552" y="3694"/>
                  </a:lnTo>
                  <a:lnTo>
                    <a:pt x="552" y="3434"/>
                  </a:lnTo>
                  <a:lnTo>
                    <a:pt x="495" y="3346"/>
                  </a:lnTo>
                  <a:lnTo>
                    <a:pt x="523" y="3259"/>
                  </a:lnTo>
                  <a:lnTo>
                    <a:pt x="583" y="3346"/>
                  </a:lnTo>
                  <a:lnTo>
                    <a:pt x="583" y="3461"/>
                  </a:lnTo>
                  <a:lnTo>
                    <a:pt x="697" y="3869"/>
                  </a:lnTo>
                  <a:lnTo>
                    <a:pt x="814" y="3985"/>
                  </a:lnTo>
                  <a:lnTo>
                    <a:pt x="814" y="4219"/>
                  </a:lnTo>
                  <a:lnTo>
                    <a:pt x="989" y="4423"/>
                  </a:lnTo>
                  <a:lnTo>
                    <a:pt x="1048" y="4423"/>
                  </a:lnTo>
                  <a:lnTo>
                    <a:pt x="1309" y="4570"/>
                  </a:lnTo>
                  <a:lnTo>
                    <a:pt x="1453" y="4570"/>
                  </a:lnTo>
                  <a:lnTo>
                    <a:pt x="1543" y="4744"/>
                  </a:lnTo>
                  <a:lnTo>
                    <a:pt x="1745" y="4859"/>
                  </a:lnTo>
                  <a:lnTo>
                    <a:pt x="1864" y="4859"/>
                  </a:lnTo>
                  <a:lnTo>
                    <a:pt x="1864" y="5034"/>
                  </a:lnTo>
                  <a:lnTo>
                    <a:pt x="1920" y="5034"/>
                  </a:lnTo>
                  <a:lnTo>
                    <a:pt x="1949" y="5209"/>
                  </a:lnTo>
                  <a:lnTo>
                    <a:pt x="2008" y="5209"/>
                  </a:lnTo>
                  <a:lnTo>
                    <a:pt x="2214" y="5383"/>
                  </a:lnTo>
                  <a:lnTo>
                    <a:pt x="2269" y="5383"/>
                  </a:lnTo>
                  <a:lnTo>
                    <a:pt x="2328" y="5325"/>
                  </a:lnTo>
                  <a:lnTo>
                    <a:pt x="2386" y="5325"/>
                  </a:lnTo>
                  <a:lnTo>
                    <a:pt x="2386" y="5443"/>
                  </a:lnTo>
                  <a:lnTo>
                    <a:pt x="2442" y="5443"/>
                  </a:lnTo>
                  <a:lnTo>
                    <a:pt x="2475" y="5644"/>
                  </a:lnTo>
                  <a:lnTo>
                    <a:pt x="2269" y="5877"/>
                  </a:lnTo>
                  <a:lnTo>
                    <a:pt x="2214" y="5994"/>
                  </a:lnTo>
                  <a:lnTo>
                    <a:pt x="2300" y="6023"/>
                  </a:lnTo>
                  <a:lnTo>
                    <a:pt x="2183" y="6196"/>
                  </a:lnTo>
                  <a:lnTo>
                    <a:pt x="2183" y="6285"/>
                  </a:lnTo>
                  <a:lnTo>
                    <a:pt x="2442" y="6721"/>
                  </a:lnTo>
                  <a:lnTo>
                    <a:pt x="2533" y="6752"/>
                  </a:lnTo>
                  <a:lnTo>
                    <a:pt x="2705" y="7041"/>
                  </a:lnTo>
                  <a:lnTo>
                    <a:pt x="2649" y="7389"/>
                  </a:lnTo>
                  <a:lnTo>
                    <a:pt x="2561" y="7450"/>
                  </a:lnTo>
                  <a:lnTo>
                    <a:pt x="2442" y="8204"/>
                  </a:lnTo>
                  <a:lnTo>
                    <a:pt x="2533" y="8089"/>
                  </a:lnTo>
                  <a:lnTo>
                    <a:pt x="2503" y="8322"/>
                  </a:lnTo>
                  <a:lnTo>
                    <a:pt x="2442" y="8378"/>
                  </a:lnTo>
                  <a:lnTo>
                    <a:pt x="2561" y="8815"/>
                  </a:lnTo>
                  <a:lnTo>
                    <a:pt x="2620" y="8815"/>
                  </a:lnTo>
                  <a:lnTo>
                    <a:pt x="2705" y="8641"/>
                  </a:lnTo>
                  <a:lnTo>
                    <a:pt x="2794" y="8583"/>
                  </a:lnTo>
                  <a:lnTo>
                    <a:pt x="2794" y="8495"/>
                  </a:lnTo>
                  <a:lnTo>
                    <a:pt x="2734" y="8436"/>
                  </a:lnTo>
                  <a:lnTo>
                    <a:pt x="2851" y="8322"/>
                  </a:lnTo>
                  <a:lnTo>
                    <a:pt x="2880" y="8118"/>
                  </a:lnTo>
                  <a:lnTo>
                    <a:pt x="3112" y="8116"/>
                  </a:lnTo>
                  <a:lnTo>
                    <a:pt x="3200" y="8060"/>
                  </a:lnTo>
                  <a:lnTo>
                    <a:pt x="3172" y="7886"/>
                  </a:lnTo>
                  <a:lnTo>
                    <a:pt x="3317" y="7914"/>
                  </a:lnTo>
                  <a:lnTo>
                    <a:pt x="3694" y="7652"/>
                  </a:lnTo>
                  <a:lnTo>
                    <a:pt x="3694" y="7535"/>
                  </a:lnTo>
                  <a:lnTo>
                    <a:pt x="3929" y="7362"/>
                  </a:lnTo>
                  <a:lnTo>
                    <a:pt x="3929" y="7450"/>
                  </a:lnTo>
                  <a:lnTo>
                    <a:pt x="4104" y="7362"/>
                  </a:lnTo>
                  <a:lnTo>
                    <a:pt x="4305" y="7070"/>
                  </a:lnTo>
                  <a:lnTo>
                    <a:pt x="4305" y="6954"/>
                  </a:lnTo>
                  <a:lnTo>
                    <a:pt x="4510" y="6866"/>
                  </a:lnTo>
                  <a:lnTo>
                    <a:pt x="4594" y="6620"/>
                  </a:lnTo>
                  <a:lnTo>
                    <a:pt x="4396" y="6373"/>
                  </a:lnTo>
                  <a:lnTo>
                    <a:pt x="4247" y="6342"/>
                  </a:lnTo>
                  <a:lnTo>
                    <a:pt x="4104" y="6169"/>
                  </a:lnTo>
                  <a:lnTo>
                    <a:pt x="3957" y="6169"/>
                  </a:lnTo>
                  <a:lnTo>
                    <a:pt x="3957" y="6254"/>
                  </a:lnTo>
                  <a:lnTo>
                    <a:pt x="3840" y="6140"/>
                  </a:lnTo>
                  <a:lnTo>
                    <a:pt x="3755" y="6196"/>
                  </a:lnTo>
                  <a:lnTo>
                    <a:pt x="3755" y="6081"/>
                  </a:lnTo>
                  <a:lnTo>
                    <a:pt x="3869" y="6023"/>
                  </a:lnTo>
                  <a:lnTo>
                    <a:pt x="3900" y="5935"/>
                  </a:lnTo>
                  <a:lnTo>
                    <a:pt x="3784" y="5675"/>
                  </a:lnTo>
                  <a:lnTo>
                    <a:pt x="3548" y="5644"/>
                  </a:lnTo>
                  <a:lnTo>
                    <a:pt x="3493" y="5500"/>
                  </a:lnTo>
                  <a:lnTo>
                    <a:pt x="3317" y="5355"/>
                  </a:lnTo>
                  <a:lnTo>
                    <a:pt x="3172" y="5383"/>
                  </a:lnTo>
                  <a:lnTo>
                    <a:pt x="3083" y="5294"/>
                  </a:lnTo>
                  <a:lnTo>
                    <a:pt x="2883" y="5294"/>
                  </a:lnTo>
                  <a:lnTo>
                    <a:pt x="2853" y="5397"/>
                  </a:lnTo>
                  <a:lnTo>
                    <a:pt x="2763" y="5355"/>
                  </a:lnTo>
                  <a:lnTo>
                    <a:pt x="2851" y="5238"/>
                  </a:lnTo>
                  <a:lnTo>
                    <a:pt x="2588" y="5355"/>
                  </a:lnTo>
                  <a:lnTo>
                    <a:pt x="2561" y="5413"/>
                  </a:lnTo>
                  <a:lnTo>
                    <a:pt x="2503" y="5413"/>
                  </a:lnTo>
                  <a:lnTo>
                    <a:pt x="2413" y="5238"/>
                  </a:lnTo>
                  <a:lnTo>
                    <a:pt x="2214" y="5238"/>
                  </a:lnTo>
                  <a:lnTo>
                    <a:pt x="2063" y="5121"/>
                  </a:lnTo>
                  <a:lnTo>
                    <a:pt x="2123" y="4918"/>
                  </a:lnTo>
                  <a:lnTo>
                    <a:pt x="2094" y="4744"/>
                  </a:lnTo>
                  <a:lnTo>
                    <a:pt x="1920" y="4772"/>
                  </a:lnTo>
                  <a:lnTo>
                    <a:pt x="1803" y="4744"/>
                  </a:lnTo>
                  <a:lnTo>
                    <a:pt x="1864" y="4570"/>
                  </a:lnTo>
                  <a:lnTo>
                    <a:pt x="1977" y="4395"/>
                  </a:lnTo>
                  <a:lnTo>
                    <a:pt x="1920" y="4365"/>
                  </a:lnTo>
                  <a:lnTo>
                    <a:pt x="1745" y="4395"/>
                  </a:lnTo>
                  <a:lnTo>
                    <a:pt x="1689" y="4570"/>
                  </a:lnTo>
                  <a:lnTo>
                    <a:pt x="1572" y="4570"/>
                  </a:lnTo>
                  <a:lnTo>
                    <a:pt x="1280" y="4395"/>
                  </a:lnTo>
                  <a:lnTo>
                    <a:pt x="1284" y="4275"/>
                  </a:lnTo>
                  <a:lnTo>
                    <a:pt x="1254" y="4161"/>
                  </a:lnTo>
                  <a:lnTo>
                    <a:pt x="1368" y="3896"/>
                  </a:lnTo>
                  <a:lnTo>
                    <a:pt x="1601" y="3782"/>
                  </a:lnTo>
                  <a:lnTo>
                    <a:pt x="1774" y="3782"/>
                  </a:lnTo>
                  <a:lnTo>
                    <a:pt x="1891" y="3869"/>
                  </a:lnTo>
                  <a:lnTo>
                    <a:pt x="1949" y="3869"/>
                  </a:lnTo>
                  <a:lnTo>
                    <a:pt x="1920" y="3782"/>
                  </a:lnTo>
                  <a:lnTo>
                    <a:pt x="2183" y="3811"/>
                  </a:lnTo>
                  <a:lnTo>
                    <a:pt x="2269" y="3896"/>
                  </a:lnTo>
                  <a:lnTo>
                    <a:pt x="2300" y="4015"/>
                  </a:lnTo>
                  <a:lnTo>
                    <a:pt x="2386" y="4190"/>
                  </a:lnTo>
                  <a:lnTo>
                    <a:pt x="2442" y="4102"/>
                  </a:lnTo>
                  <a:lnTo>
                    <a:pt x="2442" y="3957"/>
                  </a:lnTo>
                  <a:lnTo>
                    <a:pt x="2386" y="3782"/>
                  </a:lnTo>
                  <a:lnTo>
                    <a:pt x="2475" y="3578"/>
                  </a:lnTo>
                  <a:lnTo>
                    <a:pt x="2678" y="3492"/>
                  </a:lnTo>
                  <a:lnTo>
                    <a:pt x="2649" y="3228"/>
                  </a:lnTo>
                  <a:lnTo>
                    <a:pt x="2734" y="3317"/>
                  </a:lnTo>
                  <a:lnTo>
                    <a:pt x="2763" y="3201"/>
                  </a:lnTo>
                  <a:lnTo>
                    <a:pt x="2866" y="3082"/>
                  </a:lnTo>
                  <a:lnTo>
                    <a:pt x="2968" y="3025"/>
                  </a:lnTo>
                  <a:lnTo>
                    <a:pt x="2938" y="2936"/>
                  </a:lnTo>
                  <a:lnTo>
                    <a:pt x="3259" y="2649"/>
                  </a:lnTo>
                  <a:lnTo>
                    <a:pt x="3200" y="2649"/>
                  </a:lnTo>
                  <a:lnTo>
                    <a:pt x="3200" y="2503"/>
                  </a:lnTo>
                  <a:lnTo>
                    <a:pt x="2997" y="2532"/>
                  </a:lnTo>
                  <a:lnTo>
                    <a:pt x="3083" y="2357"/>
                  </a:lnTo>
                  <a:lnTo>
                    <a:pt x="3463" y="2240"/>
                  </a:lnTo>
                  <a:lnTo>
                    <a:pt x="3463" y="2124"/>
                  </a:lnTo>
                  <a:lnTo>
                    <a:pt x="3259" y="2124"/>
                  </a:lnTo>
                  <a:lnTo>
                    <a:pt x="3317" y="2008"/>
                  </a:lnTo>
                  <a:lnTo>
                    <a:pt x="3200" y="2008"/>
                  </a:lnTo>
                  <a:lnTo>
                    <a:pt x="3054" y="1689"/>
                  </a:lnTo>
                  <a:lnTo>
                    <a:pt x="2997" y="1803"/>
                  </a:lnTo>
                  <a:lnTo>
                    <a:pt x="2938" y="1803"/>
                  </a:lnTo>
                  <a:lnTo>
                    <a:pt x="2880" y="1689"/>
                  </a:lnTo>
                  <a:lnTo>
                    <a:pt x="2533" y="1572"/>
                  </a:lnTo>
                  <a:lnTo>
                    <a:pt x="2533" y="1833"/>
                  </a:lnTo>
                  <a:lnTo>
                    <a:pt x="2620" y="1950"/>
                  </a:lnTo>
                  <a:lnTo>
                    <a:pt x="2561" y="2066"/>
                  </a:lnTo>
                  <a:lnTo>
                    <a:pt x="2620" y="2386"/>
                  </a:lnTo>
                  <a:lnTo>
                    <a:pt x="2475" y="2386"/>
                  </a:lnTo>
                  <a:lnTo>
                    <a:pt x="2357" y="2094"/>
                  </a:lnTo>
                  <a:lnTo>
                    <a:pt x="2183" y="1922"/>
                  </a:lnTo>
                  <a:lnTo>
                    <a:pt x="2094" y="1950"/>
                  </a:lnTo>
                  <a:lnTo>
                    <a:pt x="2063" y="1602"/>
                  </a:lnTo>
                  <a:lnTo>
                    <a:pt x="2094" y="1455"/>
                  </a:lnTo>
                  <a:lnTo>
                    <a:pt x="2183" y="1543"/>
                  </a:lnTo>
                  <a:lnTo>
                    <a:pt x="2240" y="1482"/>
                  </a:lnTo>
                  <a:lnTo>
                    <a:pt x="2183" y="1368"/>
                  </a:lnTo>
                  <a:lnTo>
                    <a:pt x="2300" y="1397"/>
                  </a:lnTo>
                  <a:lnTo>
                    <a:pt x="2475" y="1252"/>
                  </a:lnTo>
                  <a:lnTo>
                    <a:pt x="2475" y="1134"/>
                  </a:lnTo>
                  <a:lnTo>
                    <a:pt x="2328" y="1223"/>
                  </a:lnTo>
                  <a:lnTo>
                    <a:pt x="2183" y="960"/>
                  </a:lnTo>
                  <a:lnTo>
                    <a:pt x="2183" y="1193"/>
                  </a:lnTo>
                  <a:lnTo>
                    <a:pt x="2094" y="1223"/>
                  </a:lnTo>
                  <a:lnTo>
                    <a:pt x="2094" y="1164"/>
                  </a:lnTo>
                  <a:lnTo>
                    <a:pt x="1864" y="1105"/>
                  </a:lnTo>
                  <a:lnTo>
                    <a:pt x="1835" y="1193"/>
                  </a:lnTo>
                  <a:lnTo>
                    <a:pt x="1658" y="1018"/>
                  </a:lnTo>
                  <a:lnTo>
                    <a:pt x="1716" y="931"/>
                  </a:lnTo>
                  <a:lnTo>
                    <a:pt x="1368" y="670"/>
                  </a:lnTo>
                  <a:lnTo>
                    <a:pt x="1280" y="670"/>
                  </a:lnTo>
                  <a:lnTo>
                    <a:pt x="1254" y="378"/>
                  </a:lnTo>
                  <a:lnTo>
                    <a:pt x="1194" y="292"/>
                  </a:lnTo>
                  <a:lnTo>
                    <a:pt x="1223" y="203"/>
                  </a:lnTo>
                  <a:lnTo>
                    <a:pt x="989" y="29"/>
                  </a:lnTo>
                  <a:lnTo>
                    <a:pt x="873" y="0"/>
                  </a:lnTo>
                  <a:lnTo>
                    <a:pt x="842" y="145"/>
                  </a:lnTo>
                  <a:lnTo>
                    <a:pt x="784" y="174"/>
                  </a:lnTo>
                  <a:lnTo>
                    <a:pt x="756" y="88"/>
                  </a:lnTo>
                  <a:lnTo>
                    <a:pt x="641" y="88"/>
                  </a:lnTo>
                  <a:lnTo>
                    <a:pt x="641" y="203"/>
                  </a:lnTo>
                  <a:lnTo>
                    <a:pt x="668" y="292"/>
                  </a:lnTo>
                  <a:lnTo>
                    <a:pt x="612" y="321"/>
                  </a:lnTo>
                  <a:lnTo>
                    <a:pt x="408" y="233"/>
                  </a:lnTo>
                  <a:lnTo>
                    <a:pt x="263" y="321"/>
                  </a:lnTo>
                  <a:lnTo>
                    <a:pt x="320" y="408"/>
                  </a:lnTo>
                  <a:lnTo>
                    <a:pt x="292" y="437"/>
                  </a:lnTo>
                  <a:lnTo>
                    <a:pt x="320" y="583"/>
                  </a:lnTo>
                  <a:lnTo>
                    <a:pt x="292" y="613"/>
                  </a:lnTo>
                  <a:lnTo>
                    <a:pt x="0" y="583"/>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75" name="Freeform 125">
              <a:extLst>
                <a:ext uri="{FF2B5EF4-FFF2-40B4-BE49-F238E27FC236}">
                  <a16:creationId xmlns:a16="http://schemas.microsoft.com/office/drawing/2014/main" id="{DAC89DBA-C653-1375-71ED-F8161CCE81AC}"/>
                </a:ext>
              </a:extLst>
            </p:cNvPr>
            <p:cNvSpPr/>
            <p:nvPr/>
          </p:nvSpPr>
          <p:spPr bwMode="auto">
            <a:xfrm>
              <a:off x="1360" y="1870"/>
              <a:ext cx="194" cy="175"/>
            </a:xfrm>
            <a:custGeom>
              <a:gdLst>
                <a:gd name="T0" fmla="*/ 0 w 583"/>
                <a:gd name="T1" fmla="*/ 0 h 524"/>
                <a:gd name="T2" fmla="*/ 0 w 583"/>
                <a:gd name="T3" fmla="*/ 0 h 524"/>
                <a:gd name="T4" fmla="*/ 0 w 583"/>
                <a:gd name="T5" fmla="*/ 0 h 524"/>
                <a:gd name="T6" fmla="*/ 0 w 583"/>
                <a:gd name="T7" fmla="*/ 0 h 524"/>
                <a:gd name="T8" fmla="*/ 0 w 583"/>
                <a:gd name="T9" fmla="*/ 0 h 524"/>
                <a:gd name="T10" fmla="*/ 0 w 583"/>
                <a:gd name="T11" fmla="*/ 0 h 524"/>
                <a:gd name="T12" fmla="*/ 0 w 583"/>
                <a:gd name="T13" fmla="*/ 0 h 524"/>
                <a:gd name="T14" fmla="*/ 0 w 583"/>
                <a:gd name="T15" fmla="*/ 0 h 524"/>
                <a:gd name="T16" fmla="*/ 0 w 583"/>
                <a:gd name="T17" fmla="*/ 0 h 524"/>
                <a:gd name="T18" fmla="*/ 0 w 583"/>
                <a:gd name="T19" fmla="*/ 0 h 524"/>
                <a:gd name="T20" fmla="*/ 0 w 583"/>
                <a:gd name="T21" fmla="*/ 0 h 524"/>
                <a:gd name="T22" fmla="*/ 0 w 583"/>
                <a:gd name="T23" fmla="*/ 0 h 524"/>
                <a:gd name="T24" fmla="*/ 0 w 583"/>
                <a:gd name="T25" fmla="*/ 0 h 524"/>
                <a:gd name="T26" fmla="*/ 0 w 583"/>
                <a:gd name="T27" fmla="*/ 0 h 524"/>
                <a:gd name="T28" fmla="*/ 0 w 583"/>
                <a:gd name="T29" fmla="*/ 0 h 524"/>
                <a:gd name="T30" fmla="*/ 0 w 583"/>
                <a:gd name="T31" fmla="*/ 0 h 524"/>
                <a:gd name="T32" fmla="*/ 0 w 583"/>
                <a:gd name="T33" fmla="*/ 0 h 524"/>
                <a:gd name="T34" fmla="*/ 0 w 583"/>
                <a:gd name="T35" fmla="*/ 0 h 524"/>
                <a:gd name="T36" fmla="*/ 0 w 583"/>
                <a:gd name="T37" fmla="*/ 0 h 524"/>
                <a:gd name="T38" fmla="*/ 0 w 583"/>
                <a:gd name="T39" fmla="*/ 0 h 524"/>
                <a:gd name="T40" fmla="*/ 0 w 583"/>
                <a:gd name="T41" fmla="*/ 0 h 524"/>
                <a:gd name="T42" fmla="*/ 0 w 583"/>
                <a:gd name="T43" fmla="*/ 0 h 524"/>
                <a:gd name="T44" fmla="*/ 0 w 583"/>
                <a:gd name="T45" fmla="*/ 0 h 524"/>
                <a:gd name="T46" fmla="*/ 0 w 583"/>
                <a:gd name="T47" fmla="*/ 0 h 524"/>
                <a:gd name="T48" fmla="*/ 0 w 583"/>
                <a:gd name="T49" fmla="*/ 0 h 524"/>
                <a:gd name="T50" fmla="*/ 0 w 583"/>
                <a:gd name="T51" fmla="*/ 0 h 524"/>
                <a:gd name="T52" fmla="*/ 0 w 583"/>
                <a:gd name="T53" fmla="*/ 0 h 524"/>
                <a:gd name="T54" fmla="*/ 0 w 583"/>
                <a:gd name="T55" fmla="*/ 0 h 52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3" h="524">
                  <a:moveTo>
                    <a:pt x="352" y="174"/>
                  </a:moveTo>
                  <a:lnTo>
                    <a:pt x="352" y="116"/>
                  </a:lnTo>
                  <a:lnTo>
                    <a:pt x="206" y="0"/>
                  </a:lnTo>
                  <a:lnTo>
                    <a:pt x="145" y="0"/>
                  </a:lnTo>
                  <a:lnTo>
                    <a:pt x="0" y="116"/>
                  </a:lnTo>
                  <a:lnTo>
                    <a:pt x="264" y="145"/>
                  </a:lnTo>
                  <a:lnTo>
                    <a:pt x="291" y="174"/>
                  </a:lnTo>
                  <a:lnTo>
                    <a:pt x="145" y="291"/>
                  </a:lnTo>
                  <a:lnTo>
                    <a:pt x="145" y="350"/>
                  </a:lnTo>
                  <a:lnTo>
                    <a:pt x="178" y="350"/>
                  </a:lnTo>
                  <a:lnTo>
                    <a:pt x="178" y="466"/>
                  </a:lnTo>
                  <a:lnTo>
                    <a:pt x="206" y="524"/>
                  </a:lnTo>
                  <a:lnTo>
                    <a:pt x="264" y="495"/>
                  </a:lnTo>
                  <a:lnTo>
                    <a:pt x="291" y="350"/>
                  </a:lnTo>
                  <a:lnTo>
                    <a:pt x="381" y="291"/>
                  </a:lnTo>
                  <a:lnTo>
                    <a:pt x="381" y="350"/>
                  </a:lnTo>
                  <a:lnTo>
                    <a:pt x="437" y="350"/>
                  </a:lnTo>
                  <a:lnTo>
                    <a:pt x="437" y="436"/>
                  </a:lnTo>
                  <a:lnTo>
                    <a:pt x="437" y="466"/>
                  </a:lnTo>
                  <a:lnTo>
                    <a:pt x="527" y="436"/>
                  </a:lnTo>
                  <a:lnTo>
                    <a:pt x="554" y="350"/>
                  </a:lnTo>
                  <a:lnTo>
                    <a:pt x="583" y="350"/>
                  </a:lnTo>
                  <a:lnTo>
                    <a:pt x="583" y="291"/>
                  </a:lnTo>
                  <a:lnTo>
                    <a:pt x="527" y="291"/>
                  </a:lnTo>
                  <a:lnTo>
                    <a:pt x="496" y="232"/>
                  </a:lnTo>
                  <a:lnTo>
                    <a:pt x="381" y="204"/>
                  </a:lnTo>
                  <a:lnTo>
                    <a:pt x="352" y="174"/>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76" name="Freeform 126">
              <a:extLst>
                <a:ext uri="{FF2B5EF4-FFF2-40B4-BE49-F238E27FC236}">
                  <a16:creationId xmlns:a16="http://schemas.microsoft.com/office/drawing/2014/main" id="{0D953C48-5FB3-2335-CE4F-8263FEF88A0B}"/>
                </a:ext>
              </a:extLst>
            </p:cNvPr>
            <p:cNvSpPr/>
            <p:nvPr/>
          </p:nvSpPr>
          <p:spPr bwMode="auto">
            <a:xfrm>
              <a:off x="1360" y="1870"/>
              <a:ext cx="194" cy="175"/>
            </a:xfrm>
            <a:custGeom>
              <a:gdLst>
                <a:gd name="T0" fmla="*/ 0 w 583"/>
                <a:gd name="T1" fmla="*/ 0 h 524"/>
                <a:gd name="T2" fmla="*/ 0 w 583"/>
                <a:gd name="T3" fmla="*/ 0 h 524"/>
                <a:gd name="T4" fmla="*/ 0 w 583"/>
                <a:gd name="T5" fmla="*/ 0 h 524"/>
                <a:gd name="T6" fmla="*/ 0 w 583"/>
                <a:gd name="T7" fmla="*/ 0 h 524"/>
                <a:gd name="T8" fmla="*/ 0 w 583"/>
                <a:gd name="T9" fmla="*/ 0 h 524"/>
                <a:gd name="T10" fmla="*/ 0 w 583"/>
                <a:gd name="T11" fmla="*/ 0 h 524"/>
                <a:gd name="T12" fmla="*/ 0 w 583"/>
                <a:gd name="T13" fmla="*/ 0 h 524"/>
                <a:gd name="T14" fmla="*/ 0 w 583"/>
                <a:gd name="T15" fmla="*/ 0 h 524"/>
                <a:gd name="T16" fmla="*/ 0 w 583"/>
                <a:gd name="T17" fmla="*/ 0 h 524"/>
                <a:gd name="T18" fmla="*/ 0 w 583"/>
                <a:gd name="T19" fmla="*/ 0 h 524"/>
                <a:gd name="T20" fmla="*/ 0 w 583"/>
                <a:gd name="T21" fmla="*/ 0 h 524"/>
                <a:gd name="T22" fmla="*/ 0 w 583"/>
                <a:gd name="T23" fmla="*/ 0 h 524"/>
                <a:gd name="T24" fmla="*/ 0 w 583"/>
                <a:gd name="T25" fmla="*/ 0 h 524"/>
                <a:gd name="T26" fmla="*/ 0 w 583"/>
                <a:gd name="T27" fmla="*/ 0 h 524"/>
                <a:gd name="T28" fmla="*/ 0 w 583"/>
                <a:gd name="T29" fmla="*/ 0 h 524"/>
                <a:gd name="T30" fmla="*/ 0 w 583"/>
                <a:gd name="T31" fmla="*/ 0 h 524"/>
                <a:gd name="T32" fmla="*/ 0 w 583"/>
                <a:gd name="T33" fmla="*/ 0 h 524"/>
                <a:gd name="T34" fmla="*/ 0 w 583"/>
                <a:gd name="T35" fmla="*/ 0 h 524"/>
                <a:gd name="T36" fmla="*/ 0 w 583"/>
                <a:gd name="T37" fmla="*/ 0 h 524"/>
                <a:gd name="T38" fmla="*/ 0 w 583"/>
                <a:gd name="T39" fmla="*/ 0 h 524"/>
                <a:gd name="T40" fmla="*/ 0 w 583"/>
                <a:gd name="T41" fmla="*/ 0 h 524"/>
                <a:gd name="T42" fmla="*/ 0 w 583"/>
                <a:gd name="T43" fmla="*/ 0 h 524"/>
                <a:gd name="T44" fmla="*/ 0 w 583"/>
                <a:gd name="T45" fmla="*/ 0 h 524"/>
                <a:gd name="T46" fmla="*/ 0 w 583"/>
                <a:gd name="T47" fmla="*/ 0 h 524"/>
                <a:gd name="T48" fmla="*/ 0 w 583"/>
                <a:gd name="T49" fmla="*/ 0 h 524"/>
                <a:gd name="T50" fmla="*/ 0 w 583"/>
                <a:gd name="T51" fmla="*/ 0 h 524"/>
                <a:gd name="T52" fmla="*/ 0 w 583"/>
                <a:gd name="T53" fmla="*/ 0 h 524"/>
                <a:gd name="T54" fmla="*/ 0 w 583"/>
                <a:gd name="T55" fmla="*/ 0 h 52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3" h="524">
                  <a:moveTo>
                    <a:pt x="352" y="174"/>
                  </a:moveTo>
                  <a:lnTo>
                    <a:pt x="352" y="116"/>
                  </a:lnTo>
                  <a:lnTo>
                    <a:pt x="206" y="0"/>
                  </a:lnTo>
                  <a:lnTo>
                    <a:pt x="145" y="0"/>
                  </a:lnTo>
                  <a:lnTo>
                    <a:pt x="0" y="116"/>
                  </a:lnTo>
                  <a:lnTo>
                    <a:pt x="264" y="145"/>
                  </a:lnTo>
                  <a:lnTo>
                    <a:pt x="291" y="174"/>
                  </a:lnTo>
                  <a:lnTo>
                    <a:pt x="145" y="291"/>
                  </a:lnTo>
                  <a:lnTo>
                    <a:pt x="145" y="350"/>
                  </a:lnTo>
                  <a:lnTo>
                    <a:pt x="178" y="350"/>
                  </a:lnTo>
                  <a:lnTo>
                    <a:pt x="178" y="466"/>
                  </a:lnTo>
                  <a:lnTo>
                    <a:pt x="206" y="524"/>
                  </a:lnTo>
                  <a:lnTo>
                    <a:pt x="264" y="495"/>
                  </a:lnTo>
                  <a:lnTo>
                    <a:pt x="291" y="350"/>
                  </a:lnTo>
                  <a:lnTo>
                    <a:pt x="381" y="291"/>
                  </a:lnTo>
                  <a:lnTo>
                    <a:pt x="381" y="350"/>
                  </a:lnTo>
                  <a:lnTo>
                    <a:pt x="437" y="350"/>
                  </a:lnTo>
                  <a:lnTo>
                    <a:pt x="437" y="436"/>
                  </a:lnTo>
                  <a:lnTo>
                    <a:pt x="437" y="466"/>
                  </a:lnTo>
                  <a:lnTo>
                    <a:pt x="527" y="436"/>
                  </a:lnTo>
                  <a:lnTo>
                    <a:pt x="554" y="350"/>
                  </a:lnTo>
                  <a:lnTo>
                    <a:pt x="583" y="350"/>
                  </a:lnTo>
                  <a:lnTo>
                    <a:pt x="583" y="291"/>
                  </a:lnTo>
                  <a:lnTo>
                    <a:pt x="527" y="291"/>
                  </a:lnTo>
                  <a:lnTo>
                    <a:pt x="496" y="232"/>
                  </a:lnTo>
                  <a:lnTo>
                    <a:pt x="381" y="204"/>
                  </a:lnTo>
                  <a:lnTo>
                    <a:pt x="352" y="174"/>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sp>
          <p:nvSpPr>
            <p:cNvPr id="68777" name="Freeform 127">
              <a:extLst>
                <a:ext uri="{FF2B5EF4-FFF2-40B4-BE49-F238E27FC236}">
                  <a16:creationId xmlns:a16="http://schemas.microsoft.com/office/drawing/2014/main" id="{775F2C91-D76C-11AF-2D79-B4BA1FA74EEB}"/>
                </a:ext>
              </a:extLst>
            </p:cNvPr>
            <p:cNvSpPr/>
            <p:nvPr/>
          </p:nvSpPr>
          <p:spPr bwMode="auto">
            <a:xfrm>
              <a:off x="1494" y="1983"/>
              <a:ext cx="136" cy="69"/>
            </a:xfrm>
            <a:custGeom>
              <a:gdLst>
                <a:gd name="T0" fmla="*/ 0 w 408"/>
                <a:gd name="T1" fmla="*/ 0 h 205"/>
                <a:gd name="T2" fmla="*/ 0 w 408"/>
                <a:gd name="T3" fmla="*/ 0 h 205"/>
                <a:gd name="T4" fmla="*/ 0 w 408"/>
                <a:gd name="T5" fmla="*/ 0 h 205"/>
                <a:gd name="T6" fmla="*/ 0 w 408"/>
                <a:gd name="T7" fmla="*/ 0 h 205"/>
                <a:gd name="T8" fmla="*/ 0 w 408"/>
                <a:gd name="T9" fmla="*/ 0 h 205"/>
                <a:gd name="T10" fmla="*/ 0 w 408"/>
                <a:gd name="T11" fmla="*/ 0 h 205"/>
                <a:gd name="T12" fmla="*/ 0 w 408"/>
                <a:gd name="T13" fmla="*/ 0 h 205"/>
                <a:gd name="T14" fmla="*/ 0 w 408"/>
                <a:gd name="T15" fmla="*/ 0 h 205"/>
                <a:gd name="T16" fmla="*/ 0 w 408"/>
                <a:gd name="T17" fmla="*/ 0 h 205"/>
                <a:gd name="T18" fmla="*/ 0 w 408"/>
                <a:gd name="T19" fmla="*/ 0 h 205"/>
                <a:gd name="T20" fmla="*/ 0 w 408"/>
                <a:gd name="T21" fmla="*/ 0 h 2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8" h="205">
                  <a:moveTo>
                    <a:pt x="34" y="126"/>
                  </a:moveTo>
                  <a:lnTo>
                    <a:pt x="0" y="183"/>
                  </a:lnTo>
                  <a:lnTo>
                    <a:pt x="145" y="205"/>
                  </a:lnTo>
                  <a:lnTo>
                    <a:pt x="236" y="126"/>
                  </a:lnTo>
                  <a:lnTo>
                    <a:pt x="408" y="43"/>
                  </a:lnTo>
                  <a:lnTo>
                    <a:pt x="340" y="0"/>
                  </a:lnTo>
                  <a:lnTo>
                    <a:pt x="253" y="29"/>
                  </a:lnTo>
                  <a:lnTo>
                    <a:pt x="175" y="110"/>
                  </a:lnTo>
                  <a:lnTo>
                    <a:pt x="126" y="95"/>
                  </a:lnTo>
                  <a:lnTo>
                    <a:pt x="34" y="126"/>
                  </a:lnTo>
                  <a:close/>
                </a:path>
              </a:pathLst>
            </a:custGeom>
            <a:solidFill>
              <a:schemeClr val="folHlink">
                <a:alpha val="25098"/>
              </a:schemeClr>
            </a:solidFill>
            <a:ln w="9525">
              <a:solidFill>
                <a:schemeClr val="folHlink"/>
              </a:solidFill>
              <a:round/>
            </a:ln>
          </p:spPr>
          <p:txBody>
            <a:bodyPr/>
            <a:lstStyle/>
            <a:p>
              <a:endParaRPr lang="ko-KR" altLang="en-US"/>
            </a:p>
          </p:txBody>
        </p:sp>
        <p:sp>
          <p:nvSpPr>
            <p:cNvPr id="68778" name="Freeform 128">
              <a:extLst>
                <a:ext uri="{FF2B5EF4-FFF2-40B4-BE49-F238E27FC236}">
                  <a16:creationId xmlns:a16="http://schemas.microsoft.com/office/drawing/2014/main" id="{9F350AB6-41C8-DF60-48FC-46108E0567D6}"/>
                </a:ext>
              </a:extLst>
            </p:cNvPr>
            <p:cNvSpPr/>
            <p:nvPr/>
          </p:nvSpPr>
          <p:spPr bwMode="auto">
            <a:xfrm>
              <a:off x="1494" y="1983"/>
              <a:ext cx="136" cy="69"/>
            </a:xfrm>
            <a:custGeom>
              <a:gdLst>
                <a:gd name="T0" fmla="*/ 0 w 408"/>
                <a:gd name="T1" fmla="*/ 0 h 205"/>
                <a:gd name="T2" fmla="*/ 0 w 408"/>
                <a:gd name="T3" fmla="*/ 0 h 205"/>
                <a:gd name="T4" fmla="*/ 0 w 408"/>
                <a:gd name="T5" fmla="*/ 0 h 205"/>
                <a:gd name="T6" fmla="*/ 0 w 408"/>
                <a:gd name="T7" fmla="*/ 0 h 205"/>
                <a:gd name="T8" fmla="*/ 0 w 408"/>
                <a:gd name="T9" fmla="*/ 0 h 205"/>
                <a:gd name="T10" fmla="*/ 0 w 408"/>
                <a:gd name="T11" fmla="*/ 0 h 205"/>
                <a:gd name="T12" fmla="*/ 0 w 408"/>
                <a:gd name="T13" fmla="*/ 0 h 205"/>
                <a:gd name="T14" fmla="*/ 0 w 408"/>
                <a:gd name="T15" fmla="*/ 0 h 205"/>
                <a:gd name="T16" fmla="*/ 0 w 408"/>
                <a:gd name="T17" fmla="*/ 0 h 205"/>
                <a:gd name="T18" fmla="*/ 0 w 408"/>
                <a:gd name="T19" fmla="*/ 0 h 205"/>
                <a:gd name="T20" fmla="*/ 0 w 408"/>
                <a:gd name="T21" fmla="*/ 0 h 2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8" h="205">
                  <a:moveTo>
                    <a:pt x="34" y="126"/>
                  </a:moveTo>
                  <a:lnTo>
                    <a:pt x="0" y="183"/>
                  </a:lnTo>
                  <a:lnTo>
                    <a:pt x="145" y="205"/>
                  </a:lnTo>
                  <a:lnTo>
                    <a:pt x="236" y="126"/>
                  </a:lnTo>
                  <a:lnTo>
                    <a:pt x="408" y="43"/>
                  </a:lnTo>
                  <a:lnTo>
                    <a:pt x="340" y="0"/>
                  </a:lnTo>
                  <a:lnTo>
                    <a:pt x="253" y="29"/>
                  </a:lnTo>
                  <a:lnTo>
                    <a:pt x="175" y="110"/>
                  </a:lnTo>
                  <a:lnTo>
                    <a:pt x="126" y="95"/>
                  </a:lnTo>
                  <a:lnTo>
                    <a:pt x="34" y="126"/>
                  </a:lnTo>
                </a:path>
              </a:pathLst>
            </a:custGeom>
            <a:solidFill>
              <a:schemeClr val="folHlink">
                <a:alpha val="25098"/>
              </a:schemeClr>
            </a:solidFill>
            <a:ln w="0" cap="sq">
              <a:solidFill>
                <a:schemeClr val="folHlink"/>
              </a:solidFill>
              <a:prstDash val="solid"/>
              <a:miter lim="800000"/>
            </a:ln>
          </p:spPr>
          <p:txBody>
            <a:bodyPr/>
            <a:lstStyle/>
            <a:p>
              <a:endParaRPr lang="ko-KR" altLang="en-US"/>
            </a:p>
          </p:txBody>
        </p:sp>
      </p:grpSp>
      <p:sp>
        <p:nvSpPr>
          <p:cNvPr id="68614" name="Rectangle 129">
            <a:extLst>
              <a:ext uri="{FF2B5EF4-FFF2-40B4-BE49-F238E27FC236}">
                <a16:creationId xmlns:a16="http://schemas.microsoft.com/office/drawing/2014/main" id="{B202D0DC-7657-EFD9-3319-CC833452C2D9}"/>
              </a:ext>
            </a:extLst>
          </p:cNvPr>
          <p:cNvSpPr>
            <a:spLocks noChangeArrowheads="1"/>
          </p:cNvSpPr>
          <p:nvPr/>
        </p:nvSpPr>
        <p:spPr bwMode="auto">
          <a:xfrm>
            <a:off x="263525" y="3054350"/>
            <a:ext cx="2024063" cy="933450"/>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15" name="Object 130">
            <a:extLst>
              <a:ext uri="{FF2B5EF4-FFF2-40B4-BE49-F238E27FC236}">
                <a16:creationId xmlns:a16="http://schemas.microsoft.com/office/drawing/2014/main" id="{916BE5A8-4DC2-9B6F-1216-4F97349F0029}"/>
              </a:ext>
            </a:extLst>
          </p:cNvPr>
          <p:cNvGraphicFramePr>
            <a:graphicFrameLocks noChangeAspect="1"/>
          </p:cNvGraphicFramePr>
          <p:nvPr/>
        </p:nvGraphicFramePr>
        <p:xfrm>
          <a:off x="309563" y="3105150"/>
          <a:ext cx="1930400" cy="885825"/>
        </p:xfrm>
        <a:graphic>
          <a:graphicData uri="http://schemas.openxmlformats.org/presentationml/2006/ole">
            <mc:AlternateContent>
              <mc:Choice xmlns:v="urn:schemas-microsoft-com:vml" Requires="v">
                <p:oleObj spid="_x0000_s1047" name="Chart" r:id="rId3" imgW="2844800" imgH="1422400" progId="MSGraph.Chart.8">
                  <p:embed/>
                </p:oleObj>
              </mc:Choice>
              <mc:Fallback>
                <p:oleObj name="Chart" r:id="rId3" imgW="2844800" imgH="1422400" progId="MSGraph.Chart.8">
                  <p:embed/>
                  <p:pic>
                    <p:nvPicPr>
                      <p:cNvPr id="0" name="OLE substitute image"/>
                      <p:cNvPicPr/>
                      <p:nvPr/>
                    </p:nvPicPr>
                    <p:blipFill>
                      <a:blip r:embed="rId4">
                        <a:extLst>
                          <a:ext uri="{28A0092B-C50C-407E-A947-70E740481C1C}">
                            <a14:useLocalDpi xmlns:a14="http://schemas.microsoft.com/office/drawing/2010/main" val="0"/>
                          </a:ext>
                        </a:extLst>
                      </a:blip>
                      <a:srcRect l="9576" t="14221" r="10001" b="6485"/>
                      <a:stretch>
                        <a:fillRect/>
                      </a:stretch>
                    </p:blipFill>
                    <p:spPr>
                      <a:xfrm>
                        <a:off x="309563" y="3105150"/>
                        <a:ext cx="1930400" cy="885825"/>
                      </a:xfrm>
                      <a:prstGeom prst="rect">
                        <a:avLst/>
                      </a:prstGeom>
                      <a:noFill/>
                      <a:ln>
                        <a:noFill/>
                      </a:ln>
                      <a:effectLst/>
                    </p:spPr>
                  </p:pic>
                </p:oleObj>
              </mc:Fallback>
            </mc:AlternateContent>
          </a:graphicData>
        </a:graphic>
      </p:graphicFrame>
      <p:sp>
        <p:nvSpPr>
          <p:cNvPr id="68616" name="Rectangle 131">
            <a:extLst>
              <a:ext uri="{FF2B5EF4-FFF2-40B4-BE49-F238E27FC236}">
                <a16:creationId xmlns:a16="http://schemas.microsoft.com/office/drawing/2014/main" id="{831686B5-6945-A2B8-6889-B17408A43D4D}"/>
              </a:ext>
            </a:extLst>
          </p:cNvPr>
          <p:cNvSpPr>
            <a:spLocks noChangeArrowheads="1"/>
          </p:cNvSpPr>
          <p:nvPr/>
        </p:nvSpPr>
        <p:spPr bwMode="auto">
          <a:xfrm>
            <a:off x="263525" y="2887663"/>
            <a:ext cx="2024063" cy="179387"/>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Nafta </a:t>
            </a:r>
          </a:p>
        </p:txBody>
      </p:sp>
      <p:sp>
        <p:nvSpPr>
          <p:cNvPr id="68617" name="Rectangle 132">
            <a:extLst>
              <a:ext uri="{FF2B5EF4-FFF2-40B4-BE49-F238E27FC236}">
                <a16:creationId xmlns:a16="http://schemas.microsoft.com/office/drawing/2014/main" id="{6FFFAFB4-0A0E-147A-CA3F-5AD0F35A65F3}"/>
              </a:ext>
            </a:extLst>
          </p:cNvPr>
          <p:cNvSpPr>
            <a:spLocks noChangeArrowheads="1"/>
          </p:cNvSpPr>
          <p:nvPr/>
        </p:nvSpPr>
        <p:spPr bwMode="auto">
          <a:xfrm>
            <a:off x="1046163" y="4683125"/>
            <a:ext cx="2024062" cy="935038"/>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18" name="Object 133">
            <a:extLst>
              <a:ext uri="{FF2B5EF4-FFF2-40B4-BE49-F238E27FC236}">
                <a16:creationId xmlns:a16="http://schemas.microsoft.com/office/drawing/2014/main" id="{97BE1158-9EF4-BBB2-4DBB-D3D357E973EC}"/>
              </a:ext>
            </a:extLst>
          </p:cNvPr>
          <p:cNvGraphicFramePr>
            <a:graphicFrameLocks noChangeAspect="1"/>
          </p:cNvGraphicFramePr>
          <p:nvPr/>
        </p:nvGraphicFramePr>
        <p:xfrm>
          <a:off x="1093788" y="4733925"/>
          <a:ext cx="1930400" cy="885825"/>
        </p:xfrm>
        <a:graphic>
          <a:graphicData uri="http://schemas.openxmlformats.org/presentationml/2006/ole">
            <mc:AlternateContent>
              <mc:Choice xmlns:v="urn:schemas-microsoft-com:vml" Requires="v">
                <p:oleObj spid="_x0000_s1048" name="Chart" r:id="rId5" imgW="2844800" imgH="1422400" progId="MSGraph.Chart.8">
                  <p:embed/>
                </p:oleObj>
              </mc:Choice>
              <mc:Fallback>
                <p:oleObj name="Chart" r:id="rId5" imgW="2844800" imgH="1422400" progId="MSGraph.Chart.8">
                  <p:embed/>
                  <p:pic>
                    <p:nvPicPr>
                      <p:cNvPr id="0" name="OLE substitute image"/>
                      <p:cNvPicPr/>
                      <p:nvPr/>
                    </p:nvPicPr>
                    <p:blipFill>
                      <a:blip r:embed="rId6">
                        <a:extLst>
                          <a:ext uri="{28A0092B-C50C-407E-A947-70E740481C1C}">
                            <a14:useLocalDpi xmlns:a14="http://schemas.microsoft.com/office/drawing/2010/main" val="0"/>
                          </a:ext>
                        </a:extLst>
                      </a:blip>
                      <a:srcRect l="9576" t="14221" r="10001" b="6485"/>
                      <a:stretch>
                        <a:fillRect/>
                      </a:stretch>
                    </p:blipFill>
                    <p:spPr>
                      <a:xfrm>
                        <a:off x="1093788" y="4733925"/>
                        <a:ext cx="1930400" cy="885825"/>
                      </a:xfrm>
                      <a:prstGeom prst="rect">
                        <a:avLst/>
                      </a:prstGeom>
                      <a:noFill/>
                      <a:ln>
                        <a:noFill/>
                      </a:ln>
                      <a:effectLst/>
                    </p:spPr>
                  </p:pic>
                </p:oleObj>
              </mc:Fallback>
            </mc:AlternateContent>
          </a:graphicData>
        </a:graphic>
      </p:graphicFrame>
      <p:sp>
        <p:nvSpPr>
          <p:cNvPr id="68619" name="Rectangle 134">
            <a:extLst>
              <a:ext uri="{FF2B5EF4-FFF2-40B4-BE49-F238E27FC236}">
                <a16:creationId xmlns:a16="http://schemas.microsoft.com/office/drawing/2014/main" id="{A8561AB3-DB83-AC9C-AE68-4E5A6C2050BC}"/>
              </a:ext>
            </a:extLst>
          </p:cNvPr>
          <p:cNvSpPr>
            <a:spLocks noChangeArrowheads="1"/>
          </p:cNvSpPr>
          <p:nvPr/>
        </p:nvSpPr>
        <p:spPr bwMode="auto">
          <a:xfrm>
            <a:off x="1046163" y="4518025"/>
            <a:ext cx="2024062" cy="179388"/>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Latin America</a:t>
            </a:r>
          </a:p>
        </p:txBody>
      </p:sp>
      <p:sp>
        <p:nvSpPr>
          <p:cNvPr id="68620" name="Oval 135">
            <a:extLst>
              <a:ext uri="{FF2B5EF4-FFF2-40B4-BE49-F238E27FC236}">
                <a16:creationId xmlns:a16="http://schemas.microsoft.com/office/drawing/2014/main" id="{E768EA76-C53A-BE38-B17C-19899D896CD0}"/>
              </a:ext>
            </a:extLst>
          </p:cNvPr>
          <p:cNvSpPr>
            <a:spLocks noChangeArrowheads="1"/>
          </p:cNvSpPr>
          <p:nvPr/>
        </p:nvSpPr>
        <p:spPr bwMode="auto">
          <a:xfrm>
            <a:off x="2597150" y="3643313"/>
            <a:ext cx="376238" cy="347662"/>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29%</a:t>
            </a:r>
          </a:p>
        </p:txBody>
      </p:sp>
      <p:sp>
        <p:nvSpPr>
          <p:cNvPr id="68621" name="Oval 136">
            <a:extLst>
              <a:ext uri="{FF2B5EF4-FFF2-40B4-BE49-F238E27FC236}">
                <a16:creationId xmlns:a16="http://schemas.microsoft.com/office/drawing/2014/main" id="{146965E7-38C9-B68F-FCEC-0DE73267C6C3}"/>
              </a:ext>
            </a:extLst>
          </p:cNvPr>
          <p:cNvSpPr>
            <a:spLocks noChangeAspect="1" noChangeArrowheads="1"/>
          </p:cNvSpPr>
          <p:nvPr/>
        </p:nvSpPr>
        <p:spPr bwMode="auto">
          <a:xfrm>
            <a:off x="3292475" y="4684713"/>
            <a:ext cx="239713" cy="222250"/>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8%</a:t>
            </a:r>
          </a:p>
        </p:txBody>
      </p:sp>
      <p:sp>
        <p:nvSpPr>
          <p:cNvPr id="68622" name="Rectangle 137">
            <a:extLst>
              <a:ext uri="{FF2B5EF4-FFF2-40B4-BE49-F238E27FC236}">
                <a16:creationId xmlns:a16="http://schemas.microsoft.com/office/drawing/2014/main" id="{054C8B7A-F1A8-4D51-1CFD-17FC4A2346C7}"/>
              </a:ext>
            </a:extLst>
          </p:cNvPr>
          <p:cNvSpPr>
            <a:spLocks noChangeArrowheads="1"/>
          </p:cNvSpPr>
          <p:nvPr/>
        </p:nvSpPr>
        <p:spPr bwMode="auto">
          <a:xfrm>
            <a:off x="2662238" y="2433638"/>
            <a:ext cx="2024062" cy="920750"/>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23" name="Object 138">
            <a:extLst>
              <a:ext uri="{FF2B5EF4-FFF2-40B4-BE49-F238E27FC236}">
                <a16:creationId xmlns:a16="http://schemas.microsoft.com/office/drawing/2014/main" id="{203BCDA1-0E1B-59A0-15D5-D77C3468C91E}"/>
              </a:ext>
            </a:extLst>
          </p:cNvPr>
          <p:cNvGraphicFramePr>
            <a:graphicFrameLocks noChangeAspect="1"/>
          </p:cNvGraphicFramePr>
          <p:nvPr/>
        </p:nvGraphicFramePr>
        <p:xfrm>
          <a:off x="2700338" y="2419350"/>
          <a:ext cx="1949450" cy="885825"/>
        </p:xfrm>
        <a:graphic>
          <a:graphicData uri="http://schemas.openxmlformats.org/presentationml/2006/ole">
            <mc:AlternateContent>
              <mc:Choice xmlns:v="urn:schemas-microsoft-com:vml" Requires="v">
                <p:oleObj spid="_x0000_s1049" name="Chart" r:id="rId7" imgW="2870200" imgH="1422400" progId="MSGraph.Chart.8">
                  <p:embed/>
                </p:oleObj>
              </mc:Choice>
              <mc:Fallback>
                <p:oleObj name="Chart" r:id="rId7" imgW="2870200" imgH="1422400" progId="MSGraph.Chart.8">
                  <p:embed/>
                  <p:pic>
                    <p:nvPicPr>
                      <p:cNvPr id="0" name="OLE substitute image"/>
                      <p:cNvPicPr/>
                      <p:nvPr/>
                    </p:nvPicPr>
                    <p:blipFill>
                      <a:blip r:embed="rId8">
                        <a:extLst>
                          <a:ext uri="{28A0092B-C50C-407E-A947-70E740481C1C}">
                            <a14:useLocalDpi xmlns:a14="http://schemas.microsoft.com/office/drawing/2010/main" val="0"/>
                          </a:ext>
                        </a:extLst>
                      </a:blip>
                      <a:srcRect l="9576" t="14221" r="10001" b="6485"/>
                      <a:stretch>
                        <a:fillRect/>
                      </a:stretch>
                    </p:blipFill>
                    <p:spPr>
                      <a:xfrm>
                        <a:off x="2700338" y="2419350"/>
                        <a:ext cx="1949450" cy="885825"/>
                      </a:xfrm>
                      <a:prstGeom prst="rect">
                        <a:avLst/>
                      </a:prstGeom>
                      <a:noFill/>
                      <a:ln>
                        <a:noFill/>
                      </a:ln>
                      <a:effectLst/>
                    </p:spPr>
                  </p:pic>
                </p:oleObj>
              </mc:Fallback>
            </mc:AlternateContent>
          </a:graphicData>
        </a:graphic>
      </p:graphicFrame>
      <p:sp>
        <p:nvSpPr>
          <p:cNvPr id="68624" name="Rectangle 139">
            <a:extLst>
              <a:ext uri="{FF2B5EF4-FFF2-40B4-BE49-F238E27FC236}">
                <a16:creationId xmlns:a16="http://schemas.microsoft.com/office/drawing/2014/main" id="{FB8A7A06-23E1-6930-5384-25436ABAE419}"/>
              </a:ext>
            </a:extLst>
          </p:cNvPr>
          <p:cNvSpPr>
            <a:spLocks noChangeArrowheads="1"/>
          </p:cNvSpPr>
          <p:nvPr/>
        </p:nvSpPr>
        <p:spPr bwMode="auto">
          <a:xfrm>
            <a:off x="2662238" y="2254250"/>
            <a:ext cx="2024062" cy="179388"/>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Western Europe</a:t>
            </a:r>
          </a:p>
        </p:txBody>
      </p:sp>
      <p:sp>
        <p:nvSpPr>
          <p:cNvPr id="68625" name="Oval 140">
            <a:extLst>
              <a:ext uri="{FF2B5EF4-FFF2-40B4-BE49-F238E27FC236}">
                <a16:creationId xmlns:a16="http://schemas.microsoft.com/office/drawing/2014/main" id="{BF69652F-1537-9781-757D-0E9AEA14A816}"/>
              </a:ext>
            </a:extLst>
          </p:cNvPr>
          <p:cNvSpPr>
            <a:spLocks noChangeArrowheads="1"/>
          </p:cNvSpPr>
          <p:nvPr/>
        </p:nvSpPr>
        <p:spPr bwMode="auto">
          <a:xfrm>
            <a:off x="4168775" y="3817938"/>
            <a:ext cx="315913" cy="292100"/>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20%</a:t>
            </a:r>
          </a:p>
        </p:txBody>
      </p:sp>
      <p:sp>
        <p:nvSpPr>
          <p:cNvPr id="68626" name="Oval 141">
            <a:extLst>
              <a:ext uri="{FF2B5EF4-FFF2-40B4-BE49-F238E27FC236}">
                <a16:creationId xmlns:a16="http://schemas.microsoft.com/office/drawing/2014/main" id="{196CAF5B-57F5-5C8C-E12E-E3B16AE54799}"/>
              </a:ext>
            </a:extLst>
          </p:cNvPr>
          <p:cNvSpPr>
            <a:spLocks noChangeArrowheads="1"/>
          </p:cNvSpPr>
          <p:nvPr/>
        </p:nvSpPr>
        <p:spPr bwMode="auto">
          <a:xfrm>
            <a:off x="4678363" y="3751263"/>
            <a:ext cx="273050" cy="250825"/>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9%</a:t>
            </a:r>
          </a:p>
        </p:txBody>
      </p:sp>
      <p:sp>
        <p:nvSpPr>
          <p:cNvPr id="68627" name="Rectangle 142">
            <a:extLst>
              <a:ext uri="{FF2B5EF4-FFF2-40B4-BE49-F238E27FC236}">
                <a16:creationId xmlns:a16="http://schemas.microsoft.com/office/drawing/2014/main" id="{D76552AC-0EC7-B23E-9196-E24EE1FE5FEE}"/>
              </a:ext>
            </a:extLst>
          </p:cNvPr>
          <p:cNvSpPr>
            <a:spLocks noChangeArrowheads="1"/>
          </p:cNvSpPr>
          <p:nvPr/>
        </p:nvSpPr>
        <p:spPr bwMode="auto">
          <a:xfrm>
            <a:off x="4902200" y="2433638"/>
            <a:ext cx="2024063" cy="920750"/>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28" name="Object 143">
            <a:extLst>
              <a:ext uri="{FF2B5EF4-FFF2-40B4-BE49-F238E27FC236}">
                <a16:creationId xmlns:a16="http://schemas.microsoft.com/office/drawing/2014/main" id="{6EF1CE14-8C65-6288-B43A-B973FA2F72CB}"/>
              </a:ext>
            </a:extLst>
          </p:cNvPr>
          <p:cNvGraphicFramePr>
            <a:graphicFrameLocks noChangeAspect="1"/>
          </p:cNvGraphicFramePr>
          <p:nvPr/>
        </p:nvGraphicFramePr>
        <p:xfrm>
          <a:off x="4945063" y="2438400"/>
          <a:ext cx="1939925" cy="895350"/>
        </p:xfrm>
        <a:graphic>
          <a:graphicData uri="http://schemas.openxmlformats.org/presentationml/2006/ole">
            <mc:AlternateContent>
              <mc:Choice xmlns:v="urn:schemas-microsoft-com:vml" Requires="v">
                <p:oleObj spid="_x0000_s1050" name="Chart" r:id="rId9" imgW="2806700" imgH="1409700" progId="MSGraph.Chart.8">
                  <p:embed/>
                </p:oleObj>
              </mc:Choice>
              <mc:Fallback>
                <p:oleObj name="Chart" r:id="rId9" imgW="2806700" imgH="1409700" progId="MSGraph.Chart.8">
                  <p:embed/>
                  <p:pic>
                    <p:nvPicPr>
                      <p:cNvPr id="0" name="OLE substitute image"/>
                      <p:cNvPicPr/>
                      <p:nvPr/>
                    </p:nvPicPr>
                    <p:blipFill>
                      <a:blip r:embed="rId10">
                        <a:extLst>
                          <a:ext uri="{28A0092B-C50C-407E-A947-70E740481C1C}">
                            <a14:useLocalDpi xmlns:a14="http://schemas.microsoft.com/office/drawing/2010/main" val="0"/>
                          </a:ext>
                        </a:extLst>
                      </a:blip>
                      <a:srcRect l="9576" t="14221" r="10001" b="6485"/>
                      <a:stretch>
                        <a:fillRect/>
                      </a:stretch>
                    </p:blipFill>
                    <p:spPr>
                      <a:xfrm>
                        <a:off x="4945063" y="2438400"/>
                        <a:ext cx="1939925" cy="895350"/>
                      </a:xfrm>
                      <a:prstGeom prst="rect">
                        <a:avLst/>
                      </a:prstGeom>
                      <a:noFill/>
                      <a:ln>
                        <a:noFill/>
                      </a:ln>
                      <a:effectLst/>
                    </p:spPr>
                  </p:pic>
                </p:oleObj>
              </mc:Fallback>
            </mc:AlternateContent>
          </a:graphicData>
        </a:graphic>
      </p:graphicFrame>
      <p:sp>
        <p:nvSpPr>
          <p:cNvPr id="68629" name="Rectangle 144">
            <a:extLst>
              <a:ext uri="{FF2B5EF4-FFF2-40B4-BE49-F238E27FC236}">
                <a16:creationId xmlns:a16="http://schemas.microsoft.com/office/drawing/2014/main" id="{2721F1EF-C56A-07B0-8207-9666BDED3FD0}"/>
              </a:ext>
            </a:extLst>
          </p:cNvPr>
          <p:cNvSpPr>
            <a:spLocks noChangeArrowheads="1"/>
          </p:cNvSpPr>
          <p:nvPr/>
        </p:nvSpPr>
        <p:spPr bwMode="auto">
          <a:xfrm>
            <a:off x="4902200" y="2254250"/>
            <a:ext cx="2024063" cy="179388"/>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Eastern Europe</a:t>
            </a:r>
          </a:p>
        </p:txBody>
      </p:sp>
      <p:sp>
        <p:nvSpPr>
          <p:cNvPr id="68630" name="Rectangle 145">
            <a:extLst>
              <a:ext uri="{FF2B5EF4-FFF2-40B4-BE49-F238E27FC236}">
                <a16:creationId xmlns:a16="http://schemas.microsoft.com/office/drawing/2014/main" id="{9EE55B57-C5C5-709C-F04D-0D559FD67253}"/>
              </a:ext>
            </a:extLst>
          </p:cNvPr>
          <p:cNvSpPr>
            <a:spLocks noChangeArrowheads="1"/>
          </p:cNvSpPr>
          <p:nvPr/>
        </p:nvSpPr>
        <p:spPr bwMode="auto">
          <a:xfrm>
            <a:off x="7596188" y="3138488"/>
            <a:ext cx="2024062" cy="928687"/>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31" name="Object 146">
            <a:extLst>
              <a:ext uri="{FF2B5EF4-FFF2-40B4-BE49-F238E27FC236}">
                <a16:creationId xmlns:a16="http://schemas.microsoft.com/office/drawing/2014/main" id="{B7AC70EA-42BE-C407-6E38-9C6D339461D3}"/>
              </a:ext>
            </a:extLst>
          </p:cNvPr>
          <p:cNvGraphicFramePr>
            <a:graphicFrameLocks noChangeAspect="1"/>
          </p:cNvGraphicFramePr>
          <p:nvPr/>
        </p:nvGraphicFramePr>
        <p:xfrm>
          <a:off x="7648575" y="3181350"/>
          <a:ext cx="1919288" cy="885825"/>
        </p:xfrm>
        <a:graphic>
          <a:graphicData uri="http://schemas.openxmlformats.org/presentationml/2006/ole">
            <mc:AlternateContent>
              <mc:Choice xmlns:v="urn:schemas-microsoft-com:vml" Requires="v">
                <p:oleObj spid="_x0000_s1051" name="Chart" r:id="rId11" imgW="2819400" imgH="1422400" progId="MSGraph.Chart.8">
                  <p:embed/>
                </p:oleObj>
              </mc:Choice>
              <mc:Fallback>
                <p:oleObj name="Chart" r:id="rId11" imgW="2819400" imgH="1422400" progId="MSGraph.Chart.8">
                  <p:embed/>
                  <p:pic>
                    <p:nvPicPr>
                      <p:cNvPr id="0" name="OLE substitute image"/>
                      <p:cNvPicPr/>
                      <p:nvPr/>
                    </p:nvPicPr>
                    <p:blipFill>
                      <a:blip r:embed="rId12">
                        <a:extLst>
                          <a:ext uri="{28A0092B-C50C-407E-A947-70E740481C1C}">
                            <a14:useLocalDpi xmlns:a14="http://schemas.microsoft.com/office/drawing/2010/main" val="0"/>
                          </a:ext>
                        </a:extLst>
                      </a:blip>
                      <a:srcRect l="9576" t="14221" r="10001" b="6485"/>
                      <a:stretch>
                        <a:fillRect/>
                      </a:stretch>
                    </p:blipFill>
                    <p:spPr>
                      <a:xfrm>
                        <a:off x="7648575" y="3181350"/>
                        <a:ext cx="1919288" cy="885825"/>
                      </a:xfrm>
                      <a:prstGeom prst="rect">
                        <a:avLst/>
                      </a:prstGeom>
                      <a:noFill/>
                      <a:ln>
                        <a:noFill/>
                      </a:ln>
                      <a:effectLst/>
                    </p:spPr>
                  </p:pic>
                </p:oleObj>
              </mc:Fallback>
            </mc:AlternateContent>
          </a:graphicData>
        </a:graphic>
      </p:graphicFrame>
      <p:sp>
        <p:nvSpPr>
          <p:cNvPr id="68632" name="Rectangle 147">
            <a:extLst>
              <a:ext uri="{FF2B5EF4-FFF2-40B4-BE49-F238E27FC236}">
                <a16:creationId xmlns:a16="http://schemas.microsoft.com/office/drawing/2014/main" id="{D4A9A9ED-4B3D-A98C-39EB-F852441BB4CB}"/>
              </a:ext>
            </a:extLst>
          </p:cNvPr>
          <p:cNvSpPr>
            <a:spLocks noChangeArrowheads="1"/>
          </p:cNvSpPr>
          <p:nvPr/>
        </p:nvSpPr>
        <p:spPr bwMode="auto">
          <a:xfrm>
            <a:off x="7596188" y="2967038"/>
            <a:ext cx="2024062" cy="179387"/>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Japan</a:t>
            </a:r>
          </a:p>
        </p:txBody>
      </p:sp>
      <p:sp>
        <p:nvSpPr>
          <p:cNvPr id="68633" name="Oval 148">
            <a:extLst>
              <a:ext uri="{FF2B5EF4-FFF2-40B4-BE49-F238E27FC236}">
                <a16:creationId xmlns:a16="http://schemas.microsoft.com/office/drawing/2014/main" id="{B977944E-D209-B5E4-18F9-C4AE2111C18E}"/>
              </a:ext>
            </a:extLst>
          </p:cNvPr>
          <p:cNvSpPr>
            <a:spLocks noChangeArrowheads="1"/>
          </p:cNvSpPr>
          <p:nvPr/>
        </p:nvSpPr>
        <p:spPr bwMode="auto">
          <a:xfrm>
            <a:off x="6503988" y="3783013"/>
            <a:ext cx="271462" cy="252412"/>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9%</a:t>
            </a:r>
          </a:p>
        </p:txBody>
      </p:sp>
      <p:sp>
        <p:nvSpPr>
          <p:cNvPr id="68634" name="Rectangle 149">
            <a:extLst>
              <a:ext uri="{FF2B5EF4-FFF2-40B4-BE49-F238E27FC236}">
                <a16:creationId xmlns:a16="http://schemas.microsoft.com/office/drawing/2014/main" id="{FB598E72-EF31-EC71-2BF7-F92E0F9A4C82}"/>
              </a:ext>
            </a:extLst>
          </p:cNvPr>
          <p:cNvSpPr>
            <a:spLocks noChangeArrowheads="1"/>
          </p:cNvSpPr>
          <p:nvPr/>
        </p:nvSpPr>
        <p:spPr bwMode="auto">
          <a:xfrm>
            <a:off x="6884988" y="4583113"/>
            <a:ext cx="2024062" cy="920750"/>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35" name="Object 150">
            <a:extLst>
              <a:ext uri="{FF2B5EF4-FFF2-40B4-BE49-F238E27FC236}">
                <a16:creationId xmlns:a16="http://schemas.microsoft.com/office/drawing/2014/main" id="{4FC357F9-BAED-6F5C-21AC-D7F8B174E473}"/>
              </a:ext>
            </a:extLst>
          </p:cNvPr>
          <p:cNvGraphicFramePr>
            <a:graphicFrameLocks noChangeAspect="1"/>
          </p:cNvGraphicFramePr>
          <p:nvPr/>
        </p:nvGraphicFramePr>
        <p:xfrm>
          <a:off x="6926263" y="4619625"/>
          <a:ext cx="1939925" cy="885825"/>
        </p:xfrm>
        <a:graphic>
          <a:graphicData uri="http://schemas.openxmlformats.org/presentationml/2006/ole">
            <mc:AlternateContent>
              <mc:Choice xmlns:v="urn:schemas-microsoft-com:vml" Requires="v">
                <p:oleObj spid="_x0000_s1052" name="Chart" r:id="rId13" imgW="2844800" imgH="1422400" progId="MSGraph.Chart.8">
                  <p:embed/>
                </p:oleObj>
              </mc:Choice>
              <mc:Fallback>
                <p:oleObj name="Chart" r:id="rId13" imgW="2844800" imgH="1422400" progId="MSGraph.Chart.8">
                  <p:embed/>
                  <p:pic>
                    <p:nvPicPr>
                      <p:cNvPr id="0" name="OLE substitute image"/>
                      <p:cNvPicPr/>
                      <p:nvPr/>
                    </p:nvPicPr>
                    <p:blipFill>
                      <a:blip r:embed="rId14">
                        <a:extLst>
                          <a:ext uri="{28A0092B-C50C-407E-A947-70E740481C1C}">
                            <a14:useLocalDpi xmlns:a14="http://schemas.microsoft.com/office/drawing/2010/main" val="0"/>
                          </a:ext>
                        </a:extLst>
                      </a:blip>
                      <a:srcRect l="9576" t="14221" r="10001" b="6485"/>
                      <a:stretch>
                        <a:fillRect/>
                      </a:stretch>
                    </p:blipFill>
                    <p:spPr>
                      <a:xfrm>
                        <a:off x="6926263" y="4619625"/>
                        <a:ext cx="1939925" cy="885825"/>
                      </a:xfrm>
                      <a:prstGeom prst="rect">
                        <a:avLst/>
                      </a:prstGeom>
                      <a:noFill/>
                      <a:ln>
                        <a:noFill/>
                      </a:ln>
                      <a:effectLst/>
                    </p:spPr>
                  </p:pic>
                </p:oleObj>
              </mc:Fallback>
            </mc:AlternateContent>
          </a:graphicData>
        </a:graphic>
      </p:graphicFrame>
      <p:sp>
        <p:nvSpPr>
          <p:cNvPr id="68636" name="Rectangle 151">
            <a:extLst>
              <a:ext uri="{FF2B5EF4-FFF2-40B4-BE49-F238E27FC236}">
                <a16:creationId xmlns:a16="http://schemas.microsoft.com/office/drawing/2014/main" id="{801E066D-7483-C07D-CDF5-CBD7BDBF23F4}"/>
              </a:ext>
            </a:extLst>
          </p:cNvPr>
          <p:cNvSpPr>
            <a:spLocks noChangeArrowheads="1"/>
          </p:cNvSpPr>
          <p:nvPr/>
        </p:nvSpPr>
        <p:spPr bwMode="auto">
          <a:xfrm>
            <a:off x="6884988" y="4403725"/>
            <a:ext cx="2024062" cy="179388"/>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China</a:t>
            </a:r>
          </a:p>
        </p:txBody>
      </p:sp>
      <p:sp>
        <p:nvSpPr>
          <p:cNvPr id="68637" name="Oval 152">
            <a:extLst>
              <a:ext uri="{FF2B5EF4-FFF2-40B4-BE49-F238E27FC236}">
                <a16:creationId xmlns:a16="http://schemas.microsoft.com/office/drawing/2014/main" id="{CE699CAF-6C3A-DF30-939B-CB564E62187E}"/>
              </a:ext>
            </a:extLst>
          </p:cNvPr>
          <p:cNvSpPr>
            <a:spLocks noChangeAspect="1" noChangeArrowheads="1"/>
          </p:cNvSpPr>
          <p:nvPr/>
        </p:nvSpPr>
        <p:spPr bwMode="auto">
          <a:xfrm>
            <a:off x="5915025" y="3881438"/>
            <a:ext cx="215900" cy="200025"/>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7%</a:t>
            </a:r>
          </a:p>
        </p:txBody>
      </p:sp>
      <p:sp>
        <p:nvSpPr>
          <p:cNvPr id="68638" name="Rectangle 153">
            <a:extLst>
              <a:ext uri="{FF2B5EF4-FFF2-40B4-BE49-F238E27FC236}">
                <a16:creationId xmlns:a16="http://schemas.microsoft.com/office/drawing/2014/main" id="{E7A02024-1508-D60D-CDD2-ACB86465397D}"/>
              </a:ext>
            </a:extLst>
          </p:cNvPr>
          <p:cNvSpPr>
            <a:spLocks noChangeArrowheads="1"/>
          </p:cNvSpPr>
          <p:nvPr/>
        </p:nvSpPr>
        <p:spPr bwMode="auto">
          <a:xfrm>
            <a:off x="3986213" y="4841875"/>
            <a:ext cx="2024062" cy="920750"/>
          </a:xfrm>
          <a:prstGeom prst="rect">
            <a:avLst/>
          </a:prstGeom>
          <a:solidFill>
            <a:srgbClr val="FFFFFF">
              <a:alpha val="50195"/>
            </a:srgbClr>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68639" name="Object 154">
            <a:extLst>
              <a:ext uri="{FF2B5EF4-FFF2-40B4-BE49-F238E27FC236}">
                <a16:creationId xmlns:a16="http://schemas.microsoft.com/office/drawing/2014/main" id="{4FEA3EE1-4108-B6F4-398D-BBDA27F3EA8E}"/>
              </a:ext>
            </a:extLst>
          </p:cNvPr>
          <p:cNvGraphicFramePr>
            <a:graphicFrameLocks noChangeAspect="1"/>
          </p:cNvGraphicFramePr>
          <p:nvPr/>
        </p:nvGraphicFramePr>
        <p:xfrm>
          <a:off x="4029075" y="4876800"/>
          <a:ext cx="1939925" cy="885825"/>
        </p:xfrm>
        <a:graphic>
          <a:graphicData uri="http://schemas.openxmlformats.org/presentationml/2006/ole">
            <mc:AlternateContent>
              <mc:Choice xmlns:v="urn:schemas-microsoft-com:vml" Requires="v">
                <p:oleObj spid="_x0000_s1053" name="Chart" r:id="rId15" imgW="2844800" imgH="1422400" progId="MSGraph.Chart.8">
                  <p:embed/>
                </p:oleObj>
              </mc:Choice>
              <mc:Fallback>
                <p:oleObj name="Chart" r:id="rId15" imgW="2844800" imgH="1422400" progId="MSGraph.Chart.8">
                  <p:embed/>
                  <p:pic>
                    <p:nvPicPr>
                      <p:cNvPr id="0" name="OLE substitute image"/>
                      <p:cNvPicPr/>
                      <p:nvPr/>
                    </p:nvPicPr>
                    <p:blipFill>
                      <a:blip r:embed="rId16">
                        <a:extLst>
                          <a:ext uri="{28A0092B-C50C-407E-A947-70E740481C1C}">
                            <a14:useLocalDpi xmlns:a14="http://schemas.microsoft.com/office/drawing/2010/main" val="0"/>
                          </a:ext>
                        </a:extLst>
                      </a:blip>
                      <a:srcRect l="9576" t="14221" r="10001" b="6485"/>
                      <a:stretch>
                        <a:fillRect/>
                      </a:stretch>
                    </p:blipFill>
                    <p:spPr>
                      <a:xfrm>
                        <a:off x="4029075" y="4876800"/>
                        <a:ext cx="1939925" cy="885825"/>
                      </a:xfrm>
                      <a:prstGeom prst="rect">
                        <a:avLst/>
                      </a:prstGeom>
                      <a:noFill/>
                      <a:ln>
                        <a:noFill/>
                      </a:ln>
                      <a:effectLst/>
                    </p:spPr>
                  </p:pic>
                </p:oleObj>
              </mc:Fallback>
            </mc:AlternateContent>
          </a:graphicData>
        </a:graphic>
      </p:graphicFrame>
      <p:sp>
        <p:nvSpPr>
          <p:cNvPr id="68640" name="Rectangle 155">
            <a:extLst>
              <a:ext uri="{FF2B5EF4-FFF2-40B4-BE49-F238E27FC236}">
                <a16:creationId xmlns:a16="http://schemas.microsoft.com/office/drawing/2014/main" id="{D0DC4F26-0CA6-A20F-4EBB-2703A1F9D165}"/>
              </a:ext>
            </a:extLst>
          </p:cNvPr>
          <p:cNvSpPr>
            <a:spLocks noChangeArrowheads="1"/>
          </p:cNvSpPr>
          <p:nvPr/>
        </p:nvSpPr>
        <p:spPr bwMode="auto">
          <a:xfrm>
            <a:off x="3986213" y="4662488"/>
            <a:ext cx="2024062" cy="179387"/>
          </a:xfrm>
          <a:prstGeom prst="rect">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000">
                <a:latin typeface="HelveticaNeue Extended" charset="0"/>
                <a:ea typeface="굴림" panose="020b0600000101010101" pitchFamily="34" charset="-127"/>
              </a:rPr>
              <a:t>Asia &amp; Others</a:t>
            </a:r>
          </a:p>
        </p:txBody>
      </p:sp>
      <p:sp>
        <p:nvSpPr>
          <p:cNvPr id="68641" name="Oval 156">
            <a:extLst>
              <a:ext uri="{FF2B5EF4-FFF2-40B4-BE49-F238E27FC236}">
                <a16:creationId xmlns:a16="http://schemas.microsoft.com/office/drawing/2014/main" id="{91DAB9DE-FA5A-A002-2D97-FAF031ECF820}"/>
              </a:ext>
            </a:extLst>
          </p:cNvPr>
          <p:cNvSpPr>
            <a:spLocks noChangeAspect="1" noChangeArrowheads="1"/>
          </p:cNvSpPr>
          <p:nvPr/>
        </p:nvSpPr>
        <p:spPr bwMode="auto">
          <a:xfrm>
            <a:off x="5278438" y="4117975"/>
            <a:ext cx="309562" cy="285750"/>
          </a:xfrm>
          <a:prstGeom prst="ellipse">
            <a:avLst/>
          </a:prstGeom>
          <a:solidFill>
            <a:schemeClr val="accent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1000">
                <a:solidFill>
                  <a:schemeClr val="bg1"/>
                </a:solidFill>
                <a:latin typeface="HelveticaNeue Extended" charset="0"/>
                <a:ea typeface="굴림" panose="020b0600000101010101" pitchFamily="34" charset="-127"/>
              </a:rPr>
              <a:t>18%</a:t>
            </a:r>
          </a:p>
        </p:txBody>
      </p:sp>
      <p:cxnSp>
        <p:nvCxnSpPr>
          <p:cNvPr id="68642" name="AutoShape 157">
            <a:extLst>
              <a:ext uri="{FF2B5EF4-FFF2-40B4-BE49-F238E27FC236}">
                <a16:creationId xmlns:a16="http://schemas.microsoft.com/office/drawing/2014/main" id="{E9B2B0E7-F91C-B0FD-8ADD-8FA1107459B5}"/>
              </a:ext>
            </a:extLst>
          </p:cNvPr>
          <p:cNvCxnSpPr>
            <a:cxnSpLocks noChangeShapeType="1"/>
            <a:stCxn id="68614" idx="3"/>
            <a:endCxn id="68620" idx="0"/>
          </p:cNvCxnSpPr>
          <p:nvPr/>
        </p:nvCxnSpPr>
        <p:spPr bwMode="auto">
          <a:xfrm>
            <a:off x="2287588" y="3521075"/>
            <a:ext cx="498475" cy="122238"/>
          </a:xfrm>
          <a:prstGeom prst="bentConnector2">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3" name="AutoShape 158">
            <a:extLst>
              <a:ext uri="{FF2B5EF4-FFF2-40B4-BE49-F238E27FC236}">
                <a16:creationId xmlns:a16="http://schemas.microsoft.com/office/drawing/2014/main" id="{2143266C-7F03-088A-DF62-4EDD9DF00B9E}"/>
              </a:ext>
            </a:extLst>
          </p:cNvPr>
          <p:cNvCxnSpPr>
            <a:cxnSpLocks noChangeShapeType="1"/>
            <a:stCxn id="68617" idx="3"/>
            <a:endCxn id="68621" idx="4"/>
          </p:cNvCxnSpPr>
          <p:nvPr/>
        </p:nvCxnSpPr>
        <p:spPr bwMode="auto">
          <a:xfrm flipV="1">
            <a:off x="3070225" y="4906963"/>
            <a:ext cx="342900" cy="244475"/>
          </a:xfrm>
          <a:prstGeom prst="bentConnector2">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4" name="AutoShape 159">
            <a:extLst>
              <a:ext uri="{FF2B5EF4-FFF2-40B4-BE49-F238E27FC236}">
                <a16:creationId xmlns:a16="http://schemas.microsoft.com/office/drawing/2014/main" id="{3770AB9C-5A2A-B3FB-A9AF-4F76CD2751DE}"/>
              </a:ext>
            </a:extLst>
          </p:cNvPr>
          <p:cNvCxnSpPr>
            <a:cxnSpLocks noChangeShapeType="1"/>
            <a:stCxn id="68622" idx="2"/>
            <a:endCxn id="68625" idx="2"/>
          </p:cNvCxnSpPr>
          <p:nvPr/>
        </p:nvCxnSpPr>
        <p:spPr bwMode="auto">
          <a:xfrm rot="16200000" flipH="1">
            <a:off x="3617119" y="3412332"/>
            <a:ext cx="609600" cy="493712"/>
          </a:xfrm>
          <a:prstGeom prst="bentConnector2">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5" name="AutoShape 160">
            <a:extLst>
              <a:ext uri="{FF2B5EF4-FFF2-40B4-BE49-F238E27FC236}">
                <a16:creationId xmlns:a16="http://schemas.microsoft.com/office/drawing/2014/main" id="{386269BE-A807-11E9-A72B-8973A8514FC6}"/>
              </a:ext>
            </a:extLst>
          </p:cNvPr>
          <p:cNvCxnSpPr>
            <a:cxnSpLocks noChangeShapeType="1"/>
            <a:endCxn id="68626" idx="6"/>
          </p:cNvCxnSpPr>
          <p:nvPr/>
        </p:nvCxnSpPr>
        <p:spPr bwMode="auto">
          <a:xfrm rot="5400000">
            <a:off x="5161756" y="3123407"/>
            <a:ext cx="542925" cy="963612"/>
          </a:xfrm>
          <a:prstGeom prst="bentConnector2">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6" name="AutoShape 161">
            <a:extLst>
              <a:ext uri="{FF2B5EF4-FFF2-40B4-BE49-F238E27FC236}">
                <a16:creationId xmlns:a16="http://schemas.microsoft.com/office/drawing/2014/main" id="{738F4EEA-8AA1-CED9-BD49-5B9525DA38EB}"/>
              </a:ext>
            </a:extLst>
          </p:cNvPr>
          <p:cNvCxnSpPr>
            <a:cxnSpLocks noChangeShapeType="1"/>
            <a:stCxn id="68640" idx="0"/>
            <a:endCxn id="68641" idx="4"/>
          </p:cNvCxnSpPr>
          <p:nvPr/>
        </p:nvCxnSpPr>
        <p:spPr bwMode="auto">
          <a:xfrm rot="-5400000">
            <a:off x="5087144" y="4315619"/>
            <a:ext cx="258763" cy="434975"/>
          </a:xfrm>
          <a:prstGeom prst="bentConnector3">
            <a:avLst>
              <a:gd name="adj1" fmla="val 49694"/>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7" name="AutoShape 162">
            <a:extLst>
              <a:ext uri="{FF2B5EF4-FFF2-40B4-BE49-F238E27FC236}">
                <a16:creationId xmlns:a16="http://schemas.microsoft.com/office/drawing/2014/main" id="{E8243151-7562-0CC2-E70A-B8D51F051BAB}"/>
              </a:ext>
            </a:extLst>
          </p:cNvPr>
          <p:cNvCxnSpPr>
            <a:cxnSpLocks noChangeShapeType="1"/>
            <a:stCxn id="68636" idx="0"/>
            <a:endCxn id="68637" idx="4"/>
          </p:cNvCxnSpPr>
          <p:nvPr/>
        </p:nvCxnSpPr>
        <p:spPr bwMode="auto">
          <a:xfrm rot="5400000" flipH="1">
            <a:off x="6799263" y="3305175"/>
            <a:ext cx="322262" cy="1874838"/>
          </a:xfrm>
          <a:prstGeom prst="bentConnector3">
            <a:avLst>
              <a:gd name="adj1" fmla="val 49755"/>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8" name="AutoShape 163">
            <a:extLst>
              <a:ext uri="{FF2B5EF4-FFF2-40B4-BE49-F238E27FC236}">
                <a16:creationId xmlns:a16="http://schemas.microsoft.com/office/drawing/2014/main" id="{A1C6F20C-75A4-2F9D-5E7E-F326262BDD3D}"/>
              </a:ext>
            </a:extLst>
          </p:cNvPr>
          <p:cNvCxnSpPr>
            <a:cxnSpLocks noChangeShapeType="1"/>
            <a:stCxn id="68630" idx="1"/>
            <a:endCxn id="68633" idx="0"/>
          </p:cNvCxnSpPr>
          <p:nvPr/>
        </p:nvCxnSpPr>
        <p:spPr bwMode="auto">
          <a:xfrm rot="10800000" flipV="1">
            <a:off x="6640513" y="3603625"/>
            <a:ext cx="955675" cy="179388"/>
          </a:xfrm>
          <a:prstGeom prst="bentConnector2">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8649" name="Picture 164">
            <a:extLst>
              <a:ext uri="{FF2B5EF4-FFF2-40B4-BE49-F238E27FC236}">
                <a16:creationId xmlns:a16="http://schemas.microsoft.com/office/drawing/2014/main" id="{08BA2380-5678-5FF7-7B78-A136A9FC2B60}"/>
              </a:ext>
            </a:extLst>
          </p:cNvPr>
          <p:cNvPicPr>
            <a:picLocks noChangeAspect="1" noChangeArrowheads="1"/>
          </p:cNvPicPr>
          <p:nvPr/>
        </p:nvPicPr>
        <p:blipFill>
          <a:blip r:embed="rId17">
            <a:extLst>
              <a:ext uri="{28A0092B-C50C-407E-A947-70E740481C1C}">
                <a14:useLocalDpi xmlns:a14="http://schemas.microsoft.com/office/drawing/2010/main" val="0"/>
              </a:ext>
            </a:extLst>
          </a:blip>
          <a:stretch>
            <a:fillRect/>
          </a:stretch>
        </p:blipFill>
        <p:spPr bwMode="auto">
          <a:xfrm>
            <a:off x="8916988" y="161925"/>
            <a:ext cx="744537"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50" name="Oval 165">
            <a:extLst>
              <a:ext uri="{FF2B5EF4-FFF2-40B4-BE49-F238E27FC236}">
                <a16:creationId xmlns:a16="http://schemas.microsoft.com/office/drawing/2014/main" id="{EF7776A7-49EE-7DC9-948E-31084568CD87}"/>
              </a:ext>
            </a:extLst>
          </p:cNvPr>
          <p:cNvSpPr>
            <a:spLocks noChangeArrowheads="1"/>
          </p:cNvSpPr>
          <p:nvPr/>
        </p:nvSpPr>
        <p:spPr bwMode="auto">
          <a:xfrm>
            <a:off x="860425" y="3121025"/>
            <a:ext cx="830263" cy="147638"/>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+1% p.a.</a:t>
            </a:r>
          </a:p>
        </p:txBody>
      </p:sp>
      <p:sp>
        <p:nvSpPr>
          <p:cNvPr id="68651" name="Oval 166">
            <a:extLst>
              <a:ext uri="{FF2B5EF4-FFF2-40B4-BE49-F238E27FC236}">
                <a16:creationId xmlns:a16="http://schemas.microsoft.com/office/drawing/2014/main" id="{037DE456-44C2-5C24-D61A-F09C716AC076}"/>
              </a:ext>
            </a:extLst>
          </p:cNvPr>
          <p:cNvSpPr>
            <a:spLocks noChangeArrowheads="1"/>
          </p:cNvSpPr>
          <p:nvPr/>
        </p:nvSpPr>
        <p:spPr bwMode="auto">
          <a:xfrm>
            <a:off x="1643063" y="4856163"/>
            <a:ext cx="830262" cy="1492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+8% p.a.</a:t>
            </a:r>
          </a:p>
        </p:txBody>
      </p:sp>
      <p:sp>
        <p:nvSpPr>
          <p:cNvPr id="68652" name="Oval 167">
            <a:extLst>
              <a:ext uri="{FF2B5EF4-FFF2-40B4-BE49-F238E27FC236}">
                <a16:creationId xmlns:a16="http://schemas.microsoft.com/office/drawing/2014/main" id="{30BAF529-26F2-22B5-D69D-8A22CA0131F4}"/>
              </a:ext>
            </a:extLst>
          </p:cNvPr>
          <p:cNvSpPr>
            <a:spLocks noChangeArrowheads="1"/>
          </p:cNvSpPr>
          <p:nvPr/>
        </p:nvSpPr>
        <p:spPr bwMode="auto">
          <a:xfrm>
            <a:off x="3259138" y="2505075"/>
            <a:ext cx="830262" cy="147638"/>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-0.2% p.a.</a:t>
            </a:r>
          </a:p>
        </p:txBody>
      </p:sp>
      <p:sp>
        <p:nvSpPr>
          <p:cNvPr id="68653" name="Oval 168">
            <a:extLst>
              <a:ext uri="{FF2B5EF4-FFF2-40B4-BE49-F238E27FC236}">
                <a16:creationId xmlns:a16="http://schemas.microsoft.com/office/drawing/2014/main" id="{8B1DAFAE-FFD1-95AD-FCE8-BA4A2E9184AB}"/>
              </a:ext>
            </a:extLst>
          </p:cNvPr>
          <p:cNvSpPr>
            <a:spLocks noChangeArrowheads="1"/>
          </p:cNvSpPr>
          <p:nvPr/>
        </p:nvSpPr>
        <p:spPr bwMode="auto">
          <a:xfrm>
            <a:off x="5497513" y="2663825"/>
            <a:ext cx="831850" cy="1492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+6% p.a.</a:t>
            </a:r>
          </a:p>
        </p:txBody>
      </p:sp>
      <p:sp>
        <p:nvSpPr>
          <p:cNvPr id="68654" name="Oval 169">
            <a:extLst>
              <a:ext uri="{FF2B5EF4-FFF2-40B4-BE49-F238E27FC236}">
                <a16:creationId xmlns:a16="http://schemas.microsoft.com/office/drawing/2014/main" id="{EBC37681-AF3D-1D8F-7903-044966BFEB84}"/>
              </a:ext>
            </a:extLst>
          </p:cNvPr>
          <p:cNvSpPr>
            <a:spLocks noChangeArrowheads="1"/>
          </p:cNvSpPr>
          <p:nvPr/>
        </p:nvSpPr>
        <p:spPr bwMode="auto">
          <a:xfrm>
            <a:off x="8193088" y="3305175"/>
            <a:ext cx="830262" cy="1492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+1% p.a.</a:t>
            </a:r>
          </a:p>
        </p:txBody>
      </p:sp>
      <p:sp>
        <p:nvSpPr>
          <p:cNvPr id="68655" name="Oval 170">
            <a:extLst>
              <a:ext uri="{FF2B5EF4-FFF2-40B4-BE49-F238E27FC236}">
                <a16:creationId xmlns:a16="http://schemas.microsoft.com/office/drawing/2014/main" id="{710A3AFE-7C7A-9EB4-ACF2-8C6EB6DE390C}"/>
              </a:ext>
            </a:extLst>
          </p:cNvPr>
          <p:cNvSpPr>
            <a:spLocks noChangeArrowheads="1"/>
          </p:cNvSpPr>
          <p:nvPr/>
        </p:nvSpPr>
        <p:spPr bwMode="auto">
          <a:xfrm>
            <a:off x="7481888" y="4819650"/>
            <a:ext cx="830262" cy="147638"/>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+8% p.a.</a:t>
            </a:r>
          </a:p>
        </p:txBody>
      </p:sp>
      <p:sp>
        <p:nvSpPr>
          <p:cNvPr id="68656" name="Oval 171">
            <a:extLst>
              <a:ext uri="{FF2B5EF4-FFF2-40B4-BE49-F238E27FC236}">
                <a16:creationId xmlns:a16="http://schemas.microsoft.com/office/drawing/2014/main" id="{C892A96A-1711-3507-2412-635D77788FAC}"/>
              </a:ext>
            </a:extLst>
          </p:cNvPr>
          <p:cNvSpPr>
            <a:spLocks noChangeArrowheads="1"/>
          </p:cNvSpPr>
          <p:nvPr/>
        </p:nvSpPr>
        <p:spPr bwMode="auto">
          <a:xfrm>
            <a:off x="4583113" y="5002213"/>
            <a:ext cx="830262" cy="1476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0000"/>
              </a:lnSpc>
              <a:spcBef>
                <a:spcPct val="0"/>
              </a:spcBef>
              <a:buFontTx/>
              <a:buNone/>
            </a:pPr>
            <a:r>
              <a:rPr lang="en-US" altLang="ko-KR" sz="800" i="1">
                <a:solidFill>
                  <a:schemeClr val="bg1"/>
                </a:solidFill>
                <a:latin typeface="HelveticaNeue Extended" charset="0"/>
                <a:ea typeface="굴림" panose="020b0600000101010101" pitchFamily="34" charset="-127"/>
              </a:rPr>
              <a:t>+6% p.a.</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70657" name="Rectangle 2">
            <a:extLst>
              <a:ext uri="{FF2B5EF4-FFF2-40B4-BE49-F238E27FC236}">
                <a16:creationId xmlns:a16="http://schemas.microsoft.com/office/drawing/2014/main" id="{F8D27EA8-AEF8-A496-DDBA-2F5687F373C9}"/>
              </a:ext>
            </a:extLst>
          </p:cNvPr>
          <p:cNvSpPr>
            <a:spLocks noChangeArrowheads="1"/>
          </p:cNvSpPr>
          <p:nvPr/>
        </p:nvSpPr>
        <p:spPr bwMode="gray">
          <a:xfrm>
            <a:off x="265113" y="1614488"/>
            <a:ext cx="8451850"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solidFill>
                  <a:srgbClr val="000000"/>
                </a:solidFill>
                <a:ea typeface="굴림" panose="020b0600000101010101" pitchFamily="34" charset="-127"/>
              </a:rPr>
              <a:t>Aluminum Die Castings in Automotive (Internal Combustion Engines)</a:t>
            </a:r>
            <a:br>
              <a:rPr lang="en-US" altLang="ko-KR" sz="1800">
                <a:solidFill>
                  <a:srgbClr val="000000"/>
                </a:solidFill>
                <a:ea typeface="굴림" panose="020b0600000101010101" pitchFamily="34" charset="-127"/>
              </a:rPr>
            </a:br>
            <a:r>
              <a:rPr lang="en-US" altLang="ko-KR" sz="1800" b="0">
                <a:solidFill>
                  <a:srgbClr val="000000"/>
                </a:solidFill>
                <a:ea typeface="굴림" panose="020b0600000101010101" pitchFamily="34" charset="-127"/>
              </a:rPr>
              <a:t>European Geographic Regions Ranked by Growth 2021-2030</a:t>
            </a:r>
            <a:r>
              <a:rPr lang="en-US" altLang="ko-KR" sz="1800" b="0" baseline="30000">
                <a:solidFill>
                  <a:srgbClr val="000000"/>
                </a:solidFill>
                <a:ea typeface="굴림" panose="020b0600000101010101" pitchFamily="34" charset="-127"/>
              </a:rPr>
              <a:t>1)</a:t>
            </a:r>
          </a:p>
        </p:txBody>
      </p:sp>
      <p:sp>
        <p:nvSpPr>
          <p:cNvPr id="70658" name="Rectangle 3">
            <a:extLst>
              <a:ext uri="{FF2B5EF4-FFF2-40B4-BE49-F238E27FC236}">
                <a16:creationId xmlns:a16="http://schemas.microsoft.com/office/drawing/2014/main" id="{43DC0C39-46B1-40F1-C923-F022F008D365}"/>
              </a:ext>
            </a:extLst>
          </p:cNvPr>
          <p:cNvSpPr>
            <a:spLocks noGrp="1" noChangeArrowheads="1"/>
          </p:cNvSpPr>
          <p:nvPr>
            <p:ph type="title"/>
          </p:nvPr>
        </p:nvSpPr>
        <p:spPr>
          <a:xfrm>
            <a:off x="266700" y="596900"/>
            <a:ext cx="9367838" cy="609600"/>
          </a:xfrm>
        </p:spPr>
        <p:txBody>
          <a:bodyPr/>
          <a:lstStyle/>
          <a:p>
            <a:r>
              <a:rPr lang="en-US" altLang="ko-KR">
                <a:ea typeface="굴림" panose="020b0600000101010101" pitchFamily="34" charset="-127"/>
              </a:rPr>
              <a:t>Spain, UK and Italy are expected to have the highest aluminum die casting volume CAGRs</a:t>
            </a:r>
          </a:p>
        </p:txBody>
      </p:sp>
      <p:graphicFrame>
        <p:nvGraphicFramePr>
          <p:cNvPr id="70659" name="Object 4">
            <a:extLst>
              <a:ext uri="{FF2B5EF4-FFF2-40B4-BE49-F238E27FC236}">
                <a16:creationId xmlns:a16="http://schemas.microsoft.com/office/drawing/2014/main" id="{B28CF46B-E1B0-63FE-31D4-AA45FEEA1E52}"/>
              </a:ext>
            </a:extLst>
          </p:cNvPr>
          <p:cNvGraphicFramePr/>
          <p:nvPr/>
        </p:nvGraphicFramePr>
        <p:xfrm>
          <a:off x="188913" y="2708275"/>
          <a:ext cx="5273675" cy="3457575"/>
        </p:xfrm>
        <a:graphic>
          <a:graphicData uri="http://schemas.openxmlformats.org/presentationml/2006/ole">
            <mc:AlternateContent>
              <mc:Choice xmlns:v="urn:schemas-microsoft-com:vml" Requires="v">
                <p:oleObj spid="_x0000_s1054" name="Chart" r:id="rId3" imgW="4876800" imgH="3467100" progId="MSGraph.Chart.8">
                  <p:embed/>
                </p:oleObj>
              </mc:Choice>
              <mc:Fallback>
                <p:oleObj name="Chart" r:id="rId3" imgW="4876800" imgH="3467100" progId="MSGraph.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188913" y="2708275"/>
                        <a:ext cx="5273675" cy="3457575"/>
                      </a:xfrm>
                      <a:prstGeom prst="rect">
                        <a:avLst/>
                      </a:prstGeom>
                      <a:noFill/>
                      <a:ln>
                        <a:noFill/>
                      </a:ln>
                      <a:effectLst/>
                    </p:spPr>
                  </p:pic>
                </p:oleObj>
              </mc:Fallback>
            </mc:AlternateContent>
          </a:graphicData>
        </a:graphic>
      </p:graphicFrame>
      <p:sp>
        <p:nvSpPr>
          <p:cNvPr id="70660" name="Line 5">
            <a:extLst>
              <a:ext uri="{FF2B5EF4-FFF2-40B4-BE49-F238E27FC236}">
                <a16:creationId xmlns:a16="http://schemas.microsoft.com/office/drawing/2014/main" id="{30CBF7C4-3C05-A7C5-08E6-0A989F9D895E}"/>
              </a:ext>
            </a:extLst>
          </p:cNvPr>
          <p:cNvSpPr>
            <a:spLocks noChangeShapeType="1"/>
          </p:cNvSpPr>
          <p:nvPr/>
        </p:nvSpPr>
        <p:spPr bwMode="auto">
          <a:xfrm flipH="1">
            <a:off x="3754438" y="3100388"/>
            <a:ext cx="0" cy="1863725"/>
          </a:xfrm>
          <a:prstGeom prst="line">
            <a:avLst/>
          </a:prstGeom>
          <a:noFill/>
          <a:ln w="19050">
            <a:solidFill>
              <a:schemeClr val="bg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0661" name="Text Box 6">
            <a:extLst>
              <a:ext uri="{FF2B5EF4-FFF2-40B4-BE49-F238E27FC236}">
                <a16:creationId xmlns:a16="http://schemas.microsoft.com/office/drawing/2014/main" id="{49BF9B04-1A6C-2491-65F6-823599060506}"/>
              </a:ext>
            </a:extLst>
          </p:cNvPr>
          <p:cNvSpPr txBox="1">
            <a:spLocks noChangeArrowheads="1"/>
          </p:cNvSpPr>
          <p:nvPr/>
        </p:nvSpPr>
        <p:spPr bwMode="auto">
          <a:xfrm>
            <a:off x="3236913" y="2755900"/>
            <a:ext cx="1014412" cy="284163"/>
          </a:xfrm>
          <a:prstGeom prst="rect">
            <a:avLst/>
          </a:prstGeom>
          <a:noFill/>
          <a:ln w="19050" algn="ctr">
            <a:solidFill>
              <a:schemeClr val="bg2"/>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i="1">
                <a:solidFill>
                  <a:schemeClr val="bg2"/>
                </a:solidFill>
                <a:latin typeface="HelveticaNeue Extended" charset="0"/>
                <a:ea typeface="굴림" panose="020b0600000101010101" pitchFamily="34" charset="-127"/>
              </a:rPr>
              <a:t>Ø = 4.68%</a:t>
            </a:r>
          </a:p>
        </p:txBody>
      </p:sp>
      <p:sp>
        <p:nvSpPr>
          <p:cNvPr id="70662" name="AutoShape 7">
            <a:extLst>
              <a:ext uri="{FF2B5EF4-FFF2-40B4-BE49-F238E27FC236}">
                <a16:creationId xmlns:a16="http://schemas.microsoft.com/office/drawing/2014/main" id="{EE01A8E1-ACFE-42F4-D224-B2F1813A520D}"/>
              </a:ext>
            </a:extLst>
          </p:cNvPr>
          <p:cNvSpPr>
            <a:spLocks noChangeArrowheads="1"/>
          </p:cNvSpPr>
          <p:nvPr/>
        </p:nvSpPr>
        <p:spPr bwMode="auto">
          <a:xfrm rot="5400000">
            <a:off x="4433094" y="4326731"/>
            <a:ext cx="2505075" cy="347663"/>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nb-NO" altLang="ko-KR" sz="1400" b="0">
              <a:latin typeface="HelveticaNeue Extended" charset="0"/>
              <a:ea typeface="가는각진제목체" panose="02030600000101010101" pitchFamily="18" charset="-127"/>
            </a:endParaRPr>
          </a:p>
        </p:txBody>
      </p:sp>
      <p:sp>
        <p:nvSpPr>
          <p:cNvPr id="70663" name="Text Box 8">
            <a:extLst>
              <a:ext uri="{FF2B5EF4-FFF2-40B4-BE49-F238E27FC236}">
                <a16:creationId xmlns:a16="http://schemas.microsoft.com/office/drawing/2014/main" id="{BCC1C581-6B58-EA67-F006-81C6FBF89BE5}"/>
              </a:ext>
            </a:extLst>
          </p:cNvPr>
          <p:cNvSpPr txBox="1">
            <a:spLocks noChangeArrowheads="1"/>
          </p:cNvSpPr>
          <p:nvPr/>
        </p:nvSpPr>
        <p:spPr bwMode="auto">
          <a:xfrm>
            <a:off x="6032500" y="2744788"/>
            <a:ext cx="3475038" cy="360362"/>
          </a:xfrm>
          <a:prstGeom prst="rect">
            <a:avLst/>
          </a:prstGeom>
          <a:solidFill>
            <a:srgbClr val="0070C0"/>
          </a:solidFill>
          <a:ln w="12700" algn="ctr">
            <a:solidFill>
              <a:schemeClr val="tx1"/>
            </a:solidFill>
            <a:miter lim="800000"/>
          </a:ln>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a:solidFill>
                  <a:schemeClr val="bg1"/>
                </a:solidFill>
                <a:latin typeface="HelveticaNeue Extended" charset="0"/>
                <a:ea typeface="굴림" panose="020b0600000101010101" pitchFamily="34" charset="-127"/>
              </a:rPr>
              <a:t>Key findings</a:t>
            </a:r>
          </a:p>
        </p:txBody>
      </p:sp>
      <p:sp>
        <p:nvSpPr>
          <p:cNvPr id="70664" name="Text Box 9">
            <a:extLst>
              <a:ext uri="{FF2B5EF4-FFF2-40B4-BE49-F238E27FC236}">
                <a16:creationId xmlns:a16="http://schemas.microsoft.com/office/drawing/2014/main" id="{E35B0C95-D8B8-BA19-5356-2410628E7588}"/>
              </a:ext>
            </a:extLst>
          </p:cNvPr>
          <p:cNvSpPr txBox="1">
            <a:spLocks noChangeArrowheads="1"/>
          </p:cNvSpPr>
          <p:nvPr/>
        </p:nvSpPr>
        <p:spPr bwMode="auto">
          <a:xfrm>
            <a:off x="6032500" y="3100388"/>
            <a:ext cx="3475038" cy="2851150"/>
          </a:xfrm>
          <a:prstGeom prst="rect">
            <a:avLst/>
          </a:prstGeom>
          <a:solidFill>
            <a:srgbClr val="EAEAEA"/>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marL="152400" indent="-152400"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47675" indent="-293688"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98500" indent="-249238"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22338"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160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73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304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587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44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50000"/>
              </a:spcBef>
              <a:buFontTx/>
              <a:buChar char="•"/>
            </a:pPr>
            <a:r>
              <a:rPr lang="en-US" altLang="ko-KR" sz="1400" b="0">
                <a:latin typeface="HelveticaNeue Extended" charset="0"/>
                <a:ea typeface="굴림" panose="020b0600000101010101" pitchFamily="34" charset="-127"/>
              </a:rPr>
              <a:t>Average European CAGR 2021-2030 is expected to be 4.68%</a:t>
            </a:r>
          </a:p>
          <a:p>
            <a:pPr>
              <a:spcBef>
                <a:spcPct val="50000"/>
              </a:spcBef>
              <a:buFontTx/>
              <a:buChar char="•"/>
            </a:pPr>
            <a:r>
              <a:rPr lang="en-US" altLang="ko-KR" sz="1400" b="0">
                <a:latin typeface="HelveticaNeue Extended" charset="0"/>
                <a:ea typeface="굴림" panose="020b0600000101010101" pitchFamily="34" charset="-127"/>
              </a:rPr>
              <a:t>Spain is expected to have the highest growth with CAGR of 5.18%, followed by UK (5.08%) and Italy (4.85%)</a:t>
            </a:r>
          </a:p>
          <a:p>
            <a:pPr>
              <a:spcBef>
                <a:spcPct val="50000"/>
              </a:spcBef>
              <a:buFontTx/>
              <a:buChar char="•"/>
            </a:pPr>
            <a:r>
              <a:rPr lang="en-US" altLang="ko-KR" sz="1400" b="0">
                <a:latin typeface="HelveticaNeue Extended" charset="0"/>
                <a:ea typeface="굴림" panose="020b0600000101010101" pitchFamily="34" charset="-127"/>
              </a:rPr>
              <a:t>France (4.50%) and Germany (4.35%) are expected to have lower CAGRs than the European average</a:t>
            </a:r>
          </a:p>
          <a:p>
            <a:pPr>
              <a:spcBef>
                <a:spcPct val="50000"/>
              </a:spcBef>
              <a:buFontTx/>
              <a:buChar char="•"/>
            </a:pPr>
            <a:r>
              <a:rPr lang="en-US" altLang="ko-KR" sz="1400" b="0">
                <a:latin typeface="HelveticaNeue Extended" charset="0"/>
                <a:ea typeface="굴림" panose="020b0600000101010101" pitchFamily="34" charset="-127"/>
              </a:rPr>
              <a:t>The spread in CAGR between various European countries is not large</a:t>
            </a:r>
          </a:p>
        </p:txBody>
      </p:sp>
      <p:sp>
        <p:nvSpPr>
          <p:cNvPr id="70665" name="Rectangle 10">
            <a:extLst>
              <a:ext uri="{FF2B5EF4-FFF2-40B4-BE49-F238E27FC236}">
                <a16:creationId xmlns:a16="http://schemas.microsoft.com/office/drawing/2014/main" id="{2C416CDC-49C1-6627-0F4C-45DA0358147D}"/>
              </a:ext>
            </a:extLst>
          </p:cNvPr>
          <p:cNvSpPr>
            <a:spLocks noChangeArrowheads="1"/>
          </p:cNvSpPr>
          <p:nvPr/>
        </p:nvSpPr>
        <p:spPr bwMode="auto">
          <a:xfrm>
            <a:off x="265113" y="6470650"/>
            <a:ext cx="7018337"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714375" indent="-714375">
              <a:lnSpc>
                <a:spcPct val="90000"/>
              </a:lnSpc>
              <a:spcBef>
                <a:spcPct val="90000"/>
              </a:spcBef>
              <a:buClr>
                <a:schemeClr val="bg2"/>
              </a:buClr>
              <a:buFont typeface="Wingdings" pitchFamily="2" charset="2"/>
              <a:buChar char="n"/>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989013" indent="-190500">
              <a:lnSpc>
                <a:spcPct val="90000"/>
              </a:lnSpc>
              <a:spcBef>
                <a:spcPct val="50000"/>
              </a:spcBef>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68400" indent="-163513">
              <a:lnSpc>
                <a:spcPct val="90000"/>
              </a:lnSpc>
              <a:spcBef>
                <a:spcPct val="30000"/>
              </a:spcBef>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tabLst>
                <a:tab pos="542925"/>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000" b="0">
                <a:ea typeface="굴림" panose="020b0600000101010101" pitchFamily="34" charset="-127"/>
              </a:rPr>
              <a:t>Notes:	1)	Automotive refers to light vehicles (passenger cars and light trucks)</a:t>
            </a:r>
          </a:p>
          <a:p>
            <a:pPr>
              <a:spcBef>
                <a:spcPct val="0"/>
              </a:spcBef>
              <a:buClrTx/>
              <a:buFontTx/>
              <a:buNone/>
            </a:pPr>
            <a:r>
              <a:rPr lang="en-US" altLang="ko-KR" sz="1000" b="0">
                <a:ea typeface="굴림" panose="020b0600000101010101" pitchFamily="34" charset="-127"/>
              </a:rPr>
              <a:t>Source:	Global Industry Analysts Inc.</a:t>
            </a:r>
          </a:p>
        </p:txBody>
      </p:sp>
      <p:sp>
        <p:nvSpPr>
          <p:cNvPr id="70666" name="Line 11">
            <a:extLst>
              <a:ext uri="{FF2B5EF4-FFF2-40B4-BE49-F238E27FC236}">
                <a16:creationId xmlns:a16="http://schemas.microsoft.com/office/drawing/2014/main" id="{B1F8B095-7285-9852-05A2-08637CBA74D5}"/>
              </a:ext>
            </a:extLst>
          </p:cNvPr>
          <p:cNvSpPr>
            <a:spLocks noChangeShapeType="1"/>
          </p:cNvSpPr>
          <p:nvPr/>
        </p:nvSpPr>
        <p:spPr bwMode="auto">
          <a:xfrm flipH="1">
            <a:off x="3754438" y="5276850"/>
            <a:ext cx="0" cy="619125"/>
          </a:xfrm>
          <a:prstGeom prst="line">
            <a:avLst/>
          </a:prstGeom>
          <a:noFill/>
          <a:ln w="19050">
            <a:solidFill>
              <a:schemeClr val="bg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72705" name="Rectangle 2">
            <a:extLst>
              <a:ext uri="{FF2B5EF4-FFF2-40B4-BE49-F238E27FC236}">
                <a16:creationId xmlns:a16="http://schemas.microsoft.com/office/drawing/2014/main" id="{6E147499-DF76-F2D5-DD1F-706AEFB824FB}"/>
              </a:ext>
            </a:extLst>
          </p:cNvPr>
          <p:cNvSpPr>
            <a:spLocks noChangeArrowheads="1"/>
          </p:cNvSpPr>
          <p:nvPr>
            <p:custDataLst>
              <p:tags r:id="rId3"/>
            </p:custDataLst>
          </p:nvPr>
        </p:nvSpPr>
        <p:spPr bwMode="gray">
          <a:xfrm>
            <a:off x="265113" y="6334125"/>
            <a:ext cx="7018337"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ClrTx/>
              <a:buFontTx/>
              <a:buNone/>
            </a:pPr>
            <a:r>
              <a:rPr lang="en-US" altLang="ko-KR" sz="1000" b="0">
                <a:ea typeface="굴림" panose="020b0600000101010101" pitchFamily="34" charset="-127"/>
              </a:rPr>
              <a:t>Source: project team analysis</a:t>
            </a:r>
          </a:p>
          <a:p>
            <a:pPr eaLnBrk="1" hangingPunct="1">
              <a:spcBef>
                <a:spcPct val="0"/>
              </a:spcBef>
              <a:buClrTx/>
              <a:buFontTx/>
              <a:buNone/>
            </a:pPr>
            <a:r>
              <a:rPr lang="en-US" altLang="ko-KR" sz="1000" b="0">
                <a:ea typeface="굴림" panose="020b0600000101010101" pitchFamily="34" charset="-127"/>
              </a:rPr>
              <a:t>1) Difference between factual market and theoretically addressable market due to failures of market participants and not identified potentials </a:t>
            </a:r>
          </a:p>
        </p:txBody>
      </p:sp>
      <p:sp>
        <p:nvSpPr>
          <p:cNvPr id="72706" name="Rectangle 3">
            <a:extLst>
              <a:ext uri="{FF2B5EF4-FFF2-40B4-BE49-F238E27FC236}">
                <a16:creationId xmlns:a16="http://schemas.microsoft.com/office/drawing/2014/main" id="{087E98B9-9453-7E1B-54E5-609227BA366C}"/>
              </a:ext>
            </a:extLst>
          </p:cNvPr>
          <p:cNvSpPr>
            <a:spLocks noGrp="1" noChangeArrowheads="1"/>
          </p:cNvSpPr>
          <p:nvPr>
            <p:ph type="title"/>
          </p:nvPr>
        </p:nvSpPr>
        <p:spPr>
          <a:xfrm>
            <a:off x="266700" y="596900"/>
            <a:ext cx="9367838" cy="657225"/>
          </a:xfrm>
        </p:spPr>
        <p:txBody>
          <a:bodyPr/>
          <a:lstStyle/>
          <a:p>
            <a:r>
              <a:rPr lang="en-US" altLang="ko-KR">
                <a:ea typeface="굴림" panose="020b0600000101010101" pitchFamily="34" charset="-127"/>
              </a:rPr>
              <a:t>Analogous to the U.S. market a SaaS maturation time of about 10 years has to be assumed for Germany.</a:t>
            </a:r>
          </a:p>
        </p:txBody>
      </p:sp>
      <p:sp>
        <p:nvSpPr>
          <p:cNvPr id="72707" name="Rectangle 4">
            <a:extLst>
              <a:ext uri="{FF2B5EF4-FFF2-40B4-BE49-F238E27FC236}">
                <a16:creationId xmlns:a16="http://schemas.microsoft.com/office/drawing/2014/main" id="{69E4E542-A99B-D0A1-46FA-AE5FAEF3CB38}"/>
              </a:ext>
            </a:extLst>
          </p:cNvPr>
          <p:cNvSpPr>
            <a:spLocks noChangeArrowheads="1"/>
          </p:cNvSpPr>
          <p:nvPr/>
        </p:nvSpPr>
        <p:spPr bwMode="gray">
          <a:xfrm>
            <a:off x="857250" y="2219325"/>
            <a:ext cx="3478213"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1400">
                <a:ea typeface="굴림" panose="020b0600000101010101" pitchFamily="34" charset="-127"/>
              </a:rPr>
              <a:t>Derived market maturity curve</a:t>
            </a:r>
            <a:br>
              <a:rPr lang="en-US" altLang="ko-KR" sz="1400">
                <a:ea typeface="굴림" panose="020b0600000101010101" pitchFamily="34" charset="-127"/>
              </a:rPr>
            </a:br>
            <a:r>
              <a:rPr lang="en-US" altLang="ko-KR" sz="1400">
                <a:ea typeface="굴림" panose="020b0600000101010101" pitchFamily="34" charset="-127"/>
              </a:rPr>
              <a:t> (US)</a:t>
            </a:r>
          </a:p>
        </p:txBody>
      </p:sp>
      <p:sp>
        <p:nvSpPr>
          <p:cNvPr id="72708" name="Rectangle 5">
            <a:extLst>
              <a:ext uri="{FF2B5EF4-FFF2-40B4-BE49-F238E27FC236}">
                <a16:creationId xmlns:a16="http://schemas.microsoft.com/office/drawing/2014/main" id="{2584206D-BC6D-75E5-EFF0-D4B0A69C4CBA}"/>
              </a:ext>
            </a:extLst>
          </p:cNvPr>
          <p:cNvSpPr>
            <a:spLocks noChangeArrowheads="1"/>
          </p:cNvSpPr>
          <p:nvPr/>
        </p:nvSpPr>
        <p:spPr bwMode="gray">
          <a:xfrm>
            <a:off x="265113" y="5568950"/>
            <a:ext cx="9369425" cy="698500"/>
          </a:xfrm>
          <a:prstGeom prst="rect">
            <a:avLst/>
          </a:prstGeom>
          <a:solidFill>
            <a:srgbClr val="0070C0"/>
          </a:solidFill>
          <a:ln w="12700">
            <a:solidFill>
              <a:srgbClr val="0070C0"/>
            </a:solidFill>
            <a:miter lim="800000"/>
          </a:ln>
        </p:spPr>
        <p:txBody>
          <a:bodyPr lIns="72009" tIns="72009" rIns="72009" bIns="72009" anchor="b" anchorCtr="1">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ClrTx/>
              <a:buFontTx/>
              <a:buNone/>
            </a:pPr>
            <a:r>
              <a:rPr lang="en-US" altLang="ko-KR" sz="1400">
                <a:solidFill>
                  <a:schemeClr val="bg1"/>
                </a:solidFill>
                <a:ea typeface="굴림" panose="020b0600000101010101" pitchFamily="34" charset="-127"/>
              </a:rPr>
              <a:t>Reasons for S-Curve market maturation are especially license and depreciation cycles of software, crossing the chasm periods (between early adopters and mainstream), broadband penetration in the VSE segment, and the progression of market cultivation</a:t>
            </a:r>
          </a:p>
        </p:txBody>
      </p:sp>
      <p:sp>
        <p:nvSpPr>
          <p:cNvPr id="72709" name="Rectangle 6">
            <a:extLst>
              <a:ext uri="{FF2B5EF4-FFF2-40B4-BE49-F238E27FC236}">
                <a16:creationId xmlns:a16="http://schemas.microsoft.com/office/drawing/2014/main" id="{B8831CCF-5AA9-212D-DC54-FC035AFFF272}"/>
              </a:ext>
            </a:extLst>
          </p:cNvPr>
          <p:cNvSpPr>
            <a:spLocks noChangeArrowheads="1"/>
          </p:cNvSpPr>
          <p:nvPr>
            <p:custDataLst>
              <p:tags r:id="rId4"/>
            </p:custDataLst>
          </p:nvPr>
        </p:nvSpPr>
        <p:spPr bwMode="gray">
          <a:xfrm>
            <a:off x="265113" y="1849438"/>
            <a:ext cx="765333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ClrTx/>
              <a:buFontTx/>
              <a:buNone/>
            </a:pPr>
            <a:r>
              <a:rPr lang="en-US" altLang="ko-KR" sz="1800">
                <a:ea typeface="굴림" panose="020b0600000101010101" pitchFamily="34" charset="-127"/>
              </a:rPr>
              <a:t>Market maturity evolution</a:t>
            </a:r>
            <a:endParaRPr lang="en-US" altLang="ko-KR" sz="1800" baseline="30000">
              <a:ea typeface="굴림" panose="020b0600000101010101" pitchFamily="34" charset="-127"/>
            </a:endParaRPr>
          </a:p>
        </p:txBody>
      </p:sp>
      <p:sp>
        <p:nvSpPr>
          <p:cNvPr id="72710" name="Rectangle 7">
            <a:extLst>
              <a:ext uri="{FF2B5EF4-FFF2-40B4-BE49-F238E27FC236}">
                <a16:creationId xmlns:a16="http://schemas.microsoft.com/office/drawing/2014/main" id="{30232FC9-C0AA-8683-70ED-1EE8ABB3EF69}"/>
              </a:ext>
            </a:extLst>
          </p:cNvPr>
          <p:cNvSpPr>
            <a:spLocks noChangeArrowheads="1"/>
          </p:cNvSpPr>
          <p:nvPr/>
        </p:nvSpPr>
        <p:spPr bwMode="gray">
          <a:xfrm>
            <a:off x="6430963" y="2189163"/>
            <a:ext cx="2951162"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1400">
                <a:ea typeface="굴림" panose="020b0600000101010101" pitchFamily="34" charset="-127"/>
              </a:rPr>
              <a:t>Derived market maturity curve </a:t>
            </a:r>
            <a:br>
              <a:rPr lang="en-US" altLang="ko-KR" sz="1400">
                <a:ea typeface="굴림" panose="020b0600000101010101" pitchFamily="34" charset="-127"/>
              </a:rPr>
            </a:br>
            <a:r>
              <a:rPr lang="en-US" altLang="ko-KR" sz="1400">
                <a:ea typeface="굴림" panose="020b0600000101010101" pitchFamily="34" charset="-127"/>
              </a:rPr>
              <a:t>(Germany)</a:t>
            </a:r>
          </a:p>
        </p:txBody>
      </p:sp>
      <p:sp>
        <p:nvSpPr>
          <p:cNvPr id="72711" name="Rectangle 8">
            <a:extLst>
              <a:ext uri="{FF2B5EF4-FFF2-40B4-BE49-F238E27FC236}">
                <a16:creationId xmlns:a16="http://schemas.microsoft.com/office/drawing/2014/main" id="{93062B1F-E96A-7A7C-3CB8-C3C3AECE15FC}"/>
              </a:ext>
            </a:extLst>
          </p:cNvPr>
          <p:cNvSpPr>
            <a:spLocks noChangeArrowheads="1"/>
          </p:cNvSpPr>
          <p:nvPr/>
        </p:nvSpPr>
        <p:spPr bwMode="gray">
          <a:xfrm>
            <a:off x="8564563" y="1557338"/>
            <a:ext cx="1085850" cy="336550"/>
          </a:xfrm>
          <a:prstGeom prst="rect">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9" tIns="72009" rIns="72009" bIns="72009">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ClrTx/>
              <a:buFontTx/>
              <a:buNone/>
            </a:pPr>
            <a:r>
              <a:rPr lang="en-US" altLang="ko-KR" sz="1400">
                <a:solidFill>
                  <a:schemeClr val="tx2"/>
                </a:solidFill>
                <a:ea typeface="굴림" panose="020b0600000101010101" pitchFamily="34" charset="-127"/>
              </a:rPr>
              <a:t>Figurative</a:t>
            </a:r>
          </a:p>
        </p:txBody>
      </p:sp>
      <p:sp>
        <p:nvSpPr>
          <p:cNvPr id="72712" name="Freeform 9">
            <a:extLst>
              <a:ext uri="{FF2B5EF4-FFF2-40B4-BE49-F238E27FC236}">
                <a16:creationId xmlns:a16="http://schemas.microsoft.com/office/drawing/2014/main" id="{4E58BD94-38D5-630D-9F10-8F1861997EF9}"/>
              </a:ext>
            </a:extLst>
          </p:cNvPr>
          <p:cNvSpPr/>
          <p:nvPr/>
        </p:nvSpPr>
        <p:spPr bwMode="gray">
          <a:xfrm>
            <a:off x="5811838" y="3414713"/>
            <a:ext cx="3155950" cy="1271587"/>
          </a:xfrm>
          <a:custGeom>
            <a:gdLst>
              <a:gd name="T0" fmla="*/ 0 w 1835"/>
              <a:gd name="T1" fmla="*/ 2147483646 h 801"/>
              <a:gd name="T2" fmla="*/ 2147483646 w 1835"/>
              <a:gd name="T3" fmla="*/ 2147483646 h 801"/>
              <a:gd name="T4" fmla="*/ 2147483646 w 1835"/>
              <a:gd name="T5" fmla="*/ 2147483646 h 801"/>
              <a:gd name="T6" fmla="*/ 2147483646 w 1835"/>
              <a:gd name="T7" fmla="*/ 2147483646 h 801"/>
              <a:gd name="T8" fmla="*/ 2147483646 w 1835"/>
              <a:gd name="T9" fmla="*/ 2147483646 h 801"/>
              <a:gd name="T10" fmla="*/ 2147483646 w 1835"/>
              <a:gd name="T11" fmla="*/ 2147483646 h 801"/>
              <a:gd name="T12" fmla="*/ 2147483646 w 1835"/>
              <a:gd name="T13" fmla="*/ 2147483646 h 801"/>
              <a:gd name="T14" fmla="*/ 2147483646 w 1835"/>
              <a:gd name="T15" fmla="*/ 2147483646 h 801"/>
              <a:gd name="T16" fmla="*/ 2147483646 w 1835"/>
              <a:gd name="T17" fmla="*/ 2147483646 h 801"/>
              <a:gd name="T18" fmla="*/ 2147483646 w 1835"/>
              <a:gd name="T19" fmla="*/ 2147483646 h 801"/>
              <a:gd name="T20" fmla="*/ 2147483646 w 1835"/>
              <a:gd name="T21" fmla="*/ 2147483646 h 801"/>
              <a:gd name="T22" fmla="*/ 2147483646 w 1835"/>
              <a:gd name="T23" fmla="*/ 2147483646 h 801"/>
              <a:gd name="T24" fmla="*/ 2147483646 w 1835"/>
              <a:gd name="T25" fmla="*/ 2147483646 h 801"/>
              <a:gd name="T26" fmla="*/ 2147483646 w 1835"/>
              <a:gd name="T27" fmla="*/ 0 h 801"/>
              <a:gd name="T28" fmla="*/ 2147483646 w 1835"/>
              <a:gd name="T29" fmla="*/ 2147483646 h 801"/>
              <a:gd name="T30" fmla="*/ 2147483646 w 1835"/>
              <a:gd name="T31" fmla="*/ 2147483646 h 801"/>
              <a:gd name="T32" fmla="*/ 2147483646 w 1835"/>
              <a:gd name="T33" fmla="*/ 2147483646 h 801"/>
              <a:gd name="T34" fmla="*/ 2147483646 w 1835"/>
              <a:gd name="T35" fmla="*/ 2147483646 h 801"/>
              <a:gd name="T36" fmla="*/ 2147483646 w 1835"/>
              <a:gd name="T37" fmla="*/ 2147483646 h 801"/>
              <a:gd name="T38" fmla="*/ 2147483646 w 1835"/>
              <a:gd name="T39" fmla="*/ 2147483646 h 801"/>
              <a:gd name="T40" fmla="*/ 2147483646 w 1835"/>
              <a:gd name="T41" fmla="*/ 2147483646 h 801"/>
              <a:gd name="T42" fmla="*/ 2147483646 w 1835"/>
              <a:gd name="T43" fmla="*/ 2147483646 h 801"/>
              <a:gd name="T44" fmla="*/ 2147483646 w 1835"/>
              <a:gd name="T45" fmla="*/ 2147483646 h 801"/>
              <a:gd name="T46" fmla="*/ 2147483646 w 1835"/>
              <a:gd name="T47" fmla="*/ 2147483646 h 801"/>
              <a:gd name="T48" fmla="*/ 2147483646 w 1835"/>
              <a:gd name="T49" fmla="*/ 2147483646 h 801"/>
              <a:gd name="T50" fmla="*/ 2147483646 w 1835"/>
              <a:gd name="T51" fmla="*/ 2147483646 h 801"/>
              <a:gd name="T52" fmla="*/ 2147483646 w 1835"/>
              <a:gd name="T53" fmla="*/ 2147483646 h 801"/>
              <a:gd name="T54" fmla="*/ 0 w 1835"/>
              <a:gd name="T55" fmla="*/ 2147483646 h 8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834" h="801">
                <a:moveTo>
                  <a:pt x="0" y="801"/>
                </a:moveTo>
                <a:lnTo>
                  <a:pt x="454" y="801"/>
                </a:lnTo>
                <a:lnTo>
                  <a:pt x="674" y="765"/>
                </a:lnTo>
                <a:lnTo>
                  <a:pt x="827" y="711"/>
                </a:lnTo>
                <a:lnTo>
                  <a:pt x="968" y="630"/>
                </a:lnTo>
                <a:lnTo>
                  <a:pt x="1085" y="510"/>
                </a:lnTo>
                <a:lnTo>
                  <a:pt x="1235" y="348"/>
                </a:lnTo>
                <a:lnTo>
                  <a:pt x="1343" y="240"/>
                </a:lnTo>
                <a:lnTo>
                  <a:pt x="1412" y="189"/>
                </a:lnTo>
                <a:lnTo>
                  <a:pt x="1499" y="129"/>
                </a:lnTo>
                <a:lnTo>
                  <a:pt x="1580" y="87"/>
                </a:lnTo>
                <a:lnTo>
                  <a:pt x="1688" y="48"/>
                </a:lnTo>
                <a:lnTo>
                  <a:pt x="1835" y="6"/>
                </a:lnTo>
                <a:lnTo>
                  <a:pt x="1418" y="0"/>
                </a:lnTo>
                <a:lnTo>
                  <a:pt x="1322" y="18"/>
                </a:lnTo>
                <a:lnTo>
                  <a:pt x="1220" y="48"/>
                </a:lnTo>
                <a:lnTo>
                  <a:pt x="1127" y="87"/>
                </a:lnTo>
                <a:lnTo>
                  <a:pt x="1037" y="132"/>
                </a:lnTo>
                <a:lnTo>
                  <a:pt x="938" y="192"/>
                </a:lnTo>
                <a:lnTo>
                  <a:pt x="851" y="267"/>
                </a:lnTo>
                <a:lnTo>
                  <a:pt x="746" y="363"/>
                </a:lnTo>
                <a:lnTo>
                  <a:pt x="677" y="450"/>
                </a:lnTo>
                <a:lnTo>
                  <a:pt x="620" y="510"/>
                </a:lnTo>
                <a:lnTo>
                  <a:pt x="536" y="591"/>
                </a:lnTo>
                <a:lnTo>
                  <a:pt x="434" y="666"/>
                </a:lnTo>
                <a:lnTo>
                  <a:pt x="296" y="741"/>
                </a:lnTo>
                <a:lnTo>
                  <a:pt x="146" y="783"/>
                </a:lnTo>
                <a:lnTo>
                  <a:pt x="0" y="801"/>
                </a:lnTo>
                <a:close/>
              </a:path>
            </a:pathLst>
          </a:custGeom>
          <a:solidFill>
            <a:schemeClr val="folHlink"/>
          </a:solidFill>
          <a:ln>
            <a:noFill/>
          </a:ln>
          <a:effectLst/>
          <a:extLst>
            <a:ext uri="{91240B29-F687-4F45-9708-019B960494DF}">
              <a14:hiddenLine xmlns:a14="http://schemas.microsoft.com/office/drawing/2010/main" w="12700" cap="flat" cmpd="sng">
                <a:solidFill>
                  <a:schemeClr val="accent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13" name="AutoShape 10">
            <a:extLst>
              <a:ext uri="{FF2B5EF4-FFF2-40B4-BE49-F238E27FC236}">
                <a16:creationId xmlns:a16="http://schemas.microsoft.com/office/drawing/2014/main" id="{599A7573-DAEE-66AB-7C60-4AE67463E974}"/>
              </a:ext>
            </a:extLst>
          </p:cNvPr>
          <p:cNvSpPr/>
          <p:nvPr/>
        </p:nvSpPr>
        <p:spPr bwMode="gray">
          <a:xfrm rot="-5400000">
            <a:off x="2242344" y="3909219"/>
            <a:ext cx="165100" cy="2668588"/>
          </a:xfrm>
          <a:prstGeom prst="leftBrace">
            <a:avLst>
              <a:gd name="adj1" fmla="val 80443"/>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714" name="Rectangle 11">
            <a:extLst>
              <a:ext uri="{FF2B5EF4-FFF2-40B4-BE49-F238E27FC236}">
                <a16:creationId xmlns:a16="http://schemas.microsoft.com/office/drawing/2014/main" id="{6CCC8750-A6A5-D736-78D0-4CEC018093AC}"/>
              </a:ext>
            </a:extLst>
          </p:cNvPr>
          <p:cNvSpPr>
            <a:spLocks noChangeArrowheads="1"/>
          </p:cNvSpPr>
          <p:nvPr/>
        </p:nvSpPr>
        <p:spPr bwMode="gray">
          <a:xfrm>
            <a:off x="1085850" y="5346700"/>
            <a:ext cx="2481263"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1000" i="1">
                <a:ea typeface="굴림" panose="020b0600000101010101" pitchFamily="34" charset="-127"/>
              </a:rPr>
              <a:t>About 10 years maturation time</a:t>
            </a:r>
          </a:p>
        </p:txBody>
      </p:sp>
      <p:sp>
        <p:nvSpPr>
          <p:cNvPr id="72715" name="Rectangle 12">
            <a:extLst>
              <a:ext uri="{FF2B5EF4-FFF2-40B4-BE49-F238E27FC236}">
                <a16:creationId xmlns:a16="http://schemas.microsoft.com/office/drawing/2014/main" id="{FECCC495-0FBC-3379-B539-8EDAEC8E3BEF}"/>
              </a:ext>
            </a:extLst>
          </p:cNvPr>
          <p:cNvSpPr>
            <a:spLocks noChangeArrowheads="1"/>
          </p:cNvSpPr>
          <p:nvPr/>
        </p:nvSpPr>
        <p:spPr bwMode="gray">
          <a:xfrm>
            <a:off x="349250" y="4937125"/>
            <a:ext cx="12731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b="0" i="1">
                <a:ea typeface="굴림" panose="020b0600000101010101" pitchFamily="34" charset="-127"/>
              </a:rPr>
              <a:t>Relevant start of</a:t>
            </a:r>
            <a:br>
              <a:rPr lang="en-US" altLang="ko-KR" sz="900" b="0" i="1">
                <a:ea typeface="굴림" panose="020b0600000101010101" pitchFamily="34" charset="-127"/>
              </a:rPr>
            </a:br>
            <a:r>
              <a:rPr lang="en-US" altLang="ko-KR" sz="900" b="0" i="1">
                <a:ea typeface="굴림" panose="020b0600000101010101" pitchFamily="34" charset="-127"/>
              </a:rPr>
              <a:t>ASP penetration in US </a:t>
            </a:r>
          </a:p>
        </p:txBody>
      </p:sp>
      <p:sp>
        <p:nvSpPr>
          <p:cNvPr id="72716" name="Freeform 13">
            <a:extLst>
              <a:ext uri="{FF2B5EF4-FFF2-40B4-BE49-F238E27FC236}">
                <a16:creationId xmlns:a16="http://schemas.microsoft.com/office/drawing/2014/main" id="{6618B718-9EB1-4016-2F29-09E276083119}"/>
              </a:ext>
            </a:extLst>
          </p:cNvPr>
          <p:cNvSpPr/>
          <p:nvPr/>
        </p:nvSpPr>
        <p:spPr bwMode="gray">
          <a:xfrm>
            <a:off x="962025" y="3405188"/>
            <a:ext cx="2705100" cy="1271587"/>
          </a:xfrm>
          <a:custGeom>
            <a:gdLst>
              <a:gd name="T0" fmla="*/ 0 w 1539"/>
              <a:gd name="T1" fmla="*/ 2147483646 h 646"/>
              <a:gd name="T2" fmla="*/ 2147483646 w 1539"/>
              <a:gd name="T3" fmla="*/ 0 h 646"/>
              <a:gd name="T4" fmla="*/ 0 60000 65536"/>
              <a:gd name="T5" fmla="*/ 0 60000 65536"/>
            </a:gdLst>
            <a:cxnLst>
              <a:cxn ang="T4">
                <a:pos x="T0" y="T1"/>
              </a:cxn>
              <a:cxn ang="T5">
                <a:pos x="T2" y="T3"/>
              </a:cxn>
            </a:cxnLst>
            <a:rect l="0" t="0" r="r" b="b"/>
            <a:pathLst>
              <a:path w="1539" h="646">
                <a:moveTo>
                  <a:pt x="0" y="646"/>
                </a:moveTo>
                <a:cubicBezTo>
                  <a:pt x="839" y="603"/>
                  <a:pt x="629" y="124"/>
                  <a:pt x="1539" y="0"/>
                </a:cubicBezTo>
              </a:path>
            </a:pathLst>
          </a:custGeom>
          <a:noFill/>
          <a:ln w="12700" cap="flat" cmpd="sng">
            <a:solidFill>
              <a:schemeClr val="bg2"/>
            </a:solidFill>
            <a:prstDash val="solid"/>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17" name="Line 14">
            <a:extLst>
              <a:ext uri="{FF2B5EF4-FFF2-40B4-BE49-F238E27FC236}">
                <a16:creationId xmlns:a16="http://schemas.microsoft.com/office/drawing/2014/main" id="{6CD52E9B-E678-7892-498F-2051E35EA439}"/>
              </a:ext>
            </a:extLst>
          </p:cNvPr>
          <p:cNvSpPr>
            <a:spLocks noChangeShapeType="1"/>
          </p:cNvSpPr>
          <p:nvPr/>
        </p:nvSpPr>
        <p:spPr bwMode="gray">
          <a:xfrm flipV="1">
            <a:off x="965200" y="2705100"/>
            <a:ext cx="25400" cy="1984375"/>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18" name="Line 15">
            <a:extLst>
              <a:ext uri="{FF2B5EF4-FFF2-40B4-BE49-F238E27FC236}">
                <a16:creationId xmlns:a16="http://schemas.microsoft.com/office/drawing/2014/main" id="{D1288D65-C8A2-8BFA-FBCB-9CD1AB784F40}"/>
              </a:ext>
            </a:extLst>
          </p:cNvPr>
          <p:cNvSpPr>
            <a:spLocks noChangeShapeType="1"/>
          </p:cNvSpPr>
          <p:nvPr/>
        </p:nvSpPr>
        <p:spPr bwMode="gray">
          <a:xfrm flipV="1">
            <a:off x="963613" y="4684713"/>
            <a:ext cx="30734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19" name="Rectangle 16">
            <a:extLst>
              <a:ext uri="{FF2B5EF4-FFF2-40B4-BE49-F238E27FC236}">
                <a16:creationId xmlns:a16="http://schemas.microsoft.com/office/drawing/2014/main" id="{F2B78F28-69A6-9760-C1B7-DE4A0885C357}"/>
              </a:ext>
            </a:extLst>
          </p:cNvPr>
          <p:cNvSpPr>
            <a:spLocks noChangeArrowheads="1"/>
          </p:cNvSpPr>
          <p:nvPr/>
        </p:nvSpPr>
        <p:spPr bwMode="gray">
          <a:xfrm>
            <a:off x="944563" y="4764088"/>
            <a:ext cx="381000"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fontAlgn="b">
              <a:lnSpc>
                <a:spcPct val="100000"/>
              </a:lnSpc>
              <a:buClr>
                <a:schemeClr val="bg1"/>
              </a:buClr>
              <a:buFont typeface="Wingdings" pitchFamily="2" charset="2"/>
              <a:buNone/>
            </a:pPr>
            <a:r>
              <a:rPr lang="en-US" altLang="ko-KR" sz="900">
                <a:ea typeface="굴림" panose="020b0600000101010101" pitchFamily="34" charset="-127"/>
              </a:rPr>
              <a:t>1999</a:t>
            </a:r>
          </a:p>
        </p:txBody>
      </p:sp>
      <p:sp>
        <p:nvSpPr>
          <p:cNvPr id="72720" name="Rectangle 17">
            <a:extLst>
              <a:ext uri="{FF2B5EF4-FFF2-40B4-BE49-F238E27FC236}">
                <a16:creationId xmlns:a16="http://schemas.microsoft.com/office/drawing/2014/main" id="{4E6759CA-0374-DA3F-1501-A51738645EC5}"/>
              </a:ext>
            </a:extLst>
          </p:cNvPr>
          <p:cNvSpPr>
            <a:spLocks noChangeArrowheads="1"/>
          </p:cNvSpPr>
          <p:nvPr/>
        </p:nvSpPr>
        <p:spPr bwMode="gray">
          <a:xfrm>
            <a:off x="3381375" y="4764088"/>
            <a:ext cx="534988"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100000"/>
              </a:lnSpc>
              <a:buClr>
                <a:schemeClr val="bg1"/>
              </a:buClr>
              <a:buFont typeface="Wingdings" pitchFamily="2" charset="2"/>
              <a:buNone/>
            </a:pPr>
            <a:r>
              <a:rPr lang="en-US" altLang="ko-KR" sz="900">
                <a:ea typeface="굴림" panose="020b0600000101010101" pitchFamily="34" charset="-127"/>
              </a:rPr>
              <a:t>2010</a:t>
            </a:r>
          </a:p>
        </p:txBody>
      </p:sp>
      <p:sp>
        <p:nvSpPr>
          <p:cNvPr id="72721" name="Rectangle 18">
            <a:extLst>
              <a:ext uri="{FF2B5EF4-FFF2-40B4-BE49-F238E27FC236}">
                <a16:creationId xmlns:a16="http://schemas.microsoft.com/office/drawing/2014/main" id="{0F0C393E-C9FB-5B6A-4E1A-4C20A5A3E98C}"/>
              </a:ext>
            </a:extLst>
          </p:cNvPr>
          <p:cNvSpPr>
            <a:spLocks noChangeArrowheads="1"/>
          </p:cNvSpPr>
          <p:nvPr/>
        </p:nvSpPr>
        <p:spPr bwMode="gray">
          <a:xfrm>
            <a:off x="565150" y="2955925"/>
            <a:ext cx="309563"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fontAlgn="b">
              <a:lnSpc>
                <a:spcPct val="100000"/>
              </a:lnSpc>
              <a:buClr>
                <a:schemeClr val="bg1"/>
              </a:buClr>
            </a:pPr>
            <a:r>
              <a:rPr lang="en-US" altLang="ko-KR" sz="800" b="0" i="1">
                <a:ea typeface="굴림" panose="020b0600000101010101" pitchFamily="34" charset="-127"/>
              </a:rPr>
              <a:t>High</a:t>
            </a:r>
          </a:p>
        </p:txBody>
      </p:sp>
      <p:sp>
        <p:nvSpPr>
          <p:cNvPr id="72722" name="Rectangle 19">
            <a:extLst>
              <a:ext uri="{FF2B5EF4-FFF2-40B4-BE49-F238E27FC236}">
                <a16:creationId xmlns:a16="http://schemas.microsoft.com/office/drawing/2014/main" id="{B3334E09-AFB1-942E-9AA1-6542EEAFC2F6}"/>
              </a:ext>
            </a:extLst>
          </p:cNvPr>
          <p:cNvSpPr>
            <a:spLocks noChangeArrowheads="1"/>
          </p:cNvSpPr>
          <p:nvPr/>
        </p:nvSpPr>
        <p:spPr bwMode="gray">
          <a:xfrm>
            <a:off x="590550" y="4564063"/>
            <a:ext cx="284163"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fontAlgn="b">
              <a:lnSpc>
                <a:spcPct val="100000"/>
              </a:lnSpc>
              <a:buClr>
                <a:schemeClr val="bg1"/>
              </a:buClr>
            </a:pPr>
            <a:r>
              <a:rPr lang="en-US" altLang="ko-KR" sz="800" b="0" i="1">
                <a:ea typeface="굴림" panose="020b0600000101010101" pitchFamily="34" charset="-127"/>
              </a:rPr>
              <a:t>Low</a:t>
            </a:r>
          </a:p>
        </p:txBody>
      </p:sp>
      <p:sp>
        <p:nvSpPr>
          <p:cNvPr id="72723" name="Line 20">
            <a:extLst>
              <a:ext uri="{FF2B5EF4-FFF2-40B4-BE49-F238E27FC236}">
                <a16:creationId xmlns:a16="http://schemas.microsoft.com/office/drawing/2014/main" id="{1FD5513D-331A-83A3-2E2E-A8DBE3BFB273}"/>
              </a:ext>
            </a:extLst>
          </p:cNvPr>
          <p:cNvSpPr>
            <a:spLocks noChangeShapeType="1"/>
          </p:cNvSpPr>
          <p:nvPr/>
        </p:nvSpPr>
        <p:spPr bwMode="gray">
          <a:xfrm>
            <a:off x="990600" y="3036888"/>
            <a:ext cx="3344863" cy="79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24" name="Rectangle 21">
            <a:extLst>
              <a:ext uri="{FF2B5EF4-FFF2-40B4-BE49-F238E27FC236}">
                <a16:creationId xmlns:a16="http://schemas.microsoft.com/office/drawing/2014/main" id="{DC555E20-DFD5-C7E6-D5CE-17A42B85A807}"/>
              </a:ext>
            </a:extLst>
          </p:cNvPr>
          <p:cNvSpPr>
            <a:spLocks noChangeArrowheads="1"/>
          </p:cNvSpPr>
          <p:nvPr/>
        </p:nvSpPr>
        <p:spPr bwMode="gray">
          <a:xfrm>
            <a:off x="2882900" y="2852738"/>
            <a:ext cx="15303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b="0">
                <a:ea typeface="굴림" panose="020b0600000101010101" pitchFamily="34" charset="-127"/>
              </a:rPr>
              <a:t>Addressable SaaS market</a:t>
            </a:r>
          </a:p>
        </p:txBody>
      </p:sp>
      <p:sp>
        <p:nvSpPr>
          <p:cNvPr id="72725" name="Line 22">
            <a:extLst>
              <a:ext uri="{FF2B5EF4-FFF2-40B4-BE49-F238E27FC236}">
                <a16:creationId xmlns:a16="http://schemas.microsoft.com/office/drawing/2014/main" id="{67482556-D18D-E738-41F4-952B2099177F}"/>
              </a:ext>
            </a:extLst>
          </p:cNvPr>
          <p:cNvSpPr>
            <a:spLocks noChangeShapeType="1"/>
          </p:cNvSpPr>
          <p:nvPr/>
        </p:nvSpPr>
        <p:spPr bwMode="gray">
          <a:xfrm>
            <a:off x="3165475" y="3409950"/>
            <a:ext cx="11445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26" name="Line 23">
            <a:extLst>
              <a:ext uri="{FF2B5EF4-FFF2-40B4-BE49-F238E27FC236}">
                <a16:creationId xmlns:a16="http://schemas.microsoft.com/office/drawing/2014/main" id="{137A9829-A420-FE80-6049-6CADA1E1AD60}"/>
              </a:ext>
            </a:extLst>
          </p:cNvPr>
          <p:cNvSpPr>
            <a:spLocks noChangeShapeType="1"/>
          </p:cNvSpPr>
          <p:nvPr/>
        </p:nvSpPr>
        <p:spPr bwMode="gray">
          <a:xfrm flipH="1">
            <a:off x="3654425" y="3417888"/>
            <a:ext cx="0" cy="124777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27" name="Line 24">
            <a:extLst>
              <a:ext uri="{FF2B5EF4-FFF2-40B4-BE49-F238E27FC236}">
                <a16:creationId xmlns:a16="http://schemas.microsoft.com/office/drawing/2014/main" id="{15204CAD-1D97-F849-6DEE-263906FED1DB}"/>
              </a:ext>
            </a:extLst>
          </p:cNvPr>
          <p:cNvSpPr>
            <a:spLocks noChangeShapeType="1"/>
          </p:cNvSpPr>
          <p:nvPr/>
        </p:nvSpPr>
        <p:spPr bwMode="gray">
          <a:xfrm flipH="1" flipV="1">
            <a:off x="3651250" y="3036888"/>
            <a:ext cx="0" cy="3683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28" name="Rectangle 25">
            <a:extLst>
              <a:ext uri="{FF2B5EF4-FFF2-40B4-BE49-F238E27FC236}">
                <a16:creationId xmlns:a16="http://schemas.microsoft.com/office/drawing/2014/main" id="{EDCB1CFA-115D-F32B-25C1-60D2C085C5B3}"/>
              </a:ext>
            </a:extLst>
          </p:cNvPr>
          <p:cNvSpPr>
            <a:spLocks noChangeArrowheads="1"/>
          </p:cNvSpPr>
          <p:nvPr/>
        </p:nvSpPr>
        <p:spPr bwMode="gray">
          <a:xfrm>
            <a:off x="1249363" y="3097213"/>
            <a:ext cx="231775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fontAlgn="b">
              <a:lnSpc>
                <a:spcPct val="85000"/>
              </a:lnSpc>
              <a:buClr>
                <a:schemeClr val="bg1"/>
              </a:buClr>
            </a:pPr>
            <a:r>
              <a:rPr lang="en-US" altLang="ko-KR" sz="900" b="0">
                <a:ea typeface="굴림" panose="020b0600000101010101" pitchFamily="34" charset="-127"/>
              </a:rPr>
              <a:t>About 20% reduction due to addressable-actual difference</a:t>
            </a:r>
            <a:r>
              <a:rPr lang="en-US" altLang="ko-KR" sz="900" b="0" baseline="30000">
                <a:ea typeface="굴림" panose="020b0600000101010101" pitchFamily="34" charset="-127"/>
              </a:rPr>
              <a:t>1)</a:t>
            </a:r>
          </a:p>
        </p:txBody>
      </p:sp>
      <p:sp>
        <p:nvSpPr>
          <p:cNvPr id="72729" name="Rectangle 26">
            <a:extLst>
              <a:ext uri="{FF2B5EF4-FFF2-40B4-BE49-F238E27FC236}">
                <a16:creationId xmlns:a16="http://schemas.microsoft.com/office/drawing/2014/main" id="{12CD1007-CE25-7831-2824-6FD0A5DF7710}"/>
              </a:ext>
            </a:extLst>
          </p:cNvPr>
          <p:cNvSpPr>
            <a:spLocks noChangeArrowheads="1"/>
          </p:cNvSpPr>
          <p:nvPr/>
        </p:nvSpPr>
        <p:spPr bwMode="gray">
          <a:xfrm>
            <a:off x="477838" y="2573338"/>
            <a:ext cx="1014412"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a:ea typeface="굴림" panose="020b0600000101010101" pitchFamily="34" charset="-127"/>
              </a:rPr>
              <a:t>Market maturity</a:t>
            </a:r>
          </a:p>
        </p:txBody>
      </p:sp>
      <p:sp>
        <p:nvSpPr>
          <p:cNvPr id="72730" name="Rectangle 27">
            <a:extLst>
              <a:ext uri="{FF2B5EF4-FFF2-40B4-BE49-F238E27FC236}">
                <a16:creationId xmlns:a16="http://schemas.microsoft.com/office/drawing/2014/main" id="{96F25DFA-36C8-DF37-4B68-39A357BFFAD6}"/>
              </a:ext>
            </a:extLst>
          </p:cNvPr>
          <p:cNvSpPr>
            <a:spLocks noChangeArrowheads="1"/>
          </p:cNvSpPr>
          <p:nvPr/>
        </p:nvSpPr>
        <p:spPr bwMode="gray">
          <a:xfrm>
            <a:off x="5329238" y="2582863"/>
            <a:ext cx="1014412"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a:ea typeface="굴림" panose="020b0600000101010101" pitchFamily="34" charset="-127"/>
              </a:rPr>
              <a:t>Market maturity</a:t>
            </a:r>
          </a:p>
        </p:txBody>
      </p:sp>
      <p:sp>
        <p:nvSpPr>
          <p:cNvPr id="72731" name="Line 28">
            <a:extLst>
              <a:ext uri="{FF2B5EF4-FFF2-40B4-BE49-F238E27FC236}">
                <a16:creationId xmlns:a16="http://schemas.microsoft.com/office/drawing/2014/main" id="{C18E1A92-9713-6430-D0C3-E03891A07120}"/>
              </a:ext>
            </a:extLst>
          </p:cNvPr>
          <p:cNvSpPr>
            <a:spLocks noChangeShapeType="1"/>
          </p:cNvSpPr>
          <p:nvPr/>
        </p:nvSpPr>
        <p:spPr bwMode="gray">
          <a:xfrm flipV="1">
            <a:off x="5802313" y="2705100"/>
            <a:ext cx="22225" cy="1979613"/>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32" name="Rectangle 29">
            <a:extLst>
              <a:ext uri="{FF2B5EF4-FFF2-40B4-BE49-F238E27FC236}">
                <a16:creationId xmlns:a16="http://schemas.microsoft.com/office/drawing/2014/main" id="{157ABA99-1728-6484-1581-6C6B780F1BAB}"/>
              </a:ext>
            </a:extLst>
          </p:cNvPr>
          <p:cNvSpPr>
            <a:spLocks noChangeArrowheads="1"/>
          </p:cNvSpPr>
          <p:nvPr/>
        </p:nvSpPr>
        <p:spPr bwMode="gray">
          <a:xfrm>
            <a:off x="6032500" y="4937125"/>
            <a:ext cx="13112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b="0" i="1">
                <a:ea typeface="굴림" panose="020b0600000101010101" pitchFamily="34" charset="-127"/>
              </a:rPr>
              <a:t>Relevant start of ASP </a:t>
            </a:r>
            <a:br>
              <a:rPr lang="en-US" altLang="ko-KR" sz="900" b="0" i="1">
                <a:ea typeface="굴림" panose="020b0600000101010101" pitchFamily="34" charset="-127"/>
              </a:rPr>
            </a:br>
            <a:r>
              <a:rPr lang="en-US" altLang="ko-KR" sz="900" b="0" i="1">
                <a:ea typeface="굴림" panose="020b0600000101010101" pitchFamily="34" charset="-127"/>
              </a:rPr>
              <a:t>penetration in Germany</a:t>
            </a:r>
          </a:p>
        </p:txBody>
      </p:sp>
      <p:sp>
        <p:nvSpPr>
          <p:cNvPr id="72733" name="AutoShape 30">
            <a:extLst>
              <a:ext uri="{FF2B5EF4-FFF2-40B4-BE49-F238E27FC236}">
                <a16:creationId xmlns:a16="http://schemas.microsoft.com/office/drawing/2014/main" id="{93FD2384-0E1D-3F3F-2D7F-74520994B750}"/>
              </a:ext>
            </a:extLst>
          </p:cNvPr>
          <p:cNvSpPr/>
          <p:nvPr/>
        </p:nvSpPr>
        <p:spPr bwMode="gray">
          <a:xfrm rot="-5400000">
            <a:off x="7832725" y="4090988"/>
            <a:ext cx="150813" cy="2319337"/>
          </a:xfrm>
          <a:prstGeom prst="leftBrace">
            <a:avLst>
              <a:gd name="adj1" fmla="val 76538"/>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2734" name="Rectangle 31">
            <a:extLst>
              <a:ext uri="{FF2B5EF4-FFF2-40B4-BE49-F238E27FC236}">
                <a16:creationId xmlns:a16="http://schemas.microsoft.com/office/drawing/2014/main" id="{9D4F711E-E71E-B586-BFD9-DF77E092897E}"/>
              </a:ext>
            </a:extLst>
          </p:cNvPr>
          <p:cNvSpPr>
            <a:spLocks noChangeArrowheads="1"/>
          </p:cNvSpPr>
          <p:nvPr/>
        </p:nvSpPr>
        <p:spPr bwMode="gray">
          <a:xfrm>
            <a:off x="6729413" y="5346700"/>
            <a:ext cx="2352675"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1000" i="1">
                <a:ea typeface="굴림" panose="020b0600000101010101" pitchFamily="34" charset="-127"/>
              </a:rPr>
              <a:t>About 10 years maturation time</a:t>
            </a:r>
          </a:p>
        </p:txBody>
      </p:sp>
      <p:sp>
        <p:nvSpPr>
          <p:cNvPr id="72735" name="Line 32">
            <a:extLst>
              <a:ext uri="{FF2B5EF4-FFF2-40B4-BE49-F238E27FC236}">
                <a16:creationId xmlns:a16="http://schemas.microsoft.com/office/drawing/2014/main" id="{6796407F-C234-3A47-4FAA-4DC54AFEF638}"/>
              </a:ext>
            </a:extLst>
          </p:cNvPr>
          <p:cNvSpPr>
            <a:spLocks noChangeShapeType="1"/>
          </p:cNvSpPr>
          <p:nvPr/>
        </p:nvSpPr>
        <p:spPr bwMode="gray">
          <a:xfrm>
            <a:off x="5799138" y="4686300"/>
            <a:ext cx="3582987" cy="158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36" name="Line 33">
            <a:extLst>
              <a:ext uri="{FF2B5EF4-FFF2-40B4-BE49-F238E27FC236}">
                <a16:creationId xmlns:a16="http://schemas.microsoft.com/office/drawing/2014/main" id="{C1534B3C-97AC-13E5-2256-5C18CF951D58}"/>
              </a:ext>
            </a:extLst>
          </p:cNvPr>
          <p:cNvSpPr>
            <a:spLocks noChangeShapeType="1"/>
          </p:cNvSpPr>
          <p:nvPr/>
        </p:nvSpPr>
        <p:spPr bwMode="gray">
          <a:xfrm flipV="1">
            <a:off x="5824538" y="2979738"/>
            <a:ext cx="3484562" cy="158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37" name="Rectangle 34">
            <a:extLst>
              <a:ext uri="{FF2B5EF4-FFF2-40B4-BE49-F238E27FC236}">
                <a16:creationId xmlns:a16="http://schemas.microsoft.com/office/drawing/2014/main" id="{21B0161C-3BB0-CB47-FC10-B602469006C7}"/>
              </a:ext>
            </a:extLst>
          </p:cNvPr>
          <p:cNvSpPr>
            <a:spLocks noChangeArrowheads="1"/>
          </p:cNvSpPr>
          <p:nvPr/>
        </p:nvSpPr>
        <p:spPr bwMode="gray">
          <a:xfrm>
            <a:off x="5810250" y="2820988"/>
            <a:ext cx="3292475"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fontAlgn="b">
              <a:lnSpc>
                <a:spcPct val="80000"/>
              </a:lnSpc>
              <a:buClr>
                <a:schemeClr val="bg1"/>
              </a:buClr>
            </a:pPr>
            <a:r>
              <a:rPr lang="en-US" altLang="ko-KR" sz="900" b="0">
                <a:ea typeface="굴림" panose="020b0600000101010101" pitchFamily="34" charset="-127"/>
              </a:rPr>
              <a:t>Theoretically addressable SaaS market of about € 1 bn.</a:t>
            </a:r>
          </a:p>
        </p:txBody>
      </p:sp>
      <p:sp>
        <p:nvSpPr>
          <p:cNvPr id="72738" name="Rectangle 35">
            <a:extLst>
              <a:ext uri="{FF2B5EF4-FFF2-40B4-BE49-F238E27FC236}">
                <a16:creationId xmlns:a16="http://schemas.microsoft.com/office/drawing/2014/main" id="{B24ADD68-7F2F-F892-BBEC-94E914C900C2}"/>
              </a:ext>
            </a:extLst>
          </p:cNvPr>
          <p:cNvSpPr>
            <a:spLocks noChangeArrowheads="1"/>
          </p:cNvSpPr>
          <p:nvPr/>
        </p:nvSpPr>
        <p:spPr bwMode="gray">
          <a:xfrm>
            <a:off x="5929313" y="3567113"/>
            <a:ext cx="1112837"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b="0">
                <a:ea typeface="굴림" panose="020b0600000101010101" pitchFamily="34" charset="-127"/>
              </a:rPr>
              <a:t>Maturity delay in comparison to US</a:t>
            </a:r>
          </a:p>
        </p:txBody>
      </p:sp>
      <p:sp>
        <p:nvSpPr>
          <p:cNvPr id="72739" name="Rectangle 36">
            <a:extLst>
              <a:ext uri="{FF2B5EF4-FFF2-40B4-BE49-F238E27FC236}">
                <a16:creationId xmlns:a16="http://schemas.microsoft.com/office/drawing/2014/main" id="{5D1204ED-9D37-1235-5020-090846482DEB}"/>
              </a:ext>
            </a:extLst>
          </p:cNvPr>
          <p:cNvSpPr>
            <a:spLocks noChangeArrowheads="1"/>
          </p:cNvSpPr>
          <p:nvPr/>
        </p:nvSpPr>
        <p:spPr bwMode="gray">
          <a:xfrm>
            <a:off x="5778500" y="4754563"/>
            <a:ext cx="368300"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fontAlgn="b">
              <a:lnSpc>
                <a:spcPct val="100000"/>
              </a:lnSpc>
              <a:buClr>
                <a:schemeClr val="bg1"/>
              </a:buClr>
              <a:buFont typeface="Wingdings" pitchFamily="2" charset="2"/>
              <a:buNone/>
            </a:pPr>
            <a:r>
              <a:rPr lang="en-US" altLang="ko-KR" sz="900">
                <a:ea typeface="굴림" panose="020b0600000101010101" pitchFamily="34" charset="-127"/>
              </a:rPr>
              <a:t>1999</a:t>
            </a:r>
          </a:p>
        </p:txBody>
      </p:sp>
      <p:sp>
        <p:nvSpPr>
          <p:cNvPr id="72740" name="Rectangle 37">
            <a:extLst>
              <a:ext uri="{FF2B5EF4-FFF2-40B4-BE49-F238E27FC236}">
                <a16:creationId xmlns:a16="http://schemas.microsoft.com/office/drawing/2014/main" id="{70FB9354-C139-FED7-5343-F95C3CF63228}"/>
              </a:ext>
            </a:extLst>
          </p:cNvPr>
          <p:cNvSpPr>
            <a:spLocks noChangeArrowheads="1"/>
          </p:cNvSpPr>
          <p:nvPr/>
        </p:nvSpPr>
        <p:spPr bwMode="gray">
          <a:xfrm>
            <a:off x="7224713" y="3097213"/>
            <a:ext cx="1862137"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5000"/>
              </a:lnSpc>
              <a:buClr>
                <a:schemeClr val="bg1"/>
              </a:buClr>
            </a:pPr>
            <a:r>
              <a:rPr lang="en-US" altLang="ko-KR" sz="900" b="0">
                <a:ea typeface="굴림" panose="020b0600000101010101" pitchFamily="34" charset="-127"/>
              </a:rPr>
              <a:t>About 20% reduction due to addressable-actual difference</a:t>
            </a:r>
            <a:r>
              <a:rPr lang="en-US" altLang="ko-KR" sz="900" b="0" baseline="30000">
                <a:ea typeface="굴림" panose="020b0600000101010101" pitchFamily="34" charset="-127"/>
              </a:rPr>
              <a:t>1)</a:t>
            </a:r>
          </a:p>
        </p:txBody>
      </p:sp>
      <p:sp>
        <p:nvSpPr>
          <p:cNvPr id="72741" name="Rectangle 38">
            <a:extLst>
              <a:ext uri="{FF2B5EF4-FFF2-40B4-BE49-F238E27FC236}">
                <a16:creationId xmlns:a16="http://schemas.microsoft.com/office/drawing/2014/main" id="{791FA023-8348-2822-EC15-41E1B8D47E33}"/>
              </a:ext>
            </a:extLst>
          </p:cNvPr>
          <p:cNvSpPr>
            <a:spLocks noChangeArrowheads="1"/>
          </p:cNvSpPr>
          <p:nvPr/>
        </p:nvSpPr>
        <p:spPr bwMode="gray">
          <a:xfrm>
            <a:off x="5429250" y="2963863"/>
            <a:ext cx="309563"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fontAlgn="b">
              <a:lnSpc>
                <a:spcPct val="100000"/>
              </a:lnSpc>
              <a:buClr>
                <a:schemeClr val="bg1"/>
              </a:buClr>
            </a:pPr>
            <a:r>
              <a:rPr lang="en-US" altLang="ko-KR" sz="800" b="0" i="1">
                <a:ea typeface="굴림" panose="020b0600000101010101" pitchFamily="34" charset="-127"/>
              </a:rPr>
              <a:t>High</a:t>
            </a:r>
          </a:p>
        </p:txBody>
      </p:sp>
      <p:sp>
        <p:nvSpPr>
          <p:cNvPr id="72742" name="Rectangle 39">
            <a:extLst>
              <a:ext uri="{FF2B5EF4-FFF2-40B4-BE49-F238E27FC236}">
                <a16:creationId xmlns:a16="http://schemas.microsoft.com/office/drawing/2014/main" id="{5AE99ED8-066B-3FD7-E269-EB5AD4273A18}"/>
              </a:ext>
            </a:extLst>
          </p:cNvPr>
          <p:cNvSpPr>
            <a:spLocks noChangeArrowheads="1"/>
          </p:cNvSpPr>
          <p:nvPr/>
        </p:nvSpPr>
        <p:spPr bwMode="gray">
          <a:xfrm>
            <a:off x="5461000" y="4572000"/>
            <a:ext cx="284163"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fontAlgn="b">
              <a:lnSpc>
                <a:spcPct val="100000"/>
              </a:lnSpc>
              <a:buClr>
                <a:schemeClr val="bg1"/>
              </a:buClr>
            </a:pPr>
            <a:r>
              <a:rPr lang="en-US" altLang="ko-KR" sz="800" b="0" i="1">
                <a:ea typeface="굴림" panose="020b0600000101010101" pitchFamily="34" charset="-127"/>
              </a:rPr>
              <a:t>Low</a:t>
            </a:r>
          </a:p>
        </p:txBody>
      </p:sp>
      <p:sp>
        <p:nvSpPr>
          <p:cNvPr id="72743" name="Line 40">
            <a:extLst>
              <a:ext uri="{FF2B5EF4-FFF2-40B4-BE49-F238E27FC236}">
                <a16:creationId xmlns:a16="http://schemas.microsoft.com/office/drawing/2014/main" id="{90586332-7ACF-ADD0-7CAE-D2888EC732B3}"/>
              </a:ext>
            </a:extLst>
          </p:cNvPr>
          <p:cNvSpPr>
            <a:spLocks noChangeShapeType="1"/>
          </p:cNvSpPr>
          <p:nvPr/>
        </p:nvSpPr>
        <p:spPr bwMode="gray">
          <a:xfrm flipH="1">
            <a:off x="9080500" y="3424238"/>
            <a:ext cx="0" cy="126523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44" name="Line 41">
            <a:extLst>
              <a:ext uri="{FF2B5EF4-FFF2-40B4-BE49-F238E27FC236}">
                <a16:creationId xmlns:a16="http://schemas.microsoft.com/office/drawing/2014/main" id="{1E7CBCB6-076B-D31D-8ABC-9AB7FD54FA8D}"/>
              </a:ext>
            </a:extLst>
          </p:cNvPr>
          <p:cNvSpPr>
            <a:spLocks noChangeShapeType="1"/>
          </p:cNvSpPr>
          <p:nvPr/>
        </p:nvSpPr>
        <p:spPr bwMode="gray">
          <a:xfrm>
            <a:off x="6542088" y="3817938"/>
            <a:ext cx="668337" cy="3714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45" name="Line 42">
            <a:extLst>
              <a:ext uri="{FF2B5EF4-FFF2-40B4-BE49-F238E27FC236}">
                <a16:creationId xmlns:a16="http://schemas.microsoft.com/office/drawing/2014/main" id="{F1152E55-872B-2F6D-7791-A8D93835C6A3}"/>
              </a:ext>
            </a:extLst>
          </p:cNvPr>
          <p:cNvSpPr>
            <a:spLocks noChangeShapeType="1"/>
          </p:cNvSpPr>
          <p:nvPr/>
        </p:nvSpPr>
        <p:spPr bwMode="gray">
          <a:xfrm flipH="1" flipV="1">
            <a:off x="9066213" y="3006725"/>
            <a:ext cx="0" cy="373063"/>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46" name="Freeform 43">
            <a:extLst>
              <a:ext uri="{FF2B5EF4-FFF2-40B4-BE49-F238E27FC236}">
                <a16:creationId xmlns:a16="http://schemas.microsoft.com/office/drawing/2014/main" id="{E1D5C66F-6155-18C7-5285-2086045E5417}"/>
              </a:ext>
            </a:extLst>
          </p:cNvPr>
          <p:cNvSpPr/>
          <p:nvPr/>
        </p:nvSpPr>
        <p:spPr bwMode="gray">
          <a:xfrm>
            <a:off x="5794375" y="3416300"/>
            <a:ext cx="2468563" cy="1271588"/>
          </a:xfrm>
          <a:custGeom>
            <a:gdLst>
              <a:gd name="T0" fmla="*/ 0 w 1539"/>
              <a:gd name="T1" fmla="*/ 2147483646 h 646"/>
              <a:gd name="T2" fmla="*/ 2147483646 w 1539"/>
              <a:gd name="T3" fmla="*/ 0 h 646"/>
              <a:gd name="T4" fmla="*/ 0 60000 65536"/>
              <a:gd name="T5" fmla="*/ 0 60000 65536"/>
            </a:gdLst>
            <a:cxnLst>
              <a:cxn ang="T4">
                <a:pos x="T0" y="T1"/>
              </a:cxn>
              <a:cxn ang="T5">
                <a:pos x="T2" y="T3"/>
              </a:cxn>
            </a:cxnLst>
            <a:rect l="0" t="0" r="r" b="b"/>
            <a:pathLst>
              <a:path w="1539" h="646">
                <a:moveTo>
                  <a:pt x="0" y="646"/>
                </a:moveTo>
                <a:cubicBezTo>
                  <a:pt x="839" y="603"/>
                  <a:pt x="629" y="124"/>
                  <a:pt x="1539" y="0"/>
                </a:cubicBezTo>
              </a:path>
            </a:pathLst>
          </a:custGeom>
          <a:noFill/>
          <a:ln w="12700" cap="flat" cmpd="sng">
            <a:solidFill>
              <a:schemeClr val="bg2"/>
            </a:solidFill>
            <a:prstDash val="solid"/>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47" name="Freeform 44">
            <a:extLst>
              <a:ext uri="{FF2B5EF4-FFF2-40B4-BE49-F238E27FC236}">
                <a16:creationId xmlns:a16="http://schemas.microsoft.com/office/drawing/2014/main" id="{A1D38716-CAA4-F399-5716-A9BB9F43C73F}"/>
              </a:ext>
            </a:extLst>
          </p:cNvPr>
          <p:cNvSpPr/>
          <p:nvPr/>
        </p:nvSpPr>
        <p:spPr bwMode="gray">
          <a:xfrm>
            <a:off x="6616700" y="3409950"/>
            <a:ext cx="2463800" cy="1271588"/>
          </a:xfrm>
          <a:custGeom>
            <a:gdLst>
              <a:gd name="T0" fmla="*/ 0 w 1433"/>
              <a:gd name="T1" fmla="*/ 2147483646 h 798"/>
              <a:gd name="T2" fmla="*/ 2147483646 w 1433"/>
              <a:gd name="T3" fmla="*/ 0 h 798"/>
              <a:gd name="T4" fmla="*/ 0 60000 65536"/>
              <a:gd name="T5" fmla="*/ 0 60000 65536"/>
            </a:gdLst>
            <a:cxnLst>
              <a:cxn ang="T4">
                <a:pos x="T0" y="T1"/>
              </a:cxn>
              <a:cxn ang="T5">
                <a:pos x="T2" y="T3"/>
              </a:cxn>
            </a:cxnLst>
            <a:rect l="0" t="0" r="r" b="b"/>
            <a:pathLst>
              <a:path w="1433" h="798">
                <a:moveTo>
                  <a:pt x="0" y="798"/>
                </a:moveTo>
                <a:cubicBezTo>
                  <a:pt x="783" y="745"/>
                  <a:pt x="584" y="154"/>
                  <a:pt x="1433" y="0"/>
                </a:cubicBezTo>
              </a:path>
            </a:pathLst>
          </a:custGeom>
          <a:noFill/>
          <a:ln w="12700" cap="flat" cmpd="sng">
            <a:solidFill>
              <a:schemeClr val="bg2"/>
            </a:solidFill>
            <a:prstDash val="solid"/>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48" name="Rectangle 45">
            <a:extLst>
              <a:ext uri="{FF2B5EF4-FFF2-40B4-BE49-F238E27FC236}">
                <a16:creationId xmlns:a16="http://schemas.microsoft.com/office/drawing/2014/main" id="{D4DBC273-B344-8662-4B92-6E7B2B003CFE}"/>
              </a:ext>
            </a:extLst>
          </p:cNvPr>
          <p:cNvSpPr>
            <a:spLocks noChangeArrowheads="1"/>
          </p:cNvSpPr>
          <p:nvPr/>
        </p:nvSpPr>
        <p:spPr bwMode="gray">
          <a:xfrm>
            <a:off x="6553200" y="4764088"/>
            <a:ext cx="5111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fontAlgn="b">
              <a:lnSpc>
                <a:spcPct val="100000"/>
              </a:lnSpc>
              <a:buClr>
                <a:schemeClr val="bg1"/>
              </a:buClr>
              <a:buFont typeface="Wingdings" pitchFamily="2" charset="2"/>
              <a:buNone/>
            </a:pPr>
            <a:r>
              <a:rPr lang="en-US" altLang="ko-KR" sz="900">
                <a:ea typeface="굴림" panose="020b0600000101010101" pitchFamily="34" charset="-127"/>
              </a:rPr>
              <a:t>2003</a:t>
            </a:r>
          </a:p>
        </p:txBody>
      </p:sp>
      <p:sp>
        <p:nvSpPr>
          <p:cNvPr id="72749" name="Line 46">
            <a:extLst>
              <a:ext uri="{FF2B5EF4-FFF2-40B4-BE49-F238E27FC236}">
                <a16:creationId xmlns:a16="http://schemas.microsoft.com/office/drawing/2014/main" id="{F37E4BCE-4ADD-F058-4CF1-32AFEB6767A4}"/>
              </a:ext>
            </a:extLst>
          </p:cNvPr>
          <p:cNvSpPr>
            <a:spLocks noChangeShapeType="1"/>
          </p:cNvSpPr>
          <p:nvPr/>
        </p:nvSpPr>
        <p:spPr bwMode="gray">
          <a:xfrm>
            <a:off x="8229600" y="3416300"/>
            <a:ext cx="10445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endParaRPr lang="ko-KR" altLang="en-US"/>
          </a:p>
        </p:txBody>
      </p:sp>
      <p:sp>
        <p:nvSpPr>
          <p:cNvPr id="72750" name="Rectangle 47">
            <a:extLst>
              <a:ext uri="{FF2B5EF4-FFF2-40B4-BE49-F238E27FC236}">
                <a16:creationId xmlns:a16="http://schemas.microsoft.com/office/drawing/2014/main" id="{EE02DE9F-7A8C-81B6-1462-3F827CFAE0B4}"/>
              </a:ext>
            </a:extLst>
          </p:cNvPr>
          <p:cNvSpPr>
            <a:spLocks noChangeArrowheads="1"/>
          </p:cNvSpPr>
          <p:nvPr/>
        </p:nvSpPr>
        <p:spPr bwMode="gray">
          <a:xfrm>
            <a:off x="8693150" y="3703638"/>
            <a:ext cx="774700" cy="219075"/>
          </a:xfrm>
          <a:prstGeom prst="rect">
            <a:avLst/>
          </a:prstGeom>
          <a:solidFill>
            <a:schemeClr val="bg1"/>
          </a:solidFill>
          <a:ln>
            <a:noFill/>
          </a:ln>
          <a:effectLst/>
          <a:extLs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80000"/>
              </a:lnSpc>
              <a:buClr>
                <a:schemeClr val="bg1"/>
              </a:buClr>
            </a:pPr>
            <a:r>
              <a:rPr lang="en-US" altLang="ko-KR" sz="900" b="0">
                <a:ea typeface="굴림" panose="020b0600000101010101" pitchFamily="34" charset="-127"/>
              </a:rPr>
              <a:t>800 m € actual market</a:t>
            </a:r>
            <a:endParaRPr lang="en-US" altLang="ko-KR" sz="900" b="0" baseline="30000">
              <a:ea typeface="굴림" panose="020b0600000101010101" pitchFamily="34" charset="-127"/>
            </a:endParaRPr>
          </a:p>
        </p:txBody>
      </p:sp>
      <p:sp>
        <p:nvSpPr>
          <p:cNvPr id="72751" name="Rectangle 48">
            <a:extLst>
              <a:ext uri="{FF2B5EF4-FFF2-40B4-BE49-F238E27FC236}">
                <a16:creationId xmlns:a16="http://schemas.microsoft.com/office/drawing/2014/main" id="{9C10A93E-6815-84E7-80C6-99EA4DEBF025}"/>
              </a:ext>
            </a:extLst>
          </p:cNvPr>
          <p:cNvSpPr>
            <a:spLocks noChangeArrowheads="1"/>
          </p:cNvSpPr>
          <p:nvPr/>
        </p:nvSpPr>
        <p:spPr bwMode="gray">
          <a:xfrm>
            <a:off x="8818563" y="4756150"/>
            <a:ext cx="52387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fontAlgn="b">
              <a:lnSpc>
                <a:spcPct val="100000"/>
              </a:lnSpc>
              <a:buClr>
                <a:schemeClr val="bg1"/>
              </a:buClr>
              <a:buFont typeface="Wingdings" pitchFamily="2" charset="2"/>
              <a:buNone/>
            </a:pPr>
            <a:r>
              <a:rPr lang="en-US" altLang="ko-KR" sz="900">
                <a:ea typeface="굴림" panose="020b0600000101010101" pitchFamily="34" charset="-127"/>
              </a:rPr>
              <a:t>2014</a:t>
            </a:r>
          </a:p>
        </p:txBody>
      </p:sp>
      <p:sp>
        <p:nvSpPr>
          <p:cNvPr id="72752" name="Rectangle 49">
            <a:extLst>
              <a:ext uri="{FF2B5EF4-FFF2-40B4-BE49-F238E27FC236}">
                <a16:creationId xmlns:a16="http://schemas.microsoft.com/office/drawing/2014/main" id="{999E4877-A98E-8F4A-77F0-F813F7066127}"/>
              </a:ext>
            </a:extLst>
          </p:cNvPr>
          <p:cNvSpPr>
            <a:spLocks noChangeArrowheads="1"/>
          </p:cNvSpPr>
          <p:nvPr/>
        </p:nvSpPr>
        <p:spPr bwMode="auto">
          <a:xfrm>
            <a:off x="6805613" y="225425"/>
            <a:ext cx="28384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SaaS market – Market size and growth</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2" name="Object 2">
            <a:extLst>
              <a:ext uri="{FF2B5EF4-FFF2-40B4-BE49-F238E27FC236}">
                <a16:creationId xmlns:a16="http://schemas.microsoft.com/office/drawing/2014/main" id="{C23767FA-5209-4F35-584F-AD7A6E9537D5}"/>
              </a:ext>
            </a:extLst>
          </p:cNvPr>
          <p:cNvGraphicFramePr/>
          <p:nvPr/>
        </p:nvGraphicFramePr>
        <p:xfrm>
          <a:off x="1108075" y="2855913"/>
          <a:ext cx="2840038" cy="2293937"/>
        </p:xfrm>
        <a:graphic>
          <a:graphicData uri="http://schemas.openxmlformats.org/drawingml/2006/chart">
            <c:chart xmlns:c="http://schemas.openxmlformats.org/drawingml/2006/chart" r:id="rId3"/>
          </a:graphicData>
        </a:graphic>
      </p:graphicFrame>
      <p:sp>
        <p:nvSpPr>
          <p:cNvPr id="76802" name="Rectangle 3">
            <a:extLst>
              <a:ext uri="{FF2B5EF4-FFF2-40B4-BE49-F238E27FC236}">
                <a16:creationId xmlns:a16="http://schemas.microsoft.com/office/drawing/2014/main" id="{AE0BC376-E366-BAB1-CA14-0449F43FE43A}"/>
              </a:ext>
            </a:extLst>
          </p:cNvPr>
          <p:cNvSpPr>
            <a:spLocks noGrp="1" noChangeArrowheads="1"/>
          </p:cNvSpPr>
          <p:nvPr>
            <p:ph type="title"/>
          </p:nvPr>
        </p:nvSpPr>
        <p:spPr>
          <a:xfrm>
            <a:off x="266700" y="596900"/>
            <a:ext cx="9367838" cy="657225"/>
          </a:xfrm>
        </p:spPr>
        <p:txBody>
          <a:bodyPr/>
          <a:lstStyle/>
          <a:p>
            <a:r>
              <a:rPr lang="en-US" altLang="ko-KR">
                <a:ea typeface="굴림" panose="020b0600000101010101" pitchFamily="34" charset="-127"/>
              </a:rPr>
              <a:t>Client examples indicate that substantial growth can be realized if the right actions are implemented effectively</a:t>
            </a:r>
          </a:p>
        </p:txBody>
      </p:sp>
      <p:sp>
        <p:nvSpPr>
          <p:cNvPr id="76803" name="Rectangle 4">
            <a:extLst>
              <a:ext uri="{FF2B5EF4-FFF2-40B4-BE49-F238E27FC236}">
                <a16:creationId xmlns:a16="http://schemas.microsoft.com/office/drawing/2014/main" id="{D18B9F8C-8490-4BF7-4AA2-EB4D8E5F6070}"/>
              </a:ext>
            </a:extLst>
          </p:cNvPr>
          <p:cNvSpPr>
            <a:spLocks noChangeArrowheads="1"/>
          </p:cNvSpPr>
          <p:nvPr/>
        </p:nvSpPr>
        <p:spPr bwMode="auto">
          <a:xfrm>
            <a:off x="265113" y="1614488"/>
            <a:ext cx="7653337" cy="247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800">
                <a:solidFill>
                  <a:srgbClr val="000000"/>
                </a:solidFill>
                <a:ea typeface="굴림" panose="020b0600000101010101" pitchFamily="34" charset="-127"/>
              </a:rPr>
              <a:t>Selected client examples</a:t>
            </a:r>
          </a:p>
        </p:txBody>
      </p:sp>
      <p:sp>
        <p:nvSpPr>
          <p:cNvPr id="76804" name="Text Box 5">
            <a:extLst>
              <a:ext uri="{FF2B5EF4-FFF2-40B4-BE49-F238E27FC236}">
                <a16:creationId xmlns:a16="http://schemas.microsoft.com/office/drawing/2014/main" id="{F5DF8486-A52E-3886-30DA-124EC3791995}"/>
              </a:ext>
            </a:extLst>
          </p:cNvPr>
          <p:cNvSpPr txBox="1">
            <a:spLocks noChangeArrowheads="1"/>
          </p:cNvSpPr>
          <p:nvPr/>
        </p:nvSpPr>
        <p:spPr bwMode="auto">
          <a:xfrm>
            <a:off x="5381625" y="3455988"/>
            <a:ext cx="700088"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US" altLang="ko-KR" sz="1200">
                <a:ea typeface="굴림" panose="020b0600000101010101" pitchFamily="34" charset="-127"/>
              </a:rPr>
              <a:t>Sales</a:t>
            </a:r>
            <a:br>
              <a:rPr lang="en-US" altLang="ko-KR" sz="1200">
                <a:ea typeface="굴림" panose="020b0600000101010101" pitchFamily="34" charset="-127"/>
              </a:rPr>
            </a:br>
            <a:r>
              <a:rPr lang="en-US" altLang="ko-KR" sz="1200" b="0">
                <a:ea typeface="굴림" panose="020b0600000101010101" pitchFamily="34" charset="-127"/>
              </a:rPr>
              <a:t>(€ bn.)</a:t>
            </a:r>
          </a:p>
        </p:txBody>
      </p:sp>
      <p:sp>
        <p:nvSpPr>
          <p:cNvPr id="76805" name="Rectangle 6">
            <a:extLst>
              <a:ext uri="{FF2B5EF4-FFF2-40B4-BE49-F238E27FC236}">
                <a16:creationId xmlns:a16="http://schemas.microsoft.com/office/drawing/2014/main" id="{519D7FBA-7203-A80D-040D-1183AE27E5E8}"/>
              </a:ext>
            </a:extLst>
          </p:cNvPr>
          <p:cNvSpPr>
            <a:spLocks noChangeArrowheads="1"/>
          </p:cNvSpPr>
          <p:nvPr/>
        </p:nvSpPr>
        <p:spPr bwMode="auto">
          <a:xfrm>
            <a:off x="5129213" y="1970088"/>
            <a:ext cx="4446587" cy="42862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a:ea typeface="굴림" panose="020b0600000101010101" pitchFamily="34" charset="-127"/>
              </a:rPr>
              <a:t>Technical equipment</a:t>
            </a:r>
          </a:p>
        </p:txBody>
      </p:sp>
      <p:sp>
        <p:nvSpPr>
          <p:cNvPr id="76806" name="Text Box 7">
            <a:extLst>
              <a:ext uri="{FF2B5EF4-FFF2-40B4-BE49-F238E27FC236}">
                <a16:creationId xmlns:a16="http://schemas.microsoft.com/office/drawing/2014/main" id="{F531D522-0D72-6A86-0BC1-F1377C03B6BD}"/>
              </a:ext>
            </a:extLst>
          </p:cNvPr>
          <p:cNvSpPr txBox="1">
            <a:spLocks noChangeArrowheads="1"/>
          </p:cNvSpPr>
          <p:nvPr/>
        </p:nvSpPr>
        <p:spPr bwMode="auto">
          <a:xfrm>
            <a:off x="4946650" y="4978400"/>
            <a:ext cx="4959350" cy="1355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28588" indent="-1285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4013" indent="-171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30000"/>
              </a:spcBef>
              <a:buFontTx/>
              <a:buChar char="•"/>
            </a:pPr>
            <a:r>
              <a:rPr lang="en-US" altLang="ko-KR" sz="1200" b="0">
                <a:ea typeface="굴림" panose="020b0600000101010101" pitchFamily="34" charset="-127"/>
              </a:rPr>
              <a:t>Global </a:t>
            </a:r>
            <a:r>
              <a:rPr lang="en-US" altLang="ko-KR" sz="1200">
                <a:ea typeface="굴림" panose="020b0600000101010101" pitchFamily="34" charset="-127"/>
              </a:rPr>
              <a:t>top-line driven transformation</a:t>
            </a:r>
            <a:r>
              <a:rPr lang="en-US" altLang="ko-KR" sz="1200" b="0">
                <a:ea typeface="굴림" panose="020b0600000101010101" pitchFamily="34" charset="-127"/>
              </a:rPr>
              <a:t> project in </a:t>
            </a:r>
            <a:r>
              <a:rPr lang="en-US" altLang="ko-KR" sz="1200">
                <a:ea typeface="굴림" panose="020b0600000101010101" pitchFamily="34" charset="-127"/>
              </a:rPr>
              <a:t>16 countries</a:t>
            </a:r>
          </a:p>
          <a:p>
            <a:pPr>
              <a:lnSpc>
                <a:spcPct val="85000"/>
              </a:lnSpc>
              <a:spcBef>
                <a:spcPct val="30000"/>
              </a:spcBef>
              <a:buFontTx/>
              <a:buChar char="•"/>
            </a:pPr>
            <a:r>
              <a:rPr lang="en-US" altLang="ko-KR" sz="1200" b="0">
                <a:ea typeface="굴림" panose="020b0600000101010101" pitchFamily="34" charset="-127"/>
              </a:rPr>
              <a:t>Growth realized by</a:t>
            </a:r>
          </a:p>
          <a:p>
            <a:pPr lvl="1">
              <a:lnSpc>
                <a:spcPct val="85000"/>
              </a:lnSpc>
              <a:spcBef>
                <a:spcPct val="0"/>
              </a:spcBef>
              <a:buFont typeface="Tele-GroteskNor" pitchFamily="2" charset="0"/>
              <a:buChar char="—"/>
            </a:pPr>
            <a:r>
              <a:rPr lang="en-US" altLang="ko-KR" sz="1200">
                <a:ea typeface="굴림" panose="020b0600000101010101" pitchFamily="34" charset="-127"/>
              </a:rPr>
              <a:t>Sales structure</a:t>
            </a:r>
            <a:r>
              <a:rPr lang="en-US" altLang="ko-KR" sz="1200" b="0">
                <a:ea typeface="굴림" panose="020b0600000101010101" pitchFamily="34" charset="-127"/>
              </a:rPr>
              <a:t> redesign</a:t>
            </a:r>
          </a:p>
          <a:p>
            <a:pPr lvl="1">
              <a:lnSpc>
                <a:spcPct val="85000"/>
              </a:lnSpc>
              <a:spcBef>
                <a:spcPct val="0"/>
              </a:spcBef>
              <a:buFont typeface="Tele-GroteskNor" pitchFamily="2" charset="0"/>
              <a:buChar char="—"/>
            </a:pPr>
            <a:r>
              <a:rPr lang="en-US" altLang="ko-KR" sz="1200">
                <a:ea typeface="굴림" panose="020b0600000101010101" pitchFamily="34" charset="-127"/>
              </a:rPr>
              <a:t>Value-based</a:t>
            </a:r>
            <a:r>
              <a:rPr lang="en-US" altLang="ko-KR" sz="1200" b="0">
                <a:ea typeface="굴림" panose="020b0600000101010101" pitchFamily="34" charset="-127"/>
              </a:rPr>
              <a:t> and </a:t>
            </a:r>
            <a:r>
              <a:rPr lang="en-US" altLang="ko-KR" sz="1200">
                <a:ea typeface="굴림" panose="020b0600000101010101" pitchFamily="34" charset="-127"/>
              </a:rPr>
              <a:t>customer specific pricing</a:t>
            </a:r>
          </a:p>
          <a:p>
            <a:pPr>
              <a:lnSpc>
                <a:spcPct val="85000"/>
              </a:lnSpc>
              <a:spcBef>
                <a:spcPct val="30000"/>
              </a:spcBef>
              <a:buFontTx/>
              <a:buChar char="•"/>
            </a:pPr>
            <a:r>
              <a:rPr lang="en-US" altLang="ko-KR" sz="1200" b="0">
                <a:ea typeface="굴림" panose="020b0600000101010101" pitchFamily="34" charset="-127"/>
              </a:rPr>
              <a:t>EBIT optimization realized by</a:t>
            </a:r>
          </a:p>
          <a:p>
            <a:pPr lvl="1">
              <a:lnSpc>
                <a:spcPct val="85000"/>
              </a:lnSpc>
              <a:spcBef>
                <a:spcPct val="0"/>
              </a:spcBef>
              <a:buFont typeface="Tele-GroteskNor" pitchFamily="2" charset="0"/>
              <a:buChar char="—"/>
            </a:pPr>
            <a:r>
              <a:rPr lang="en-US" altLang="ko-KR" sz="1200">
                <a:ea typeface="굴림" panose="020b0600000101010101" pitchFamily="34" charset="-127"/>
              </a:rPr>
              <a:t>Product portfolio</a:t>
            </a:r>
            <a:r>
              <a:rPr lang="en-US" altLang="ko-KR" sz="1200" b="0">
                <a:ea typeface="굴림" panose="020b0600000101010101" pitchFamily="34" charset="-127"/>
              </a:rPr>
              <a:t> flexibilization</a:t>
            </a:r>
          </a:p>
          <a:p>
            <a:pPr lvl="1">
              <a:lnSpc>
                <a:spcPct val="85000"/>
              </a:lnSpc>
              <a:spcBef>
                <a:spcPct val="0"/>
              </a:spcBef>
              <a:buFont typeface="Tele-GroteskNor" pitchFamily="2" charset="0"/>
              <a:buChar char="—"/>
            </a:pPr>
            <a:r>
              <a:rPr lang="en-US" altLang="ko-KR" sz="1200">
                <a:ea typeface="굴림" panose="020b0600000101010101" pitchFamily="34" charset="-127"/>
              </a:rPr>
              <a:t>Asset utilization</a:t>
            </a:r>
            <a:r>
              <a:rPr lang="en-US" altLang="ko-KR" sz="1200" b="0">
                <a:ea typeface="굴림" panose="020b0600000101010101" pitchFamily="34" charset="-127"/>
              </a:rPr>
              <a:t> enhancement</a:t>
            </a:r>
          </a:p>
          <a:p>
            <a:pPr lvl="1">
              <a:lnSpc>
                <a:spcPct val="85000"/>
              </a:lnSpc>
              <a:spcBef>
                <a:spcPct val="0"/>
              </a:spcBef>
              <a:buFont typeface="Tele-GroteskNor" pitchFamily="2" charset="0"/>
              <a:buChar char="—"/>
            </a:pPr>
            <a:r>
              <a:rPr lang="en-US" altLang="ko-KR" sz="1200">
                <a:ea typeface="굴림" panose="020b0600000101010101" pitchFamily="34" charset="-127"/>
              </a:rPr>
              <a:t>Holistic margin steering</a:t>
            </a:r>
            <a:r>
              <a:rPr lang="en-US" altLang="ko-KR" sz="1200" b="0">
                <a:ea typeface="굴림" panose="020b0600000101010101" pitchFamily="34" charset="-127"/>
              </a:rPr>
              <a:t> along the value chain</a:t>
            </a:r>
          </a:p>
        </p:txBody>
      </p:sp>
      <p:sp>
        <p:nvSpPr>
          <p:cNvPr id="76807" name="Rectangle 8">
            <a:extLst>
              <a:ext uri="{FF2B5EF4-FFF2-40B4-BE49-F238E27FC236}">
                <a16:creationId xmlns:a16="http://schemas.microsoft.com/office/drawing/2014/main" id="{8B9A6CBC-73CF-4783-FE94-F7388121FC1E}"/>
              </a:ext>
            </a:extLst>
          </p:cNvPr>
          <p:cNvSpPr>
            <a:spLocks noChangeArrowheads="1"/>
          </p:cNvSpPr>
          <p:nvPr/>
        </p:nvSpPr>
        <p:spPr bwMode="auto">
          <a:xfrm>
            <a:off x="285750" y="1970088"/>
            <a:ext cx="4549775" cy="42862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a:ea typeface="굴림" panose="020b0600000101010101" pitchFamily="34" charset="-127"/>
              </a:rPr>
              <a:t>High tech products, solutions, and services</a:t>
            </a:r>
          </a:p>
        </p:txBody>
      </p:sp>
      <p:sp>
        <p:nvSpPr>
          <p:cNvPr id="76808" name="Line 9">
            <a:extLst>
              <a:ext uri="{FF2B5EF4-FFF2-40B4-BE49-F238E27FC236}">
                <a16:creationId xmlns:a16="http://schemas.microsoft.com/office/drawing/2014/main" id="{70551BF9-F7A5-5332-AE52-EFF0D1771B60}"/>
              </a:ext>
            </a:extLst>
          </p:cNvPr>
          <p:cNvSpPr>
            <a:spLocks noChangeShapeType="1"/>
          </p:cNvSpPr>
          <p:nvPr/>
        </p:nvSpPr>
        <p:spPr bwMode="auto">
          <a:xfrm flipV="1">
            <a:off x="3148013" y="3082925"/>
            <a:ext cx="460375" cy="161925"/>
          </a:xfrm>
          <a:prstGeom prst="line">
            <a:avLst/>
          </a:prstGeom>
          <a:noFill/>
          <a:ln w="381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09" name="Text Box 10">
            <a:extLst>
              <a:ext uri="{FF2B5EF4-FFF2-40B4-BE49-F238E27FC236}">
                <a16:creationId xmlns:a16="http://schemas.microsoft.com/office/drawing/2014/main" id="{DEE5C76A-5148-1ABC-D3E7-49FE7E4CF9FA}"/>
              </a:ext>
            </a:extLst>
          </p:cNvPr>
          <p:cNvSpPr txBox="1">
            <a:spLocks noChangeArrowheads="1"/>
          </p:cNvSpPr>
          <p:nvPr/>
        </p:nvSpPr>
        <p:spPr bwMode="auto">
          <a:xfrm>
            <a:off x="565150" y="3062288"/>
            <a:ext cx="700088"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US" altLang="ko-KR" sz="1200">
                <a:ea typeface="굴림" panose="020b0600000101010101" pitchFamily="34" charset="-127"/>
              </a:rPr>
              <a:t>Sales</a:t>
            </a:r>
            <a:br>
              <a:rPr lang="en-US" altLang="ko-KR" sz="1200">
                <a:ea typeface="굴림" panose="020b0600000101010101" pitchFamily="34" charset="-127"/>
              </a:rPr>
            </a:br>
            <a:r>
              <a:rPr lang="en-US" altLang="ko-KR" sz="1200" b="0">
                <a:ea typeface="굴림" panose="020b0600000101010101" pitchFamily="34" charset="-127"/>
              </a:rPr>
              <a:t>(€ bn.)</a:t>
            </a:r>
          </a:p>
        </p:txBody>
      </p:sp>
      <p:sp>
        <p:nvSpPr>
          <p:cNvPr id="76810" name="Text Box 11">
            <a:extLst>
              <a:ext uri="{FF2B5EF4-FFF2-40B4-BE49-F238E27FC236}">
                <a16:creationId xmlns:a16="http://schemas.microsoft.com/office/drawing/2014/main" id="{D9280B94-5E1D-BD5D-45A3-4BFB2C537573}"/>
              </a:ext>
            </a:extLst>
          </p:cNvPr>
          <p:cNvSpPr txBox="1">
            <a:spLocks noChangeArrowheads="1"/>
          </p:cNvSpPr>
          <p:nvPr/>
        </p:nvSpPr>
        <p:spPr bwMode="auto">
          <a:xfrm>
            <a:off x="285750" y="4978400"/>
            <a:ext cx="3927475" cy="1144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28588" indent="-1285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4013" indent="-1714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30000"/>
              </a:spcBef>
              <a:buFontTx/>
              <a:buChar char="•"/>
            </a:pPr>
            <a:r>
              <a:rPr lang="en-US" altLang="ko-KR" sz="1200" b="0">
                <a:ea typeface="굴림" panose="020b0600000101010101" pitchFamily="34" charset="-127"/>
              </a:rPr>
              <a:t>Global </a:t>
            </a:r>
            <a:r>
              <a:rPr lang="en-US" altLang="ko-KR" sz="1200">
                <a:ea typeface="굴림" panose="020b0600000101010101" pitchFamily="34" charset="-127"/>
              </a:rPr>
              <a:t>growth</a:t>
            </a:r>
            <a:r>
              <a:rPr lang="en-US" altLang="ko-KR" sz="1200" b="0">
                <a:ea typeface="굴림" panose="020b0600000101010101" pitchFamily="34" charset="-127"/>
              </a:rPr>
              <a:t> and </a:t>
            </a:r>
            <a:r>
              <a:rPr lang="en-US" altLang="ko-KR" sz="1200">
                <a:ea typeface="굴림" panose="020b0600000101010101" pitchFamily="34" charset="-127"/>
              </a:rPr>
              <a:t>sales &amp; marketing</a:t>
            </a:r>
            <a:r>
              <a:rPr lang="en-US" altLang="ko-KR" sz="1200" b="0">
                <a:ea typeface="굴림" panose="020b0600000101010101" pitchFamily="34" charset="-127"/>
              </a:rPr>
              <a:t> excellence project in more than </a:t>
            </a:r>
            <a:r>
              <a:rPr lang="en-US" altLang="ko-KR" sz="1200">
                <a:ea typeface="굴림" panose="020b0600000101010101" pitchFamily="34" charset="-127"/>
              </a:rPr>
              <a:t>20 countries</a:t>
            </a:r>
          </a:p>
          <a:p>
            <a:pPr>
              <a:lnSpc>
                <a:spcPct val="85000"/>
              </a:lnSpc>
              <a:spcBef>
                <a:spcPct val="30000"/>
              </a:spcBef>
              <a:buFontTx/>
              <a:buChar char="•"/>
            </a:pPr>
            <a:r>
              <a:rPr lang="en-US" altLang="ko-KR" sz="1200" b="0">
                <a:ea typeface="굴림" panose="020b0600000101010101" pitchFamily="34" charset="-127"/>
              </a:rPr>
              <a:t>Growth realized by</a:t>
            </a:r>
          </a:p>
          <a:p>
            <a:pPr lvl="1">
              <a:lnSpc>
                <a:spcPct val="85000"/>
              </a:lnSpc>
              <a:spcBef>
                <a:spcPct val="0"/>
              </a:spcBef>
              <a:buFont typeface="Tele-GroteskNor" pitchFamily="2" charset="0"/>
              <a:buChar char="—"/>
            </a:pPr>
            <a:r>
              <a:rPr lang="en-US" altLang="ko-KR" sz="1200" b="0">
                <a:ea typeface="굴림" panose="020b0600000101010101" pitchFamily="34" charset="-127"/>
              </a:rPr>
              <a:t>Focus on </a:t>
            </a:r>
            <a:r>
              <a:rPr lang="en-US" altLang="ko-KR" sz="1200">
                <a:ea typeface="굴림" panose="020b0600000101010101" pitchFamily="34" charset="-127"/>
              </a:rPr>
              <a:t>attractive customers</a:t>
            </a:r>
          </a:p>
          <a:p>
            <a:pPr lvl="1">
              <a:lnSpc>
                <a:spcPct val="85000"/>
              </a:lnSpc>
              <a:spcBef>
                <a:spcPct val="0"/>
              </a:spcBef>
              <a:buFont typeface="Tele-GroteskNor" pitchFamily="2" charset="0"/>
              <a:buChar char="—"/>
            </a:pPr>
            <a:r>
              <a:rPr lang="en-US" altLang="ko-KR" sz="1200">
                <a:ea typeface="굴림" panose="020b0600000101010101" pitchFamily="34" charset="-127"/>
              </a:rPr>
              <a:t>Sales force management</a:t>
            </a:r>
          </a:p>
          <a:p>
            <a:pPr lvl="1">
              <a:lnSpc>
                <a:spcPct val="85000"/>
              </a:lnSpc>
              <a:spcBef>
                <a:spcPct val="0"/>
              </a:spcBef>
              <a:buFont typeface="Tele-GroteskNor" pitchFamily="2" charset="0"/>
              <a:buChar char="—"/>
            </a:pPr>
            <a:r>
              <a:rPr lang="en-US" altLang="ko-KR" sz="1200">
                <a:ea typeface="굴림" panose="020b0600000101010101" pitchFamily="34" charset="-127"/>
              </a:rPr>
              <a:t>Portfolio</a:t>
            </a:r>
            <a:r>
              <a:rPr lang="en-US" altLang="ko-KR" sz="1200" b="0">
                <a:ea typeface="굴림" panose="020b0600000101010101" pitchFamily="34" charset="-127"/>
              </a:rPr>
              <a:t> completion</a:t>
            </a:r>
          </a:p>
          <a:p>
            <a:pPr lvl="1">
              <a:lnSpc>
                <a:spcPct val="85000"/>
              </a:lnSpc>
              <a:spcBef>
                <a:spcPct val="0"/>
              </a:spcBef>
              <a:buFont typeface="Tele-GroteskNor" pitchFamily="2" charset="0"/>
              <a:buChar char="—"/>
            </a:pPr>
            <a:r>
              <a:rPr lang="en-US" altLang="ko-KR" sz="1200">
                <a:ea typeface="굴림" panose="020b0600000101010101" pitchFamily="34" charset="-127"/>
              </a:rPr>
              <a:t>Partnership</a:t>
            </a:r>
            <a:r>
              <a:rPr lang="en-US" altLang="ko-KR" sz="1200" b="0">
                <a:ea typeface="굴림" panose="020b0600000101010101" pitchFamily="34" charset="-127"/>
              </a:rPr>
              <a:t> management</a:t>
            </a:r>
          </a:p>
        </p:txBody>
      </p:sp>
      <p:sp>
        <p:nvSpPr>
          <p:cNvPr id="76811" name="Line 12">
            <a:extLst>
              <a:ext uri="{FF2B5EF4-FFF2-40B4-BE49-F238E27FC236}">
                <a16:creationId xmlns:a16="http://schemas.microsoft.com/office/drawing/2014/main" id="{DA3C4514-9137-3DC3-0204-666D802F8BEF}"/>
              </a:ext>
            </a:extLst>
          </p:cNvPr>
          <p:cNvSpPr>
            <a:spLocks noChangeShapeType="1"/>
          </p:cNvSpPr>
          <p:nvPr/>
        </p:nvSpPr>
        <p:spPr bwMode="auto">
          <a:xfrm>
            <a:off x="1509713" y="2992438"/>
            <a:ext cx="482600" cy="12700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12" name="Line 13">
            <a:extLst>
              <a:ext uri="{FF2B5EF4-FFF2-40B4-BE49-F238E27FC236}">
                <a16:creationId xmlns:a16="http://schemas.microsoft.com/office/drawing/2014/main" id="{D1B47138-A011-0DF9-FB16-937108EE08BC}"/>
              </a:ext>
            </a:extLst>
          </p:cNvPr>
          <p:cNvSpPr>
            <a:spLocks noChangeShapeType="1"/>
          </p:cNvSpPr>
          <p:nvPr/>
        </p:nvSpPr>
        <p:spPr bwMode="auto">
          <a:xfrm>
            <a:off x="2062163" y="3138488"/>
            <a:ext cx="461962" cy="161925"/>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13" name="Line 14">
            <a:extLst>
              <a:ext uri="{FF2B5EF4-FFF2-40B4-BE49-F238E27FC236}">
                <a16:creationId xmlns:a16="http://schemas.microsoft.com/office/drawing/2014/main" id="{C95B77BE-2BBA-CCDB-3EB3-58EAC1DB49F8}"/>
              </a:ext>
            </a:extLst>
          </p:cNvPr>
          <p:cNvSpPr>
            <a:spLocks noChangeShapeType="1"/>
          </p:cNvSpPr>
          <p:nvPr/>
        </p:nvSpPr>
        <p:spPr bwMode="auto">
          <a:xfrm flipV="1">
            <a:off x="2592388" y="3254375"/>
            <a:ext cx="460375" cy="76200"/>
          </a:xfrm>
          <a:prstGeom prst="line">
            <a:avLst/>
          </a:prstGeom>
          <a:noFill/>
          <a:ln w="381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14" name="Text Box 15">
            <a:extLst>
              <a:ext uri="{FF2B5EF4-FFF2-40B4-BE49-F238E27FC236}">
                <a16:creationId xmlns:a16="http://schemas.microsoft.com/office/drawing/2014/main" id="{899E956E-D553-02B0-A038-2F481EAAF6E0}"/>
              </a:ext>
            </a:extLst>
          </p:cNvPr>
          <p:cNvSpPr txBox="1">
            <a:spLocks noChangeArrowheads="1"/>
          </p:cNvSpPr>
          <p:nvPr/>
        </p:nvSpPr>
        <p:spPr bwMode="auto">
          <a:xfrm>
            <a:off x="1531938" y="2779713"/>
            <a:ext cx="5381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-11%</a:t>
            </a:r>
          </a:p>
        </p:txBody>
      </p:sp>
      <p:sp>
        <p:nvSpPr>
          <p:cNvPr id="76815" name="Text Box 16">
            <a:extLst>
              <a:ext uri="{FF2B5EF4-FFF2-40B4-BE49-F238E27FC236}">
                <a16:creationId xmlns:a16="http://schemas.microsoft.com/office/drawing/2014/main" id="{6E554962-46A0-CEB8-3AA9-A2B91ED19717}"/>
              </a:ext>
            </a:extLst>
          </p:cNvPr>
          <p:cNvSpPr txBox="1">
            <a:spLocks noChangeArrowheads="1"/>
          </p:cNvSpPr>
          <p:nvPr/>
        </p:nvSpPr>
        <p:spPr bwMode="auto">
          <a:xfrm>
            <a:off x="2065338" y="2957513"/>
            <a:ext cx="5381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-15%</a:t>
            </a:r>
          </a:p>
        </p:txBody>
      </p:sp>
      <p:sp>
        <p:nvSpPr>
          <p:cNvPr id="76816" name="Text Box 17">
            <a:extLst>
              <a:ext uri="{FF2B5EF4-FFF2-40B4-BE49-F238E27FC236}">
                <a16:creationId xmlns:a16="http://schemas.microsoft.com/office/drawing/2014/main" id="{8B3F146D-18BC-F236-4F2F-F9F5AC6897B3}"/>
              </a:ext>
            </a:extLst>
          </p:cNvPr>
          <p:cNvSpPr txBox="1">
            <a:spLocks noChangeArrowheads="1"/>
          </p:cNvSpPr>
          <p:nvPr/>
        </p:nvSpPr>
        <p:spPr bwMode="auto">
          <a:xfrm>
            <a:off x="2543175" y="2987675"/>
            <a:ext cx="4889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+4%</a:t>
            </a:r>
          </a:p>
        </p:txBody>
      </p:sp>
      <p:sp>
        <p:nvSpPr>
          <p:cNvPr id="76817" name="Text Box 18">
            <a:extLst>
              <a:ext uri="{FF2B5EF4-FFF2-40B4-BE49-F238E27FC236}">
                <a16:creationId xmlns:a16="http://schemas.microsoft.com/office/drawing/2014/main" id="{2F859D82-A433-A687-E1A6-5F904445F486}"/>
              </a:ext>
            </a:extLst>
          </p:cNvPr>
          <p:cNvSpPr txBox="1">
            <a:spLocks noChangeArrowheads="1"/>
          </p:cNvSpPr>
          <p:nvPr/>
        </p:nvSpPr>
        <p:spPr bwMode="auto">
          <a:xfrm>
            <a:off x="3057525" y="2868613"/>
            <a:ext cx="4889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+9%</a:t>
            </a:r>
          </a:p>
        </p:txBody>
      </p:sp>
      <p:sp>
        <p:nvSpPr>
          <p:cNvPr id="76818" name="Line 19">
            <a:extLst>
              <a:ext uri="{FF2B5EF4-FFF2-40B4-BE49-F238E27FC236}">
                <a16:creationId xmlns:a16="http://schemas.microsoft.com/office/drawing/2014/main" id="{FCA7B732-496F-04D7-0A9F-73A148FB119A}"/>
              </a:ext>
            </a:extLst>
          </p:cNvPr>
          <p:cNvSpPr>
            <a:spLocks noChangeShapeType="1"/>
          </p:cNvSpPr>
          <p:nvPr/>
        </p:nvSpPr>
        <p:spPr bwMode="auto">
          <a:xfrm flipV="1">
            <a:off x="7921625" y="3035300"/>
            <a:ext cx="474663" cy="80963"/>
          </a:xfrm>
          <a:prstGeom prst="line">
            <a:avLst/>
          </a:prstGeom>
          <a:noFill/>
          <a:ln w="381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19" name="Line 20">
            <a:extLst>
              <a:ext uri="{FF2B5EF4-FFF2-40B4-BE49-F238E27FC236}">
                <a16:creationId xmlns:a16="http://schemas.microsoft.com/office/drawing/2014/main" id="{92E7A332-0424-469A-9D32-137F8A64D9F6}"/>
              </a:ext>
            </a:extLst>
          </p:cNvPr>
          <p:cNvSpPr>
            <a:spLocks noChangeShapeType="1"/>
          </p:cNvSpPr>
          <p:nvPr/>
        </p:nvSpPr>
        <p:spPr bwMode="auto">
          <a:xfrm>
            <a:off x="6261100" y="3359150"/>
            <a:ext cx="482600" cy="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20" name="Line 21">
            <a:extLst>
              <a:ext uri="{FF2B5EF4-FFF2-40B4-BE49-F238E27FC236}">
                <a16:creationId xmlns:a16="http://schemas.microsoft.com/office/drawing/2014/main" id="{66A92FCB-F867-D5FC-7506-BF25020FD01D}"/>
              </a:ext>
            </a:extLst>
          </p:cNvPr>
          <p:cNvSpPr>
            <a:spLocks noChangeShapeType="1"/>
          </p:cNvSpPr>
          <p:nvPr/>
        </p:nvSpPr>
        <p:spPr bwMode="auto">
          <a:xfrm flipV="1">
            <a:off x="6826250" y="3232150"/>
            <a:ext cx="450850" cy="120650"/>
          </a:xfrm>
          <a:prstGeom prst="line">
            <a:avLst/>
          </a:prstGeom>
          <a:noFill/>
          <a:ln w="381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21" name="Line 22">
            <a:extLst>
              <a:ext uri="{FF2B5EF4-FFF2-40B4-BE49-F238E27FC236}">
                <a16:creationId xmlns:a16="http://schemas.microsoft.com/office/drawing/2014/main" id="{30812509-727D-5F9D-73E5-2F1410E7AEF1}"/>
              </a:ext>
            </a:extLst>
          </p:cNvPr>
          <p:cNvSpPr>
            <a:spLocks noChangeShapeType="1"/>
          </p:cNvSpPr>
          <p:nvPr/>
        </p:nvSpPr>
        <p:spPr bwMode="auto">
          <a:xfrm flipV="1">
            <a:off x="7373938" y="3130550"/>
            <a:ext cx="461962" cy="76200"/>
          </a:xfrm>
          <a:prstGeom prst="line">
            <a:avLst/>
          </a:prstGeom>
          <a:noFill/>
          <a:ln w="381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76822" name="Text Box 23">
            <a:extLst>
              <a:ext uri="{FF2B5EF4-FFF2-40B4-BE49-F238E27FC236}">
                <a16:creationId xmlns:a16="http://schemas.microsoft.com/office/drawing/2014/main" id="{FD0D354E-D365-3D5E-64CF-2F4986EA2985}"/>
              </a:ext>
            </a:extLst>
          </p:cNvPr>
          <p:cNvSpPr txBox="1">
            <a:spLocks noChangeArrowheads="1"/>
          </p:cNvSpPr>
          <p:nvPr/>
        </p:nvSpPr>
        <p:spPr bwMode="auto">
          <a:xfrm>
            <a:off x="6173788" y="3055938"/>
            <a:ext cx="5905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+/-0%</a:t>
            </a:r>
          </a:p>
        </p:txBody>
      </p:sp>
      <p:sp>
        <p:nvSpPr>
          <p:cNvPr id="76823" name="Text Box 24">
            <a:extLst>
              <a:ext uri="{FF2B5EF4-FFF2-40B4-BE49-F238E27FC236}">
                <a16:creationId xmlns:a16="http://schemas.microsoft.com/office/drawing/2014/main" id="{200A3BEA-08AE-F496-A744-55C104C5B4AD}"/>
              </a:ext>
            </a:extLst>
          </p:cNvPr>
          <p:cNvSpPr txBox="1">
            <a:spLocks noChangeArrowheads="1"/>
          </p:cNvSpPr>
          <p:nvPr/>
        </p:nvSpPr>
        <p:spPr bwMode="auto">
          <a:xfrm>
            <a:off x="6740525" y="2957513"/>
            <a:ext cx="5794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+22%</a:t>
            </a:r>
          </a:p>
        </p:txBody>
      </p:sp>
      <p:sp>
        <p:nvSpPr>
          <p:cNvPr id="76824" name="Text Box 25">
            <a:extLst>
              <a:ext uri="{FF2B5EF4-FFF2-40B4-BE49-F238E27FC236}">
                <a16:creationId xmlns:a16="http://schemas.microsoft.com/office/drawing/2014/main" id="{044C7DA3-AA14-EA22-6960-A761738CC3BB}"/>
              </a:ext>
            </a:extLst>
          </p:cNvPr>
          <p:cNvSpPr txBox="1">
            <a:spLocks noChangeArrowheads="1"/>
          </p:cNvSpPr>
          <p:nvPr/>
        </p:nvSpPr>
        <p:spPr bwMode="auto">
          <a:xfrm>
            <a:off x="7307263" y="2859088"/>
            <a:ext cx="5794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+14%</a:t>
            </a:r>
          </a:p>
        </p:txBody>
      </p:sp>
      <p:sp>
        <p:nvSpPr>
          <p:cNvPr id="76825" name="Text Box 26">
            <a:extLst>
              <a:ext uri="{FF2B5EF4-FFF2-40B4-BE49-F238E27FC236}">
                <a16:creationId xmlns:a16="http://schemas.microsoft.com/office/drawing/2014/main" id="{34DEB86F-E6F9-CD3C-CB28-2CE85B70755C}"/>
              </a:ext>
            </a:extLst>
          </p:cNvPr>
          <p:cNvSpPr txBox="1">
            <a:spLocks noChangeArrowheads="1"/>
          </p:cNvSpPr>
          <p:nvPr/>
        </p:nvSpPr>
        <p:spPr bwMode="auto">
          <a:xfrm>
            <a:off x="7861300" y="2749550"/>
            <a:ext cx="5794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200">
                <a:ea typeface="굴림" panose="020b0600000101010101" pitchFamily="34" charset="-127"/>
              </a:rPr>
              <a:t>+12%</a:t>
            </a:r>
          </a:p>
        </p:txBody>
      </p:sp>
      <p:sp>
        <p:nvSpPr>
          <p:cNvPr id="76826" name="AutoShape 27">
            <a:extLst>
              <a:ext uri="{FF2B5EF4-FFF2-40B4-BE49-F238E27FC236}">
                <a16:creationId xmlns:a16="http://schemas.microsoft.com/office/drawing/2014/main" id="{7A27B925-B067-C34D-A6BB-A1B709FDB230}"/>
              </a:ext>
            </a:extLst>
          </p:cNvPr>
          <p:cNvSpPr>
            <a:spLocks noChangeArrowheads="1"/>
          </p:cNvSpPr>
          <p:nvPr/>
        </p:nvSpPr>
        <p:spPr bwMode="auto">
          <a:xfrm>
            <a:off x="1779105" y="2422525"/>
            <a:ext cx="1192696" cy="447675"/>
          </a:xfrm>
          <a:prstGeom prst="rightArrow">
            <a:avLst>
              <a:gd name="adj1" fmla="val 71630"/>
              <a:gd name="adj2" fmla="val 15315"/>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000">
                <a:solidFill>
                  <a:schemeClr val="bg1"/>
                </a:solidFill>
                <a:ea typeface="굴림" panose="020b0600000101010101" pitchFamily="34" charset="-127"/>
              </a:rPr>
              <a:t>Project</a:t>
            </a:r>
          </a:p>
        </p:txBody>
      </p:sp>
      <p:sp>
        <p:nvSpPr>
          <p:cNvPr id="76827" name="AutoShape 28">
            <a:extLst>
              <a:ext uri="{FF2B5EF4-FFF2-40B4-BE49-F238E27FC236}">
                <a16:creationId xmlns:a16="http://schemas.microsoft.com/office/drawing/2014/main" id="{80BA23BB-FA3D-DE93-FE80-E25419F8A2A0}"/>
              </a:ext>
            </a:extLst>
          </p:cNvPr>
          <p:cNvSpPr>
            <a:spLocks noChangeArrowheads="1"/>
          </p:cNvSpPr>
          <p:nvPr/>
        </p:nvSpPr>
        <p:spPr bwMode="auto">
          <a:xfrm>
            <a:off x="6249505" y="2422525"/>
            <a:ext cx="1192696" cy="447675"/>
          </a:xfrm>
          <a:prstGeom prst="rightArrow">
            <a:avLst>
              <a:gd name="adj1" fmla="val 71630"/>
              <a:gd name="adj2" fmla="val 15315"/>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US" altLang="ko-KR" sz="1000">
                <a:solidFill>
                  <a:schemeClr val="bg1"/>
                </a:solidFill>
                <a:ea typeface="굴림" panose="020b0600000101010101" pitchFamily="34" charset="-127"/>
              </a:rPr>
              <a:t>Project</a:t>
            </a:r>
          </a:p>
        </p:txBody>
      </p:sp>
      <p:sp>
        <p:nvSpPr>
          <p:cNvPr id="76828" name="Rectangle 29">
            <a:extLst>
              <a:ext uri="{FF2B5EF4-FFF2-40B4-BE49-F238E27FC236}">
                <a16:creationId xmlns:a16="http://schemas.microsoft.com/office/drawing/2014/main" id="{A8D1E0FA-5348-ABDB-72E5-48E91CE5D8CA}"/>
              </a:ext>
            </a:extLst>
          </p:cNvPr>
          <p:cNvSpPr>
            <a:spLocks noChangeArrowheads="1"/>
          </p:cNvSpPr>
          <p:nvPr/>
        </p:nvSpPr>
        <p:spPr bwMode="auto">
          <a:xfrm>
            <a:off x="8020050" y="1557338"/>
            <a:ext cx="1630363" cy="33655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9" tIns="72009" rIns="72009" bIns="72009">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ClrTx/>
              <a:buFontTx/>
              <a:buNone/>
            </a:pPr>
            <a:r>
              <a:rPr lang="en-US" altLang="ko-KR" sz="1400">
                <a:ea typeface="굴림" panose="020b0600000101010101" pitchFamily="34" charset="-127"/>
              </a:rPr>
              <a:t>Client examples</a:t>
            </a:r>
          </a:p>
        </p:txBody>
      </p:sp>
      <p:graphicFrame>
        <p:nvGraphicFramePr>
          <p:cNvPr id="3" name="Object 30">
            <a:extLst>
              <a:ext uri="{FF2B5EF4-FFF2-40B4-BE49-F238E27FC236}">
                <a16:creationId xmlns:a16="http://schemas.microsoft.com/office/drawing/2014/main" id="{BC82F876-DC1C-A2BE-97BA-C8D39D7D1638}"/>
              </a:ext>
            </a:extLst>
          </p:cNvPr>
          <p:cNvGraphicFramePr/>
          <p:nvPr/>
        </p:nvGraphicFramePr>
        <p:xfrm>
          <a:off x="6021388" y="3146425"/>
          <a:ext cx="2695575" cy="1727200"/>
        </p:xfrm>
        <a:graphic>
          <a:graphicData uri="http://schemas.openxmlformats.org/drawingml/2006/chart">
            <c:chart xmlns:c="http://schemas.openxmlformats.org/drawingml/2006/chart" r:id="rId4"/>
          </a:graphicData>
        </a:graphic>
      </p:graphicFrame>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739778" name="AutoShape 2">
            <a:extLst>
              <a:ext uri="{FF2B5EF4-FFF2-40B4-BE49-F238E27FC236}">
                <a16:creationId xmlns:a16="http://schemas.microsoft.com/office/drawing/2014/main" id="{2A6B7282-8DC6-A369-EE60-08FC7D61CBF3}"/>
              </a:ext>
            </a:extLst>
          </p:cNvPr>
          <p:cNvSpPr>
            <a:spLocks noChangeArrowheads="1"/>
          </p:cNvSpPr>
          <p:nvPr/>
        </p:nvSpPr>
        <p:spPr bwMode="auto">
          <a:xfrm rot="16200000">
            <a:off x="3916362" y="2087563"/>
            <a:ext cx="5713413" cy="3627438"/>
          </a:xfrm>
          <a:custGeom>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chemeClr val="accent1">
                  <a:gamma/>
                  <a:tint val="0"/>
                  <a:invGamma/>
                </a:schemeClr>
              </a:gs>
              <a:gs pos="100000">
                <a:schemeClr val="accent1"/>
              </a:gs>
            </a:gsLst>
            <a:lin ang="5400000" scaled="1"/>
          </a:gradFill>
          <a:ln>
            <a:noFill/>
          </a:ln>
          <a:effectLst/>
        </p:spPr>
        <p:txBody>
          <a:bodyPr lIns="0" tIns="0" rIns="0" bIns="0" anchor="ctr">
            <a:spAutoFit/>
          </a:bodyPr>
          <a:lstStyle/>
          <a:p>
            <a:pPr algn="ctr" eaLnBrk="1" fontAlgn="b" hangingPunct="1">
              <a:lnSpc>
                <a:spcPct val="90000"/>
              </a:lnSpc>
              <a:spcBef>
                <a:spcPct val="50000"/>
              </a:spcBef>
              <a:buClr>
                <a:schemeClr val="bg2"/>
              </a:buClr>
              <a:defRPr/>
            </a:pPr>
            <a:endParaRPr lang="ko-KR" altLang="en-US"/>
          </a:p>
        </p:txBody>
      </p:sp>
      <p:sp>
        <p:nvSpPr>
          <p:cNvPr id="78850" name="Rectangle 3">
            <a:extLst>
              <a:ext uri="{FF2B5EF4-FFF2-40B4-BE49-F238E27FC236}">
                <a16:creationId xmlns:a16="http://schemas.microsoft.com/office/drawing/2014/main" id="{5DC17EAC-232B-F480-A0A7-684DB2BE7404}"/>
              </a:ext>
            </a:extLst>
          </p:cNvPr>
          <p:cNvSpPr>
            <a:spLocks noGrp="1" noChangeArrowheads="1"/>
          </p:cNvSpPr>
          <p:nvPr>
            <p:ph type="title"/>
          </p:nvPr>
        </p:nvSpPr>
        <p:spPr>
          <a:xfrm>
            <a:off x="266700" y="596900"/>
            <a:ext cx="9367838" cy="498598"/>
          </a:xfrm>
        </p:spPr>
        <p:txBody>
          <a:bodyPr/>
          <a:lstStyle/>
          <a:p>
            <a:r>
              <a:rPr lang="fr-FR" altLang="ko-KR" sz="1800"/>
              <a:t>The Lean System framework allows to cover all generic efficiency drivers of a Service business</a:t>
            </a:r>
            <a:endParaRPr lang="en-US" altLang="ko-KR" sz="1800">
              <a:ea typeface="굴림" panose="020b0600000101010101" pitchFamily="34" charset="-127"/>
            </a:endParaRPr>
          </a:p>
        </p:txBody>
      </p:sp>
      <p:grpSp>
        <p:nvGrpSpPr>
          <p:cNvPr id="78851" name="Group 4">
            <a:extLst>
              <a:ext uri="{FF2B5EF4-FFF2-40B4-BE49-F238E27FC236}">
                <a16:creationId xmlns:a16="http://schemas.microsoft.com/office/drawing/2014/main" id="{44F08CF6-9DF2-F08D-381A-F6F1BBE44582}"/>
              </a:ext>
            </a:extLst>
          </p:cNvPr>
          <p:cNvGrpSpPr/>
          <p:nvPr/>
        </p:nvGrpSpPr>
        <p:grpSpPr>
          <a:xfrm>
            <a:off x="112713" y="1125538"/>
            <a:ext cx="6584950" cy="5630862"/>
            <a:chOff x="2091" y="701"/>
            <a:chExt cx="4148" cy="3547"/>
          </a:xfrm>
        </p:grpSpPr>
        <p:sp>
          <p:nvSpPr>
            <p:cNvPr id="78861" name="AutoShape 5">
              <a:extLst>
                <a:ext uri="{FF2B5EF4-FFF2-40B4-BE49-F238E27FC236}">
                  <a16:creationId xmlns:a16="http://schemas.microsoft.com/office/drawing/2014/main" id="{0EA1B3FC-5FA4-0BCF-0783-51FEF3057D28}"/>
                </a:ext>
              </a:extLst>
            </p:cNvPr>
            <p:cNvSpPr>
              <a:spLocks noChangeArrowheads="1"/>
            </p:cNvSpPr>
            <p:nvPr/>
          </p:nvSpPr>
          <p:spPr bwMode="auto">
            <a:xfrm flipV="1">
              <a:off x="3539" y="3602"/>
              <a:ext cx="1208" cy="175"/>
            </a:xfrm>
            <a:prstGeom prst="rtTriangle">
              <a:avLst/>
            </a:prstGeom>
            <a:solidFill>
              <a:srgbClr val="99CC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2" name="AutoShape 6">
              <a:extLst>
                <a:ext uri="{FF2B5EF4-FFF2-40B4-BE49-F238E27FC236}">
                  <a16:creationId xmlns:a16="http://schemas.microsoft.com/office/drawing/2014/main" id="{D0D1E154-974E-FB1E-1B37-4BCF7E6CB4F4}"/>
                </a:ext>
              </a:extLst>
            </p:cNvPr>
            <p:cNvSpPr>
              <a:spLocks noChangeArrowheads="1"/>
            </p:cNvSpPr>
            <p:nvPr/>
          </p:nvSpPr>
          <p:spPr bwMode="auto">
            <a:xfrm rot="10800000" flipV="1">
              <a:off x="3539" y="3603"/>
              <a:ext cx="1208" cy="175"/>
            </a:xfrm>
            <a:prstGeom prst="rtTriangle">
              <a:avLst/>
            </a:prstGeom>
            <a:solidFill>
              <a:srgbClr val="FF99CC"/>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3" name="Rectangle 7">
              <a:extLst>
                <a:ext uri="{FF2B5EF4-FFF2-40B4-BE49-F238E27FC236}">
                  <a16:creationId xmlns:a16="http://schemas.microsoft.com/office/drawing/2014/main" id="{7DFE8EB9-54F3-7CCE-3F1C-FD294175AFB9}"/>
                </a:ext>
              </a:extLst>
            </p:cNvPr>
            <p:cNvSpPr>
              <a:spLocks noChangeArrowheads="1"/>
            </p:cNvSpPr>
            <p:nvPr/>
          </p:nvSpPr>
          <p:spPr bwMode="auto">
            <a:xfrm>
              <a:off x="3842" y="1553"/>
              <a:ext cx="2299" cy="419"/>
            </a:xfrm>
            <a:prstGeom prst="rect">
              <a:avLst/>
            </a:prstGeom>
            <a:solidFill>
              <a:schemeClr val="bg1"/>
            </a:solidFill>
            <a:ln w="12700" algn="ctr">
              <a:solidFill>
                <a:schemeClr val="tx1"/>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4" name="Rectangle 8">
              <a:extLst>
                <a:ext uri="{FF2B5EF4-FFF2-40B4-BE49-F238E27FC236}">
                  <a16:creationId xmlns:a16="http://schemas.microsoft.com/office/drawing/2014/main" id="{079A299E-3649-F871-89A4-6A547E35C28A}"/>
                </a:ext>
              </a:extLst>
            </p:cNvPr>
            <p:cNvSpPr>
              <a:spLocks noChangeArrowheads="1"/>
            </p:cNvSpPr>
            <p:nvPr/>
          </p:nvSpPr>
          <p:spPr bwMode="auto">
            <a:xfrm>
              <a:off x="3757" y="1610"/>
              <a:ext cx="2299" cy="419"/>
            </a:xfrm>
            <a:prstGeom prst="rect">
              <a:avLst/>
            </a:prstGeom>
            <a:solidFill>
              <a:schemeClr val="bg1"/>
            </a:solidFill>
            <a:ln w="12700" algn="ctr">
              <a:solidFill>
                <a:schemeClr val="tx1"/>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5" name="Rectangle 9">
              <a:extLst>
                <a:ext uri="{FF2B5EF4-FFF2-40B4-BE49-F238E27FC236}">
                  <a16:creationId xmlns:a16="http://schemas.microsoft.com/office/drawing/2014/main" id="{4703E9C1-FFEB-3FF1-4EA5-D9A1D12C1209}"/>
                </a:ext>
              </a:extLst>
            </p:cNvPr>
            <p:cNvSpPr>
              <a:spLocks noChangeArrowheads="1"/>
            </p:cNvSpPr>
            <p:nvPr/>
          </p:nvSpPr>
          <p:spPr bwMode="auto">
            <a:xfrm>
              <a:off x="3671" y="1655"/>
              <a:ext cx="2299" cy="419"/>
            </a:xfrm>
            <a:prstGeom prst="rect">
              <a:avLst/>
            </a:prstGeom>
            <a:solidFill>
              <a:schemeClr val="bg1"/>
            </a:solidFill>
            <a:ln w="12700" algn="ctr">
              <a:solidFill>
                <a:schemeClr val="tx1"/>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6" name="Text Box 10">
              <a:extLst>
                <a:ext uri="{FF2B5EF4-FFF2-40B4-BE49-F238E27FC236}">
                  <a16:creationId xmlns:a16="http://schemas.microsoft.com/office/drawing/2014/main" id="{8A1397DA-EB0F-2F69-EBE7-0DAB15977ACF}"/>
                </a:ext>
              </a:extLst>
            </p:cNvPr>
            <p:cNvSpPr txBox="1">
              <a:spLocks noChangeArrowheads="1"/>
            </p:cNvSpPr>
            <p:nvPr/>
          </p:nvSpPr>
          <p:spPr bwMode="auto">
            <a:xfrm>
              <a:off x="3959" y="1909"/>
              <a:ext cx="714" cy="120"/>
            </a:xfrm>
            <a:prstGeom prst="rect">
              <a:avLst/>
            </a:prstGeom>
            <a:solidFill>
              <a:srgbClr val="C0C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Specialization level</a:t>
              </a:r>
            </a:p>
          </p:txBody>
        </p:sp>
        <p:sp>
          <p:nvSpPr>
            <p:cNvPr id="7" name="Rectangle 11">
              <a:extLst>
                <a:ext uri="{FF2B5EF4-FFF2-40B4-BE49-F238E27FC236}">
                  <a16:creationId xmlns:a16="http://schemas.microsoft.com/office/drawing/2014/main" id="{1985F620-3FE0-0557-8CA3-B896BD2FB7CC}"/>
                </a:ext>
              </a:extLst>
            </p:cNvPr>
            <p:cNvSpPr>
              <a:spLocks noChangeArrowheads="1"/>
            </p:cNvSpPr>
            <p:nvPr/>
          </p:nvSpPr>
          <p:spPr bwMode="auto">
            <a:xfrm>
              <a:off x="2091" y="1889"/>
              <a:ext cx="377" cy="447"/>
            </a:xfrm>
            <a:prstGeom prst="rect">
              <a:avLst/>
            </a:prstGeom>
            <a:solidFill>
              <a:srgbClr val="F8F8F8"/>
            </a:solidFill>
            <a:ln w="9525" algn="ctr">
              <a:solidFill>
                <a:schemeClr val="bg2"/>
              </a:solidFill>
              <a:miter lim="800000"/>
            </a:ln>
            <a:effectLst>
              <a:outerShdw dist="35921" dir="2700000" algn="ctr" rotWithShape="0">
                <a:schemeClr val="bg2"/>
              </a:outerShdw>
            </a:effectLst>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ea typeface="굴림" panose="020b0600000101010101" pitchFamily="34" charset="-127"/>
                </a:rPr>
                <a:t>Total costs</a:t>
              </a:r>
            </a:p>
          </p:txBody>
        </p:sp>
        <p:sp>
          <p:nvSpPr>
            <p:cNvPr id="78868" name="Rectangle 12">
              <a:extLst>
                <a:ext uri="{FF2B5EF4-FFF2-40B4-BE49-F238E27FC236}">
                  <a16:creationId xmlns:a16="http://schemas.microsoft.com/office/drawing/2014/main" id="{921DB8EB-5F8B-5282-673F-304565F21355}"/>
                </a:ext>
              </a:extLst>
            </p:cNvPr>
            <p:cNvSpPr>
              <a:spLocks noChangeArrowheads="1"/>
            </p:cNvSpPr>
            <p:nvPr/>
          </p:nvSpPr>
          <p:spPr bwMode="auto">
            <a:xfrm>
              <a:off x="2819" y="981"/>
              <a:ext cx="532" cy="399"/>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ea typeface="굴림" panose="020b0600000101010101" pitchFamily="34" charset="-127"/>
                </a:rPr>
                <a:t># contacts</a:t>
              </a:r>
            </a:p>
          </p:txBody>
        </p:sp>
        <p:sp>
          <p:nvSpPr>
            <p:cNvPr id="78869" name="Rectangle 13">
              <a:extLst>
                <a:ext uri="{FF2B5EF4-FFF2-40B4-BE49-F238E27FC236}">
                  <a16:creationId xmlns:a16="http://schemas.microsoft.com/office/drawing/2014/main" id="{E8D56A02-72C3-D578-4F00-AAF425F7CDBE}"/>
                </a:ext>
              </a:extLst>
            </p:cNvPr>
            <p:cNvSpPr>
              <a:spLocks noChangeArrowheads="1"/>
            </p:cNvSpPr>
            <p:nvPr/>
          </p:nvSpPr>
          <p:spPr bwMode="auto">
            <a:xfrm>
              <a:off x="2822" y="1585"/>
              <a:ext cx="529" cy="4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ea typeface="굴림" panose="020b0600000101010101" pitchFamily="34" charset="-127"/>
                </a:rPr>
                <a:t>Average duration of treatment (ADT)</a:t>
              </a:r>
            </a:p>
          </p:txBody>
        </p:sp>
        <p:sp>
          <p:nvSpPr>
            <p:cNvPr id="78870" name="Rectangle 14">
              <a:extLst>
                <a:ext uri="{FF2B5EF4-FFF2-40B4-BE49-F238E27FC236}">
                  <a16:creationId xmlns:a16="http://schemas.microsoft.com/office/drawing/2014/main" id="{F56C436A-D027-4AE6-837E-910903F49ED8}"/>
                </a:ext>
              </a:extLst>
            </p:cNvPr>
            <p:cNvSpPr>
              <a:spLocks noChangeArrowheads="1"/>
            </p:cNvSpPr>
            <p:nvPr/>
          </p:nvSpPr>
          <p:spPr bwMode="auto">
            <a:xfrm>
              <a:off x="2819" y="2187"/>
              <a:ext cx="529" cy="399"/>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ea typeface="굴림" panose="020b0600000101010101" pitchFamily="34" charset="-127"/>
                </a:rPr>
                <a:t>Quality of service indicator</a:t>
              </a:r>
            </a:p>
          </p:txBody>
        </p:sp>
        <p:cxnSp>
          <p:nvCxnSpPr>
            <p:cNvPr id="78871" name="AutoShape 15">
              <a:extLst>
                <a:ext uri="{FF2B5EF4-FFF2-40B4-BE49-F238E27FC236}">
                  <a16:creationId xmlns:a16="http://schemas.microsoft.com/office/drawing/2014/main" id="{D5E9A1FA-2D5D-4090-DF83-49717F39DD6B}"/>
                </a:ext>
              </a:extLst>
            </p:cNvPr>
            <p:cNvCxnSpPr>
              <a:cxnSpLocks noChangeShapeType="1"/>
              <a:stCxn id="78868" idx="3"/>
              <a:endCxn id="78876" idx="1"/>
            </p:cNvCxnSpPr>
            <p:nvPr/>
          </p:nvCxnSpPr>
          <p:spPr bwMode="auto">
            <a:xfrm flipV="1">
              <a:off x="3351" y="1049"/>
              <a:ext cx="188" cy="132"/>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72" name="AutoShape 16">
              <a:extLst>
                <a:ext uri="{FF2B5EF4-FFF2-40B4-BE49-F238E27FC236}">
                  <a16:creationId xmlns:a16="http://schemas.microsoft.com/office/drawing/2014/main" id="{7E52449A-8964-CE8A-AF8C-A74706A0C521}"/>
                </a:ext>
              </a:extLst>
            </p:cNvPr>
            <p:cNvCxnSpPr>
              <a:cxnSpLocks noChangeShapeType="1"/>
              <a:stCxn id="78868" idx="3"/>
              <a:endCxn id="78875" idx="1"/>
            </p:cNvCxnSpPr>
            <p:nvPr/>
          </p:nvCxnSpPr>
          <p:spPr bwMode="auto">
            <a:xfrm>
              <a:off x="3351" y="1181"/>
              <a:ext cx="188" cy="106"/>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73" name="AutoShape 17">
              <a:extLst>
                <a:ext uri="{FF2B5EF4-FFF2-40B4-BE49-F238E27FC236}">
                  <a16:creationId xmlns:a16="http://schemas.microsoft.com/office/drawing/2014/main" id="{2449B4E2-1110-E123-7A08-B74C6A74001C}"/>
                </a:ext>
              </a:extLst>
            </p:cNvPr>
            <p:cNvCxnSpPr>
              <a:cxnSpLocks noChangeShapeType="1"/>
              <a:stCxn id="78870" idx="3"/>
              <a:endCxn id="78877" idx="1"/>
            </p:cNvCxnSpPr>
            <p:nvPr/>
          </p:nvCxnSpPr>
          <p:spPr bwMode="auto">
            <a:xfrm flipV="1">
              <a:off x="3348" y="2268"/>
              <a:ext cx="191" cy="119"/>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74" name="AutoShape 18">
              <a:extLst>
                <a:ext uri="{FF2B5EF4-FFF2-40B4-BE49-F238E27FC236}">
                  <a16:creationId xmlns:a16="http://schemas.microsoft.com/office/drawing/2014/main" id="{A39CF0BC-B182-6B4A-3442-45E012170AA4}"/>
                </a:ext>
              </a:extLst>
            </p:cNvPr>
            <p:cNvCxnSpPr>
              <a:cxnSpLocks noChangeShapeType="1"/>
              <a:stCxn id="78870" idx="3"/>
              <a:endCxn id="78878" idx="1"/>
            </p:cNvCxnSpPr>
            <p:nvPr/>
          </p:nvCxnSpPr>
          <p:spPr bwMode="auto">
            <a:xfrm>
              <a:off x="3348" y="2387"/>
              <a:ext cx="191" cy="134"/>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75" name="Rectangle 19">
              <a:extLst>
                <a:ext uri="{FF2B5EF4-FFF2-40B4-BE49-F238E27FC236}">
                  <a16:creationId xmlns:a16="http://schemas.microsoft.com/office/drawing/2014/main" id="{C2736B6E-8CAF-C119-7240-391B1EF22B9C}"/>
                </a:ext>
              </a:extLst>
            </p:cNvPr>
            <p:cNvSpPr>
              <a:spLocks noChangeArrowheads="1"/>
            </p:cNvSpPr>
            <p:nvPr/>
          </p:nvSpPr>
          <p:spPr bwMode="auto">
            <a:xfrm>
              <a:off x="3539" y="1199"/>
              <a:ext cx="1185" cy="175"/>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Inside scope demand</a:t>
              </a:r>
            </a:p>
          </p:txBody>
        </p:sp>
        <p:sp>
          <p:nvSpPr>
            <p:cNvPr id="78876" name="Rectangle 20">
              <a:extLst>
                <a:ext uri="{FF2B5EF4-FFF2-40B4-BE49-F238E27FC236}">
                  <a16:creationId xmlns:a16="http://schemas.microsoft.com/office/drawing/2014/main" id="{6838A955-F291-E225-56B2-B5811B55D556}"/>
                </a:ext>
              </a:extLst>
            </p:cNvPr>
            <p:cNvSpPr>
              <a:spLocks noChangeArrowheads="1"/>
            </p:cNvSpPr>
            <p:nvPr/>
          </p:nvSpPr>
          <p:spPr bwMode="auto">
            <a:xfrm>
              <a:off x="3539" y="961"/>
              <a:ext cx="1185" cy="175"/>
            </a:xfrm>
            <a:prstGeom prst="rect">
              <a:avLst/>
            </a:prstGeom>
            <a:solidFill>
              <a:srgbClr val="007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900" b="0">
                  <a:solidFill>
                    <a:schemeClr val="bg1"/>
                  </a:solidFill>
                  <a:ea typeface="굴림" panose="020b0600000101010101" pitchFamily="34" charset="-127"/>
                </a:rPr>
                <a:t>Out of scope demand</a:t>
              </a:r>
            </a:p>
          </p:txBody>
        </p:sp>
        <p:sp>
          <p:nvSpPr>
            <p:cNvPr id="78877" name="Rectangle 21">
              <a:extLst>
                <a:ext uri="{FF2B5EF4-FFF2-40B4-BE49-F238E27FC236}">
                  <a16:creationId xmlns:a16="http://schemas.microsoft.com/office/drawing/2014/main" id="{F0E0D0F6-80F5-8F68-2828-417CE5971A64}"/>
                </a:ext>
              </a:extLst>
            </p:cNvPr>
            <p:cNvSpPr>
              <a:spLocks noChangeArrowheads="1"/>
            </p:cNvSpPr>
            <p:nvPr/>
          </p:nvSpPr>
          <p:spPr bwMode="auto">
            <a:xfrm>
              <a:off x="3539" y="2180"/>
              <a:ext cx="1208" cy="175"/>
            </a:xfrm>
            <a:prstGeom prst="rect">
              <a:avLst/>
            </a:prstGeom>
            <a:solidFill>
              <a:srgbClr val="FFCC99"/>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Planning and scheduling</a:t>
              </a:r>
            </a:p>
          </p:txBody>
        </p:sp>
        <p:sp>
          <p:nvSpPr>
            <p:cNvPr id="78878" name="Rectangle 22">
              <a:extLst>
                <a:ext uri="{FF2B5EF4-FFF2-40B4-BE49-F238E27FC236}">
                  <a16:creationId xmlns:a16="http://schemas.microsoft.com/office/drawing/2014/main" id="{F6AA5E05-5AEA-9648-D85E-4F564B8C255F}"/>
                </a:ext>
              </a:extLst>
            </p:cNvPr>
            <p:cNvSpPr>
              <a:spLocks noChangeArrowheads="1"/>
            </p:cNvSpPr>
            <p:nvPr/>
          </p:nvSpPr>
          <p:spPr bwMode="auto">
            <a:xfrm>
              <a:off x="3539" y="2433"/>
              <a:ext cx="1208" cy="175"/>
            </a:xfrm>
            <a:prstGeom prst="rect">
              <a:avLst/>
            </a:prstGeom>
            <a:solidFill>
              <a:srgbClr val="FFCC99"/>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Coefficient of security </a:t>
              </a:r>
            </a:p>
          </p:txBody>
        </p:sp>
        <p:sp>
          <p:nvSpPr>
            <p:cNvPr id="78879" name="Rectangle 23">
              <a:extLst>
                <a:ext uri="{FF2B5EF4-FFF2-40B4-BE49-F238E27FC236}">
                  <a16:creationId xmlns:a16="http://schemas.microsoft.com/office/drawing/2014/main" id="{B1425A1E-1A47-12D4-ACD6-647244476C11}"/>
                </a:ext>
              </a:extLst>
            </p:cNvPr>
            <p:cNvSpPr>
              <a:spLocks noChangeArrowheads="1"/>
            </p:cNvSpPr>
            <p:nvPr/>
          </p:nvSpPr>
          <p:spPr bwMode="auto">
            <a:xfrm>
              <a:off x="4889" y="2322"/>
              <a:ext cx="1162" cy="120"/>
            </a:xfrm>
            <a:prstGeom prst="rect">
              <a:avLst/>
            </a:prstGeom>
            <a:solidFill>
              <a:srgbClr val="007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solidFill>
                    <a:schemeClr val="bg1"/>
                  </a:solidFill>
                  <a:ea typeface="굴림" panose="020b0600000101010101" pitchFamily="34" charset="-127"/>
                </a:rPr>
                <a:t>Virtualization tools</a:t>
              </a:r>
            </a:p>
          </p:txBody>
        </p:sp>
        <p:sp>
          <p:nvSpPr>
            <p:cNvPr id="78880" name="Rectangle 24">
              <a:extLst>
                <a:ext uri="{FF2B5EF4-FFF2-40B4-BE49-F238E27FC236}">
                  <a16:creationId xmlns:a16="http://schemas.microsoft.com/office/drawing/2014/main" id="{5CCD4A6F-2450-5C54-0F85-68BD5267BE2E}"/>
                </a:ext>
              </a:extLst>
            </p:cNvPr>
            <p:cNvSpPr>
              <a:spLocks noChangeArrowheads="1"/>
            </p:cNvSpPr>
            <p:nvPr/>
          </p:nvSpPr>
          <p:spPr bwMode="auto">
            <a:xfrm>
              <a:off x="2819" y="3299"/>
              <a:ext cx="529" cy="399"/>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ea typeface="굴림" panose="020b0600000101010101" pitchFamily="34" charset="-127"/>
                </a:rPr>
                <a:t>Cost of  one operational minute</a:t>
              </a:r>
            </a:p>
          </p:txBody>
        </p:sp>
        <p:grpSp>
          <p:nvGrpSpPr>
            <p:cNvPr id="78881" name="Group 25">
              <a:extLst>
                <a:ext uri="{FF2B5EF4-FFF2-40B4-BE49-F238E27FC236}">
                  <a16:creationId xmlns:a16="http://schemas.microsoft.com/office/drawing/2014/main" id="{4C95D899-A242-1094-2235-A36F08FE37B9}"/>
                </a:ext>
              </a:extLst>
            </p:cNvPr>
            <p:cNvGrpSpPr/>
            <p:nvPr/>
          </p:nvGrpSpPr>
          <p:grpSpPr>
            <a:xfrm>
              <a:off x="4949" y="1198"/>
              <a:ext cx="1231" cy="176"/>
              <a:chOff x="4764" y="998"/>
              <a:chExt cx="1231" cy="176"/>
            </a:xfrm>
          </p:grpSpPr>
          <p:grpSp>
            <p:nvGrpSpPr>
              <p:cNvPr id="78943" name="Group 26">
                <a:extLst>
                  <a:ext uri="{FF2B5EF4-FFF2-40B4-BE49-F238E27FC236}">
                    <a16:creationId xmlns:a16="http://schemas.microsoft.com/office/drawing/2014/main" id="{718AF6A8-ACCF-D665-AAA0-5802D3AC90D2}"/>
                  </a:ext>
                </a:extLst>
              </p:cNvPr>
              <p:cNvGrpSpPr/>
              <p:nvPr/>
            </p:nvGrpSpPr>
            <p:grpSpPr>
              <a:xfrm>
                <a:off x="4764" y="998"/>
                <a:ext cx="1231" cy="176"/>
                <a:chOff x="5009" y="740"/>
                <a:chExt cx="1231" cy="176"/>
              </a:xfrm>
            </p:grpSpPr>
            <p:sp>
              <p:nvSpPr>
                <p:cNvPr id="78945" name="AutoShape 27">
                  <a:extLst>
                    <a:ext uri="{FF2B5EF4-FFF2-40B4-BE49-F238E27FC236}">
                      <a16:creationId xmlns:a16="http://schemas.microsoft.com/office/drawing/2014/main" id="{EAFFE796-DA88-D204-A748-D7EDE78EB08F}"/>
                    </a:ext>
                  </a:extLst>
                </p:cNvPr>
                <p:cNvSpPr>
                  <a:spLocks noChangeArrowheads="1"/>
                </p:cNvSpPr>
                <p:nvPr/>
              </p:nvSpPr>
              <p:spPr bwMode="auto">
                <a:xfrm flipV="1">
                  <a:off x="5009" y="740"/>
                  <a:ext cx="1231" cy="175"/>
                </a:xfrm>
                <a:prstGeom prst="rtTriangle">
                  <a:avLst/>
                </a:prstGeom>
                <a:solidFill>
                  <a:srgbClr val="0070C0"/>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8946" name="AutoShape 28">
                  <a:extLst>
                    <a:ext uri="{FF2B5EF4-FFF2-40B4-BE49-F238E27FC236}">
                      <a16:creationId xmlns:a16="http://schemas.microsoft.com/office/drawing/2014/main" id="{044273A8-83C1-4364-E0E8-8566FC2A7B36}"/>
                    </a:ext>
                  </a:extLst>
                </p:cNvPr>
                <p:cNvSpPr>
                  <a:spLocks noChangeArrowheads="1"/>
                </p:cNvSpPr>
                <p:nvPr/>
              </p:nvSpPr>
              <p:spPr bwMode="auto">
                <a:xfrm rot="10800000" flipV="1">
                  <a:off x="5009" y="741"/>
                  <a:ext cx="1231" cy="175"/>
                </a:xfrm>
                <a:prstGeom prst="rtTriangle">
                  <a:avLst/>
                </a:prstGeom>
                <a:solidFill>
                  <a:srgbClr val="99CC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
            <p:nvSpPr>
              <p:cNvPr id="78944" name="Rectangle 29">
                <a:extLst>
                  <a:ext uri="{FF2B5EF4-FFF2-40B4-BE49-F238E27FC236}">
                    <a16:creationId xmlns:a16="http://schemas.microsoft.com/office/drawing/2014/main" id="{FA06D929-DA5E-2440-61F7-23BA2271E7CE}"/>
                  </a:ext>
                </a:extLst>
              </p:cNvPr>
              <p:cNvSpPr>
                <a:spLocks noChangeArrowheads="1"/>
              </p:cNvSpPr>
              <p:nvPr/>
            </p:nvSpPr>
            <p:spPr bwMode="auto">
              <a:xfrm>
                <a:off x="4764" y="999"/>
                <a:ext cx="1231" cy="175"/>
              </a:xfrm>
              <a:prstGeom prst="rect">
                <a:avLst/>
              </a:prstGeom>
              <a:noFill/>
              <a:ln w="12700" algn="ctr">
                <a:solidFill>
                  <a:schemeClr val="tx1"/>
                </a:solidFill>
                <a:miter lim="800000"/>
              </a:ln>
              <a:effectLst/>
              <a:extLst>
                <a:ext uri="{909E8E84-426E-40DD-AFC4-6F175D3DCCD1}">
                  <a14:hiddenFill xmlns:a14="http://schemas.microsoft.com/office/drawing/2010/main">
                    <a:gradFill rotWithShape="1">
                      <a:gsLst>
                        <a:gs pos="0">
                          <a:srgbClr val="800000"/>
                        </a:gs>
                        <a:gs pos="100000">
                          <a:srgbClr val="99CCFF"/>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solidFill>
                      <a:schemeClr val="bg1"/>
                    </a:solidFill>
                    <a:ea typeface="굴림" panose="020b0600000101010101" pitchFamily="34" charset="-127"/>
                  </a:rPr>
                  <a:t>Non quality treatment</a:t>
                </a:r>
              </a:p>
            </p:txBody>
          </p:sp>
        </p:grpSp>
        <p:sp>
          <p:nvSpPr>
            <p:cNvPr id="78882" name="Oval 30">
              <a:extLst>
                <a:ext uri="{FF2B5EF4-FFF2-40B4-BE49-F238E27FC236}">
                  <a16:creationId xmlns:a16="http://schemas.microsoft.com/office/drawing/2014/main" id="{AA2AF47A-3AFC-1FE6-BFCD-1D93BD3F0DFF}"/>
                </a:ext>
              </a:extLst>
            </p:cNvPr>
            <p:cNvSpPr>
              <a:spLocks noChangeArrowheads="1"/>
            </p:cNvSpPr>
            <p:nvPr/>
          </p:nvSpPr>
          <p:spPr bwMode="auto">
            <a:xfrm>
              <a:off x="4729" y="1190"/>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X</a:t>
              </a:r>
            </a:p>
          </p:txBody>
        </p:sp>
        <p:sp>
          <p:nvSpPr>
            <p:cNvPr id="78883" name="Text Box 31">
              <a:extLst>
                <a:ext uri="{FF2B5EF4-FFF2-40B4-BE49-F238E27FC236}">
                  <a16:creationId xmlns:a16="http://schemas.microsoft.com/office/drawing/2014/main" id="{C42E232D-425B-2975-C023-0D71F5E05819}"/>
                </a:ext>
              </a:extLst>
            </p:cNvPr>
            <p:cNvSpPr txBox="1">
              <a:spLocks noChangeArrowheads="1"/>
            </p:cNvSpPr>
            <p:nvPr/>
          </p:nvSpPr>
          <p:spPr bwMode="auto">
            <a:xfrm>
              <a:off x="3717" y="1736"/>
              <a:ext cx="338" cy="120"/>
            </a:xfrm>
            <a:prstGeom prst="rect">
              <a:avLst/>
            </a:prstGeom>
            <a:solidFill>
              <a:srgbClr val="007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solidFill>
                    <a:schemeClr val="bg1"/>
                  </a:solidFill>
                  <a:ea typeface="굴림" panose="020b0600000101010101" pitchFamily="34" charset="-127"/>
                </a:rPr>
                <a:t>Process</a:t>
              </a:r>
            </a:p>
          </p:txBody>
        </p:sp>
        <p:sp>
          <p:nvSpPr>
            <p:cNvPr id="78884" name="Oval 32">
              <a:extLst>
                <a:ext uri="{FF2B5EF4-FFF2-40B4-BE49-F238E27FC236}">
                  <a16:creationId xmlns:a16="http://schemas.microsoft.com/office/drawing/2014/main" id="{F96E3BC7-9E66-97E5-6BE8-FBE4B5205842}"/>
                </a:ext>
              </a:extLst>
            </p:cNvPr>
            <p:cNvSpPr>
              <a:spLocks noChangeArrowheads="1"/>
            </p:cNvSpPr>
            <p:nvPr/>
          </p:nvSpPr>
          <p:spPr bwMode="auto">
            <a:xfrm>
              <a:off x="3401" y="1697"/>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a:t>
              </a:r>
            </a:p>
          </p:txBody>
        </p:sp>
        <p:sp>
          <p:nvSpPr>
            <p:cNvPr id="78885" name="Text Box 33">
              <a:extLst>
                <a:ext uri="{FF2B5EF4-FFF2-40B4-BE49-F238E27FC236}">
                  <a16:creationId xmlns:a16="http://schemas.microsoft.com/office/drawing/2014/main" id="{8C21D954-797E-B519-2D03-9160EADEFBF8}"/>
                </a:ext>
              </a:extLst>
            </p:cNvPr>
            <p:cNvSpPr txBox="1">
              <a:spLocks noChangeArrowheads="1"/>
            </p:cNvSpPr>
            <p:nvPr/>
          </p:nvSpPr>
          <p:spPr bwMode="auto">
            <a:xfrm>
              <a:off x="4896" y="1736"/>
              <a:ext cx="229" cy="120"/>
            </a:xfrm>
            <a:prstGeom prst="rect">
              <a:avLst/>
            </a:prstGeom>
            <a:solidFill>
              <a:srgbClr val="007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solidFill>
                    <a:schemeClr val="bg1"/>
                  </a:solidFill>
                  <a:ea typeface="굴림" panose="020b0600000101010101" pitchFamily="34" charset="-127"/>
                </a:rPr>
                <a:t>Tools</a:t>
              </a:r>
            </a:p>
          </p:txBody>
        </p:sp>
        <p:sp>
          <p:nvSpPr>
            <p:cNvPr id="78886" name="Oval 34">
              <a:extLst>
                <a:ext uri="{FF2B5EF4-FFF2-40B4-BE49-F238E27FC236}">
                  <a16:creationId xmlns:a16="http://schemas.microsoft.com/office/drawing/2014/main" id="{E7D6F614-8306-F9F3-44A9-31FA3EF1AFBD}"/>
                </a:ext>
              </a:extLst>
            </p:cNvPr>
            <p:cNvSpPr>
              <a:spLocks noChangeArrowheads="1"/>
            </p:cNvSpPr>
            <p:nvPr/>
          </p:nvSpPr>
          <p:spPr bwMode="auto">
            <a:xfrm>
              <a:off x="4678" y="1697"/>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X</a:t>
              </a:r>
            </a:p>
          </p:txBody>
        </p:sp>
        <p:sp>
          <p:nvSpPr>
            <p:cNvPr id="78887" name="Text Box 35">
              <a:extLst>
                <a:ext uri="{FF2B5EF4-FFF2-40B4-BE49-F238E27FC236}">
                  <a16:creationId xmlns:a16="http://schemas.microsoft.com/office/drawing/2014/main" id="{89B947EE-6A67-5740-69D2-2F32F520B222}"/>
                </a:ext>
              </a:extLst>
            </p:cNvPr>
            <p:cNvSpPr txBox="1">
              <a:spLocks noChangeArrowheads="1"/>
            </p:cNvSpPr>
            <p:nvPr/>
          </p:nvSpPr>
          <p:spPr bwMode="auto">
            <a:xfrm>
              <a:off x="5349" y="1736"/>
              <a:ext cx="558" cy="120"/>
            </a:xfrm>
            <a:prstGeom prst="rect">
              <a:avLst/>
            </a:prstGeom>
            <a:solidFill>
              <a:srgbClr val="CCFFCC"/>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Natural skills</a:t>
              </a:r>
            </a:p>
          </p:txBody>
        </p:sp>
        <p:sp>
          <p:nvSpPr>
            <p:cNvPr id="78888" name="Oval 36">
              <a:extLst>
                <a:ext uri="{FF2B5EF4-FFF2-40B4-BE49-F238E27FC236}">
                  <a16:creationId xmlns:a16="http://schemas.microsoft.com/office/drawing/2014/main" id="{3051F846-C4B3-BE8D-D701-4E1000FA80D8}"/>
                </a:ext>
              </a:extLst>
            </p:cNvPr>
            <p:cNvSpPr>
              <a:spLocks noChangeArrowheads="1"/>
            </p:cNvSpPr>
            <p:nvPr/>
          </p:nvSpPr>
          <p:spPr bwMode="auto">
            <a:xfrm>
              <a:off x="5136" y="1697"/>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X</a:t>
              </a:r>
            </a:p>
          </p:txBody>
        </p:sp>
        <p:sp>
          <p:nvSpPr>
            <p:cNvPr id="78889" name="Text Box 37">
              <a:extLst>
                <a:ext uri="{FF2B5EF4-FFF2-40B4-BE49-F238E27FC236}">
                  <a16:creationId xmlns:a16="http://schemas.microsoft.com/office/drawing/2014/main" id="{676338F9-F412-CDC8-8F28-2BDD9351C176}"/>
                </a:ext>
              </a:extLst>
            </p:cNvPr>
            <p:cNvSpPr txBox="1">
              <a:spLocks noChangeArrowheads="1"/>
            </p:cNvSpPr>
            <p:nvPr/>
          </p:nvSpPr>
          <p:spPr bwMode="auto">
            <a:xfrm>
              <a:off x="4938" y="1918"/>
              <a:ext cx="411" cy="120"/>
            </a:xfrm>
            <a:prstGeom prst="rect">
              <a:avLst/>
            </a:prstGeom>
            <a:solidFill>
              <a:srgbClr val="99CCFF"/>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Motivation</a:t>
              </a:r>
            </a:p>
          </p:txBody>
        </p:sp>
        <p:sp>
          <p:nvSpPr>
            <p:cNvPr id="78890" name="Oval 38">
              <a:extLst>
                <a:ext uri="{FF2B5EF4-FFF2-40B4-BE49-F238E27FC236}">
                  <a16:creationId xmlns:a16="http://schemas.microsoft.com/office/drawing/2014/main" id="{55BA11BE-DF75-F57E-D8F6-1C5FF780656F}"/>
                </a:ext>
              </a:extLst>
            </p:cNvPr>
            <p:cNvSpPr>
              <a:spLocks noChangeArrowheads="1"/>
            </p:cNvSpPr>
            <p:nvPr/>
          </p:nvSpPr>
          <p:spPr bwMode="auto">
            <a:xfrm>
              <a:off x="4695" y="1888"/>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X</a:t>
              </a:r>
            </a:p>
          </p:txBody>
        </p:sp>
        <p:sp>
          <p:nvSpPr>
            <p:cNvPr id="78891" name="Rectangle 39">
              <a:extLst>
                <a:ext uri="{FF2B5EF4-FFF2-40B4-BE49-F238E27FC236}">
                  <a16:creationId xmlns:a16="http://schemas.microsoft.com/office/drawing/2014/main" id="{11A51CFA-5986-E46D-9813-D19DDF5358CC}"/>
                </a:ext>
              </a:extLst>
            </p:cNvPr>
            <p:cNvSpPr>
              <a:spLocks noChangeArrowheads="1"/>
            </p:cNvSpPr>
            <p:nvPr/>
          </p:nvSpPr>
          <p:spPr bwMode="auto">
            <a:xfrm>
              <a:off x="4889" y="2461"/>
              <a:ext cx="1162" cy="120"/>
            </a:xfrm>
            <a:prstGeom prst="rect">
              <a:avLst/>
            </a:prstGeom>
            <a:solidFill>
              <a:srgbClr val="FFCC99"/>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ko-KR" altLang="en-US" sz="1000" b="0">
                  <a:ea typeface="굴림" panose="020b0600000101010101" pitchFamily="34" charset="-127"/>
                </a:rPr>
                <a:t> </a:t>
              </a:r>
              <a:r>
                <a:rPr lang="en-US" altLang="ko-KR" sz="1000" b="0">
                  <a:ea typeface="굴림" panose="020b0600000101010101" pitchFamily="34" charset="-127"/>
                </a:rPr>
                <a:t>Target quality of service</a:t>
              </a:r>
            </a:p>
          </p:txBody>
        </p:sp>
        <p:cxnSp>
          <p:nvCxnSpPr>
            <p:cNvPr id="78892" name="AutoShape 40">
              <a:extLst>
                <a:ext uri="{FF2B5EF4-FFF2-40B4-BE49-F238E27FC236}">
                  <a16:creationId xmlns:a16="http://schemas.microsoft.com/office/drawing/2014/main" id="{553F1808-1C12-741E-627B-B165C4B8092C}"/>
                </a:ext>
              </a:extLst>
            </p:cNvPr>
            <p:cNvCxnSpPr>
              <a:cxnSpLocks noChangeShapeType="1"/>
              <a:stCxn id="78878" idx="3"/>
              <a:endCxn id="78879" idx="1"/>
            </p:cNvCxnSpPr>
            <p:nvPr/>
          </p:nvCxnSpPr>
          <p:spPr bwMode="auto">
            <a:xfrm flipV="1">
              <a:off x="4747" y="2382"/>
              <a:ext cx="142" cy="139"/>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893" name="AutoShape 41">
              <a:extLst>
                <a:ext uri="{FF2B5EF4-FFF2-40B4-BE49-F238E27FC236}">
                  <a16:creationId xmlns:a16="http://schemas.microsoft.com/office/drawing/2014/main" id="{243FF623-7D81-9E7D-F609-BA59AEC2441E}"/>
                </a:ext>
              </a:extLst>
            </p:cNvPr>
            <p:cNvCxnSpPr>
              <a:cxnSpLocks noChangeShapeType="1"/>
              <a:stCxn id="78878" idx="3"/>
              <a:endCxn id="78891" idx="1"/>
            </p:cNvCxnSpPr>
            <p:nvPr/>
          </p:nvCxnSpPr>
          <p:spPr bwMode="auto">
            <a:xfrm>
              <a:off x="4747" y="2521"/>
              <a:ext cx="142" cy="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894" name="Rectangle 42">
              <a:extLst>
                <a:ext uri="{FF2B5EF4-FFF2-40B4-BE49-F238E27FC236}">
                  <a16:creationId xmlns:a16="http://schemas.microsoft.com/office/drawing/2014/main" id="{4C9621AF-0DF9-DC16-C0AD-18852DE06638}"/>
                </a:ext>
              </a:extLst>
            </p:cNvPr>
            <p:cNvSpPr>
              <a:spLocks noChangeArrowheads="1"/>
            </p:cNvSpPr>
            <p:nvPr/>
          </p:nvSpPr>
          <p:spPr bwMode="auto">
            <a:xfrm>
              <a:off x="3539" y="2743"/>
              <a:ext cx="1208" cy="175"/>
            </a:xfrm>
            <a:prstGeom prst="rect">
              <a:avLst/>
            </a:prstGeom>
            <a:solidFill>
              <a:srgbClr val="CCFFCC"/>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Wages</a:t>
              </a:r>
            </a:p>
          </p:txBody>
        </p:sp>
        <p:sp>
          <p:nvSpPr>
            <p:cNvPr id="78895" name="Rectangle 43">
              <a:extLst>
                <a:ext uri="{FF2B5EF4-FFF2-40B4-BE49-F238E27FC236}">
                  <a16:creationId xmlns:a16="http://schemas.microsoft.com/office/drawing/2014/main" id="{47A40F1B-B366-1FB2-67DF-9736DBADFDCA}"/>
                </a:ext>
              </a:extLst>
            </p:cNvPr>
            <p:cNvSpPr>
              <a:spLocks noChangeArrowheads="1"/>
            </p:cNvSpPr>
            <p:nvPr/>
          </p:nvSpPr>
          <p:spPr bwMode="auto">
            <a:xfrm>
              <a:off x="3539" y="2980"/>
              <a:ext cx="1208" cy="175"/>
            </a:xfrm>
            <a:prstGeom prst="rect">
              <a:avLst/>
            </a:prstGeom>
            <a:solidFill>
              <a:srgbClr val="99CCFF"/>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 present time / paid time</a:t>
              </a:r>
            </a:p>
          </p:txBody>
        </p:sp>
        <p:sp>
          <p:nvSpPr>
            <p:cNvPr id="78896" name="Rectangle 44">
              <a:extLst>
                <a:ext uri="{FF2B5EF4-FFF2-40B4-BE49-F238E27FC236}">
                  <a16:creationId xmlns:a16="http://schemas.microsoft.com/office/drawing/2014/main" id="{B354604E-7987-FB76-65EA-F437440CB50D}"/>
                </a:ext>
              </a:extLst>
            </p:cNvPr>
            <p:cNvSpPr>
              <a:spLocks noChangeArrowheads="1"/>
            </p:cNvSpPr>
            <p:nvPr/>
          </p:nvSpPr>
          <p:spPr bwMode="auto">
            <a:xfrm>
              <a:off x="3539" y="3326"/>
              <a:ext cx="1208" cy="175"/>
            </a:xfrm>
            <a:prstGeom prst="rect">
              <a:avLst/>
            </a:prstGeom>
            <a:solidFill>
              <a:srgbClr val="99CCFF"/>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 operational time / present time</a:t>
              </a:r>
            </a:p>
          </p:txBody>
        </p:sp>
        <p:sp>
          <p:nvSpPr>
            <p:cNvPr id="78897" name="Rectangle 45">
              <a:extLst>
                <a:ext uri="{FF2B5EF4-FFF2-40B4-BE49-F238E27FC236}">
                  <a16:creationId xmlns:a16="http://schemas.microsoft.com/office/drawing/2014/main" id="{1F9F529F-2023-B3FA-F9E3-D4831F5EDC34}"/>
                </a:ext>
              </a:extLst>
            </p:cNvPr>
            <p:cNvSpPr>
              <a:spLocks noChangeArrowheads="1"/>
            </p:cNvSpPr>
            <p:nvPr/>
          </p:nvSpPr>
          <p:spPr bwMode="auto">
            <a:xfrm>
              <a:off x="3539" y="3602"/>
              <a:ext cx="1208" cy="175"/>
            </a:xfrm>
            <a:prstGeom prst="rect">
              <a:avLst/>
            </a:prstGeom>
            <a:noFill/>
            <a:ln w="12700" algn="ctr">
              <a:solidFill>
                <a:schemeClr val="tx1"/>
              </a:solidFill>
              <a:miter lim="800000"/>
            </a:ln>
            <a:effectLst/>
            <a:extLst>
              <a:ext uri="{909E8E84-426E-40DD-AFC4-6F175D3DCCD1}">
                <a14:hiddenFill xmlns:a14="http://schemas.microsoft.com/office/drawing/2010/main">
                  <a:gradFill rotWithShape="1">
                    <a:gsLst>
                      <a:gs pos="0">
                        <a:srgbClr val="99CCFF"/>
                      </a:gs>
                      <a:gs pos="100000">
                        <a:srgbClr val="FF6699"/>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Management to staff ratio</a:t>
              </a:r>
            </a:p>
          </p:txBody>
        </p:sp>
        <p:grpSp>
          <p:nvGrpSpPr>
            <p:cNvPr id="78898" name="Group 46">
              <a:extLst>
                <a:ext uri="{FF2B5EF4-FFF2-40B4-BE49-F238E27FC236}">
                  <a16:creationId xmlns:a16="http://schemas.microsoft.com/office/drawing/2014/main" id="{530CA5F7-AAD1-D7A3-EAED-DA01D8C1F6CA}"/>
                </a:ext>
              </a:extLst>
            </p:cNvPr>
            <p:cNvGrpSpPr/>
            <p:nvPr/>
          </p:nvGrpSpPr>
          <p:grpSpPr>
            <a:xfrm>
              <a:off x="3539" y="3837"/>
              <a:ext cx="1208" cy="176"/>
              <a:chOff x="3454" y="3759"/>
              <a:chExt cx="1208" cy="176"/>
            </a:xfrm>
          </p:grpSpPr>
          <p:grpSp>
            <p:nvGrpSpPr>
              <p:cNvPr id="78939" name="Group 47">
                <a:extLst>
                  <a:ext uri="{FF2B5EF4-FFF2-40B4-BE49-F238E27FC236}">
                    <a16:creationId xmlns:a16="http://schemas.microsoft.com/office/drawing/2014/main" id="{91998AB2-F474-26FA-14C9-2AEB7AFAC94F}"/>
                  </a:ext>
                </a:extLst>
              </p:cNvPr>
              <p:cNvGrpSpPr/>
              <p:nvPr/>
            </p:nvGrpSpPr>
            <p:grpSpPr>
              <a:xfrm>
                <a:off x="3454" y="3759"/>
                <a:ext cx="1208" cy="176"/>
                <a:chOff x="68" y="3805"/>
                <a:chExt cx="1231" cy="176"/>
              </a:xfrm>
            </p:grpSpPr>
            <p:sp>
              <p:nvSpPr>
                <p:cNvPr id="78941" name="AutoShape 48">
                  <a:extLst>
                    <a:ext uri="{FF2B5EF4-FFF2-40B4-BE49-F238E27FC236}">
                      <a16:creationId xmlns:a16="http://schemas.microsoft.com/office/drawing/2014/main" id="{237B8FF6-259E-BEC3-5374-AF825AB55F69}"/>
                    </a:ext>
                  </a:extLst>
                </p:cNvPr>
                <p:cNvSpPr>
                  <a:spLocks noChangeArrowheads="1"/>
                </p:cNvSpPr>
                <p:nvPr/>
              </p:nvSpPr>
              <p:spPr bwMode="auto">
                <a:xfrm flipV="1">
                  <a:off x="68" y="3805"/>
                  <a:ext cx="1231" cy="175"/>
                </a:xfrm>
                <a:prstGeom prst="rtTriangle">
                  <a:avLst/>
                </a:prstGeom>
                <a:solidFill>
                  <a:srgbClr val="CCFFCC"/>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78942" name="AutoShape 49">
                  <a:extLst>
                    <a:ext uri="{FF2B5EF4-FFF2-40B4-BE49-F238E27FC236}">
                      <a16:creationId xmlns:a16="http://schemas.microsoft.com/office/drawing/2014/main" id="{9209BA9B-BA5A-7245-1D7F-28C2FB59AC19}"/>
                    </a:ext>
                  </a:extLst>
                </p:cNvPr>
                <p:cNvSpPr>
                  <a:spLocks noChangeArrowheads="1"/>
                </p:cNvSpPr>
                <p:nvPr/>
              </p:nvSpPr>
              <p:spPr bwMode="auto">
                <a:xfrm rot="10800000" flipV="1">
                  <a:off x="68" y="3806"/>
                  <a:ext cx="1231" cy="175"/>
                </a:xfrm>
                <a:prstGeom prst="rtTriangle">
                  <a:avLst/>
                </a:prstGeom>
                <a:solidFill>
                  <a:srgbClr val="FF99CC"/>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sp>
            <p:nvSpPr>
              <p:cNvPr id="78940" name="Rectangle 50">
                <a:extLst>
                  <a:ext uri="{FF2B5EF4-FFF2-40B4-BE49-F238E27FC236}">
                    <a16:creationId xmlns:a16="http://schemas.microsoft.com/office/drawing/2014/main" id="{A1F6D5CF-5D8F-D0DA-DDC3-6CD805BF7A21}"/>
                  </a:ext>
                </a:extLst>
              </p:cNvPr>
              <p:cNvSpPr>
                <a:spLocks noChangeArrowheads="1"/>
              </p:cNvSpPr>
              <p:nvPr/>
            </p:nvSpPr>
            <p:spPr bwMode="auto">
              <a:xfrm>
                <a:off x="3454" y="3759"/>
                <a:ext cx="1208" cy="175"/>
              </a:xfrm>
              <a:prstGeom prst="rect">
                <a:avLst/>
              </a:prstGeom>
              <a:noFill/>
              <a:ln w="12700" algn="ctr">
                <a:solidFill>
                  <a:schemeClr val="tx1"/>
                </a:solidFill>
                <a:miter lim="800000"/>
              </a:ln>
              <a:effectLst/>
              <a:extLst>
                <a:ext uri="{909E8E84-426E-40DD-AFC4-6F175D3DCCD1}">
                  <a14:hiddenFill xmlns:a14="http://schemas.microsoft.com/office/drawing/2010/main">
                    <a:gradFill rotWithShape="1">
                      <a:gsLst>
                        <a:gs pos="0">
                          <a:srgbClr val="CCFFCC"/>
                        </a:gs>
                        <a:gs pos="100000">
                          <a:srgbClr val="FF6699"/>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Support to staff ratio</a:t>
                </a:r>
              </a:p>
            </p:txBody>
          </p:sp>
        </p:grpSp>
        <p:sp>
          <p:nvSpPr>
            <p:cNvPr id="78899" name="Rectangle 51">
              <a:extLst>
                <a:ext uri="{FF2B5EF4-FFF2-40B4-BE49-F238E27FC236}">
                  <a16:creationId xmlns:a16="http://schemas.microsoft.com/office/drawing/2014/main" id="{8B3CCF9B-39F3-E8D7-D1F7-E063BB361737}"/>
                </a:ext>
              </a:extLst>
            </p:cNvPr>
            <p:cNvSpPr>
              <a:spLocks noChangeArrowheads="1"/>
            </p:cNvSpPr>
            <p:nvPr/>
          </p:nvSpPr>
          <p:spPr bwMode="auto">
            <a:xfrm>
              <a:off x="3539" y="4073"/>
              <a:ext cx="1208" cy="175"/>
            </a:xfrm>
            <a:prstGeom prst="rect">
              <a:avLst/>
            </a:prstGeom>
            <a:solidFill>
              <a:srgbClr val="FF99CC"/>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Administrative staff and G&amp;A ratio</a:t>
              </a:r>
            </a:p>
          </p:txBody>
        </p:sp>
        <p:cxnSp>
          <p:nvCxnSpPr>
            <p:cNvPr id="78900" name="AutoShape 52">
              <a:extLst>
                <a:ext uri="{FF2B5EF4-FFF2-40B4-BE49-F238E27FC236}">
                  <a16:creationId xmlns:a16="http://schemas.microsoft.com/office/drawing/2014/main" id="{13094FBA-7D8D-F59F-CF3B-8EE159612D92}"/>
                </a:ext>
              </a:extLst>
            </p:cNvPr>
            <p:cNvCxnSpPr>
              <a:cxnSpLocks noChangeShapeType="1"/>
              <a:stCxn id="78880" idx="3"/>
              <a:endCxn id="78894" idx="1"/>
            </p:cNvCxnSpPr>
            <p:nvPr/>
          </p:nvCxnSpPr>
          <p:spPr bwMode="auto">
            <a:xfrm flipV="1">
              <a:off x="3348" y="2831"/>
              <a:ext cx="191" cy="668"/>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1" name="AutoShape 53">
              <a:extLst>
                <a:ext uri="{FF2B5EF4-FFF2-40B4-BE49-F238E27FC236}">
                  <a16:creationId xmlns:a16="http://schemas.microsoft.com/office/drawing/2014/main" id="{89A31610-8AAB-A606-4AA9-4A0FEC6BEC70}"/>
                </a:ext>
              </a:extLst>
            </p:cNvPr>
            <p:cNvCxnSpPr>
              <a:cxnSpLocks noChangeShapeType="1"/>
              <a:stCxn id="78880" idx="3"/>
              <a:endCxn id="78895" idx="1"/>
            </p:cNvCxnSpPr>
            <p:nvPr/>
          </p:nvCxnSpPr>
          <p:spPr bwMode="auto">
            <a:xfrm flipV="1">
              <a:off x="3348" y="3068"/>
              <a:ext cx="191" cy="431"/>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2" name="AutoShape 54">
              <a:extLst>
                <a:ext uri="{FF2B5EF4-FFF2-40B4-BE49-F238E27FC236}">
                  <a16:creationId xmlns:a16="http://schemas.microsoft.com/office/drawing/2014/main" id="{B4EB23FF-2041-1A2A-24FB-0C5F8DB1BB4F}"/>
                </a:ext>
              </a:extLst>
            </p:cNvPr>
            <p:cNvCxnSpPr>
              <a:cxnSpLocks noChangeShapeType="1"/>
              <a:stCxn id="78880" idx="3"/>
              <a:endCxn id="78896" idx="1"/>
            </p:cNvCxnSpPr>
            <p:nvPr/>
          </p:nvCxnSpPr>
          <p:spPr bwMode="auto">
            <a:xfrm flipV="1">
              <a:off x="3348" y="3414"/>
              <a:ext cx="191" cy="85"/>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3" name="AutoShape 55">
              <a:extLst>
                <a:ext uri="{FF2B5EF4-FFF2-40B4-BE49-F238E27FC236}">
                  <a16:creationId xmlns:a16="http://schemas.microsoft.com/office/drawing/2014/main" id="{334E72D8-B92F-6C27-FA57-CAC8B98B7D69}"/>
                </a:ext>
              </a:extLst>
            </p:cNvPr>
            <p:cNvCxnSpPr>
              <a:cxnSpLocks noChangeShapeType="1"/>
              <a:stCxn id="78880" idx="3"/>
              <a:endCxn id="78897" idx="1"/>
            </p:cNvCxnSpPr>
            <p:nvPr/>
          </p:nvCxnSpPr>
          <p:spPr bwMode="auto">
            <a:xfrm>
              <a:off x="3348" y="3499"/>
              <a:ext cx="191" cy="191"/>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4" name="AutoShape 56">
              <a:extLst>
                <a:ext uri="{FF2B5EF4-FFF2-40B4-BE49-F238E27FC236}">
                  <a16:creationId xmlns:a16="http://schemas.microsoft.com/office/drawing/2014/main" id="{5523F5A3-C617-743B-3B0E-4DE0F325AB63}"/>
                </a:ext>
              </a:extLst>
            </p:cNvPr>
            <p:cNvCxnSpPr>
              <a:cxnSpLocks noChangeShapeType="1"/>
              <a:stCxn id="78880" idx="3"/>
              <a:endCxn id="78940" idx="1"/>
            </p:cNvCxnSpPr>
            <p:nvPr/>
          </p:nvCxnSpPr>
          <p:spPr bwMode="auto">
            <a:xfrm>
              <a:off x="3348" y="3499"/>
              <a:ext cx="191" cy="426"/>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05" name="AutoShape 57">
              <a:extLst>
                <a:ext uri="{FF2B5EF4-FFF2-40B4-BE49-F238E27FC236}">
                  <a16:creationId xmlns:a16="http://schemas.microsoft.com/office/drawing/2014/main" id="{777AA8A2-E407-7DC2-DEA7-F9961B803DE2}"/>
                </a:ext>
              </a:extLst>
            </p:cNvPr>
            <p:cNvCxnSpPr>
              <a:cxnSpLocks noChangeShapeType="1"/>
              <a:stCxn id="78880" idx="3"/>
              <a:endCxn id="78899" idx="1"/>
            </p:cNvCxnSpPr>
            <p:nvPr/>
          </p:nvCxnSpPr>
          <p:spPr bwMode="auto">
            <a:xfrm>
              <a:off x="3348" y="3499"/>
              <a:ext cx="191" cy="662"/>
            </a:xfrm>
            <a:prstGeom prst="bentConnector3">
              <a:avLst>
                <a:gd name="adj1" fmla="val 4973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06" name="Rectangle 58">
              <a:extLst>
                <a:ext uri="{FF2B5EF4-FFF2-40B4-BE49-F238E27FC236}">
                  <a16:creationId xmlns:a16="http://schemas.microsoft.com/office/drawing/2014/main" id="{D167D586-DE1D-BA57-7402-FB309737713D}"/>
                </a:ext>
              </a:extLst>
            </p:cNvPr>
            <p:cNvSpPr>
              <a:spLocks noChangeArrowheads="1"/>
            </p:cNvSpPr>
            <p:nvPr/>
          </p:nvSpPr>
          <p:spPr bwMode="auto">
            <a:xfrm>
              <a:off x="4870" y="2944"/>
              <a:ext cx="1162" cy="12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Holydays</a:t>
              </a:r>
            </a:p>
          </p:txBody>
        </p:sp>
        <p:sp>
          <p:nvSpPr>
            <p:cNvPr id="78907" name="Oval 59">
              <a:extLst>
                <a:ext uri="{FF2B5EF4-FFF2-40B4-BE49-F238E27FC236}">
                  <a16:creationId xmlns:a16="http://schemas.microsoft.com/office/drawing/2014/main" id="{CADB1B57-3F03-1030-D7DD-82F0E0E6F7DD}"/>
                </a:ext>
              </a:extLst>
            </p:cNvPr>
            <p:cNvSpPr>
              <a:spLocks noChangeArrowheads="1"/>
            </p:cNvSpPr>
            <p:nvPr/>
          </p:nvSpPr>
          <p:spPr bwMode="auto">
            <a:xfrm>
              <a:off x="3372" y="2864"/>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08" name="Oval 60">
              <a:extLst>
                <a:ext uri="{FF2B5EF4-FFF2-40B4-BE49-F238E27FC236}">
                  <a16:creationId xmlns:a16="http://schemas.microsoft.com/office/drawing/2014/main" id="{C524387E-54C3-F441-35CB-536069061C4D}"/>
                </a:ext>
              </a:extLst>
            </p:cNvPr>
            <p:cNvSpPr>
              <a:spLocks noChangeArrowheads="1"/>
            </p:cNvSpPr>
            <p:nvPr/>
          </p:nvSpPr>
          <p:spPr bwMode="auto">
            <a:xfrm>
              <a:off x="3372" y="3164"/>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09" name="Oval 61">
              <a:extLst>
                <a:ext uri="{FF2B5EF4-FFF2-40B4-BE49-F238E27FC236}">
                  <a16:creationId xmlns:a16="http://schemas.microsoft.com/office/drawing/2014/main" id="{D592191E-1E76-8EC4-C9FE-5E1414128A41}"/>
                </a:ext>
              </a:extLst>
            </p:cNvPr>
            <p:cNvSpPr>
              <a:spLocks noChangeArrowheads="1"/>
            </p:cNvSpPr>
            <p:nvPr/>
          </p:nvSpPr>
          <p:spPr bwMode="auto">
            <a:xfrm>
              <a:off x="3372" y="3473"/>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10" name="Oval 62">
              <a:extLst>
                <a:ext uri="{FF2B5EF4-FFF2-40B4-BE49-F238E27FC236}">
                  <a16:creationId xmlns:a16="http://schemas.microsoft.com/office/drawing/2014/main" id="{A845E7AD-9E9A-1F45-AD99-F9E694B1CDF1}"/>
                </a:ext>
              </a:extLst>
            </p:cNvPr>
            <p:cNvSpPr>
              <a:spLocks noChangeArrowheads="1"/>
            </p:cNvSpPr>
            <p:nvPr/>
          </p:nvSpPr>
          <p:spPr bwMode="auto">
            <a:xfrm>
              <a:off x="3372" y="3722"/>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11" name="Oval 63">
              <a:extLst>
                <a:ext uri="{FF2B5EF4-FFF2-40B4-BE49-F238E27FC236}">
                  <a16:creationId xmlns:a16="http://schemas.microsoft.com/office/drawing/2014/main" id="{C1FEA6D7-104F-E309-023A-44C4104E8C5B}"/>
                </a:ext>
              </a:extLst>
            </p:cNvPr>
            <p:cNvSpPr>
              <a:spLocks noChangeArrowheads="1"/>
            </p:cNvSpPr>
            <p:nvPr/>
          </p:nvSpPr>
          <p:spPr bwMode="auto">
            <a:xfrm>
              <a:off x="3363" y="3958"/>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12" name="Rectangle 64">
              <a:extLst>
                <a:ext uri="{FF2B5EF4-FFF2-40B4-BE49-F238E27FC236}">
                  <a16:creationId xmlns:a16="http://schemas.microsoft.com/office/drawing/2014/main" id="{FF912839-FE4C-C2F8-2EBB-D1F7AAA5FE43}"/>
                </a:ext>
              </a:extLst>
            </p:cNvPr>
            <p:cNvSpPr>
              <a:spLocks noChangeArrowheads="1"/>
            </p:cNvSpPr>
            <p:nvPr/>
          </p:nvSpPr>
          <p:spPr bwMode="auto">
            <a:xfrm>
              <a:off x="4870" y="3083"/>
              <a:ext cx="1162" cy="120"/>
            </a:xfrm>
            <a:prstGeom prst="rect">
              <a:avLst/>
            </a:prstGeom>
            <a:solidFill>
              <a:srgbClr val="99CCFF"/>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Absences</a:t>
              </a:r>
            </a:p>
          </p:txBody>
        </p:sp>
        <p:cxnSp>
          <p:nvCxnSpPr>
            <p:cNvPr id="78913" name="AutoShape 65">
              <a:extLst>
                <a:ext uri="{FF2B5EF4-FFF2-40B4-BE49-F238E27FC236}">
                  <a16:creationId xmlns:a16="http://schemas.microsoft.com/office/drawing/2014/main" id="{24A9762C-6467-2D47-0BD4-9E1EDA2B2324}"/>
                </a:ext>
              </a:extLst>
            </p:cNvPr>
            <p:cNvCxnSpPr>
              <a:cxnSpLocks noChangeShapeType="1"/>
              <a:stCxn id="78895" idx="3"/>
              <a:endCxn id="78906" idx="1"/>
            </p:cNvCxnSpPr>
            <p:nvPr/>
          </p:nvCxnSpPr>
          <p:spPr bwMode="auto">
            <a:xfrm flipV="1">
              <a:off x="4747" y="3004"/>
              <a:ext cx="123" cy="64"/>
            </a:xfrm>
            <a:prstGeom prst="bentConnector3">
              <a:avLst>
                <a:gd name="adj1" fmla="val 49593"/>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14" name="AutoShape 66">
              <a:extLst>
                <a:ext uri="{FF2B5EF4-FFF2-40B4-BE49-F238E27FC236}">
                  <a16:creationId xmlns:a16="http://schemas.microsoft.com/office/drawing/2014/main" id="{E0F6A956-D63E-6A1D-EC83-16B4EA50A779}"/>
                </a:ext>
              </a:extLst>
            </p:cNvPr>
            <p:cNvCxnSpPr>
              <a:cxnSpLocks noChangeShapeType="1"/>
              <a:stCxn id="78895" idx="3"/>
              <a:endCxn id="78912" idx="1"/>
            </p:cNvCxnSpPr>
            <p:nvPr/>
          </p:nvCxnSpPr>
          <p:spPr bwMode="auto">
            <a:xfrm>
              <a:off x="4747" y="3068"/>
              <a:ext cx="123" cy="75"/>
            </a:xfrm>
            <a:prstGeom prst="bentConnector3">
              <a:avLst>
                <a:gd name="adj1" fmla="val 49593"/>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15" name="Rectangle 67">
              <a:extLst>
                <a:ext uri="{FF2B5EF4-FFF2-40B4-BE49-F238E27FC236}">
                  <a16:creationId xmlns:a16="http://schemas.microsoft.com/office/drawing/2014/main" id="{A7CDFE83-17EE-E642-34CF-0D02AE1A3572}"/>
                </a:ext>
              </a:extLst>
            </p:cNvPr>
            <p:cNvSpPr>
              <a:spLocks noChangeArrowheads="1"/>
            </p:cNvSpPr>
            <p:nvPr/>
          </p:nvSpPr>
          <p:spPr bwMode="auto">
            <a:xfrm>
              <a:off x="4870" y="3230"/>
              <a:ext cx="1162" cy="120"/>
            </a:xfrm>
            <a:prstGeom prst="rect">
              <a:avLst/>
            </a:prstGeom>
            <a:solidFill>
              <a:srgbClr val="CCFFCC"/>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Training</a:t>
              </a:r>
            </a:p>
          </p:txBody>
        </p:sp>
        <p:sp>
          <p:nvSpPr>
            <p:cNvPr id="78916" name="Rectangle 68">
              <a:extLst>
                <a:ext uri="{FF2B5EF4-FFF2-40B4-BE49-F238E27FC236}">
                  <a16:creationId xmlns:a16="http://schemas.microsoft.com/office/drawing/2014/main" id="{56AC8391-F9E1-D19B-F94F-0E97A509F29D}"/>
                </a:ext>
              </a:extLst>
            </p:cNvPr>
            <p:cNvSpPr>
              <a:spLocks noChangeArrowheads="1"/>
            </p:cNvSpPr>
            <p:nvPr/>
          </p:nvSpPr>
          <p:spPr bwMode="auto">
            <a:xfrm>
              <a:off x="4870" y="3369"/>
              <a:ext cx="1162" cy="120"/>
            </a:xfrm>
            <a:prstGeom prst="rect">
              <a:avLst/>
            </a:prstGeom>
            <a:solidFill>
              <a:srgbClr val="99CCFF"/>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Break</a:t>
              </a:r>
            </a:p>
          </p:txBody>
        </p:sp>
        <p:sp>
          <p:nvSpPr>
            <p:cNvPr id="78917" name="Rectangle 69">
              <a:extLst>
                <a:ext uri="{FF2B5EF4-FFF2-40B4-BE49-F238E27FC236}">
                  <a16:creationId xmlns:a16="http://schemas.microsoft.com/office/drawing/2014/main" id="{14E3E5D9-DF59-DEED-76AE-C7A5EA5B772E}"/>
                </a:ext>
              </a:extLst>
            </p:cNvPr>
            <p:cNvSpPr>
              <a:spLocks noChangeArrowheads="1"/>
            </p:cNvSpPr>
            <p:nvPr/>
          </p:nvSpPr>
          <p:spPr bwMode="auto">
            <a:xfrm>
              <a:off x="4870" y="3516"/>
              <a:ext cx="1162" cy="120"/>
            </a:xfrm>
            <a:prstGeom prst="rect">
              <a:avLst/>
            </a:prstGeom>
            <a:solidFill>
              <a:srgbClr val="007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solidFill>
                    <a:schemeClr val="bg1"/>
                  </a:solidFill>
                  <a:ea typeface="굴림" panose="020b0600000101010101" pitchFamily="34" charset="-127"/>
                </a:rPr>
                <a:t>Administration</a:t>
              </a:r>
            </a:p>
          </p:txBody>
        </p:sp>
        <p:cxnSp>
          <p:nvCxnSpPr>
            <p:cNvPr id="78918" name="AutoShape 70">
              <a:extLst>
                <a:ext uri="{FF2B5EF4-FFF2-40B4-BE49-F238E27FC236}">
                  <a16:creationId xmlns:a16="http://schemas.microsoft.com/office/drawing/2014/main" id="{F4698B9C-0032-4142-56D7-BE34A17C603C}"/>
                </a:ext>
              </a:extLst>
            </p:cNvPr>
            <p:cNvCxnSpPr>
              <a:cxnSpLocks noChangeShapeType="1"/>
              <a:stCxn id="78896" idx="3"/>
              <a:endCxn id="78915" idx="1"/>
            </p:cNvCxnSpPr>
            <p:nvPr/>
          </p:nvCxnSpPr>
          <p:spPr bwMode="auto">
            <a:xfrm flipV="1">
              <a:off x="4747" y="3290"/>
              <a:ext cx="123" cy="124"/>
            </a:xfrm>
            <a:prstGeom prst="bentConnector3">
              <a:avLst>
                <a:gd name="adj1" fmla="val 49593"/>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19" name="AutoShape 71">
              <a:extLst>
                <a:ext uri="{FF2B5EF4-FFF2-40B4-BE49-F238E27FC236}">
                  <a16:creationId xmlns:a16="http://schemas.microsoft.com/office/drawing/2014/main" id="{2EFDAC27-E913-AA5E-B79A-3B06C7B7EF8C}"/>
                </a:ext>
              </a:extLst>
            </p:cNvPr>
            <p:cNvCxnSpPr>
              <a:cxnSpLocks noChangeShapeType="1"/>
              <a:stCxn id="78896" idx="3"/>
              <a:endCxn id="78916" idx="1"/>
            </p:cNvCxnSpPr>
            <p:nvPr/>
          </p:nvCxnSpPr>
          <p:spPr bwMode="auto">
            <a:xfrm>
              <a:off x="4747" y="3414"/>
              <a:ext cx="123" cy="15"/>
            </a:xfrm>
            <a:prstGeom prst="bentConnector3">
              <a:avLst>
                <a:gd name="adj1" fmla="val 49593"/>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20" name="AutoShape 72">
              <a:extLst>
                <a:ext uri="{FF2B5EF4-FFF2-40B4-BE49-F238E27FC236}">
                  <a16:creationId xmlns:a16="http://schemas.microsoft.com/office/drawing/2014/main" id="{F7D57E80-76D1-1536-E784-CACB6D66245D}"/>
                </a:ext>
              </a:extLst>
            </p:cNvPr>
            <p:cNvCxnSpPr>
              <a:cxnSpLocks noChangeShapeType="1"/>
              <a:stCxn id="78896" idx="3"/>
              <a:endCxn id="78917" idx="1"/>
            </p:cNvCxnSpPr>
            <p:nvPr/>
          </p:nvCxnSpPr>
          <p:spPr bwMode="auto">
            <a:xfrm>
              <a:off x="4747" y="3414"/>
              <a:ext cx="123" cy="162"/>
            </a:xfrm>
            <a:prstGeom prst="bentConnector3">
              <a:avLst>
                <a:gd name="adj1" fmla="val 49593"/>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21" name="Text Box 73">
              <a:extLst>
                <a:ext uri="{FF2B5EF4-FFF2-40B4-BE49-F238E27FC236}">
                  <a16:creationId xmlns:a16="http://schemas.microsoft.com/office/drawing/2014/main" id="{4293928E-418F-DE82-105A-9003536C6BAC}"/>
                </a:ext>
              </a:extLst>
            </p:cNvPr>
            <p:cNvSpPr txBox="1">
              <a:spLocks noChangeArrowheads="1"/>
            </p:cNvSpPr>
            <p:nvPr/>
          </p:nvSpPr>
          <p:spPr bwMode="auto">
            <a:xfrm>
              <a:off x="2186" y="1138"/>
              <a:ext cx="384"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Units</a:t>
              </a:r>
            </a:p>
          </p:txBody>
        </p:sp>
        <p:sp>
          <p:nvSpPr>
            <p:cNvPr id="78922" name="Text Box 74">
              <a:extLst>
                <a:ext uri="{FF2B5EF4-FFF2-40B4-BE49-F238E27FC236}">
                  <a16:creationId xmlns:a16="http://schemas.microsoft.com/office/drawing/2014/main" id="{3950E21D-C10D-9CB2-6A7D-6DD44ABF9B8B}"/>
                </a:ext>
              </a:extLst>
            </p:cNvPr>
            <p:cNvSpPr txBox="1">
              <a:spLocks noChangeArrowheads="1"/>
            </p:cNvSpPr>
            <p:nvPr/>
          </p:nvSpPr>
          <p:spPr bwMode="auto">
            <a:xfrm>
              <a:off x="2186" y="1728"/>
              <a:ext cx="384"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Time / unit</a:t>
              </a:r>
            </a:p>
          </p:txBody>
        </p:sp>
        <p:sp>
          <p:nvSpPr>
            <p:cNvPr id="78923" name="Text Box 75">
              <a:extLst>
                <a:ext uri="{FF2B5EF4-FFF2-40B4-BE49-F238E27FC236}">
                  <a16:creationId xmlns:a16="http://schemas.microsoft.com/office/drawing/2014/main" id="{851CDDB4-2AB6-6DD8-54D5-A7597F143CC3}"/>
                </a:ext>
              </a:extLst>
            </p:cNvPr>
            <p:cNvSpPr txBox="1">
              <a:spLocks noChangeArrowheads="1"/>
            </p:cNvSpPr>
            <p:nvPr/>
          </p:nvSpPr>
          <p:spPr bwMode="auto">
            <a:xfrm>
              <a:off x="2186" y="2410"/>
              <a:ext cx="384"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Coefficient</a:t>
              </a:r>
            </a:p>
          </p:txBody>
        </p:sp>
        <p:sp>
          <p:nvSpPr>
            <p:cNvPr id="78924" name="Text Box 76">
              <a:extLst>
                <a:ext uri="{FF2B5EF4-FFF2-40B4-BE49-F238E27FC236}">
                  <a16:creationId xmlns:a16="http://schemas.microsoft.com/office/drawing/2014/main" id="{A48D9685-2C44-0A52-D8AC-BFEA72BAD673}"/>
                </a:ext>
              </a:extLst>
            </p:cNvPr>
            <p:cNvSpPr txBox="1">
              <a:spLocks noChangeArrowheads="1"/>
            </p:cNvSpPr>
            <p:nvPr/>
          </p:nvSpPr>
          <p:spPr bwMode="auto">
            <a:xfrm>
              <a:off x="2186" y="3329"/>
              <a:ext cx="384"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ko-KR" altLang="en-US" sz="1000" b="0">
                  <a:ea typeface="굴림" panose="020b0600000101010101" pitchFamily="34" charset="-127"/>
                </a:rPr>
                <a:t>€ </a:t>
              </a:r>
              <a:r>
                <a:rPr lang="en-US" altLang="ko-KR" sz="1000" b="0">
                  <a:ea typeface="굴림" panose="020b0600000101010101" pitchFamily="34" charset="-127"/>
                </a:rPr>
                <a:t>/ time</a:t>
              </a:r>
            </a:p>
          </p:txBody>
        </p:sp>
        <p:sp>
          <p:nvSpPr>
            <p:cNvPr id="78925" name="Text Box 77">
              <a:extLst>
                <a:ext uri="{FF2B5EF4-FFF2-40B4-BE49-F238E27FC236}">
                  <a16:creationId xmlns:a16="http://schemas.microsoft.com/office/drawing/2014/main" id="{221CF7C9-0358-DB5A-F8E4-801499E90F37}"/>
                </a:ext>
              </a:extLst>
            </p:cNvPr>
            <p:cNvSpPr txBox="1">
              <a:spLocks noChangeArrowheads="1"/>
            </p:cNvSpPr>
            <p:nvPr/>
          </p:nvSpPr>
          <p:spPr bwMode="auto">
            <a:xfrm>
              <a:off x="4284" y="1744"/>
              <a:ext cx="384" cy="104"/>
            </a:xfrm>
            <a:prstGeom prst="rect">
              <a:avLst/>
            </a:prstGeom>
            <a:solidFill>
              <a:srgbClr val="C0C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Interfaces</a:t>
              </a:r>
            </a:p>
          </p:txBody>
        </p:sp>
        <p:sp>
          <p:nvSpPr>
            <p:cNvPr id="78926" name="Oval 78">
              <a:extLst>
                <a:ext uri="{FF2B5EF4-FFF2-40B4-BE49-F238E27FC236}">
                  <a16:creationId xmlns:a16="http://schemas.microsoft.com/office/drawing/2014/main" id="{F41D319D-8B47-DA4C-A4D2-B4ED1C4AD091}"/>
                </a:ext>
              </a:extLst>
            </p:cNvPr>
            <p:cNvSpPr>
              <a:spLocks noChangeArrowheads="1"/>
            </p:cNvSpPr>
            <p:nvPr/>
          </p:nvSpPr>
          <p:spPr bwMode="auto">
            <a:xfrm>
              <a:off x="4074" y="1697"/>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X</a:t>
              </a:r>
            </a:p>
          </p:txBody>
        </p:sp>
        <p:sp>
          <p:nvSpPr>
            <p:cNvPr id="78927" name="Oval 79">
              <a:extLst>
                <a:ext uri="{FF2B5EF4-FFF2-40B4-BE49-F238E27FC236}">
                  <a16:creationId xmlns:a16="http://schemas.microsoft.com/office/drawing/2014/main" id="{A39BAA24-240B-8E53-F810-6B79385D7F00}"/>
                </a:ext>
              </a:extLst>
            </p:cNvPr>
            <p:cNvSpPr>
              <a:spLocks noChangeArrowheads="1"/>
            </p:cNvSpPr>
            <p:nvPr/>
          </p:nvSpPr>
          <p:spPr bwMode="auto">
            <a:xfrm>
              <a:off x="3719" y="1870"/>
              <a:ext cx="200" cy="171"/>
            </a:xfrm>
            <a:prstGeom prst="ellipse">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000" b="0">
                  <a:ea typeface="굴림" panose="020b0600000101010101" pitchFamily="34" charset="-127"/>
                </a:rPr>
                <a:t>X</a:t>
              </a:r>
            </a:p>
          </p:txBody>
        </p:sp>
        <p:sp>
          <p:nvSpPr>
            <p:cNvPr id="78928" name="Text Box 80">
              <a:extLst>
                <a:ext uri="{FF2B5EF4-FFF2-40B4-BE49-F238E27FC236}">
                  <a16:creationId xmlns:a16="http://schemas.microsoft.com/office/drawing/2014/main" id="{CF35DD57-18DC-A3F4-A7DA-F1B860038C49}"/>
                </a:ext>
              </a:extLst>
            </p:cNvPr>
            <p:cNvSpPr txBox="1">
              <a:spLocks noChangeArrowheads="1"/>
            </p:cNvSpPr>
            <p:nvPr/>
          </p:nvSpPr>
          <p:spPr bwMode="auto">
            <a:xfrm>
              <a:off x="4682" y="1440"/>
              <a:ext cx="1490"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Specialization by demand or activity type</a:t>
              </a:r>
            </a:p>
          </p:txBody>
        </p:sp>
        <p:sp>
          <p:nvSpPr>
            <p:cNvPr id="78929" name="Rectangle 81">
              <a:extLst>
                <a:ext uri="{FF2B5EF4-FFF2-40B4-BE49-F238E27FC236}">
                  <a16:creationId xmlns:a16="http://schemas.microsoft.com/office/drawing/2014/main" id="{4FFA144E-7E38-92CA-E21A-85364E945D7F}"/>
                </a:ext>
              </a:extLst>
            </p:cNvPr>
            <p:cNvSpPr>
              <a:spLocks noChangeArrowheads="1"/>
            </p:cNvSpPr>
            <p:nvPr/>
          </p:nvSpPr>
          <p:spPr bwMode="auto">
            <a:xfrm>
              <a:off x="4889" y="2607"/>
              <a:ext cx="1162" cy="120"/>
            </a:xfrm>
            <a:prstGeom prst="rect">
              <a:avLst/>
            </a:prstGeom>
            <a:solidFill>
              <a:srgbClr val="C0C0C0"/>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ko-KR" altLang="en-US" sz="1000" b="0">
                  <a:ea typeface="굴림" panose="020b0600000101010101" pitchFamily="34" charset="-127"/>
                </a:rPr>
                <a:t> </a:t>
              </a:r>
              <a:r>
                <a:rPr lang="en-US" altLang="ko-KR" sz="1000" b="0">
                  <a:ea typeface="굴림" panose="020b0600000101010101" pitchFamily="34" charset="-127"/>
                </a:rPr>
                <a:t>Specialization level</a:t>
              </a:r>
            </a:p>
          </p:txBody>
        </p:sp>
        <p:cxnSp>
          <p:nvCxnSpPr>
            <p:cNvPr id="78930" name="AutoShape 82">
              <a:extLst>
                <a:ext uri="{FF2B5EF4-FFF2-40B4-BE49-F238E27FC236}">
                  <a16:creationId xmlns:a16="http://schemas.microsoft.com/office/drawing/2014/main" id="{22290F07-C9F9-3270-5D0C-1844B4EA23D4}"/>
                </a:ext>
              </a:extLst>
            </p:cNvPr>
            <p:cNvCxnSpPr>
              <a:cxnSpLocks noChangeShapeType="1"/>
              <a:stCxn id="78878" idx="3"/>
              <a:endCxn id="78929" idx="1"/>
            </p:cNvCxnSpPr>
            <p:nvPr/>
          </p:nvCxnSpPr>
          <p:spPr bwMode="auto">
            <a:xfrm>
              <a:off x="4747" y="2521"/>
              <a:ext cx="142" cy="146"/>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31" name="AutoShape 83">
              <a:extLst>
                <a:ext uri="{FF2B5EF4-FFF2-40B4-BE49-F238E27FC236}">
                  <a16:creationId xmlns:a16="http://schemas.microsoft.com/office/drawing/2014/main" id="{3EE4AD72-0131-8C42-2BE3-AE7821156CE9}"/>
                </a:ext>
              </a:extLst>
            </p:cNvPr>
            <p:cNvCxnSpPr>
              <a:cxnSpLocks noChangeShapeType="1"/>
              <a:endCxn id="78868" idx="1"/>
            </p:cNvCxnSpPr>
            <p:nvPr/>
          </p:nvCxnSpPr>
          <p:spPr bwMode="auto">
            <a:xfrm flipV="1">
              <a:off x="2468" y="1181"/>
              <a:ext cx="351" cy="932"/>
            </a:xfrm>
            <a:prstGeom prst="bentConnector3">
              <a:avLst>
                <a:gd name="adj1" fmla="val 4985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32" name="AutoShape 84">
              <a:extLst>
                <a:ext uri="{FF2B5EF4-FFF2-40B4-BE49-F238E27FC236}">
                  <a16:creationId xmlns:a16="http://schemas.microsoft.com/office/drawing/2014/main" id="{FE32E6FC-EDCA-F77C-A2E7-F3241BEF48FA}"/>
                </a:ext>
              </a:extLst>
            </p:cNvPr>
            <p:cNvCxnSpPr>
              <a:cxnSpLocks noChangeShapeType="1"/>
              <a:endCxn id="78869" idx="1"/>
            </p:cNvCxnSpPr>
            <p:nvPr/>
          </p:nvCxnSpPr>
          <p:spPr bwMode="auto">
            <a:xfrm flipV="1">
              <a:off x="2468" y="1785"/>
              <a:ext cx="354" cy="328"/>
            </a:xfrm>
            <a:prstGeom prst="bentConnector3">
              <a:avLst>
                <a:gd name="adj1" fmla="val 4971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33" name="AutoShape 85">
              <a:extLst>
                <a:ext uri="{FF2B5EF4-FFF2-40B4-BE49-F238E27FC236}">
                  <a16:creationId xmlns:a16="http://schemas.microsoft.com/office/drawing/2014/main" id="{A22CD135-06AA-97C0-B25E-6DF838CDD2F1}"/>
                </a:ext>
              </a:extLst>
            </p:cNvPr>
            <p:cNvCxnSpPr>
              <a:cxnSpLocks noChangeShapeType="1"/>
              <a:endCxn id="78870" idx="1"/>
            </p:cNvCxnSpPr>
            <p:nvPr/>
          </p:nvCxnSpPr>
          <p:spPr bwMode="auto">
            <a:xfrm>
              <a:off x="2468" y="2113"/>
              <a:ext cx="351" cy="274"/>
            </a:xfrm>
            <a:prstGeom prst="bentConnector3">
              <a:avLst>
                <a:gd name="adj1" fmla="val 4985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934" name="AutoShape 86">
              <a:extLst>
                <a:ext uri="{FF2B5EF4-FFF2-40B4-BE49-F238E27FC236}">
                  <a16:creationId xmlns:a16="http://schemas.microsoft.com/office/drawing/2014/main" id="{DA89044C-6B36-83B1-D837-906865EC0054}"/>
                </a:ext>
              </a:extLst>
            </p:cNvPr>
            <p:cNvCxnSpPr>
              <a:cxnSpLocks noChangeShapeType="1"/>
              <a:endCxn id="78880" idx="1"/>
            </p:cNvCxnSpPr>
            <p:nvPr/>
          </p:nvCxnSpPr>
          <p:spPr bwMode="auto">
            <a:xfrm>
              <a:off x="2468" y="2113"/>
              <a:ext cx="351" cy="1386"/>
            </a:xfrm>
            <a:prstGeom prst="bentConnector3">
              <a:avLst>
                <a:gd name="adj1" fmla="val 49856"/>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935" name="Oval 87">
              <a:extLst>
                <a:ext uri="{FF2B5EF4-FFF2-40B4-BE49-F238E27FC236}">
                  <a16:creationId xmlns:a16="http://schemas.microsoft.com/office/drawing/2014/main" id="{643EB19B-784C-104F-F88E-9E1EABD271B0}"/>
                </a:ext>
              </a:extLst>
            </p:cNvPr>
            <p:cNvSpPr>
              <a:spLocks noChangeArrowheads="1"/>
            </p:cNvSpPr>
            <p:nvPr/>
          </p:nvSpPr>
          <p:spPr bwMode="auto">
            <a:xfrm>
              <a:off x="2540" y="1438"/>
              <a:ext cx="200" cy="171"/>
            </a:xfrm>
            <a:prstGeom prst="ellipse">
              <a:avLst/>
            </a:prstGeom>
            <a:solidFill>
              <a:schemeClr val="folHlink"/>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36" name="Oval 88">
              <a:extLst>
                <a:ext uri="{FF2B5EF4-FFF2-40B4-BE49-F238E27FC236}">
                  <a16:creationId xmlns:a16="http://schemas.microsoft.com/office/drawing/2014/main" id="{3656979B-C58B-8BAB-845C-3FC5E7CF2CFE}"/>
                </a:ext>
              </a:extLst>
            </p:cNvPr>
            <p:cNvSpPr>
              <a:spLocks noChangeArrowheads="1"/>
            </p:cNvSpPr>
            <p:nvPr/>
          </p:nvSpPr>
          <p:spPr bwMode="auto">
            <a:xfrm>
              <a:off x="2540" y="1905"/>
              <a:ext cx="200" cy="171"/>
            </a:xfrm>
            <a:prstGeom prst="ellipse">
              <a:avLst/>
            </a:prstGeom>
            <a:solidFill>
              <a:schemeClr val="folHlink"/>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37" name="Oval 89">
              <a:extLst>
                <a:ext uri="{FF2B5EF4-FFF2-40B4-BE49-F238E27FC236}">
                  <a16:creationId xmlns:a16="http://schemas.microsoft.com/office/drawing/2014/main" id="{A79E0C20-475B-D5B9-2484-BC28577E03DE}"/>
                </a:ext>
              </a:extLst>
            </p:cNvPr>
            <p:cNvSpPr>
              <a:spLocks noChangeArrowheads="1"/>
            </p:cNvSpPr>
            <p:nvPr/>
          </p:nvSpPr>
          <p:spPr bwMode="auto">
            <a:xfrm>
              <a:off x="2540" y="2819"/>
              <a:ext cx="200" cy="171"/>
            </a:xfrm>
            <a:prstGeom prst="ellipse">
              <a:avLst/>
            </a:prstGeom>
            <a:solidFill>
              <a:schemeClr val="folHlink"/>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b="0">
                  <a:ea typeface="굴림" panose="020b0600000101010101" pitchFamily="34" charset="-127"/>
                </a:rPr>
                <a:t>X</a:t>
              </a:r>
            </a:p>
          </p:txBody>
        </p:sp>
        <p:sp>
          <p:nvSpPr>
            <p:cNvPr id="78938" name="Text Box 90">
              <a:extLst>
                <a:ext uri="{FF2B5EF4-FFF2-40B4-BE49-F238E27FC236}">
                  <a16:creationId xmlns:a16="http://schemas.microsoft.com/office/drawing/2014/main" id="{79F16EC4-6E1C-14A6-796C-5F33BC91510B}"/>
                </a:ext>
              </a:extLst>
            </p:cNvPr>
            <p:cNvSpPr txBox="1">
              <a:spLocks noChangeArrowheads="1"/>
            </p:cNvSpPr>
            <p:nvPr/>
          </p:nvSpPr>
          <p:spPr bwMode="auto">
            <a:xfrm>
              <a:off x="2124" y="701"/>
              <a:ext cx="4115"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fr-FR" altLang="ko-KR" sz="1400" u="sng">
                  <a:ea typeface="가는각진제목체" panose="02030600000101010101" pitchFamily="18" charset="-127"/>
                </a:rPr>
                <a:t>Service activity Efficiency model and standard levers</a:t>
              </a:r>
              <a:endParaRPr lang="en-US" altLang="ko-KR" sz="1400" u="sng">
                <a:ea typeface="굴림" panose="020b0600000101010101" pitchFamily="34" charset="-127"/>
              </a:endParaRPr>
            </a:p>
          </p:txBody>
        </p:sp>
      </p:grpSp>
      <p:sp>
        <p:nvSpPr>
          <p:cNvPr id="78852" name="Text Box 91">
            <a:extLst>
              <a:ext uri="{FF2B5EF4-FFF2-40B4-BE49-F238E27FC236}">
                <a16:creationId xmlns:a16="http://schemas.microsoft.com/office/drawing/2014/main" id="{AD369314-3D3A-BECE-5086-05ABFBE4532B}"/>
              </a:ext>
            </a:extLst>
          </p:cNvPr>
          <p:cNvSpPr txBox="1">
            <a:spLocks noChangeArrowheads="1"/>
          </p:cNvSpPr>
          <p:nvPr/>
        </p:nvSpPr>
        <p:spPr bwMode="auto">
          <a:xfrm>
            <a:off x="6853238" y="1147763"/>
            <a:ext cx="3051175" cy="2492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
                <a:srgbClr val="8B0E04"/>
              </a:buClr>
              <a:buFont typeface="Wingdings" pitchFamily="2" charset="2"/>
              <a:buNone/>
            </a:pPr>
            <a:r>
              <a:rPr lang="en-US" altLang="ko-KR" sz="1400" u="sng">
                <a:ea typeface="굴림" panose="020b0600000101010101" pitchFamily="34" charset="-127"/>
              </a:rPr>
              <a:t>LEAN system dimensions </a:t>
            </a:r>
          </a:p>
        </p:txBody>
      </p:sp>
      <p:grpSp>
        <p:nvGrpSpPr>
          <p:cNvPr id="8" name="Group 92">
            <a:extLst>
              <a:ext uri="{FF2B5EF4-FFF2-40B4-BE49-F238E27FC236}">
                <a16:creationId xmlns:a16="http://schemas.microsoft.com/office/drawing/2014/main" id="{5237E20A-3E01-3FE3-1A71-73B5132265AB}"/>
              </a:ext>
            </a:extLst>
          </p:cNvPr>
          <p:cNvGrpSpPr/>
          <p:nvPr/>
        </p:nvGrpSpPr>
        <p:grpSpPr>
          <a:xfrm rot="1800000">
            <a:off x="7223125" y="2587625"/>
            <a:ext cx="2444750" cy="2616200"/>
            <a:chOff x="652" y="2130"/>
            <a:chExt cx="1540" cy="1648"/>
          </a:xfrm>
          <a:solidFill>
            <a:srgbClr val="0070C0"/>
          </a:solidFill>
        </p:grpSpPr>
        <p:sp>
          <p:nvSpPr>
            <p:cNvPr id="78862" name="AutoShape 93">
              <a:extLst>
                <a:ext uri="{FF2B5EF4-FFF2-40B4-BE49-F238E27FC236}">
                  <a16:creationId xmlns:a16="http://schemas.microsoft.com/office/drawing/2014/main" id="{AB30BFB7-57F0-356F-16A0-8897E007DADE}"/>
                </a:ext>
              </a:extLst>
            </p:cNvPr>
            <p:cNvSpPr>
              <a:spLocks noChangeArrowheads="1"/>
            </p:cNvSpPr>
            <p:nvPr/>
          </p:nvSpPr>
          <p:spPr bwMode="auto">
            <a:xfrm rot="10800000">
              <a:off x="944" y="2130"/>
              <a:ext cx="952" cy="824"/>
            </a:xfrm>
            <a:prstGeom prst="triangle">
              <a:avLst>
                <a:gd name="adj" fmla="val 50000"/>
              </a:avLst>
            </a:prstGeom>
            <a:grpFill/>
            <a:ln w="12700" algn="ctr">
              <a:solidFill>
                <a:schemeClr val="tx1"/>
              </a:solidFill>
              <a:miter lim="800000"/>
            </a:ln>
            <a:effec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defRPr/>
              </a:pPr>
              <a:endParaRPr lang="ko-KR" altLang="en-US" sz="1400">
                <a:ea typeface="가는각진제목체" panose="02030600000101010101" pitchFamily="18" charset="-127"/>
              </a:endParaRPr>
            </a:p>
          </p:txBody>
        </p:sp>
        <p:sp>
          <p:nvSpPr>
            <p:cNvPr id="78863" name="AutoShape 94">
              <a:extLst>
                <a:ext uri="{FF2B5EF4-FFF2-40B4-BE49-F238E27FC236}">
                  <a16:creationId xmlns:a16="http://schemas.microsoft.com/office/drawing/2014/main" id="{DB2BFB08-2AFD-D844-8019-4E3C0AA20111}"/>
                </a:ext>
              </a:extLst>
            </p:cNvPr>
            <p:cNvSpPr>
              <a:spLocks noChangeArrowheads="1"/>
            </p:cNvSpPr>
            <p:nvPr/>
          </p:nvSpPr>
          <p:spPr bwMode="auto">
            <a:xfrm rot="7200000">
              <a:off x="588" y="2338"/>
              <a:ext cx="952" cy="824"/>
            </a:xfrm>
            <a:prstGeom prst="triangle">
              <a:avLst>
                <a:gd name="adj" fmla="val 50000"/>
              </a:avLst>
            </a:prstGeom>
            <a:grpFill/>
            <a:ln w="12700" algn="ctr">
              <a:solidFill>
                <a:schemeClr val="tx1"/>
              </a:solidFill>
              <a:miter lim="800000"/>
            </a:ln>
            <a:effec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defRPr/>
              </a:pPr>
              <a:endParaRPr lang="ko-KR" altLang="en-US" sz="1400">
                <a:ea typeface="가는각진제목체" panose="02030600000101010101" pitchFamily="18" charset="-127"/>
              </a:endParaRPr>
            </a:p>
          </p:txBody>
        </p:sp>
        <p:sp>
          <p:nvSpPr>
            <p:cNvPr id="78864" name="AutoShape 95">
              <a:extLst>
                <a:ext uri="{FF2B5EF4-FFF2-40B4-BE49-F238E27FC236}">
                  <a16:creationId xmlns:a16="http://schemas.microsoft.com/office/drawing/2014/main" id="{ABCB58AE-B95E-7FF8-9FEB-D9DB4CC0BF77}"/>
                </a:ext>
              </a:extLst>
            </p:cNvPr>
            <p:cNvSpPr>
              <a:spLocks noChangeArrowheads="1"/>
            </p:cNvSpPr>
            <p:nvPr/>
          </p:nvSpPr>
          <p:spPr bwMode="auto">
            <a:xfrm rot="3600000">
              <a:off x="588" y="2751"/>
              <a:ext cx="952" cy="824"/>
            </a:xfrm>
            <a:prstGeom prst="triangle">
              <a:avLst>
                <a:gd name="adj" fmla="val 50000"/>
              </a:avLst>
            </a:prstGeom>
            <a:grpFill/>
            <a:ln w="12700" algn="ctr">
              <a:solidFill>
                <a:schemeClr val="tx1"/>
              </a:solidFill>
              <a:miter lim="800000"/>
            </a:ln>
            <a:effec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defRPr/>
              </a:pPr>
              <a:endParaRPr lang="ko-KR" altLang="en-US" sz="1400">
                <a:ea typeface="가는각진제목체" panose="02030600000101010101" pitchFamily="18" charset="-127"/>
              </a:endParaRPr>
            </a:p>
          </p:txBody>
        </p:sp>
        <p:sp>
          <p:nvSpPr>
            <p:cNvPr id="78865" name="AutoShape 96">
              <a:extLst>
                <a:ext uri="{FF2B5EF4-FFF2-40B4-BE49-F238E27FC236}">
                  <a16:creationId xmlns:a16="http://schemas.microsoft.com/office/drawing/2014/main" id="{DB917614-42AE-4C17-9A19-9B19D4CB0F93}"/>
                </a:ext>
              </a:extLst>
            </p:cNvPr>
            <p:cNvSpPr>
              <a:spLocks noChangeArrowheads="1"/>
            </p:cNvSpPr>
            <p:nvPr/>
          </p:nvSpPr>
          <p:spPr bwMode="auto">
            <a:xfrm>
              <a:off x="944" y="2954"/>
              <a:ext cx="952" cy="824"/>
            </a:xfrm>
            <a:prstGeom prst="triangle">
              <a:avLst>
                <a:gd name="adj" fmla="val 50000"/>
              </a:avLst>
            </a:prstGeom>
            <a:grpFill/>
            <a:ln w="12700" algn="ctr">
              <a:solidFill>
                <a:schemeClr val="tx1"/>
              </a:solidFill>
              <a:miter lim="800000"/>
            </a:ln>
            <a:effec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defRPr/>
              </a:pPr>
              <a:endParaRPr lang="ko-KR" altLang="en-US" sz="1400">
                <a:ea typeface="가는각진제목체" panose="02030600000101010101" pitchFamily="18" charset="-127"/>
              </a:endParaRPr>
            </a:p>
          </p:txBody>
        </p:sp>
        <p:sp>
          <p:nvSpPr>
            <p:cNvPr id="78866" name="AutoShape 97">
              <a:extLst>
                <a:ext uri="{FF2B5EF4-FFF2-40B4-BE49-F238E27FC236}">
                  <a16:creationId xmlns:a16="http://schemas.microsoft.com/office/drawing/2014/main" id="{DAB27A74-72A9-7B8E-1815-4FEAED96CEAD}"/>
                </a:ext>
              </a:extLst>
            </p:cNvPr>
            <p:cNvSpPr>
              <a:spLocks noChangeArrowheads="1"/>
            </p:cNvSpPr>
            <p:nvPr/>
          </p:nvSpPr>
          <p:spPr bwMode="auto">
            <a:xfrm rot="-3600000">
              <a:off x="1304" y="2751"/>
              <a:ext cx="952" cy="824"/>
            </a:xfrm>
            <a:prstGeom prst="triangle">
              <a:avLst>
                <a:gd name="adj" fmla="val 50000"/>
              </a:avLst>
            </a:prstGeom>
            <a:grpFill/>
            <a:ln w="12700" algn="ctr">
              <a:solidFill>
                <a:schemeClr val="tx1"/>
              </a:solidFill>
              <a:miter lim="800000"/>
            </a:ln>
            <a:effec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defRPr/>
              </a:pPr>
              <a:endParaRPr lang="ko-KR" altLang="en-US" sz="1400">
                <a:ea typeface="가는각진제목체" panose="02030600000101010101" pitchFamily="18" charset="-127"/>
              </a:endParaRPr>
            </a:p>
          </p:txBody>
        </p:sp>
        <p:sp>
          <p:nvSpPr>
            <p:cNvPr id="78867" name="AutoShape 98">
              <a:extLst>
                <a:ext uri="{FF2B5EF4-FFF2-40B4-BE49-F238E27FC236}">
                  <a16:creationId xmlns:a16="http://schemas.microsoft.com/office/drawing/2014/main" id="{13EA12E0-27C8-209F-B626-214DFB0813E9}"/>
                </a:ext>
              </a:extLst>
            </p:cNvPr>
            <p:cNvSpPr>
              <a:spLocks noChangeArrowheads="1"/>
            </p:cNvSpPr>
            <p:nvPr/>
          </p:nvSpPr>
          <p:spPr bwMode="auto">
            <a:xfrm rot="-7200000">
              <a:off x="1304" y="2338"/>
              <a:ext cx="952" cy="824"/>
            </a:xfrm>
            <a:prstGeom prst="triangle">
              <a:avLst>
                <a:gd name="adj" fmla="val 50000"/>
              </a:avLst>
            </a:prstGeom>
            <a:grpFill/>
            <a:ln w="12700" algn="ctr">
              <a:solidFill>
                <a:schemeClr val="tx1"/>
              </a:solidFill>
              <a:miter lim="800000"/>
            </a:ln>
            <a:effec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defRPr/>
              </a:pPr>
              <a:endParaRPr lang="ko-KR" altLang="en-US" sz="1400">
                <a:ea typeface="가는각진제목체" panose="02030600000101010101" pitchFamily="18" charset="-127"/>
              </a:endParaRPr>
            </a:p>
          </p:txBody>
        </p:sp>
      </p:grpSp>
      <p:sp>
        <p:nvSpPr>
          <p:cNvPr id="78854" name="AutoShape 100">
            <a:extLst>
              <a:ext uri="{FF2B5EF4-FFF2-40B4-BE49-F238E27FC236}">
                <a16:creationId xmlns:a16="http://schemas.microsoft.com/office/drawing/2014/main" id="{6FD5B8F9-6679-2DD9-46DC-CBC462EF9105}"/>
              </a:ext>
            </a:extLst>
          </p:cNvPr>
          <p:cNvSpPr>
            <a:spLocks noChangeArrowheads="1"/>
          </p:cNvSpPr>
          <p:nvPr/>
        </p:nvSpPr>
        <p:spPr bwMode="auto">
          <a:xfrm rot="5400000">
            <a:off x="7883525" y="3355975"/>
            <a:ext cx="1114425" cy="1076325"/>
          </a:xfrm>
          <a:prstGeom prst="hexagon">
            <a:avLst>
              <a:gd name="adj" fmla="val 23301"/>
              <a:gd name="vf" fmla="val 115470"/>
            </a:avLst>
          </a:prstGeom>
          <a:solidFill>
            <a:schemeClr val="tx1"/>
          </a:solidFill>
          <a:ln w="12700">
            <a:solidFill>
              <a:schemeClr val="tx1"/>
            </a:solidFill>
            <a:miter lim="800000"/>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FontTx/>
              <a:buNone/>
            </a:pPr>
            <a:r>
              <a:rPr lang="en-US" altLang="ko-KR" sz="1200">
                <a:solidFill>
                  <a:srgbClr val="FFFFFF"/>
                </a:solidFill>
                <a:ea typeface="굴림" panose="020b0600000101010101" pitchFamily="34" charset="-127"/>
              </a:rPr>
              <a:t>LEAN</a:t>
            </a:r>
          </a:p>
          <a:p>
            <a:pPr algn="ctr" eaLnBrk="1" hangingPunct="1">
              <a:spcBef>
                <a:spcPct val="0"/>
              </a:spcBef>
              <a:buClrTx/>
              <a:buFontTx/>
              <a:buNone/>
            </a:pPr>
            <a:r>
              <a:rPr lang="en-US" altLang="ko-KR" sz="1200">
                <a:solidFill>
                  <a:srgbClr val="FFFFFF"/>
                </a:solidFill>
                <a:ea typeface="굴림" panose="020b0600000101010101" pitchFamily="34" charset="-127"/>
              </a:rPr>
              <a:t>system</a:t>
            </a:r>
          </a:p>
        </p:txBody>
      </p:sp>
      <p:sp>
        <p:nvSpPr>
          <p:cNvPr id="78855" name="Text Box 101">
            <a:extLst>
              <a:ext uri="{FF2B5EF4-FFF2-40B4-BE49-F238E27FC236}">
                <a16:creationId xmlns:a16="http://schemas.microsoft.com/office/drawing/2014/main" id="{B02D9C97-CBBD-8295-FBE7-55F10A302F18}"/>
              </a:ext>
            </a:extLst>
          </p:cNvPr>
          <p:cNvSpPr txBox="1">
            <a:spLocks noChangeArrowheads="1"/>
          </p:cNvSpPr>
          <p:nvPr/>
        </p:nvSpPr>
        <p:spPr bwMode="auto">
          <a:xfrm>
            <a:off x="7129463" y="3619500"/>
            <a:ext cx="7747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900">
                <a:ea typeface="굴림" panose="020b0600000101010101" pitchFamily="34" charset="-127"/>
              </a:rPr>
              <a:t>Motivation &amp; </a:t>
            </a:r>
          </a:p>
          <a:p>
            <a:pPr algn="ctr">
              <a:spcBef>
                <a:spcPct val="0"/>
              </a:spcBef>
              <a:buClrTx/>
              <a:buFontTx/>
              <a:buNone/>
            </a:pPr>
            <a:r>
              <a:rPr lang="en-US" altLang="ko-KR" sz="900">
                <a:ea typeface="굴림" panose="020b0600000101010101" pitchFamily="34" charset="-127"/>
              </a:rPr>
              <a:t>Incentives</a:t>
            </a:r>
          </a:p>
        </p:txBody>
      </p:sp>
      <p:sp>
        <p:nvSpPr>
          <p:cNvPr id="78856" name="Text Box 102">
            <a:extLst>
              <a:ext uri="{FF2B5EF4-FFF2-40B4-BE49-F238E27FC236}">
                <a16:creationId xmlns:a16="http://schemas.microsoft.com/office/drawing/2014/main" id="{F0692F6C-34D0-377A-A7BE-A947D1B62448}"/>
              </a:ext>
            </a:extLst>
          </p:cNvPr>
          <p:cNvSpPr txBox="1">
            <a:spLocks noChangeArrowheads="1"/>
          </p:cNvSpPr>
          <p:nvPr/>
        </p:nvSpPr>
        <p:spPr bwMode="auto">
          <a:xfrm>
            <a:off x="8978900" y="3619500"/>
            <a:ext cx="7747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900">
                <a:ea typeface="굴림" panose="020b0600000101010101" pitchFamily="34" charset="-127"/>
              </a:rPr>
              <a:t>Quality vs. capacity mgt</a:t>
            </a:r>
          </a:p>
        </p:txBody>
      </p:sp>
      <p:sp>
        <p:nvSpPr>
          <p:cNvPr id="78857" name="Text Box 103">
            <a:extLst>
              <a:ext uri="{FF2B5EF4-FFF2-40B4-BE49-F238E27FC236}">
                <a16:creationId xmlns:a16="http://schemas.microsoft.com/office/drawing/2014/main" id="{85EC8F74-690C-0A01-9A6F-D986B6DD5D7A}"/>
              </a:ext>
            </a:extLst>
          </p:cNvPr>
          <p:cNvSpPr txBox="1">
            <a:spLocks noChangeArrowheads="1"/>
          </p:cNvSpPr>
          <p:nvPr/>
        </p:nvSpPr>
        <p:spPr bwMode="auto">
          <a:xfrm>
            <a:off x="7510463" y="2914650"/>
            <a:ext cx="9271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900">
                <a:ea typeface="굴림" panose="020b0600000101010101" pitchFamily="34" charset="-127"/>
              </a:rPr>
              <a:t>Organization</a:t>
            </a:r>
          </a:p>
          <a:p>
            <a:pPr algn="ctr">
              <a:spcBef>
                <a:spcPct val="0"/>
              </a:spcBef>
              <a:buClrTx/>
              <a:buFontTx/>
              <a:buNone/>
            </a:pPr>
            <a:r>
              <a:rPr lang="fr-FR" altLang="ko-KR" sz="900">
                <a:ea typeface="가는각진제목체" panose="02030600000101010101" pitchFamily="18" charset="-127"/>
              </a:rPr>
              <a:t>(</a:t>
            </a:r>
            <a:r>
              <a:rPr lang="en-US" altLang="ko-KR" sz="900">
                <a:ea typeface="굴림" panose="020b0600000101010101" pitchFamily="34" charset="-127"/>
              </a:rPr>
              <a:t>specialization)</a:t>
            </a:r>
          </a:p>
        </p:txBody>
      </p:sp>
      <p:sp>
        <p:nvSpPr>
          <p:cNvPr id="78858" name="Text Box 104">
            <a:extLst>
              <a:ext uri="{FF2B5EF4-FFF2-40B4-BE49-F238E27FC236}">
                <a16:creationId xmlns:a16="http://schemas.microsoft.com/office/drawing/2014/main" id="{7D9E7CCF-17C3-635C-64A4-2E50FDA45BFD}"/>
              </a:ext>
            </a:extLst>
          </p:cNvPr>
          <p:cNvSpPr txBox="1">
            <a:spLocks noChangeArrowheads="1"/>
          </p:cNvSpPr>
          <p:nvPr/>
        </p:nvSpPr>
        <p:spPr bwMode="auto">
          <a:xfrm>
            <a:off x="8437563" y="2914650"/>
            <a:ext cx="9271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900">
                <a:solidFill>
                  <a:schemeClr val="bg1"/>
                </a:solidFill>
                <a:ea typeface="굴림" panose="020b0600000101010101" pitchFamily="34" charset="-127"/>
              </a:rPr>
              <a:t>Process</a:t>
            </a:r>
          </a:p>
        </p:txBody>
      </p:sp>
      <p:sp>
        <p:nvSpPr>
          <p:cNvPr id="78859" name="Text Box 105">
            <a:extLst>
              <a:ext uri="{FF2B5EF4-FFF2-40B4-BE49-F238E27FC236}">
                <a16:creationId xmlns:a16="http://schemas.microsoft.com/office/drawing/2014/main" id="{148DF27E-4876-D00D-474D-A62D5E12701E}"/>
              </a:ext>
            </a:extLst>
          </p:cNvPr>
          <p:cNvSpPr txBox="1">
            <a:spLocks noChangeArrowheads="1"/>
          </p:cNvSpPr>
          <p:nvPr/>
        </p:nvSpPr>
        <p:spPr bwMode="auto">
          <a:xfrm>
            <a:off x="8442325" y="4535488"/>
            <a:ext cx="9271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900">
                <a:ea typeface="굴림" panose="020b0600000101010101" pitchFamily="34" charset="-127"/>
              </a:rPr>
              <a:t>Overhead </a:t>
            </a:r>
          </a:p>
          <a:p>
            <a:pPr algn="ctr">
              <a:spcBef>
                <a:spcPct val="0"/>
              </a:spcBef>
              <a:buClrTx/>
              <a:buFontTx/>
              <a:buNone/>
            </a:pPr>
            <a:r>
              <a:rPr lang="en-US" altLang="ko-KR" sz="900">
                <a:ea typeface="굴림" panose="020b0600000101010101" pitchFamily="34" charset="-127"/>
              </a:rPr>
              <a:t>cost </a:t>
            </a:r>
          </a:p>
        </p:txBody>
      </p:sp>
      <p:sp>
        <p:nvSpPr>
          <p:cNvPr id="78860" name="Text Box 106">
            <a:extLst>
              <a:ext uri="{FF2B5EF4-FFF2-40B4-BE49-F238E27FC236}">
                <a16:creationId xmlns:a16="http://schemas.microsoft.com/office/drawing/2014/main" id="{AC673F9B-99DA-1C20-D870-D8C4E4E5A391}"/>
              </a:ext>
            </a:extLst>
          </p:cNvPr>
          <p:cNvSpPr txBox="1">
            <a:spLocks noChangeArrowheads="1"/>
          </p:cNvSpPr>
          <p:nvPr/>
        </p:nvSpPr>
        <p:spPr bwMode="auto">
          <a:xfrm>
            <a:off x="7515225" y="4535488"/>
            <a:ext cx="9271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900">
                <a:ea typeface="굴림" panose="020b0600000101010101" pitchFamily="34" charset="-127"/>
              </a:rPr>
              <a:t>Skills</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80897" name="Rectangle 2">
            <a:extLst>
              <a:ext uri="{FF2B5EF4-FFF2-40B4-BE49-F238E27FC236}">
                <a16:creationId xmlns:a16="http://schemas.microsoft.com/office/drawing/2014/main" id="{8462F4EC-4EA7-DADE-CBBD-0F5B8BB17946}"/>
              </a:ext>
            </a:extLst>
          </p:cNvPr>
          <p:cNvSpPr>
            <a:spLocks noGrp="1" noChangeArrowheads="1"/>
          </p:cNvSpPr>
          <p:nvPr>
            <p:ph type="title"/>
          </p:nvPr>
        </p:nvSpPr>
        <p:spPr>
          <a:xfrm>
            <a:off x="211138" y="596900"/>
            <a:ext cx="9513887" cy="568325"/>
          </a:xfrm>
        </p:spPr>
        <p:txBody>
          <a:bodyPr/>
          <a:lstStyle/>
          <a:p>
            <a:r>
              <a:rPr lang="en-US" altLang="ko-KR" sz="2600">
                <a:ea typeface="굴림" panose="020b0600000101010101" pitchFamily="34" charset="-127"/>
              </a:rPr>
              <a:t>Likewise the industrial Lean methodology, there are 4 natures of optimization levers</a:t>
            </a:r>
          </a:p>
        </p:txBody>
      </p:sp>
      <p:sp>
        <p:nvSpPr>
          <p:cNvPr id="80898" name="Text Box 3">
            <a:extLst>
              <a:ext uri="{FF2B5EF4-FFF2-40B4-BE49-F238E27FC236}">
                <a16:creationId xmlns:a16="http://schemas.microsoft.com/office/drawing/2014/main" id="{F8FDA3E5-ECE0-8C1E-3483-CED1BD8862B9}"/>
              </a:ext>
            </a:extLst>
          </p:cNvPr>
          <p:cNvSpPr txBox="1">
            <a:spLocks noChangeArrowheads="1"/>
          </p:cNvSpPr>
          <p:nvPr/>
        </p:nvSpPr>
        <p:spPr bwMode="auto">
          <a:xfrm>
            <a:off x="633413" y="1270000"/>
            <a:ext cx="167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a:ea typeface="굴림" panose="020b0600000101010101" pitchFamily="34" charset="-127"/>
              </a:rPr>
              <a:t>Nature of </a:t>
            </a:r>
          </a:p>
          <a:p>
            <a:pPr algn="ctr" eaLnBrk="1" hangingPunct="1">
              <a:lnSpc>
                <a:spcPct val="100000"/>
              </a:lnSpc>
              <a:spcBef>
                <a:spcPct val="0"/>
              </a:spcBef>
              <a:buClrTx/>
              <a:buFontTx/>
              <a:buNone/>
            </a:pPr>
            <a:r>
              <a:rPr lang="en-US" altLang="ko-KR" sz="1200">
                <a:ea typeface="굴림" panose="020b0600000101010101" pitchFamily="34" charset="-127"/>
              </a:rPr>
              <a:t>optimization</a:t>
            </a:r>
          </a:p>
        </p:txBody>
      </p:sp>
      <p:sp>
        <p:nvSpPr>
          <p:cNvPr id="80899" name="Text Box 4">
            <a:extLst>
              <a:ext uri="{FF2B5EF4-FFF2-40B4-BE49-F238E27FC236}">
                <a16:creationId xmlns:a16="http://schemas.microsoft.com/office/drawing/2014/main" id="{7287228C-20DA-F211-6A54-A2CFC689D095}"/>
              </a:ext>
            </a:extLst>
          </p:cNvPr>
          <p:cNvSpPr txBox="1">
            <a:spLocks noChangeArrowheads="1"/>
          </p:cNvSpPr>
          <p:nvPr/>
        </p:nvSpPr>
        <p:spPr bwMode="auto">
          <a:xfrm>
            <a:off x="2201863" y="1270000"/>
            <a:ext cx="1482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a:ea typeface="굴림" panose="020b0600000101010101" pitchFamily="34" charset="-127"/>
              </a:rPr>
              <a:t>Nature of tasks</a:t>
            </a:r>
          </a:p>
        </p:txBody>
      </p:sp>
      <p:sp>
        <p:nvSpPr>
          <p:cNvPr id="80900" name="Text Box 5">
            <a:extLst>
              <a:ext uri="{FF2B5EF4-FFF2-40B4-BE49-F238E27FC236}">
                <a16:creationId xmlns:a16="http://schemas.microsoft.com/office/drawing/2014/main" id="{A6F1C980-2E5C-5BEE-5EA5-3260B5801F10}"/>
              </a:ext>
            </a:extLst>
          </p:cNvPr>
          <p:cNvSpPr txBox="1">
            <a:spLocks noChangeArrowheads="1"/>
          </p:cNvSpPr>
          <p:nvPr/>
        </p:nvSpPr>
        <p:spPr bwMode="auto">
          <a:xfrm>
            <a:off x="5684838" y="1270000"/>
            <a:ext cx="40560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a:ea typeface="굴림" panose="020b0600000101010101" pitchFamily="34" charset="-127"/>
              </a:rPr>
              <a:t>Key questions</a:t>
            </a:r>
          </a:p>
        </p:txBody>
      </p:sp>
      <p:sp>
        <p:nvSpPr>
          <p:cNvPr id="80901" name="Text Box 6">
            <a:extLst>
              <a:ext uri="{FF2B5EF4-FFF2-40B4-BE49-F238E27FC236}">
                <a16:creationId xmlns:a16="http://schemas.microsoft.com/office/drawing/2014/main" id="{B7E22D1E-5BF1-CF81-B055-7EE61FCF99D6}"/>
              </a:ext>
            </a:extLst>
          </p:cNvPr>
          <p:cNvSpPr txBox="1">
            <a:spLocks noChangeArrowheads="1"/>
          </p:cNvSpPr>
          <p:nvPr/>
        </p:nvSpPr>
        <p:spPr bwMode="auto">
          <a:xfrm>
            <a:off x="3900488" y="1270000"/>
            <a:ext cx="170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a:ea typeface="굴림" panose="020b0600000101010101" pitchFamily="34" charset="-127"/>
              </a:rPr>
              <a:t>Levers</a:t>
            </a:r>
          </a:p>
        </p:txBody>
      </p:sp>
      <p:sp>
        <p:nvSpPr>
          <p:cNvPr id="80902" name="Rectangle 7">
            <a:extLst>
              <a:ext uri="{FF2B5EF4-FFF2-40B4-BE49-F238E27FC236}">
                <a16:creationId xmlns:a16="http://schemas.microsoft.com/office/drawing/2014/main" id="{862FB4F0-5951-68B8-AE83-BD266A86E5BA}"/>
              </a:ext>
            </a:extLst>
          </p:cNvPr>
          <p:cNvSpPr>
            <a:spLocks noChangeArrowheads="1"/>
          </p:cNvSpPr>
          <p:nvPr/>
        </p:nvSpPr>
        <p:spPr bwMode="auto">
          <a:xfrm>
            <a:off x="138113" y="3827463"/>
            <a:ext cx="671512" cy="700087"/>
          </a:xfrm>
          <a:prstGeom prst="rect">
            <a:avLst/>
          </a:prstGeom>
          <a:solidFill>
            <a:srgbClr val="0070C0"/>
          </a:solidFill>
          <a:ln w="9525" algn="ctr">
            <a:solidFill>
              <a:srgbClr val="0070C0"/>
            </a:solidFill>
            <a:miter lim="800000"/>
          </a:ln>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1000">
                <a:solidFill>
                  <a:schemeClr val="bg1"/>
                </a:solidFill>
                <a:ea typeface="굴림" panose="020b0600000101010101" pitchFamily="34" charset="-127"/>
              </a:rPr>
              <a:t>Levers</a:t>
            </a:r>
          </a:p>
        </p:txBody>
      </p:sp>
      <p:sp>
        <p:nvSpPr>
          <p:cNvPr id="80903" name="Rectangle 8">
            <a:extLst>
              <a:ext uri="{FF2B5EF4-FFF2-40B4-BE49-F238E27FC236}">
                <a16:creationId xmlns:a16="http://schemas.microsoft.com/office/drawing/2014/main" id="{DFB9A816-8023-6FB0-8C60-25F24337DE3D}"/>
              </a:ext>
            </a:extLst>
          </p:cNvPr>
          <p:cNvSpPr>
            <a:spLocks noChangeArrowheads="1"/>
          </p:cNvSpPr>
          <p:nvPr/>
        </p:nvSpPr>
        <p:spPr bwMode="auto">
          <a:xfrm>
            <a:off x="1016000" y="2928938"/>
            <a:ext cx="985838" cy="623887"/>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a:ea typeface="굴림" panose="020b0600000101010101" pitchFamily="34" charset="-127"/>
              </a:rPr>
              <a:t>Task treatment optimization</a:t>
            </a:r>
          </a:p>
        </p:txBody>
      </p:sp>
      <p:sp>
        <p:nvSpPr>
          <p:cNvPr id="80904" name="Rectangle 9">
            <a:extLst>
              <a:ext uri="{FF2B5EF4-FFF2-40B4-BE49-F238E27FC236}">
                <a16:creationId xmlns:a16="http://schemas.microsoft.com/office/drawing/2014/main" id="{358188D8-0B19-B9FB-749F-E4B447E83F3F}"/>
              </a:ext>
            </a:extLst>
          </p:cNvPr>
          <p:cNvSpPr>
            <a:spLocks noChangeArrowheads="1"/>
          </p:cNvSpPr>
          <p:nvPr/>
        </p:nvSpPr>
        <p:spPr bwMode="auto">
          <a:xfrm>
            <a:off x="1016000" y="4938713"/>
            <a:ext cx="985838" cy="627062"/>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a:ea typeface="굴림" panose="020b0600000101010101" pitchFamily="34" charset="-127"/>
              </a:rPr>
              <a:t>Task reorganization &amp; specialization</a:t>
            </a:r>
          </a:p>
        </p:txBody>
      </p:sp>
      <p:sp>
        <p:nvSpPr>
          <p:cNvPr id="80905" name="Rectangle 10">
            <a:extLst>
              <a:ext uri="{FF2B5EF4-FFF2-40B4-BE49-F238E27FC236}">
                <a16:creationId xmlns:a16="http://schemas.microsoft.com/office/drawing/2014/main" id="{4851100C-8DD6-F913-56F8-7AB1C59FF436}"/>
              </a:ext>
            </a:extLst>
          </p:cNvPr>
          <p:cNvSpPr>
            <a:spLocks noChangeArrowheads="1"/>
          </p:cNvSpPr>
          <p:nvPr/>
        </p:nvSpPr>
        <p:spPr bwMode="auto">
          <a:xfrm>
            <a:off x="1016000" y="5938838"/>
            <a:ext cx="985838" cy="623887"/>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a:ea typeface="굴림" panose="020b0600000101010101" pitchFamily="34" charset="-127"/>
              </a:rPr>
              <a:t>Demand treatment order  strategy</a:t>
            </a:r>
          </a:p>
        </p:txBody>
      </p:sp>
      <p:cxnSp>
        <p:nvCxnSpPr>
          <p:cNvPr id="80906" name="AutoShape 11">
            <a:extLst>
              <a:ext uri="{FF2B5EF4-FFF2-40B4-BE49-F238E27FC236}">
                <a16:creationId xmlns:a16="http://schemas.microsoft.com/office/drawing/2014/main" id="{D4C04342-01AE-B6C2-433A-95E94E92F406}"/>
              </a:ext>
            </a:extLst>
          </p:cNvPr>
          <p:cNvCxnSpPr>
            <a:cxnSpLocks noChangeShapeType="1"/>
            <a:stCxn id="80902" idx="3"/>
            <a:endCxn id="80903" idx="1"/>
          </p:cNvCxnSpPr>
          <p:nvPr/>
        </p:nvCxnSpPr>
        <p:spPr bwMode="auto">
          <a:xfrm flipV="1">
            <a:off x="809625" y="3241675"/>
            <a:ext cx="206375" cy="936625"/>
          </a:xfrm>
          <a:prstGeom prst="bentConnector3">
            <a:avLst>
              <a:gd name="adj1" fmla="val 49231"/>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07" name="AutoShape 12">
            <a:extLst>
              <a:ext uri="{FF2B5EF4-FFF2-40B4-BE49-F238E27FC236}">
                <a16:creationId xmlns:a16="http://schemas.microsoft.com/office/drawing/2014/main" id="{3EE6E248-0A65-08BC-1378-78F5622AFA9C}"/>
              </a:ext>
            </a:extLst>
          </p:cNvPr>
          <p:cNvCxnSpPr>
            <a:cxnSpLocks noChangeShapeType="1"/>
            <a:stCxn id="80902" idx="3"/>
            <a:endCxn id="80904" idx="1"/>
          </p:cNvCxnSpPr>
          <p:nvPr/>
        </p:nvCxnSpPr>
        <p:spPr bwMode="auto">
          <a:xfrm>
            <a:off x="809625" y="4178300"/>
            <a:ext cx="206375" cy="1074738"/>
          </a:xfrm>
          <a:prstGeom prst="bentConnector3">
            <a:avLst>
              <a:gd name="adj1" fmla="val 49231"/>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08" name="AutoShape 13">
            <a:extLst>
              <a:ext uri="{FF2B5EF4-FFF2-40B4-BE49-F238E27FC236}">
                <a16:creationId xmlns:a16="http://schemas.microsoft.com/office/drawing/2014/main" id="{8E7A4852-D5BA-91F7-8AA8-EC68820C7A23}"/>
              </a:ext>
            </a:extLst>
          </p:cNvPr>
          <p:cNvCxnSpPr>
            <a:cxnSpLocks noChangeShapeType="1"/>
            <a:stCxn id="80902" idx="3"/>
            <a:endCxn id="80905" idx="1"/>
          </p:cNvCxnSpPr>
          <p:nvPr/>
        </p:nvCxnSpPr>
        <p:spPr bwMode="auto">
          <a:xfrm>
            <a:off x="809625" y="4178300"/>
            <a:ext cx="206375" cy="2073275"/>
          </a:xfrm>
          <a:prstGeom prst="bentConnector3">
            <a:avLst>
              <a:gd name="adj1" fmla="val 49231"/>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09" name="Rectangle 14">
            <a:extLst>
              <a:ext uri="{FF2B5EF4-FFF2-40B4-BE49-F238E27FC236}">
                <a16:creationId xmlns:a16="http://schemas.microsoft.com/office/drawing/2014/main" id="{7BBBC656-B9C0-8A8E-650A-552DE55D74CE}"/>
              </a:ext>
            </a:extLst>
          </p:cNvPr>
          <p:cNvSpPr>
            <a:spLocks noChangeArrowheads="1"/>
          </p:cNvSpPr>
          <p:nvPr/>
        </p:nvSpPr>
        <p:spPr bwMode="auto">
          <a:xfrm>
            <a:off x="2201863" y="2819400"/>
            <a:ext cx="1482725" cy="284163"/>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Check data coherency</a:t>
            </a:r>
          </a:p>
        </p:txBody>
      </p:sp>
      <p:sp>
        <p:nvSpPr>
          <p:cNvPr id="80910" name="Rectangle 15">
            <a:extLst>
              <a:ext uri="{FF2B5EF4-FFF2-40B4-BE49-F238E27FC236}">
                <a16:creationId xmlns:a16="http://schemas.microsoft.com/office/drawing/2014/main" id="{61D345C8-3F22-6D42-1266-EDF02590C206}"/>
              </a:ext>
            </a:extLst>
          </p:cNvPr>
          <p:cNvSpPr>
            <a:spLocks noChangeArrowheads="1"/>
          </p:cNvSpPr>
          <p:nvPr/>
        </p:nvSpPr>
        <p:spPr bwMode="auto">
          <a:xfrm>
            <a:off x="2201863" y="3503613"/>
            <a:ext cx="1482725" cy="284162"/>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Treatment</a:t>
            </a:r>
          </a:p>
        </p:txBody>
      </p:sp>
      <p:sp>
        <p:nvSpPr>
          <p:cNvPr id="80911" name="Rectangle 16">
            <a:extLst>
              <a:ext uri="{FF2B5EF4-FFF2-40B4-BE49-F238E27FC236}">
                <a16:creationId xmlns:a16="http://schemas.microsoft.com/office/drawing/2014/main" id="{DE90E4A7-4A3F-41B5-FFEA-DAD8E99B69BB}"/>
              </a:ext>
            </a:extLst>
          </p:cNvPr>
          <p:cNvSpPr>
            <a:spLocks noChangeArrowheads="1"/>
          </p:cNvSpPr>
          <p:nvPr/>
        </p:nvSpPr>
        <p:spPr bwMode="auto">
          <a:xfrm>
            <a:off x="2201863" y="4211638"/>
            <a:ext cx="1482725" cy="285750"/>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Trace the operation</a:t>
            </a:r>
          </a:p>
        </p:txBody>
      </p:sp>
      <p:cxnSp>
        <p:nvCxnSpPr>
          <p:cNvPr id="80912" name="AutoShape 17">
            <a:extLst>
              <a:ext uri="{FF2B5EF4-FFF2-40B4-BE49-F238E27FC236}">
                <a16:creationId xmlns:a16="http://schemas.microsoft.com/office/drawing/2014/main" id="{2E905E61-506E-CABF-A408-B838D6946C4B}"/>
              </a:ext>
            </a:extLst>
          </p:cNvPr>
          <p:cNvCxnSpPr>
            <a:cxnSpLocks noChangeShapeType="1"/>
            <a:stCxn id="80903" idx="3"/>
            <a:endCxn id="80932" idx="1"/>
          </p:cNvCxnSpPr>
          <p:nvPr/>
        </p:nvCxnSpPr>
        <p:spPr bwMode="auto">
          <a:xfrm flipV="1">
            <a:off x="2001838" y="2219325"/>
            <a:ext cx="200025" cy="1022350"/>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3" name="AutoShape 18">
            <a:extLst>
              <a:ext uri="{FF2B5EF4-FFF2-40B4-BE49-F238E27FC236}">
                <a16:creationId xmlns:a16="http://schemas.microsoft.com/office/drawing/2014/main" id="{F16C70B0-A302-F5E4-3B3A-AA66C0BD3BCC}"/>
              </a:ext>
            </a:extLst>
          </p:cNvPr>
          <p:cNvCxnSpPr>
            <a:cxnSpLocks noChangeShapeType="1"/>
            <a:stCxn id="80903" idx="3"/>
            <a:endCxn id="80998" idx="1"/>
          </p:cNvCxnSpPr>
          <p:nvPr/>
        </p:nvCxnSpPr>
        <p:spPr bwMode="auto">
          <a:xfrm flipV="1">
            <a:off x="2001838" y="2544763"/>
            <a:ext cx="200025" cy="696912"/>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4" name="AutoShape 19">
            <a:extLst>
              <a:ext uri="{FF2B5EF4-FFF2-40B4-BE49-F238E27FC236}">
                <a16:creationId xmlns:a16="http://schemas.microsoft.com/office/drawing/2014/main" id="{7FFC9D46-64D6-19C4-086D-A9F9AE3F6AD7}"/>
              </a:ext>
            </a:extLst>
          </p:cNvPr>
          <p:cNvCxnSpPr>
            <a:cxnSpLocks noChangeShapeType="1"/>
            <a:stCxn id="80903" idx="3"/>
            <a:endCxn id="80909" idx="1"/>
          </p:cNvCxnSpPr>
          <p:nvPr/>
        </p:nvCxnSpPr>
        <p:spPr bwMode="auto">
          <a:xfrm flipV="1">
            <a:off x="2001838" y="2962275"/>
            <a:ext cx="200025" cy="279400"/>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5" name="AutoShape 20">
            <a:extLst>
              <a:ext uri="{FF2B5EF4-FFF2-40B4-BE49-F238E27FC236}">
                <a16:creationId xmlns:a16="http://schemas.microsoft.com/office/drawing/2014/main" id="{5F51985C-70E3-D7EC-17B6-AC559B421493}"/>
              </a:ext>
            </a:extLst>
          </p:cNvPr>
          <p:cNvCxnSpPr>
            <a:cxnSpLocks noChangeShapeType="1"/>
            <a:stCxn id="80903" idx="3"/>
            <a:endCxn id="80910" idx="1"/>
          </p:cNvCxnSpPr>
          <p:nvPr/>
        </p:nvCxnSpPr>
        <p:spPr bwMode="auto">
          <a:xfrm>
            <a:off x="2001838" y="3241675"/>
            <a:ext cx="200025" cy="404813"/>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6" name="AutoShape 21">
            <a:extLst>
              <a:ext uri="{FF2B5EF4-FFF2-40B4-BE49-F238E27FC236}">
                <a16:creationId xmlns:a16="http://schemas.microsoft.com/office/drawing/2014/main" id="{D1D0AE46-81C4-6295-3229-5632CE228485}"/>
              </a:ext>
            </a:extLst>
          </p:cNvPr>
          <p:cNvCxnSpPr>
            <a:cxnSpLocks noChangeShapeType="1"/>
            <a:stCxn id="80903" idx="3"/>
            <a:endCxn id="80911" idx="1"/>
          </p:cNvCxnSpPr>
          <p:nvPr/>
        </p:nvCxnSpPr>
        <p:spPr bwMode="auto">
          <a:xfrm>
            <a:off x="2001838" y="3241675"/>
            <a:ext cx="200025" cy="1112838"/>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7" name="AutoShape 22">
            <a:extLst>
              <a:ext uri="{FF2B5EF4-FFF2-40B4-BE49-F238E27FC236}">
                <a16:creationId xmlns:a16="http://schemas.microsoft.com/office/drawing/2014/main" id="{72DC399D-3EC0-6276-6C6D-15C20CEBB41D}"/>
              </a:ext>
            </a:extLst>
          </p:cNvPr>
          <p:cNvCxnSpPr>
            <a:cxnSpLocks noChangeShapeType="1"/>
            <a:stCxn id="80932" idx="3"/>
            <a:endCxn id="80933" idx="1"/>
          </p:cNvCxnSpPr>
          <p:nvPr/>
        </p:nvCxnSpPr>
        <p:spPr bwMode="auto">
          <a:xfrm flipV="1">
            <a:off x="3684588" y="2217738"/>
            <a:ext cx="215900" cy="1587"/>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8" name="AutoShape 23">
            <a:extLst>
              <a:ext uri="{FF2B5EF4-FFF2-40B4-BE49-F238E27FC236}">
                <a16:creationId xmlns:a16="http://schemas.microsoft.com/office/drawing/2014/main" id="{E865AB79-2247-9F3D-8DEA-F810F2B7E8AF}"/>
              </a:ext>
            </a:extLst>
          </p:cNvPr>
          <p:cNvCxnSpPr>
            <a:cxnSpLocks noChangeShapeType="1"/>
            <a:stCxn id="80998" idx="3"/>
            <a:endCxn id="80999" idx="1"/>
          </p:cNvCxnSpPr>
          <p:nvPr/>
        </p:nvCxnSpPr>
        <p:spPr bwMode="auto">
          <a:xfrm>
            <a:off x="3684588" y="2544763"/>
            <a:ext cx="215900" cy="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9" name="AutoShape 24">
            <a:extLst>
              <a:ext uri="{FF2B5EF4-FFF2-40B4-BE49-F238E27FC236}">
                <a16:creationId xmlns:a16="http://schemas.microsoft.com/office/drawing/2014/main" id="{099D3BCF-C75B-5AED-188D-5E7A649DCEBD}"/>
              </a:ext>
            </a:extLst>
          </p:cNvPr>
          <p:cNvCxnSpPr>
            <a:cxnSpLocks noChangeShapeType="1"/>
            <a:stCxn id="80909" idx="3"/>
            <a:endCxn id="80996" idx="1"/>
          </p:cNvCxnSpPr>
          <p:nvPr/>
        </p:nvCxnSpPr>
        <p:spPr bwMode="auto">
          <a:xfrm flipV="1">
            <a:off x="3684588" y="2840038"/>
            <a:ext cx="215900" cy="122237"/>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20" name="AutoShape 25">
            <a:extLst>
              <a:ext uri="{FF2B5EF4-FFF2-40B4-BE49-F238E27FC236}">
                <a16:creationId xmlns:a16="http://schemas.microsoft.com/office/drawing/2014/main" id="{AB8550E5-3F1E-930C-3361-89C5F962C922}"/>
              </a:ext>
            </a:extLst>
          </p:cNvPr>
          <p:cNvCxnSpPr>
            <a:cxnSpLocks noChangeShapeType="1"/>
            <a:stCxn id="80909" idx="3"/>
            <a:endCxn id="80994" idx="1"/>
          </p:cNvCxnSpPr>
          <p:nvPr/>
        </p:nvCxnSpPr>
        <p:spPr bwMode="auto">
          <a:xfrm>
            <a:off x="3684588" y="2962275"/>
            <a:ext cx="215900" cy="106363"/>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21" name="AutoShape 26">
            <a:extLst>
              <a:ext uri="{FF2B5EF4-FFF2-40B4-BE49-F238E27FC236}">
                <a16:creationId xmlns:a16="http://schemas.microsoft.com/office/drawing/2014/main" id="{82EC6456-3CDF-F78E-B228-4BE2DF92C497}"/>
              </a:ext>
            </a:extLst>
          </p:cNvPr>
          <p:cNvCxnSpPr>
            <a:cxnSpLocks noChangeShapeType="1"/>
            <a:stCxn id="80910" idx="3"/>
            <a:endCxn id="80992" idx="1"/>
          </p:cNvCxnSpPr>
          <p:nvPr/>
        </p:nvCxnSpPr>
        <p:spPr bwMode="auto">
          <a:xfrm flipV="1">
            <a:off x="3684588" y="3427413"/>
            <a:ext cx="215900" cy="219075"/>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22" name="AutoShape 27">
            <a:extLst>
              <a:ext uri="{FF2B5EF4-FFF2-40B4-BE49-F238E27FC236}">
                <a16:creationId xmlns:a16="http://schemas.microsoft.com/office/drawing/2014/main" id="{7192B2FF-6A31-816A-CB4F-F848438B6912}"/>
              </a:ext>
            </a:extLst>
          </p:cNvPr>
          <p:cNvCxnSpPr>
            <a:cxnSpLocks noChangeShapeType="1"/>
            <a:stCxn id="80910" idx="3"/>
            <a:endCxn id="80990" idx="1"/>
          </p:cNvCxnSpPr>
          <p:nvPr/>
        </p:nvCxnSpPr>
        <p:spPr bwMode="auto">
          <a:xfrm>
            <a:off x="3684588" y="3646488"/>
            <a:ext cx="215900" cy="203200"/>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23" name="AutoShape 28">
            <a:extLst>
              <a:ext uri="{FF2B5EF4-FFF2-40B4-BE49-F238E27FC236}">
                <a16:creationId xmlns:a16="http://schemas.microsoft.com/office/drawing/2014/main" id="{7FADE3B2-031E-DEE0-9AF5-E0D326168B36}"/>
              </a:ext>
            </a:extLst>
          </p:cNvPr>
          <p:cNvCxnSpPr>
            <a:cxnSpLocks noChangeShapeType="1"/>
            <a:stCxn id="80911" idx="3"/>
            <a:endCxn id="80988" idx="1"/>
          </p:cNvCxnSpPr>
          <p:nvPr/>
        </p:nvCxnSpPr>
        <p:spPr bwMode="auto">
          <a:xfrm flipV="1">
            <a:off x="3684588" y="4206875"/>
            <a:ext cx="215900" cy="147638"/>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24" name="AutoShape 29">
            <a:extLst>
              <a:ext uri="{FF2B5EF4-FFF2-40B4-BE49-F238E27FC236}">
                <a16:creationId xmlns:a16="http://schemas.microsoft.com/office/drawing/2014/main" id="{D55AF819-18F6-CB39-6035-5E3EA1A2F87B}"/>
              </a:ext>
            </a:extLst>
          </p:cNvPr>
          <p:cNvCxnSpPr>
            <a:cxnSpLocks noChangeShapeType="1"/>
            <a:stCxn id="80911" idx="3"/>
            <a:endCxn id="80986" idx="1"/>
          </p:cNvCxnSpPr>
          <p:nvPr/>
        </p:nvCxnSpPr>
        <p:spPr bwMode="auto">
          <a:xfrm>
            <a:off x="3684588" y="4354513"/>
            <a:ext cx="215900" cy="147637"/>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0925" name="Group 30">
            <a:extLst>
              <a:ext uri="{FF2B5EF4-FFF2-40B4-BE49-F238E27FC236}">
                <a16:creationId xmlns:a16="http://schemas.microsoft.com/office/drawing/2014/main" id="{20FD3F34-F50B-6515-6F4F-1054AA984315}"/>
              </a:ext>
            </a:extLst>
          </p:cNvPr>
          <p:cNvGrpSpPr/>
          <p:nvPr/>
        </p:nvGrpSpPr>
        <p:grpSpPr>
          <a:xfrm>
            <a:off x="2201863" y="2398713"/>
            <a:ext cx="7539037" cy="295275"/>
            <a:chOff x="1387" y="1275"/>
            <a:chExt cx="4749" cy="186"/>
          </a:xfrm>
        </p:grpSpPr>
        <p:sp>
          <p:nvSpPr>
            <p:cNvPr id="80998" name="Rectangle 31">
              <a:extLst>
                <a:ext uri="{FF2B5EF4-FFF2-40B4-BE49-F238E27FC236}">
                  <a16:creationId xmlns:a16="http://schemas.microsoft.com/office/drawing/2014/main" id="{46D6A6C9-6437-888E-C4EE-EDA88AADFB91}"/>
                </a:ext>
              </a:extLst>
            </p:cNvPr>
            <p:cNvSpPr>
              <a:spLocks noChangeArrowheads="1"/>
            </p:cNvSpPr>
            <p:nvPr/>
          </p:nvSpPr>
          <p:spPr bwMode="auto">
            <a:xfrm>
              <a:off x="1387" y="1277"/>
              <a:ext cx="934" cy="180"/>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Collect additional data</a:t>
              </a:r>
            </a:p>
          </p:txBody>
        </p:sp>
        <p:sp>
          <p:nvSpPr>
            <p:cNvPr id="80999" name="Rectangle 32">
              <a:extLst>
                <a:ext uri="{FF2B5EF4-FFF2-40B4-BE49-F238E27FC236}">
                  <a16:creationId xmlns:a16="http://schemas.microsoft.com/office/drawing/2014/main" id="{54A132F8-8A3D-6A2D-5790-C064452D603D}"/>
                </a:ext>
              </a:extLst>
            </p:cNvPr>
            <p:cNvSpPr>
              <a:spLocks noChangeArrowheads="1"/>
            </p:cNvSpPr>
            <p:nvPr/>
          </p:nvSpPr>
          <p:spPr bwMode="auto">
            <a:xfrm>
              <a:off x="2457" y="1315"/>
              <a:ext cx="1072" cy="104"/>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Automate collection </a:t>
              </a:r>
            </a:p>
          </p:txBody>
        </p:sp>
        <p:sp>
          <p:nvSpPr>
            <p:cNvPr id="81000" name="Text Box 33">
              <a:extLst>
                <a:ext uri="{FF2B5EF4-FFF2-40B4-BE49-F238E27FC236}">
                  <a16:creationId xmlns:a16="http://schemas.microsoft.com/office/drawing/2014/main" id="{A2DBB2E6-CE1A-D598-83AF-E0DE51C934DB}"/>
                </a:ext>
              </a:extLst>
            </p:cNvPr>
            <p:cNvSpPr txBox="1">
              <a:spLocks noChangeArrowheads="1"/>
            </p:cNvSpPr>
            <p:nvPr/>
          </p:nvSpPr>
          <p:spPr bwMode="auto">
            <a:xfrm>
              <a:off x="3581" y="1275"/>
              <a:ext cx="2555" cy="186"/>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What is the information needed?</a:t>
              </a:r>
            </a:p>
            <a:p>
              <a:pPr eaLnBrk="1" hangingPunct="1">
                <a:lnSpc>
                  <a:spcPct val="85000"/>
                </a:lnSpc>
                <a:spcBef>
                  <a:spcPct val="0"/>
                </a:spcBef>
                <a:buFontTx/>
                <a:buChar char="•"/>
              </a:pPr>
              <a:r>
                <a:rPr lang="en-US" altLang="ko-KR" sz="1000" b="0">
                  <a:ea typeface="굴림" panose="020b0600000101010101" pitchFamily="34" charset="-127"/>
                </a:rPr>
                <a:t>How to automatically gather information upfront?</a:t>
              </a:r>
            </a:p>
          </p:txBody>
        </p:sp>
      </p:grpSp>
      <p:grpSp>
        <p:nvGrpSpPr>
          <p:cNvPr id="80926" name="Group 34">
            <a:extLst>
              <a:ext uri="{FF2B5EF4-FFF2-40B4-BE49-F238E27FC236}">
                <a16:creationId xmlns:a16="http://schemas.microsoft.com/office/drawing/2014/main" id="{70CD7808-9268-FCB7-D36A-D2DF649FDD55}"/>
              </a:ext>
            </a:extLst>
          </p:cNvPr>
          <p:cNvGrpSpPr/>
          <p:nvPr/>
        </p:nvGrpSpPr>
        <p:grpSpPr>
          <a:xfrm>
            <a:off x="3900488" y="2755900"/>
            <a:ext cx="5840412" cy="166688"/>
            <a:chOff x="2457" y="1518"/>
            <a:chExt cx="3679" cy="105"/>
          </a:xfrm>
        </p:grpSpPr>
        <p:sp>
          <p:nvSpPr>
            <p:cNvPr id="80996" name="Rectangle 35">
              <a:extLst>
                <a:ext uri="{FF2B5EF4-FFF2-40B4-BE49-F238E27FC236}">
                  <a16:creationId xmlns:a16="http://schemas.microsoft.com/office/drawing/2014/main" id="{76440B81-2EFD-C5B9-558C-6486244EB3B4}"/>
                </a:ext>
              </a:extLst>
            </p:cNvPr>
            <p:cNvSpPr>
              <a:spLocks noChangeArrowheads="1"/>
            </p:cNvSpPr>
            <p:nvPr/>
          </p:nvSpPr>
          <p:spPr bwMode="auto">
            <a:xfrm>
              <a:off x="2457" y="1518"/>
              <a:ext cx="1072" cy="10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Suppress over quality </a:t>
              </a:r>
            </a:p>
          </p:txBody>
        </p:sp>
        <p:sp>
          <p:nvSpPr>
            <p:cNvPr id="80997" name="Text Box 36">
              <a:extLst>
                <a:ext uri="{FF2B5EF4-FFF2-40B4-BE49-F238E27FC236}">
                  <a16:creationId xmlns:a16="http://schemas.microsoft.com/office/drawing/2014/main" id="{3F8E747A-1D78-2DEB-5157-B5A3D4FB305C}"/>
                </a:ext>
              </a:extLst>
            </p:cNvPr>
            <p:cNvSpPr txBox="1">
              <a:spLocks noChangeArrowheads="1"/>
            </p:cNvSpPr>
            <p:nvPr/>
          </p:nvSpPr>
          <p:spPr bwMode="auto">
            <a:xfrm>
              <a:off x="3581" y="1520"/>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What is the use of this step?</a:t>
              </a:r>
            </a:p>
          </p:txBody>
        </p:sp>
      </p:grpSp>
      <p:grpSp>
        <p:nvGrpSpPr>
          <p:cNvPr id="80927" name="Group 37">
            <a:extLst>
              <a:ext uri="{FF2B5EF4-FFF2-40B4-BE49-F238E27FC236}">
                <a16:creationId xmlns:a16="http://schemas.microsoft.com/office/drawing/2014/main" id="{6F1D07D4-D848-C427-E6AB-A23DB50207DD}"/>
              </a:ext>
            </a:extLst>
          </p:cNvPr>
          <p:cNvGrpSpPr/>
          <p:nvPr/>
        </p:nvGrpSpPr>
        <p:grpSpPr>
          <a:xfrm>
            <a:off x="3900488" y="2986088"/>
            <a:ext cx="5840412" cy="168275"/>
            <a:chOff x="2457" y="1681"/>
            <a:chExt cx="3679" cy="106"/>
          </a:xfrm>
        </p:grpSpPr>
        <p:sp>
          <p:nvSpPr>
            <p:cNvPr id="80994" name="Rectangle 38">
              <a:extLst>
                <a:ext uri="{FF2B5EF4-FFF2-40B4-BE49-F238E27FC236}">
                  <a16:creationId xmlns:a16="http://schemas.microsoft.com/office/drawing/2014/main" id="{8F01B351-2EB7-C30E-1549-924C8B5EFC24}"/>
                </a:ext>
              </a:extLst>
            </p:cNvPr>
            <p:cNvSpPr>
              <a:spLocks noChangeArrowheads="1"/>
            </p:cNvSpPr>
            <p:nvPr/>
          </p:nvSpPr>
          <p:spPr bwMode="auto">
            <a:xfrm>
              <a:off x="2457" y="1681"/>
              <a:ext cx="1072" cy="104"/>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Restrain to specific cases</a:t>
              </a:r>
            </a:p>
          </p:txBody>
        </p:sp>
        <p:sp>
          <p:nvSpPr>
            <p:cNvPr id="80995" name="Text Box 39">
              <a:extLst>
                <a:ext uri="{FF2B5EF4-FFF2-40B4-BE49-F238E27FC236}">
                  <a16:creationId xmlns:a16="http://schemas.microsoft.com/office/drawing/2014/main" id="{7C6E148C-A7A4-B50F-08BA-D5F03AE20DEC}"/>
                </a:ext>
              </a:extLst>
            </p:cNvPr>
            <p:cNvSpPr txBox="1">
              <a:spLocks noChangeArrowheads="1"/>
            </p:cNvSpPr>
            <p:nvPr/>
          </p:nvSpPr>
          <p:spPr bwMode="auto">
            <a:xfrm>
              <a:off x="3581" y="1683"/>
              <a:ext cx="2555" cy="104"/>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In which specific cases is it useful?</a:t>
              </a:r>
            </a:p>
          </p:txBody>
        </p:sp>
      </p:grpSp>
      <p:grpSp>
        <p:nvGrpSpPr>
          <p:cNvPr id="80928" name="Group 40">
            <a:extLst>
              <a:ext uri="{FF2B5EF4-FFF2-40B4-BE49-F238E27FC236}">
                <a16:creationId xmlns:a16="http://schemas.microsoft.com/office/drawing/2014/main" id="{DF6AE575-C16A-5A50-D64E-36E38E21563C}"/>
              </a:ext>
            </a:extLst>
          </p:cNvPr>
          <p:cNvGrpSpPr/>
          <p:nvPr/>
        </p:nvGrpSpPr>
        <p:grpSpPr>
          <a:xfrm>
            <a:off x="3900488" y="3216275"/>
            <a:ext cx="5840412" cy="423863"/>
            <a:chOff x="2457" y="1846"/>
            <a:chExt cx="3679" cy="267"/>
          </a:xfrm>
        </p:grpSpPr>
        <p:sp>
          <p:nvSpPr>
            <p:cNvPr id="80992" name="Rectangle 41">
              <a:extLst>
                <a:ext uri="{FF2B5EF4-FFF2-40B4-BE49-F238E27FC236}">
                  <a16:creationId xmlns:a16="http://schemas.microsoft.com/office/drawing/2014/main" id="{6FB6531B-FEF6-273D-7B2D-A9DF787953D9}"/>
                </a:ext>
              </a:extLst>
            </p:cNvPr>
            <p:cNvSpPr>
              <a:spLocks noChangeArrowheads="1"/>
            </p:cNvSpPr>
            <p:nvPr/>
          </p:nvSpPr>
          <p:spPr bwMode="auto">
            <a:xfrm>
              <a:off x="2457" y="1926"/>
              <a:ext cx="1072" cy="10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Automate tasks (entirely / part)</a:t>
              </a:r>
            </a:p>
          </p:txBody>
        </p:sp>
        <p:sp>
          <p:nvSpPr>
            <p:cNvPr id="80993" name="Text Box 42">
              <a:extLst>
                <a:ext uri="{FF2B5EF4-FFF2-40B4-BE49-F238E27FC236}">
                  <a16:creationId xmlns:a16="http://schemas.microsoft.com/office/drawing/2014/main" id="{63AA9C44-AAE0-2313-E125-4445520A9718}"/>
                </a:ext>
              </a:extLst>
            </p:cNvPr>
            <p:cNvSpPr txBox="1">
              <a:spLocks noChangeArrowheads="1"/>
            </p:cNvSpPr>
            <p:nvPr/>
          </p:nvSpPr>
          <p:spPr bwMode="auto">
            <a:xfrm>
              <a:off x="3581" y="1846"/>
              <a:ext cx="2555" cy="267"/>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What is the standard process?</a:t>
              </a:r>
            </a:p>
            <a:p>
              <a:pPr eaLnBrk="1" hangingPunct="1">
                <a:lnSpc>
                  <a:spcPct val="85000"/>
                </a:lnSpc>
                <a:spcBef>
                  <a:spcPct val="0"/>
                </a:spcBef>
                <a:buFontTx/>
                <a:buChar char="•"/>
              </a:pPr>
              <a:r>
                <a:rPr lang="en-US" altLang="ko-KR" sz="1000" b="0">
                  <a:ea typeface="굴림" panose="020b0600000101010101" pitchFamily="34" charset="-127"/>
                </a:rPr>
                <a:t>How many exception are there?</a:t>
              </a:r>
            </a:p>
            <a:p>
              <a:pPr eaLnBrk="1" hangingPunct="1">
                <a:lnSpc>
                  <a:spcPct val="85000"/>
                </a:lnSpc>
                <a:spcBef>
                  <a:spcPct val="0"/>
                </a:spcBef>
                <a:buFontTx/>
                <a:buChar char="•"/>
              </a:pPr>
              <a:r>
                <a:rPr lang="en-US" altLang="ko-KR" sz="1000" b="0">
                  <a:ea typeface="굴림" panose="020b0600000101010101" pitchFamily="34" charset="-127"/>
                </a:rPr>
                <a:t>What are the IT constraints?</a:t>
              </a:r>
            </a:p>
          </p:txBody>
        </p:sp>
      </p:grpSp>
      <p:grpSp>
        <p:nvGrpSpPr>
          <p:cNvPr id="80929" name="Group 43">
            <a:extLst>
              <a:ext uri="{FF2B5EF4-FFF2-40B4-BE49-F238E27FC236}">
                <a16:creationId xmlns:a16="http://schemas.microsoft.com/office/drawing/2014/main" id="{5FBDE65F-15F6-9E8B-CCC1-95601F7B74EA}"/>
              </a:ext>
            </a:extLst>
          </p:cNvPr>
          <p:cNvGrpSpPr/>
          <p:nvPr/>
        </p:nvGrpSpPr>
        <p:grpSpPr>
          <a:xfrm>
            <a:off x="3900488" y="3703638"/>
            <a:ext cx="5840412" cy="295275"/>
            <a:chOff x="2457" y="2171"/>
            <a:chExt cx="3679" cy="186"/>
          </a:xfrm>
        </p:grpSpPr>
        <p:sp>
          <p:nvSpPr>
            <p:cNvPr id="80990" name="Rectangle 44">
              <a:extLst>
                <a:ext uri="{FF2B5EF4-FFF2-40B4-BE49-F238E27FC236}">
                  <a16:creationId xmlns:a16="http://schemas.microsoft.com/office/drawing/2014/main" id="{466613EC-4A17-4D99-6126-CA06C65F7A90}"/>
                </a:ext>
              </a:extLst>
            </p:cNvPr>
            <p:cNvSpPr>
              <a:spLocks noChangeArrowheads="1"/>
            </p:cNvSpPr>
            <p:nvPr/>
          </p:nvSpPr>
          <p:spPr bwMode="auto">
            <a:xfrm>
              <a:off x="2457" y="2210"/>
              <a:ext cx="1072" cy="10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Speed up</a:t>
              </a:r>
            </a:p>
          </p:txBody>
        </p:sp>
        <p:sp>
          <p:nvSpPr>
            <p:cNvPr id="80991" name="Text Box 45">
              <a:extLst>
                <a:ext uri="{FF2B5EF4-FFF2-40B4-BE49-F238E27FC236}">
                  <a16:creationId xmlns:a16="http://schemas.microsoft.com/office/drawing/2014/main" id="{D0103139-AAB1-9167-F9AB-87F49B79C2F3}"/>
                </a:ext>
              </a:extLst>
            </p:cNvPr>
            <p:cNvSpPr txBox="1">
              <a:spLocks noChangeArrowheads="1"/>
            </p:cNvSpPr>
            <p:nvPr/>
          </p:nvSpPr>
          <p:spPr bwMode="auto">
            <a:xfrm>
              <a:off x="3581" y="2171"/>
              <a:ext cx="2555" cy="186"/>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What are the useful shortcuts?</a:t>
              </a:r>
            </a:p>
            <a:p>
              <a:pPr eaLnBrk="1" hangingPunct="1">
                <a:lnSpc>
                  <a:spcPct val="85000"/>
                </a:lnSpc>
                <a:spcBef>
                  <a:spcPct val="0"/>
                </a:spcBef>
                <a:buFontTx/>
                <a:buChar char="•"/>
              </a:pPr>
              <a:r>
                <a:rPr lang="en-US" altLang="ko-KR" sz="1000" b="0">
                  <a:ea typeface="굴림" panose="020b0600000101010101" pitchFamily="34" charset="-127"/>
                </a:rPr>
                <a:t>Can we download / interface upfront existing information?</a:t>
              </a:r>
            </a:p>
          </p:txBody>
        </p:sp>
      </p:grpSp>
      <p:grpSp>
        <p:nvGrpSpPr>
          <p:cNvPr id="80930" name="Group 46">
            <a:extLst>
              <a:ext uri="{FF2B5EF4-FFF2-40B4-BE49-F238E27FC236}">
                <a16:creationId xmlns:a16="http://schemas.microsoft.com/office/drawing/2014/main" id="{71C19D67-4A45-4A26-2BDE-72978464CBD6}"/>
              </a:ext>
            </a:extLst>
          </p:cNvPr>
          <p:cNvGrpSpPr/>
          <p:nvPr/>
        </p:nvGrpSpPr>
        <p:grpSpPr>
          <a:xfrm>
            <a:off x="3900488" y="4060825"/>
            <a:ext cx="5840412" cy="295275"/>
            <a:chOff x="2457" y="2415"/>
            <a:chExt cx="3679" cy="186"/>
          </a:xfrm>
        </p:grpSpPr>
        <p:sp>
          <p:nvSpPr>
            <p:cNvPr id="80988" name="Rectangle 47">
              <a:extLst>
                <a:ext uri="{FF2B5EF4-FFF2-40B4-BE49-F238E27FC236}">
                  <a16:creationId xmlns:a16="http://schemas.microsoft.com/office/drawing/2014/main" id="{BC5BAA3D-0118-EC45-7135-666178461F69}"/>
                </a:ext>
              </a:extLst>
            </p:cNvPr>
            <p:cNvSpPr>
              <a:spLocks noChangeArrowheads="1"/>
            </p:cNvSpPr>
            <p:nvPr/>
          </p:nvSpPr>
          <p:spPr bwMode="auto">
            <a:xfrm>
              <a:off x="2457" y="2455"/>
              <a:ext cx="1072" cy="104"/>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Suppress over quality </a:t>
              </a:r>
            </a:p>
          </p:txBody>
        </p:sp>
        <p:sp>
          <p:nvSpPr>
            <p:cNvPr id="80989" name="Text Box 48">
              <a:extLst>
                <a:ext uri="{FF2B5EF4-FFF2-40B4-BE49-F238E27FC236}">
                  <a16:creationId xmlns:a16="http://schemas.microsoft.com/office/drawing/2014/main" id="{10620244-D6A5-3EA2-84C1-F3FD2EE0BA20}"/>
                </a:ext>
              </a:extLst>
            </p:cNvPr>
            <p:cNvSpPr txBox="1">
              <a:spLocks noChangeArrowheads="1"/>
            </p:cNvSpPr>
            <p:nvPr/>
          </p:nvSpPr>
          <p:spPr bwMode="auto">
            <a:xfrm>
              <a:off x="3581" y="2415"/>
              <a:ext cx="2555" cy="186"/>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Who uses these information?</a:t>
              </a:r>
            </a:p>
            <a:p>
              <a:pPr eaLnBrk="1" hangingPunct="1">
                <a:lnSpc>
                  <a:spcPct val="85000"/>
                </a:lnSpc>
                <a:spcBef>
                  <a:spcPct val="0"/>
                </a:spcBef>
                <a:buFontTx/>
                <a:buChar char="•"/>
              </a:pPr>
              <a:r>
                <a:rPr lang="en-US" altLang="ko-KR" sz="1000" b="0">
                  <a:ea typeface="굴림" panose="020b0600000101010101" pitchFamily="34" charset="-127"/>
                </a:rPr>
                <a:t>Can we limit it to specific cases?</a:t>
              </a:r>
            </a:p>
          </p:txBody>
        </p:sp>
      </p:grpSp>
      <p:grpSp>
        <p:nvGrpSpPr>
          <p:cNvPr id="80931" name="Group 49">
            <a:extLst>
              <a:ext uri="{FF2B5EF4-FFF2-40B4-BE49-F238E27FC236}">
                <a16:creationId xmlns:a16="http://schemas.microsoft.com/office/drawing/2014/main" id="{944787BF-EBD7-935E-239F-DFCEBA571482}"/>
              </a:ext>
            </a:extLst>
          </p:cNvPr>
          <p:cNvGrpSpPr/>
          <p:nvPr/>
        </p:nvGrpSpPr>
        <p:grpSpPr>
          <a:xfrm>
            <a:off x="3900488" y="4418013"/>
            <a:ext cx="5840412" cy="166687"/>
            <a:chOff x="2457" y="2657"/>
            <a:chExt cx="3679" cy="105"/>
          </a:xfrm>
        </p:grpSpPr>
        <p:sp>
          <p:nvSpPr>
            <p:cNvPr id="80986" name="Rectangle 50">
              <a:extLst>
                <a:ext uri="{FF2B5EF4-FFF2-40B4-BE49-F238E27FC236}">
                  <a16:creationId xmlns:a16="http://schemas.microsoft.com/office/drawing/2014/main" id="{A538A803-6201-3DB5-CE1B-88763E972C5E}"/>
                </a:ext>
              </a:extLst>
            </p:cNvPr>
            <p:cNvSpPr>
              <a:spLocks noChangeArrowheads="1"/>
            </p:cNvSpPr>
            <p:nvPr/>
          </p:nvSpPr>
          <p:spPr bwMode="auto">
            <a:xfrm>
              <a:off x="2457" y="2657"/>
              <a:ext cx="1072" cy="10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Standardize written mode</a:t>
              </a:r>
            </a:p>
          </p:txBody>
        </p:sp>
        <p:sp>
          <p:nvSpPr>
            <p:cNvPr id="80987" name="Text Box 51">
              <a:extLst>
                <a:ext uri="{FF2B5EF4-FFF2-40B4-BE49-F238E27FC236}">
                  <a16:creationId xmlns:a16="http://schemas.microsoft.com/office/drawing/2014/main" id="{A272C4FF-6CC0-FF97-7E1B-8AC3DAD31CE7}"/>
                </a:ext>
              </a:extLst>
            </p:cNvPr>
            <p:cNvSpPr txBox="1">
              <a:spLocks noChangeArrowheads="1"/>
            </p:cNvSpPr>
            <p:nvPr/>
          </p:nvSpPr>
          <p:spPr bwMode="auto">
            <a:xfrm>
              <a:off x="3581" y="2659"/>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Can we standardize by a set of values?</a:t>
              </a:r>
            </a:p>
          </p:txBody>
        </p:sp>
      </p:grpSp>
      <p:sp>
        <p:nvSpPr>
          <p:cNvPr id="80932" name="Rectangle 52">
            <a:extLst>
              <a:ext uri="{FF2B5EF4-FFF2-40B4-BE49-F238E27FC236}">
                <a16:creationId xmlns:a16="http://schemas.microsoft.com/office/drawing/2014/main" id="{3C178C88-53DA-F5A3-EC24-16681D40AA5E}"/>
              </a:ext>
            </a:extLst>
          </p:cNvPr>
          <p:cNvSpPr>
            <a:spLocks noChangeArrowheads="1"/>
          </p:cNvSpPr>
          <p:nvPr/>
        </p:nvSpPr>
        <p:spPr bwMode="auto">
          <a:xfrm>
            <a:off x="2201863" y="2076450"/>
            <a:ext cx="1482725" cy="285750"/>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Understand the task and the context</a:t>
            </a:r>
          </a:p>
        </p:txBody>
      </p:sp>
      <p:sp>
        <p:nvSpPr>
          <p:cNvPr id="80933" name="Rectangle 53">
            <a:extLst>
              <a:ext uri="{FF2B5EF4-FFF2-40B4-BE49-F238E27FC236}">
                <a16:creationId xmlns:a16="http://schemas.microsoft.com/office/drawing/2014/main" id="{DC4F2F70-8735-B36B-F355-5FADE44D36E1}"/>
              </a:ext>
            </a:extLst>
          </p:cNvPr>
          <p:cNvSpPr>
            <a:spLocks noChangeArrowheads="1"/>
          </p:cNvSpPr>
          <p:nvPr/>
        </p:nvSpPr>
        <p:spPr bwMode="auto">
          <a:xfrm>
            <a:off x="3900488" y="2135188"/>
            <a:ext cx="1701800" cy="165100"/>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Improve quality of demand</a:t>
            </a:r>
          </a:p>
        </p:txBody>
      </p:sp>
      <p:sp>
        <p:nvSpPr>
          <p:cNvPr id="80934" name="Text Box 54">
            <a:extLst>
              <a:ext uri="{FF2B5EF4-FFF2-40B4-BE49-F238E27FC236}">
                <a16:creationId xmlns:a16="http://schemas.microsoft.com/office/drawing/2014/main" id="{DB03B1F0-2A2C-AB4A-8EBE-6681BA8D3114}"/>
              </a:ext>
            </a:extLst>
          </p:cNvPr>
          <p:cNvSpPr txBox="1">
            <a:spLocks noChangeArrowheads="1"/>
          </p:cNvSpPr>
          <p:nvPr/>
        </p:nvSpPr>
        <p:spPr bwMode="auto">
          <a:xfrm>
            <a:off x="5684838" y="1898650"/>
            <a:ext cx="4056062" cy="419100"/>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What is the information needed?</a:t>
            </a:r>
          </a:p>
          <a:p>
            <a:pPr eaLnBrk="1" hangingPunct="1">
              <a:lnSpc>
                <a:spcPct val="85000"/>
              </a:lnSpc>
              <a:spcBef>
                <a:spcPct val="0"/>
              </a:spcBef>
              <a:buFontTx/>
              <a:buChar char="•"/>
            </a:pPr>
            <a:r>
              <a:rPr lang="en-US" altLang="ko-KR" sz="1000" b="0">
                <a:ea typeface="굴림" panose="020b0600000101010101" pitchFamily="34" charset="-127"/>
              </a:rPr>
              <a:t>How to standardize data gathering?</a:t>
            </a:r>
          </a:p>
          <a:p>
            <a:pPr eaLnBrk="1" hangingPunct="1">
              <a:lnSpc>
                <a:spcPct val="85000"/>
              </a:lnSpc>
              <a:spcBef>
                <a:spcPct val="0"/>
              </a:spcBef>
              <a:buFontTx/>
              <a:buChar char="•"/>
            </a:pPr>
            <a:r>
              <a:rPr lang="en-US" altLang="ko-KR" sz="1000" b="0">
                <a:ea typeface="굴림" panose="020b0600000101010101" pitchFamily="34" charset="-127"/>
              </a:rPr>
              <a:t>Can we define answers by a MECE list of value?</a:t>
            </a:r>
          </a:p>
        </p:txBody>
      </p:sp>
      <p:sp>
        <p:nvSpPr>
          <p:cNvPr id="80935" name="Rectangle 55">
            <a:extLst>
              <a:ext uri="{FF2B5EF4-FFF2-40B4-BE49-F238E27FC236}">
                <a16:creationId xmlns:a16="http://schemas.microsoft.com/office/drawing/2014/main" id="{F19FD93B-6A2E-A087-B924-2B2D20442566}"/>
              </a:ext>
            </a:extLst>
          </p:cNvPr>
          <p:cNvSpPr>
            <a:spLocks noChangeArrowheads="1"/>
          </p:cNvSpPr>
          <p:nvPr/>
        </p:nvSpPr>
        <p:spPr bwMode="auto">
          <a:xfrm>
            <a:off x="2201863" y="4660900"/>
            <a:ext cx="1482725" cy="285750"/>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Process breaks </a:t>
            </a:r>
          </a:p>
          <a:p>
            <a:pPr algn="ctr">
              <a:lnSpc>
                <a:spcPct val="100000"/>
              </a:lnSpc>
              <a:spcBef>
                <a:spcPct val="0"/>
              </a:spcBef>
              <a:buClrTx/>
              <a:buFontTx/>
              <a:buNone/>
            </a:pPr>
            <a:r>
              <a:rPr lang="en-US" altLang="ko-KR" sz="900" b="0">
                <a:ea typeface="굴림" panose="020b0600000101010101" pitchFamily="34" charset="-127"/>
              </a:rPr>
              <a:t>(external interfaces)</a:t>
            </a:r>
          </a:p>
        </p:txBody>
      </p:sp>
      <p:sp>
        <p:nvSpPr>
          <p:cNvPr id="80936" name="Rectangle 56">
            <a:extLst>
              <a:ext uri="{FF2B5EF4-FFF2-40B4-BE49-F238E27FC236}">
                <a16:creationId xmlns:a16="http://schemas.microsoft.com/office/drawing/2014/main" id="{20D09FD4-BBB5-DF59-F9E5-4C8FCB5860D7}"/>
              </a:ext>
            </a:extLst>
          </p:cNvPr>
          <p:cNvSpPr>
            <a:spLocks noChangeArrowheads="1"/>
          </p:cNvSpPr>
          <p:nvPr/>
        </p:nvSpPr>
        <p:spPr bwMode="auto">
          <a:xfrm>
            <a:off x="2201863" y="4983163"/>
            <a:ext cx="1482725" cy="249237"/>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Internal tasks allocation</a:t>
            </a:r>
          </a:p>
        </p:txBody>
      </p:sp>
      <p:sp>
        <p:nvSpPr>
          <p:cNvPr id="80937" name="Rectangle 57">
            <a:extLst>
              <a:ext uri="{FF2B5EF4-FFF2-40B4-BE49-F238E27FC236}">
                <a16:creationId xmlns:a16="http://schemas.microsoft.com/office/drawing/2014/main" id="{94E0ED5B-845B-646D-862C-E340E1AF52C9}"/>
              </a:ext>
            </a:extLst>
          </p:cNvPr>
          <p:cNvSpPr>
            <a:spLocks noChangeArrowheads="1"/>
          </p:cNvSpPr>
          <p:nvPr/>
        </p:nvSpPr>
        <p:spPr bwMode="auto">
          <a:xfrm>
            <a:off x="2201863" y="5270500"/>
            <a:ext cx="1482725" cy="249238"/>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Tasks order</a:t>
            </a:r>
          </a:p>
        </p:txBody>
      </p:sp>
      <p:sp>
        <p:nvSpPr>
          <p:cNvPr id="80938" name="Rectangle 58">
            <a:extLst>
              <a:ext uri="{FF2B5EF4-FFF2-40B4-BE49-F238E27FC236}">
                <a16:creationId xmlns:a16="http://schemas.microsoft.com/office/drawing/2014/main" id="{31135686-8C00-22C1-FFED-7B1D27A1FCCF}"/>
              </a:ext>
            </a:extLst>
          </p:cNvPr>
          <p:cNvSpPr>
            <a:spLocks noChangeArrowheads="1"/>
          </p:cNvSpPr>
          <p:nvPr/>
        </p:nvSpPr>
        <p:spPr bwMode="auto">
          <a:xfrm>
            <a:off x="2201863" y="5557838"/>
            <a:ext cx="1482725" cy="284162"/>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Allocate files and tasks by ADT range</a:t>
            </a:r>
          </a:p>
        </p:txBody>
      </p:sp>
      <p:cxnSp>
        <p:nvCxnSpPr>
          <p:cNvPr id="80939" name="AutoShape 59">
            <a:extLst>
              <a:ext uri="{FF2B5EF4-FFF2-40B4-BE49-F238E27FC236}">
                <a16:creationId xmlns:a16="http://schemas.microsoft.com/office/drawing/2014/main" id="{18C72482-FA07-CE71-A665-C06B1BCE6E52}"/>
              </a:ext>
            </a:extLst>
          </p:cNvPr>
          <p:cNvCxnSpPr>
            <a:cxnSpLocks noChangeShapeType="1"/>
            <a:stCxn id="80904" idx="3"/>
            <a:endCxn id="80935" idx="1"/>
          </p:cNvCxnSpPr>
          <p:nvPr/>
        </p:nvCxnSpPr>
        <p:spPr bwMode="auto">
          <a:xfrm flipV="1">
            <a:off x="2001838" y="4803775"/>
            <a:ext cx="200025" cy="449263"/>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0" name="AutoShape 60">
            <a:extLst>
              <a:ext uri="{FF2B5EF4-FFF2-40B4-BE49-F238E27FC236}">
                <a16:creationId xmlns:a16="http://schemas.microsoft.com/office/drawing/2014/main" id="{94CD2A19-212D-D1C1-68CC-6F676AAFAC3D}"/>
              </a:ext>
            </a:extLst>
          </p:cNvPr>
          <p:cNvCxnSpPr>
            <a:cxnSpLocks noChangeShapeType="1"/>
            <a:stCxn id="80904" idx="3"/>
            <a:endCxn id="80936" idx="1"/>
          </p:cNvCxnSpPr>
          <p:nvPr/>
        </p:nvCxnSpPr>
        <p:spPr bwMode="auto">
          <a:xfrm flipV="1">
            <a:off x="2001838" y="5108575"/>
            <a:ext cx="200025" cy="144463"/>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1" name="AutoShape 61">
            <a:extLst>
              <a:ext uri="{FF2B5EF4-FFF2-40B4-BE49-F238E27FC236}">
                <a16:creationId xmlns:a16="http://schemas.microsoft.com/office/drawing/2014/main" id="{23BA6182-AA61-6809-EF8E-41DAAE6571FE}"/>
              </a:ext>
            </a:extLst>
          </p:cNvPr>
          <p:cNvCxnSpPr>
            <a:cxnSpLocks noChangeShapeType="1"/>
            <a:stCxn id="80904" idx="3"/>
            <a:endCxn id="80937" idx="1"/>
          </p:cNvCxnSpPr>
          <p:nvPr/>
        </p:nvCxnSpPr>
        <p:spPr bwMode="auto">
          <a:xfrm>
            <a:off x="2001838" y="5253038"/>
            <a:ext cx="200025" cy="142875"/>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2" name="AutoShape 62">
            <a:extLst>
              <a:ext uri="{FF2B5EF4-FFF2-40B4-BE49-F238E27FC236}">
                <a16:creationId xmlns:a16="http://schemas.microsoft.com/office/drawing/2014/main" id="{E611F1BA-8335-8131-E93B-8F5BF3C3882F}"/>
              </a:ext>
            </a:extLst>
          </p:cNvPr>
          <p:cNvCxnSpPr>
            <a:cxnSpLocks noChangeShapeType="1"/>
            <a:stCxn id="80904" idx="3"/>
            <a:endCxn id="80938" idx="1"/>
          </p:cNvCxnSpPr>
          <p:nvPr/>
        </p:nvCxnSpPr>
        <p:spPr bwMode="auto">
          <a:xfrm>
            <a:off x="2001838" y="5253038"/>
            <a:ext cx="200025" cy="447675"/>
          </a:xfrm>
          <a:prstGeom prst="bentConnector3">
            <a:avLst>
              <a:gd name="adj1" fmla="val 49208"/>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0943" name="Group 63">
            <a:extLst>
              <a:ext uri="{FF2B5EF4-FFF2-40B4-BE49-F238E27FC236}">
                <a16:creationId xmlns:a16="http://schemas.microsoft.com/office/drawing/2014/main" id="{418654E0-4EF7-D925-AD44-98637918F14A}"/>
              </a:ext>
            </a:extLst>
          </p:cNvPr>
          <p:cNvGrpSpPr/>
          <p:nvPr/>
        </p:nvGrpSpPr>
        <p:grpSpPr>
          <a:xfrm>
            <a:off x="3900488" y="4648200"/>
            <a:ext cx="5840412" cy="425450"/>
            <a:chOff x="2457" y="2823"/>
            <a:chExt cx="3679" cy="268"/>
          </a:xfrm>
        </p:grpSpPr>
        <p:sp>
          <p:nvSpPr>
            <p:cNvPr id="80984" name="Rectangle 64">
              <a:extLst>
                <a:ext uri="{FF2B5EF4-FFF2-40B4-BE49-F238E27FC236}">
                  <a16:creationId xmlns:a16="http://schemas.microsoft.com/office/drawing/2014/main" id="{D25C8561-F310-403A-7063-4F26E8893469}"/>
                </a:ext>
              </a:extLst>
            </p:cNvPr>
            <p:cNvSpPr>
              <a:spLocks noChangeArrowheads="1"/>
            </p:cNvSpPr>
            <p:nvPr/>
          </p:nvSpPr>
          <p:spPr bwMode="auto">
            <a:xfrm>
              <a:off x="2457" y="2903"/>
              <a:ext cx="1072" cy="104"/>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Minimize interfaces costs</a:t>
              </a:r>
            </a:p>
          </p:txBody>
        </p:sp>
        <p:sp>
          <p:nvSpPr>
            <p:cNvPr id="80985" name="Text Box 65">
              <a:extLst>
                <a:ext uri="{FF2B5EF4-FFF2-40B4-BE49-F238E27FC236}">
                  <a16:creationId xmlns:a16="http://schemas.microsoft.com/office/drawing/2014/main" id="{2BB2F85B-47B3-B024-3EAA-4320425D8F3B}"/>
                </a:ext>
              </a:extLst>
            </p:cNvPr>
            <p:cNvSpPr txBox="1">
              <a:spLocks noChangeArrowheads="1"/>
            </p:cNvSpPr>
            <p:nvPr/>
          </p:nvSpPr>
          <p:spPr bwMode="auto">
            <a:xfrm>
              <a:off x="3581" y="2823"/>
              <a:ext cx="2555" cy="268"/>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Can we organize the process to perform human treatment in once?</a:t>
              </a:r>
            </a:p>
            <a:p>
              <a:pPr eaLnBrk="1" hangingPunct="1">
                <a:lnSpc>
                  <a:spcPct val="85000"/>
                </a:lnSpc>
                <a:spcBef>
                  <a:spcPct val="0"/>
                </a:spcBef>
                <a:buFontTx/>
                <a:buChar char="•"/>
              </a:pPr>
              <a:r>
                <a:rPr lang="en-US" altLang="ko-KR" sz="1000" b="0">
                  <a:ea typeface="굴림" panose="020b0600000101010101" pitchFamily="34" charset="-127"/>
                </a:rPr>
                <a:t>Else, can we group activities requiring file comprehension? And automate as much as possible the file resumption?</a:t>
              </a:r>
            </a:p>
          </p:txBody>
        </p:sp>
      </p:grpSp>
      <p:grpSp>
        <p:nvGrpSpPr>
          <p:cNvPr id="80944" name="Group 66">
            <a:extLst>
              <a:ext uri="{FF2B5EF4-FFF2-40B4-BE49-F238E27FC236}">
                <a16:creationId xmlns:a16="http://schemas.microsoft.com/office/drawing/2014/main" id="{11CB440B-514E-58E9-1C25-936669D7A919}"/>
              </a:ext>
            </a:extLst>
          </p:cNvPr>
          <p:cNvGrpSpPr/>
          <p:nvPr/>
        </p:nvGrpSpPr>
        <p:grpSpPr>
          <a:xfrm>
            <a:off x="3900488" y="5135563"/>
            <a:ext cx="5840412" cy="166687"/>
            <a:chOff x="2457" y="3147"/>
            <a:chExt cx="3679" cy="105"/>
          </a:xfrm>
        </p:grpSpPr>
        <p:sp>
          <p:nvSpPr>
            <p:cNvPr id="80982" name="Rectangle 67">
              <a:extLst>
                <a:ext uri="{FF2B5EF4-FFF2-40B4-BE49-F238E27FC236}">
                  <a16:creationId xmlns:a16="http://schemas.microsoft.com/office/drawing/2014/main" id="{1356756C-80C0-66C5-F4FF-76455AEAFD7B}"/>
                </a:ext>
              </a:extLst>
            </p:cNvPr>
            <p:cNvSpPr>
              <a:spLocks noChangeArrowheads="1"/>
            </p:cNvSpPr>
            <p:nvPr/>
          </p:nvSpPr>
          <p:spPr bwMode="auto">
            <a:xfrm>
              <a:off x="2457" y="3147"/>
              <a:ext cx="1072" cy="10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Maximize skills uses</a:t>
              </a:r>
            </a:p>
          </p:txBody>
        </p:sp>
        <p:sp>
          <p:nvSpPr>
            <p:cNvPr id="80983" name="Text Box 68">
              <a:extLst>
                <a:ext uri="{FF2B5EF4-FFF2-40B4-BE49-F238E27FC236}">
                  <a16:creationId xmlns:a16="http://schemas.microsoft.com/office/drawing/2014/main" id="{A682F3A7-1824-1DF5-B27D-040F6DC14B73}"/>
                </a:ext>
              </a:extLst>
            </p:cNvPr>
            <p:cNvSpPr txBox="1">
              <a:spLocks noChangeArrowheads="1"/>
            </p:cNvSpPr>
            <p:nvPr/>
          </p:nvSpPr>
          <p:spPr bwMode="auto">
            <a:xfrm>
              <a:off x="3581" y="3148"/>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Can we divide the process to maximize skills utilization?</a:t>
              </a:r>
            </a:p>
          </p:txBody>
        </p:sp>
      </p:grpSp>
      <p:grpSp>
        <p:nvGrpSpPr>
          <p:cNvPr id="80945" name="Group 69">
            <a:extLst>
              <a:ext uri="{FF2B5EF4-FFF2-40B4-BE49-F238E27FC236}">
                <a16:creationId xmlns:a16="http://schemas.microsoft.com/office/drawing/2014/main" id="{637EA8D9-0FAA-CCBC-FAE9-CD82332B636A}"/>
              </a:ext>
            </a:extLst>
          </p:cNvPr>
          <p:cNvGrpSpPr/>
          <p:nvPr/>
        </p:nvGrpSpPr>
        <p:grpSpPr>
          <a:xfrm>
            <a:off x="3900488" y="5365750"/>
            <a:ext cx="5840412" cy="165100"/>
            <a:chOff x="2457" y="3311"/>
            <a:chExt cx="3679" cy="104"/>
          </a:xfrm>
        </p:grpSpPr>
        <p:sp>
          <p:nvSpPr>
            <p:cNvPr id="80980" name="Rectangle 70">
              <a:extLst>
                <a:ext uri="{FF2B5EF4-FFF2-40B4-BE49-F238E27FC236}">
                  <a16:creationId xmlns:a16="http://schemas.microsoft.com/office/drawing/2014/main" id="{30EC4E51-A16A-751F-6C6B-158F3517AFA3}"/>
                </a:ext>
              </a:extLst>
            </p:cNvPr>
            <p:cNvSpPr>
              <a:spLocks noChangeArrowheads="1"/>
            </p:cNvSpPr>
            <p:nvPr/>
          </p:nvSpPr>
          <p:spPr bwMode="auto">
            <a:xfrm>
              <a:off x="2457" y="3311"/>
              <a:ext cx="1072" cy="104"/>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Minimize set up times</a:t>
              </a:r>
            </a:p>
          </p:txBody>
        </p:sp>
        <p:sp>
          <p:nvSpPr>
            <p:cNvPr id="80981" name="Text Box 71">
              <a:extLst>
                <a:ext uri="{FF2B5EF4-FFF2-40B4-BE49-F238E27FC236}">
                  <a16:creationId xmlns:a16="http://schemas.microsoft.com/office/drawing/2014/main" id="{8CCC749F-A3D9-3409-220E-D67BB14148F8}"/>
                </a:ext>
              </a:extLst>
            </p:cNvPr>
            <p:cNvSpPr txBox="1">
              <a:spLocks noChangeArrowheads="1"/>
            </p:cNvSpPr>
            <p:nvPr/>
          </p:nvSpPr>
          <p:spPr bwMode="auto">
            <a:xfrm>
              <a:off x="3581" y="3311"/>
              <a:ext cx="2555" cy="104"/>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How to order tasks to minimize IT set-up / response time?</a:t>
              </a:r>
            </a:p>
          </p:txBody>
        </p:sp>
      </p:grpSp>
      <p:grpSp>
        <p:nvGrpSpPr>
          <p:cNvPr id="80946" name="Group 72">
            <a:extLst>
              <a:ext uri="{FF2B5EF4-FFF2-40B4-BE49-F238E27FC236}">
                <a16:creationId xmlns:a16="http://schemas.microsoft.com/office/drawing/2014/main" id="{B1BC5D7D-6F72-938B-CFD0-61802BA3F468}"/>
              </a:ext>
            </a:extLst>
          </p:cNvPr>
          <p:cNvGrpSpPr/>
          <p:nvPr/>
        </p:nvGrpSpPr>
        <p:grpSpPr>
          <a:xfrm>
            <a:off x="3900488" y="5592763"/>
            <a:ext cx="5840412" cy="165100"/>
            <a:chOff x="2457" y="3474"/>
            <a:chExt cx="3679" cy="104"/>
          </a:xfrm>
        </p:grpSpPr>
        <p:sp>
          <p:nvSpPr>
            <p:cNvPr id="80978" name="Rectangle 73">
              <a:extLst>
                <a:ext uri="{FF2B5EF4-FFF2-40B4-BE49-F238E27FC236}">
                  <a16:creationId xmlns:a16="http://schemas.microsoft.com/office/drawing/2014/main" id="{457C8340-C7F3-8B66-21DC-576D46AEF63D}"/>
                </a:ext>
              </a:extLst>
            </p:cNvPr>
            <p:cNvSpPr>
              <a:spLocks noChangeArrowheads="1"/>
            </p:cNvSpPr>
            <p:nvPr/>
          </p:nvSpPr>
          <p:spPr bwMode="auto">
            <a:xfrm>
              <a:off x="2457" y="3474"/>
              <a:ext cx="1072" cy="104"/>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Insure a stable work rhythm</a:t>
              </a:r>
            </a:p>
          </p:txBody>
        </p:sp>
        <p:sp>
          <p:nvSpPr>
            <p:cNvPr id="80979" name="Text Box 74">
              <a:extLst>
                <a:ext uri="{FF2B5EF4-FFF2-40B4-BE49-F238E27FC236}">
                  <a16:creationId xmlns:a16="http://schemas.microsoft.com/office/drawing/2014/main" id="{69380491-FBFE-34D1-6FE3-81130A193EF2}"/>
                </a:ext>
              </a:extLst>
            </p:cNvPr>
            <p:cNvSpPr txBox="1">
              <a:spLocks noChangeArrowheads="1"/>
            </p:cNvSpPr>
            <p:nvPr/>
          </p:nvSpPr>
          <p:spPr bwMode="auto">
            <a:xfrm>
              <a:off x="3581" y="3474"/>
              <a:ext cx="2555" cy="104"/>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How to insure rhythm by the right files and tasks allocation?</a:t>
              </a:r>
            </a:p>
          </p:txBody>
        </p:sp>
      </p:grpSp>
      <p:cxnSp>
        <p:nvCxnSpPr>
          <p:cNvPr id="80947" name="AutoShape 75">
            <a:extLst>
              <a:ext uri="{FF2B5EF4-FFF2-40B4-BE49-F238E27FC236}">
                <a16:creationId xmlns:a16="http://schemas.microsoft.com/office/drawing/2014/main" id="{EAB99304-5C5F-613C-453D-5DD7BC579F28}"/>
              </a:ext>
            </a:extLst>
          </p:cNvPr>
          <p:cNvCxnSpPr>
            <a:cxnSpLocks noChangeShapeType="1"/>
            <a:stCxn id="80935" idx="3"/>
            <a:endCxn id="80984" idx="1"/>
          </p:cNvCxnSpPr>
          <p:nvPr/>
        </p:nvCxnSpPr>
        <p:spPr bwMode="auto">
          <a:xfrm>
            <a:off x="3684588" y="4803775"/>
            <a:ext cx="215900" cy="53975"/>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8" name="AutoShape 76">
            <a:extLst>
              <a:ext uri="{FF2B5EF4-FFF2-40B4-BE49-F238E27FC236}">
                <a16:creationId xmlns:a16="http://schemas.microsoft.com/office/drawing/2014/main" id="{50DD0EF7-D787-2C4B-07D5-F73C74561D89}"/>
              </a:ext>
            </a:extLst>
          </p:cNvPr>
          <p:cNvCxnSpPr>
            <a:cxnSpLocks noChangeShapeType="1"/>
            <a:stCxn id="80936" idx="3"/>
            <a:endCxn id="80982" idx="1"/>
          </p:cNvCxnSpPr>
          <p:nvPr/>
        </p:nvCxnSpPr>
        <p:spPr bwMode="auto">
          <a:xfrm>
            <a:off x="3684588" y="5108575"/>
            <a:ext cx="215900" cy="111125"/>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49" name="AutoShape 77">
            <a:extLst>
              <a:ext uri="{FF2B5EF4-FFF2-40B4-BE49-F238E27FC236}">
                <a16:creationId xmlns:a16="http://schemas.microsoft.com/office/drawing/2014/main" id="{89A1163D-3613-9131-B089-8216B6B920B5}"/>
              </a:ext>
            </a:extLst>
          </p:cNvPr>
          <p:cNvCxnSpPr>
            <a:cxnSpLocks noChangeShapeType="1"/>
            <a:stCxn id="80937" idx="3"/>
            <a:endCxn id="80980" idx="1"/>
          </p:cNvCxnSpPr>
          <p:nvPr/>
        </p:nvCxnSpPr>
        <p:spPr bwMode="auto">
          <a:xfrm>
            <a:off x="3684588" y="5395913"/>
            <a:ext cx="215900" cy="52387"/>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0" name="AutoShape 78">
            <a:extLst>
              <a:ext uri="{FF2B5EF4-FFF2-40B4-BE49-F238E27FC236}">
                <a16:creationId xmlns:a16="http://schemas.microsoft.com/office/drawing/2014/main" id="{2E3F115A-5E0E-7EE5-EFBF-97234DCE5EE0}"/>
              </a:ext>
            </a:extLst>
          </p:cNvPr>
          <p:cNvCxnSpPr>
            <a:cxnSpLocks noChangeShapeType="1"/>
            <a:stCxn id="80938" idx="3"/>
            <a:endCxn id="80978" idx="1"/>
          </p:cNvCxnSpPr>
          <p:nvPr/>
        </p:nvCxnSpPr>
        <p:spPr bwMode="auto">
          <a:xfrm flipV="1">
            <a:off x="3684588" y="5675313"/>
            <a:ext cx="215900" cy="2540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1" name="AutoShape 79">
            <a:extLst>
              <a:ext uri="{FF2B5EF4-FFF2-40B4-BE49-F238E27FC236}">
                <a16:creationId xmlns:a16="http://schemas.microsoft.com/office/drawing/2014/main" id="{2A164B6F-8EFE-C7A1-E179-2A821FC2A8B4}"/>
              </a:ext>
            </a:extLst>
          </p:cNvPr>
          <p:cNvCxnSpPr>
            <a:cxnSpLocks noChangeShapeType="1"/>
            <a:stCxn id="80905" idx="3"/>
            <a:endCxn id="80976" idx="1"/>
          </p:cNvCxnSpPr>
          <p:nvPr/>
        </p:nvCxnSpPr>
        <p:spPr bwMode="auto">
          <a:xfrm flipV="1">
            <a:off x="2001838" y="5903913"/>
            <a:ext cx="1898650" cy="347662"/>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2" name="AutoShape 80">
            <a:extLst>
              <a:ext uri="{FF2B5EF4-FFF2-40B4-BE49-F238E27FC236}">
                <a16:creationId xmlns:a16="http://schemas.microsoft.com/office/drawing/2014/main" id="{A825BB93-E419-66AA-325F-EC892AFB62C7}"/>
              </a:ext>
            </a:extLst>
          </p:cNvPr>
          <p:cNvCxnSpPr>
            <a:cxnSpLocks noChangeShapeType="1"/>
            <a:stCxn id="80905" idx="3"/>
            <a:endCxn id="80974" idx="1"/>
          </p:cNvCxnSpPr>
          <p:nvPr/>
        </p:nvCxnSpPr>
        <p:spPr bwMode="auto">
          <a:xfrm flipV="1">
            <a:off x="2001838" y="6135688"/>
            <a:ext cx="1898650" cy="115887"/>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3" name="AutoShape 81">
            <a:extLst>
              <a:ext uri="{FF2B5EF4-FFF2-40B4-BE49-F238E27FC236}">
                <a16:creationId xmlns:a16="http://schemas.microsoft.com/office/drawing/2014/main" id="{13097293-8E40-F4FC-D29E-07FF71346C56}"/>
              </a:ext>
            </a:extLst>
          </p:cNvPr>
          <p:cNvCxnSpPr>
            <a:cxnSpLocks noChangeShapeType="1"/>
            <a:stCxn id="80905" idx="3"/>
            <a:endCxn id="80972" idx="1"/>
          </p:cNvCxnSpPr>
          <p:nvPr/>
        </p:nvCxnSpPr>
        <p:spPr bwMode="auto">
          <a:xfrm>
            <a:off x="2001838" y="6251575"/>
            <a:ext cx="1898650" cy="11430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54" name="AutoShape 82">
            <a:extLst>
              <a:ext uri="{FF2B5EF4-FFF2-40B4-BE49-F238E27FC236}">
                <a16:creationId xmlns:a16="http://schemas.microsoft.com/office/drawing/2014/main" id="{73060DDC-4470-054A-AC69-B8266481AC25}"/>
              </a:ext>
            </a:extLst>
          </p:cNvPr>
          <p:cNvCxnSpPr>
            <a:cxnSpLocks noChangeShapeType="1"/>
            <a:stCxn id="80905" idx="3"/>
            <a:endCxn id="80970" idx="1"/>
          </p:cNvCxnSpPr>
          <p:nvPr/>
        </p:nvCxnSpPr>
        <p:spPr bwMode="auto">
          <a:xfrm>
            <a:off x="2001838" y="6251575"/>
            <a:ext cx="1898650" cy="344488"/>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0955" name="Group 83">
            <a:extLst>
              <a:ext uri="{FF2B5EF4-FFF2-40B4-BE49-F238E27FC236}">
                <a16:creationId xmlns:a16="http://schemas.microsoft.com/office/drawing/2014/main" id="{84A25051-4F3E-BF0B-B1E0-9ED9CD20542B}"/>
              </a:ext>
            </a:extLst>
          </p:cNvPr>
          <p:cNvGrpSpPr/>
          <p:nvPr/>
        </p:nvGrpSpPr>
        <p:grpSpPr>
          <a:xfrm>
            <a:off x="3900488" y="5819775"/>
            <a:ext cx="5840412" cy="168275"/>
            <a:chOff x="2457" y="3637"/>
            <a:chExt cx="3679" cy="106"/>
          </a:xfrm>
        </p:grpSpPr>
        <p:sp>
          <p:nvSpPr>
            <p:cNvPr id="80976" name="Rectangle 84">
              <a:extLst>
                <a:ext uri="{FF2B5EF4-FFF2-40B4-BE49-F238E27FC236}">
                  <a16:creationId xmlns:a16="http://schemas.microsoft.com/office/drawing/2014/main" id="{27FC2E22-B7DE-CB48-18E9-2C226E091AFA}"/>
                </a:ext>
              </a:extLst>
            </p:cNvPr>
            <p:cNvSpPr>
              <a:spLocks noChangeArrowheads="1"/>
            </p:cNvSpPr>
            <p:nvPr/>
          </p:nvSpPr>
          <p:spPr bwMode="auto">
            <a:xfrm>
              <a:off x="2457" y="3637"/>
              <a:ext cx="1072" cy="106"/>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FIFO priorisation</a:t>
              </a:r>
            </a:p>
          </p:txBody>
        </p:sp>
        <p:sp>
          <p:nvSpPr>
            <p:cNvPr id="80977" name="Text Box 85">
              <a:extLst>
                <a:ext uri="{FF2B5EF4-FFF2-40B4-BE49-F238E27FC236}">
                  <a16:creationId xmlns:a16="http://schemas.microsoft.com/office/drawing/2014/main" id="{1681382F-0514-C0D8-1C87-B3FBB8D8AB3B}"/>
                </a:ext>
              </a:extLst>
            </p:cNvPr>
            <p:cNvSpPr txBox="1">
              <a:spLocks noChangeArrowheads="1"/>
            </p:cNvSpPr>
            <p:nvPr/>
          </p:nvSpPr>
          <p:spPr bwMode="auto">
            <a:xfrm>
              <a:off x="3581" y="3637"/>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Adapt when target is to treat 100% of standard flows</a:t>
              </a:r>
            </a:p>
          </p:txBody>
        </p:sp>
      </p:grpSp>
      <p:grpSp>
        <p:nvGrpSpPr>
          <p:cNvPr id="80956" name="Group 86">
            <a:extLst>
              <a:ext uri="{FF2B5EF4-FFF2-40B4-BE49-F238E27FC236}">
                <a16:creationId xmlns:a16="http://schemas.microsoft.com/office/drawing/2014/main" id="{260046DE-1AFC-CDE0-9FBF-DDBF1C6E00D2}"/>
              </a:ext>
            </a:extLst>
          </p:cNvPr>
          <p:cNvGrpSpPr/>
          <p:nvPr/>
        </p:nvGrpSpPr>
        <p:grpSpPr>
          <a:xfrm>
            <a:off x="3900488" y="6051550"/>
            <a:ext cx="5840412" cy="168275"/>
            <a:chOff x="2457" y="3800"/>
            <a:chExt cx="3679" cy="106"/>
          </a:xfrm>
        </p:grpSpPr>
        <p:sp>
          <p:nvSpPr>
            <p:cNvPr id="80974" name="Rectangle 87">
              <a:extLst>
                <a:ext uri="{FF2B5EF4-FFF2-40B4-BE49-F238E27FC236}">
                  <a16:creationId xmlns:a16="http://schemas.microsoft.com/office/drawing/2014/main" id="{49255CD4-662D-561D-1FDA-E448FF710C1B}"/>
                </a:ext>
              </a:extLst>
            </p:cNvPr>
            <p:cNvSpPr>
              <a:spLocks noChangeArrowheads="1"/>
            </p:cNvSpPr>
            <p:nvPr/>
          </p:nvSpPr>
          <p:spPr bwMode="auto">
            <a:xfrm>
              <a:off x="2457" y="3800"/>
              <a:ext cx="1072" cy="106"/>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LIFO priorisation</a:t>
              </a:r>
            </a:p>
          </p:txBody>
        </p:sp>
        <p:sp>
          <p:nvSpPr>
            <p:cNvPr id="80975" name="Text Box 88">
              <a:extLst>
                <a:ext uri="{FF2B5EF4-FFF2-40B4-BE49-F238E27FC236}">
                  <a16:creationId xmlns:a16="http://schemas.microsoft.com/office/drawing/2014/main" id="{DF87529D-DAB0-5811-76CF-4102913E4B19}"/>
                </a:ext>
              </a:extLst>
            </p:cNvPr>
            <p:cNvSpPr txBox="1">
              <a:spLocks noChangeArrowheads="1"/>
            </p:cNvSpPr>
            <p:nvPr/>
          </p:nvSpPr>
          <p:spPr bwMode="auto">
            <a:xfrm>
              <a:off x="3581" y="3800"/>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Minimize average time of answer for a given production capacity</a:t>
              </a:r>
            </a:p>
          </p:txBody>
        </p:sp>
      </p:grpSp>
      <p:grpSp>
        <p:nvGrpSpPr>
          <p:cNvPr id="80957" name="Group 89">
            <a:extLst>
              <a:ext uri="{FF2B5EF4-FFF2-40B4-BE49-F238E27FC236}">
                <a16:creationId xmlns:a16="http://schemas.microsoft.com/office/drawing/2014/main" id="{EAC22EF3-83AD-32D3-AC1E-E3632FFB3A16}"/>
              </a:ext>
            </a:extLst>
          </p:cNvPr>
          <p:cNvGrpSpPr/>
          <p:nvPr/>
        </p:nvGrpSpPr>
        <p:grpSpPr>
          <a:xfrm>
            <a:off x="3900488" y="6281738"/>
            <a:ext cx="5840412" cy="166687"/>
            <a:chOff x="2457" y="3964"/>
            <a:chExt cx="3679" cy="105"/>
          </a:xfrm>
        </p:grpSpPr>
        <p:sp>
          <p:nvSpPr>
            <p:cNvPr id="80972" name="Rectangle 90">
              <a:extLst>
                <a:ext uri="{FF2B5EF4-FFF2-40B4-BE49-F238E27FC236}">
                  <a16:creationId xmlns:a16="http://schemas.microsoft.com/office/drawing/2014/main" id="{A4432BCF-2C17-69B5-FB13-FDA4EAAD90EA}"/>
                </a:ext>
              </a:extLst>
            </p:cNvPr>
            <p:cNvSpPr>
              <a:spLocks noChangeArrowheads="1"/>
            </p:cNvSpPr>
            <p:nvPr/>
          </p:nvSpPr>
          <p:spPr bwMode="auto">
            <a:xfrm>
              <a:off x="2457" y="3964"/>
              <a:ext cx="1072" cy="10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Prioritize short ADT files</a:t>
              </a:r>
            </a:p>
          </p:txBody>
        </p:sp>
        <p:sp>
          <p:nvSpPr>
            <p:cNvPr id="80973" name="Text Box 91">
              <a:extLst>
                <a:ext uri="{FF2B5EF4-FFF2-40B4-BE49-F238E27FC236}">
                  <a16:creationId xmlns:a16="http://schemas.microsoft.com/office/drawing/2014/main" id="{E020A2BA-2367-3CEC-6DF8-72B64F4A8E7D}"/>
                </a:ext>
              </a:extLst>
            </p:cNvPr>
            <p:cNvSpPr txBox="1">
              <a:spLocks noChangeArrowheads="1"/>
            </p:cNvSpPr>
            <p:nvPr/>
          </p:nvSpPr>
          <p:spPr bwMode="auto">
            <a:xfrm>
              <a:off x="3581" y="3964"/>
              <a:ext cx="2555" cy="104"/>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Maximize the number of treated files for a given production capacity</a:t>
              </a:r>
            </a:p>
          </p:txBody>
        </p:sp>
      </p:grpSp>
      <p:grpSp>
        <p:nvGrpSpPr>
          <p:cNvPr id="80958" name="Group 92">
            <a:extLst>
              <a:ext uri="{FF2B5EF4-FFF2-40B4-BE49-F238E27FC236}">
                <a16:creationId xmlns:a16="http://schemas.microsoft.com/office/drawing/2014/main" id="{AF6E90E6-1027-16BF-1D55-3C9316CA358F}"/>
              </a:ext>
            </a:extLst>
          </p:cNvPr>
          <p:cNvGrpSpPr/>
          <p:nvPr/>
        </p:nvGrpSpPr>
        <p:grpSpPr>
          <a:xfrm>
            <a:off x="3900488" y="6511925"/>
            <a:ext cx="5840412" cy="168275"/>
            <a:chOff x="2457" y="4127"/>
            <a:chExt cx="3679" cy="106"/>
          </a:xfrm>
        </p:grpSpPr>
        <p:sp>
          <p:nvSpPr>
            <p:cNvPr id="80970" name="Rectangle 93">
              <a:extLst>
                <a:ext uri="{FF2B5EF4-FFF2-40B4-BE49-F238E27FC236}">
                  <a16:creationId xmlns:a16="http://schemas.microsoft.com/office/drawing/2014/main" id="{0E5E8BDA-F9D5-8354-B0AF-CEA1C4980636}"/>
                </a:ext>
              </a:extLst>
            </p:cNvPr>
            <p:cNvSpPr>
              <a:spLocks noChangeArrowheads="1"/>
            </p:cNvSpPr>
            <p:nvPr/>
          </p:nvSpPr>
          <p:spPr bwMode="auto">
            <a:xfrm>
              <a:off x="2457" y="4127"/>
              <a:ext cx="1072" cy="106"/>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Prioritize by client impact</a:t>
              </a:r>
            </a:p>
          </p:txBody>
        </p:sp>
        <p:sp>
          <p:nvSpPr>
            <p:cNvPr id="80971" name="Text Box 94">
              <a:extLst>
                <a:ext uri="{FF2B5EF4-FFF2-40B4-BE49-F238E27FC236}">
                  <a16:creationId xmlns:a16="http://schemas.microsoft.com/office/drawing/2014/main" id="{F1EA5CC7-2B93-BD3A-ACF6-32B4E68DBF41}"/>
                </a:ext>
              </a:extLst>
            </p:cNvPr>
            <p:cNvSpPr txBox="1">
              <a:spLocks noChangeArrowheads="1"/>
            </p:cNvSpPr>
            <p:nvPr/>
          </p:nvSpPr>
          <p:spPr bwMode="auto">
            <a:xfrm>
              <a:off x="3581" y="4127"/>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Maximize satisfaction of high value clients</a:t>
              </a:r>
            </a:p>
          </p:txBody>
        </p:sp>
      </p:grpSp>
      <p:cxnSp>
        <p:nvCxnSpPr>
          <p:cNvPr id="80959" name="AutoShape 95">
            <a:extLst>
              <a:ext uri="{FF2B5EF4-FFF2-40B4-BE49-F238E27FC236}">
                <a16:creationId xmlns:a16="http://schemas.microsoft.com/office/drawing/2014/main" id="{1DE2265D-E3AE-A146-5A97-5A843460A291}"/>
              </a:ext>
            </a:extLst>
          </p:cNvPr>
          <p:cNvCxnSpPr>
            <a:cxnSpLocks noChangeShapeType="1"/>
            <a:stCxn id="80998" idx="3"/>
            <a:endCxn id="80933" idx="1"/>
          </p:cNvCxnSpPr>
          <p:nvPr/>
        </p:nvCxnSpPr>
        <p:spPr bwMode="auto">
          <a:xfrm flipV="1">
            <a:off x="3684588" y="2217738"/>
            <a:ext cx="215900" cy="327025"/>
          </a:xfrm>
          <a:prstGeom prst="bentConnector3">
            <a:avLst>
              <a:gd name="adj1" fmla="val 50000"/>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960" name="Line 96">
            <a:extLst>
              <a:ext uri="{FF2B5EF4-FFF2-40B4-BE49-F238E27FC236}">
                <a16:creationId xmlns:a16="http://schemas.microsoft.com/office/drawing/2014/main" id="{FD82974A-12B3-499B-FAA0-CB392F808D01}"/>
              </a:ext>
            </a:extLst>
          </p:cNvPr>
          <p:cNvSpPr>
            <a:spLocks noChangeShapeType="1"/>
          </p:cNvSpPr>
          <p:nvPr/>
        </p:nvSpPr>
        <p:spPr bwMode="auto">
          <a:xfrm flipH="1">
            <a:off x="4073525" y="4935538"/>
            <a:ext cx="0" cy="200025"/>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ko-KR" altLang="en-US"/>
          </a:p>
        </p:txBody>
      </p:sp>
      <p:sp>
        <p:nvSpPr>
          <p:cNvPr id="80961" name="Text Box 97">
            <a:extLst>
              <a:ext uri="{FF2B5EF4-FFF2-40B4-BE49-F238E27FC236}">
                <a16:creationId xmlns:a16="http://schemas.microsoft.com/office/drawing/2014/main" id="{006B85B4-AD4E-5A7D-A75D-C8E11FDDC3FE}"/>
              </a:ext>
            </a:extLst>
          </p:cNvPr>
          <p:cNvSpPr txBox="1">
            <a:spLocks noChangeArrowheads="1"/>
          </p:cNvSpPr>
          <p:nvPr/>
        </p:nvSpPr>
        <p:spPr bwMode="auto">
          <a:xfrm>
            <a:off x="4137025" y="4960938"/>
            <a:ext cx="1349375" cy="15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000" b="0">
                <a:ea typeface="굴림" panose="020b0600000101010101" pitchFamily="34" charset="-127"/>
              </a:rPr>
              <a:t>Specialization trade off</a:t>
            </a:r>
          </a:p>
        </p:txBody>
      </p:sp>
      <p:grpSp>
        <p:nvGrpSpPr>
          <p:cNvPr id="80962" name="Group 98">
            <a:extLst>
              <a:ext uri="{FF2B5EF4-FFF2-40B4-BE49-F238E27FC236}">
                <a16:creationId xmlns:a16="http://schemas.microsoft.com/office/drawing/2014/main" id="{0E2FECD7-7B28-6999-1DD5-C23AC3F03377}"/>
              </a:ext>
            </a:extLst>
          </p:cNvPr>
          <p:cNvGrpSpPr/>
          <p:nvPr/>
        </p:nvGrpSpPr>
        <p:grpSpPr>
          <a:xfrm>
            <a:off x="3900488" y="1665288"/>
            <a:ext cx="5840412" cy="168275"/>
            <a:chOff x="2457" y="4127"/>
            <a:chExt cx="3679" cy="106"/>
          </a:xfrm>
        </p:grpSpPr>
        <p:sp>
          <p:nvSpPr>
            <p:cNvPr id="80968" name="Rectangle 99">
              <a:extLst>
                <a:ext uri="{FF2B5EF4-FFF2-40B4-BE49-F238E27FC236}">
                  <a16:creationId xmlns:a16="http://schemas.microsoft.com/office/drawing/2014/main" id="{A82B1C5E-42EA-191F-E479-C265523BE80A}"/>
                </a:ext>
              </a:extLst>
            </p:cNvPr>
            <p:cNvSpPr>
              <a:spLocks noChangeArrowheads="1"/>
            </p:cNvSpPr>
            <p:nvPr/>
          </p:nvSpPr>
          <p:spPr bwMode="auto">
            <a:xfrm>
              <a:off x="2457" y="4127"/>
              <a:ext cx="1072" cy="106"/>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Self-care</a:t>
              </a:r>
            </a:p>
          </p:txBody>
        </p:sp>
        <p:sp>
          <p:nvSpPr>
            <p:cNvPr id="80969" name="Text Box 100">
              <a:extLst>
                <a:ext uri="{FF2B5EF4-FFF2-40B4-BE49-F238E27FC236}">
                  <a16:creationId xmlns:a16="http://schemas.microsoft.com/office/drawing/2014/main" id="{69E17807-D183-3B11-83BB-1A2D11AE7F9B}"/>
                </a:ext>
              </a:extLst>
            </p:cNvPr>
            <p:cNvSpPr txBox="1">
              <a:spLocks noChangeArrowheads="1"/>
            </p:cNvSpPr>
            <p:nvPr/>
          </p:nvSpPr>
          <p:spPr bwMode="auto">
            <a:xfrm>
              <a:off x="3581" y="4127"/>
              <a:ext cx="2555" cy="103"/>
            </a:xfrm>
            <a:prstGeom prst="rect">
              <a:avLst/>
            </a:prstGeom>
            <a:solidFill>
              <a:srgbClr val="EAEAEA"/>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18000" rIns="36000" bIns="18000">
              <a:spAutoFit/>
            </a:bodyPr>
            <a:lstStyle>
              <a:lvl1pPr marL="87313" indent="-873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FontTx/>
                <a:buChar char="•"/>
              </a:pPr>
              <a:r>
                <a:rPr lang="en-US" altLang="ko-KR" sz="1000" b="0">
                  <a:ea typeface="굴림" panose="020b0600000101010101" pitchFamily="34" charset="-127"/>
                </a:rPr>
                <a:t>Can we provide tools to client do it by himself ?</a:t>
              </a:r>
            </a:p>
          </p:txBody>
        </p:sp>
      </p:grpSp>
      <p:sp>
        <p:nvSpPr>
          <p:cNvPr id="80963" name="Rectangle 101">
            <a:extLst>
              <a:ext uri="{FF2B5EF4-FFF2-40B4-BE49-F238E27FC236}">
                <a16:creationId xmlns:a16="http://schemas.microsoft.com/office/drawing/2014/main" id="{5FE37058-BBCA-EC66-E9AC-1F2726AB81D0}"/>
              </a:ext>
            </a:extLst>
          </p:cNvPr>
          <p:cNvSpPr>
            <a:spLocks noChangeArrowheads="1"/>
          </p:cNvSpPr>
          <p:nvPr/>
        </p:nvSpPr>
        <p:spPr bwMode="auto">
          <a:xfrm>
            <a:off x="3900488" y="1912938"/>
            <a:ext cx="1701800" cy="16827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b="0">
                <a:ea typeface="굴림" panose="020b0600000101010101" pitchFamily="34" charset="-127"/>
              </a:rPr>
              <a:t>Calibrate the client demand</a:t>
            </a:r>
          </a:p>
        </p:txBody>
      </p:sp>
      <p:sp>
        <p:nvSpPr>
          <p:cNvPr id="80964" name="Rectangle 102">
            <a:extLst>
              <a:ext uri="{FF2B5EF4-FFF2-40B4-BE49-F238E27FC236}">
                <a16:creationId xmlns:a16="http://schemas.microsoft.com/office/drawing/2014/main" id="{565FEF79-B4FF-142C-1A55-E5C83CB31FDB}"/>
              </a:ext>
            </a:extLst>
          </p:cNvPr>
          <p:cNvSpPr>
            <a:spLocks noChangeArrowheads="1"/>
          </p:cNvSpPr>
          <p:nvPr/>
        </p:nvSpPr>
        <p:spPr bwMode="auto">
          <a:xfrm>
            <a:off x="1016000" y="1706563"/>
            <a:ext cx="985838" cy="333375"/>
          </a:xfrm>
          <a:prstGeom prst="rect">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rIns="36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US" altLang="ko-KR" sz="900">
                <a:ea typeface="굴림" panose="020b0600000101010101" pitchFamily="34" charset="-127"/>
              </a:rPr>
              <a:t>Value chain collaboration</a:t>
            </a:r>
          </a:p>
        </p:txBody>
      </p:sp>
      <p:cxnSp>
        <p:nvCxnSpPr>
          <p:cNvPr id="80965" name="AutoShape 103">
            <a:extLst>
              <a:ext uri="{FF2B5EF4-FFF2-40B4-BE49-F238E27FC236}">
                <a16:creationId xmlns:a16="http://schemas.microsoft.com/office/drawing/2014/main" id="{B0B737E1-18E3-2D0E-FBCB-D21FC23B071A}"/>
              </a:ext>
            </a:extLst>
          </p:cNvPr>
          <p:cNvCxnSpPr>
            <a:cxnSpLocks noChangeShapeType="1"/>
            <a:stCxn id="80964" idx="3"/>
            <a:endCxn id="80968" idx="1"/>
          </p:cNvCxnSpPr>
          <p:nvPr/>
        </p:nvCxnSpPr>
        <p:spPr bwMode="auto">
          <a:xfrm flipV="1">
            <a:off x="2001838" y="1749425"/>
            <a:ext cx="1898650" cy="123825"/>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66" name="AutoShape 104">
            <a:extLst>
              <a:ext uri="{FF2B5EF4-FFF2-40B4-BE49-F238E27FC236}">
                <a16:creationId xmlns:a16="http://schemas.microsoft.com/office/drawing/2014/main" id="{28D42471-B7FC-CE12-D1DC-52FF4195C8CC}"/>
              </a:ext>
            </a:extLst>
          </p:cNvPr>
          <p:cNvCxnSpPr>
            <a:cxnSpLocks noChangeShapeType="1"/>
            <a:stCxn id="80964" idx="3"/>
            <a:endCxn id="80963" idx="1"/>
          </p:cNvCxnSpPr>
          <p:nvPr/>
        </p:nvCxnSpPr>
        <p:spPr bwMode="auto">
          <a:xfrm>
            <a:off x="2001838" y="1873250"/>
            <a:ext cx="1898650" cy="123825"/>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67" name="AutoShape 105">
            <a:extLst>
              <a:ext uri="{FF2B5EF4-FFF2-40B4-BE49-F238E27FC236}">
                <a16:creationId xmlns:a16="http://schemas.microsoft.com/office/drawing/2014/main" id="{C034AED1-C2DD-E749-1EB5-3D98E4B8F571}"/>
              </a:ext>
            </a:extLst>
          </p:cNvPr>
          <p:cNvCxnSpPr>
            <a:cxnSpLocks noChangeShapeType="1"/>
            <a:stCxn id="80902" idx="3"/>
            <a:endCxn id="80964" idx="1"/>
          </p:cNvCxnSpPr>
          <p:nvPr/>
        </p:nvCxnSpPr>
        <p:spPr bwMode="auto">
          <a:xfrm flipV="1">
            <a:off x="809625" y="1873250"/>
            <a:ext cx="206375" cy="2305050"/>
          </a:xfrm>
          <a:prstGeom prst="bentConnector3">
            <a:avLst>
              <a:gd name="adj1" fmla="val 49231"/>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82945" name="Rectangle 2">
            <a:extLst>
              <a:ext uri="{FF2B5EF4-FFF2-40B4-BE49-F238E27FC236}">
                <a16:creationId xmlns:a16="http://schemas.microsoft.com/office/drawing/2014/main" id="{AE226693-D4C6-6F31-CD20-633C11171857}"/>
              </a:ext>
            </a:extLst>
          </p:cNvPr>
          <p:cNvSpPr>
            <a:spLocks noGrp="1" noChangeArrowheads="1"/>
          </p:cNvSpPr>
          <p:nvPr>
            <p:ph type="title"/>
          </p:nvPr>
        </p:nvSpPr>
        <p:spPr>
          <a:xfrm>
            <a:off x="266700" y="596900"/>
            <a:ext cx="9366250" cy="549275"/>
          </a:xfrm>
        </p:spPr>
        <p:txBody>
          <a:bodyPr/>
          <a:lstStyle/>
          <a:p>
            <a:r>
              <a:rPr lang="en-US" altLang="ko-KR" sz="2600">
                <a:ea typeface="굴림" panose="020b0600000101010101" pitchFamily="34" charset="-127"/>
              </a:rPr>
              <a:t>Each motivation lever should contribute to the entire motivation loop but presents individual characteristics</a:t>
            </a:r>
          </a:p>
        </p:txBody>
      </p:sp>
      <p:graphicFrame>
        <p:nvGraphicFramePr>
          <p:cNvPr id="1743875" name="Group 3">
            <a:extLst>
              <a:ext uri="{FF2B5EF4-FFF2-40B4-BE49-F238E27FC236}">
                <a16:creationId xmlns:a16="http://schemas.microsoft.com/office/drawing/2014/main" id="{BA48B3CA-AF43-6295-48BE-324FE918027A}"/>
              </a:ext>
            </a:extLst>
          </p:cNvPr>
          <p:cNvGraphicFramePr>
            <a:graphicFrameLocks noGrp="1"/>
          </p:cNvGraphicFramePr>
          <p:nvPr/>
        </p:nvGraphicFramePr>
        <p:xfrm>
          <a:off x="290513" y="2603500"/>
          <a:ext cx="9294812" cy="4668841"/>
        </p:xfrm>
        <a:graphic>
          <a:graphicData uri="http://schemas.openxmlformats.org/drawingml/2006/table">
            <a:tbl>
              <a:tblPr/>
              <a:tblGrid>
                <a:gridCol w="1166812">
                  <a:extLst>
                    <a:ext uri="{9D8B030D-6E8A-4147-A177-3AD203B41FA5}">
                      <a16:colId xmlns:a16="http://schemas.microsoft.com/office/drawing/2014/main" val="20000"/>
                    </a:ext>
                  </a:extLst>
                </a:gridCol>
                <a:gridCol w="4003675">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452563">
                  <a:extLst>
                    <a:ext uri="{9D8B030D-6E8A-4147-A177-3AD203B41FA5}">
                      <a16:colId xmlns:a16="http://schemas.microsoft.com/office/drawing/2014/main" val="20003"/>
                    </a:ext>
                  </a:extLst>
                </a:gridCol>
                <a:gridCol w="1452562">
                  <a:extLst>
                    <a:ext uri="{9D8B030D-6E8A-4147-A177-3AD203B41FA5}">
                      <a16:colId xmlns:a16="http://schemas.microsoft.com/office/drawing/2014/main" val="20004"/>
                    </a:ext>
                  </a:extLst>
                </a:gridCol>
              </a:tblGrid>
              <a:tr h="300052">
                <a:tc rowSpan="2">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bg1"/>
                          </a:solidFill>
                          <a:effectLst/>
                          <a:latin typeface="Arial" panose="020b0604020202020204" pitchFamily="34" charset="0"/>
                          <a:ea typeface="굴림" panose="020b0600000101010101" pitchFamily="50" charset="-127"/>
                          <a:cs typeface="Arial" panose="020b0604020202020204" pitchFamily="34" charset="0"/>
                        </a:rPr>
                        <a:t>Process loop</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rowSpan="2">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bg1"/>
                          </a:solidFill>
                          <a:effectLst/>
                          <a:latin typeface="Arial" panose="020b0604020202020204" pitchFamily="34" charset="0"/>
                          <a:ea typeface="굴림" panose="020b0600000101010101" pitchFamily="50" charset="-127"/>
                          <a:cs typeface="Arial" panose="020b0604020202020204" pitchFamily="34" charset="0"/>
                        </a:rPr>
                        <a:t>Motivation tools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gridSpan="3">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bg1"/>
                          </a:solidFill>
                          <a:effectLst/>
                          <a:latin typeface="Arial" panose="020b0604020202020204" pitchFamily="34" charset="0"/>
                          <a:ea typeface="굴림" panose="020b0600000101010101" pitchFamily="50" charset="-127"/>
                          <a:cs typeface="Arial" panose="020b0604020202020204" pitchFamily="34" charset="0"/>
                        </a:rPr>
                        <a:t>Impacted areas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hMerge="1">
                  <a:txBody>
                    <a:bodyPr vert="horz" wrap="square"/>
                    <a:lstStyle/>
                    <a:p>
                      <a:pPr latinLnBrk="1"/>
                      <a:endParaRPr lang="ko-KR" altLang="en-US"/>
                    </a:p>
                  </a:txBody>
                  <a:tcPr/>
                </a:tc>
                <a:tc hMerge="1">
                  <a:txBody>
                    <a:bodyPr vert="horz" wrap="square"/>
                    <a:lstStyle/>
                    <a:p>
                      <a:pPr latinLnBrk="1"/>
                      <a:endParaRPr lang="ko-KR" altLang="en-US"/>
                    </a:p>
                  </a:txBody>
                  <a:tcPr/>
                </a:tc>
                <a:extLst>
                  <a:ext uri="{0D108BD9-81ED-4DB2-BD59-A6C34878D82A}">
                    <a16:rowId xmlns:a16="http://schemas.microsoft.com/office/drawing/2014/main" val="10000"/>
                  </a:ext>
                </a:extLst>
              </a:tr>
              <a:tr h="492093">
                <a:tc vMerge="1">
                  <a:txBody>
                    <a:bodyPr vert="horz" wrap="square"/>
                    <a:lstStyle/>
                    <a:p>
                      <a:pPr latinLnBrk="1"/>
                      <a:endParaRPr lang="ko-KR" altLang="en-US"/>
                    </a:p>
                  </a:txBody>
                  <a:tcPr/>
                </a:tc>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Absence/delay</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Breaks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ADT</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00052">
                <a:tc rowSpan="3">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Communicate</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Suppress automatic withdraw (call center issue)</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2"/>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Communicate KPI targets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3"/>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Team briefing</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4"/>
                  </a:ext>
                </a:extLst>
              </a:tr>
              <a:tr h="300052">
                <a:tc rowSpan="2">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Monitor performance</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Individual dash board</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5"/>
                  </a:ext>
                </a:extLst>
              </a:tr>
              <a:tr h="384083">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Team performance display</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6"/>
                  </a:ext>
                </a:extLst>
              </a:tr>
              <a:tr h="492093">
                <a:tc rowSpan="3">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Develop skills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Monthly individual interview with manager + Skills matrix</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7"/>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Real-time monitoring (call center)</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8"/>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Observe process respect</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09"/>
                  </a:ext>
                </a:extLst>
              </a:tr>
              <a:tr h="300052">
                <a:tc rowSpan="4">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Reward / sanction</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hlink"/>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Variable part of wages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10"/>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5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Commercial or productivity challenge</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5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5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5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11"/>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Organize team events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12"/>
                  </a:ext>
                </a:extLst>
              </a:tr>
              <a:tr h="300052">
                <a:tc vMerge="1">
                  <a:txBody>
                    <a:bodyPr vert="horz" wrap="square"/>
                    <a:lstStyle/>
                    <a:p>
                      <a:pPr latinLnBrk="1"/>
                      <a:endParaRPr lang="ko-KR" altLang="en-US"/>
                    </a:p>
                  </a:txBody>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Sanction abuses</a:t>
                      </a: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384175"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549275"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479550"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9367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3939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8511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308350"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l" defTabSz="914400" rtl="0" eaLnBrk="0" fontAlgn="base" latinLnBrk="0" hangingPunct="0">
                        <a:lnSpc>
                          <a:spcPct val="90000"/>
                        </a:lnSpc>
                        <a:spcBef>
                          <a:spcPct val="90000"/>
                        </a:spcBef>
                        <a:spcAft>
                          <a:spcPct val="0"/>
                        </a:spcAft>
                        <a:buClr>
                          <a:schemeClr val="bg2"/>
                        </a:buClr>
                        <a:buSzTx/>
                        <a:buFont typeface="Wingdings" pitchFamily="2" charset="2"/>
                        <a:buNone/>
                      </a:pPr>
                      <a:endParaRPr kumimoji="0" lang="ko-KR" altLang="en-US" sz="14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72000" marR="72000" marT="54005" marB="54005"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0F0F0"/>
                    </a:solidFill>
                  </a:tcPr>
                </a:tc>
                <a:extLst>
                  <a:ext uri="{0D108BD9-81ED-4DB2-BD59-A6C34878D82A}">
                    <a16:rowId xmlns:a16="http://schemas.microsoft.com/office/drawing/2014/main" val="10013"/>
                  </a:ext>
                </a:extLst>
              </a:tr>
            </a:tbl>
          </a:graphicData>
        </a:graphic>
      </p:graphicFrame>
      <p:sp>
        <p:nvSpPr>
          <p:cNvPr id="83026" name="Oval 83">
            <a:extLst>
              <a:ext uri="{FF2B5EF4-FFF2-40B4-BE49-F238E27FC236}">
                <a16:creationId xmlns:a16="http://schemas.microsoft.com/office/drawing/2014/main" id="{F8717EA2-06FF-7798-5ED9-A4E45206011E}"/>
              </a:ext>
            </a:extLst>
          </p:cNvPr>
          <p:cNvSpPr>
            <a:spLocks noChangeArrowheads="1"/>
          </p:cNvSpPr>
          <p:nvPr/>
        </p:nvSpPr>
        <p:spPr bwMode="auto">
          <a:xfrm flipH="1">
            <a:off x="347663" y="6557963"/>
            <a:ext cx="120650" cy="120650"/>
          </a:xfrm>
          <a:prstGeom prst="ellipse">
            <a:avLst/>
          </a:prstGeom>
          <a:solidFill>
            <a:schemeClr val="bg2"/>
          </a:solid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dist="17961" dir="13500000" algn="ctr" rotWithShape="0">
                    <a:schemeClr val="bg2"/>
                  </a:outerShdw>
                </a:effectLst>
              </a14:hiddenEffects>
            </a:ext>
          </a:extLst>
        </p:spPr>
        <p:txBody>
          <a:bodyPr lIns="45720" tIns="91440" rIns="45720" bIns="9144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endParaRPr lang="pt-BR" altLang="ko-KR" sz="1000">
              <a:ea typeface="가는각진제목체" panose="02030600000101010101" pitchFamily="18" charset="-127"/>
            </a:endParaRPr>
          </a:p>
        </p:txBody>
      </p:sp>
      <p:grpSp>
        <p:nvGrpSpPr>
          <p:cNvPr id="83027" name="Group 84">
            <a:extLst>
              <a:ext uri="{FF2B5EF4-FFF2-40B4-BE49-F238E27FC236}">
                <a16:creationId xmlns:a16="http://schemas.microsoft.com/office/drawing/2014/main" id="{0878EF20-7EA3-7ABB-8427-50053BD40CEA}"/>
              </a:ext>
            </a:extLst>
          </p:cNvPr>
          <p:cNvGrpSpPr/>
          <p:nvPr/>
        </p:nvGrpSpPr>
        <p:grpSpPr>
          <a:xfrm>
            <a:off x="1762125" y="6557963"/>
            <a:ext cx="120650" cy="120650"/>
            <a:chOff x="559" y="1603"/>
            <a:chExt cx="98" cy="98"/>
          </a:xfrm>
        </p:grpSpPr>
        <p:sp>
          <p:nvSpPr>
            <p:cNvPr id="83031" name="Oval 85">
              <a:extLst>
                <a:ext uri="{FF2B5EF4-FFF2-40B4-BE49-F238E27FC236}">
                  <a16:creationId xmlns:a16="http://schemas.microsoft.com/office/drawing/2014/main" id="{617CD77D-8887-8CC0-EDCD-6D4B923E9353}"/>
                </a:ext>
              </a:extLst>
            </p:cNvPr>
            <p:cNvSpPr>
              <a:spLocks noChangeArrowheads="1"/>
            </p:cNvSpPr>
            <p:nvPr/>
          </p:nvSpPr>
          <p:spPr bwMode="auto">
            <a:xfrm flipH="1">
              <a:off x="559" y="1603"/>
              <a:ext cx="98" cy="98"/>
            </a:xfrm>
            <a:prstGeom prst="ellipse">
              <a:avLst/>
            </a:prstGeom>
            <a:solidFill>
              <a:srgbClr val="FFFFFF"/>
            </a:solidFill>
            <a:ln w="6350">
              <a:solidFill>
                <a:schemeClr val="bg2"/>
              </a:solidFill>
              <a:round/>
            </a:ln>
            <a:effectLst/>
            <a:extLst>
              <a:ext uri="{AF507438-7753-43E0-B8FC-AC1667EBCBE1}">
                <a14:hiddenEffects xmlns:a14="http://schemas.microsoft.com/office/drawing/2010/main">
                  <a:effectLst>
                    <a:outerShdw dist="17961" dir="13500000" algn="ctr" rotWithShape="0">
                      <a:schemeClr val="bg2"/>
                    </a:outerShdw>
                  </a:effectLst>
                </a14:hiddenEffects>
              </a:ext>
            </a:extLst>
          </p:spPr>
          <p:txBody>
            <a:bodyPr lIns="45720" tIns="91440" rIns="45720" bIns="9144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endParaRPr lang="pt-BR" altLang="ko-KR" sz="1000">
                <a:ea typeface="가는각진제목체" panose="02030600000101010101" pitchFamily="18" charset="-127"/>
              </a:endParaRPr>
            </a:p>
          </p:txBody>
        </p:sp>
        <p:sp>
          <p:nvSpPr>
            <p:cNvPr id="83032" name="Arc 86">
              <a:extLst>
                <a:ext uri="{FF2B5EF4-FFF2-40B4-BE49-F238E27FC236}">
                  <a16:creationId xmlns:a16="http://schemas.microsoft.com/office/drawing/2014/main" id="{BA7196A7-B7DF-732F-D896-CA2CDEFC3655}"/>
                </a:ext>
              </a:extLst>
            </p:cNvPr>
            <p:cNvSpPr/>
            <p:nvPr/>
          </p:nvSpPr>
          <p:spPr bwMode="auto">
            <a:xfrm>
              <a:off x="610" y="1603"/>
              <a:ext cx="47" cy="47"/>
            </a:xfrm>
            <a:custGeom>
              <a:gdLst>
                <a:gd name="T0" fmla="*/ 0 w 21600"/>
                <a:gd name="T1" fmla="*/ 0 h 21600"/>
                <a:gd name="T2" fmla="*/ 0 w 21600"/>
                <a:gd name="T3" fmla="*/ 0 h 21600"/>
                <a:gd name="T4" fmla="*/ 0 w 21600"/>
                <a:gd name="T5" fmla="*/ 0 h 21600"/>
                <a:gd name="T6" fmla="*/ 0 60000 65536"/>
                <a:gd name="T7" fmla="*/ 0 60000 65536"/>
                <a:gd name="T8" fmla="*/ 0 60000 65536"/>
              </a:gd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2"/>
            </a:solidFill>
            <a:ln w="6350">
              <a:solidFill>
                <a:schemeClr val="bg2"/>
              </a:solidFill>
              <a:round/>
            </a:ln>
            <a:effectLst/>
            <a:extLst>
              <a:ext uri="{AF507438-7753-43E0-B8FC-AC1667EBCBE1}">
                <a14:hiddenEffects xmlns:a14="http://schemas.microsoft.com/office/drawing/2010/main">
                  <a:effectLst>
                    <a:outerShdw dist="17961" dir="13500000" algn="ctr" rotWithShape="0">
                      <a:schemeClr val="bg2"/>
                    </a:outerShdw>
                  </a:effectLst>
                </a14:hiddenEffects>
              </a:ext>
            </a:extLst>
          </p:spPr>
          <p:txBody>
            <a:bodyPr wrap="none" lIns="45720" tIns="91440" rIns="45720" bIns="91440" anchor="ctr"/>
            <a:lstStyle/>
            <a:p>
              <a:endParaRPr lang="ko-KR" altLang="en-US"/>
            </a:p>
          </p:txBody>
        </p:sp>
      </p:grpSp>
      <p:sp>
        <p:nvSpPr>
          <p:cNvPr id="83028" name="Text Box 87">
            <a:extLst>
              <a:ext uri="{FF2B5EF4-FFF2-40B4-BE49-F238E27FC236}">
                <a16:creationId xmlns:a16="http://schemas.microsoft.com/office/drawing/2014/main" id="{0E188CAC-1FF9-D156-5E71-3DC05B117083}"/>
              </a:ext>
            </a:extLst>
          </p:cNvPr>
          <p:cNvSpPr txBox="1">
            <a:spLocks noChangeArrowheads="1"/>
          </p:cNvSpPr>
          <p:nvPr/>
        </p:nvSpPr>
        <p:spPr bwMode="auto">
          <a:xfrm>
            <a:off x="1865313" y="6464300"/>
            <a:ext cx="1182687"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a:ea typeface="굴림" panose="020b0600000101010101" pitchFamily="34" charset="-127"/>
              </a:rPr>
              <a:t>Low impact</a:t>
            </a:r>
          </a:p>
        </p:txBody>
      </p:sp>
      <p:sp>
        <p:nvSpPr>
          <p:cNvPr id="83029" name="Text Box 88">
            <a:extLst>
              <a:ext uri="{FF2B5EF4-FFF2-40B4-BE49-F238E27FC236}">
                <a16:creationId xmlns:a16="http://schemas.microsoft.com/office/drawing/2014/main" id="{64CAA668-7B10-2B1B-9C27-B5763BF4D4CE}"/>
              </a:ext>
            </a:extLst>
          </p:cNvPr>
          <p:cNvSpPr txBox="1">
            <a:spLocks noChangeArrowheads="1"/>
          </p:cNvSpPr>
          <p:nvPr/>
        </p:nvSpPr>
        <p:spPr bwMode="auto">
          <a:xfrm>
            <a:off x="450850" y="6464300"/>
            <a:ext cx="118268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Tx/>
              <a:buFontTx/>
              <a:buNone/>
            </a:pPr>
            <a:r>
              <a:rPr lang="en-US" altLang="ko-KR" sz="1200" b="0">
                <a:ea typeface="굴림" panose="020b0600000101010101" pitchFamily="34" charset="-127"/>
              </a:rPr>
              <a:t>High impact</a:t>
            </a:r>
          </a:p>
        </p:txBody>
      </p:sp>
      <p:sp>
        <p:nvSpPr>
          <p:cNvPr id="83030" name="Rectangle 89">
            <a:extLst>
              <a:ext uri="{FF2B5EF4-FFF2-40B4-BE49-F238E27FC236}">
                <a16:creationId xmlns:a16="http://schemas.microsoft.com/office/drawing/2014/main" id="{7E72F266-46CB-5108-D639-67902BDDFEB7}"/>
              </a:ext>
            </a:extLst>
          </p:cNvPr>
          <p:cNvSpPr>
            <a:spLocks noGrp="1" noChangeArrowheads="1"/>
          </p:cNvSpPr>
          <p:nvPr>
            <p:ph type="body" idx="1"/>
          </p:nvPr>
        </p:nvSpPr>
        <p:spPr>
          <a:xfrm>
            <a:off x="295275" y="1368425"/>
            <a:ext cx="9312275" cy="1111250"/>
          </a:xfrm>
          <a:solidFill>
            <a:srgbClr val="EAEAEA"/>
          </a:solidFill>
          <a:ln w="12700" cap="flat" algn="ctr">
            <a:solidFill>
              <a:srgbClr val="A0A0A0"/>
            </a:solidFill>
            <a:miter lim="800000"/>
          </a:ln>
        </p:spPr>
        <p:txBody>
          <a:bodyPr lIns="108000" tIns="54000" rIns="108000" bIns="36000"/>
          <a:lstStyle/>
          <a:p>
            <a:pPr marL="266700" indent="-266700" algn="ctr">
              <a:buFont typeface="Wingdings" pitchFamily="2" charset="2"/>
              <a:buNone/>
            </a:pPr>
            <a:r>
              <a:rPr lang="en-US" altLang="ko-KR" sz="1800" b="1">
                <a:ea typeface="굴림" panose="020b0600000101010101" pitchFamily="34" charset="-127"/>
              </a:rPr>
              <a:t>Motivation lever key questions</a:t>
            </a:r>
          </a:p>
          <a:p>
            <a:pPr marL="266700" indent="-266700">
              <a:spcBef>
                <a:spcPct val="30000"/>
              </a:spcBef>
              <a:buFont typeface="Wingdings" pitchFamily="2" charset="2"/>
              <a:buAutoNum type="arabicPeriod"/>
            </a:pPr>
            <a:r>
              <a:rPr lang="en-US" altLang="ko-KR">
                <a:ea typeface="굴림" panose="020b0600000101010101" pitchFamily="34" charset="-127"/>
              </a:rPr>
              <a:t>What is the relevant set of tools to use?</a:t>
            </a:r>
          </a:p>
          <a:p>
            <a:pPr marL="266700" indent="-266700">
              <a:spcBef>
                <a:spcPct val="30000"/>
              </a:spcBef>
              <a:buFont typeface="Wingdings" pitchFamily="2" charset="2"/>
              <a:buAutoNum type="arabicPeriod"/>
            </a:pPr>
            <a:r>
              <a:rPr lang="en-US" altLang="ko-KR">
                <a:ea typeface="굴림" panose="020b0600000101010101" pitchFamily="34" charset="-127"/>
              </a:rPr>
              <a:t>What is the relevant level of individualization?</a:t>
            </a:r>
          </a:p>
          <a:p>
            <a:pPr marL="266700" indent="-266700">
              <a:spcBef>
                <a:spcPct val="30000"/>
              </a:spcBef>
              <a:buFont typeface="Wingdings" pitchFamily="2" charset="2"/>
              <a:buAutoNum type="arabicPeriod"/>
            </a:pPr>
            <a:r>
              <a:rPr lang="en-US" altLang="ko-KR">
                <a:ea typeface="굴림" panose="020b0600000101010101" pitchFamily="34" charset="-127"/>
              </a:rPr>
              <a:t>What is the relevant frequency?</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87041" name="Object 2">
            <a:extLst>
              <a:ext uri="{FF2B5EF4-FFF2-40B4-BE49-F238E27FC236}">
                <a16:creationId xmlns:a16="http://schemas.microsoft.com/office/drawing/2014/main" id="{7A143C74-0340-AE58-93F7-25639E917B41}"/>
              </a:ext>
            </a:extLst>
          </p:cNvPr>
          <p:cNvGraphicFramePr>
            <a:graphicFrameLocks noGrp="1"/>
          </p:cNvGraphicFramePr>
          <p:nvPr>
            <p:ph idx="1"/>
          </p:nvPr>
        </p:nvGraphicFramePr>
        <p:xfrm>
          <a:off x="4581525" y="2009775"/>
          <a:ext cx="4686300" cy="3219450"/>
        </p:xfrm>
        <a:graphic>
          <a:graphicData uri="http://schemas.openxmlformats.org/presentationml/2006/ole">
            <mc:AlternateContent>
              <mc:Choice xmlns:v="urn:schemas-microsoft-com:vml" Requires="v">
                <p:oleObj spid="_x0000_s1055" name="Chart" r:id="rId3" imgW="4889500" imgH="3359150" progId="Excel.Chart.8">
                  <p:embed/>
                </p:oleObj>
              </mc:Choice>
              <mc:Fallback>
                <p:oleObj name="Chart" r:id="rId3" imgW="4889500" imgH="3359150" progId="Excel.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4581525" y="2009775"/>
                        <a:ext cx="4686300" cy="3219450"/>
                      </a:xfrm>
                      <a:prstGeom prst="rect">
                        <a:avLst/>
                      </a:prstGeom>
                      <a:noFill/>
                      <a:ln>
                        <a:noFill/>
                      </a:ln>
                    </p:spPr>
                  </p:pic>
                </p:oleObj>
              </mc:Fallback>
            </mc:AlternateContent>
          </a:graphicData>
        </a:graphic>
      </p:graphicFrame>
      <p:sp>
        <p:nvSpPr>
          <p:cNvPr id="87042" name="Freeform 3">
            <a:extLst>
              <a:ext uri="{FF2B5EF4-FFF2-40B4-BE49-F238E27FC236}">
                <a16:creationId xmlns:a16="http://schemas.microsoft.com/office/drawing/2014/main" id="{E7019E45-E3C6-DA4A-DDA7-5FBEADB243E3}"/>
              </a:ext>
            </a:extLst>
          </p:cNvPr>
          <p:cNvSpPr/>
          <p:nvPr/>
        </p:nvSpPr>
        <p:spPr bwMode="auto">
          <a:xfrm>
            <a:off x="6018213" y="2414588"/>
            <a:ext cx="2449512" cy="2217737"/>
          </a:xfrm>
          <a:custGeom>
            <a:gdLst>
              <a:gd name="T0" fmla="*/ 2147483646 w 1543"/>
              <a:gd name="T1" fmla="*/ 0 h 1397"/>
              <a:gd name="T2" fmla="*/ 2147483646 w 1543"/>
              <a:gd name="T3" fmla="*/ 2147483646 h 1397"/>
              <a:gd name="T4" fmla="*/ 2147483646 w 1543"/>
              <a:gd name="T5" fmla="*/ 2147483646 h 1397"/>
              <a:gd name="T6" fmla="*/ 2147483646 w 1543"/>
              <a:gd name="T7" fmla="*/ 2147483646 h 1397"/>
              <a:gd name="T8" fmla="*/ 2147483646 w 1543"/>
              <a:gd name="T9" fmla="*/ 2147483646 h 1397"/>
              <a:gd name="T10" fmla="*/ 2147483646 w 1543"/>
              <a:gd name="T11" fmla="*/ 2147483646 h 1397"/>
              <a:gd name="T12" fmla="*/ 2147483646 w 1543"/>
              <a:gd name="T13" fmla="*/ 2147483646 h 1397"/>
              <a:gd name="T14" fmla="*/ 0 60000 65536"/>
              <a:gd name="T15" fmla="*/ 0 60000 65536"/>
              <a:gd name="T16" fmla="*/ 0 60000 65536"/>
              <a:gd name="T17" fmla="*/ 0 60000 65536"/>
              <a:gd name="T18" fmla="*/ 0 60000 65536"/>
              <a:gd name="T19" fmla="*/ 0 60000 65536"/>
              <a:gd name="T20" fmla="*/ 0 60000 65536"/>
            </a:gdLst>
            <a:cxnLst>
              <a:cxn ang="T14">
                <a:pos x="T0" y="T1"/>
              </a:cxn>
              <a:cxn ang="T15">
                <a:pos x="T2" y="T3"/>
              </a:cxn>
              <a:cxn ang="T16">
                <a:pos x="T4" y="T5"/>
              </a:cxn>
              <a:cxn ang="T17">
                <a:pos x="T6" y="T7"/>
              </a:cxn>
              <a:cxn ang="T18">
                <a:pos x="T8" y="T9"/>
              </a:cxn>
              <a:cxn ang="T19">
                <a:pos x="T10" y="T11"/>
              </a:cxn>
              <a:cxn ang="T20">
                <a:pos x="T12" y="T13"/>
              </a:cxn>
            </a:cxnLst>
            <a:rect l="0" t="0" r="r" b="b"/>
            <a:pathLst>
              <a:path w="1543" h="1397">
                <a:moveTo>
                  <a:pt x="4" y="0"/>
                </a:moveTo>
                <a:cubicBezTo>
                  <a:pt x="11" y="32"/>
                  <a:pt x="0" y="43"/>
                  <a:pt x="52" y="192"/>
                </a:cubicBezTo>
                <a:cubicBezTo>
                  <a:pt x="104" y="341"/>
                  <a:pt x="213" y="717"/>
                  <a:pt x="319" y="897"/>
                </a:cubicBezTo>
                <a:cubicBezTo>
                  <a:pt x="425" y="1077"/>
                  <a:pt x="574" y="1189"/>
                  <a:pt x="685" y="1269"/>
                </a:cubicBezTo>
                <a:cubicBezTo>
                  <a:pt x="796" y="1349"/>
                  <a:pt x="900" y="1356"/>
                  <a:pt x="988" y="1377"/>
                </a:cubicBezTo>
                <a:cubicBezTo>
                  <a:pt x="1073" y="1395"/>
                  <a:pt x="1121" y="1393"/>
                  <a:pt x="1213" y="1395"/>
                </a:cubicBezTo>
                <a:cubicBezTo>
                  <a:pt x="1305" y="1397"/>
                  <a:pt x="1474" y="1390"/>
                  <a:pt x="1543" y="1389"/>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43" name="Rectangle 4">
            <a:extLst>
              <a:ext uri="{FF2B5EF4-FFF2-40B4-BE49-F238E27FC236}">
                <a16:creationId xmlns:a16="http://schemas.microsoft.com/office/drawing/2014/main" id="{9F27244E-3C6A-9A51-442D-45AEE905CB8D}"/>
              </a:ext>
            </a:extLst>
          </p:cNvPr>
          <p:cNvSpPr>
            <a:spLocks noGrp="1" noChangeArrowheads="1"/>
          </p:cNvSpPr>
          <p:nvPr>
            <p:ph type="title"/>
          </p:nvPr>
        </p:nvSpPr>
        <p:spPr>
          <a:xfrm>
            <a:off x="266700" y="596900"/>
            <a:ext cx="9367838" cy="549275"/>
          </a:xfrm>
        </p:spPr>
        <p:txBody>
          <a:bodyPr/>
          <a:lstStyle/>
          <a:p>
            <a:r>
              <a:rPr lang="en-US" altLang="ko-KR" sz="2600">
                <a:ea typeface="굴림" panose="020b0600000101010101" pitchFamily="34" charset="-127"/>
              </a:rPr>
              <a:t>For a given Service Level target, occupancy rate will structurally increase with size</a:t>
            </a:r>
            <a:endParaRPr lang="en-US" altLang="ko-KR" sz="2600" baseline="30000">
              <a:ea typeface="굴림" panose="020b0600000101010101" pitchFamily="34" charset="-127"/>
            </a:endParaRPr>
          </a:p>
        </p:txBody>
      </p:sp>
      <p:sp>
        <p:nvSpPr>
          <p:cNvPr id="89093" name="Rectangle 5">
            <a:extLst>
              <a:ext uri="{FF2B5EF4-FFF2-40B4-BE49-F238E27FC236}">
                <a16:creationId xmlns:a16="http://schemas.microsoft.com/office/drawing/2014/main" id="{49372F6C-41ED-4770-4917-6E846B27A2B8}"/>
              </a:ext>
            </a:extLst>
          </p:cNvPr>
          <p:cNvSpPr>
            <a:spLocks noChangeArrowheads="1"/>
          </p:cNvSpPr>
          <p:nvPr/>
        </p:nvSpPr>
        <p:spPr bwMode="auto">
          <a:xfrm>
            <a:off x="247650" y="2578100"/>
            <a:ext cx="3619500" cy="461963"/>
          </a:xfrm>
          <a:prstGeom prst="rect">
            <a:avLst/>
          </a:prstGeom>
          <a:solidFill>
            <a:schemeClr val="tx1">
              <a:lumMod val="95000"/>
              <a:lumOff val="5000"/>
            </a:schemeClr>
          </a:solidFill>
          <a:ln>
            <a:noFill/>
          </a:ln>
          <a:effectLst/>
        </p:spPr>
        <p:txBody>
          <a:bodyPr lIns="0" tIns="0" rIns="0" bIns="0" anchor="ctr"/>
          <a:lstStyle>
            <a:lvl1pPr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1pPr>
            <a:lvl2pPr marL="742950" indent="-28575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2pPr>
            <a:lvl3pPr marL="11430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3pPr>
            <a:lvl4pPr marL="16002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4pPr>
            <a:lvl5pPr marL="2057400" indent="-228600" algn="ctr" fontAlgn="b">
              <a:lnSpc>
                <a:spcPct val="90000"/>
              </a:lnSpc>
              <a:spcBef>
                <a:spcPct val="50000"/>
              </a:spcBef>
              <a:buClr>
                <a:schemeClr val="bg2"/>
              </a:buClr>
              <a:defRPr sz="1400" b="1">
                <a:solidFill>
                  <a:schemeClr val="tx1"/>
                </a:solidFill>
                <a:latin typeface="Arial" panose="020b0604020202020204" pitchFamily="34" charset="0"/>
                <a:ea typeface="가는각진제목체" panose="02030600000101010101" pitchFamily="18" charset="-127"/>
              </a:defRPr>
            </a:lvl5pPr>
            <a:lvl6pPr marL="25146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6pPr>
            <a:lvl7pPr marL="29718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7pPr>
            <a:lvl8pPr marL="34290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8pPr>
            <a:lvl9pPr marL="3886200" indent="-228600" algn="ctr" eaLnBrk="0" fontAlgn="b" hangingPunct="0">
              <a:lnSpc>
                <a:spcPct val="90000"/>
              </a:lnSpc>
              <a:spcBef>
                <a:spcPct val="50000"/>
              </a:spcBef>
              <a:spcAft>
                <a:spcPct val="0"/>
              </a:spcAft>
              <a:buClr>
                <a:schemeClr val="bg2"/>
              </a:buClr>
              <a:defRPr sz="1400" b="1">
                <a:solidFill>
                  <a:schemeClr val="tx1"/>
                </a:solidFill>
                <a:latin typeface="Arial" panose="020b0604020202020204" pitchFamily="34" charset="0"/>
                <a:ea typeface="가는각진제목체" panose="02030600000101010101" pitchFamily="18" charset="-127"/>
              </a:defRPr>
            </a:lvl9pPr>
          </a:lstStyle>
          <a:p>
            <a:pPr eaLnBrk="1" fontAlgn="base" hangingPunct="1">
              <a:lnSpc>
                <a:spcPct val="100000"/>
              </a:lnSpc>
              <a:spcBef>
                <a:spcPct val="0"/>
              </a:spcBef>
              <a:buClrTx/>
              <a:defRPr/>
            </a:pPr>
            <a:r>
              <a:rPr lang="en-US" altLang="ko-KR" sz="1200">
                <a:solidFill>
                  <a:schemeClr val="bg1"/>
                </a:solidFill>
                <a:ea typeface="굴림" panose="020b0600000101010101" pitchFamily="50" charset="-127"/>
              </a:rPr>
              <a:t>Rule of thumb</a:t>
            </a:r>
          </a:p>
        </p:txBody>
      </p:sp>
      <p:sp>
        <p:nvSpPr>
          <p:cNvPr id="87045" name="Rectangle 6">
            <a:extLst>
              <a:ext uri="{FF2B5EF4-FFF2-40B4-BE49-F238E27FC236}">
                <a16:creationId xmlns:a16="http://schemas.microsoft.com/office/drawing/2014/main" id="{AAF09A4C-E81C-514F-293D-951D39752870}"/>
              </a:ext>
            </a:extLst>
          </p:cNvPr>
          <p:cNvSpPr>
            <a:spLocks noChangeArrowheads="1"/>
          </p:cNvSpPr>
          <p:nvPr/>
        </p:nvSpPr>
        <p:spPr bwMode="auto">
          <a:xfrm>
            <a:off x="247650" y="3040063"/>
            <a:ext cx="3619500" cy="1162050"/>
          </a:xfrm>
          <a:prstGeom prst="rect">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7046" name="Text Box 7">
            <a:extLst>
              <a:ext uri="{FF2B5EF4-FFF2-40B4-BE49-F238E27FC236}">
                <a16:creationId xmlns:a16="http://schemas.microsoft.com/office/drawing/2014/main" id="{A20FA463-2555-7D13-7FA8-27422D2F1454}"/>
              </a:ext>
            </a:extLst>
          </p:cNvPr>
          <p:cNvSpPr txBox="1">
            <a:spLocks noChangeArrowheads="1"/>
          </p:cNvSpPr>
          <p:nvPr/>
        </p:nvSpPr>
        <p:spPr bwMode="auto">
          <a:xfrm>
            <a:off x="495300" y="3232150"/>
            <a:ext cx="1096963" cy="508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a:ea typeface="굴림" panose="020b0600000101010101" pitchFamily="34" charset="-127"/>
              </a:rPr>
              <a:t>Overcapacity</a:t>
            </a:r>
          </a:p>
          <a:p>
            <a:pPr algn="ctr" eaLnBrk="1" hangingPunct="1">
              <a:lnSpc>
                <a:spcPct val="100000"/>
              </a:lnSpc>
              <a:spcBef>
                <a:spcPct val="0"/>
              </a:spcBef>
              <a:buClrTx/>
              <a:buFontTx/>
              <a:buNone/>
            </a:pPr>
            <a:r>
              <a:rPr lang="en-US" altLang="ko-KR" sz="1200">
                <a:ea typeface="굴림" panose="020b0600000101010101" pitchFamily="34" charset="-127"/>
              </a:rPr>
              <a:t>in %</a:t>
            </a:r>
          </a:p>
        </p:txBody>
      </p:sp>
      <p:sp>
        <p:nvSpPr>
          <p:cNvPr id="87047" name="Text Box 8">
            <a:extLst>
              <a:ext uri="{FF2B5EF4-FFF2-40B4-BE49-F238E27FC236}">
                <a16:creationId xmlns:a16="http://schemas.microsoft.com/office/drawing/2014/main" id="{D746D327-7E4D-670F-87E6-94CE897BA965}"/>
              </a:ext>
            </a:extLst>
          </p:cNvPr>
          <p:cNvSpPr txBox="1">
            <a:spLocks noChangeArrowheads="1"/>
          </p:cNvSpPr>
          <p:nvPr/>
        </p:nvSpPr>
        <p:spPr bwMode="auto">
          <a:xfrm>
            <a:off x="1592263" y="3254375"/>
            <a:ext cx="1884362" cy="4175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FontTx/>
              <a:buNone/>
            </a:pPr>
            <a:r>
              <a:rPr lang="en-US" altLang="ko-KR" sz="1200">
                <a:ea typeface="굴림" panose="020b0600000101010101" pitchFamily="34" charset="-127"/>
              </a:rPr>
              <a:t>x  </a:t>
            </a:r>
            <a:r>
              <a:rPr lang="en-US" altLang="ko-KR" sz="1800">
                <a:ea typeface="굴림" panose="020b0600000101010101" pitchFamily="34" charset="-127"/>
                <a:sym typeface="Symbol" pitchFamily="2" charset="2"/>
              </a:rPr>
              <a:t></a:t>
            </a:r>
            <a:r>
              <a:rPr lang="en-US" altLang="ko-KR" sz="1200">
                <a:ea typeface="굴림" panose="020b0600000101010101" pitchFamily="34" charset="-127"/>
                <a:sym typeface="Symbol" pitchFamily="2" charset="2"/>
              </a:rPr>
              <a:t> </a:t>
            </a:r>
            <a:r>
              <a:rPr lang="en-US" altLang="ko-KR" sz="1200">
                <a:ea typeface="굴림" panose="020b0600000101010101" pitchFamily="34" charset="-127"/>
              </a:rPr>
              <a:t>Positions  =  </a:t>
            </a:r>
            <a:r>
              <a:rPr lang="en-US" altLang="ko-KR" sz="1800">
                <a:ea typeface="굴림" panose="020b0600000101010101" pitchFamily="34" charset="-127"/>
              </a:rPr>
              <a:t>K</a:t>
            </a:r>
          </a:p>
        </p:txBody>
      </p:sp>
      <p:sp>
        <p:nvSpPr>
          <p:cNvPr id="87048" name="AutoShape 9">
            <a:extLst>
              <a:ext uri="{FF2B5EF4-FFF2-40B4-BE49-F238E27FC236}">
                <a16:creationId xmlns:a16="http://schemas.microsoft.com/office/drawing/2014/main" id="{E6D368AE-9361-ACAB-1D38-2EE1F14A84C2}"/>
              </a:ext>
            </a:extLst>
          </p:cNvPr>
          <p:cNvSpPr>
            <a:spLocks noChangeArrowheads="1"/>
          </p:cNvSpPr>
          <p:nvPr/>
        </p:nvSpPr>
        <p:spPr bwMode="auto">
          <a:xfrm rot="5400000">
            <a:off x="3481388" y="3271837"/>
            <a:ext cx="1606550" cy="225425"/>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7049" name="Text Box 10">
            <a:extLst>
              <a:ext uri="{FF2B5EF4-FFF2-40B4-BE49-F238E27FC236}">
                <a16:creationId xmlns:a16="http://schemas.microsoft.com/office/drawing/2014/main" id="{B02CB1C6-C86B-FF63-2656-97FD393BB78A}"/>
              </a:ext>
            </a:extLst>
          </p:cNvPr>
          <p:cNvSpPr txBox="1">
            <a:spLocks noChangeArrowheads="1"/>
          </p:cNvSpPr>
          <p:nvPr/>
        </p:nvSpPr>
        <p:spPr bwMode="auto">
          <a:xfrm>
            <a:off x="2427288" y="3894138"/>
            <a:ext cx="1182687"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6200" indent="-7461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FontTx/>
              <a:buNone/>
            </a:pPr>
            <a:r>
              <a:rPr lang="en-US" altLang="ko-KR" sz="1200" b="0">
                <a:ea typeface="굴림" panose="020b0600000101010101" pitchFamily="34" charset="-127"/>
              </a:rPr>
              <a:t>Constant</a:t>
            </a:r>
          </a:p>
        </p:txBody>
      </p:sp>
      <p:sp>
        <p:nvSpPr>
          <p:cNvPr id="87050" name="AutoShape 11">
            <a:extLst>
              <a:ext uri="{FF2B5EF4-FFF2-40B4-BE49-F238E27FC236}">
                <a16:creationId xmlns:a16="http://schemas.microsoft.com/office/drawing/2014/main" id="{31A3BBD0-BD1C-B66F-8442-82A7783ADD64}"/>
              </a:ext>
            </a:extLst>
          </p:cNvPr>
          <p:cNvSpPr/>
          <p:nvPr/>
        </p:nvSpPr>
        <p:spPr bwMode="auto">
          <a:xfrm rot="5400000">
            <a:off x="2964657" y="3496468"/>
            <a:ext cx="107950" cy="315913"/>
          </a:xfrm>
          <a:prstGeom prst="rightBracket">
            <a:avLst>
              <a:gd name="adj" fmla="val 0"/>
            </a:avLst>
          </a:prstGeom>
          <a:noFill/>
          <a:ln w="127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7051" name="Text Box 12">
            <a:extLst>
              <a:ext uri="{FF2B5EF4-FFF2-40B4-BE49-F238E27FC236}">
                <a16:creationId xmlns:a16="http://schemas.microsoft.com/office/drawing/2014/main" id="{483F5065-D31E-58C6-6114-8A634274D013}"/>
              </a:ext>
            </a:extLst>
          </p:cNvPr>
          <p:cNvSpPr txBox="1">
            <a:spLocks noChangeArrowheads="1"/>
          </p:cNvSpPr>
          <p:nvPr/>
        </p:nvSpPr>
        <p:spPr bwMode="auto">
          <a:xfrm>
            <a:off x="4495800" y="1704975"/>
            <a:ext cx="12382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b="0">
                <a:ea typeface="굴림" panose="020b0600000101010101" pitchFamily="34" charset="-127"/>
              </a:rPr>
              <a:t>Change in overcapacity in %</a:t>
            </a:r>
          </a:p>
        </p:txBody>
      </p:sp>
      <p:sp>
        <p:nvSpPr>
          <p:cNvPr id="87052" name="Text Box 13">
            <a:extLst>
              <a:ext uri="{FF2B5EF4-FFF2-40B4-BE49-F238E27FC236}">
                <a16:creationId xmlns:a16="http://schemas.microsoft.com/office/drawing/2014/main" id="{F373D108-140E-D17B-376E-93C176EBC24B}"/>
              </a:ext>
            </a:extLst>
          </p:cNvPr>
          <p:cNvSpPr txBox="1">
            <a:spLocks noChangeArrowheads="1"/>
          </p:cNvSpPr>
          <p:nvPr/>
        </p:nvSpPr>
        <p:spPr bwMode="auto">
          <a:xfrm>
            <a:off x="8772525" y="4857750"/>
            <a:ext cx="990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b="0">
                <a:ea typeface="굴림" panose="020b0600000101010101" pitchFamily="34" charset="-127"/>
              </a:rPr>
              <a:t>Change</a:t>
            </a:r>
            <a:br>
              <a:rPr lang="en-US" altLang="ko-KR" sz="1200" b="0">
                <a:ea typeface="굴림" panose="020b0600000101010101" pitchFamily="34" charset="-127"/>
              </a:rPr>
            </a:br>
            <a:r>
              <a:rPr lang="en-US" altLang="ko-KR" sz="1200" b="0">
                <a:ea typeface="굴림" panose="020b0600000101010101" pitchFamily="34" charset="-127"/>
              </a:rPr>
              <a:t>in size</a:t>
            </a:r>
          </a:p>
        </p:txBody>
      </p:sp>
      <p:sp>
        <p:nvSpPr>
          <p:cNvPr id="87053" name="Freeform 14">
            <a:extLst>
              <a:ext uri="{FF2B5EF4-FFF2-40B4-BE49-F238E27FC236}">
                <a16:creationId xmlns:a16="http://schemas.microsoft.com/office/drawing/2014/main" id="{6F54698C-B604-B71A-6AE4-94FA178FE9F3}"/>
              </a:ext>
            </a:extLst>
          </p:cNvPr>
          <p:cNvSpPr/>
          <p:nvPr/>
        </p:nvSpPr>
        <p:spPr bwMode="auto">
          <a:xfrm>
            <a:off x="6143625" y="2667000"/>
            <a:ext cx="952500" cy="1495425"/>
          </a:xfrm>
          <a:custGeom>
            <a:gdLst>
              <a:gd name="T0" fmla="*/ 0 w 540"/>
              <a:gd name="T1" fmla="*/ 0 h 1122"/>
              <a:gd name="T2" fmla="*/ 2147483646 w 540"/>
              <a:gd name="T3" fmla="*/ 0 h 1122"/>
              <a:gd name="T4" fmla="*/ 2147483646 w 540"/>
              <a:gd name="T5" fmla="*/ 2147483646 h 1122"/>
              <a:gd name="T6" fmla="*/ 0 60000 65536"/>
              <a:gd name="T7" fmla="*/ 0 60000 65536"/>
              <a:gd name="T8" fmla="*/ 0 60000 65536"/>
            </a:gdLst>
            <a:cxnLst>
              <a:cxn ang="T6">
                <a:pos x="T0" y="T1"/>
              </a:cxn>
              <a:cxn ang="T7">
                <a:pos x="T2" y="T3"/>
              </a:cxn>
              <a:cxn ang="T8">
                <a:pos x="T4" y="T5"/>
              </a:cxn>
            </a:cxnLst>
            <a:rect l="0" t="0" r="r" b="b"/>
            <a:pathLst>
              <a:path w="540" h="1122">
                <a:moveTo>
                  <a:pt x="0" y="0"/>
                </a:moveTo>
                <a:lnTo>
                  <a:pt x="540" y="0"/>
                </a:lnTo>
                <a:lnTo>
                  <a:pt x="540" y="1122"/>
                </a:lnTo>
              </a:path>
            </a:pathLst>
          </a:custGeom>
          <a:noFill/>
          <a:ln w="19050" cap="flat" cmpd="sng">
            <a:solidFill>
              <a:schemeClr val="tx1"/>
            </a:solidFill>
            <a:prstDash val="solid"/>
            <a:rou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54" name="Freeform 15">
            <a:extLst>
              <a:ext uri="{FF2B5EF4-FFF2-40B4-BE49-F238E27FC236}">
                <a16:creationId xmlns:a16="http://schemas.microsoft.com/office/drawing/2014/main" id="{0026F933-251C-F74E-B22D-23CD40FECB44}"/>
              </a:ext>
            </a:extLst>
          </p:cNvPr>
          <p:cNvSpPr/>
          <p:nvPr/>
        </p:nvSpPr>
        <p:spPr bwMode="auto">
          <a:xfrm>
            <a:off x="6162675" y="2667000"/>
            <a:ext cx="1914525" cy="1695450"/>
          </a:xfrm>
          <a:custGeom>
            <a:gdLst>
              <a:gd name="T0" fmla="*/ 0 w 540"/>
              <a:gd name="T1" fmla="*/ 0 h 1122"/>
              <a:gd name="T2" fmla="*/ 2147483646 w 540"/>
              <a:gd name="T3" fmla="*/ 0 h 1122"/>
              <a:gd name="T4" fmla="*/ 2147483646 w 540"/>
              <a:gd name="T5" fmla="*/ 2147483646 h 1122"/>
              <a:gd name="T6" fmla="*/ 0 60000 65536"/>
              <a:gd name="T7" fmla="*/ 0 60000 65536"/>
              <a:gd name="T8" fmla="*/ 0 60000 65536"/>
            </a:gdLst>
            <a:cxnLst>
              <a:cxn ang="T6">
                <a:pos x="T0" y="T1"/>
              </a:cxn>
              <a:cxn ang="T7">
                <a:pos x="T2" y="T3"/>
              </a:cxn>
              <a:cxn ang="T8">
                <a:pos x="T4" y="T5"/>
              </a:cxn>
            </a:cxnLst>
            <a:rect l="0" t="0" r="r" b="b"/>
            <a:pathLst>
              <a:path w="540" h="1122">
                <a:moveTo>
                  <a:pt x="0" y="0"/>
                </a:moveTo>
                <a:lnTo>
                  <a:pt x="540" y="0"/>
                </a:lnTo>
                <a:lnTo>
                  <a:pt x="540" y="1122"/>
                </a:lnTo>
              </a:path>
            </a:pathLst>
          </a:custGeom>
          <a:noFill/>
          <a:ln w="19050" cap="flat" cmpd="sng">
            <a:solidFill>
              <a:schemeClr val="tx1"/>
            </a:solidFill>
            <a:prstDash val="dash"/>
            <a:rou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55" name="Text Box 16">
            <a:extLst>
              <a:ext uri="{FF2B5EF4-FFF2-40B4-BE49-F238E27FC236}">
                <a16:creationId xmlns:a16="http://schemas.microsoft.com/office/drawing/2014/main" id="{8ED6F1DF-71DE-E383-693D-0EC55EE0221E}"/>
              </a:ext>
            </a:extLst>
          </p:cNvPr>
          <p:cNvSpPr txBox="1">
            <a:spLocks noChangeArrowheads="1"/>
          </p:cNvSpPr>
          <p:nvPr/>
        </p:nvSpPr>
        <p:spPr bwMode="auto">
          <a:xfrm>
            <a:off x="7810500" y="3649663"/>
            <a:ext cx="542925" cy="195262"/>
          </a:xfrm>
          <a:prstGeom prst="rect">
            <a:avLst/>
          </a:prstGeom>
          <a:solidFill>
            <a:srgbClr val="F0F0F0"/>
          </a:solidFill>
          <a:ln w="12700"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a:ea typeface="굴림" panose="020b0600000101010101" pitchFamily="34" charset="-127"/>
              </a:rPr>
              <a:t>- 50%</a:t>
            </a:r>
          </a:p>
        </p:txBody>
      </p:sp>
      <p:sp>
        <p:nvSpPr>
          <p:cNvPr id="87056" name="Oval 17">
            <a:extLst>
              <a:ext uri="{FF2B5EF4-FFF2-40B4-BE49-F238E27FC236}">
                <a16:creationId xmlns:a16="http://schemas.microsoft.com/office/drawing/2014/main" id="{0BF13B50-22D8-9351-FAA0-926AFF80C149}"/>
              </a:ext>
            </a:extLst>
          </p:cNvPr>
          <p:cNvSpPr>
            <a:spLocks noChangeArrowheads="1"/>
          </p:cNvSpPr>
          <p:nvPr/>
        </p:nvSpPr>
        <p:spPr bwMode="auto">
          <a:xfrm>
            <a:off x="6815138" y="3135313"/>
            <a:ext cx="539750" cy="344487"/>
          </a:xfrm>
          <a:prstGeom prst="ellipse">
            <a:avLst/>
          </a:prstGeom>
          <a:solidFill>
            <a:schemeClr val="accent1"/>
          </a:solidFill>
          <a:ln>
            <a:noFill/>
          </a:ln>
          <a:effectLst/>
          <a:extLst>
            <a:ext uri="{91240B29-F687-4F45-9708-019B960494DF}">
              <a14:hiddenLine xmlns:a14="http://schemas.microsoft.com/office/drawing/2010/main" w="12700" algn="ctr">
                <a:solidFill>
                  <a:schemeClr val="accent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50000"/>
              </a:spcBef>
              <a:buClrTx/>
              <a:buFontTx/>
              <a:buNone/>
            </a:pPr>
            <a:r>
              <a:rPr lang="en-US" altLang="ko-KR" sz="1200">
                <a:solidFill>
                  <a:schemeClr val="bg1"/>
                </a:solidFill>
                <a:ea typeface="굴림" panose="020b0600000101010101" pitchFamily="34" charset="-127"/>
              </a:rPr>
              <a:t>- 30%</a:t>
            </a:r>
          </a:p>
        </p:txBody>
      </p:sp>
      <p:sp>
        <p:nvSpPr>
          <p:cNvPr id="87057" name="Line 18">
            <a:extLst>
              <a:ext uri="{FF2B5EF4-FFF2-40B4-BE49-F238E27FC236}">
                <a16:creationId xmlns:a16="http://schemas.microsoft.com/office/drawing/2014/main" id="{692759B4-C43D-29E5-6457-90C8CCD46D19}"/>
              </a:ext>
            </a:extLst>
          </p:cNvPr>
          <p:cNvSpPr>
            <a:spLocks noChangeShapeType="1"/>
          </p:cNvSpPr>
          <p:nvPr/>
        </p:nvSpPr>
        <p:spPr bwMode="auto">
          <a:xfrm flipH="1" flipV="1">
            <a:off x="5072063" y="2109788"/>
            <a:ext cx="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58" name="Line 19">
            <a:extLst>
              <a:ext uri="{FF2B5EF4-FFF2-40B4-BE49-F238E27FC236}">
                <a16:creationId xmlns:a16="http://schemas.microsoft.com/office/drawing/2014/main" id="{A39AA77F-E970-6D2B-13C3-2C87A646ABA1}"/>
              </a:ext>
            </a:extLst>
          </p:cNvPr>
          <p:cNvSpPr>
            <a:spLocks noChangeShapeType="1"/>
          </p:cNvSpPr>
          <p:nvPr/>
        </p:nvSpPr>
        <p:spPr bwMode="auto">
          <a:xfrm rot="5400000" flipH="1" flipV="1">
            <a:off x="9067800" y="4572000"/>
            <a:ext cx="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59" name="Line 20">
            <a:extLst>
              <a:ext uri="{FF2B5EF4-FFF2-40B4-BE49-F238E27FC236}">
                <a16:creationId xmlns:a16="http://schemas.microsoft.com/office/drawing/2014/main" id="{F118B9A6-0CD7-38FF-CA49-89106C8C1035}"/>
              </a:ext>
            </a:extLst>
          </p:cNvPr>
          <p:cNvSpPr>
            <a:spLocks noChangeShapeType="1"/>
          </p:cNvSpPr>
          <p:nvPr/>
        </p:nvSpPr>
        <p:spPr bwMode="auto">
          <a:xfrm>
            <a:off x="5057775" y="2647950"/>
            <a:ext cx="1019175" cy="0"/>
          </a:xfrm>
          <a:prstGeom prst="line">
            <a:avLst/>
          </a:prstGeom>
          <a:noFill/>
          <a:ln w="3810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60" name="Line 21">
            <a:extLst>
              <a:ext uri="{FF2B5EF4-FFF2-40B4-BE49-F238E27FC236}">
                <a16:creationId xmlns:a16="http://schemas.microsoft.com/office/drawing/2014/main" id="{2113BC09-2D0A-FFC6-895E-C6C8F55DA7DE}"/>
              </a:ext>
            </a:extLst>
          </p:cNvPr>
          <p:cNvSpPr>
            <a:spLocks noChangeShapeType="1"/>
          </p:cNvSpPr>
          <p:nvPr/>
        </p:nvSpPr>
        <p:spPr bwMode="auto">
          <a:xfrm flipH="1" flipV="1">
            <a:off x="6067425" y="2657475"/>
            <a:ext cx="0" cy="2047875"/>
          </a:xfrm>
          <a:prstGeom prst="line">
            <a:avLst/>
          </a:prstGeom>
          <a:noFill/>
          <a:ln w="3810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endParaRPr lang="ko-KR" altLang="en-US"/>
          </a:p>
        </p:txBody>
      </p:sp>
      <p:sp>
        <p:nvSpPr>
          <p:cNvPr id="87061" name="AutoShape 22">
            <a:extLst>
              <a:ext uri="{FF2B5EF4-FFF2-40B4-BE49-F238E27FC236}">
                <a16:creationId xmlns:a16="http://schemas.microsoft.com/office/drawing/2014/main" id="{23215551-A3EF-DA5E-52E7-34041CC36630}"/>
              </a:ext>
            </a:extLst>
          </p:cNvPr>
          <p:cNvSpPr>
            <a:spLocks noChangeArrowheads="1"/>
          </p:cNvSpPr>
          <p:nvPr/>
        </p:nvSpPr>
        <p:spPr bwMode="auto">
          <a:xfrm>
            <a:off x="738188" y="5572125"/>
            <a:ext cx="7999412" cy="885825"/>
          </a:xfrm>
          <a:prstGeom prst="roundRect">
            <a:avLst>
              <a:gd name="adj" fmla="val 16667"/>
            </a:avLst>
          </a:prstGeom>
          <a:solidFill>
            <a:schemeClr val="bg1"/>
          </a:solidFill>
          <a:ln w="1270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FontTx/>
              <a:buNone/>
            </a:pPr>
            <a:r>
              <a:rPr lang="en-US" altLang="ko-KR" sz="1400">
                <a:ea typeface="굴림" panose="020b0600000101010101" pitchFamily="34" charset="-127"/>
              </a:rPr>
              <a:t>For a given service level</a:t>
            </a:r>
          </a:p>
          <a:p>
            <a:pPr algn="ctr" eaLnBrk="1" hangingPunct="1">
              <a:spcBef>
                <a:spcPct val="0"/>
              </a:spcBef>
              <a:buClrTx/>
              <a:buFontTx/>
              <a:buNone/>
            </a:pPr>
            <a:r>
              <a:rPr lang="en-US" altLang="ko-KR" sz="1400">
                <a:ea typeface="굴림" panose="020b0600000101010101" pitchFamily="34" charset="-127"/>
              </a:rPr>
              <a:t>doubling the size of a call center allows to reduce the structural overcapacity by 30%</a:t>
            </a:r>
          </a:p>
        </p:txBody>
      </p:sp>
      <p:sp>
        <p:nvSpPr>
          <p:cNvPr id="87062" name="AutoShape 23">
            <a:extLst>
              <a:ext uri="{FF2B5EF4-FFF2-40B4-BE49-F238E27FC236}">
                <a16:creationId xmlns:a16="http://schemas.microsoft.com/office/drawing/2014/main" id="{3FB5181B-D7F4-A4A9-57F2-60B991B84FCE}"/>
              </a:ext>
            </a:extLst>
          </p:cNvPr>
          <p:cNvSpPr>
            <a:spLocks noChangeArrowheads="1"/>
          </p:cNvSpPr>
          <p:nvPr/>
        </p:nvSpPr>
        <p:spPr bwMode="auto">
          <a:xfrm>
            <a:off x="6407150" y="1327150"/>
            <a:ext cx="1682750" cy="582613"/>
          </a:xfrm>
          <a:prstGeom prst="wedgeRectCallout">
            <a:avLst>
              <a:gd name="adj1" fmla="val -63301"/>
              <a:gd name="adj2" fmla="val 154088"/>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FontTx/>
              <a:buNone/>
            </a:pPr>
            <a:r>
              <a:rPr lang="en-US" altLang="ko-KR" sz="1000">
                <a:ea typeface="굴림" panose="020b0600000101010101" pitchFamily="34" charset="-127"/>
              </a:rPr>
              <a:t>Overcapacity</a:t>
            </a:r>
            <a:br>
              <a:rPr lang="en-US" altLang="ko-KR" sz="1000">
                <a:ea typeface="굴림" panose="020b0600000101010101" pitchFamily="34" charset="-127"/>
              </a:rPr>
            </a:br>
            <a:r>
              <a:rPr lang="en-US" altLang="ko-KR" sz="1000">
                <a:ea typeface="굴림" panose="020b0600000101010101" pitchFamily="34" charset="-127"/>
              </a:rPr>
              <a:t>needed to sustain</a:t>
            </a:r>
            <a:br>
              <a:rPr lang="en-US" altLang="ko-KR" sz="1000">
                <a:ea typeface="굴림" panose="020b0600000101010101" pitchFamily="34" charset="-127"/>
              </a:rPr>
            </a:br>
            <a:r>
              <a:rPr lang="en-US" altLang="ko-KR" sz="1000">
                <a:ea typeface="굴림" panose="020b0600000101010101" pitchFamily="34" charset="-127"/>
              </a:rPr>
              <a:t>Service Level</a:t>
            </a:r>
          </a:p>
        </p:txBody>
      </p:sp>
      <p:sp>
        <p:nvSpPr>
          <p:cNvPr id="87063" name="AutoShape 24">
            <a:extLst>
              <a:ext uri="{FF2B5EF4-FFF2-40B4-BE49-F238E27FC236}">
                <a16:creationId xmlns:a16="http://schemas.microsoft.com/office/drawing/2014/main" id="{77EFB902-EAC8-E4C4-22CA-FCE8CA72106C}"/>
              </a:ext>
            </a:extLst>
          </p:cNvPr>
          <p:cNvSpPr>
            <a:spLocks noChangeArrowheads="1"/>
          </p:cNvSpPr>
          <p:nvPr/>
        </p:nvSpPr>
        <p:spPr bwMode="auto">
          <a:xfrm>
            <a:off x="7683500" y="2297113"/>
            <a:ext cx="1682750" cy="582612"/>
          </a:xfrm>
          <a:prstGeom prst="wedgeRectCallout">
            <a:avLst>
              <a:gd name="adj1" fmla="val -74620"/>
              <a:gd name="adj2" fmla="val 268801"/>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ClrTx/>
              <a:buFontTx/>
              <a:buNone/>
            </a:pPr>
            <a:r>
              <a:rPr lang="en-US" altLang="ko-KR" sz="1000">
                <a:ea typeface="굴림" panose="020b0600000101010101" pitchFamily="34" charset="-127"/>
              </a:rPr>
              <a:t>Overcapacity</a:t>
            </a:r>
            <a:br>
              <a:rPr lang="en-US" altLang="ko-KR" sz="1000">
                <a:ea typeface="굴림" panose="020b0600000101010101" pitchFamily="34" charset="-127"/>
              </a:rPr>
            </a:br>
            <a:r>
              <a:rPr lang="en-US" altLang="ko-KR" sz="1000">
                <a:ea typeface="굴림" panose="020b0600000101010101" pitchFamily="34" charset="-127"/>
              </a:rPr>
              <a:t>reduction</a:t>
            </a:r>
            <a:br>
              <a:rPr lang="en-US" altLang="ko-KR" sz="1000">
                <a:ea typeface="굴림" panose="020b0600000101010101" pitchFamily="34" charset="-127"/>
              </a:rPr>
            </a:br>
            <a:r>
              <a:rPr lang="en-US" altLang="ko-KR" sz="1000">
                <a:ea typeface="굴림" panose="020b0600000101010101" pitchFamily="34" charset="-127"/>
              </a:rPr>
              <a:t>by doubling the size</a:t>
            </a:r>
            <a:br>
              <a:rPr lang="en-US" altLang="ko-KR" sz="1000">
                <a:ea typeface="굴림" panose="020b0600000101010101" pitchFamily="34" charset="-127"/>
              </a:rPr>
            </a:br>
            <a:r>
              <a:rPr lang="en-US" altLang="ko-KR" sz="1000">
                <a:ea typeface="굴림" panose="020b0600000101010101" pitchFamily="34" charset="-127"/>
              </a:rPr>
              <a:t>of the call center</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89089" name="Rectangle 2">
            <a:extLst>
              <a:ext uri="{FF2B5EF4-FFF2-40B4-BE49-F238E27FC236}">
                <a16:creationId xmlns:a16="http://schemas.microsoft.com/office/drawing/2014/main" id="{DC8EEBFB-5FE1-8B09-B93D-3F9693EDC004}"/>
              </a:ext>
            </a:extLst>
          </p:cNvPr>
          <p:cNvSpPr>
            <a:spLocks noGrp="1" noChangeArrowheads="1"/>
          </p:cNvSpPr>
          <p:nvPr>
            <p:ph type="title"/>
          </p:nvPr>
        </p:nvSpPr>
        <p:spPr/>
        <p:txBody>
          <a:bodyPr/>
          <a:lstStyle/>
          <a:p>
            <a:r>
              <a:rPr lang="en-US" altLang="zh-CN">
                <a:ea typeface="SimSun" panose="02010600030101010101" pitchFamily="2" charset="-122"/>
              </a:rPr>
              <a:t>Sample - Captive center setup plan </a:t>
            </a:r>
          </a:p>
        </p:txBody>
      </p:sp>
      <p:sp>
        <p:nvSpPr>
          <p:cNvPr id="89090" name="Rectangle 3">
            <a:extLst>
              <a:ext uri="{FF2B5EF4-FFF2-40B4-BE49-F238E27FC236}">
                <a16:creationId xmlns:a16="http://schemas.microsoft.com/office/drawing/2014/main" id="{775D522E-6BFB-C148-712A-F445A28F7DEE}"/>
              </a:ext>
            </a:extLst>
          </p:cNvPr>
          <p:cNvSpPr>
            <a:spLocks noChangeArrowheads="1"/>
          </p:cNvSpPr>
          <p:nvPr/>
        </p:nvSpPr>
        <p:spPr bwMode="gray">
          <a:xfrm>
            <a:off x="292100" y="6083300"/>
            <a:ext cx="203200" cy="106363"/>
          </a:xfrm>
          <a:prstGeom prst="rect">
            <a:avLst/>
          </a:prstGeom>
          <a:solidFill>
            <a:schemeClr val="accent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091" name="Rectangle 4">
            <a:extLst>
              <a:ext uri="{FF2B5EF4-FFF2-40B4-BE49-F238E27FC236}">
                <a16:creationId xmlns:a16="http://schemas.microsoft.com/office/drawing/2014/main" id="{F276C09C-F533-1F3D-8CCD-DCB798BD7A4A}"/>
              </a:ext>
            </a:extLst>
          </p:cNvPr>
          <p:cNvSpPr>
            <a:spLocks noChangeArrowheads="1"/>
          </p:cNvSpPr>
          <p:nvPr/>
        </p:nvSpPr>
        <p:spPr bwMode="gray">
          <a:xfrm>
            <a:off x="292100" y="6254750"/>
            <a:ext cx="203200" cy="106363"/>
          </a:xfrm>
          <a:prstGeom prst="rect">
            <a:avLst/>
          </a:prstGeom>
          <a:solidFill>
            <a:schemeClr val="hlink"/>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092" name="Rectangle 5">
            <a:extLst>
              <a:ext uri="{FF2B5EF4-FFF2-40B4-BE49-F238E27FC236}">
                <a16:creationId xmlns:a16="http://schemas.microsoft.com/office/drawing/2014/main" id="{3157EA02-5747-237D-4DC0-7B5F052B03DF}"/>
              </a:ext>
            </a:extLst>
          </p:cNvPr>
          <p:cNvSpPr>
            <a:spLocks noChangeArrowheads="1"/>
          </p:cNvSpPr>
          <p:nvPr/>
        </p:nvSpPr>
        <p:spPr bwMode="gray">
          <a:xfrm>
            <a:off x="292100" y="6445250"/>
            <a:ext cx="203200" cy="106363"/>
          </a:xfrm>
          <a:prstGeom prst="rect">
            <a:avLst/>
          </a:prstGeom>
          <a:solidFill>
            <a:srgbClr val="EAEAEA"/>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093" name="Rectangle 6">
            <a:extLst>
              <a:ext uri="{FF2B5EF4-FFF2-40B4-BE49-F238E27FC236}">
                <a16:creationId xmlns:a16="http://schemas.microsoft.com/office/drawing/2014/main" id="{9681DB88-7071-49E1-884F-DEAC9C7EE127}"/>
              </a:ext>
            </a:extLst>
          </p:cNvPr>
          <p:cNvSpPr>
            <a:spLocks noChangeArrowheads="1"/>
          </p:cNvSpPr>
          <p:nvPr/>
        </p:nvSpPr>
        <p:spPr bwMode="gray">
          <a:xfrm>
            <a:off x="292100" y="6632575"/>
            <a:ext cx="203200" cy="106363"/>
          </a:xfrm>
          <a:prstGeom prst="rect">
            <a:avLst/>
          </a:prstGeom>
          <a:blipFill dpi="0" rotWithShape="0">
            <a:blip r:embed="rId3"/>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094" name="Rectangle 7">
            <a:extLst>
              <a:ext uri="{FF2B5EF4-FFF2-40B4-BE49-F238E27FC236}">
                <a16:creationId xmlns:a16="http://schemas.microsoft.com/office/drawing/2014/main" id="{D90BEFEC-381B-190B-FF32-F9B5489DA4F6}"/>
              </a:ext>
            </a:extLst>
          </p:cNvPr>
          <p:cNvSpPr>
            <a:spLocks noChangeArrowheads="1"/>
          </p:cNvSpPr>
          <p:nvPr/>
        </p:nvSpPr>
        <p:spPr bwMode="gray">
          <a:xfrm>
            <a:off x="2355850" y="6446838"/>
            <a:ext cx="203200" cy="106362"/>
          </a:xfrm>
          <a:prstGeom prst="rect">
            <a:avLst/>
          </a:prstGeom>
          <a:blipFill dpi="0" rotWithShape="0">
            <a:blip r:embed="rId4"/>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095" name="Rectangle 8">
            <a:extLst>
              <a:ext uri="{FF2B5EF4-FFF2-40B4-BE49-F238E27FC236}">
                <a16:creationId xmlns:a16="http://schemas.microsoft.com/office/drawing/2014/main" id="{800B5479-D4F1-C0BE-0318-B2075A1F3A3D}"/>
              </a:ext>
            </a:extLst>
          </p:cNvPr>
          <p:cNvSpPr>
            <a:spLocks noChangeArrowheads="1"/>
          </p:cNvSpPr>
          <p:nvPr/>
        </p:nvSpPr>
        <p:spPr bwMode="gray">
          <a:xfrm>
            <a:off x="2355850" y="6632575"/>
            <a:ext cx="203200" cy="106363"/>
          </a:xfrm>
          <a:prstGeom prst="rect">
            <a:avLst/>
          </a:prstGeom>
          <a:blipFill dpi="0" rotWithShape="0">
            <a:blip r:embed="rId5"/>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096" name="Text Box 9">
            <a:extLst>
              <a:ext uri="{FF2B5EF4-FFF2-40B4-BE49-F238E27FC236}">
                <a16:creationId xmlns:a16="http://schemas.microsoft.com/office/drawing/2014/main" id="{CCE5501E-CEB5-F2E8-EC9D-FBE5063A7AE8}"/>
              </a:ext>
            </a:extLst>
          </p:cNvPr>
          <p:cNvSpPr txBox="1">
            <a:spLocks noChangeArrowheads="1"/>
          </p:cNvSpPr>
          <p:nvPr/>
        </p:nvSpPr>
        <p:spPr bwMode="gray">
          <a:xfrm>
            <a:off x="549275" y="6080125"/>
            <a:ext cx="1736725" cy="111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800" b="0">
                <a:ea typeface="SimSun" panose="02010600030101010101" pitchFamily="2" charset="-122"/>
              </a:rPr>
              <a:t>Primary role with</a:t>
            </a:r>
          </a:p>
        </p:txBody>
      </p:sp>
      <p:sp>
        <p:nvSpPr>
          <p:cNvPr id="89097" name="Text Box 10">
            <a:extLst>
              <a:ext uri="{FF2B5EF4-FFF2-40B4-BE49-F238E27FC236}">
                <a16:creationId xmlns:a16="http://schemas.microsoft.com/office/drawing/2014/main" id="{0D65B7E0-7A5C-BFB8-4213-5602B7B2F195}"/>
              </a:ext>
            </a:extLst>
          </p:cNvPr>
          <p:cNvSpPr txBox="1">
            <a:spLocks noChangeArrowheads="1"/>
          </p:cNvSpPr>
          <p:nvPr/>
        </p:nvSpPr>
        <p:spPr bwMode="gray">
          <a:xfrm>
            <a:off x="2627313" y="6443663"/>
            <a:ext cx="1725612" cy="109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800" b="0">
                <a:ea typeface="SimSun" panose="02010600030101010101" pitchFamily="2" charset="-122"/>
              </a:rPr>
              <a:t>Primary role with sending team</a:t>
            </a:r>
          </a:p>
        </p:txBody>
      </p:sp>
      <p:cxnSp>
        <p:nvCxnSpPr>
          <p:cNvPr id="89098" name="AutoShape 11">
            <a:extLst>
              <a:ext uri="{FF2B5EF4-FFF2-40B4-BE49-F238E27FC236}">
                <a16:creationId xmlns:a16="http://schemas.microsoft.com/office/drawing/2014/main" id="{867E6FB6-0910-5A54-0FD2-4C20EDA35459}"/>
              </a:ext>
            </a:extLst>
          </p:cNvPr>
          <p:cNvCxnSpPr>
            <a:cxnSpLocks noChangeShapeType="1"/>
            <a:stCxn id="89125" idx="2"/>
            <a:endCxn id="89169" idx="1"/>
          </p:cNvCxnSpPr>
          <p:nvPr/>
        </p:nvCxnSpPr>
        <p:spPr bwMode="gray">
          <a:xfrm rot="16200000" flipH="1">
            <a:off x="1558925" y="4314826"/>
            <a:ext cx="2332037" cy="830262"/>
          </a:xfrm>
          <a:prstGeom prst="bentConnector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099" name="AutoShape 12">
            <a:extLst>
              <a:ext uri="{FF2B5EF4-FFF2-40B4-BE49-F238E27FC236}">
                <a16:creationId xmlns:a16="http://schemas.microsoft.com/office/drawing/2014/main" id="{93A651A1-DA21-2A25-60C7-721AA9957E70}"/>
              </a:ext>
            </a:extLst>
          </p:cNvPr>
          <p:cNvCxnSpPr>
            <a:cxnSpLocks noChangeShapeType="1"/>
            <a:stCxn id="89127" idx="2"/>
            <a:endCxn id="89169" idx="1"/>
          </p:cNvCxnSpPr>
          <p:nvPr/>
        </p:nvCxnSpPr>
        <p:spPr bwMode="gray">
          <a:xfrm rot="16200000" flipH="1">
            <a:off x="1385094" y="4140994"/>
            <a:ext cx="2679700" cy="830262"/>
          </a:xfrm>
          <a:prstGeom prst="bentConnector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0" name="AutoShape 13">
            <a:extLst>
              <a:ext uri="{FF2B5EF4-FFF2-40B4-BE49-F238E27FC236}">
                <a16:creationId xmlns:a16="http://schemas.microsoft.com/office/drawing/2014/main" id="{09BC5214-F295-6FEC-BA37-28771BFD8C76}"/>
              </a:ext>
            </a:extLst>
          </p:cNvPr>
          <p:cNvCxnSpPr>
            <a:cxnSpLocks noChangeShapeType="1"/>
            <a:stCxn id="89169" idx="3"/>
            <a:endCxn id="89130" idx="2"/>
          </p:cNvCxnSpPr>
          <p:nvPr/>
        </p:nvCxnSpPr>
        <p:spPr bwMode="gray">
          <a:xfrm flipV="1">
            <a:off x="4503738" y="4679950"/>
            <a:ext cx="168275" cy="1216025"/>
          </a:xfrm>
          <a:prstGeom prst="bentConnector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1" name="AutoShape 14">
            <a:extLst>
              <a:ext uri="{FF2B5EF4-FFF2-40B4-BE49-F238E27FC236}">
                <a16:creationId xmlns:a16="http://schemas.microsoft.com/office/drawing/2014/main" id="{E623128A-DAE5-3520-C0BA-285CA08CF066}"/>
              </a:ext>
            </a:extLst>
          </p:cNvPr>
          <p:cNvCxnSpPr>
            <a:cxnSpLocks noChangeShapeType="1"/>
            <a:stCxn id="89127" idx="2"/>
            <a:endCxn id="89131" idx="1"/>
          </p:cNvCxnSpPr>
          <p:nvPr/>
        </p:nvCxnSpPr>
        <p:spPr bwMode="gray">
          <a:xfrm rot="16200000" flipH="1">
            <a:off x="1405731" y="4120357"/>
            <a:ext cx="2041525" cy="233362"/>
          </a:xfrm>
          <a:prstGeom prst="bentConnector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2" name="AutoShape 15">
            <a:extLst>
              <a:ext uri="{FF2B5EF4-FFF2-40B4-BE49-F238E27FC236}">
                <a16:creationId xmlns:a16="http://schemas.microsoft.com/office/drawing/2014/main" id="{58E97003-7D72-CF96-FF9A-6778001B6AF9}"/>
              </a:ext>
            </a:extLst>
          </p:cNvPr>
          <p:cNvCxnSpPr>
            <a:cxnSpLocks noChangeShapeType="1"/>
            <a:stCxn id="89129" idx="3"/>
            <a:endCxn id="89160" idx="1"/>
          </p:cNvCxnSpPr>
          <p:nvPr/>
        </p:nvCxnSpPr>
        <p:spPr bwMode="gray">
          <a:xfrm>
            <a:off x="5829300" y="4225925"/>
            <a:ext cx="728663" cy="1611313"/>
          </a:xfrm>
          <a:prstGeom prst="bentConnector3">
            <a:avLst>
              <a:gd name="adj1" fmla="val 49889"/>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3" name="AutoShape 16">
            <a:extLst>
              <a:ext uri="{FF2B5EF4-FFF2-40B4-BE49-F238E27FC236}">
                <a16:creationId xmlns:a16="http://schemas.microsoft.com/office/drawing/2014/main" id="{5A0E4A4A-7BCF-27B1-8C3D-A8EA1AD6D3AA}"/>
              </a:ext>
            </a:extLst>
          </p:cNvPr>
          <p:cNvCxnSpPr>
            <a:cxnSpLocks noChangeShapeType="1"/>
            <a:stCxn id="89130" idx="3"/>
            <a:endCxn id="89160" idx="1"/>
          </p:cNvCxnSpPr>
          <p:nvPr/>
        </p:nvCxnSpPr>
        <p:spPr bwMode="gray">
          <a:xfrm>
            <a:off x="6203950" y="4564063"/>
            <a:ext cx="354013" cy="1273175"/>
          </a:xfrm>
          <a:prstGeom prst="bentConnector3">
            <a:avLst>
              <a:gd name="adj1" fmla="val 49778"/>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4" name="AutoShape 17">
            <a:extLst>
              <a:ext uri="{FF2B5EF4-FFF2-40B4-BE49-F238E27FC236}">
                <a16:creationId xmlns:a16="http://schemas.microsoft.com/office/drawing/2014/main" id="{22AEDD0D-A194-EE3C-E344-63E377AFE8E4}"/>
              </a:ext>
            </a:extLst>
          </p:cNvPr>
          <p:cNvCxnSpPr>
            <a:cxnSpLocks noChangeShapeType="1"/>
            <a:stCxn id="89127" idx="2"/>
            <a:endCxn id="89132" idx="0"/>
          </p:cNvCxnSpPr>
          <p:nvPr/>
        </p:nvCxnSpPr>
        <p:spPr bwMode="gray">
          <a:xfrm rot="5400000">
            <a:off x="1678781" y="3479007"/>
            <a:ext cx="893763" cy="368300"/>
          </a:xfrm>
          <a:prstGeom prst="bentConnector3">
            <a:avLst>
              <a:gd name="adj1" fmla="val 4991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5" name="AutoShape 18">
            <a:extLst>
              <a:ext uri="{FF2B5EF4-FFF2-40B4-BE49-F238E27FC236}">
                <a16:creationId xmlns:a16="http://schemas.microsoft.com/office/drawing/2014/main" id="{BFC1C887-04F3-7756-9815-13B98EE71C42}"/>
              </a:ext>
            </a:extLst>
          </p:cNvPr>
          <p:cNvCxnSpPr>
            <a:cxnSpLocks noChangeShapeType="1"/>
            <a:stCxn id="89125" idx="3"/>
            <a:endCxn id="89138" idx="1"/>
          </p:cNvCxnSpPr>
          <p:nvPr/>
        </p:nvCxnSpPr>
        <p:spPr bwMode="gray">
          <a:xfrm>
            <a:off x="2990850" y="3419475"/>
            <a:ext cx="598488" cy="1516063"/>
          </a:xfrm>
          <a:prstGeom prst="bentConnector3">
            <a:avLst>
              <a:gd name="adj1" fmla="val 49866"/>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06" name="AutoShape 19">
            <a:extLst>
              <a:ext uri="{FF2B5EF4-FFF2-40B4-BE49-F238E27FC236}">
                <a16:creationId xmlns:a16="http://schemas.microsoft.com/office/drawing/2014/main" id="{14E8B9E8-9302-F498-8E02-AC8DCE4B9B94}"/>
              </a:ext>
            </a:extLst>
          </p:cNvPr>
          <p:cNvCxnSpPr>
            <a:cxnSpLocks noChangeShapeType="1"/>
            <a:stCxn id="89127" idx="3"/>
            <a:endCxn id="89130" idx="1"/>
          </p:cNvCxnSpPr>
          <p:nvPr/>
        </p:nvCxnSpPr>
        <p:spPr bwMode="gray">
          <a:xfrm>
            <a:off x="2990850" y="3100388"/>
            <a:ext cx="149225" cy="1463675"/>
          </a:xfrm>
          <a:prstGeom prst="bentConnector3">
            <a:avLst>
              <a:gd name="adj1" fmla="val 48935"/>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107" name="Text Box 20">
            <a:extLst>
              <a:ext uri="{FF2B5EF4-FFF2-40B4-BE49-F238E27FC236}">
                <a16:creationId xmlns:a16="http://schemas.microsoft.com/office/drawing/2014/main" id="{BC2F4EBC-8327-A404-885E-4B3F881DEAA4}"/>
              </a:ext>
            </a:extLst>
          </p:cNvPr>
          <p:cNvSpPr txBox="1">
            <a:spLocks noChangeArrowheads="1"/>
          </p:cNvSpPr>
          <p:nvPr/>
        </p:nvSpPr>
        <p:spPr bwMode="gray">
          <a:xfrm>
            <a:off x="157163" y="2082800"/>
            <a:ext cx="815975" cy="234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zh-CN" sz="800">
                <a:ea typeface="SimSun" panose="02010600030101010101" pitchFamily="2" charset="-122"/>
              </a:rPr>
              <a:t>Program Office</a:t>
            </a:r>
          </a:p>
        </p:txBody>
      </p:sp>
      <p:sp>
        <p:nvSpPr>
          <p:cNvPr id="89108" name="Text Box 21">
            <a:extLst>
              <a:ext uri="{FF2B5EF4-FFF2-40B4-BE49-F238E27FC236}">
                <a16:creationId xmlns:a16="http://schemas.microsoft.com/office/drawing/2014/main" id="{C20E2F04-5D88-C435-6722-F9004662CE53}"/>
              </a:ext>
            </a:extLst>
          </p:cNvPr>
          <p:cNvSpPr txBox="1">
            <a:spLocks noChangeArrowheads="1"/>
          </p:cNvSpPr>
          <p:nvPr/>
        </p:nvSpPr>
        <p:spPr bwMode="gray">
          <a:xfrm>
            <a:off x="157163" y="3327400"/>
            <a:ext cx="815975" cy="236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zh-CN" sz="800">
                <a:ea typeface="SimSun" panose="02010600030101010101" pitchFamily="2" charset="-122"/>
              </a:rPr>
              <a:t>Sending Activities</a:t>
            </a:r>
          </a:p>
        </p:txBody>
      </p:sp>
      <p:sp>
        <p:nvSpPr>
          <p:cNvPr id="89109" name="Text Box 22">
            <a:extLst>
              <a:ext uri="{FF2B5EF4-FFF2-40B4-BE49-F238E27FC236}">
                <a16:creationId xmlns:a16="http://schemas.microsoft.com/office/drawing/2014/main" id="{92216E58-1F24-7B11-3157-50251BAE1AD0}"/>
              </a:ext>
            </a:extLst>
          </p:cNvPr>
          <p:cNvSpPr txBox="1">
            <a:spLocks noChangeArrowheads="1"/>
          </p:cNvSpPr>
          <p:nvPr/>
        </p:nvSpPr>
        <p:spPr bwMode="gray">
          <a:xfrm>
            <a:off x="157163" y="4852988"/>
            <a:ext cx="815975" cy="236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zh-CN" sz="800">
                <a:ea typeface="SimSun" panose="02010600030101010101" pitchFamily="2" charset="-122"/>
              </a:rPr>
              <a:t>Receiving Activities</a:t>
            </a:r>
          </a:p>
        </p:txBody>
      </p:sp>
      <p:sp>
        <p:nvSpPr>
          <p:cNvPr id="89110" name="Rectangle 23">
            <a:extLst>
              <a:ext uri="{FF2B5EF4-FFF2-40B4-BE49-F238E27FC236}">
                <a16:creationId xmlns:a16="http://schemas.microsoft.com/office/drawing/2014/main" id="{C19389C0-F0A2-17E8-73BA-E50951095216}"/>
              </a:ext>
            </a:extLst>
          </p:cNvPr>
          <p:cNvSpPr>
            <a:spLocks noChangeArrowheads="1"/>
          </p:cNvSpPr>
          <p:nvPr/>
        </p:nvSpPr>
        <p:spPr bwMode="gray">
          <a:xfrm>
            <a:off x="1363663" y="1927225"/>
            <a:ext cx="1068387" cy="233363"/>
          </a:xfrm>
          <a:prstGeom prst="rect">
            <a:avLst/>
          </a:prstGeom>
          <a:solidFill>
            <a:schemeClr val="accent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solidFill>
                  <a:schemeClr val="bg1"/>
                </a:solidFill>
                <a:ea typeface="SimSun" panose="02010600030101010101" pitchFamily="2" charset="-122"/>
              </a:rPr>
              <a:t>Set up PMO Governance</a:t>
            </a:r>
          </a:p>
        </p:txBody>
      </p:sp>
      <p:sp>
        <p:nvSpPr>
          <p:cNvPr id="89111" name="Rectangle 24">
            <a:extLst>
              <a:ext uri="{FF2B5EF4-FFF2-40B4-BE49-F238E27FC236}">
                <a16:creationId xmlns:a16="http://schemas.microsoft.com/office/drawing/2014/main" id="{79BAF99A-1383-28E5-3519-09232D37171F}"/>
              </a:ext>
            </a:extLst>
          </p:cNvPr>
          <p:cNvSpPr>
            <a:spLocks noChangeArrowheads="1"/>
          </p:cNvSpPr>
          <p:nvPr/>
        </p:nvSpPr>
        <p:spPr bwMode="gray">
          <a:xfrm>
            <a:off x="1363663" y="2179638"/>
            <a:ext cx="8078787" cy="233362"/>
          </a:xfrm>
          <a:prstGeom prst="rect">
            <a:avLst/>
          </a:prstGeom>
          <a:solidFill>
            <a:schemeClr val="accent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solidFill>
                  <a:schemeClr val="bg1"/>
                </a:solidFill>
                <a:ea typeface="SimSun" panose="02010600030101010101" pitchFamily="2" charset="-122"/>
              </a:rPr>
              <a:t>Manage Budget (financial management )</a:t>
            </a:r>
          </a:p>
        </p:txBody>
      </p:sp>
      <p:sp>
        <p:nvSpPr>
          <p:cNvPr id="89112" name="Rectangle 25">
            <a:extLst>
              <a:ext uri="{FF2B5EF4-FFF2-40B4-BE49-F238E27FC236}">
                <a16:creationId xmlns:a16="http://schemas.microsoft.com/office/drawing/2014/main" id="{1DD8C2C4-1A48-FA32-BFC9-7ADA7C08385F}"/>
              </a:ext>
            </a:extLst>
          </p:cNvPr>
          <p:cNvSpPr>
            <a:spLocks noChangeArrowheads="1"/>
          </p:cNvSpPr>
          <p:nvPr/>
        </p:nvSpPr>
        <p:spPr bwMode="gray">
          <a:xfrm>
            <a:off x="1363663" y="2433638"/>
            <a:ext cx="8078787" cy="231775"/>
          </a:xfrm>
          <a:prstGeom prst="rect">
            <a:avLst/>
          </a:prstGeom>
          <a:solidFill>
            <a:schemeClr val="accent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solidFill>
                  <a:schemeClr val="bg1"/>
                </a:solidFill>
                <a:ea typeface="SimSun" panose="02010600030101010101" pitchFamily="2" charset="-122"/>
              </a:rPr>
              <a:t>Manage Time  (mobilize Transformation/Implementation Teams, Manage Progr, Manage Project Activities)</a:t>
            </a:r>
          </a:p>
        </p:txBody>
      </p:sp>
      <p:sp>
        <p:nvSpPr>
          <p:cNvPr id="89113" name="Rectangle 26">
            <a:extLst>
              <a:ext uri="{FF2B5EF4-FFF2-40B4-BE49-F238E27FC236}">
                <a16:creationId xmlns:a16="http://schemas.microsoft.com/office/drawing/2014/main" id="{48F2CA1E-31A5-933A-2F31-EFBDE177FF47}"/>
              </a:ext>
            </a:extLst>
          </p:cNvPr>
          <p:cNvSpPr>
            <a:spLocks noChangeArrowheads="1"/>
          </p:cNvSpPr>
          <p:nvPr/>
        </p:nvSpPr>
        <p:spPr bwMode="gray">
          <a:xfrm>
            <a:off x="2106613" y="1695450"/>
            <a:ext cx="735012"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Mar</a:t>
            </a:r>
          </a:p>
        </p:txBody>
      </p:sp>
      <p:sp>
        <p:nvSpPr>
          <p:cNvPr id="89114" name="Rectangle 27">
            <a:extLst>
              <a:ext uri="{FF2B5EF4-FFF2-40B4-BE49-F238E27FC236}">
                <a16:creationId xmlns:a16="http://schemas.microsoft.com/office/drawing/2014/main" id="{78389816-F613-593A-4AD1-56D316277C83}"/>
              </a:ext>
            </a:extLst>
          </p:cNvPr>
          <p:cNvSpPr>
            <a:spLocks noChangeArrowheads="1"/>
          </p:cNvSpPr>
          <p:nvPr/>
        </p:nvSpPr>
        <p:spPr bwMode="gray">
          <a:xfrm>
            <a:off x="2841625" y="1695450"/>
            <a:ext cx="731838"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Apr</a:t>
            </a:r>
          </a:p>
        </p:txBody>
      </p:sp>
      <p:sp>
        <p:nvSpPr>
          <p:cNvPr id="89115" name="Rectangle 28">
            <a:extLst>
              <a:ext uri="{FF2B5EF4-FFF2-40B4-BE49-F238E27FC236}">
                <a16:creationId xmlns:a16="http://schemas.microsoft.com/office/drawing/2014/main" id="{8F49F4AC-5BF8-58D2-DB5D-9D00BA742121}"/>
              </a:ext>
            </a:extLst>
          </p:cNvPr>
          <p:cNvSpPr>
            <a:spLocks noChangeArrowheads="1"/>
          </p:cNvSpPr>
          <p:nvPr/>
        </p:nvSpPr>
        <p:spPr bwMode="gray">
          <a:xfrm>
            <a:off x="3573463" y="1695450"/>
            <a:ext cx="735012"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May</a:t>
            </a:r>
          </a:p>
        </p:txBody>
      </p:sp>
      <p:sp>
        <p:nvSpPr>
          <p:cNvPr id="89116" name="Rectangle 29">
            <a:extLst>
              <a:ext uri="{FF2B5EF4-FFF2-40B4-BE49-F238E27FC236}">
                <a16:creationId xmlns:a16="http://schemas.microsoft.com/office/drawing/2014/main" id="{DD9467C0-767D-D879-B886-8EF337DC0AB1}"/>
              </a:ext>
            </a:extLst>
          </p:cNvPr>
          <p:cNvSpPr>
            <a:spLocks noChangeArrowheads="1"/>
          </p:cNvSpPr>
          <p:nvPr/>
        </p:nvSpPr>
        <p:spPr bwMode="gray">
          <a:xfrm>
            <a:off x="4308475" y="1695450"/>
            <a:ext cx="731838"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Jun</a:t>
            </a:r>
          </a:p>
        </p:txBody>
      </p:sp>
      <p:sp>
        <p:nvSpPr>
          <p:cNvPr id="89117" name="Rectangle 30">
            <a:extLst>
              <a:ext uri="{FF2B5EF4-FFF2-40B4-BE49-F238E27FC236}">
                <a16:creationId xmlns:a16="http://schemas.microsoft.com/office/drawing/2014/main" id="{4F0C3CA3-2386-7BC5-5556-0B0EE28E177F}"/>
              </a:ext>
            </a:extLst>
          </p:cNvPr>
          <p:cNvSpPr>
            <a:spLocks noChangeArrowheads="1"/>
          </p:cNvSpPr>
          <p:nvPr/>
        </p:nvSpPr>
        <p:spPr bwMode="gray">
          <a:xfrm>
            <a:off x="5040313" y="1695450"/>
            <a:ext cx="735012"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Jul</a:t>
            </a:r>
          </a:p>
        </p:txBody>
      </p:sp>
      <p:sp>
        <p:nvSpPr>
          <p:cNvPr id="89118" name="Rectangle 31">
            <a:extLst>
              <a:ext uri="{FF2B5EF4-FFF2-40B4-BE49-F238E27FC236}">
                <a16:creationId xmlns:a16="http://schemas.microsoft.com/office/drawing/2014/main" id="{FC9200AE-935A-7617-B4BC-62312C104AFA}"/>
              </a:ext>
            </a:extLst>
          </p:cNvPr>
          <p:cNvSpPr>
            <a:spLocks noChangeArrowheads="1"/>
          </p:cNvSpPr>
          <p:nvPr/>
        </p:nvSpPr>
        <p:spPr bwMode="gray">
          <a:xfrm>
            <a:off x="5775325" y="1695450"/>
            <a:ext cx="731838"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Aug</a:t>
            </a:r>
          </a:p>
        </p:txBody>
      </p:sp>
      <p:sp>
        <p:nvSpPr>
          <p:cNvPr id="89119" name="Rectangle 32">
            <a:extLst>
              <a:ext uri="{FF2B5EF4-FFF2-40B4-BE49-F238E27FC236}">
                <a16:creationId xmlns:a16="http://schemas.microsoft.com/office/drawing/2014/main" id="{1A93F2E2-80F8-3954-BEED-B50BF7B79134}"/>
              </a:ext>
            </a:extLst>
          </p:cNvPr>
          <p:cNvSpPr>
            <a:spLocks noChangeArrowheads="1"/>
          </p:cNvSpPr>
          <p:nvPr/>
        </p:nvSpPr>
        <p:spPr bwMode="gray">
          <a:xfrm>
            <a:off x="6507163" y="1695450"/>
            <a:ext cx="735012"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Sep</a:t>
            </a:r>
          </a:p>
        </p:txBody>
      </p:sp>
      <p:sp>
        <p:nvSpPr>
          <p:cNvPr id="89120" name="Rectangle 33">
            <a:extLst>
              <a:ext uri="{FF2B5EF4-FFF2-40B4-BE49-F238E27FC236}">
                <a16:creationId xmlns:a16="http://schemas.microsoft.com/office/drawing/2014/main" id="{C246CD83-6095-678C-415C-8110ECF6B0F7}"/>
              </a:ext>
            </a:extLst>
          </p:cNvPr>
          <p:cNvSpPr>
            <a:spLocks noChangeArrowheads="1"/>
          </p:cNvSpPr>
          <p:nvPr/>
        </p:nvSpPr>
        <p:spPr bwMode="gray">
          <a:xfrm>
            <a:off x="7242175" y="1695450"/>
            <a:ext cx="731838"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Oct</a:t>
            </a:r>
          </a:p>
        </p:txBody>
      </p:sp>
      <p:sp>
        <p:nvSpPr>
          <p:cNvPr id="89121" name="Rectangle 34">
            <a:extLst>
              <a:ext uri="{FF2B5EF4-FFF2-40B4-BE49-F238E27FC236}">
                <a16:creationId xmlns:a16="http://schemas.microsoft.com/office/drawing/2014/main" id="{983A04AC-CD4D-BAC9-4521-F2D89524B042}"/>
              </a:ext>
            </a:extLst>
          </p:cNvPr>
          <p:cNvSpPr>
            <a:spLocks noChangeArrowheads="1"/>
          </p:cNvSpPr>
          <p:nvPr/>
        </p:nvSpPr>
        <p:spPr bwMode="gray">
          <a:xfrm>
            <a:off x="7974013" y="1695450"/>
            <a:ext cx="735012"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Nov</a:t>
            </a:r>
          </a:p>
        </p:txBody>
      </p:sp>
      <p:sp>
        <p:nvSpPr>
          <p:cNvPr id="89122" name="Rectangle 35">
            <a:extLst>
              <a:ext uri="{FF2B5EF4-FFF2-40B4-BE49-F238E27FC236}">
                <a16:creationId xmlns:a16="http://schemas.microsoft.com/office/drawing/2014/main" id="{E32E00C9-DEB8-35BA-0114-9BB631C935AA}"/>
              </a:ext>
            </a:extLst>
          </p:cNvPr>
          <p:cNvSpPr>
            <a:spLocks noChangeArrowheads="1"/>
          </p:cNvSpPr>
          <p:nvPr/>
        </p:nvSpPr>
        <p:spPr bwMode="gray">
          <a:xfrm>
            <a:off x="8709025" y="1695450"/>
            <a:ext cx="733425"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Dec</a:t>
            </a:r>
          </a:p>
        </p:txBody>
      </p:sp>
      <p:sp>
        <p:nvSpPr>
          <p:cNvPr id="89123" name="Rectangle 36">
            <a:extLst>
              <a:ext uri="{FF2B5EF4-FFF2-40B4-BE49-F238E27FC236}">
                <a16:creationId xmlns:a16="http://schemas.microsoft.com/office/drawing/2014/main" id="{B0B95F04-BE2B-2D8F-098C-EB1C72E74BF6}"/>
              </a:ext>
            </a:extLst>
          </p:cNvPr>
          <p:cNvSpPr>
            <a:spLocks noChangeArrowheads="1"/>
          </p:cNvSpPr>
          <p:nvPr/>
        </p:nvSpPr>
        <p:spPr bwMode="gray">
          <a:xfrm>
            <a:off x="650875" y="1695450"/>
            <a:ext cx="733425"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Jan</a:t>
            </a:r>
          </a:p>
        </p:txBody>
      </p:sp>
      <p:sp>
        <p:nvSpPr>
          <p:cNvPr id="89124" name="Rectangle 37">
            <a:extLst>
              <a:ext uri="{FF2B5EF4-FFF2-40B4-BE49-F238E27FC236}">
                <a16:creationId xmlns:a16="http://schemas.microsoft.com/office/drawing/2014/main" id="{04CBB2D2-3E12-EAE8-CF70-C92559EB7772}"/>
              </a:ext>
            </a:extLst>
          </p:cNvPr>
          <p:cNvSpPr>
            <a:spLocks noChangeArrowheads="1"/>
          </p:cNvSpPr>
          <p:nvPr/>
        </p:nvSpPr>
        <p:spPr bwMode="gray">
          <a:xfrm>
            <a:off x="1379538" y="1695450"/>
            <a:ext cx="731837" cy="153988"/>
          </a:xfrm>
          <a:prstGeom prst="rect">
            <a:avLst/>
          </a:prstGeom>
          <a:solidFill>
            <a:srgbClr val="0070C0"/>
          </a:solidFill>
          <a:ln w="12700" algn="ctr">
            <a:solidFill>
              <a:schemeClr val="bg1"/>
            </a:solidFill>
            <a:miter lim="800000"/>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1000">
                <a:solidFill>
                  <a:schemeClr val="bg1"/>
                </a:solidFill>
                <a:ea typeface="SimSun" panose="02010600030101010101" pitchFamily="2" charset="-122"/>
              </a:rPr>
              <a:t>Feb</a:t>
            </a:r>
          </a:p>
        </p:txBody>
      </p:sp>
      <p:sp>
        <p:nvSpPr>
          <p:cNvPr id="89125" name="Rectangle 38">
            <a:extLst>
              <a:ext uri="{FF2B5EF4-FFF2-40B4-BE49-F238E27FC236}">
                <a16:creationId xmlns:a16="http://schemas.microsoft.com/office/drawing/2014/main" id="{353CDF6C-E0A8-B821-CC09-6DE41D2A8B71}"/>
              </a:ext>
            </a:extLst>
          </p:cNvPr>
          <p:cNvSpPr>
            <a:spLocks noChangeArrowheads="1"/>
          </p:cNvSpPr>
          <p:nvPr/>
        </p:nvSpPr>
        <p:spPr bwMode="gray">
          <a:xfrm>
            <a:off x="1762125" y="3275013"/>
            <a:ext cx="1477963" cy="288925"/>
          </a:xfrm>
          <a:prstGeom prst="rect">
            <a:avLst/>
          </a:prstGeom>
          <a:blipFill dpi="0" rotWithShape="0">
            <a:blip r:embed="rId4"/>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zh-CN" sz="800">
                <a:ea typeface="SimSun" panose="02010600030101010101" pitchFamily="2" charset="-122"/>
              </a:rPr>
              <a:t>Document Processes to be Transferred and Develop To Be Solution</a:t>
            </a:r>
          </a:p>
        </p:txBody>
      </p:sp>
      <p:sp>
        <p:nvSpPr>
          <p:cNvPr id="89126" name="Rectangle 39">
            <a:extLst>
              <a:ext uri="{FF2B5EF4-FFF2-40B4-BE49-F238E27FC236}">
                <a16:creationId xmlns:a16="http://schemas.microsoft.com/office/drawing/2014/main" id="{590CB251-BD9C-B544-2854-331EBA02150E}"/>
              </a:ext>
            </a:extLst>
          </p:cNvPr>
          <p:cNvSpPr>
            <a:spLocks noChangeArrowheads="1"/>
          </p:cNvSpPr>
          <p:nvPr/>
        </p:nvSpPr>
        <p:spPr bwMode="gray">
          <a:xfrm>
            <a:off x="1363663" y="2687638"/>
            <a:ext cx="8078787" cy="231775"/>
          </a:xfrm>
          <a:prstGeom prst="rect">
            <a:avLst/>
          </a:prstGeom>
          <a:solidFill>
            <a:schemeClr val="accent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solidFill>
                  <a:schemeClr val="bg1"/>
                </a:solidFill>
                <a:ea typeface="SimSun" panose="02010600030101010101" pitchFamily="2" charset="-122"/>
              </a:rPr>
              <a:t>Manage Communications &amp; Change</a:t>
            </a:r>
          </a:p>
        </p:txBody>
      </p:sp>
      <p:sp>
        <p:nvSpPr>
          <p:cNvPr id="89127" name="Rectangle 40">
            <a:extLst>
              <a:ext uri="{FF2B5EF4-FFF2-40B4-BE49-F238E27FC236}">
                <a16:creationId xmlns:a16="http://schemas.microsoft.com/office/drawing/2014/main" id="{3A5D28B8-4189-B640-912A-8481EB8B8651}"/>
              </a:ext>
            </a:extLst>
          </p:cNvPr>
          <p:cNvSpPr>
            <a:spLocks noChangeArrowheads="1"/>
          </p:cNvSpPr>
          <p:nvPr/>
        </p:nvSpPr>
        <p:spPr bwMode="gray">
          <a:xfrm>
            <a:off x="1762125" y="2984500"/>
            <a:ext cx="1477963" cy="231775"/>
          </a:xfrm>
          <a:prstGeom prst="rect">
            <a:avLst/>
          </a:prstGeom>
          <a:blipFill dpi="0" rotWithShape="0">
            <a:blip r:embed="rId4"/>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Define Receiving Center Requirements</a:t>
            </a:r>
          </a:p>
        </p:txBody>
      </p:sp>
      <p:sp>
        <p:nvSpPr>
          <p:cNvPr id="89128" name="Rectangle 41">
            <a:extLst>
              <a:ext uri="{FF2B5EF4-FFF2-40B4-BE49-F238E27FC236}">
                <a16:creationId xmlns:a16="http://schemas.microsoft.com/office/drawing/2014/main" id="{4A6CC2CF-0E2F-47FC-5696-B258482FD7C0}"/>
              </a:ext>
            </a:extLst>
          </p:cNvPr>
          <p:cNvSpPr>
            <a:spLocks noChangeArrowheads="1"/>
          </p:cNvSpPr>
          <p:nvPr/>
        </p:nvSpPr>
        <p:spPr bwMode="gray">
          <a:xfrm>
            <a:off x="1762125" y="3654425"/>
            <a:ext cx="2368550" cy="231775"/>
          </a:xfrm>
          <a:prstGeom prst="rect">
            <a:avLst/>
          </a:prstGeom>
          <a:blipFill dpi="0" rotWithShape="0">
            <a:blip r:embed="rId4"/>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Manage Sending Side Impact and Change</a:t>
            </a:r>
          </a:p>
        </p:txBody>
      </p:sp>
      <p:sp>
        <p:nvSpPr>
          <p:cNvPr id="89129" name="Rectangle 42">
            <a:extLst>
              <a:ext uri="{FF2B5EF4-FFF2-40B4-BE49-F238E27FC236}">
                <a16:creationId xmlns:a16="http://schemas.microsoft.com/office/drawing/2014/main" id="{75D1E728-FBFF-03F0-88ED-9B03595E9057}"/>
              </a:ext>
            </a:extLst>
          </p:cNvPr>
          <p:cNvSpPr>
            <a:spLocks noChangeArrowheads="1"/>
          </p:cNvSpPr>
          <p:nvPr/>
        </p:nvSpPr>
        <p:spPr bwMode="gray">
          <a:xfrm>
            <a:off x="2997200" y="4110038"/>
            <a:ext cx="3317875" cy="231775"/>
          </a:xfrm>
          <a:prstGeom prst="rect">
            <a:avLst/>
          </a:prstGeom>
          <a:solidFill>
            <a:srgbClr val="EAEAEA"/>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Set up legal entity</a:t>
            </a:r>
          </a:p>
        </p:txBody>
      </p:sp>
      <p:sp>
        <p:nvSpPr>
          <p:cNvPr id="89130" name="Rectangle 43">
            <a:extLst>
              <a:ext uri="{FF2B5EF4-FFF2-40B4-BE49-F238E27FC236}">
                <a16:creationId xmlns:a16="http://schemas.microsoft.com/office/drawing/2014/main" id="{68F8A727-79F1-3922-9CA4-74F755C1FE6D}"/>
              </a:ext>
            </a:extLst>
          </p:cNvPr>
          <p:cNvSpPr>
            <a:spLocks noChangeArrowheads="1"/>
          </p:cNvSpPr>
          <p:nvPr/>
        </p:nvSpPr>
        <p:spPr bwMode="gray">
          <a:xfrm>
            <a:off x="3402013" y="4448175"/>
            <a:ext cx="3319462" cy="231775"/>
          </a:xfrm>
          <a:prstGeom prst="rect">
            <a:avLst/>
          </a:prstGeom>
          <a:solidFill>
            <a:schemeClr val="hlink"/>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Design &amp; Build Site Infrastructure (incl. fit-out and IT)</a:t>
            </a:r>
          </a:p>
        </p:txBody>
      </p:sp>
      <p:sp>
        <p:nvSpPr>
          <p:cNvPr id="89131" name="Rectangle 44">
            <a:extLst>
              <a:ext uri="{FF2B5EF4-FFF2-40B4-BE49-F238E27FC236}">
                <a16:creationId xmlns:a16="http://schemas.microsoft.com/office/drawing/2014/main" id="{6AEA6AC4-7DEC-5C3D-0822-0320C83DEC77}"/>
              </a:ext>
            </a:extLst>
          </p:cNvPr>
          <p:cNvSpPr>
            <a:spLocks noChangeArrowheads="1"/>
          </p:cNvSpPr>
          <p:nvPr/>
        </p:nvSpPr>
        <p:spPr bwMode="gray">
          <a:xfrm>
            <a:off x="2755900" y="5141913"/>
            <a:ext cx="1476375" cy="231775"/>
          </a:xfrm>
          <a:prstGeom prst="rect">
            <a:avLst/>
          </a:prstGeom>
          <a:blipFill dpi="0" rotWithShape="0">
            <a:blip r:embed="rId3"/>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Recruit Key Positions</a:t>
            </a:r>
          </a:p>
        </p:txBody>
      </p:sp>
      <p:sp>
        <p:nvSpPr>
          <p:cNvPr id="89132" name="Rectangle 45">
            <a:extLst>
              <a:ext uri="{FF2B5EF4-FFF2-40B4-BE49-F238E27FC236}">
                <a16:creationId xmlns:a16="http://schemas.microsoft.com/office/drawing/2014/main" id="{98DAA85F-9961-5E98-6810-1878A546B7B0}"/>
              </a:ext>
            </a:extLst>
          </p:cNvPr>
          <p:cNvSpPr>
            <a:spLocks noChangeArrowheads="1"/>
          </p:cNvSpPr>
          <p:nvPr/>
        </p:nvSpPr>
        <p:spPr bwMode="gray">
          <a:xfrm>
            <a:off x="1363663" y="4110038"/>
            <a:ext cx="1477962" cy="231775"/>
          </a:xfrm>
          <a:prstGeom prst="rect">
            <a:avLst/>
          </a:prstGeom>
          <a:solidFill>
            <a:schemeClr val="hlink"/>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Site Selection</a:t>
            </a:r>
          </a:p>
        </p:txBody>
      </p:sp>
      <p:sp>
        <p:nvSpPr>
          <p:cNvPr id="89133" name="AutoShape 46">
            <a:extLst>
              <a:ext uri="{FF2B5EF4-FFF2-40B4-BE49-F238E27FC236}">
                <a16:creationId xmlns:a16="http://schemas.microsoft.com/office/drawing/2014/main" id="{D2A6D034-E480-25B8-61C5-380C4DFC84A2}"/>
              </a:ext>
            </a:extLst>
          </p:cNvPr>
          <p:cNvSpPr>
            <a:spLocks noChangeArrowheads="1"/>
          </p:cNvSpPr>
          <p:nvPr/>
        </p:nvSpPr>
        <p:spPr bwMode="gray">
          <a:xfrm>
            <a:off x="6802438" y="4506913"/>
            <a:ext cx="160337" cy="115887"/>
          </a:xfrm>
          <a:prstGeom prst="diamond">
            <a:avLst/>
          </a:prstGeom>
          <a:solidFill>
            <a:schemeClr val="bg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134" name="AutoShape 47">
            <a:extLst>
              <a:ext uri="{FF2B5EF4-FFF2-40B4-BE49-F238E27FC236}">
                <a16:creationId xmlns:a16="http://schemas.microsoft.com/office/drawing/2014/main" id="{30DE75F4-08F0-C610-D856-2EF79DAB6F7B}"/>
              </a:ext>
            </a:extLst>
          </p:cNvPr>
          <p:cNvSpPr>
            <a:spLocks noChangeArrowheads="1"/>
          </p:cNvSpPr>
          <p:nvPr/>
        </p:nvSpPr>
        <p:spPr bwMode="gray">
          <a:xfrm>
            <a:off x="6396038" y="4168775"/>
            <a:ext cx="163512" cy="115888"/>
          </a:xfrm>
          <a:prstGeom prst="diamond">
            <a:avLst/>
          </a:prstGeom>
          <a:solidFill>
            <a:schemeClr val="bg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135" name="Text Box 48">
            <a:extLst>
              <a:ext uri="{FF2B5EF4-FFF2-40B4-BE49-F238E27FC236}">
                <a16:creationId xmlns:a16="http://schemas.microsoft.com/office/drawing/2014/main" id="{1B434A5F-1908-9909-8054-AD357D98E14B}"/>
              </a:ext>
            </a:extLst>
          </p:cNvPr>
          <p:cNvSpPr txBox="1">
            <a:spLocks noChangeArrowheads="1"/>
          </p:cNvSpPr>
          <p:nvPr/>
        </p:nvSpPr>
        <p:spPr bwMode="gray">
          <a:xfrm>
            <a:off x="6777038" y="4314825"/>
            <a:ext cx="371475" cy="252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9/15</a:t>
            </a:r>
          </a:p>
        </p:txBody>
      </p:sp>
      <p:sp>
        <p:nvSpPr>
          <p:cNvPr id="89136" name="Text Box 49">
            <a:extLst>
              <a:ext uri="{FF2B5EF4-FFF2-40B4-BE49-F238E27FC236}">
                <a16:creationId xmlns:a16="http://schemas.microsoft.com/office/drawing/2014/main" id="{3D393A10-3691-82BD-B7CC-905D0198F145}"/>
              </a:ext>
            </a:extLst>
          </p:cNvPr>
          <p:cNvSpPr txBox="1">
            <a:spLocks noChangeArrowheads="1"/>
          </p:cNvSpPr>
          <p:nvPr/>
        </p:nvSpPr>
        <p:spPr bwMode="gray">
          <a:xfrm>
            <a:off x="6421438" y="4025900"/>
            <a:ext cx="371475" cy="252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8/11</a:t>
            </a:r>
          </a:p>
        </p:txBody>
      </p:sp>
      <p:sp>
        <p:nvSpPr>
          <p:cNvPr id="89137" name="Rectangle 50">
            <a:extLst>
              <a:ext uri="{FF2B5EF4-FFF2-40B4-BE49-F238E27FC236}">
                <a16:creationId xmlns:a16="http://schemas.microsoft.com/office/drawing/2014/main" id="{67CA752B-C5C0-4DCF-3ED8-28968E621EE9}"/>
              </a:ext>
            </a:extLst>
          </p:cNvPr>
          <p:cNvSpPr>
            <a:spLocks noChangeArrowheads="1"/>
          </p:cNvSpPr>
          <p:nvPr/>
        </p:nvSpPr>
        <p:spPr bwMode="gray">
          <a:xfrm>
            <a:off x="4271963" y="5424488"/>
            <a:ext cx="2690812" cy="231775"/>
          </a:xfrm>
          <a:prstGeom prst="rect">
            <a:avLst/>
          </a:prstGeom>
          <a:blipFill dpi="0" rotWithShape="0">
            <a:blip r:embed="rId3"/>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Recruit Operational Staff and Perform Training</a:t>
            </a:r>
          </a:p>
        </p:txBody>
      </p:sp>
      <p:sp>
        <p:nvSpPr>
          <p:cNvPr id="89138" name="Rectangle 51">
            <a:extLst>
              <a:ext uri="{FF2B5EF4-FFF2-40B4-BE49-F238E27FC236}">
                <a16:creationId xmlns:a16="http://schemas.microsoft.com/office/drawing/2014/main" id="{51EA1420-B6F6-057D-E46C-6DDBB002AA02}"/>
              </a:ext>
            </a:extLst>
          </p:cNvPr>
          <p:cNvSpPr>
            <a:spLocks noChangeArrowheads="1"/>
          </p:cNvSpPr>
          <p:nvPr/>
        </p:nvSpPr>
        <p:spPr bwMode="gray">
          <a:xfrm>
            <a:off x="3887788" y="4819650"/>
            <a:ext cx="969962" cy="231775"/>
          </a:xfrm>
          <a:prstGeom prst="rect">
            <a:avLst/>
          </a:prstGeom>
          <a:blipFill dpi="0" rotWithShape="0">
            <a:blip r:embed="rId5"/>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Dev. Training Materials</a:t>
            </a:r>
          </a:p>
        </p:txBody>
      </p:sp>
      <p:sp>
        <p:nvSpPr>
          <p:cNvPr id="89139" name="Rectangle 52">
            <a:extLst>
              <a:ext uri="{FF2B5EF4-FFF2-40B4-BE49-F238E27FC236}">
                <a16:creationId xmlns:a16="http://schemas.microsoft.com/office/drawing/2014/main" id="{D4414364-AF32-69FC-1883-56A8AE50282A}"/>
              </a:ext>
            </a:extLst>
          </p:cNvPr>
          <p:cNvSpPr>
            <a:spLocks noChangeArrowheads="1"/>
          </p:cNvSpPr>
          <p:nvPr/>
        </p:nvSpPr>
        <p:spPr bwMode="gray">
          <a:xfrm>
            <a:off x="1843088" y="4819650"/>
            <a:ext cx="1397000" cy="231775"/>
          </a:xfrm>
          <a:prstGeom prst="rect">
            <a:avLst/>
          </a:prstGeom>
          <a:blipFill dpi="0" rotWithShape="0">
            <a:blip r:embed="rId5"/>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Establish SSC Org and Operating prInciples</a:t>
            </a:r>
          </a:p>
        </p:txBody>
      </p:sp>
      <p:cxnSp>
        <p:nvCxnSpPr>
          <p:cNvPr id="89140" name="AutoShape 53">
            <a:extLst>
              <a:ext uri="{FF2B5EF4-FFF2-40B4-BE49-F238E27FC236}">
                <a16:creationId xmlns:a16="http://schemas.microsoft.com/office/drawing/2014/main" id="{E0225F25-8FA4-E271-D7B1-A9E26D50576D}"/>
              </a:ext>
            </a:extLst>
          </p:cNvPr>
          <p:cNvCxnSpPr>
            <a:cxnSpLocks noChangeShapeType="1"/>
            <a:stCxn id="89132" idx="3"/>
            <a:endCxn id="89129" idx="1"/>
          </p:cNvCxnSpPr>
          <p:nvPr/>
        </p:nvCxnSpPr>
        <p:spPr bwMode="gray">
          <a:xfrm>
            <a:off x="2622550" y="4225925"/>
            <a:ext cx="144463" cy="0"/>
          </a:xfrm>
          <a:prstGeom prst="straightConnector1">
            <a:avLst/>
          </a:prstGeom>
          <a:noFill/>
          <a:ln w="63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41" name="AutoShape 54">
            <a:extLst>
              <a:ext uri="{FF2B5EF4-FFF2-40B4-BE49-F238E27FC236}">
                <a16:creationId xmlns:a16="http://schemas.microsoft.com/office/drawing/2014/main" id="{C010EF26-A4E4-DCB3-24CA-0AB4E04226A9}"/>
              </a:ext>
            </a:extLst>
          </p:cNvPr>
          <p:cNvCxnSpPr>
            <a:cxnSpLocks noChangeShapeType="1"/>
            <a:stCxn id="89139" idx="3"/>
            <a:endCxn id="89138" idx="1"/>
          </p:cNvCxnSpPr>
          <p:nvPr/>
        </p:nvCxnSpPr>
        <p:spPr bwMode="gray">
          <a:xfrm>
            <a:off x="2990850" y="4935538"/>
            <a:ext cx="598488" cy="0"/>
          </a:xfrm>
          <a:prstGeom prst="straightConnector1">
            <a:avLst/>
          </a:prstGeom>
          <a:noFill/>
          <a:ln w="63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142" name="Rectangle 55">
            <a:extLst>
              <a:ext uri="{FF2B5EF4-FFF2-40B4-BE49-F238E27FC236}">
                <a16:creationId xmlns:a16="http://schemas.microsoft.com/office/drawing/2014/main" id="{7BF04297-1F43-FAD8-33F2-90710990D0D4}"/>
              </a:ext>
            </a:extLst>
          </p:cNvPr>
          <p:cNvSpPr>
            <a:spLocks noChangeArrowheads="1"/>
          </p:cNvSpPr>
          <p:nvPr/>
        </p:nvSpPr>
        <p:spPr bwMode="gray">
          <a:xfrm>
            <a:off x="8289925" y="3654425"/>
            <a:ext cx="1152525" cy="231775"/>
          </a:xfrm>
          <a:prstGeom prst="rect">
            <a:avLst/>
          </a:prstGeom>
          <a:blipFill dpi="0" rotWithShape="0">
            <a:blip r:embed="rId4"/>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Manage FTE ramp Down &amp; Impact</a:t>
            </a:r>
          </a:p>
        </p:txBody>
      </p:sp>
      <p:sp>
        <p:nvSpPr>
          <p:cNvPr id="89143" name="Rectangle 56">
            <a:extLst>
              <a:ext uri="{FF2B5EF4-FFF2-40B4-BE49-F238E27FC236}">
                <a16:creationId xmlns:a16="http://schemas.microsoft.com/office/drawing/2014/main" id="{BAB453F2-2D23-747E-2BC1-38C593260F55}"/>
              </a:ext>
            </a:extLst>
          </p:cNvPr>
          <p:cNvSpPr>
            <a:spLocks noChangeArrowheads="1"/>
          </p:cNvSpPr>
          <p:nvPr/>
        </p:nvSpPr>
        <p:spPr bwMode="gray">
          <a:xfrm>
            <a:off x="4292600"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44" name="Rectangle 57">
            <a:extLst>
              <a:ext uri="{FF2B5EF4-FFF2-40B4-BE49-F238E27FC236}">
                <a16:creationId xmlns:a16="http://schemas.microsoft.com/office/drawing/2014/main" id="{D3536B63-D66F-2C20-1178-A9EF1054DFD3}"/>
              </a:ext>
            </a:extLst>
          </p:cNvPr>
          <p:cNvSpPr>
            <a:spLocks noChangeArrowheads="1"/>
          </p:cNvSpPr>
          <p:nvPr/>
        </p:nvSpPr>
        <p:spPr bwMode="gray">
          <a:xfrm>
            <a:off x="4454525"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45" name="Rectangle 58">
            <a:extLst>
              <a:ext uri="{FF2B5EF4-FFF2-40B4-BE49-F238E27FC236}">
                <a16:creationId xmlns:a16="http://schemas.microsoft.com/office/drawing/2014/main" id="{79EE1C40-DE31-FD05-D0EF-CFE4CB466723}"/>
              </a:ext>
            </a:extLst>
          </p:cNvPr>
          <p:cNvSpPr>
            <a:spLocks noChangeArrowheads="1"/>
          </p:cNvSpPr>
          <p:nvPr/>
        </p:nvSpPr>
        <p:spPr bwMode="gray">
          <a:xfrm>
            <a:off x="4616450"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46" name="Rectangle 59">
            <a:extLst>
              <a:ext uri="{FF2B5EF4-FFF2-40B4-BE49-F238E27FC236}">
                <a16:creationId xmlns:a16="http://schemas.microsoft.com/office/drawing/2014/main" id="{5A28562C-D115-4C04-7D41-EFDC5DEF3CF1}"/>
              </a:ext>
            </a:extLst>
          </p:cNvPr>
          <p:cNvSpPr>
            <a:spLocks noChangeArrowheads="1"/>
          </p:cNvSpPr>
          <p:nvPr/>
        </p:nvSpPr>
        <p:spPr bwMode="gray">
          <a:xfrm>
            <a:off x="4778375" y="3654425"/>
            <a:ext cx="79375"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47" name="Rectangle 60">
            <a:extLst>
              <a:ext uri="{FF2B5EF4-FFF2-40B4-BE49-F238E27FC236}">
                <a16:creationId xmlns:a16="http://schemas.microsoft.com/office/drawing/2014/main" id="{C8FC4729-3CC8-BA2B-CEE3-38CA8CF5126A}"/>
              </a:ext>
            </a:extLst>
          </p:cNvPr>
          <p:cNvSpPr>
            <a:spLocks noChangeArrowheads="1"/>
          </p:cNvSpPr>
          <p:nvPr/>
        </p:nvSpPr>
        <p:spPr bwMode="gray">
          <a:xfrm>
            <a:off x="4938713" y="3654425"/>
            <a:ext cx="80962"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48" name="Rectangle 61">
            <a:extLst>
              <a:ext uri="{FF2B5EF4-FFF2-40B4-BE49-F238E27FC236}">
                <a16:creationId xmlns:a16="http://schemas.microsoft.com/office/drawing/2014/main" id="{80C7D3CE-B1FD-826A-0CC6-06A4E5879919}"/>
              </a:ext>
            </a:extLst>
          </p:cNvPr>
          <p:cNvSpPr>
            <a:spLocks noChangeArrowheads="1"/>
          </p:cNvSpPr>
          <p:nvPr/>
        </p:nvSpPr>
        <p:spPr bwMode="gray">
          <a:xfrm>
            <a:off x="5102225"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49" name="Rectangle 62">
            <a:extLst>
              <a:ext uri="{FF2B5EF4-FFF2-40B4-BE49-F238E27FC236}">
                <a16:creationId xmlns:a16="http://schemas.microsoft.com/office/drawing/2014/main" id="{9D7505B7-D572-A421-693E-E9F4592929DA}"/>
              </a:ext>
            </a:extLst>
          </p:cNvPr>
          <p:cNvSpPr>
            <a:spLocks noChangeArrowheads="1"/>
          </p:cNvSpPr>
          <p:nvPr/>
        </p:nvSpPr>
        <p:spPr bwMode="gray">
          <a:xfrm>
            <a:off x="5264150"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0" name="Rectangle 63">
            <a:extLst>
              <a:ext uri="{FF2B5EF4-FFF2-40B4-BE49-F238E27FC236}">
                <a16:creationId xmlns:a16="http://schemas.microsoft.com/office/drawing/2014/main" id="{A4936982-4289-7FC3-5ABC-4FCE28208297}"/>
              </a:ext>
            </a:extLst>
          </p:cNvPr>
          <p:cNvSpPr>
            <a:spLocks noChangeArrowheads="1"/>
          </p:cNvSpPr>
          <p:nvPr/>
        </p:nvSpPr>
        <p:spPr bwMode="gray">
          <a:xfrm>
            <a:off x="5426075"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1" name="Rectangle 64">
            <a:extLst>
              <a:ext uri="{FF2B5EF4-FFF2-40B4-BE49-F238E27FC236}">
                <a16:creationId xmlns:a16="http://schemas.microsoft.com/office/drawing/2014/main" id="{84DD0F86-1916-C37D-4FFA-482998B03B11}"/>
              </a:ext>
            </a:extLst>
          </p:cNvPr>
          <p:cNvSpPr>
            <a:spLocks noChangeArrowheads="1"/>
          </p:cNvSpPr>
          <p:nvPr/>
        </p:nvSpPr>
        <p:spPr bwMode="gray">
          <a:xfrm>
            <a:off x="5588000"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2" name="Rectangle 65">
            <a:extLst>
              <a:ext uri="{FF2B5EF4-FFF2-40B4-BE49-F238E27FC236}">
                <a16:creationId xmlns:a16="http://schemas.microsoft.com/office/drawing/2014/main" id="{614FB964-BD7D-7B81-BA5B-E3EFBFD25434}"/>
              </a:ext>
            </a:extLst>
          </p:cNvPr>
          <p:cNvSpPr>
            <a:spLocks noChangeArrowheads="1"/>
          </p:cNvSpPr>
          <p:nvPr/>
        </p:nvSpPr>
        <p:spPr bwMode="gray">
          <a:xfrm>
            <a:off x="5749925"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3" name="Rectangle 66">
            <a:extLst>
              <a:ext uri="{FF2B5EF4-FFF2-40B4-BE49-F238E27FC236}">
                <a16:creationId xmlns:a16="http://schemas.microsoft.com/office/drawing/2014/main" id="{DA1BDAD0-3413-0C45-16A0-7E8CA88A9329}"/>
              </a:ext>
            </a:extLst>
          </p:cNvPr>
          <p:cNvSpPr>
            <a:spLocks noChangeArrowheads="1"/>
          </p:cNvSpPr>
          <p:nvPr/>
        </p:nvSpPr>
        <p:spPr bwMode="gray">
          <a:xfrm>
            <a:off x="5910263" y="3654425"/>
            <a:ext cx="80962"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4" name="Rectangle 67">
            <a:extLst>
              <a:ext uri="{FF2B5EF4-FFF2-40B4-BE49-F238E27FC236}">
                <a16:creationId xmlns:a16="http://schemas.microsoft.com/office/drawing/2014/main" id="{0FA1056C-A41D-0018-1160-84B1E49C34E3}"/>
              </a:ext>
            </a:extLst>
          </p:cNvPr>
          <p:cNvSpPr>
            <a:spLocks noChangeArrowheads="1"/>
          </p:cNvSpPr>
          <p:nvPr/>
        </p:nvSpPr>
        <p:spPr bwMode="gray">
          <a:xfrm>
            <a:off x="6072188" y="3654425"/>
            <a:ext cx="80962"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5" name="Rectangle 68">
            <a:extLst>
              <a:ext uri="{FF2B5EF4-FFF2-40B4-BE49-F238E27FC236}">
                <a16:creationId xmlns:a16="http://schemas.microsoft.com/office/drawing/2014/main" id="{3B8456CB-181F-D4E7-47E3-B91DECF23B61}"/>
              </a:ext>
            </a:extLst>
          </p:cNvPr>
          <p:cNvSpPr>
            <a:spLocks noChangeArrowheads="1"/>
          </p:cNvSpPr>
          <p:nvPr/>
        </p:nvSpPr>
        <p:spPr bwMode="gray">
          <a:xfrm>
            <a:off x="6234113" y="3654425"/>
            <a:ext cx="80962"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6" name="Rectangle 69">
            <a:extLst>
              <a:ext uri="{FF2B5EF4-FFF2-40B4-BE49-F238E27FC236}">
                <a16:creationId xmlns:a16="http://schemas.microsoft.com/office/drawing/2014/main" id="{1DD7736D-A405-00BE-B789-426F5F4EF502}"/>
              </a:ext>
            </a:extLst>
          </p:cNvPr>
          <p:cNvSpPr>
            <a:spLocks noChangeArrowheads="1"/>
          </p:cNvSpPr>
          <p:nvPr/>
        </p:nvSpPr>
        <p:spPr bwMode="gray">
          <a:xfrm>
            <a:off x="6396038" y="3654425"/>
            <a:ext cx="82550"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7" name="Rectangle 70">
            <a:extLst>
              <a:ext uri="{FF2B5EF4-FFF2-40B4-BE49-F238E27FC236}">
                <a16:creationId xmlns:a16="http://schemas.microsoft.com/office/drawing/2014/main" id="{B8DD4040-2C66-7C7F-1D1E-5D5CB0B4755D}"/>
              </a:ext>
            </a:extLst>
          </p:cNvPr>
          <p:cNvSpPr>
            <a:spLocks noChangeArrowheads="1"/>
          </p:cNvSpPr>
          <p:nvPr/>
        </p:nvSpPr>
        <p:spPr bwMode="gray">
          <a:xfrm>
            <a:off x="6559550"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8" name="Rectangle 71">
            <a:extLst>
              <a:ext uri="{FF2B5EF4-FFF2-40B4-BE49-F238E27FC236}">
                <a16:creationId xmlns:a16="http://schemas.microsoft.com/office/drawing/2014/main" id="{0534CE8E-6FD0-2184-B0EF-ECB23CBFE915}"/>
              </a:ext>
            </a:extLst>
          </p:cNvPr>
          <p:cNvSpPr>
            <a:spLocks noChangeArrowheads="1"/>
          </p:cNvSpPr>
          <p:nvPr/>
        </p:nvSpPr>
        <p:spPr bwMode="gray">
          <a:xfrm>
            <a:off x="6721475" y="3654425"/>
            <a:ext cx="80963"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59" name="Rectangle 72">
            <a:extLst>
              <a:ext uri="{FF2B5EF4-FFF2-40B4-BE49-F238E27FC236}">
                <a16:creationId xmlns:a16="http://schemas.microsoft.com/office/drawing/2014/main" id="{7F0135B9-C64F-86BA-8AC1-2809AF048D1B}"/>
              </a:ext>
            </a:extLst>
          </p:cNvPr>
          <p:cNvSpPr>
            <a:spLocks noChangeArrowheads="1"/>
          </p:cNvSpPr>
          <p:nvPr/>
        </p:nvSpPr>
        <p:spPr bwMode="gray">
          <a:xfrm>
            <a:off x="7205663" y="3654425"/>
            <a:ext cx="80962"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sp>
        <p:nvSpPr>
          <p:cNvPr id="89160" name="Rectangle 73">
            <a:extLst>
              <a:ext uri="{FF2B5EF4-FFF2-40B4-BE49-F238E27FC236}">
                <a16:creationId xmlns:a16="http://schemas.microsoft.com/office/drawing/2014/main" id="{8350C7C5-7550-2DDF-FDEF-FD9818110536}"/>
              </a:ext>
            </a:extLst>
          </p:cNvPr>
          <p:cNvSpPr>
            <a:spLocks noChangeArrowheads="1"/>
          </p:cNvSpPr>
          <p:nvPr/>
        </p:nvSpPr>
        <p:spPr bwMode="gray">
          <a:xfrm>
            <a:off x="7104063" y="5721350"/>
            <a:ext cx="1154112" cy="231775"/>
          </a:xfrm>
          <a:prstGeom prst="rect">
            <a:avLst/>
          </a:prstGeom>
          <a:blipFill dpi="0" rotWithShape="0">
            <a:blip r:embed="rId5"/>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Perform Job </a:t>
            </a:r>
            <a:br>
              <a:rPr lang="en-US" altLang="zh-CN" sz="800">
                <a:ea typeface="SimSun" panose="02010600030101010101" pitchFamily="2" charset="-122"/>
              </a:rPr>
            </a:br>
            <a:r>
              <a:rPr lang="en-US" altLang="zh-CN" sz="800">
                <a:ea typeface="SimSun" panose="02010600030101010101" pitchFamily="2" charset="-122"/>
              </a:rPr>
              <a:t>hand-over</a:t>
            </a:r>
          </a:p>
        </p:txBody>
      </p:sp>
      <p:sp>
        <p:nvSpPr>
          <p:cNvPr id="89161" name="Rectangle 74">
            <a:extLst>
              <a:ext uri="{FF2B5EF4-FFF2-40B4-BE49-F238E27FC236}">
                <a16:creationId xmlns:a16="http://schemas.microsoft.com/office/drawing/2014/main" id="{F5D88017-6FA3-1D6C-56A7-36F38E5E3AA3}"/>
              </a:ext>
            </a:extLst>
          </p:cNvPr>
          <p:cNvSpPr>
            <a:spLocks noChangeArrowheads="1"/>
          </p:cNvSpPr>
          <p:nvPr/>
        </p:nvSpPr>
        <p:spPr bwMode="gray">
          <a:xfrm>
            <a:off x="8289925" y="5721350"/>
            <a:ext cx="1152525" cy="231775"/>
          </a:xfrm>
          <a:prstGeom prst="rect">
            <a:avLst/>
          </a:prstGeom>
          <a:blipFill dpi="0" rotWithShape="0">
            <a:blip r:embed="rId5"/>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Receive post hand-over support</a:t>
            </a:r>
          </a:p>
        </p:txBody>
      </p:sp>
      <p:sp>
        <p:nvSpPr>
          <p:cNvPr id="89162" name="Rectangle 75">
            <a:extLst>
              <a:ext uri="{FF2B5EF4-FFF2-40B4-BE49-F238E27FC236}">
                <a16:creationId xmlns:a16="http://schemas.microsoft.com/office/drawing/2014/main" id="{3F169EC5-52C7-15F2-6853-624105CF478E}"/>
              </a:ext>
            </a:extLst>
          </p:cNvPr>
          <p:cNvSpPr>
            <a:spLocks noChangeArrowheads="1"/>
          </p:cNvSpPr>
          <p:nvPr/>
        </p:nvSpPr>
        <p:spPr bwMode="gray">
          <a:xfrm>
            <a:off x="7104063" y="3654425"/>
            <a:ext cx="1154112" cy="231775"/>
          </a:xfrm>
          <a:prstGeom prst="rect">
            <a:avLst/>
          </a:prstGeom>
          <a:blipFill dpi="0" rotWithShape="0">
            <a:blip r:embed="rId4"/>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Perform Job hand-over</a:t>
            </a:r>
          </a:p>
        </p:txBody>
      </p:sp>
      <p:cxnSp>
        <p:nvCxnSpPr>
          <p:cNvPr id="89163" name="AutoShape 76">
            <a:extLst>
              <a:ext uri="{FF2B5EF4-FFF2-40B4-BE49-F238E27FC236}">
                <a16:creationId xmlns:a16="http://schemas.microsoft.com/office/drawing/2014/main" id="{E4CB57ED-A4E3-8A68-3966-5819E658633C}"/>
              </a:ext>
            </a:extLst>
          </p:cNvPr>
          <p:cNvCxnSpPr>
            <a:cxnSpLocks noChangeShapeType="1"/>
            <a:stCxn id="89137" idx="3"/>
            <a:endCxn id="89160" idx="1"/>
          </p:cNvCxnSpPr>
          <p:nvPr/>
        </p:nvCxnSpPr>
        <p:spPr bwMode="gray">
          <a:xfrm>
            <a:off x="6427788" y="5540375"/>
            <a:ext cx="130175" cy="296863"/>
          </a:xfrm>
          <a:prstGeom prst="bentConnector3">
            <a:avLst>
              <a:gd name="adj1" fmla="val 4878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64" name="AutoShape 77">
            <a:extLst>
              <a:ext uri="{FF2B5EF4-FFF2-40B4-BE49-F238E27FC236}">
                <a16:creationId xmlns:a16="http://schemas.microsoft.com/office/drawing/2014/main" id="{6C02DDC2-5CFB-B90E-A00B-9435794A13A4}"/>
              </a:ext>
            </a:extLst>
          </p:cNvPr>
          <p:cNvCxnSpPr>
            <a:cxnSpLocks noChangeShapeType="1"/>
            <a:stCxn id="89131" idx="2"/>
            <a:endCxn id="89137" idx="1"/>
          </p:cNvCxnSpPr>
          <p:nvPr/>
        </p:nvCxnSpPr>
        <p:spPr bwMode="gray">
          <a:xfrm rot="16200000" flipH="1">
            <a:off x="3501231" y="5098257"/>
            <a:ext cx="166687" cy="717550"/>
          </a:xfrm>
          <a:prstGeom prst="bentConnector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165" name="AutoShape 78">
            <a:extLst>
              <a:ext uri="{FF2B5EF4-FFF2-40B4-BE49-F238E27FC236}">
                <a16:creationId xmlns:a16="http://schemas.microsoft.com/office/drawing/2014/main" id="{A88CCF1D-024D-7757-41B7-76D77E742EE7}"/>
              </a:ext>
            </a:extLst>
          </p:cNvPr>
          <p:cNvCxnSpPr>
            <a:cxnSpLocks noChangeShapeType="1"/>
            <a:stCxn id="89138" idx="3"/>
            <a:endCxn id="89137" idx="0"/>
          </p:cNvCxnSpPr>
          <p:nvPr/>
        </p:nvCxnSpPr>
        <p:spPr bwMode="gray">
          <a:xfrm>
            <a:off x="4484688" y="4935538"/>
            <a:ext cx="701675" cy="488950"/>
          </a:xfrm>
          <a:prstGeom prst="bentConnector2">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166" name="AutoShape 79">
            <a:extLst>
              <a:ext uri="{FF2B5EF4-FFF2-40B4-BE49-F238E27FC236}">
                <a16:creationId xmlns:a16="http://schemas.microsoft.com/office/drawing/2014/main" id="{F902F210-C70D-A977-5147-FB8082D4D260}"/>
              </a:ext>
            </a:extLst>
          </p:cNvPr>
          <p:cNvSpPr/>
          <p:nvPr/>
        </p:nvSpPr>
        <p:spPr bwMode="gray">
          <a:xfrm>
            <a:off x="1136650" y="1927225"/>
            <a:ext cx="80963" cy="992188"/>
          </a:xfrm>
          <a:prstGeom prst="leftBrace">
            <a:avLst>
              <a:gd name="adj1" fmla="val 102124"/>
              <a:gd name="adj2" fmla="val 50000"/>
            </a:avLst>
          </a:prstGeom>
          <a:noFill/>
          <a:ln w="127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167" name="AutoShape 80">
            <a:extLst>
              <a:ext uri="{FF2B5EF4-FFF2-40B4-BE49-F238E27FC236}">
                <a16:creationId xmlns:a16="http://schemas.microsoft.com/office/drawing/2014/main" id="{83DD38BE-0044-F134-6EAA-1FBF26486755}"/>
              </a:ext>
            </a:extLst>
          </p:cNvPr>
          <p:cNvSpPr/>
          <p:nvPr/>
        </p:nvSpPr>
        <p:spPr bwMode="gray">
          <a:xfrm>
            <a:off x="1136650" y="3022600"/>
            <a:ext cx="80963" cy="992188"/>
          </a:xfrm>
          <a:prstGeom prst="leftBrace">
            <a:avLst>
              <a:gd name="adj1" fmla="val 102124"/>
              <a:gd name="adj2" fmla="val 50000"/>
            </a:avLst>
          </a:prstGeom>
          <a:noFill/>
          <a:ln w="127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168" name="AutoShape 81">
            <a:extLst>
              <a:ext uri="{FF2B5EF4-FFF2-40B4-BE49-F238E27FC236}">
                <a16:creationId xmlns:a16="http://schemas.microsoft.com/office/drawing/2014/main" id="{998BD3C4-791E-C0C8-9BA3-3C7D932AD6C0}"/>
              </a:ext>
            </a:extLst>
          </p:cNvPr>
          <p:cNvSpPr/>
          <p:nvPr/>
        </p:nvSpPr>
        <p:spPr bwMode="gray">
          <a:xfrm>
            <a:off x="1136650" y="4183063"/>
            <a:ext cx="123825" cy="1538287"/>
          </a:xfrm>
          <a:prstGeom prst="leftBrace">
            <a:avLst>
              <a:gd name="adj1" fmla="val 103526"/>
              <a:gd name="adj2" fmla="val 50000"/>
            </a:avLst>
          </a:prstGeom>
          <a:noFill/>
          <a:ln w="127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169" name="Rectangle 82">
            <a:extLst>
              <a:ext uri="{FF2B5EF4-FFF2-40B4-BE49-F238E27FC236}">
                <a16:creationId xmlns:a16="http://schemas.microsoft.com/office/drawing/2014/main" id="{BE2D46AD-51D9-8756-962B-118610C11EA5}"/>
              </a:ext>
            </a:extLst>
          </p:cNvPr>
          <p:cNvSpPr>
            <a:spLocks noChangeArrowheads="1"/>
          </p:cNvSpPr>
          <p:nvPr/>
        </p:nvSpPr>
        <p:spPr bwMode="gray">
          <a:xfrm>
            <a:off x="3402013" y="5780088"/>
            <a:ext cx="1476375" cy="231775"/>
          </a:xfrm>
          <a:prstGeom prst="rect">
            <a:avLst/>
          </a:prstGeom>
          <a:solidFill>
            <a:schemeClr val="accent1"/>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solidFill>
                  <a:schemeClr val="bg1"/>
                </a:solidFill>
                <a:ea typeface="SimSun" panose="02010600030101010101" pitchFamily="2" charset="-122"/>
              </a:rPr>
              <a:t>Sourcing: Voice/Back Office/IT</a:t>
            </a:r>
          </a:p>
        </p:txBody>
      </p:sp>
      <p:sp>
        <p:nvSpPr>
          <p:cNvPr id="89170" name="AutoShape 83">
            <a:extLst>
              <a:ext uri="{FF2B5EF4-FFF2-40B4-BE49-F238E27FC236}">
                <a16:creationId xmlns:a16="http://schemas.microsoft.com/office/drawing/2014/main" id="{ED46CE0A-5BFD-C995-33F4-7AE646EB65C2}"/>
              </a:ext>
            </a:extLst>
          </p:cNvPr>
          <p:cNvSpPr>
            <a:spLocks noChangeArrowheads="1"/>
          </p:cNvSpPr>
          <p:nvPr/>
        </p:nvSpPr>
        <p:spPr bwMode="gray">
          <a:xfrm>
            <a:off x="9310688" y="6076950"/>
            <a:ext cx="161925" cy="115888"/>
          </a:xfrm>
          <a:prstGeom prst="diamond">
            <a:avLst/>
          </a:prstGeom>
          <a:solidFill>
            <a:schemeClr val="bg2"/>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89171" name="Text Box 84">
            <a:extLst>
              <a:ext uri="{FF2B5EF4-FFF2-40B4-BE49-F238E27FC236}">
                <a16:creationId xmlns:a16="http://schemas.microsoft.com/office/drawing/2014/main" id="{2562F4FC-F067-C6E6-9201-ED94FD6B64C2}"/>
              </a:ext>
            </a:extLst>
          </p:cNvPr>
          <p:cNvSpPr txBox="1">
            <a:spLocks noChangeArrowheads="1"/>
          </p:cNvSpPr>
          <p:nvPr/>
        </p:nvSpPr>
        <p:spPr bwMode="gray">
          <a:xfrm>
            <a:off x="9190038" y="6153150"/>
            <a:ext cx="433387" cy="252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zh-CN" sz="800">
                <a:ea typeface="SimSun" panose="02010600030101010101" pitchFamily="2" charset="-122"/>
              </a:rPr>
              <a:t>12/29</a:t>
            </a:r>
          </a:p>
        </p:txBody>
      </p:sp>
      <p:sp>
        <p:nvSpPr>
          <p:cNvPr id="89172" name="Rectangle 85">
            <a:extLst>
              <a:ext uri="{FF2B5EF4-FFF2-40B4-BE49-F238E27FC236}">
                <a16:creationId xmlns:a16="http://schemas.microsoft.com/office/drawing/2014/main" id="{4DAC9766-2248-6B3A-B94E-B32C77A41851}"/>
              </a:ext>
            </a:extLst>
          </p:cNvPr>
          <p:cNvSpPr>
            <a:spLocks noChangeArrowheads="1"/>
          </p:cNvSpPr>
          <p:nvPr/>
        </p:nvSpPr>
        <p:spPr bwMode="gray">
          <a:xfrm>
            <a:off x="6883400" y="3654425"/>
            <a:ext cx="79375" cy="231775"/>
          </a:xfrm>
          <a:prstGeom prst="rect">
            <a:avLst/>
          </a:prstGeom>
          <a:blipFill dpi="0" rotWithShape="0">
            <a:blip r:embed="rId6"/>
            <a:tile tx="0" ty="0" sx="100000" sy="100000" flip="none" algn="tl"/>
          </a:blip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zh-CN" altLang="en-US" sz="800">
              <a:ea typeface="SimSun" panose="02010600030101010101" pitchFamily="2" charset="-122"/>
            </a:endParaRPr>
          </a:p>
        </p:txBody>
      </p:sp>
      <p:cxnSp>
        <p:nvCxnSpPr>
          <p:cNvPr id="89173" name="AutoShape 86">
            <a:extLst>
              <a:ext uri="{FF2B5EF4-FFF2-40B4-BE49-F238E27FC236}">
                <a16:creationId xmlns:a16="http://schemas.microsoft.com/office/drawing/2014/main" id="{CE6A886F-CCB4-6119-6985-DE06B26950D1}"/>
              </a:ext>
            </a:extLst>
          </p:cNvPr>
          <p:cNvCxnSpPr>
            <a:cxnSpLocks noChangeShapeType="1"/>
            <a:stCxn id="89162" idx="2"/>
            <a:endCxn id="89160" idx="0"/>
          </p:cNvCxnSpPr>
          <p:nvPr/>
        </p:nvCxnSpPr>
        <p:spPr bwMode="gray">
          <a:xfrm flipH="1">
            <a:off x="7091363" y="3886200"/>
            <a:ext cx="0" cy="1835150"/>
          </a:xfrm>
          <a:prstGeom prst="straightConnector1">
            <a:avLst/>
          </a:prstGeom>
          <a:noFill/>
          <a:ln w="63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174" name="Text Box 87">
            <a:extLst>
              <a:ext uri="{FF2B5EF4-FFF2-40B4-BE49-F238E27FC236}">
                <a16:creationId xmlns:a16="http://schemas.microsoft.com/office/drawing/2014/main" id="{42E00275-40AF-0C16-6D02-EFFD0CCE9C8D}"/>
              </a:ext>
            </a:extLst>
          </p:cNvPr>
          <p:cNvSpPr txBox="1">
            <a:spLocks noChangeArrowheads="1"/>
          </p:cNvSpPr>
          <p:nvPr/>
        </p:nvSpPr>
        <p:spPr bwMode="gray">
          <a:xfrm>
            <a:off x="549275" y="6251575"/>
            <a:ext cx="1736725" cy="109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800" b="0">
                <a:ea typeface="SimSun" panose="02010600030101010101" pitchFamily="2" charset="-122"/>
              </a:rPr>
              <a:t>Primary role real estate team</a:t>
            </a:r>
          </a:p>
        </p:txBody>
      </p:sp>
      <p:sp>
        <p:nvSpPr>
          <p:cNvPr id="89175" name="Text Box 88">
            <a:extLst>
              <a:ext uri="{FF2B5EF4-FFF2-40B4-BE49-F238E27FC236}">
                <a16:creationId xmlns:a16="http://schemas.microsoft.com/office/drawing/2014/main" id="{50048698-85C0-D841-5EAC-7EE6B8BEA1E2}"/>
              </a:ext>
            </a:extLst>
          </p:cNvPr>
          <p:cNvSpPr txBox="1">
            <a:spLocks noChangeArrowheads="1"/>
          </p:cNvSpPr>
          <p:nvPr/>
        </p:nvSpPr>
        <p:spPr bwMode="gray">
          <a:xfrm>
            <a:off x="549275" y="6443663"/>
            <a:ext cx="1736725" cy="109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800" b="0">
                <a:ea typeface="SimSun" panose="02010600030101010101" pitchFamily="2" charset="-122"/>
              </a:rPr>
              <a:t>Primary role with legal team</a:t>
            </a:r>
          </a:p>
        </p:txBody>
      </p:sp>
      <p:sp>
        <p:nvSpPr>
          <p:cNvPr id="89176" name="Text Box 89">
            <a:extLst>
              <a:ext uri="{FF2B5EF4-FFF2-40B4-BE49-F238E27FC236}">
                <a16:creationId xmlns:a16="http://schemas.microsoft.com/office/drawing/2014/main" id="{4E6ACB14-4524-2890-FE36-E731F0B6DE34}"/>
              </a:ext>
            </a:extLst>
          </p:cNvPr>
          <p:cNvSpPr txBox="1">
            <a:spLocks noChangeArrowheads="1"/>
          </p:cNvSpPr>
          <p:nvPr/>
        </p:nvSpPr>
        <p:spPr bwMode="gray">
          <a:xfrm>
            <a:off x="549275" y="6630988"/>
            <a:ext cx="1736725" cy="109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800" b="0">
                <a:ea typeface="SimSun" panose="02010600030101010101" pitchFamily="2" charset="-122"/>
              </a:rPr>
              <a:t>Primary role with recruiting team</a:t>
            </a:r>
          </a:p>
        </p:txBody>
      </p:sp>
      <p:sp>
        <p:nvSpPr>
          <p:cNvPr id="89177" name="Text Box 90">
            <a:extLst>
              <a:ext uri="{FF2B5EF4-FFF2-40B4-BE49-F238E27FC236}">
                <a16:creationId xmlns:a16="http://schemas.microsoft.com/office/drawing/2014/main" id="{0D1C69F8-46EB-8060-9EBB-0BEDC842DA06}"/>
              </a:ext>
            </a:extLst>
          </p:cNvPr>
          <p:cNvSpPr txBox="1">
            <a:spLocks noChangeArrowheads="1"/>
          </p:cNvSpPr>
          <p:nvPr/>
        </p:nvSpPr>
        <p:spPr bwMode="gray">
          <a:xfrm>
            <a:off x="2627313" y="6630988"/>
            <a:ext cx="1725612" cy="109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US" altLang="zh-CN" sz="800" b="0">
                <a:ea typeface="SimSun" panose="02010600030101010101" pitchFamily="2" charset="-122"/>
              </a:rPr>
              <a:t>Primary role with receiving team</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91137" name="Rectangle 2">
            <a:extLst>
              <a:ext uri="{FF2B5EF4-FFF2-40B4-BE49-F238E27FC236}">
                <a16:creationId xmlns:a16="http://schemas.microsoft.com/office/drawing/2014/main" id="{23A0E6B0-2F90-A904-2AC9-007797AC2B94}"/>
              </a:ext>
            </a:extLst>
          </p:cNvPr>
          <p:cNvSpPr>
            <a:spLocks noGrp="1" noChangeArrowheads="1"/>
          </p:cNvSpPr>
          <p:nvPr>
            <p:ph type="title"/>
          </p:nvPr>
        </p:nvSpPr>
        <p:spPr bwMode="gray">
          <a:xfrm>
            <a:off x="266700" y="596900"/>
            <a:ext cx="9367838" cy="549275"/>
          </a:xfrm>
        </p:spPr>
        <p:txBody>
          <a:bodyPr/>
          <a:lstStyle/>
          <a:p>
            <a:r>
              <a:rPr lang="en-US" altLang="ko-KR">
                <a:ea typeface="굴림" panose="020b0600000101010101" pitchFamily="34" charset="-127"/>
              </a:rPr>
              <a:t>Several issues and opportunities were identified during the Finance-IT diagnostic</a:t>
            </a:r>
          </a:p>
        </p:txBody>
      </p:sp>
      <p:sp>
        <p:nvSpPr>
          <p:cNvPr id="91138" name="AutoShape 3">
            <a:extLst>
              <a:ext uri="{FF2B5EF4-FFF2-40B4-BE49-F238E27FC236}">
                <a16:creationId xmlns:a16="http://schemas.microsoft.com/office/drawing/2014/main" id="{9D51E284-6CD8-8F27-19CA-1DE1F87AF663}"/>
              </a:ext>
            </a:extLst>
          </p:cNvPr>
          <p:cNvSpPr>
            <a:spLocks noChangeArrowheads="1"/>
          </p:cNvSpPr>
          <p:nvPr/>
        </p:nvSpPr>
        <p:spPr bwMode="gray">
          <a:xfrm rot="5400000">
            <a:off x="2706688" y="4064000"/>
            <a:ext cx="4003675" cy="263525"/>
          </a:xfrm>
          <a:prstGeom prst="triangle">
            <a:avLst>
              <a:gd name="adj" fmla="val 50722"/>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91139" name="Rectangle 4">
            <a:extLst>
              <a:ext uri="{FF2B5EF4-FFF2-40B4-BE49-F238E27FC236}">
                <a16:creationId xmlns:a16="http://schemas.microsoft.com/office/drawing/2014/main" id="{114E18BC-5587-39C5-AB69-20FE8809411A}"/>
              </a:ext>
            </a:extLst>
          </p:cNvPr>
          <p:cNvSpPr>
            <a:spLocks noChangeArrowheads="1"/>
          </p:cNvSpPr>
          <p:nvPr/>
        </p:nvSpPr>
        <p:spPr bwMode="gray">
          <a:xfrm>
            <a:off x="279400" y="3817938"/>
            <a:ext cx="1249363" cy="739775"/>
          </a:xfrm>
          <a:prstGeom prst="rect">
            <a:avLst/>
          </a:prstGeom>
          <a:solidFill>
            <a:srgbClr val="0070C0"/>
          </a:solidFill>
          <a:ln w="12700">
            <a:solidFill>
              <a:schemeClr val="tx1"/>
            </a:solidFill>
            <a:miter lim="800000"/>
          </a:ln>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solidFill>
                  <a:srgbClr val="FFFFFF"/>
                </a:solidFill>
                <a:ea typeface="MS PGothic" panose="020b0600070205080204" pitchFamily="34" charset="-128"/>
              </a:rPr>
              <a:t>Finance-IT Enablement </a:t>
            </a:r>
          </a:p>
        </p:txBody>
      </p:sp>
      <p:cxnSp>
        <p:nvCxnSpPr>
          <p:cNvPr id="91140" name="AutoShape 5">
            <a:extLst>
              <a:ext uri="{FF2B5EF4-FFF2-40B4-BE49-F238E27FC236}">
                <a16:creationId xmlns:a16="http://schemas.microsoft.com/office/drawing/2014/main" id="{FEA18B37-F346-5ED5-334A-EE6D09F9ADE1}"/>
              </a:ext>
            </a:extLst>
          </p:cNvPr>
          <p:cNvCxnSpPr>
            <a:cxnSpLocks noChangeShapeType="1"/>
            <a:stCxn id="91139" idx="3"/>
            <a:endCxn id="91144" idx="1"/>
          </p:cNvCxnSpPr>
          <p:nvPr/>
        </p:nvCxnSpPr>
        <p:spPr bwMode="gray">
          <a:xfrm flipV="1">
            <a:off x="1411288" y="2436813"/>
            <a:ext cx="196850" cy="1751012"/>
          </a:xfrm>
          <a:prstGeom prst="bentConnector3">
            <a:avLst>
              <a:gd name="adj1" fmla="val 49194"/>
            </a:avLst>
          </a:prstGeom>
          <a:noFill/>
          <a:ln w="12700">
            <a:solidFill>
              <a:schemeClr val="tx1"/>
            </a:solidFill>
            <a:miter lim="800000"/>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41" name="AutoShape 6">
            <a:extLst>
              <a:ext uri="{FF2B5EF4-FFF2-40B4-BE49-F238E27FC236}">
                <a16:creationId xmlns:a16="http://schemas.microsoft.com/office/drawing/2014/main" id="{F8222F5F-11DA-4B8C-F220-CC04605560D9}"/>
              </a:ext>
            </a:extLst>
          </p:cNvPr>
          <p:cNvCxnSpPr>
            <a:cxnSpLocks noChangeShapeType="1"/>
            <a:stCxn id="91139" idx="3"/>
            <a:endCxn id="91145" idx="1"/>
          </p:cNvCxnSpPr>
          <p:nvPr/>
        </p:nvCxnSpPr>
        <p:spPr bwMode="gray">
          <a:xfrm flipV="1">
            <a:off x="1411288" y="3311525"/>
            <a:ext cx="196850" cy="876300"/>
          </a:xfrm>
          <a:prstGeom prst="bentConnector3">
            <a:avLst>
              <a:gd name="adj1" fmla="val 49194"/>
            </a:avLst>
          </a:prstGeom>
          <a:noFill/>
          <a:ln w="12700">
            <a:solidFill>
              <a:schemeClr val="tx1"/>
            </a:solidFill>
            <a:miter lim="800000"/>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42" name="AutoShape 7">
            <a:extLst>
              <a:ext uri="{FF2B5EF4-FFF2-40B4-BE49-F238E27FC236}">
                <a16:creationId xmlns:a16="http://schemas.microsoft.com/office/drawing/2014/main" id="{3056CC0E-12D8-6A67-CA27-09B2950D3907}"/>
              </a:ext>
            </a:extLst>
          </p:cNvPr>
          <p:cNvCxnSpPr>
            <a:cxnSpLocks noChangeShapeType="1"/>
            <a:stCxn id="91139" idx="3"/>
            <a:endCxn id="91146" idx="1"/>
          </p:cNvCxnSpPr>
          <p:nvPr/>
        </p:nvCxnSpPr>
        <p:spPr bwMode="gray">
          <a:xfrm>
            <a:off x="1411288" y="4187825"/>
            <a:ext cx="196850" cy="0"/>
          </a:xfrm>
          <a:prstGeom prst="straightConnector1">
            <a:avLst/>
          </a:prstGeom>
          <a:noFill/>
          <a:ln w="12700">
            <a:solidFill>
              <a:schemeClr val="tx1"/>
            </a:solidFill>
            <a:rou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43" name="AutoShape 8">
            <a:extLst>
              <a:ext uri="{FF2B5EF4-FFF2-40B4-BE49-F238E27FC236}">
                <a16:creationId xmlns:a16="http://schemas.microsoft.com/office/drawing/2014/main" id="{9BD6B028-B0E1-408B-05FC-1BA9F55D8CA5}"/>
              </a:ext>
            </a:extLst>
          </p:cNvPr>
          <p:cNvCxnSpPr>
            <a:cxnSpLocks noChangeShapeType="1"/>
            <a:stCxn id="91139" idx="3"/>
            <a:endCxn id="91147" idx="1"/>
          </p:cNvCxnSpPr>
          <p:nvPr/>
        </p:nvCxnSpPr>
        <p:spPr bwMode="gray">
          <a:xfrm>
            <a:off x="1411288" y="4187825"/>
            <a:ext cx="196850" cy="876300"/>
          </a:xfrm>
          <a:prstGeom prst="bentConnector3">
            <a:avLst>
              <a:gd name="adj1" fmla="val 49194"/>
            </a:avLst>
          </a:prstGeom>
          <a:noFill/>
          <a:ln w="12700">
            <a:solidFill>
              <a:schemeClr val="tx1"/>
            </a:solidFill>
            <a:miter lim="800000"/>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44" name="Rectangle 9">
            <a:extLst>
              <a:ext uri="{FF2B5EF4-FFF2-40B4-BE49-F238E27FC236}">
                <a16:creationId xmlns:a16="http://schemas.microsoft.com/office/drawing/2014/main" id="{DBD37929-991B-2AE3-4826-87B015510F83}"/>
              </a:ext>
            </a:extLst>
          </p:cNvPr>
          <p:cNvSpPr>
            <a:spLocks noChangeArrowheads="1"/>
          </p:cNvSpPr>
          <p:nvPr/>
        </p:nvSpPr>
        <p:spPr bwMode="gray">
          <a:xfrm>
            <a:off x="1741488" y="2089150"/>
            <a:ext cx="2700337" cy="695325"/>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ea typeface="MS PGothic" panose="020b0600070205080204" pitchFamily="34" charset="-128"/>
              </a:rPr>
              <a:t>Aging, Inflexible, Bolt-on Applications that are not Easily Modified And Maintained  to Support Finance Models and Processes</a:t>
            </a:r>
          </a:p>
        </p:txBody>
      </p:sp>
      <p:sp>
        <p:nvSpPr>
          <p:cNvPr id="91145" name="Rectangle 10">
            <a:extLst>
              <a:ext uri="{FF2B5EF4-FFF2-40B4-BE49-F238E27FC236}">
                <a16:creationId xmlns:a16="http://schemas.microsoft.com/office/drawing/2014/main" id="{7B34A3D4-B736-6F35-6EC5-B42908DF7AF2}"/>
              </a:ext>
            </a:extLst>
          </p:cNvPr>
          <p:cNvSpPr>
            <a:spLocks noChangeArrowheads="1"/>
          </p:cNvSpPr>
          <p:nvPr/>
        </p:nvSpPr>
        <p:spPr bwMode="gray">
          <a:xfrm>
            <a:off x="1741488" y="2963863"/>
            <a:ext cx="2700337" cy="695325"/>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ea typeface="MS PGothic" panose="020b0600070205080204" pitchFamily="34" charset="-128"/>
              </a:rPr>
              <a:t>Sub-optimal Application Strategies and Standards that Results in Non-integrated Applications and Data Silos</a:t>
            </a:r>
          </a:p>
        </p:txBody>
      </p:sp>
      <p:sp>
        <p:nvSpPr>
          <p:cNvPr id="91146" name="Rectangle 11">
            <a:extLst>
              <a:ext uri="{FF2B5EF4-FFF2-40B4-BE49-F238E27FC236}">
                <a16:creationId xmlns:a16="http://schemas.microsoft.com/office/drawing/2014/main" id="{5E8DA6E9-E55F-1A8B-74E7-EA08BCA58D06}"/>
              </a:ext>
            </a:extLst>
          </p:cNvPr>
          <p:cNvSpPr>
            <a:spLocks noChangeArrowheads="1"/>
          </p:cNvSpPr>
          <p:nvPr/>
        </p:nvSpPr>
        <p:spPr bwMode="gray">
          <a:xfrm>
            <a:off x="1741488" y="3840163"/>
            <a:ext cx="2700337" cy="695325"/>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ea typeface="MS PGothic" panose="020b0600070205080204" pitchFamily="34" charset="-128"/>
              </a:rPr>
              <a:t>Proliferation of Shadow Applications to Support Finance Needs and Analytical Reports</a:t>
            </a:r>
          </a:p>
        </p:txBody>
      </p:sp>
      <p:sp>
        <p:nvSpPr>
          <p:cNvPr id="91147" name="Rectangle 12">
            <a:extLst>
              <a:ext uri="{FF2B5EF4-FFF2-40B4-BE49-F238E27FC236}">
                <a16:creationId xmlns:a16="http://schemas.microsoft.com/office/drawing/2014/main" id="{0FF13873-648A-71F8-5DAE-416151FE63A2}"/>
              </a:ext>
            </a:extLst>
          </p:cNvPr>
          <p:cNvSpPr>
            <a:spLocks noChangeArrowheads="1"/>
          </p:cNvSpPr>
          <p:nvPr/>
        </p:nvSpPr>
        <p:spPr bwMode="gray">
          <a:xfrm>
            <a:off x="1741488" y="4716463"/>
            <a:ext cx="2700337" cy="695325"/>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ea typeface="MS PGothic" panose="020b0600070205080204" pitchFamily="34" charset="-128"/>
              </a:rPr>
              <a:t>Excessive Duplication of Systems across Countries and Lack of Investment Prioritization at a Global Level </a:t>
            </a:r>
          </a:p>
        </p:txBody>
      </p:sp>
      <p:sp>
        <p:nvSpPr>
          <p:cNvPr id="91148" name="Rectangle 13">
            <a:extLst>
              <a:ext uri="{FF2B5EF4-FFF2-40B4-BE49-F238E27FC236}">
                <a16:creationId xmlns:a16="http://schemas.microsoft.com/office/drawing/2014/main" id="{9105DF9A-21F6-9863-B224-2867CB1D30E5}"/>
              </a:ext>
            </a:extLst>
          </p:cNvPr>
          <p:cNvSpPr>
            <a:spLocks noChangeArrowheads="1"/>
          </p:cNvSpPr>
          <p:nvPr/>
        </p:nvSpPr>
        <p:spPr bwMode="gray">
          <a:xfrm>
            <a:off x="1741488" y="5592763"/>
            <a:ext cx="2700337" cy="695325"/>
          </a:xfrm>
          <a:prstGeom prst="rect">
            <a:avLst/>
          </a:prstGeom>
          <a:solidFill>
            <a:schemeClr val="fo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ea typeface="MS PGothic" panose="020b0600070205080204" pitchFamily="34" charset="-128"/>
              </a:rPr>
              <a:t>Limited Use of Emerging Finance Applications in Key Finance Functions through the E1 Initiative</a:t>
            </a:r>
          </a:p>
        </p:txBody>
      </p:sp>
      <p:cxnSp>
        <p:nvCxnSpPr>
          <p:cNvPr id="91149" name="AutoShape 14">
            <a:extLst>
              <a:ext uri="{FF2B5EF4-FFF2-40B4-BE49-F238E27FC236}">
                <a16:creationId xmlns:a16="http://schemas.microsoft.com/office/drawing/2014/main" id="{D834C061-B4E4-E86C-40E4-8CD6D809FCE4}"/>
              </a:ext>
            </a:extLst>
          </p:cNvPr>
          <p:cNvCxnSpPr>
            <a:cxnSpLocks noChangeShapeType="1"/>
            <a:stCxn id="91139" idx="3"/>
            <a:endCxn id="91148" idx="1"/>
          </p:cNvCxnSpPr>
          <p:nvPr/>
        </p:nvCxnSpPr>
        <p:spPr bwMode="gray">
          <a:xfrm>
            <a:off x="1411288" y="4187825"/>
            <a:ext cx="196850" cy="1752600"/>
          </a:xfrm>
          <a:prstGeom prst="bentConnector3">
            <a:avLst>
              <a:gd name="adj1" fmla="val 49194"/>
            </a:avLst>
          </a:prstGeom>
          <a:noFill/>
          <a:ln w="12700">
            <a:solidFill>
              <a:schemeClr val="tx1"/>
            </a:solidFill>
            <a:miter lim="800000"/>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50" name="Text Box 15">
            <a:extLst>
              <a:ext uri="{FF2B5EF4-FFF2-40B4-BE49-F238E27FC236}">
                <a16:creationId xmlns:a16="http://schemas.microsoft.com/office/drawing/2014/main" id="{63035394-7080-DA1A-7162-7B5ADB680AF1}"/>
              </a:ext>
            </a:extLst>
          </p:cNvPr>
          <p:cNvSpPr txBox="1">
            <a:spLocks noChangeArrowheads="1"/>
          </p:cNvSpPr>
          <p:nvPr/>
        </p:nvSpPr>
        <p:spPr bwMode="gray">
          <a:xfrm>
            <a:off x="266700" y="1636713"/>
            <a:ext cx="3608388" cy="192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400">
                <a:ea typeface="굴림" panose="020b0600000101010101" pitchFamily="34" charset="-127"/>
              </a:rPr>
              <a:t>Finance-IT Enablement Issues</a:t>
            </a:r>
          </a:p>
        </p:txBody>
      </p:sp>
      <p:sp>
        <p:nvSpPr>
          <p:cNvPr id="91151" name="Text Box 16">
            <a:extLst>
              <a:ext uri="{FF2B5EF4-FFF2-40B4-BE49-F238E27FC236}">
                <a16:creationId xmlns:a16="http://schemas.microsoft.com/office/drawing/2014/main" id="{B7A767CB-FDD6-D08F-BCAB-144942E55B20}"/>
              </a:ext>
            </a:extLst>
          </p:cNvPr>
          <p:cNvSpPr txBox="1">
            <a:spLocks noChangeArrowheads="1"/>
          </p:cNvSpPr>
          <p:nvPr/>
        </p:nvSpPr>
        <p:spPr bwMode="gray">
          <a:xfrm>
            <a:off x="4932363" y="1636713"/>
            <a:ext cx="4725987" cy="192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0"/>
              </a:spcBef>
              <a:buFontTx/>
              <a:buNone/>
            </a:pPr>
            <a:r>
              <a:rPr lang="en-US" altLang="ko-KR" sz="1400">
                <a:ea typeface="굴림" panose="020b0600000101010101" pitchFamily="34" charset="-127"/>
              </a:rPr>
              <a:t>Key Opportunities</a:t>
            </a:r>
          </a:p>
        </p:txBody>
      </p:sp>
      <p:sp>
        <p:nvSpPr>
          <p:cNvPr id="91152" name="Text Box 17">
            <a:extLst>
              <a:ext uri="{FF2B5EF4-FFF2-40B4-BE49-F238E27FC236}">
                <a16:creationId xmlns:a16="http://schemas.microsoft.com/office/drawing/2014/main" id="{2C698266-724B-65EA-970A-236829F1688E}"/>
              </a:ext>
            </a:extLst>
          </p:cNvPr>
          <p:cNvSpPr txBox="1">
            <a:spLocks noChangeArrowheads="1"/>
          </p:cNvSpPr>
          <p:nvPr/>
        </p:nvSpPr>
        <p:spPr bwMode="gray">
          <a:xfrm>
            <a:off x="6624638" y="2151063"/>
            <a:ext cx="1647825" cy="13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0"/>
              </a:spcBef>
              <a:buClrTx/>
              <a:buFontTx/>
              <a:buNone/>
            </a:pPr>
            <a:r>
              <a:rPr lang="en-US" altLang="ja-JP" sz="1000">
                <a:ea typeface="MS PGothic" panose="020b0600070205080204" pitchFamily="34" charset="-128"/>
              </a:rPr>
              <a:t>Directional Opportunities</a:t>
            </a:r>
          </a:p>
        </p:txBody>
      </p:sp>
      <p:sp>
        <p:nvSpPr>
          <p:cNvPr id="91153" name="Rectangle 18">
            <a:extLst>
              <a:ext uri="{FF2B5EF4-FFF2-40B4-BE49-F238E27FC236}">
                <a16:creationId xmlns:a16="http://schemas.microsoft.com/office/drawing/2014/main" id="{598895A1-1F94-4327-C7F6-1FCEA5CE5F98}"/>
              </a:ext>
            </a:extLst>
          </p:cNvPr>
          <p:cNvSpPr>
            <a:spLocks noChangeArrowheads="1"/>
          </p:cNvSpPr>
          <p:nvPr/>
        </p:nvSpPr>
        <p:spPr bwMode="gray">
          <a:xfrm>
            <a:off x="4953000" y="2093913"/>
            <a:ext cx="4705350" cy="4203700"/>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ClrTx/>
              <a:buFontTx/>
              <a:buNone/>
            </a:pPr>
            <a:endParaRPr kumimoji="1" lang="en-GB" altLang="ko-KR" sz="1000" b="0">
              <a:solidFill>
                <a:srgbClr val="CC0000"/>
              </a:solidFill>
              <a:ea typeface="MS PGothic" panose="020b0600070205080204" pitchFamily="34" charset="-128"/>
            </a:endParaRPr>
          </a:p>
        </p:txBody>
      </p:sp>
      <p:sp>
        <p:nvSpPr>
          <p:cNvPr id="91154" name="AutoShape 19">
            <a:extLst>
              <a:ext uri="{FF2B5EF4-FFF2-40B4-BE49-F238E27FC236}">
                <a16:creationId xmlns:a16="http://schemas.microsoft.com/office/drawing/2014/main" id="{0DAFA5F6-E276-3A2D-4A33-FE90C63E7132}"/>
              </a:ext>
            </a:extLst>
          </p:cNvPr>
          <p:cNvSpPr>
            <a:spLocks noChangeArrowheads="1"/>
          </p:cNvSpPr>
          <p:nvPr/>
        </p:nvSpPr>
        <p:spPr bwMode="gray">
          <a:xfrm>
            <a:off x="5040313" y="2379663"/>
            <a:ext cx="1547812" cy="652462"/>
          </a:xfrm>
          <a:prstGeom prst="homePlate">
            <a:avLst>
              <a:gd name="adj" fmla="val 30774"/>
            </a:avLst>
          </a:prstGeom>
          <a:solidFill>
            <a:srgbClr val="0070C0"/>
          </a:solidFill>
          <a:ln w="12700" algn="ctr">
            <a:solidFill>
              <a:schemeClr val="tx1"/>
            </a:solidFill>
            <a:miter lim="800000"/>
          </a:ln>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sz="1000">
                <a:solidFill>
                  <a:schemeClr val="bg1"/>
                </a:solidFill>
                <a:ea typeface="굴림" panose="020b0600000101010101" pitchFamily="34" charset="-127"/>
              </a:rPr>
              <a:t>Finance Process Model and System Infrastructure Optimization </a:t>
            </a:r>
          </a:p>
        </p:txBody>
      </p:sp>
      <p:sp>
        <p:nvSpPr>
          <p:cNvPr id="91155" name="Text Box 20">
            <a:extLst>
              <a:ext uri="{FF2B5EF4-FFF2-40B4-BE49-F238E27FC236}">
                <a16:creationId xmlns:a16="http://schemas.microsoft.com/office/drawing/2014/main" id="{0FEA5557-20E0-A9FA-E9A9-25F9E6EEE4DC}"/>
              </a:ext>
            </a:extLst>
          </p:cNvPr>
          <p:cNvSpPr txBox="1">
            <a:spLocks noChangeArrowheads="1"/>
          </p:cNvSpPr>
          <p:nvPr/>
        </p:nvSpPr>
        <p:spPr bwMode="gray">
          <a:xfrm>
            <a:off x="6686550" y="2311400"/>
            <a:ext cx="2933700"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7475" indent="-1174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85000"/>
              </a:lnSpc>
              <a:spcBef>
                <a:spcPct val="0"/>
              </a:spcBef>
              <a:buClr>
                <a:srgbClr val="0070C0"/>
              </a:buClr>
              <a:buFontTx/>
              <a:buChar char="•"/>
            </a:pPr>
            <a:r>
              <a:rPr lang="en-US" altLang="ko-KR" sz="1000" b="0">
                <a:ea typeface="굴림" panose="020b0600000101010101" pitchFamily="34" charset="-127"/>
              </a:rPr>
              <a:t>Using a standardized process model for E1 roll-out will facilitate accelerated consolidation of financial  transactional processes</a:t>
            </a:r>
          </a:p>
          <a:p>
            <a:pPr eaLnBrk="1" hangingPunct="1">
              <a:lnSpc>
                <a:spcPct val="85000"/>
              </a:lnSpc>
              <a:spcBef>
                <a:spcPct val="0"/>
              </a:spcBef>
              <a:buClr>
                <a:srgbClr val="0070C0"/>
              </a:buClr>
              <a:buFontTx/>
              <a:buChar char="•"/>
            </a:pPr>
            <a:r>
              <a:rPr lang="en-US" altLang="ko-KR" sz="1000" b="0">
                <a:ea typeface="굴림" panose="020b0600000101010101" pitchFamily="34" charset="-127"/>
              </a:rPr>
              <a:t>Optimization of FP&amp;A processes across all regions will improve information quality through efficient decision support systems</a:t>
            </a:r>
          </a:p>
          <a:p>
            <a:pPr eaLnBrk="1" hangingPunct="1">
              <a:lnSpc>
                <a:spcPct val="85000"/>
              </a:lnSpc>
              <a:spcBef>
                <a:spcPct val="0"/>
              </a:spcBef>
              <a:buClr>
                <a:srgbClr val="0070C0"/>
              </a:buClr>
              <a:buFontTx/>
              <a:buChar char="•"/>
            </a:pPr>
            <a:r>
              <a:rPr lang="en-US" altLang="ko-KR" sz="1000" b="0">
                <a:ea typeface="굴림" panose="020b0600000101010101" pitchFamily="34" charset="-127"/>
              </a:rPr>
              <a:t>Common application blueprint will leverage internal best practices in FP&amp;A and TP across regions</a:t>
            </a:r>
          </a:p>
          <a:p>
            <a:pPr eaLnBrk="1" hangingPunct="1">
              <a:lnSpc>
                <a:spcPct val="85000"/>
              </a:lnSpc>
              <a:spcBef>
                <a:spcPct val="0"/>
              </a:spcBef>
              <a:buClr>
                <a:srgbClr val="0070C0"/>
              </a:buClr>
              <a:buFontTx/>
              <a:buChar char="•"/>
            </a:pPr>
            <a:endParaRPr lang="en-US" altLang="ko-KR" sz="1000" b="0">
              <a:ea typeface="굴림" panose="020b0600000101010101" pitchFamily="34" charset="-127"/>
            </a:endParaRPr>
          </a:p>
          <a:p>
            <a:pPr eaLnBrk="1" hangingPunct="1">
              <a:lnSpc>
                <a:spcPct val="85000"/>
              </a:lnSpc>
              <a:spcBef>
                <a:spcPct val="0"/>
              </a:spcBef>
              <a:buClr>
                <a:srgbClr val="0070C0"/>
              </a:buClr>
              <a:buFontTx/>
              <a:buChar char="•"/>
            </a:pPr>
            <a:r>
              <a:rPr lang="en-US" altLang="ko-KR" sz="1000" b="0">
                <a:ea typeface="굴림" panose="020b0600000101010101" pitchFamily="34" charset="-127"/>
              </a:rPr>
              <a:t>Consistent  master data definitions across all regions will enable visibility into global client and product profitability</a:t>
            </a:r>
          </a:p>
          <a:p>
            <a:pPr eaLnBrk="1" hangingPunct="1">
              <a:lnSpc>
                <a:spcPct val="85000"/>
              </a:lnSpc>
              <a:spcBef>
                <a:spcPct val="0"/>
              </a:spcBef>
              <a:buClr>
                <a:srgbClr val="0070C0"/>
              </a:buClr>
              <a:buFontTx/>
              <a:buChar char="•"/>
            </a:pPr>
            <a:r>
              <a:rPr lang="en-US" altLang="ko-KR" sz="1000" b="0">
                <a:ea typeface="굴림" panose="020b0600000101010101" pitchFamily="34" charset="-127"/>
              </a:rPr>
              <a:t>Rationalization of Charts of Accounts across all countries will reduce configuration support costs and enable a quicker close</a:t>
            </a:r>
          </a:p>
          <a:p>
            <a:pPr eaLnBrk="1" hangingPunct="1">
              <a:lnSpc>
                <a:spcPct val="85000"/>
              </a:lnSpc>
              <a:spcBef>
                <a:spcPct val="0"/>
              </a:spcBef>
              <a:buClr>
                <a:srgbClr val="0070C0"/>
              </a:buClr>
              <a:buFontTx/>
              <a:buChar char="•"/>
            </a:pPr>
            <a:r>
              <a:rPr lang="en-US" altLang="ko-KR" sz="1000" b="0">
                <a:ea typeface="굴림" panose="020b0600000101010101" pitchFamily="34" charset="-127"/>
              </a:rPr>
              <a:t>Designing and implementing a data warehouse that integrates financials from various regions will significantly enhance corporate-wide reporting and analytical capabilities</a:t>
            </a:r>
          </a:p>
          <a:p>
            <a:pPr eaLnBrk="1" hangingPunct="1">
              <a:lnSpc>
                <a:spcPct val="85000"/>
              </a:lnSpc>
              <a:spcBef>
                <a:spcPct val="0"/>
              </a:spcBef>
              <a:buClr>
                <a:srgbClr val="0070C0"/>
              </a:buClr>
              <a:buFont typeface="Wingdings" pitchFamily="2" charset="2"/>
              <a:buChar char="§"/>
            </a:pPr>
            <a:endParaRPr lang="en-US" altLang="ko-KR" sz="1000" b="0">
              <a:ea typeface="굴림" panose="020b0600000101010101" pitchFamily="34" charset="-127"/>
            </a:endParaRPr>
          </a:p>
          <a:p>
            <a:pPr eaLnBrk="1" hangingPunct="1">
              <a:lnSpc>
                <a:spcPct val="85000"/>
              </a:lnSpc>
              <a:spcBef>
                <a:spcPct val="0"/>
              </a:spcBef>
              <a:buClr>
                <a:srgbClr val="0070C0"/>
              </a:buClr>
              <a:buFontTx/>
              <a:buChar char="•"/>
            </a:pPr>
            <a:r>
              <a:rPr lang="en-US" altLang="ko-KR" sz="1000" b="0">
                <a:ea typeface="굴림" panose="020b0600000101010101" pitchFamily="34" charset="-127"/>
              </a:rPr>
              <a:t>Establishment of product standards across key functional areas will ensure product commonality across the enterprise for FP&amp;A (incl. Enterprise Planning, Budgeting, Forecasting) and TP functions</a:t>
            </a:r>
          </a:p>
        </p:txBody>
      </p:sp>
      <p:sp>
        <p:nvSpPr>
          <p:cNvPr id="91156" name="AutoShape 21">
            <a:extLst>
              <a:ext uri="{FF2B5EF4-FFF2-40B4-BE49-F238E27FC236}">
                <a16:creationId xmlns:a16="http://schemas.microsoft.com/office/drawing/2014/main" id="{60CFF3D7-EBE3-7A84-83E5-945BE2C34F77}"/>
              </a:ext>
            </a:extLst>
          </p:cNvPr>
          <p:cNvSpPr>
            <a:spLocks noChangeArrowheads="1"/>
          </p:cNvSpPr>
          <p:nvPr/>
        </p:nvSpPr>
        <p:spPr bwMode="gray">
          <a:xfrm>
            <a:off x="5030788" y="5489575"/>
            <a:ext cx="1598612" cy="595313"/>
          </a:xfrm>
          <a:prstGeom prst="homePlate">
            <a:avLst>
              <a:gd name="adj" fmla="val 34835"/>
            </a:avLst>
          </a:prstGeom>
          <a:solidFill>
            <a:srgbClr val="0070C0"/>
          </a:solidFill>
          <a:ln w="12700" algn="ctr">
            <a:solidFill>
              <a:schemeClr val="tx1"/>
            </a:solidFill>
            <a:miter lim="800000"/>
          </a:ln>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sz="1000">
                <a:solidFill>
                  <a:schemeClr val="bg1"/>
                </a:solidFill>
                <a:ea typeface="굴림" panose="020b0600000101010101" pitchFamily="34" charset="-127"/>
              </a:rPr>
              <a:t>Software Product Rationalization</a:t>
            </a:r>
          </a:p>
        </p:txBody>
      </p:sp>
      <p:sp>
        <p:nvSpPr>
          <p:cNvPr id="91157" name="AutoShape 22">
            <a:extLst>
              <a:ext uri="{FF2B5EF4-FFF2-40B4-BE49-F238E27FC236}">
                <a16:creationId xmlns:a16="http://schemas.microsoft.com/office/drawing/2014/main" id="{42FA7037-879D-BF08-CB66-E5B857F1FF42}"/>
              </a:ext>
            </a:extLst>
          </p:cNvPr>
          <p:cNvSpPr>
            <a:spLocks noChangeArrowheads="1"/>
          </p:cNvSpPr>
          <p:nvPr/>
        </p:nvSpPr>
        <p:spPr bwMode="gray">
          <a:xfrm>
            <a:off x="5064125" y="3814763"/>
            <a:ext cx="1524000" cy="623887"/>
          </a:xfrm>
          <a:prstGeom prst="homePlate">
            <a:avLst>
              <a:gd name="adj" fmla="val 31688"/>
            </a:avLst>
          </a:prstGeom>
          <a:solidFill>
            <a:srgbClr val="0070C0"/>
          </a:solidFill>
          <a:ln w="12700" algn="ctr">
            <a:solidFill>
              <a:schemeClr val="tx1"/>
            </a:solidFill>
            <a:miter lim="800000"/>
          </a:ln>
        </p:spPr>
        <p:txBody>
          <a:bodyPr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85000"/>
              </a:lnSpc>
              <a:spcBef>
                <a:spcPct val="0"/>
              </a:spcBef>
              <a:buFontTx/>
              <a:buNone/>
            </a:pPr>
            <a:r>
              <a:rPr lang="en-US" altLang="ko-KR" sz="1000">
                <a:solidFill>
                  <a:schemeClr val="bg1"/>
                </a:solidFill>
                <a:ea typeface="굴림" panose="020b0600000101010101" pitchFamily="34" charset="-127"/>
              </a:rPr>
              <a:t>Data Availability and Accessibility</a:t>
            </a:r>
          </a:p>
        </p:txBody>
      </p:sp>
      <p:sp>
        <p:nvSpPr>
          <p:cNvPr id="91158" name="Footnote">
            <a:extLst>
              <a:ext uri="{FF2B5EF4-FFF2-40B4-BE49-F238E27FC236}">
                <a16:creationId xmlns:a16="http://schemas.microsoft.com/office/drawing/2014/main" id="{BC1CAB94-9A17-6F6C-8D87-9169165F7DF6}"/>
              </a:ext>
            </a:extLst>
          </p:cNvPr>
          <p:cNvSpPr>
            <a:spLocks noChangeArrowheads="1"/>
          </p:cNvSpPr>
          <p:nvPr/>
        </p:nvSpPr>
        <p:spPr bwMode="gray">
          <a:xfrm>
            <a:off x="266700" y="6600825"/>
            <a:ext cx="6675438" cy="130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800100" indent="-800100">
              <a:lnSpc>
                <a:spcPct val="90000"/>
              </a:lnSpc>
              <a:spcBef>
                <a:spcPct val="90000"/>
              </a:spcBef>
              <a:buClr>
                <a:schemeClr val="bg2"/>
              </a:buClr>
              <a:buFont typeface="Wingdings" pitchFamily="2" charset="2"/>
              <a:buChar char="n"/>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204913" indent="-190500">
              <a:lnSpc>
                <a:spcPct val="90000"/>
              </a:lnSpc>
              <a:spcBef>
                <a:spcPct val="50000"/>
              </a:spcBef>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319213" indent="-163513">
              <a:lnSpc>
                <a:spcPct val="90000"/>
              </a:lnSpc>
              <a:spcBef>
                <a:spcPct val="30000"/>
              </a:spcBef>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433513" indent="-168275">
              <a:lnSpc>
                <a:spcPct val="90000"/>
              </a:lnSpc>
              <a:spcBef>
                <a:spcPct val="10000"/>
              </a:spcBef>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tabLst>
                <a:tab pos="571500"/>
              </a:tabLst>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0"/>
              </a:spcBef>
              <a:buClrTx/>
              <a:buFontTx/>
              <a:buNone/>
            </a:pPr>
            <a:r>
              <a:rPr lang="en-US" altLang="ko-KR" sz="1000" b="0">
                <a:ea typeface="굴림" panose="020b0600000101010101" pitchFamily="34" charset="-127"/>
              </a:rPr>
              <a:t>Source:	(1)	Interviews with Client Team Members XFinance-IT diagnostic survey across representative countries,  </a:t>
            </a:r>
          </a:p>
        </p:txBody>
      </p:sp>
      <p:sp>
        <p:nvSpPr>
          <p:cNvPr id="91159" name="RunningHead">
            <a:extLst>
              <a:ext uri="{FF2B5EF4-FFF2-40B4-BE49-F238E27FC236}">
                <a16:creationId xmlns:a16="http://schemas.microsoft.com/office/drawing/2014/main" id="{8C0B7A6C-8042-1AF8-A583-7264421999CC}"/>
              </a:ext>
            </a:extLst>
          </p:cNvPr>
          <p:cNvSpPr txBox="1">
            <a:spLocks noChangeArrowheads="1"/>
          </p:cNvSpPr>
          <p:nvPr/>
        </p:nvSpPr>
        <p:spPr bwMode="auto">
          <a:xfrm>
            <a:off x="6969125" y="239713"/>
            <a:ext cx="2665413" cy="165100"/>
          </a:xfrm>
          <a:prstGeom prst="rect">
            <a:avLst/>
          </a:prstGeom>
          <a:noFill/>
          <a:ln>
            <a:noFill/>
          </a:ln>
          <a:effectLst/>
          <a:extLst>
            <a:ext uri="{909E8E84-426E-40DD-AFC4-6F175D3DCCD1}">
              <a14:hiddenFill xmlns:a14="http://schemas.microsoft.com/office/drawing/2010/main">
                <a:solidFill>
                  <a:srgbClr val="618FF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ClrTx/>
              <a:buFontTx/>
              <a:buNone/>
            </a:pPr>
            <a:r>
              <a:rPr lang="en-US" altLang="ko-KR" sz="1200" b="0">
                <a:ea typeface="굴림" panose="020b0600000101010101" pitchFamily="34" charset="-127"/>
              </a:rPr>
              <a:t>Finance-IT Diagnostic - IC Summary</a:t>
            </a:r>
          </a:p>
        </p:txBody>
      </p:sp>
    </p:spTree>
  </p:cSld>
  <p:clrMapOvr>
    <a:masterClrMapping/>
  </p:clrMapOvr>
  <p:transition advClick="0"/>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97281" name="Oval 2">
            <a:extLst>
              <a:ext uri="{FF2B5EF4-FFF2-40B4-BE49-F238E27FC236}">
                <a16:creationId xmlns:a16="http://schemas.microsoft.com/office/drawing/2014/main" id="{1824AE21-6133-9542-6C15-34B78ABAB04E}"/>
              </a:ext>
            </a:extLst>
          </p:cNvPr>
          <p:cNvSpPr>
            <a:spLocks noChangeArrowheads="1"/>
          </p:cNvSpPr>
          <p:nvPr/>
        </p:nvSpPr>
        <p:spPr bwMode="gray">
          <a:xfrm>
            <a:off x="3181350" y="2738438"/>
            <a:ext cx="1544638" cy="2025650"/>
          </a:xfrm>
          <a:prstGeom prst="ellipse">
            <a:avLst/>
          </a:prstGeom>
          <a:solidFill>
            <a:schemeClr val="folHlink"/>
          </a:solidFill>
          <a:ln w="12700" cap="rnd" algn="ctr">
            <a:solidFill>
              <a:schemeClr val="tx1"/>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97282" name="Oval 3">
            <a:extLst>
              <a:ext uri="{FF2B5EF4-FFF2-40B4-BE49-F238E27FC236}">
                <a16:creationId xmlns:a16="http://schemas.microsoft.com/office/drawing/2014/main" id="{B19C4683-6DDD-DF2D-70A5-61C46914C761}"/>
              </a:ext>
            </a:extLst>
          </p:cNvPr>
          <p:cNvSpPr>
            <a:spLocks noChangeArrowheads="1"/>
          </p:cNvSpPr>
          <p:nvPr/>
        </p:nvSpPr>
        <p:spPr bwMode="gray">
          <a:xfrm>
            <a:off x="4478338" y="2381250"/>
            <a:ext cx="1403350" cy="889000"/>
          </a:xfrm>
          <a:prstGeom prst="ellipse">
            <a:avLst/>
          </a:prstGeom>
          <a:solidFill>
            <a:schemeClr val="folHlink"/>
          </a:solidFill>
          <a:ln w="12700" cap="rnd" algn="ctr">
            <a:solidFill>
              <a:schemeClr val="tx1"/>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97283" name="Oval 4">
            <a:extLst>
              <a:ext uri="{FF2B5EF4-FFF2-40B4-BE49-F238E27FC236}">
                <a16:creationId xmlns:a16="http://schemas.microsoft.com/office/drawing/2014/main" id="{69CCC4E1-2971-A840-2F25-87C261FAC58B}"/>
              </a:ext>
            </a:extLst>
          </p:cNvPr>
          <p:cNvSpPr>
            <a:spLocks noChangeArrowheads="1"/>
          </p:cNvSpPr>
          <p:nvPr/>
        </p:nvSpPr>
        <p:spPr bwMode="gray">
          <a:xfrm rot="1946321">
            <a:off x="4718050" y="4127500"/>
            <a:ext cx="995363" cy="1906588"/>
          </a:xfrm>
          <a:prstGeom prst="ellipse">
            <a:avLst/>
          </a:prstGeom>
          <a:solidFill>
            <a:schemeClr val="folHlink"/>
          </a:solidFill>
          <a:ln w="12700" cap="rnd" algn="ctr">
            <a:solidFill>
              <a:schemeClr val="tx1"/>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97284" name="Rectangle 5">
            <a:extLst>
              <a:ext uri="{FF2B5EF4-FFF2-40B4-BE49-F238E27FC236}">
                <a16:creationId xmlns:a16="http://schemas.microsoft.com/office/drawing/2014/main" id="{13FF3AF9-A946-123F-726F-989A375EC294}"/>
              </a:ext>
            </a:extLst>
          </p:cNvPr>
          <p:cNvSpPr>
            <a:spLocks noGrp="1" noChangeArrowheads="1"/>
          </p:cNvSpPr>
          <p:nvPr>
            <p:ph type="title"/>
          </p:nvPr>
        </p:nvSpPr>
        <p:spPr bwMode="gray">
          <a:xfrm>
            <a:off x="266700" y="596900"/>
            <a:ext cx="9367838" cy="657225"/>
          </a:xfrm>
        </p:spPr>
        <p:txBody>
          <a:bodyPr/>
          <a:lstStyle/>
          <a:p>
            <a:r>
              <a:rPr lang="en-US" altLang="ko-KR">
                <a:ea typeface="굴림" panose="020b0600000101010101" pitchFamily="34" charset="-127"/>
              </a:rPr>
              <a:t>Size &amp; skills provide competitive advantage to companies, while access to cheap funds provides sustainability </a:t>
            </a:r>
          </a:p>
        </p:txBody>
      </p:sp>
      <p:sp>
        <p:nvSpPr>
          <p:cNvPr id="97285" name="Rectangle 6">
            <a:extLst>
              <a:ext uri="{FF2B5EF4-FFF2-40B4-BE49-F238E27FC236}">
                <a16:creationId xmlns:a16="http://schemas.microsoft.com/office/drawing/2014/main" id="{09BC2D33-D5E6-5F87-56DA-B99B403B1167}"/>
              </a:ext>
            </a:extLst>
          </p:cNvPr>
          <p:cNvSpPr/>
          <p:nvPr/>
        </p:nvSpPr>
        <p:spPr bwMode="gray">
          <a:xfrm>
            <a:off x="946150" y="2128838"/>
            <a:ext cx="5100638" cy="3986212"/>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endParaRPr lang="de-DE" altLang="ko-KR" sz="2400" b="0">
              <a:solidFill>
                <a:srgbClr val="000000"/>
              </a:solidFill>
              <a:ea typeface="ヒラギノ角ゴ Pro W3" pitchFamily="1" charset="-128"/>
              <a:sym typeface="Arial" panose="020b0604020202020204" pitchFamily="34" charset="0"/>
            </a:endParaRPr>
          </a:p>
        </p:txBody>
      </p:sp>
      <p:sp>
        <p:nvSpPr>
          <p:cNvPr id="97286" name="Text Box 7">
            <a:extLst>
              <a:ext uri="{FF2B5EF4-FFF2-40B4-BE49-F238E27FC236}">
                <a16:creationId xmlns:a16="http://schemas.microsoft.com/office/drawing/2014/main" id="{846A2DB0-2C9D-1ABD-7590-BC1D2923A39C}"/>
              </a:ext>
            </a:extLst>
          </p:cNvPr>
          <p:cNvSpPr txBox="1"/>
          <p:nvPr/>
        </p:nvSpPr>
        <p:spPr bwMode="gray">
          <a:xfrm>
            <a:off x="5527675" y="6221413"/>
            <a:ext cx="509588" cy="274637"/>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FontTx/>
              <a:buNone/>
            </a:pPr>
            <a:r>
              <a:rPr lang="en-US" altLang="ko-KR" sz="1200" b="0" i="1">
                <a:solidFill>
                  <a:srgbClr val="000000"/>
                </a:solidFill>
                <a:ea typeface="굴림" panose="020b0600000101010101" pitchFamily="34" charset="-127"/>
                <a:sym typeface="Arial" panose="020b0604020202020204" pitchFamily="34" charset="0"/>
              </a:rPr>
              <a:t>high</a:t>
            </a:r>
          </a:p>
        </p:txBody>
      </p:sp>
      <p:sp>
        <p:nvSpPr>
          <p:cNvPr id="97287" name="Text Box 8">
            <a:extLst>
              <a:ext uri="{FF2B5EF4-FFF2-40B4-BE49-F238E27FC236}">
                <a16:creationId xmlns:a16="http://schemas.microsoft.com/office/drawing/2014/main" id="{8498084F-8DFD-94BE-97C6-377A9448C16B}"/>
              </a:ext>
            </a:extLst>
          </p:cNvPr>
          <p:cNvSpPr txBox="1"/>
          <p:nvPr/>
        </p:nvSpPr>
        <p:spPr bwMode="gray">
          <a:xfrm>
            <a:off x="774700" y="6191250"/>
            <a:ext cx="444500" cy="274638"/>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FontTx/>
              <a:buNone/>
            </a:pPr>
            <a:r>
              <a:rPr lang="en-US" altLang="ko-KR" sz="1200" b="0" i="1">
                <a:solidFill>
                  <a:srgbClr val="000000"/>
                </a:solidFill>
                <a:ea typeface="굴림" panose="020b0600000101010101" pitchFamily="34" charset="-127"/>
                <a:sym typeface="Arial" panose="020b0604020202020204" pitchFamily="34" charset="0"/>
              </a:rPr>
              <a:t>low</a:t>
            </a:r>
          </a:p>
        </p:txBody>
      </p:sp>
      <p:sp>
        <p:nvSpPr>
          <p:cNvPr id="97288" name="Oval 9">
            <a:extLst>
              <a:ext uri="{FF2B5EF4-FFF2-40B4-BE49-F238E27FC236}">
                <a16:creationId xmlns:a16="http://schemas.microsoft.com/office/drawing/2014/main" id="{057C7467-D130-1196-07F7-DDB5722ABAD2}"/>
              </a:ext>
            </a:extLst>
          </p:cNvPr>
          <p:cNvSpPr>
            <a:spLocks noChangeAspect="1" noChangeArrowheads="1"/>
          </p:cNvSpPr>
          <p:nvPr/>
        </p:nvSpPr>
        <p:spPr bwMode="gray">
          <a:xfrm>
            <a:off x="4578350" y="2660650"/>
            <a:ext cx="642938"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Aircraft </a:t>
            </a:r>
          </a:p>
          <a:p>
            <a:pPr algn="ctr">
              <a:spcBef>
                <a:spcPct val="0"/>
              </a:spcBef>
              <a:buClrTx/>
              <a:buFontTx/>
              <a:buNone/>
            </a:pPr>
            <a:r>
              <a:rPr lang="en-US" altLang="ko-KR" sz="800">
                <a:solidFill>
                  <a:schemeClr val="bg1"/>
                </a:solidFill>
                <a:ea typeface="굴림" panose="020b0600000101010101" pitchFamily="34" charset="-127"/>
              </a:rPr>
              <a:t>Type</a:t>
            </a:r>
          </a:p>
        </p:txBody>
      </p:sp>
      <p:sp>
        <p:nvSpPr>
          <p:cNvPr id="97289" name="Text Box 11">
            <a:extLst>
              <a:ext uri="{FF2B5EF4-FFF2-40B4-BE49-F238E27FC236}">
                <a16:creationId xmlns:a16="http://schemas.microsoft.com/office/drawing/2014/main" id="{E9DF4428-92BF-CD21-C5FF-48CD6377BCBE}"/>
              </a:ext>
            </a:extLst>
          </p:cNvPr>
          <p:cNvSpPr txBox="1"/>
          <p:nvPr/>
        </p:nvSpPr>
        <p:spPr bwMode="gray">
          <a:xfrm>
            <a:off x="434975" y="5945188"/>
            <a:ext cx="446088" cy="274637"/>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FontTx/>
              <a:buNone/>
            </a:pPr>
            <a:r>
              <a:rPr lang="en-US" altLang="ko-KR" sz="1200" b="0" i="1">
                <a:solidFill>
                  <a:srgbClr val="000000"/>
                </a:solidFill>
                <a:ea typeface="굴림" panose="020b0600000101010101" pitchFamily="34" charset="-127"/>
                <a:sym typeface="Arial" panose="020b0604020202020204" pitchFamily="34" charset="0"/>
              </a:rPr>
              <a:t>low</a:t>
            </a:r>
          </a:p>
        </p:txBody>
      </p:sp>
      <p:sp>
        <p:nvSpPr>
          <p:cNvPr id="97290" name="Text Box 12">
            <a:extLst>
              <a:ext uri="{FF2B5EF4-FFF2-40B4-BE49-F238E27FC236}">
                <a16:creationId xmlns:a16="http://schemas.microsoft.com/office/drawing/2014/main" id="{946DA5D2-9171-6937-7F25-6C8F75EB8286}"/>
              </a:ext>
            </a:extLst>
          </p:cNvPr>
          <p:cNvSpPr txBox="1"/>
          <p:nvPr/>
        </p:nvSpPr>
        <p:spPr bwMode="gray">
          <a:xfrm>
            <a:off x="350838" y="2057400"/>
            <a:ext cx="509587" cy="274638"/>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lnSpc>
                <a:spcPct val="100000"/>
              </a:lnSpc>
              <a:spcBef>
                <a:spcPct val="0"/>
              </a:spcBef>
              <a:buClrTx/>
              <a:buFontTx/>
              <a:buNone/>
            </a:pPr>
            <a:r>
              <a:rPr lang="en-US" altLang="ko-KR" sz="1200" b="0" i="1">
                <a:solidFill>
                  <a:srgbClr val="000000"/>
                </a:solidFill>
                <a:ea typeface="굴림" panose="020b0600000101010101" pitchFamily="34" charset="-127"/>
                <a:sym typeface="Arial" panose="020b0604020202020204" pitchFamily="34" charset="0"/>
              </a:rPr>
              <a:t>high</a:t>
            </a:r>
          </a:p>
        </p:txBody>
      </p:sp>
      <p:sp>
        <p:nvSpPr>
          <p:cNvPr id="97291" name="Text Box 13">
            <a:extLst>
              <a:ext uri="{FF2B5EF4-FFF2-40B4-BE49-F238E27FC236}">
                <a16:creationId xmlns:a16="http://schemas.microsoft.com/office/drawing/2014/main" id="{02BE4A7E-1CAA-DCE9-E9B7-278631A392C6}"/>
              </a:ext>
            </a:extLst>
          </p:cNvPr>
          <p:cNvSpPr txBox="1"/>
          <p:nvPr/>
        </p:nvSpPr>
        <p:spPr bwMode="gray">
          <a:xfrm>
            <a:off x="101600" y="3906838"/>
            <a:ext cx="941388" cy="457200"/>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a:solidFill>
                  <a:srgbClr val="000000"/>
                </a:solidFill>
                <a:ea typeface="ヒラギノ角ゴ Pro W3" pitchFamily="1" charset="-128"/>
                <a:sym typeface="Arial" panose="020b0604020202020204" pitchFamily="34" charset="0"/>
              </a:rPr>
              <a:t>Barriers to Entry</a:t>
            </a:r>
          </a:p>
        </p:txBody>
      </p:sp>
      <p:sp>
        <p:nvSpPr>
          <p:cNvPr id="97292" name="Text Box 14">
            <a:extLst>
              <a:ext uri="{FF2B5EF4-FFF2-40B4-BE49-F238E27FC236}">
                <a16:creationId xmlns:a16="http://schemas.microsoft.com/office/drawing/2014/main" id="{F27ABB81-9FC8-B96D-3831-556FAFC3A967}"/>
              </a:ext>
            </a:extLst>
          </p:cNvPr>
          <p:cNvSpPr txBox="1"/>
          <p:nvPr/>
        </p:nvSpPr>
        <p:spPr bwMode="gray">
          <a:xfrm>
            <a:off x="2855913" y="6124575"/>
            <a:ext cx="941387" cy="457200"/>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a:solidFill>
                  <a:srgbClr val="000000"/>
                </a:solidFill>
                <a:ea typeface="ヒラギノ角ゴ Pro W3" pitchFamily="1" charset="-128"/>
                <a:sym typeface="Arial" panose="020b0604020202020204" pitchFamily="34" charset="0"/>
              </a:rPr>
              <a:t>Business Impact</a:t>
            </a:r>
          </a:p>
        </p:txBody>
      </p:sp>
      <p:sp>
        <p:nvSpPr>
          <p:cNvPr id="97293" name="Line 15">
            <a:extLst>
              <a:ext uri="{FF2B5EF4-FFF2-40B4-BE49-F238E27FC236}">
                <a16:creationId xmlns:a16="http://schemas.microsoft.com/office/drawing/2014/main" id="{E9918EEA-4482-7616-DB99-970F16DB4323}"/>
              </a:ext>
            </a:extLst>
          </p:cNvPr>
          <p:cNvSpPr>
            <a:spLocks noChangeShapeType="1"/>
          </p:cNvSpPr>
          <p:nvPr/>
        </p:nvSpPr>
        <p:spPr bwMode="gray">
          <a:xfrm flipH="1">
            <a:off x="3405188" y="2128838"/>
            <a:ext cx="0" cy="3986212"/>
          </a:xfrm>
          <a:prstGeom prst="line">
            <a:avLst/>
          </a:prstGeom>
          <a:noFill/>
          <a:ln w="1270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97294" name="Line 16">
            <a:extLst>
              <a:ext uri="{FF2B5EF4-FFF2-40B4-BE49-F238E27FC236}">
                <a16:creationId xmlns:a16="http://schemas.microsoft.com/office/drawing/2014/main" id="{003216D6-AA44-359E-143E-065DC303FDE7}"/>
              </a:ext>
            </a:extLst>
          </p:cNvPr>
          <p:cNvSpPr>
            <a:spLocks noChangeShapeType="1"/>
          </p:cNvSpPr>
          <p:nvPr/>
        </p:nvSpPr>
        <p:spPr bwMode="gray">
          <a:xfrm>
            <a:off x="946150" y="4133850"/>
            <a:ext cx="5100638" cy="0"/>
          </a:xfrm>
          <a:prstGeom prst="line">
            <a:avLst/>
          </a:prstGeom>
          <a:noFill/>
          <a:ln w="12700"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97295" name="Oval 17">
            <a:extLst>
              <a:ext uri="{FF2B5EF4-FFF2-40B4-BE49-F238E27FC236}">
                <a16:creationId xmlns:a16="http://schemas.microsoft.com/office/drawing/2014/main" id="{16714E15-A850-9609-3BAC-46DC6087B2DA}"/>
              </a:ext>
            </a:extLst>
          </p:cNvPr>
          <p:cNvSpPr>
            <a:spLocks noChangeAspect="1" noChangeArrowheads="1"/>
          </p:cNvSpPr>
          <p:nvPr/>
        </p:nvSpPr>
        <p:spPr bwMode="gray">
          <a:xfrm>
            <a:off x="2257425" y="3138488"/>
            <a:ext cx="644525"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Aircraft </a:t>
            </a:r>
          </a:p>
          <a:p>
            <a:pPr algn="ctr">
              <a:spcBef>
                <a:spcPct val="0"/>
              </a:spcBef>
              <a:buClrTx/>
              <a:buFontTx/>
              <a:buNone/>
            </a:pPr>
            <a:r>
              <a:rPr lang="en-US" altLang="ko-KR" sz="800">
                <a:solidFill>
                  <a:schemeClr val="bg1"/>
                </a:solidFill>
                <a:ea typeface="굴림" panose="020b0600000101010101" pitchFamily="34" charset="-127"/>
              </a:rPr>
              <a:t>Age</a:t>
            </a:r>
          </a:p>
        </p:txBody>
      </p:sp>
      <p:sp>
        <p:nvSpPr>
          <p:cNvPr id="97296" name="Oval 18">
            <a:extLst>
              <a:ext uri="{FF2B5EF4-FFF2-40B4-BE49-F238E27FC236}">
                <a16:creationId xmlns:a16="http://schemas.microsoft.com/office/drawing/2014/main" id="{EA5C37BE-4454-51BA-53D5-99419D3A6E38}"/>
              </a:ext>
            </a:extLst>
          </p:cNvPr>
          <p:cNvSpPr>
            <a:spLocks noChangeAspect="1" noChangeArrowheads="1"/>
          </p:cNvSpPr>
          <p:nvPr/>
        </p:nvSpPr>
        <p:spPr bwMode="gray">
          <a:xfrm>
            <a:off x="5386388" y="3270250"/>
            <a:ext cx="642937"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Cost of </a:t>
            </a:r>
          </a:p>
          <a:p>
            <a:pPr algn="ctr">
              <a:spcBef>
                <a:spcPct val="0"/>
              </a:spcBef>
              <a:buClrTx/>
              <a:buFontTx/>
              <a:buNone/>
            </a:pPr>
            <a:r>
              <a:rPr lang="en-US" altLang="ko-KR" sz="800">
                <a:solidFill>
                  <a:schemeClr val="bg1"/>
                </a:solidFill>
                <a:ea typeface="굴림" panose="020b0600000101010101" pitchFamily="34" charset="-127"/>
              </a:rPr>
              <a:t>Acquisition</a:t>
            </a:r>
          </a:p>
        </p:txBody>
      </p:sp>
      <p:sp>
        <p:nvSpPr>
          <p:cNvPr id="97297" name="Oval 19">
            <a:extLst>
              <a:ext uri="{FF2B5EF4-FFF2-40B4-BE49-F238E27FC236}">
                <a16:creationId xmlns:a16="http://schemas.microsoft.com/office/drawing/2014/main" id="{D9B5EDF2-1F9B-430C-2A13-EEA54D39158E}"/>
              </a:ext>
            </a:extLst>
          </p:cNvPr>
          <p:cNvSpPr>
            <a:spLocks noChangeAspect="1" noChangeArrowheads="1"/>
          </p:cNvSpPr>
          <p:nvPr/>
        </p:nvSpPr>
        <p:spPr bwMode="gray">
          <a:xfrm>
            <a:off x="5056188" y="2432050"/>
            <a:ext cx="642937"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Aircraft </a:t>
            </a:r>
          </a:p>
          <a:p>
            <a:pPr algn="ctr">
              <a:spcBef>
                <a:spcPct val="0"/>
              </a:spcBef>
              <a:buClrTx/>
              <a:buFontTx/>
              <a:buNone/>
            </a:pPr>
            <a:r>
              <a:rPr lang="en-US" altLang="ko-KR" sz="800">
                <a:solidFill>
                  <a:schemeClr val="bg1"/>
                </a:solidFill>
                <a:ea typeface="굴림" panose="020b0600000101010101" pitchFamily="34" charset="-127"/>
              </a:rPr>
              <a:t>Number</a:t>
            </a:r>
          </a:p>
        </p:txBody>
      </p:sp>
      <p:sp>
        <p:nvSpPr>
          <p:cNvPr id="97298" name="Oval 20">
            <a:extLst>
              <a:ext uri="{FF2B5EF4-FFF2-40B4-BE49-F238E27FC236}">
                <a16:creationId xmlns:a16="http://schemas.microsoft.com/office/drawing/2014/main" id="{5900EC13-0EF0-57E4-CD52-1D4933BD4882}"/>
              </a:ext>
            </a:extLst>
          </p:cNvPr>
          <p:cNvSpPr>
            <a:spLocks noChangeAspect="1" noChangeArrowheads="1"/>
          </p:cNvSpPr>
          <p:nvPr/>
        </p:nvSpPr>
        <p:spPr bwMode="gray">
          <a:xfrm>
            <a:off x="3292475" y="3138488"/>
            <a:ext cx="642938"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Skill</a:t>
            </a:r>
          </a:p>
          <a:p>
            <a:pPr algn="ctr">
              <a:spcBef>
                <a:spcPct val="0"/>
              </a:spcBef>
              <a:buClrTx/>
              <a:buFontTx/>
              <a:buNone/>
            </a:pPr>
            <a:r>
              <a:rPr lang="en-US" altLang="ko-KR" sz="800">
                <a:solidFill>
                  <a:schemeClr val="bg1"/>
                </a:solidFill>
                <a:ea typeface="굴림" panose="020b0600000101010101" pitchFamily="34" charset="-127"/>
              </a:rPr>
              <a:t>(Innovation)</a:t>
            </a:r>
          </a:p>
          <a:p>
            <a:pPr algn="ctr">
              <a:spcBef>
                <a:spcPct val="0"/>
              </a:spcBef>
              <a:buClrTx/>
              <a:buFontTx/>
              <a:buNone/>
            </a:pPr>
            <a:endParaRPr lang="ko-KR" altLang="en-US" sz="800">
              <a:solidFill>
                <a:schemeClr val="bg1"/>
              </a:solidFill>
              <a:ea typeface="굴림" panose="020b0600000101010101" pitchFamily="34" charset="-127"/>
            </a:endParaRPr>
          </a:p>
        </p:txBody>
      </p:sp>
      <p:sp>
        <p:nvSpPr>
          <p:cNvPr id="97299" name="Oval 21">
            <a:extLst>
              <a:ext uri="{FF2B5EF4-FFF2-40B4-BE49-F238E27FC236}">
                <a16:creationId xmlns:a16="http://schemas.microsoft.com/office/drawing/2014/main" id="{16389667-C51F-BD51-C1BA-86D54BACFC52}"/>
              </a:ext>
            </a:extLst>
          </p:cNvPr>
          <p:cNvSpPr>
            <a:spLocks noChangeAspect="1" noChangeArrowheads="1"/>
          </p:cNvSpPr>
          <p:nvPr/>
        </p:nvSpPr>
        <p:spPr bwMode="gray">
          <a:xfrm>
            <a:off x="3900488" y="2990850"/>
            <a:ext cx="642937" cy="558800"/>
          </a:xfrm>
          <a:prstGeom prst="ellipse">
            <a:avLst/>
          </a:prstGeom>
          <a:solidFill>
            <a:srgbClr val="0070C0"/>
          </a:solidFill>
          <a:ln w="12700" algn="ctr">
            <a:solidFill>
              <a:srgbClr val="0070C0"/>
            </a:solidFill>
            <a:round/>
          </a:ln>
        </p:spPr>
        <p:txBody>
          <a:bodyPr lIns="36576" tIns="72000" rIns="36576"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Skill</a:t>
            </a:r>
          </a:p>
          <a:p>
            <a:pPr algn="ctr">
              <a:spcBef>
                <a:spcPct val="0"/>
              </a:spcBef>
              <a:buClrTx/>
              <a:buFontTx/>
              <a:buNone/>
            </a:pPr>
            <a:r>
              <a:rPr lang="en-US" altLang="ko-KR" sz="800">
                <a:solidFill>
                  <a:schemeClr val="bg1"/>
                </a:solidFill>
                <a:ea typeface="굴림" panose="020b0600000101010101" pitchFamily="34" charset="-127"/>
              </a:rPr>
              <a:t>(Cycle management )</a:t>
            </a:r>
          </a:p>
        </p:txBody>
      </p:sp>
      <p:sp>
        <p:nvSpPr>
          <p:cNvPr id="97300" name="Oval 22">
            <a:extLst>
              <a:ext uri="{FF2B5EF4-FFF2-40B4-BE49-F238E27FC236}">
                <a16:creationId xmlns:a16="http://schemas.microsoft.com/office/drawing/2014/main" id="{2C368EEB-AE6A-0DDD-8950-0B6AC8C7F88D}"/>
              </a:ext>
            </a:extLst>
          </p:cNvPr>
          <p:cNvSpPr>
            <a:spLocks noChangeAspect="1" noChangeArrowheads="1"/>
          </p:cNvSpPr>
          <p:nvPr/>
        </p:nvSpPr>
        <p:spPr bwMode="gray">
          <a:xfrm>
            <a:off x="3752850" y="3498850"/>
            <a:ext cx="642938"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Skill</a:t>
            </a:r>
          </a:p>
          <a:p>
            <a:pPr algn="ctr">
              <a:spcBef>
                <a:spcPct val="0"/>
              </a:spcBef>
              <a:buClrTx/>
              <a:buFontTx/>
              <a:buNone/>
            </a:pPr>
            <a:r>
              <a:rPr lang="en-US" altLang="ko-KR" sz="800">
                <a:solidFill>
                  <a:schemeClr val="bg1"/>
                </a:solidFill>
                <a:ea typeface="굴림" panose="020b0600000101010101" pitchFamily="34" charset="-127"/>
              </a:rPr>
              <a:t>(Risk Mana-</a:t>
            </a:r>
          </a:p>
          <a:p>
            <a:pPr algn="ctr">
              <a:spcBef>
                <a:spcPct val="0"/>
              </a:spcBef>
              <a:buClrTx/>
              <a:buFontTx/>
              <a:buNone/>
            </a:pPr>
            <a:r>
              <a:rPr lang="en-US" altLang="ko-KR" sz="800">
                <a:solidFill>
                  <a:schemeClr val="bg1"/>
                </a:solidFill>
                <a:ea typeface="굴림" panose="020b0600000101010101" pitchFamily="34" charset="-127"/>
              </a:rPr>
              <a:t>gement)</a:t>
            </a:r>
          </a:p>
        </p:txBody>
      </p:sp>
      <p:sp>
        <p:nvSpPr>
          <p:cNvPr id="97301" name="Oval 23">
            <a:extLst>
              <a:ext uri="{FF2B5EF4-FFF2-40B4-BE49-F238E27FC236}">
                <a16:creationId xmlns:a16="http://schemas.microsoft.com/office/drawing/2014/main" id="{B18504C8-AEA2-2561-9A57-C884781969AD}"/>
              </a:ext>
            </a:extLst>
          </p:cNvPr>
          <p:cNvSpPr>
            <a:spLocks noChangeAspect="1" noChangeArrowheads="1"/>
          </p:cNvSpPr>
          <p:nvPr/>
        </p:nvSpPr>
        <p:spPr bwMode="gray">
          <a:xfrm>
            <a:off x="3670300" y="4146550"/>
            <a:ext cx="642938"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Skill</a:t>
            </a:r>
          </a:p>
          <a:p>
            <a:pPr algn="ctr">
              <a:spcBef>
                <a:spcPct val="0"/>
              </a:spcBef>
              <a:buClrTx/>
              <a:buFontTx/>
              <a:buNone/>
            </a:pPr>
            <a:r>
              <a:rPr lang="en-US" altLang="ko-KR" sz="800">
                <a:solidFill>
                  <a:schemeClr val="bg1"/>
                </a:solidFill>
                <a:ea typeface="굴림" panose="020b0600000101010101" pitchFamily="34" charset="-127"/>
              </a:rPr>
              <a:t>(Relation-</a:t>
            </a:r>
          </a:p>
          <a:p>
            <a:pPr algn="ctr">
              <a:spcBef>
                <a:spcPct val="0"/>
              </a:spcBef>
              <a:buClrTx/>
              <a:buFontTx/>
              <a:buNone/>
            </a:pPr>
            <a:r>
              <a:rPr lang="en-US" altLang="ko-KR" sz="800">
                <a:solidFill>
                  <a:schemeClr val="bg1"/>
                </a:solidFill>
                <a:ea typeface="굴림" panose="020b0600000101010101" pitchFamily="34" charset="-127"/>
              </a:rPr>
              <a:t>Ship)</a:t>
            </a:r>
          </a:p>
        </p:txBody>
      </p:sp>
      <p:sp>
        <p:nvSpPr>
          <p:cNvPr id="97302" name="Oval 24">
            <a:extLst>
              <a:ext uri="{FF2B5EF4-FFF2-40B4-BE49-F238E27FC236}">
                <a16:creationId xmlns:a16="http://schemas.microsoft.com/office/drawing/2014/main" id="{14FB1A87-71DE-6BBA-9DE0-36BE16564610}"/>
              </a:ext>
            </a:extLst>
          </p:cNvPr>
          <p:cNvSpPr>
            <a:spLocks noChangeAspect="1" noChangeArrowheads="1"/>
          </p:cNvSpPr>
          <p:nvPr/>
        </p:nvSpPr>
        <p:spPr bwMode="gray">
          <a:xfrm>
            <a:off x="5238750" y="4362450"/>
            <a:ext cx="642938"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Fund’s</a:t>
            </a:r>
          </a:p>
          <a:p>
            <a:pPr algn="ctr">
              <a:spcBef>
                <a:spcPct val="0"/>
              </a:spcBef>
              <a:buClrTx/>
              <a:buFontTx/>
              <a:buNone/>
            </a:pPr>
            <a:r>
              <a:rPr lang="en-US" altLang="ko-KR" sz="800">
                <a:solidFill>
                  <a:schemeClr val="bg1"/>
                </a:solidFill>
                <a:ea typeface="굴림" panose="020b0600000101010101" pitchFamily="34" charset="-127"/>
              </a:rPr>
              <a:t>Cost</a:t>
            </a:r>
          </a:p>
        </p:txBody>
      </p:sp>
      <p:sp>
        <p:nvSpPr>
          <p:cNvPr id="97303" name="Oval 25">
            <a:extLst>
              <a:ext uri="{FF2B5EF4-FFF2-40B4-BE49-F238E27FC236}">
                <a16:creationId xmlns:a16="http://schemas.microsoft.com/office/drawing/2014/main" id="{7EFCBD46-FB2A-645E-7C6B-EFD1A1C40718}"/>
              </a:ext>
            </a:extLst>
          </p:cNvPr>
          <p:cNvSpPr>
            <a:spLocks noChangeAspect="1" noChangeArrowheads="1"/>
          </p:cNvSpPr>
          <p:nvPr/>
        </p:nvSpPr>
        <p:spPr bwMode="gray">
          <a:xfrm>
            <a:off x="4578350" y="5124450"/>
            <a:ext cx="642938"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Fund’s</a:t>
            </a:r>
          </a:p>
          <a:p>
            <a:pPr algn="ctr">
              <a:spcBef>
                <a:spcPct val="0"/>
              </a:spcBef>
              <a:buClrTx/>
              <a:buFontTx/>
              <a:buNone/>
            </a:pPr>
            <a:r>
              <a:rPr lang="en-US" altLang="ko-KR" sz="800">
                <a:solidFill>
                  <a:schemeClr val="bg1"/>
                </a:solidFill>
                <a:ea typeface="굴림" panose="020b0600000101010101" pitchFamily="34" charset="-127"/>
              </a:rPr>
              <a:t>Availability</a:t>
            </a:r>
          </a:p>
        </p:txBody>
      </p:sp>
      <p:sp>
        <p:nvSpPr>
          <p:cNvPr id="97304" name="Oval 26">
            <a:extLst>
              <a:ext uri="{FF2B5EF4-FFF2-40B4-BE49-F238E27FC236}">
                <a16:creationId xmlns:a16="http://schemas.microsoft.com/office/drawing/2014/main" id="{5278DB4B-CF0C-F3F8-A1E6-B19EDA140493}"/>
              </a:ext>
            </a:extLst>
          </p:cNvPr>
          <p:cNvSpPr>
            <a:spLocks noChangeAspect="1" noChangeArrowheads="1"/>
          </p:cNvSpPr>
          <p:nvPr/>
        </p:nvSpPr>
        <p:spPr bwMode="gray">
          <a:xfrm>
            <a:off x="2579688" y="4337050"/>
            <a:ext cx="642937"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Brand </a:t>
            </a:r>
          </a:p>
          <a:p>
            <a:pPr algn="ctr">
              <a:spcBef>
                <a:spcPct val="0"/>
              </a:spcBef>
              <a:buClrTx/>
              <a:buFontTx/>
              <a:buNone/>
            </a:pPr>
            <a:r>
              <a:rPr lang="en-US" altLang="ko-KR" sz="800">
                <a:solidFill>
                  <a:schemeClr val="bg1"/>
                </a:solidFill>
                <a:ea typeface="굴림" panose="020b0600000101010101" pitchFamily="34" charset="-127"/>
              </a:rPr>
              <a:t>Recognition</a:t>
            </a:r>
          </a:p>
        </p:txBody>
      </p:sp>
      <p:sp>
        <p:nvSpPr>
          <p:cNvPr id="97305" name="Oval 27">
            <a:extLst>
              <a:ext uri="{FF2B5EF4-FFF2-40B4-BE49-F238E27FC236}">
                <a16:creationId xmlns:a16="http://schemas.microsoft.com/office/drawing/2014/main" id="{9860A7A3-D1A8-04D4-199B-3EAB9F393CF0}"/>
              </a:ext>
            </a:extLst>
          </p:cNvPr>
          <p:cNvSpPr>
            <a:spLocks noChangeAspect="1" noChangeArrowheads="1"/>
          </p:cNvSpPr>
          <p:nvPr/>
        </p:nvSpPr>
        <p:spPr bwMode="gray">
          <a:xfrm>
            <a:off x="1011238" y="5505450"/>
            <a:ext cx="642937"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Operation</a:t>
            </a:r>
          </a:p>
          <a:p>
            <a:pPr algn="ctr">
              <a:spcBef>
                <a:spcPct val="0"/>
              </a:spcBef>
              <a:buClrTx/>
              <a:buFontTx/>
              <a:buNone/>
            </a:pPr>
            <a:r>
              <a:rPr lang="en-US" altLang="ko-KR" sz="800">
                <a:solidFill>
                  <a:schemeClr val="bg1"/>
                </a:solidFill>
                <a:ea typeface="굴림" panose="020b0600000101010101" pitchFamily="34" charset="-127"/>
              </a:rPr>
              <a:t>Cost</a:t>
            </a:r>
          </a:p>
        </p:txBody>
      </p:sp>
      <p:sp>
        <p:nvSpPr>
          <p:cNvPr id="97306" name="Oval 28">
            <a:extLst>
              <a:ext uri="{FF2B5EF4-FFF2-40B4-BE49-F238E27FC236}">
                <a16:creationId xmlns:a16="http://schemas.microsoft.com/office/drawing/2014/main" id="{E79827A7-36BF-2700-8031-BFEDB52300DB}"/>
              </a:ext>
            </a:extLst>
          </p:cNvPr>
          <p:cNvSpPr>
            <a:spLocks noChangeAspect="1" noChangeArrowheads="1"/>
          </p:cNvSpPr>
          <p:nvPr/>
        </p:nvSpPr>
        <p:spPr bwMode="gray">
          <a:xfrm>
            <a:off x="1966913" y="5146675"/>
            <a:ext cx="644525" cy="558800"/>
          </a:xfrm>
          <a:prstGeom prst="ellipse">
            <a:avLst/>
          </a:prstGeom>
          <a:solidFill>
            <a:srgbClr val="0070C0"/>
          </a:solidFill>
          <a:ln w="12700" algn="ctr">
            <a:solidFill>
              <a:srgbClr val="0070C0"/>
            </a:solidFill>
            <a:round/>
          </a:ln>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Product</a:t>
            </a:r>
          </a:p>
          <a:p>
            <a:pPr algn="ctr">
              <a:spcBef>
                <a:spcPct val="0"/>
              </a:spcBef>
              <a:buClrTx/>
              <a:buFontTx/>
              <a:buNone/>
            </a:pPr>
            <a:r>
              <a:rPr lang="en-US" altLang="ko-KR" sz="800">
                <a:solidFill>
                  <a:schemeClr val="bg1"/>
                </a:solidFill>
                <a:ea typeface="굴림" panose="020b0600000101010101" pitchFamily="34" charset="-127"/>
              </a:rPr>
              <a:t>Offering</a:t>
            </a:r>
          </a:p>
        </p:txBody>
      </p:sp>
      <p:graphicFrame>
        <p:nvGraphicFramePr>
          <p:cNvPr id="1763357" name="Group 29">
            <a:extLst>
              <a:ext uri="{FF2B5EF4-FFF2-40B4-BE49-F238E27FC236}">
                <a16:creationId xmlns:a16="http://schemas.microsoft.com/office/drawing/2014/main" id="{1ECBCF24-7C4C-76B0-8982-4B3A59E349FA}"/>
              </a:ext>
            </a:extLst>
          </p:cNvPr>
          <p:cNvGraphicFramePr>
            <a:graphicFrameLocks noGrp="1"/>
          </p:cNvGraphicFramePr>
          <p:nvPr>
            <p:extLst>
              <p:ext uri="{D42A27DB-BD31-4B8C-83A1-F6EECF244321}">
                <p14:modId xmlns:p14="http://schemas.microsoft.com/office/powerpoint/2010/main" val="1175906064"/>
              </p:ext>
            </p:extLst>
          </p:nvPr>
        </p:nvGraphicFramePr>
        <p:xfrm>
          <a:off x="6408738" y="2089150"/>
          <a:ext cx="3255962" cy="2390916"/>
        </p:xfrm>
        <a:graphic>
          <a:graphicData uri="http://schemas.openxmlformats.org/drawingml/2006/table">
            <a:tbl>
              <a:tblPr/>
              <a:tblGrid>
                <a:gridCol w="3255962">
                  <a:extLst>
                    <a:ext uri="{9D8B030D-6E8A-4147-A177-3AD203B41FA5}">
                      <a16:colId xmlns:a16="http://schemas.microsoft.com/office/drawing/2014/main" val="20000"/>
                    </a:ext>
                  </a:extLst>
                </a:gridCol>
              </a:tblGrid>
              <a:tr h="308479">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2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Competitive Advantage</a:t>
                      </a:r>
                    </a:p>
                  </a:txBody>
                  <a:tcPr marL="72000" marR="72000" marT="71949" marB="719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2082296">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84163" indent="-1682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0" fontAlgn="base" latinLnBrk="0" hangingPunct="0">
                        <a:lnSpc>
                          <a:spcPct val="85000"/>
                        </a:lnSpc>
                        <a:spcBef>
                          <a:spcPct val="40000"/>
                        </a:spcBef>
                        <a:spcAft>
                          <a:spcPct val="0"/>
                        </a:spcAft>
                        <a:buClr>
                          <a:srgbClr val="0070C0"/>
                        </a:buClr>
                        <a:buSzTx/>
                        <a:buFontTx/>
                        <a:buChar char="•"/>
                      </a:pPr>
                      <a:r>
                        <a:rPr kumimoji="0" lang="en-US" altLang="ko-KR" sz="12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Size is required to facilitate: availability and flexibility of aircrafts, easier access to funds, better negotiation powers, global recognition, choice of customer, better risk management and lower per unit operation costs</a:t>
                      </a:r>
                    </a:p>
                    <a:p>
                      <a:pPr marL="114300" marR="0" lvl="0" indent="-114300" algn="l" defTabSz="914400" rtl="0" eaLnBrk="0" fontAlgn="base" latinLnBrk="0" hangingPunct="0">
                        <a:lnSpc>
                          <a:spcPct val="85000"/>
                        </a:lnSpc>
                        <a:spcBef>
                          <a:spcPct val="40000"/>
                        </a:spcBef>
                        <a:spcAft>
                          <a:spcPct val="0"/>
                        </a:spcAft>
                        <a:buClr>
                          <a:srgbClr val="0070C0"/>
                        </a:buClr>
                        <a:buSzTx/>
                        <a:buFontTx/>
                        <a:buChar char="•"/>
                      </a:pPr>
                      <a:r>
                        <a:rPr kumimoji="0" lang="en-US" altLang="ko-KR" sz="12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Skill are necessary </a:t>
                      </a:r>
                    </a:p>
                    <a:p>
                      <a:pPr marL="284163" marR="0" lvl="1" indent="-168275" algn="l" defTabSz="914400" rtl="0" eaLnBrk="0" fontAlgn="base" latinLnBrk="0" hangingPunct="0">
                        <a:lnSpc>
                          <a:spcPct val="85000"/>
                        </a:lnSpc>
                        <a:spcBef>
                          <a:spcPct val="0"/>
                        </a:spcBef>
                        <a:spcAft>
                          <a:spcPct val="0"/>
                        </a:spcAft>
                        <a:buClr>
                          <a:srgbClr val="0070C0"/>
                        </a:buClr>
                        <a:buSzTx/>
                        <a:buFont typeface="Arial" panose="020b0604020202020204" pitchFamily="34" charset="0"/>
                        <a:buChar char="–"/>
                      </a:pPr>
                      <a:r>
                        <a:rPr kumimoji="0" lang="en-US" altLang="ko-KR" sz="12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To correctly preempt and manage the business cyclicality and to react quickly to the changing market conditions</a:t>
                      </a:r>
                    </a:p>
                    <a:p>
                      <a:pPr marL="284163" marR="0" lvl="1" indent="-168275" algn="l" defTabSz="914400" rtl="0" eaLnBrk="0" fontAlgn="base" latinLnBrk="0" hangingPunct="0">
                        <a:lnSpc>
                          <a:spcPct val="85000"/>
                        </a:lnSpc>
                        <a:spcBef>
                          <a:spcPct val="0"/>
                        </a:spcBef>
                        <a:spcAft>
                          <a:spcPct val="0"/>
                        </a:spcAft>
                        <a:buClr>
                          <a:srgbClr val="0070C0"/>
                        </a:buClr>
                        <a:buSzTx/>
                        <a:buFont typeface="Arial" panose="020b0604020202020204" pitchFamily="34" charset="0"/>
                        <a:buChar char="–"/>
                      </a:pPr>
                      <a:r>
                        <a:rPr kumimoji="0" lang="en-US" altLang="ko-KR" sz="12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To provide innovative solutions and manage risk proactively</a:t>
                      </a:r>
                    </a:p>
                  </a:txBody>
                  <a:tcPr marL="72000" marR="72000" marT="71949" marB="719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7315" name="AutoShape 37">
            <a:extLst>
              <a:ext uri="{FF2B5EF4-FFF2-40B4-BE49-F238E27FC236}">
                <a16:creationId xmlns:a16="http://schemas.microsoft.com/office/drawing/2014/main" id="{BA4F02CE-9DFA-CA55-7303-EAF14C149E51}"/>
              </a:ext>
            </a:extLst>
          </p:cNvPr>
          <p:cNvSpPr>
            <a:spLocks noChangeArrowheads="1"/>
          </p:cNvSpPr>
          <p:nvPr/>
        </p:nvSpPr>
        <p:spPr bwMode="gray">
          <a:xfrm>
            <a:off x="6088063" y="5186363"/>
            <a:ext cx="258762" cy="360362"/>
          </a:xfrm>
          <a:prstGeom prst="rightArrow">
            <a:avLst>
              <a:gd name="adj1" fmla="val 50000"/>
              <a:gd name="adj2" fmla="val 25000"/>
            </a:avLst>
          </a:prstGeom>
          <a:solidFill>
            <a:schemeClr val="accent1"/>
          </a:solidFill>
          <a:ln w="12700"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aphicFrame>
        <p:nvGraphicFramePr>
          <p:cNvPr id="1763366" name="Group 38">
            <a:extLst>
              <a:ext uri="{FF2B5EF4-FFF2-40B4-BE49-F238E27FC236}">
                <a16:creationId xmlns:a16="http://schemas.microsoft.com/office/drawing/2014/main" id="{71EE7F1F-C5C2-1AD6-8A55-C48741B484AC}"/>
              </a:ext>
            </a:extLst>
          </p:cNvPr>
          <p:cNvGraphicFramePr>
            <a:graphicFrameLocks noGrp="1"/>
          </p:cNvGraphicFramePr>
          <p:nvPr>
            <p:extLst>
              <p:ext uri="{D42A27DB-BD31-4B8C-83A1-F6EECF244321}">
                <p14:modId xmlns:p14="http://schemas.microsoft.com/office/powerpoint/2010/main" val="3331308770"/>
              </p:ext>
            </p:extLst>
          </p:nvPr>
        </p:nvGraphicFramePr>
        <p:xfrm>
          <a:off x="6408738" y="4724400"/>
          <a:ext cx="3255962" cy="1512980"/>
        </p:xfrm>
        <a:graphic>
          <a:graphicData uri="http://schemas.openxmlformats.org/drawingml/2006/table">
            <a:tbl>
              <a:tblPr/>
              <a:tblGrid>
                <a:gridCol w="3255962">
                  <a:extLst>
                    <a:ext uri="{9D8B030D-6E8A-4147-A177-3AD203B41FA5}">
                      <a16:colId xmlns:a16="http://schemas.microsoft.com/office/drawing/2014/main" val="20000"/>
                    </a:ext>
                  </a:extLst>
                </a:gridCol>
              </a:tblGrid>
              <a:tr h="308422">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US" altLang="ko-KR" sz="12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Entry &amp; Sustainability</a:t>
                      </a:r>
                    </a:p>
                  </a:txBody>
                  <a:tcPr marL="72000" marR="72000" marT="71921" marB="7192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1204466">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0" fontAlgn="base" latinLnBrk="0" hangingPunct="0">
                        <a:lnSpc>
                          <a:spcPct val="90000"/>
                        </a:lnSpc>
                        <a:spcBef>
                          <a:spcPct val="40000"/>
                        </a:spcBef>
                        <a:spcAft>
                          <a:spcPct val="0"/>
                        </a:spcAft>
                        <a:buClr>
                          <a:srgbClr val="0070C0"/>
                        </a:buClr>
                        <a:buSzTx/>
                        <a:buFontTx/>
                        <a:buChar char="•"/>
                      </a:pPr>
                      <a:r>
                        <a:rPr kumimoji="0" lang="en-US" altLang="ko-KR" sz="12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Access to funds that are cheap allows easy entry into the industry</a:t>
                      </a:r>
                    </a:p>
                    <a:p>
                      <a:pPr marL="114300" marR="0" lvl="0" indent="-114300" algn="l" defTabSz="914400" rtl="0" eaLnBrk="0" fontAlgn="base" latinLnBrk="0" hangingPunct="0">
                        <a:lnSpc>
                          <a:spcPct val="90000"/>
                        </a:lnSpc>
                        <a:spcBef>
                          <a:spcPct val="40000"/>
                        </a:spcBef>
                        <a:spcAft>
                          <a:spcPct val="0"/>
                        </a:spcAft>
                        <a:buClr>
                          <a:srgbClr val="0070C0"/>
                        </a:buClr>
                        <a:buSzTx/>
                        <a:buFontTx/>
                        <a:buChar char="•"/>
                      </a:pPr>
                      <a:r>
                        <a:rPr kumimoji="0" lang="en-US" altLang="ko-KR" sz="12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rPr>
                        <a:t>Maintaining relationships with clients and ensuring their needs are understood and catered too allows sustainability in the business</a:t>
                      </a:r>
                    </a:p>
                  </a:txBody>
                  <a:tcPr marL="72000" marR="72000" marT="71921" marB="719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7324" name="Oval 46">
            <a:extLst>
              <a:ext uri="{FF2B5EF4-FFF2-40B4-BE49-F238E27FC236}">
                <a16:creationId xmlns:a16="http://schemas.microsoft.com/office/drawing/2014/main" id="{3E5B0741-9E48-558B-7FAB-D46C59F9D2DB}"/>
              </a:ext>
            </a:extLst>
          </p:cNvPr>
          <p:cNvSpPr>
            <a:spLocks noChangeArrowheads="1"/>
          </p:cNvSpPr>
          <p:nvPr/>
        </p:nvSpPr>
        <p:spPr bwMode="gray">
          <a:xfrm rot="1946321">
            <a:off x="1196975" y="4411663"/>
            <a:ext cx="849313" cy="1119187"/>
          </a:xfrm>
          <a:prstGeom prst="ellipse">
            <a:avLst/>
          </a:prstGeom>
          <a:solidFill>
            <a:schemeClr val="folHlink"/>
          </a:solidFill>
          <a:ln w="12700" cap="rnd" algn="ctr">
            <a:solidFill>
              <a:schemeClr val="tx1"/>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97325" name="Oval 48">
            <a:extLst>
              <a:ext uri="{FF2B5EF4-FFF2-40B4-BE49-F238E27FC236}">
                <a16:creationId xmlns:a16="http://schemas.microsoft.com/office/drawing/2014/main" id="{06D3451B-9E3C-E9CC-A46D-E812B3FA9DCB}"/>
              </a:ext>
            </a:extLst>
          </p:cNvPr>
          <p:cNvSpPr>
            <a:spLocks noChangeAspect="1" noChangeArrowheads="1"/>
          </p:cNvSpPr>
          <p:nvPr/>
        </p:nvSpPr>
        <p:spPr bwMode="gray">
          <a:xfrm>
            <a:off x="1441450" y="4514850"/>
            <a:ext cx="642938" cy="558800"/>
          </a:xfrm>
          <a:prstGeom prst="ellipse">
            <a:avLst/>
          </a:prstGeom>
          <a:solidFill>
            <a:srgbClr val="0070C0"/>
          </a:solidFill>
          <a:ln w="12700" algn="ctr">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Customer</a:t>
            </a:r>
          </a:p>
          <a:p>
            <a:pPr algn="ctr">
              <a:spcBef>
                <a:spcPct val="0"/>
              </a:spcBef>
              <a:buClrTx/>
              <a:buFontTx/>
              <a:buNone/>
            </a:pPr>
            <a:r>
              <a:rPr lang="en-US" altLang="ko-KR" sz="800">
                <a:solidFill>
                  <a:schemeClr val="bg1"/>
                </a:solidFill>
                <a:ea typeface="굴림" panose="020b0600000101010101" pitchFamily="34" charset="-127"/>
              </a:rPr>
              <a:t>Segments</a:t>
            </a:r>
          </a:p>
        </p:txBody>
      </p:sp>
      <p:sp>
        <p:nvSpPr>
          <p:cNvPr id="97326" name="Oval 49">
            <a:extLst>
              <a:ext uri="{FF2B5EF4-FFF2-40B4-BE49-F238E27FC236}">
                <a16:creationId xmlns:a16="http://schemas.microsoft.com/office/drawing/2014/main" id="{2E3F35CA-AB4F-D1A6-7F89-59254F210BCF}"/>
              </a:ext>
            </a:extLst>
          </p:cNvPr>
          <p:cNvSpPr>
            <a:spLocks noChangeAspect="1" noChangeArrowheads="1"/>
          </p:cNvSpPr>
          <p:nvPr/>
        </p:nvSpPr>
        <p:spPr bwMode="gray">
          <a:xfrm>
            <a:off x="1176338" y="4895850"/>
            <a:ext cx="642937" cy="558800"/>
          </a:xfrm>
          <a:prstGeom prst="ellipse">
            <a:avLst/>
          </a:prstGeom>
          <a:solidFill>
            <a:srgbClr val="0070C0"/>
          </a:solidFill>
          <a:ln w="12700" algn="ctr">
            <a:solidFill>
              <a:srgbClr val="007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800">
                <a:solidFill>
                  <a:schemeClr val="bg1"/>
                </a:solidFill>
                <a:ea typeface="굴림" panose="020b0600000101010101" pitchFamily="34" charset="-127"/>
              </a:rPr>
              <a:t>Customer</a:t>
            </a:r>
          </a:p>
          <a:p>
            <a:pPr algn="ctr">
              <a:spcBef>
                <a:spcPct val="0"/>
              </a:spcBef>
              <a:buClrTx/>
              <a:buFontTx/>
              <a:buNone/>
            </a:pPr>
            <a:r>
              <a:rPr lang="en-US" altLang="ko-KR" sz="800">
                <a:solidFill>
                  <a:schemeClr val="bg1"/>
                </a:solidFill>
                <a:ea typeface="굴림" panose="020b0600000101010101" pitchFamily="34" charset="-127"/>
              </a:rPr>
              <a:t>Regions</a:t>
            </a:r>
          </a:p>
        </p:txBody>
      </p:sp>
      <p:sp>
        <p:nvSpPr>
          <p:cNvPr id="97327" name="Rectangle 50">
            <a:extLst>
              <a:ext uri="{FF2B5EF4-FFF2-40B4-BE49-F238E27FC236}">
                <a16:creationId xmlns:a16="http://schemas.microsoft.com/office/drawing/2014/main" id="{25F9AD2D-B033-7921-18A2-2375F7AAFE6C}"/>
              </a:ext>
            </a:extLst>
          </p:cNvPr>
          <p:cNvSpPr>
            <a:spLocks noChangeArrowheads="1"/>
          </p:cNvSpPr>
          <p:nvPr/>
        </p:nvSpPr>
        <p:spPr bwMode="gray">
          <a:xfrm>
            <a:off x="266700" y="1625600"/>
            <a:ext cx="9034463" cy="247650"/>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zh-CN" sz="1800">
                <a:ea typeface="SimSun" panose="02010600030101010101" pitchFamily="2" charset="-122"/>
              </a:rPr>
              <a:t>Key Success Factors for Leasing Industry</a:t>
            </a:r>
          </a:p>
        </p:txBody>
      </p:sp>
      <p:sp>
        <p:nvSpPr>
          <p:cNvPr id="97328" name="AutoShape 51">
            <a:extLst>
              <a:ext uri="{FF2B5EF4-FFF2-40B4-BE49-F238E27FC236}">
                <a16:creationId xmlns:a16="http://schemas.microsoft.com/office/drawing/2014/main" id="{3B67DB8B-2B01-D0DE-69BA-20BDF5AA0BF5}"/>
              </a:ext>
            </a:extLst>
          </p:cNvPr>
          <p:cNvSpPr>
            <a:spLocks noChangeArrowheads="1"/>
          </p:cNvSpPr>
          <p:nvPr/>
        </p:nvSpPr>
        <p:spPr bwMode="gray">
          <a:xfrm>
            <a:off x="6088063" y="2890838"/>
            <a:ext cx="258762" cy="360362"/>
          </a:xfrm>
          <a:prstGeom prst="rightArrow">
            <a:avLst>
              <a:gd name="adj1" fmla="val 50000"/>
              <a:gd name="adj2" fmla="val 25000"/>
            </a:avLst>
          </a:prstGeom>
          <a:solidFill>
            <a:schemeClr val="accent1"/>
          </a:solidFill>
          <a:ln w="12700" algn="ctr">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97329" name="Text Box 52">
            <a:extLst>
              <a:ext uri="{FF2B5EF4-FFF2-40B4-BE49-F238E27FC236}">
                <a16:creationId xmlns:a16="http://schemas.microsoft.com/office/drawing/2014/main" id="{3B79A90F-60AD-6D26-6E58-3171DE346892}"/>
              </a:ext>
            </a:extLst>
          </p:cNvPr>
          <p:cNvSpPr txBox="1">
            <a:spLocks noChangeArrowheads="1"/>
          </p:cNvSpPr>
          <p:nvPr/>
        </p:nvSpPr>
        <p:spPr bwMode="auto">
          <a:xfrm>
            <a:off x="8134350" y="241300"/>
            <a:ext cx="151130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Industry assessment</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99329" name="Rectangle 2">
            <a:extLst>
              <a:ext uri="{FF2B5EF4-FFF2-40B4-BE49-F238E27FC236}">
                <a16:creationId xmlns:a16="http://schemas.microsoft.com/office/drawing/2014/main" id="{057D87DA-83B4-CCA5-037A-35B7FD9C5160}"/>
              </a:ext>
            </a:extLst>
          </p:cNvPr>
          <p:cNvSpPr>
            <a:spLocks noGrp="1" noChangeArrowheads="1"/>
          </p:cNvSpPr>
          <p:nvPr>
            <p:ph type="title"/>
          </p:nvPr>
        </p:nvSpPr>
        <p:spPr bwMode="gray">
          <a:xfrm>
            <a:off x="266700" y="596900"/>
            <a:ext cx="9367838" cy="657225"/>
          </a:xfrm>
        </p:spPr>
        <p:txBody>
          <a:bodyPr/>
          <a:lstStyle/>
          <a:p>
            <a:r>
              <a:rPr lang="en-US" altLang="ko-KR">
                <a:ea typeface="굴림" panose="020b0600000101010101" pitchFamily="34" charset="-127"/>
              </a:rPr>
              <a:t>Large industry players perform better compared to the mid and small tier leasing companies</a:t>
            </a:r>
          </a:p>
        </p:txBody>
      </p:sp>
      <p:sp>
        <p:nvSpPr>
          <p:cNvPr id="99330" name="Rectangle 4">
            <a:extLst>
              <a:ext uri="{FF2B5EF4-FFF2-40B4-BE49-F238E27FC236}">
                <a16:creationId xmlns:a16="http://schemas.microsoft.com/office/drawing/2014/main" id="{3DA6CF6D-557B-7B5F-CC10-462E45C39270}"/>
              </a:ext>
            </a:extLst>
          </p:cNvPr>
          <p:cNvSpPr>
            <a:spLocks noChangeArrowheads="1"/>
          </p:cNvSpPr>
          <p:nvPr/>
        </p:nvSpPr>
        <p:spPr bwMode="gray">
          <a:xfrm>
            <a:off x="7648575" y="2474913"/>
            <a:ext cx="1993900" cy="20447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marL="114300" indent="-114300" defTabSz="9667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27050" indent="-166688" defTabSz="966788">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82650" indent="-176213" defTabSz="966788">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62038" indent="-168275" defTabSz="966788">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241425" indent="-160338" defTabSz="96678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6986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1558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6130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070225" indent="-160338" defTabSz="96678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buClr>
                <a:srgbClr val="0070C0"/>
              </a:buClr>
              <a:buFontTx/>
              <a:buChar char="•"/>
            </a:pPr>
            <a:r>
              <a:rPr lang="en-US" altLang="ko-KR" sz="1200" b="0">
                <a:ea typeface="굴림" panose="020b0600000101010101" pitchFamily="34" charset="-127"/>
              </a:rPr>
              <a:t>Large players show better returns when compared with their  smaller counterparts</a:t>
            </a:r>
          </a:p>
          <a:p>
            <a:pPr>
              <a:lnSpc>
                <a:spcPct val="100000"/>
              </a:lnSpc>
              <a:buClr>
                <a:srgbClr val="0070C0"/>
              </a:buClr>
              <a:buFontTx/>
              <a:buChar char="•"/>
            </a:pPr>
            <a:r>
              <a:rPr lang="en-US" altLang="ko-KR" sz="1200" b="0">
                <a:ea typeface="굴림" panose="020b0600000101010101" pitchFamily="34" charset="-127"/>
              </a:rPr>
              <a:t>GECAS and ILFC have been consistently producing returns of over 1% of assets during the last 4 years</a:t>
            </a:r>
          </a:p>
          <a:p>
            <a:pPr>
              <a:lnSpc>
                <a:spcPct val="100000"/>
              </a:lnSpc>
              <a:buClr>
                <a:srgbClr val="0070C0"/>
              </a:buClr>
              <a:buFontTx/>
              <a:buChar char="•"/>
            </a:pPr>
            <a:r>
              <a:rPr lang="en-US" altLang="ko-KR" sz="1200" b="0">
                <a:ea typeface="굴림" panose="020b0600000101010101" pitchFamily="34" charset="-127"/>
              </a:rPr>
              <a:t>The returns of the mid and small tier players have a wide range from -5% to 1%</a:t>
            </a:r>
          </a:p>
        </p:txBody>
      </p:sp>
      <p:sp>
        <p:nvSpPr>
          <p:cNvPr id="99331" name="Rectangle 5">
            <a:extLst>
              <a:ext uri="{FF2B5EF4-FFF2-40B4-BE49-F238E27FC236}">
                <a16:creationId xmlns:a16="http://schemas.microsoft.com/office/drawing/2014/main" id="{C5191A5E-2F45-B922-F165-E67A58D5A5B8}"/>
              </a:ext>
            </a:extLst>
          </p:cNvPr>
          <p:cNvSpPr>
            <a:spLocks noChangeArrowheads="1"/>
          </p:cNvSpPr>
          <p:nvPr/>
        </p:nvSpPr>
        <p:spPr bwMode="gray">
          <a:xfrm>
            <a:off x="266700" y="1625600"/>
            <a:ext cx="9034463" cy="247650"/>
          </a:xfrm>
          <a:prstGeom prst="rect">
            <a:avLst/>
          </a:prstGeom>
          <a:noFill/>
          <a:ln>
            <a:noFill/>
          </a:ln>
          <a:effectLst/>
          <a:extLst>
            <a:ext uri="{909E8E84-426E-40DD-AFC4-6F175D3DCCD1}">
              <a14:hiddenFill xmlns:a14="http://schemas.microsoft.com/office/drawing/2010/main">
                <a:solidFill>
                  <a:srgbClr val="F3F3F3"/>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zh-CN" sz="1800">
                <a:ea typeface="SimSun" panose="02010600030101010101" pitchFamily="2" charset="-122"/>
              </a:rPr>
              <a:t>Average ROA vs Asset size (2002 -2004)</a:t>
            </a:r>
          </a:p>
        </p:txBody>
      </p:sp>
      <p:sp>
        <p:nvSpPr>
          <p:cNvPr id="99332" name="Text Box 6">
            <a:extLst>
              <a:ext uri="{FF2B5EF4-FFF2-40B4-BE49-F238E27FC236}">
                <a16:creationId xmlns:a16="http://schemas.microsoft.com/office/drawing/2014/main" id="{F1869DBE-132F-F620-AA80-3ED9EE0134BC}"/>
              </a:ext>
            </a:extLst>
          </p:cNvPr>
          <p:cNvSpPr txBox="1"/>
          <p:nvPr/>
        </p:nvSpPr>
        <p:spPr bwMode="gray">
          <a:xfrm>
            <a:off x="182563" y="1917700"/>
            <a:ext cx="1455737" cy="274638"/>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a:solidFill>
                  <a:srgbClr val="000000"/>
                </a:solidFill>
                <a:ea typeface="ヒラギノ角ゴ Pro W3" pitchFamily="1" charset="-128"/>
                <a:sym typeface="Arial" panose="020b0604020202020204" pitchFamily="34" charset="0"/>
              </a:rPr>
              <a:t>Average ROA</a:t>
            </a:r>
            <a:r>
              <a:rPr lang="en-US" altLang="ko-KR" sz="1200" baseline="30000">
                <a:solidFill>
                  <a:srgbClr val="000000"/>
                </a:solidFill>
                <a:ea typeface="ヒラギノ角ゴ Pro W3" pitchFamily="1" charset="-128"/>
                <a:sym typeface="Arial" panose="020b0604020202020204" pitchFamily="34" charset="0"/>
              </a:rPr>
              <a:t>(1)</a:t>
            </a:r>
          </a:p>
        </p:txBody>
      </p:sp>
      <p:sp>
        <p:nvSpPr>
          <p:cNvPr id="99333" name="Text Box 7">
            <a:extLst>
              <a:ext uri="{FF2B5EF4-FFF2-40B4-BE49-F238E27FC236}">
                <a16:creationId xmlns:a16="http://schemas.microsoft.com/office/drawing/2014/main" id="{A97F143C-D0F9-0E8D-ED02-012C592505FE}"/>
              </a:ext>
            </a:extLst>
          </p:cNvPr>
          <p:cNvSpPr txBox="1">
            <a:spLocks noChangeArrowheads="1"/>
          </p:cNvSpPr>
          <p:nvPr/>
        </p:nvSpPr>
        <p:spPr bwMode="gray">
          <a:xfrm>
            <a:off x="6497638" y="5318125"/>
            <a:ext cx="609600"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30000</a:t>
            </a:r>
          </a:p>
        </p:txBody>
      </p:sp>
      <p:sp>
        <p:nvSpPr>
          <p:cNvPr id="99334" name="AutoShape 8">
            <a:extLst>
              <a:ext uri="{FF2B5EF4-FFF2-40B4-BE49-F238E27FC236}">
                <a16:creationId xmlns:a16="http://schemas.microsoft.com/office/drawing/2014/main" id="{D4507163-3852-9C19-2693-9EAD4EEF57D6}"/>
              </a:ext>
            </a:extLst>
          </p:cNvPr>
          <p:cNvSpPr>
            <a:spLocks noChangeArrowheads="1"/>
          </p:cNvSpPr>
          <p:nvPr/>
        </p:nvSpPr>
        <p:spPr bwMode="gray">
          <a:xfrm rot="5400000">
            <a:off x="6149976" y="3716337"/>
            <a:ext cx="2411412" cy="347663"/>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en-GB" altLang="ko-KR" sz="1000" b="0">
              <a:ea typeface="가는각진제목체" panose="02030600000101010101" pitchFamily="18" charset="-127"/>
            </a:endParaRPr>
          </a:p>
        </p:txBody>
      </p:sp>
      <p:sp>
        <p:nvSpPr>
          <p:cNvPr id="99335" name="Line 9">
            <a:extLst>
              <a:ext uri="{FF2B5EF4-FFF2-40B4-BE49-F238E27FC236}">
                <a16:creationId xmlns:a16="http://schemas.microsoft.com/office/drawing/2014/main" id="{A5D8D910-2E1B-8383-4D01-1F3D753A0358}"/>
              </a:ext>
            </a:extLst>
          </p:cNvPr>
          <p:cNvSpPr>
            <a:spLocks noChangeShapeType="1"/>
          </p:cNvSpPr>
          <p:nvPr/>
        </p:nvSpPr>
        <p:spPr bwMode="gray">
          <a:xfrm>
            <a:off x="869950" y="4668838"/>
            <a:ext cx="6105525" cy="17462"/>
          </a:xfrm>
          <a:prstGeom prst="line">
            <a:avLst/>
          </a:prstGeom>
          <a:noFill/>
          <a:ln w="3175">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99336" name="Line 10">
            <a:extLst>
              <a:ext uri="{FF2B5EF4-FFF2-40B4-BE49-F238E27FC236}">
                <a16:creationId xmlns:a16="http://schemas.microsoft.com/office/drawing/2014/main" id="{0DD02D88-5C2E-9129-19D6-185ECFB301A4}"/>
              </a:ext>
            </a:extLst>
          </p:cNvPr>
          <p:cNvSpPr>
            <a:spLocks noChangeShapeType="1"/>
          </p:cNvSpPr>
          <p:nvPr/>
        </p:nvSpPr>
        <p:spPr bwMode="gray">
          <a:xfrm flipV="1">
            <a:off x="839788" y="3024188"/>
            <a:ext cx="6176962" cy="15875"/>
          </a:xfrm>
          <a:prstGeom prst="line">
            <a:avLst/>
          </a:prstGeom>
          <a:noFill/>
          <a:ln w="3175">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graphicFrame>
        <p:nvGraphicFramePr>
          <p:cNvPr id="99337" name="Object 11">
            <a:extLst>
              <a:ext uri="{FF2B5EF4-FFF2-40B4-BE49-F238E27FC236}">
                <a16:creationId xmlns:a16="http://schemas.microsoft.com/office/drawing/2014/main" id="{DFFEDC41-9623-E95E-63ED-0C0565A23A3F}"/>
              </a:ext>
            </a:extLst>
          </p:cNvPr>
          <p:cNvGraphicFramePr/>
          <p:nvPr/>
        </p:nvGraphicFramePr>
        <p:xfrm>
          <a:off x="795338" y="2257425"/>
          <a:ext cx="6242050" cy="3105150"/>
        </p:xfrm>
        <a:graphic>
          <a:graphicData uri="http://schemas.openxmlformats.org/presentationml/2006/ole">
            <mc:AlternateContent>
              <mc:Choice xmlns:v="urn:schemas-microsoft-com:vml" Requires="v">
                <p:oleObj spid="_x0000_s1056" name="차트" r:id="rId3" imgW="6521450" imgH="3251200" progId="Excel.Chart.8">
                  <p:embed/>
                </p:oleObj>
              </mc:Choice>
              <mc:Fallback>
                <p:oleObj name="차트" r:id="rId3" imgW="6521450" imgH="3251200" progId="Excel.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795338" y="2257425"/>
                        <a:ext cx="6242050" cy="3105150"/>
                      </a:xfrm>
                      <a:prstGeom prst="rect">
                        <a:avLst/>
                      </a:prstGeom>
                      <a:noFill/>
                      <a:ln>
                        <a:noFill/>
                      </a:ln>
                    </p:spPr>
                  </p:pic>
                </p:oleObj>
              </mc:Fallback>
            </mc:AlternateContent>
          </a:graphicData>
        </a:graphic>
      </p:graphicFrame>
      <p:sp>
        <p:nvSpPr>
          <p:cNvPr id="99338" name="Text Box 12">
            <a:extLst>
              <a:ext uri="{FF2B5EF4-FFF2-40B4-BE49-F238E27FC236}">
                <a16:creationId xmlns:a16="http://schemas.microsoft.com/office/drawing/2014/main" id="{804F15ED-D7EC-C2C9-41E1-AC4EFC0D7B71}"/>
              </a:ext>
            </a:extLst>
          </p:cNvPr>
          <p:cNvSpPr txBox="1">
            <a:spLocks noChangeArrowheads="1"/>
          </p:cNvSpPr>
          <p:nvPr/>
        </p:nvSpPr>
        <p:spPr bwMode="gray">
          <a:xfrm>
            <a:off x="309563" y="2263775"/>
            <a:ext cx="530225"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ko-KR" sz="1200" b="0">
                <a:ea typeface="굴림" panose="020b0600000101010101" pitchFamily="34" charset="-127"/>
              </a:rPr>
              <a:t>2.0%</a:t>
            </a:r>
          </a:p>
        </p:txBody>
      </p:sp>
      <p:sp>
        <p:nvSpPr>
          <p:cNvPr id="99339" name="Text Box 13">
            <a:extLst>
              <a:ext uri="{FF2B5EF4-FFF2-40B4-BE49-F238E27FC236}">
                <a16:creationId xmlns:a16="http://schemas.microsoft.com/office/drawing/2014/main" id="{7F5D595F-AA61-87C5-B8EE-94A2351FA905}"/>
              </a:ext>
            </a:extLst>
          </p:cNvPr>
          <p:cNvSpPr txBox="1">
            <a:spLocks noChangeArrowheads="1"/>
          </p:cNvSpPr>
          <p:nvPr/>
        </p:nvSpPr>
        <p:spPr bwMode="gray">
          <a:xfrm>
            <a:off x="309563" y="3678238"/>
            <a:ext cx="530225"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ko-KR" sz="1200" b="0">
                <a:ea typeface="굴림" panose="020b0600000101010101" pitchFamily="34" charset="-127"/>
              </a:rPr>
              <a:t>0.5%</a:t>
            </a:r>
          </a:p>
        </p:txBody>
      </p:sp>
      <p:sp>
        <p:nvSpPr>
          <p:cNvPr id="99340" name="Text Box 14">
            <a:extLst>
              <a:ext uri="{FF2B5EF4-FFF2-40B4-BE49-F238E27FC236}">
                <a16:creationId xmlns:a16="http://schemas.microsoft.com/office/drawing/2014/main" id="{E49D76AC-19F4-B2FD-D444-6F4515561344}"/>
              </a:ext>
            </a:extLst>
          </p:cNvPr>
          <p:cNvSpPr txBox="1">
            <a:spLocks noChangeArrowheads="1"/>
          </p:cNvSpPr>
          <p:nvPr/>
        </p:nvSpPr>
        <p:spPr bwMode="gray">
          <a:xfrm>
            <a:off x="254000" y="5119688"/>
            <a:ext cx="58578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ko-KR" sz="1200" b="0">
                <a:ea typeface="굴림" panose="020b0600000101010101" pitchFamily="34" charset="-127"/>
              </a:rPr>
              <a:t>-7.0%</a:t>
            </a:r>
          </a:p>
        </p:txBody>
      </p:sp>
      <p:sp>
        <p:nvSpPr>
          <p:cNvPr id="99341" name="Text Box 15">
            <a:extLst>
              <a:ext uri="{FF2B5EF4-FFF2-40B4-BE49-F238E27FC236}">
                <a16:creationId xmlns:a16="http://schemas.microsoft.com/office/drawing/2014/main" id="{B6320663-CD5C-56F3-C898-34CED01457EA}"/>
              </a:ext>
            </a:extLst>
          </p:cNvPr>
          <p:cNvSpPr txBox="1"/>
          <p:nvPr/>
        </p:nvSpPr>
        <p:spPr bwMode="gray">
          <a:xfrm>
            <a:off x="2716213" y="5608638"/>
            <a:ext cx="2478087" cy="274637"/>
          </a:xfrm>
          <a:prstGeom prst="rect">
            <a:avLst/>
          </a:prstGeom>
          <a:noFill/>
          <a:ln>
            <a:noFill/>
          </a:ln>
          <a:effectLst/>
          <a:extLst>
            <a:ext uri="{909E8E84-426E-40DD-AFC4-6F175D3DCCD1}">
              <a14:hiddenFill xmlns:a14="http://schemas.microsoft.com/office/drawing/2010/main">
                <a:solidFill>
                  <a:srgbClr val="BCDFE3"/>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lnSpc>
                <a:spcPct val="100000"/>
              </a:lnSpc>
              <a:spcBef>
                <a:spcPct val="0"/>
              </a:spcBef>
              <a:buClrTx/>
              <a:buFontTx/>
              <a:buNone/>
            </a:pPr>
            <a:r>
              <a:rPr lang="en-US" altLang="ko-KR" sz="1200">
                <a:solidFill>
                  <a:srgbClr val="000000"/>
                </a:solidFill>
                <a:ea typeface="ヒラギノ角ゴ Pro W3" pitchFamily="1" charset="-128"/>
                <a:sym typeface="Arial" panose="020b0604020202020204" pitchFamily="34" charset="0"/>
              </a:rPr>
              <a:t>Fleet Value ($ Million)</a:t>
            </a:r>
          </a:p>
        </p:txBody>
      </p:sp>
      <p:sp>
        <p:nvSpPr>
          <p:cNvPr id="99342" name="Text Box 16">
            <a:extLst>
              <a:ext uri="{FF2B5EF4-FFF2-40B4-BE49-F238E27FC236}">
                <a16:creationId xmlns:a16="http://schemas.microsoft.com/office/drawing/2014/main" id="{73B836B2-7D22-3591-B364-92B04EA182FB}"/>
              </a:ext>
            </a:extLst>
          </p:cNvPr>
          <p:cNvSpPr txBox="1">
            <a:spLocks noChangeArrowheads="1"/>
          </p:cNvSpPr>
          <p:nvPr/>
        </p:nvSpPr>
        <p:spPr bwMode="gray">
          <a:xfrm>
            <a:off x="219075" y="2859088"/>
            <a:ext cx="620713"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ko-KR" sz="1200" b="0">
                <a:ea typeface="굴림" panose="020b0600000101010101" pitchFamily="34" charset="-127"/>
              </a:rPr>
              <a:t>1.25%</a:t>
            </a:r>
          </a:p>
        </p:txBody>
      </p:sp>
      <p:sp>
        <p:nvSpPr>
          <p:cNvPr id="99343" name="Text Box 17">
            <a:extLst>
              <a:ext uri="{FF2B5EF4-FFF2-40B4-BE49-F238E27FC236}">
                <a16:creationId xmlns:a16="http://schemas.microsoft.com/office/drawing/2014/main" id="{7F99DFF1-A8D2-1095-3510-A72E890E0E19}"/>
              </a:ext>
            </a:extLst>
          </p:cNvPr>
          <p:cNvSpPr txBox="1">
            <a:spLocks noChangeArrowheads="1"/>
          </p:cNvSpPr>
          <p:nvPr/>
        </p:nvSpPr>
        <p:spPr bwMode="gray">
          <a:xfrm>
            <a:off x="117475" y="4513263"/>
            <a:ext cx="722313"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US" altLang="ko-KR" sz="1200" b="0">
                <a:ea typeface="굴림" panose="020b0600000101010101" pitchFamily="34" charset="-127"/>
              </a:rPr>
              <a:t>- 0.25%</a:t>
            </a:r>
          </a:p>
        </p:txBody>
      </p:sp>
      <p:sp>
        <p:nvSpPr>
          <p:cNvPr id="99344" name="Text Box 18">
            <a:extLst>
              <a:ext uri="{FF2B5EF4-FFF2-40B4-BE49-F238E27FC236}">
                <a16:creationId xmlns:a16="http://schemas.microsoft.com/office/drawing/2014/main" id="{A46F7DD9-2374-766E-4E15-347C8FA7063E}"/>
              </a:ext>
            </a:extLst>
          </p:cNvPr>
          <p:cNvSpPr txBox="1">
            <a:spLocks noChangeArrowheads="1"/>
          </p:cNvSpPr>
          <p:nvPr/>
        </p:nvSpPr>
        <p:spPr bwMode="gray">
          <a:xfrm>
            <a:off x="746125" y="5337175"/>
            <a:ext cx="246063"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0</a:t>
            </a:r>
          </a:p>
        </p:txBody>
      </p:sp>
      <p:sp>
        <p:nvSpPr>
          <p:cNvPr id="99345" name="Text Box 19">
            <a:extLst>
              <a:ext uri="{FF2B5EF4-FFF2-40B4-BE49-F238E27FC236}">
                <a16:creationId xmlns:a16="http://schemas.microsoft.com/office/drawing/2014/main" id="{60839FBB-2131-BE2B-8DF4-A4CFE28BBB6D}"/>
              </a:ext>
            </a:extLst>
          </p:cNvPr>
          <p:cNvSpPr txBox="1">
            <a:spLocks noChangeArrowheads="1"/>
          </p:cNvSpPr>
          <p:nvPr/>
        </p:nvSpPr>
        <p:spPr bwMode="gray">
          <a:xfrm>
            <a:off x="3649663" y="5337175"/>
            <a:ext cx="519112"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5000</a:t>
            </a:r>
          </a:p>
        </p:txBody>
      </p:sp>
      <p:sp>
        <p:nvSpPr>
          <p:cNvPr id="99346" name="Freeform 20">
            <a:extLst>
              <a:ext uri="{FF2B5EF4-FFF2-40B4-BE49-F238E27FC236}">
                <a16:creationId xmlns:a16="http://schemas.microsoft.com/office/drawing/2014/main" id="{75019E36-D4BB-824A-4751-4850FBF3DAAE}"/>
              </a:ext>
            </a:extLst>
          </p:cNvPr>
          <p:cNvSpPr/>
          <p:nvPr/>
        </p:nvSpPr>
        <p:spPr bwMode="gray">
          <a:xfrm>
            <a:off x="3582988" y="2403475"/>
            <a:ext cx="3379787" cy="2873375"/>
          </a:xfrm>
          <a:custGeom>
            <a:gdLst>
              <a:gd name="T0" fmla="*/ 0 w 3216"/>
              <a:gd name="T1" fmla="*/ 0 h 1488"/>
              <a:gd name="T2" fmla="*/ 2147483646 w 3216"/>
              <a:gd name="T3" fmla="*/ 2147483646 h 1488"/>
              <a:gd name="T4" fmla="*/ 2147483646 w 3216"/>
              <a:gd name="T5" fmla="*/ 2147483646 h 1488"/>
              <a:gd name="T6" fmla="*/ 0 60000 65536"/>
              <a:gd name="T7" fmla="*/ 0 60000 65536"/>
              <a:gd name="T8" fmla="*/ 0 60000 65536"/>
            </a:gdLst>
            <a:cxnLst>
              <a:cxn ang="T6">
                <a:pos x="T0" y="T1"/>
              </a:cxn>
              <a:cxn ang="T7">
                <a:pos x="T2" y="T3"/>
              </a:cxn>
              <a:cxn ang="T8">
                <a:pos x="T4" y="T5"/>
              </a:cxn>
            </a:cxnLst>
            <a:rect l="0" t="0" r="r" b="b"/>
            <a:pathLst>
              <a:path w="3216" h="1488">
                <a:moveTo>
                  <a:pt x="0" y="0"/>
                </a:moveTo>
                <a:cubicBezTo>
                  <a:pt x="164" y="356"/>
                  <a:pt x="328" y="712"/>
                  <a:pt x="864" y="960"/>
                </a:cubicBezTo>
                <a:cubicBezTo>
                  <a:pt x="1400" y="1208"/>
                  <a:pt x="2840" y="1400"/>
                  <a:pt x="3216" y="1488"/>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99347" name="Text Box 21">
            <a:extLst>
              <a:ext uri="{FF2B5EF4-FFF2-40B4-BE49-F238E27FC236}">
                <a16:creationId xmlns:a16="http://schemas.microsoft.com/office/drawing/2014/main" id="{1BB318D5-91CA-74B7-0F4E-2D1CAB1B51C8}"/>
              </a:ext>
            </a:extLst>
          </p:cNvPr>
          <p:cNvSpPr txBox="1">
            <a:spLocks noChangeArrowheads="1"/>
          </p:cNvSpPr>
          <p:nvPr/>
        </p:nvSpPr>
        <p:spPr bwMode="gray">
          <a:xfrm>
            <a:off x="5067300" y="4076700"/>
            <a:ext cx="1268413" cy="30797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accent2"/>
                </a:solidFill>
                <a:ea typeface="굴림" panose="020b0600000101010101" pitchFamily="34" charset="-127"/>
              </a:rPr>
              <a:t>Large Players</a:t>
            </a:r>
          </a:p>
        </p:txBody>
      </p:sp>
      <p:sp>
        <p:nvSpPr>
          <p:cNvPr id="99348" name="Text Box 22">
            <a:extLst>
              <a:ext uri="{FF2B5EF4-FFF2-40B4-BE49-F238E27FC236}">
                <a16:creationId xmlns:a16="http://schemas.microsoft.com/office/drawing/2014/main" id="{7C729051-D6B6-F24A-EE47-A130B124358D}"/>
              </a:ext>
            </a:extLst>
          </p:cNvPr>
          <p:cNvSpPr txBox="1">
            <a:spLocks noChangeArrowheads="1"/>
          </p:cNvSpPr>
          <p:nvPr/>
        </p:nvSpPr>
        <p:spPr bwMode="gray">
          <a:xfrm>
            <a:off x="2970213" y="4210050"/>
            <a:ext cx="1444625" cy="30797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accent2"/>
                </a:solidFill>
                <a:ea typeface="굴림" panose="020b0600000101010101" pitchFamily="34" charset="-127"/>
              </a:rPr>
              <a:t>Mid-tier Players</a:t>
            </a:r>
          </a:p>
        </p:txBody>
      </p:sp>
      <p:sp>
        <p:nvSpPr>
          <p:cNvPr id="99349" name="Text Box 23">
            <a:extLst>
              <a:ext uri="{FF2B5EF4-FFF2-40B4-BE49-F238E27FC236}">
                <a16:creationId xmlns:a16="http://schemas.microsoft.com/office/drawing/2014/main" id="{158BC44D-5C38-5B0F-5BD7-61F9D95578F9}"/>
              </a:ext>
            </a:extLst>
          </p:cNvPr>
          <p:cNvSpPr txBox="1">
            <a:spLocks noChangeArrowheads="1"/>
          </p:cNvSpPr>
          <p:nvPr/>
        </p:nvSpPr>
        <p:spPr bwMode="gray">
          <a:xfrm>
            <a:off x="949325" y="4959350"/>
            <a:ext cx="754063"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solidFill>
                  <a:schemeClr val="accent2"/>
                </a:solidFill>
                <a:ea typeface="굴림" panose="020b0600000101010101" pitchFamily="34" charset="-127"/>
              </a:rPr>
              <a:t>Small Players</a:t>
            </a:r>
          </a:p>
        </p:txBody>
      </p:sp>
      <p:sp>
        <p:nvSpPr>
          <p:cNvPr id="99350" name="Text Box 24">
            <a:extLst>
              <a:ext uri="{FF2B5EF4-FFF2-40B4-BE49-F238E27FC236}">
                <a16:creationId xmlns:a16="http://schemas.microsoft.com/office/drawing/2014/main" id="{76E326B5-ABFE-2F9F-5F30-9F887BE62B70}"/>
              </a:ext>
            </a:extLst>
          </p:cNvPr>
          <p:cNvSpPr txBox="1">
            <a:spLocks noChangeArrowheads="1"/>
          </p:cNvSpPr>
          <p:nvPr/>
        </p:nvSpPr>
        <p:spPr bwMode="gray">
          <a:xfrm>
            <a:off x="2349500" y="5326063"/>
            <a:ext cx="519113"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2500</a:t>
            </a:r>
          </a:p>
        </p:txBody>
      </p:sp>
      <p:sp>
        <p:nvSpPr>
          <p:cNvPr id="99351" name="Text Box 25">
            <a:extLst>
              <a:ext uri="{FF2B5EF4-FFF2-40B4-BE49-F238E27FC236}">
                <a16:creationId xmlns:a16="http://schemas.microsoft.com/office/drawing/2014/main" id="{A9F724F1-155D-4FAC-D35B-D54E15A9F6C4}"/>
              </a:ext>
            </a:extLst>
          </p:cNvPr>
          <p:cNvSpPr txBox="1">
            <a:spLocks noChangeArrowheads="1"/>
          </p:cNvSpPr>
          <p:nvPr/>
        </p:nvSpPr>
        <p:spPr bwMode="gray">
          <a:xfrm>
            <a:off x="5214938" y="5337175"/>
            <a:ext cx="609600"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200">
                <a:ea typeface="굴림" panose="020b0600000101010101" pitchFamily="34" charset="-127"/>
              </a:rPr>
              <a:t>17500</a:t>
            </a:r>
          </a:p>
        </p:txBody>
      </p:sp>
      <p:sp>
        <p:nvSpPr>
          <p:cNvPr id="99352" name="Freeform 26">
            <a:extLst>
              <a:ext uri="{FF2B5EF4-FFF2-40B4-BE49-F238E27FC236}">
                <a16:creationId xmlns:a16="http://schemas.microsoft.com/office/drawing/2014/main" id="{14E23281-022A-32B7-82A1-678F6095CFF0}"/>
              </a:ext>
            </a:extLst>
          </p:cNvPr>
          <p:cNvSpPr/>
          <p:nvPr/>
        </p:nvSpPr>
        <p:spPr bwMode="gray">
          <a:xfrm>
            <a:off x="858838" y="3235325"/>
            <a:ext cx="1471612" cy="2028825"/>
          </a:xfrm>
          <a:custGeom>
            <a:gdLst>
              <a:gd name="T0" fmla="*/ 0 w 3216"/>
              <a:gd name="T1" fmla="*/ 0 h 1488"/>
              <a:gd name="T2" fmla="*/ 2147483646 w 3216"/>
              <a:gd name="T3" fmla="*/ 2147483646 h 1488"/>
              <a:gd name="T4" fmla="*/ 2147483646 w 3216"/>
              <a:gd name="T5" fmla="*/ 2147483646 h 1488"/>
              <a:gd name="T6" fmla="*/ 0 60000 65536"/>
              <a:gd name="T7" fmla="*/ 0 60000 65536"/>
              <a:gd name="T8" fmla="*/ 0 60000 65536"/>
            </a:gdLst>
            <a:cxnLst>
              <a:cxn ang="T6">
                <a:pos x="T0" y="T1"/>
              </a:cxn>
              <a:cxn ang="T7">
                <a:pos x="T2" y="T3"/>
              </a:cxn>
              <a:cxn ang="T8">
                <a:pos x="T4" y="T5"/>
              </a:cxn>
            </a:cxnLst>
            <a:rect l="0" t="0" r="r" b="b"/>
            <a:pathLst>
              <a:path w="3216" h="1488">
                <a:moveTo>
                  <a:pt x="0" y="0"/>
                </a:moveTo>
                <a:cubicBezTo>
                  <a:pt x="164" y="356"/>
                  <a:pt x="328" y="712"/>
                  <a:pt x="864" y="960"/>
                </a:cubicBezTo>
                <a:cubicBezTo>
                  <a:pt x="1400" y="1208"/>
                  <a:pt x="2840" y="1400"/>
                  <a:pt x="3216" y="1488"/>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99353" name="Rectangle 27">
            <a:extLst>
              <a:ext uri="{FF2B5EF4-FFF2-40B4-BE49-F238E27FC236}">
                <a16:creationId xmlns:a16="http://schemas.microsoft.com/office/drawing/2014/main" id="{68803B78-F1ED-111B-D2D1-0FB6498B61C1}"/>
              </a:ext>
            </a:extLst>
          </p:cNvPr>
          <p:cNvSpPr>
            <a:spLocks noChangeArrowheads="1"/>
          </p:cNvSpPr>
          <p:nvPr/>
        </p:nvSpPr>
        <p:spPr bwMode="gray">
          <a:xfrm>
            <a:off x="165100" y="5919788"/>
            <a:ext cx="259397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marL="2825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85850"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200150"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714500"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286000"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7432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32004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6576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4114800"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US" altLang="ko-KR" sz="1000" b="0">
                <a:ea typeface="굴림" panose="020b0600000101010101" pitchFamily="34" charset="-127"/>
              </a:rPr>
              <a:t>Size Depicts the Size of the Fleet</a:t>
            </a:r>
          </a:p>
        </p:txBody>
      </p:sp>
      <p:sp>
        <p:nvSpPr>
          <p:cNvPr id="99354" name="Oval 28">
            <a:extLst>
              <a:ext uri="{FF2B5EF4-FFF2-40B4-BE49-F238E27FC236}">
                <a16:creationId xmlns:a16="http://schemas.microsoft.com/office/drawing/2014/main" id="{3D2B25BF-5667-0748-978B-0D69AB16C268}"/>
              </a:ext>
            </a:extLst>
          </p:cNvPr>
          <p:cNvSpPr>
            <a:spLocks noChangeArrowheads="1"/>
          </p:cNvSpPr>
          <p:nvPr/>
        </p:nvSpPr>
        <p:spPr bwMode="gray">
          <a:xfrm>
            <a:off x="246063" y="5959475"/>
            <a:ext cx="200025" cy="198438"/>
          </a:xfrm>
          <a:prstGeom prst="ellipse">
            <a:avLst/>
          </a:prstGeom>
          <a:solidFill>
            <a:schemeClr val="bg2"/>
          </a:solidFill>
          <a:ln w="12700">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grpSp>
        <p:nvGrpSpPr>
          <p:cNvPr id="99355" name="Group 29">
            <a:extLst>
              <a:ext uri="{FF2B5EF4-FFF2-40B4-BE49-F238E27FC236}">
                <a16:creationId xmlns:a16="http://schemas.microsoft.com/office/drawing/2014/main" id="{81880360-8ACD-DAAC-9C55-7FC97E89B798}"/>
              </a:ext>
            </a:extLst>
          </p:cNvPr>
          <p:cNvGrpSpPr/>
          <p:nvPr/>
        </p:nvGrpSpPr>
        <p:grpSpPr>
          <a:xfrm>
            <a:off x="4457700" y="5108575"/>
            <a:ext cx="384175" cy="288925"/>
            <a:chOff x="2160" y="3446"/>
            <a:chExt cx="223" cy="182"/>
          </a:xfrm>
        </p:grpSpPr>
        <p:sp>
          <p:nvSpPr>
            <p:cNvPr id="99363" name="Text Box 30">
              <a:extLst>
                <a:ext uri="{FF2B5EF4-FFF2-40B4-BE49-F238E27FC236}">
                  <a16:creationId xmlns:a16="http://schemas.microsoft.com/office/drawing/2014/main" id="{505EE307-9FC6-157B-BE57-DB528C073DB6}"/>
                </a:ext>
              </a:extLst>
            </p:cNvPr>
            <p:cNvSpPr txBox="1">
              <a:spLocks noChangeArrowheads="1"/>
            </p:cNvSpPr>
            <p:nvPr/>
          </p:nvSpPr>
          <p:spPr bwMode="gray">
            <a:xfrm>
              <a:off x="2215" y="3446"/>
              <a:ext cx="168" cy="1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800" b="0">
                  <a:ea typeface="굴림" panose="020b0600000101010101" pitchFamily="34" charset="-127"/>
                </a:rPr>
                <a:t>(2)</a:t>
              </a:r>
            </a:p>
          </p:txBody>
        </p:sp>
        <p:grpSp>
          <p:nvGrpSpPr>
            <p:cNvPr id="99364" name="Group 31">
              <a:extLst>
                <a:ext uri="{FF2B5EF4-FFF2-40B4-BE49-F238E27FC236}">
                  <a16:creationId xmlns:a16="http://schemas.microsoft.com/office/drawing/2014/main" id="{6407461C-0642-1DEF-B635-7034877A6C85}"/>
                </a:ext>
              </a:extLst>
            </p:cNvPr>
            <p:cNvGrpSpPr/>
            <p:nvPr/>
          </p:nvGrpSpPr>
          <p:grpSpPr>
            <a:xfrm rot="15848053" flipV="1">
              <a:off x="2161" y="3516"/>
              <a:ext cx="111" cy="114"/>
              <a:chOff x="3480" y="1902"/>
              <a:chExt cx="354" cy="96"/>
            </a:xfrm>
          </p:grpSpPr>
          <p:sp>
            <p:nvSpPr>
              <p:cNvPr id="99365" name="Freeform 32">
                <a:extLst>
                  <a:ext uri="{FF2B5EF4-FFF2-40B4-BE49-F238E27FC236}">
                    <a16:creationId xmlns:a16="http://schemas.microsoft.com/office/drawing/2014/main" id="{1A9D8128-DA15-8774-766B-A7371920EEFB}"/>
                  </a:ext>
                </a:extLst>
              </p:cNvPr>
              <p:cNvSpPr/>
              <p:nvPr/>
            </p:nvSpPr>
            <p:spPr bwMode="gray">
              <a:xfrm>
                <a:off x="3480" y="1917"/>
                <a:ext cx="354" cy="69"/>
              </a:xfrm>
              <a:custGeom>
                <a:gdLst>
                  <a:gd name="T0" fmla="*/ 0 w 354"/>
                  <a:gd name="T1" fmla="*/ 60 h 69"/>
                  <a:gd name="T2" fmla="*/ 354 w 354"/>
                  <a:gd name="T3" fmla="*/ 24 h 69"/>
                  <a:gd name="T4" fmla="*/ 0 60000 65536"/>
                  <a:gd name="T5" fmla="*/ 0 60000 65536"/>
                </a:gdLst>
                <a:cxnLst>
                  <a:cxn ang="T4">
                    <a:pos x="T0" y="T1"/>
                  </a:cxn>
                  <a:cxn ang="T5">
                    <a:pos x="T2" y="T3"/>
                  </a:cxn>
                </a:cxnLst>
                <a:rect l="0" t="0" r="r" b="b"/>
                <a:pathLst>
                  <a:path w="354" h="69">
                    <a:moveTo>
                      <a:pt x="0" y="60"/>
                    </a:moveTo>
                    <a:cubicBezTo>
                      <a:pt x="144" y="0"/>
                      <a:pt x="204" y="69"/>
                      <a:pt x="354" y="24"/>
                    </a:cubicBezTo>
                  </a:path>
                </a:pathLst>
              </a:custGeom>
              <a:noFill/>
              <a:ln w="3810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99366" name="Freeform 33">
                <a:extLst>
                  <a:ext uri="{FF2B5EF4-FFF2-40B4-BE49-F238E27FC236}">
                    <a16:creationId xmlns:a16="http://schemas.microsoft.com/office/drawing/2014/main" id="{E8E2209E-D4AF-95C0-EF3B-5B4F3B01C2F9}"/>
                  </a:ext>
                </a:extLst>
              </p:cNvPr>
              <p:cNvSpPr/>
              <p:nvPr/>
            </p:nvSpPr>
            <p:spPr bwMode="gray">
              <a:xfrm>
                <a:off x="3480" y="1929"/>
                <a:ext cx="354" cy="69"/>
              </a:xfrm>
              <a:custGeom>
                <a:gdLst>
                  <a:gd name="T0" fmla="*/ 0 w 354"/>
                  <a:gd name="T1" fmla="*/ 60 h 69"/>
                  <a:gd name="T2" fmla="*/ 354 w 354"/>
                  <a:gd name="T3" fmla="*/ 24 h 69"/>
                  <a:gd name="T4" fmla="*/ 0 60000 65536"/>
                  <a:gd name="T5" fmla="*/ 0 60000 65536"/>
                </a:gdLst>
                <a:cxnLst>
                  <a:cxn ang="T4">
                    <a:pos x="T0" y="T1"/>
                  </a:cxn>
                  <a:cxn ang="T5">
                    <a:pos x="T2" y="T3"/>
                  </a:cxn>
                </a:cxnLst>
                <a:rect l="0" t="0" r="r" b="b"/>
                <a:pathLst>
                  <a:path w="354" h="69">
                    <a:moveTo>
                      <a:pt x="0" y="60"/>
                    </a:moveTo>
                    <a:cubicBezTo>
                      <a:pt x="144" y="0"/>
                      <a:pt x="204" y="69"/>
                      <a:pt x="354" y="24"/>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99367" name="Freeform 34">
                <a:extLst>
                  <a:ext uri="{FF2B5EF4-FFF2-40B4-BE49-F238E27FC236}">
                    <a16:creationId xmlns:a16="http://schemas.microsoft.com/office/drawing/2014/main" id="{62E5AC4E-C5D8-F55B-EA72-43B9179FE1A8}"/>
                  </a:ext>
                </a:extLst>
              </p:cNvPr>
              <p:cNvSpPr/>
              <p:nvPr/>
            </p:nvSpPr>
            <p:spPr bwMode="gray">
              <a:xfrm>
                <a:off x="3480" y="1902"/>
                <a:ext cx="354" cy="69"/>
              </a:xfrm>
              <a:custGeom>
                <a:gdLst>
                  <a:gd name="T0" fmla="*/ 0 w 354"/>
                  <a:gd name="T1" fmla="*/ 60 h 69"/>
                  <a:gd name="T2" fmla="*/ 354 w 354"/>
                  <a:gd name="T3" fmla="*/ 24 h 69"/>
                  <a:gd name="T4" fmla="*/ 0 60000 65536"/>
                  <a:gd name="T5" fmla="*/ 0 60000 65536"/>
                </a:gdLst>
                <a:cxnLst>
                  <a:cxn ang="T4">
                    <a:pos x="T0" y="T1"/>
                  </a:cxn>
                  <a:cxn ang="T5">
                    <a:pos x="T2" y="T3"/>
                  </a:cxn>
                </a:cxnLst>
                <a:rect l="0" t="0" r="r" b="b"/>
                <a:pathLst>
                  <a:path w="354" h="69">
                    <a:moveTo>
                      <a:pt x="0" y="60"/>
                    </a:moveTo>
                    <a:cubicBezTo>
                      <a:pt x="144" y="0"/>
                      <a:pt x="204" y="69"/>
                      <a:pt x="354" y="24"/>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grpSp>
      </p:grpSp>
      <p:grpSp>
        <p:nvGrpSpPr>
          <p:cNvPr id="99356" name="Group 35">
            <a:extLst>
              <a:ext uri="{FF2B5EF4-FFF2-40B4-BE49-F238E27FC236}">
                <a16:creationId xmlns:a16="http://schemas.microsoft.com/office/drawing/2014/main" id="{85CBE9EC-FDF1-FF30-5F3D-5941FE99B99C}"/>
              </a:ext>
            </a:extLst>
          </p:cNvPr>
          <p:cNvGrpSpPr/>
          <p:nvPr/>
        </p:nvGrpSpPr>
        <p:grpSpPr>
          <a:xfrm>
            <a:off x="776288" y="4710113"/>
            <a:ext cx="319087" cy="328612"/>
            <a:chOff x="343" y="3009"/>
            <a:chExt cx="186" cy="207"/>
          </a:xfrm>
        </p:grpSpPr>
        <p:sp>
          <p:nvSpPr>
            <p:cNvPr id="99358" name="Text Box 36">
              <a:extLst>
                <a:ext uri="{FF2B5EF4-FFF2-40B4-BE49-F238E27FC236}">
                  <a16:creationId xmlns:a16="http://schemas.microsoft.com/office/drawing/2014/main" id="{A9543555-D9D2-A579-1F3F-1FC578E1832D}"/>
                </a:ext>
              </a:extLst>
            </p:cNvPr>
            <p:cNvSpPr txBox="1">
              <a:spLocks noChangeArrowheads="1"/>
            </p:cNvSpPr>
            <p:nvPr/>
          </p:nvSpPr>
          <p:spPr bwMode="gray">
            <a:xfrm>
              <a:off x="361" y="3009"/>
              <a:ext cx="168" cy="1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800" b="0">
                  <a:ea typeface="굴림" panose="020b0600000101010101" pitchFamily="34" charset="-127"/>
                </a:rPr>
                <a:t>(2)</a:t>
              </a:r>
            </a:p>
          </p:txBody>
        </p:sp>
        <p:grpSp>
          <p:nvGrpSpPr>
            <p:cNvPr id="99359" name="Group 37">
              <a:extLst>
                <a:ext uri="{FF2B5EF4-FFF2-40B4-BE49-F238E27FC236}">
                  <a16:creationId xmlns:a16="http://schemas.microsoft.com/office/drawing/2014/main" id="{44403501-26A4-0FBF-F6DE-FCD5477CA3D6}"/>
                </a:ext>
              </a:extLst>
            </p:cNvPr>
            <p:cNvGrpSpPr/>
            <p:nvPr/>
          </p:nvGrpSpPr>
          <p:grpSpPr>
            <a:xfrm rot="21248052" flipV="1">
              <a:off x="343" y="3102"/>
              <a:ext cx="111" cy="114"/>
              <a:chOff x="3480" y="1902"/>
              <a:chExt cx="354" cy="96"/>
            </a:xfrm>
          </p:grpSpPr>
          <p:sp>
            <p:nvSpPr>
              <p:cNvPr id="99360" name="Freeform 38">
                <a:extLst>
                  <a:ext uri="{FF2B5EF4-FFF2-40B4-BE49-F238E27FC236}">
                    <a16:creationId xmlns:a16="http://schemas.microsoft.com/office/drawing/2014/main" id="{E2F9375B-740A-7A1A-AE59-22AD76496E6F}"/>
                  </a:ext>
                </a:extLst>
              </p:cNvPr>
              <p:cNvSpPr/>
              <p:nvPr/>
            </p:nvSpPr>
            <p:spPr bwMode="gray">
              <a:xfrm>
                <a:off x="3480" y="1917"/>
                <a:ext cx="354" cy="69"/>
              </a:xfrm>
              <a:custGeom>
                <a:gdLst>
                  <a:gd name="T0" fmla="*/ 0 w 354"/>
                  <a:gd name="T1" fmla="*/ 60 h 69"/>
                  <a:gd name="T2" fmla="*/ 354 w 354"/>
                  <a:gd name="T3" fmla="*/ 24 h 69"/>
                  <a:gd name="T4" fmla="*/ 0 60000 65536"/>
                  <a:gd name="T5" fmla="*/ 0 60000 65536"/>
                </a:gdLst>
                <a:cxnLst>
                  <a:cxn ang="T4">
                    <a:pos x="T0" y="T1"/>
                  </a:cxn>
                  <a:cxn ang="T5">
                    <a:pos x="T2" y="T3"/>
                  </a:cxn>
                </a:cxnLst>
                <a:rect l="0" t="0" r="r" b="b"/>
                <a:pathLst>
                  <a:path w="354" h="69">
                    <a:moveTo>
                      <a:pt x="0" y="60"/>
                    </a:moveTo>
                    <a:cubicBezTo>
                      <a:pt x="144" y="0"/>
                      <a:pt x="204" y="69"/>
                      <a:pt x="354" y="24"/>
                    </a:cubicBezTo>
                  </a:path>
                </a:pathLst>
              </a:custGeom>
              <a:noFill/>
              <a:ln w="3810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99361" name="Freeform 39">
                <a:extLst>
                  <a:ext uri="{FF2B5EF4-FFF2-40B4-BE49-F238E27FC236}">
                    <a16:creationId xmlns:a16="http://schemas.microsoft.com/office/drawing/2014/main" id="{9F5B8346-88A8-8DEF-506C-F9D2ADDA9D9E}"/>
                  </a:ext>
                </a:extLst>
              </p:cNvPr>
              <p:cNvSpPr/>
              <p:nvPr/>
            </p:nvSpPr>
            <p:spPr bwMode="gray">
              <a:xfrm>
                <a:off x="3480" y="1929"/>
                <a:ext cx="354" cy="69"/>
              </a:xfrm>
              <a:custGeom>
                <a:gdLst>
                  <a:gd name="T0" fmla="*/ 0 w 354"/>
                  <a:gd name="T1" fmla="*/ 60 h 69"/>
                  <a:gd name="T2" fmla="*/ 354 w 354"/>
                  <a:gd name="T3" fmla="*/ 24 h 69"/>
                  <a:gd name="T4" fmla="*/ 0 60000 65536"/>
                  <a:gd name="T5" fmla="*/ 0 60000 65536"/>
                </a:gdLst>
                <a:cxnLst>
                  <a:cxn ang="T4">
                    <a:pos x="T0" y="T1"/>
                  </a:cxn>
                  <a:cxn ang="T5">
                    <a:pos x="T2" y="T3"/>
                  </a:cxn>
                </a:cxnLst>
                <a:rect l="0" t="0" r="r" b="b"/>
                <a:pathLst>
                  <a:path w="354" h="69">
                    <a:moveTo>
                      <a:pt x="0" y="60"/>
                    </a:moveTo>
                    <a:cubicBezTo>
                      <a:pt x="144" y="0"/>
                      <a:pt x="204" y="69"/>
                      <a:pt x="354" y="24"/>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99362" name="Freeform 40">
                <a:extLst>
                  <a:ext uri="{FF2B5EF4-FFF2-40B4-BE49-F238E27FC236}">
                    <a16:creationId xmlns:a16="http://schemas.microsoft.com/office/drawing/2014/main" id="{97155284-0E0E-8C53-4215-352F846FF3DD}"/>
                  </a:ext>
                </a:extLst>
              </p:cNvPr>
              <p:cNvSpPr/>
              <p:nvPr/>
            </p:nvSpPr>
            <p:spPr bwMode="gray">
              <a:xfrm>
                <a:off x="3480" y="1902"/>
                <a:ext cx="354" cy="69"/>
              </a:xfrm>
              <a:custGeom>
                <a:gdLst>
                  <a:gd name="T0" fmla="*/ 0 w 354"/>
                  <a:gd name="T1" fmla="*/ 60 h 69"/>
                  <a:gd name="T2" fmla="*/ 354 w 354"/>
                  <a:gd name="T3" fmla="*/ 24 h 69"/>
                  <a:gd name="T4" fmla="*/ 0 60000 65536"/>
                  <a:gd name="T5" fmla="*/ 0 60000 65536"/>
                </a:gdLst>
                <a:cxnLst>
                  <a:cxn ang="T4">
                    <a:pos x="T0" y="T1"/>
                  </a:cxn>
                  <a:cxn ang="T5">
                    <a:pos x="T2" y="T3"/>
                  </a:cxn>
                </a:cxnLst>
                <a:rect l="0" t="0" r="r" b="b"/>
                <a:pathLst>
                  <a:path w="354" h="69">
                    <a:moveTo>
                      <a:pt x="0" y="60"/>
                    </a:moveTo>
                    <a:cubicBezTo>
                      <a:pt x="144" y="0"/>
                      <a:pt x="204" y="69"/>
                      <a:pt x="354" y="24"/>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grpSp>
      </p:grpSp>
      <p:sp>
        <p:nvSpPr>
          <p:cNvPr id="99357" name="Text Box 41">
            <a:extLst>
              <a:ext uri="{FF2B5EF4-FFF2-40B4-BE49-F238E27FC236}">
                <a16:creationId xmlns:a16="http://schemas.microsoft.com/office/drawing/2014/main" id="{91EDE0F5-0433-19D5-8568-7C0F9E20A0F4}"/>
              </a:ext>
            </a:extLst>
          </p:cNvPr>
          <p:cNvSpPr txBox="1">
            <a:spLocks noChangeArrowheads="1"/>
          </p:cNvSpPr>
          <p:nvPr/>
        </p:nvSpPr>
        <p:spPr bwMode="auto">
          <a:xfrm>
            <a:off x="8134350" y="241300"/>
            <a:ext cx="151130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Industry assessment</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01377" name="Rectangle 2">
            <a:extLst>
              <a:ext uri="{FF2B5EF4-FFF2-40B4-BE49-F238E27FC236}">
                <a16:creationId xmlns:a16="http://schemas.microsoft.com/office/drawing/2014/main" id="{B13170A8-3CA6-BE56-015C-884C6CE001B1}"/>
              </a:ext>
            </a:extLst>
          </p:cNvPr>
          <p:cNvSpPr>
            <a:spLocks noChangeArrowheads="1"/>
          </p:cNvSpPr>
          <p:nvPr/>
        </p:nvSpPr>
        <p:spPr bwMode="auto">
          <a:xfrm>
            <a:off x="265113" y="2527300"/>
            <a:ext cx="1722437" cy="4033838"/>
          </a:xfrm>
          <a:prstGeom prst="rect">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108000" rIns="72000" bIns="72000"/>
          <a:lstStyle>
            <a:lvl1pPr marL="171450" indent="-1714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42900" indent="-169863">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Char char="•"/>
            </a:pPr>
            <a:r>
              <a:rPr lang="en-GB" altLang="ko-KR" sz="1200">
                <a:ea typeface="가는각진제목체" panose="02030600000101010101" pitchFamily="18" charset="-127"/>
              </a:rPr>
              <a:t>Power trans-mission and distribution equipment provider</a:t>
            </a:r>
          </a:p>
          <a:p>
            <a:pPr eaLnBrk="1" hangingPunct="1">
              <a:spcBef>
                <a:spcPct val="50000"/>
              </a:spcBef>
              <a:buFontTx/>
              <a:buChar char="•"/>
            </a:pPr>
            <a:r>
              <a:rPr lang="en-GB" altLang="ko-KR" sz="1200">
                <a:ea typeface="가는각진제목체" panose="02030600000101010101" pitchFamily="18" charset="-127"/>
              </a:rPr>
              <a:t>Partially com-pleted merger </a:t>
            </a:r>
          </a:p>
          <a:p>
            <a:pPr eaLnBrk="1" hangingPunct="1">
              <a:spcBef>
                <a:spcPct val="50000"/>
              </a:spcBef>
              <a:buFontTx/>
              <a:buChar char="•"/>
            </a:pPr>
            <a:r>
              <a:rPr lang="en-GB" altLang="ko-KR" sz="1200">
                <a:ea typeface="가는각진제목체" panose="02030600000101010101" pitchFamily="18" charset="-127"/>
              </a:rPr>
              <a:t>Operational losses in 2005</a:t>
            </a:r>
          </a:p>
          <a:p>
            <a:pPr eaLnBrk="1" hangingPunct="1">
              <a:spcBef>
                <a:spcPct val="50000"/>
              </a:spcBef>
              <a:buFontTx/>
              <a:buChar char="•"/>
            </a:pPr>
            <a:r>
              <a:rPr lang="en-GB" altLang="ko-KR" sz="1200">
                <a:ea typeface="가는각진제목체" panose="02030600000101010101" pitchFamily="18" charset="-127"/>
              </a:rPr>
              <a:t>Severe material cost increases</a:t>
            </a:r>
          </a:p>
          <a:p>
            <a:pPr eaLnBrk="1" hangingPunct="1">
              <a:spcBef>
                <a:spcPct val="50000"/>
              </a:spcBef>
              <a:buFontTx/>
              <a:buChar char="•"/>
            </a:pPr>
            <a:r>
              <a:rPr lang="en-GB" altLang="ko-KR" sz="1200">
                <a:ea typeface="가는각진제목체" panose="02030600000101010101" pitchFamily="18" charset="-127"/>
              </a:rPr>
              <a:t>Lack of trans-parency in the organization</a:t>
            </a:r>
            <a:endParaRPr lang="en-GB" altLang="ko-KR" sz="1200" b="0">
              <a:ea typeface="가는각진제목체" panose="02030600000101010101" pitchFamily="18" charset="-127"/>
            </a:endParaRPr>
          </a:p>
        </p:txBody>
      </p:sp>
      <p:sp>
        <p:nvSpPr>
          <p:cNvPr id="101378" name="Rectangle 3">
            <a:extLst>
              <a:ext uri="{FF2B5EF4-FFF2-40B4-BE49-F238E27FC236}">
                <a16:creationId xmlns:a16="http://schemas.microsoft.com/office/drawing/2014/main" id="{3A9096F2-67B9-93C1-38D3-A92DB8C95D3F}"/>
              </a:ext>
            </a:extLst>
          </p:cNvPr>
          <p:cNvSpPr>
            <a:spLocks noChangeArrowheads="1"/>
          </p:cNvSpPr>
          <p:nvPr/>
        </p:nvSpPr>
        <p:spPr bwMode="auto">
          <a:xfrm>
            <a:off x="265113" y="2097088"/>
            <a:ext cx="1722437" cy="431800"/>
          </a:xfrm>
          <a:prstGeom prst="rect">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GB" altLang="ko-KR" sz="1400">
                <a:solidFill>
                  <a:schemeClr val="bg1"/>
                </a:solidFill>
                <a:ea typeface="가는각진제목체" panose="02030600000101010101" pitchFamily="18" charset="-127"/>
              </a:rPr>
              <a:t>Situation</a:t>
            </a:r>
            <a:endParaRPr lang="en-GB" altLang="ko-KR" sz="1400" b="0">
              <a:solidFill>
                <a:schemeClr val="bg1"/>
              </a:solidFill>
              <a:ea typeface="가는각진제목체" panose="02030600000101010101" pitchFamily="18" charset="-127"/>
            </a:endParaRPr>
          </a:p>
        </p:txBody>
      </p:sp>
      <p:sp>
        <p:nvSpPr>
          <p:cNvPr id="101379" name="Rectangle 4">
            <a:extLst>
              <a:ext uri="{FF2B5EF4-FFF2-40B4-BE49-F238E27FC236}">
                <a16:creationId xmlns:a16="http://schemas.microsoft.com/office/drawing/2014/main" id="{B9E27914-5D44-5B09-80F6-B272E5B0FE3C}"/>
              </a:ext>
            </a:extLst>
          </p:cNvPr>
          <p:cNvSpPr>
            <a:spLocks noGrp="1" noChangeArrowheads="1"/>
          </p:cNvSpPr>
          <p:nvPr>
            <p:ph type="title"/>
          </p:nvPr>
        </p:nvSpPr>
        <p:spPr>
          <a:xfrm>
            <a:off x="266700" y="596900"/>
            <a:ext cx="9367838" cy="657225"/>
          </a:xfrm>
        </p:spPr>
        <p:txBody>
          <a:bodyPr/>
          <a:lstStyle/>
          <a:p>
            <a:r>
              <a:rPr lang="en-GB" altLang="ko-KR"/>
              <a:t>We supported the sales-driven turnaround of a leading power transmission and distribution equipment supplier</a:t>
            </a:r>
          </a:p>
        </p:txBody>
      </p:sp>
      <p:sp>
        <p:nvSpPr>
          <p:cNvPr id="101380" name="Rectangle 5">
            <a:extLst>
              <a:ext uri="{FF2B5EF4-FFF2-40B4-BE49-F238E27FC236}">
                <a16:creationId xmlns:a16="http://schemas.microsoft.com/office/drawing/2014/main" id="{7D070500-6AF4-8BE3-8485-D976712065D9}"/>
              </a:ext>
            </a:extLst>
          </p:cNvPr>
          <p:cNvSpPr>
            <a:spLocks noChangeArrowheads="1"/>
          </p:cNvSpPr>
          <p:nvPr/>
        </p:nvSpPr>
        <p:spPr bwMode="auto">
          <a:xfrm>
            <a:off x="2378075" y="2527300"/>
            <a:ext cx="3433763" cy="4033838"/>
          </a:xfrm>
          <a:prstGeom prst="rect">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en-GB" altLang="ko-KR" sz="1200" b="0">
              <a:ea typeface="가는각진제목체" panose="02030600000101010101" pitchFamily="18" charset="-127"/>
            </a:endParaRPr>
          </a:p>
        </p:txBody>
      </p:sp>
      <p:sp>
        <p:nvSpPr>
          <p:cNvPr id="101381" name="Rectangle 6">
            <a:extLst>
              <a:ext uri="{FF2B5EF4-FFF2-40B4-BE49-F238E27FC236}">
                <a16:creationId xmlns:a16="http://schemas.microsoft.com/office/drawing/2014/main" id="{10ED5722-8F17-5B92-A545-D59706517A75}"/>
              </a:ext>
            </a:extLst>
          </p:cNvPr>
          <p:cNvSpPr>
            <a:spLocks noChangeArrowheads="1"/>
          </p:cNvSpPr>
          <p:nvPr/>
        </p:nvSpPr>
        <p:spPr bwMode="auto">
          <a:xfrm>
            <a:off x="2378075" y="2097088"/>
            <a:ext cx="3433763" cy="431800"/>
          </a:xfrm>
          <a:prstGeom prst="rect">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400">
                <a:solidFill>
                  <a:schemeClr val="bg1"/>
                </a:solidFill>
                <a:ea typeface="가는각진제목체" panose="02030600000101010101" pitchFamily="18" charset="-127"/>
              </a:rPr>
              <a:t>Impact </a:t>
            </a:r>
            <a:br>
              <a:rPr lang="en-GB" altLang="ko-KR" sz="1400">
                <a:solidFill>
                  <a:schemeClr val="bg1"/>
                </a:solidFill>
                <a:ea typeface="가는각진제목체" panose="02030600000101010101" pitchFamily="18" charset="-127"/>
              </a:rPr>
            </a:br>
            <a:r>
              <a:rPr lang="en-GB" altLang="ko-KR" sz="1400" b="0">
                <a:solidFill>
                  <a:schemeClr val="bg1"/>
                </a:solidFill>
                <a:ea typeface="가는각진제목체" panose="02030600000101010101" pitchFamily="18" charset="-127"/>
              </a:rPr>
              <a:t>(€ mil.)</a:t>
            </a:r>
          </a:p>
        </p:txBody>
      </p:sp>
      <p:graphicFrame>
        <p:nvGraphicFramePr>
          <p:cNvPr id="101382" name="Object 7">
            <a:extLst>
              <a:ext uri="{FF2B5EF4-FFF2-40B4-BE49-F238E27FC236}">
                <a16:creationId xmlns:a16="http://schemas.microsoft.com/office/drawing/2014/main" id="{D83EB8F0-059C-B0CD-4028-1AD70F3DA458}"/>
              </a:ext>
            </a:extLst>
          </p:cNvPr>
          <p:cNvGraphicFramePr/>
          <p:nvPr/>
        </p:nvGraphicFramePr>
        <p:xfrm>
          <a:off x="2655888" y="2997200"/>
          <a:ext cx="3197225" cy="2819400"/>
        </p:xfrm>
        <a:graphic>
          <a:graphicData uri="http://schemas.openxmlformats.org/presentationml/2006/ole">
            <mc:AlternateContent>
              <mc:Choice xmlns:v="urn:schemas-microsoft-com:vml" Requires="v">
                <p:oleObj spid="_x0000_s1057" name="차트" r:id="rId3" imgW="3333750" imgH="2933700" progId="Excel.Chart.8">
                  <p:embed/>
                </p:oleObj>
              </mc:Choice>
              <mc:Fallback>
                <p:oleObj name="차트" r:id="rId3" imgW="3333750" imgH="2933700" progId="Excel.Chart.8">
                  <p:embed/>
                  <p:pic>
                    <p:nvPicPr>
                      <p:cNvPr id="0" name="OLE substitute image"/>
                      <p:cNvPicPr/>
                      <p:nvPr/>
                    </p:nvPicPr>
                    <p:blipFill>
                      <a:blip r:embed="rId4">
                        <a:extLst>
                          <a:ext uri="{28A0092B-C50C-407E-A947-70E740481C1C}">
                            <a14:useLocalDpi xmlns:a14="http://schemas.microsoft.com/office/drawing/2010/main" val="0"/>
                          </a:ext>
                        </a:extLst>
                      </a:blip>
                      <a:stretch>
                        <a:fillRect/>
                      </a:stretch>
                    </p:blipFill>
                    <p:spPr>
                      <a:xfrm>
                        <a:off x="2655888" y="2997200"/>
                        <a:ext cx="3197225" cy="2819400"/>
                      </a:xfrm>
                      <a:prstGeom prst="rect">
                        <a:avLst/>
                      </a:prstGeom>
                      <a:noFill/>
                      <a:ln>
                        <a:noFill/>
                      </a:ln>
                    </p:spPr>
                  </p:pic>
                </p:oleObj>
              </mc:Fallback>
            </mc:AlternateContent>
          </a:graphicData>
        </a:graphic>
      </p:graphicFrame>
      <p:sp>
        <p:nvSpPr>
          <p:cNvPr id="101383" name="Text Box 8">
            <a:extLst>
              <a:ext uri="{FF2B5EF4-FFF2-40B4-BE49-F238E27FC236}">
                <a16:creationId xmlns:a16="http://schemas.microsoft.com/office/drawing/2014/main" id="{1761E607-C90D-8446-49A7-5A1B9FA9E886}"/>
              </a:ext>
            </a:extLst>
          </p:cNvPr>
          <p:cNvSpPr txBox="1">
            <a:spLocks noChangeArrowheads="1"/>
          </p:cNvSpPr>
          <p:nvPr/>
        </p:nvSpPr>
        <p:spPr bwMode="auto">
          <a:xfrm>
            <a:off x="2420938" y="5295900"/>
            <a:ext cx="31432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GB" altLang="ko-KR" sz="1000">
                <a:ea typeface="가는각진제목체" panose="02030600000101010101" pitchFamily="18" charset="-127"/>
              </a:rPr>
              <a:t>EBIT</a:t>
            </a:r>
          </a:p>
        </p:txBody>
      </p:sp>
      <p:sp>
        <p:nvSpPr>
          <p:cNvPr id="101384" name="Line 9">
            <a:extLst>
              <a:ext uri="{FF2B5EF4-FFF2-40B4-BE49-F238E27FC236}">
                <a16:creationId xmlns:a16="http://schemas.microsoft.com/office/drawing/2014/main" id="{31C62348-9080-A834-5306-874404660885}"/>
              </a:ext>
            </a:extLst>
          </p:cNvPr>
          <p:cNvSpPr>
            <a:spLocks noChangeShapeType="1"/>
          </p:cNvSpPr>
          <p:nvPr/>
        </p:nvSpPr>
        <p:spPr bwMode="auto">
          <a:xfrm flipV="1">
            <a:off x="3632200" y="3108325"/>
            <a:ext cx="1757363" cy="520700"/>
          </a:xfrm>
          <a:prstGeom prst="line">
            <a:avLst/>
          </a:prstGeom>
          <a:noFill/>
          <a:ln w="381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101385" name="Oval 10">
            <a:extLst>
              <a:ext uri="{FF2B5EF4-FFF2-40B4-BE49-F238E27FC236}">
                <a16:creationId xmlns:a16="http://schemas.microsoft.com/office/drawing/2014/main" id="{13086D2A-ECDA-992B-46CB-FFB609CB2BD1}"/>
              </a:ext>
            </a:extLst>
          </p:cNvPr>
          <p:cNvSpPr>
            <a:spLocks noChangeArrowheads="1"/>
          </p:cNvSpPr>
          <p:nvPr/>
        </p:nvSpPr>
        <p:spPr bwMode="auto">
          <a:xfrm>
            <a:off x="3897313" y="3171825"/>
            <a:ext cx="1146175" cy="392113"/>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000">
                <a:solidFill>
                  <a:schemeClr val="bg1"/>
                </a:solidFill>
                <a:ea typeface="가는각진제목체" panose="02030600000101010101" pitchFamily="18" charset="-127"/>
              </a:rPr>
              <a:t>2005-2008:</a:t>
            </a:r>
            <a:br>
              <a:rPr lang="en-GB" altLang="ko-KR" sz="1000">
                <a:solidFill>
                  <a:schemeClr val="bg1"/>
                </a:solidFill>
                <a:ea typeface="가는각진제목체" panose="02030600000101010101" pitchFamily="18" charset="-127"/>
              </a:rPr>
            </a:br>
            <a:r>
              <a:rPr lang="en-GB" altLang="ko-KR" sz="1000">
                <a:solidFill>
                  <a:schemeClr val="bg1"/>
                </a:solidFill>
                <a:ea typeface="가는각진제목체" panose="02030600000101010101" pitchFamily="18" charset="-127"/>
              </a:rPr>
              <a:t>+55%</a:t>
            </a:r>
          </a:p>
        </p:txBody>
      </p:sp>
      <p:sp>
        <p:nvSpPr>
          <p:cNvPr id="101386" name="Text Box 11">
            <a:extLst>
              <a:ext uri="{FF2B5EF4-FFF2-40B4-BE49-F238E27FC236}">
                <a16:creationId xmlns:a16="http://schemas.microsoft.com/office/drawing/2014/main" id="{3EB5C378-0AD6-299A-A4E2-6D2488AD3048}"/>
              </a:ext>
            </a:extLst>
          </p:cNvPr>
          <p:cNvSpPr txBox="1">
            <a:spLocks noChangeArrowheads="1"/>
          </p:cNvSpPr>
          <p:nvPr/>
        </p:nvSpPr>
        <p:spPr bwMode="auto">
          <a:xfrm>
            <a:off x="3644900" y="6253163"/>
            <a:ext cx="5905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GB" altLang="ko-KR" sz="1200">
                <a:solidFill>
                  <a:schemeClr val="bg2"/>
                </a:solidFill>
                <a:ea typeface="가는각진제목체" panose="02030600000101010101" pitchFamily="18" charset="-127"/>
              </a:rPr>
              <a:t>Project</a:t>
            </a:r>
          </a:p>
        </p:txBody>
      </p:sp>
      <p:sp>
        <p:nvSpPr>
          <p:cNvPr id="101387" name="AutoShape 12">
            <a:extLst>
              <a:ext uri="{FF2B5EF4-FFF2-40B4-BE49-F238E27FC236}">
                <a16:creationId xmlns:a16="http://schemas.microsoft.com/office/drawing/2014/main" id="{CFA8B156-C471-13A6-EA6A-0861B5566319}"/>
              </a:ext>
            </a:extLst>
          </p:cNvPr>
          <p:cNvSpPr>
            <a:spLocks noChangeArrowheads="1"/>
          </p:cNvSpPr>
          <p:nvPr/>
        </p:nvSpPr>
        <p:spPr bwMode="auto">
          <a:xfrm flipV="1">
            <a:off x="3795713" y="5595938"/>
            <a:ext cx="333375" cy="558800"/>
          </a:xfrm>
          <a:prstGeom prst="downArrow">
            <a:avLst>
              <a:gd name="adj1" fmla="val 43296"/>
              <a:gd name="adj2" fmla="val 68801"/>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101388" name="AutoShape 13">
            <a:extLst>
              <a:ext uri="{FF2B5EF4-FFF2-40B4-BE49-F238E27FC236}">
                <a16:creationId xmlns:a16="http://schemas.microsoft.com/office/drawing/2014/main" id="{12560392-9B98-9086-1193-83E18B2DFD5D}"/>
              </a:ext>
            </a:extLst>
          </p:cNvPr>
          <p:cNvSpPr>
            <a:spLocks noChangeArrowheads="1"/>
          </p:cNvSpPr>
          <p:nvPr/>
        </p:nvSpPr>
        <p:spPr bwMode="auto">
          <a:xfrm rot="16200000" flipH="1">
            <a:off x="4741069" y="4398169"/>
            <a:ext cx="2505075" cy="195263"/>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en-GB" altLang="ko-KR" sz="1400" b="0">
              <a:ea typeface="가는각진제목체" panose="02030600000101010101" pitchFamily="18" charset="-127"/>
            </a:endParaRPr>
          </a:p>
        </p:txBody>
      </p:sp>
      <p:sp>
        <p:nvSpPr>
          <p:cNvPr id="101389" name="AutoShape 14">
            <a:extLst>
              <a:ext uri="{FF2B5EF4-FFF2-40B4-BE49-F238E27FC236}">
                <a16:creationId xmlns:a16="http://schemas.microsoft.com/office/drawing/2014/main" id="{C52D170D-3067-CB82-63F9-AA3B3199D37C}"/>
              </a:ext>
            </a:extLst>
          </p:cNvPr>
          <p:cNvSpPr>
            <a:spLocks noChangeArrowheads="1"/>
          </p:cNvSpPr>
          <p:nvPr/>
        </p:nvSpPr>
        <p:spPr bwMode="auto">
          <a:xfrm rot="5400000">
            <a:off x="950912" y="4330701"/>
            <a:ext cx="2505075" cy="196850"/>
          </a:xfrm>
          <a:prstGeom prst="triangle">
            <a:avLst>
              <a:gd name="adj" fmla="val 50000"/>
            </a:avLst>
          </a:prstGeom>
          <a:solidFill>
            <a:schemeClr val="accent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en-GB" altLang="ko-KR" sz="1400" b="0">
              <a:ea typeface="가는각진제목체" panose="02030600000101010101" pitchFamily="18" charset="-127"/>
            </a:endParaRPr>
          </a:p>
        </p:txBody>
      </p:sp>
      <p:sp>
        <p:nvSpPr>
          <p:cNvPr id="101390" name="Oval 15">
            <a:extLst>
              <a:ext uri="{FF2B5EF4-FFF2-40B4-BE49-F238E27FC236}">
                <a16:creationId xmlns:a16="http://schemas.microsoft.com/office/drawing/2014/main" id="{F497F4C1-12DB-76AB-97B6-17212E823B0D}"/>
              </a:ext>
            </a:extLst>
          </p:cNvPr>
          <p:cNvSpPr>
            <a:spLocks noChangeArrowheads="1"/>
          </p:cNvSpPr>
          <p:nvPr/>
        </p:nvSpPr>
        <p:spPr bwMode="auto">
          <a:xfrm>
            <a:off x="2817813" y="5253038"/>
            <a:ext cx="463550" cy="223837"/>
          </a:xfrm>
          <a:prstGeom prst="ellipse">
            <a:avLst/>
          </a:prstGeom>
          <a:solidFill>
            <a:srgbClr val="5F5F5F"/>
          </a:solidFill>
          <a:ln>
            <a:noFill/>
          </a:ln>
          <a:effectLst/>
          <a:extLst>
            <a:ext uri="{91240B29-F687-4F45-9708-019B960494DF}">
              <a14:hiddenLine xmlns:a14="http://schemas.microsoft.com/office/drawing/2010/main" w="12700"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000">
                <a:solidFill>
                  <a:schemeClr val="bg1"/>
                </a:solidFill>
                <a:ea typeface="가는각진제목체" panose="02030600000101010101" pitchFamily="18" charset="-127"/>
              </a:rPr>
              <a:t>3%</a:t>
            </a:r>
          </a:p>
        </p:txBody>
      </p:sp>
      <p:sp>
        <p:nvSpPr>
          <p:cNvPr id="101391" name="Oval 16">
            <a:extLst>
              <a:ext uri="{FF2B5EF4-FFF2-40B4-BE49-F238E27FC236}">
                <a16:creationId xmlns:a16="http://schemas.microsoft.com/office/drawing/2014/main" id="{8A860034-9E70-72E5-5C7B-0981D7754F67}"/>
              </a:ext>
            </a:extLst>
          </p:cNvPr>
          <p:cNvSpPr>
            <a:spLocks noChangeArrowheads="1"/>
          </p:cNvSpPr>
          <p:nvPr/>
        </p:nvSpPr>
        <p:spPr bwMode="auto">
          <a:xfrm>
            <a:off x="3427413" y="5253038"/>
            <a:ext cx="465137" cy="223837"/>
          </a:xfrm>
          <a:prstGeom prst="ellipse">
            <a:avLst/>
          </a:prstGeom>
          <a:solidFill>
            <a:srgbClr val="5F5F5F"/>
          </a:solidFill>
          <a:ln>
            <a:noFill/>
          </a:ln>
          <a:effectLst/>
          <a:extLst>
            <a:ext uri="{91240B29-F687-4F45-9708-019B960494DF}">
              <a14:hiddenLine xmlns:a14="http://schemas.microsoft.com/office/drawing/2010/main" w="12700"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000">
                <a:solidFill>
                  <a:schemeClr val="bg1"/>
                </a:solidFill>
                <a:ea typeface="가는각진제목체" panose="02030600000101010101" pitchFamily="18" charset="-127"/>
              </a:rPr>
              <a:t>-10%</a:t>
            </a:r>
          </a:p>
        </p:txBody>
      </p:sp>
      <p:sp>
        <p:nvSpPr>
          <p:cNvPr id="101392" name="Oval 17">
            <a:extLst>
              <a:ext uri="{FF2B5EF4-FFF2-40B4-BE49-F238E27FC236}">
                <a16:creationId xmlns:a16="http://schemas.microsoft.com/office/drawing/2014/main" id="{A85BAC73-FDDB-1FE7-7579-CF40A7EA4576}"/>
              </a:ext>
            </a:extLst>
          </p:cNvPr>
          <p:cNvSpPr>
            <a:spLocks noChangeArrowheads="1"/>
          </p:cNvSpPr>
          <p:nvPr/>
        </p:nvSpPr>
        <p:spPr bwMode="auto">
          <a:xfrm>
            <a:off x="4021138" y="5253038"/>
            <a:ext cx="463550" cy="2238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000">
                <a:solidFill>
                  <a:schemeClr val="bg1"/>
                </a:solidFill>
                <a:ea typeface="가는각진제목체" panose="02030600000101010101" pitchFamily="18" charset="-127"/>
              </a:rPr>
              <a:t>1%</a:t>
            </a:r>
          </a:p>
        </p:txBody>
      </p:sp>
      <p:sp>
        <p:nvSpPr>
          <p:cNvPr id="101393" name="Oval 18">
            <a:extLst>
              <a:ext uri="{FF2B5EF4-FFF2-40B4-BE49-F238E27FC236}">
                <a16:creationId xmlns:a16="http://schemas.microsoft.com/office/drawing/2014/main" id="{518AC19C-6551-644F-8D39-839986CDBC63}"/>
              </a:ext>
            </a:extLst>
          </p:cNvPr>
          <p:cNvSpPr>
            <a:spLocks noChangeArrowheads="1"/>
          </p:cNvSpPr>
          <p:nvPr/>
        </p:nvSpPr>
        <p:spPr bwMode="auto">
          <a:xfrm>
            <a:off x="4648200" y="5253038"/>
            <a:ext cx="465138" cy="2238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000">
                <a:solidFill>
                  <a:schemeClr val="bg1"/>
                </a:solidFill>
                <a:ea typeface="가는각진제목체" panose="02030600000101010101" pitchFamily="18" charset="-127"/>
              </a:rPr>
              <a:t>5.0%</a:t>
            </a:r>
          </a:p>
        </p:txBody>
      </p:sp>
      <p:sp>
        <p:nvSpPr>
          <p:cNvPr id="101394" name="Oval 19">
            <a:extLst>
              <a:ext uri="{FF2B5EF4-FFF2-40B4-BE49-F238E27FC236}">
                <a16:creationId xmlns:a16="http://schemas.microsoft.com/office/drawing/2014/main" id="{17907C08-7782-4ECF-7756-79F2044FE8FF}"/>
              </a:ext>
            </a:extLst>
          </p:cNvPr>
          <p:cNvSpPr>
            <a:spLocks noChangeArrowheads="1"/>
          </p:cNvSpPr>
          <p:nvPr/>
        </p:nvSpPr>
        <p:spPr bwMode="auto">
          <a:xfrm>
            <a:off x="5235575" y="5253038"/>
            <a:ext cx="463550" cy="2238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1000">
                <a:solidFill>
                  <a:schemeClr val="bg1"/>
                </a:solidFill>
                <a:ea typeface="가는각진제목체" panose="02030600000101010101" pitchFamily="18" charset="-127"/>
              </a:rPr>
              <a:t>10%</a:t>
            </a:r>
          </a:p>
        </p:txBody>
      </p:sp>
      <p:sp>
        <p:nvSpPr>
          <p:cNvPr id="101395" name="Text Box 20">
            <a:extLst>
              <a:ext uri="{FF2B5EF4-FFF2-40B4-BE49-F238E27FC236}">
                <a16:creationId xmlns:a16="http://schemas.microsoft.com/office/drawing/2014/main" id="{3EDFA0EA-BF3A-6759-3421-756B6F4847E6}"/>
              </a:ext>
            </a:extLst>
          </p:cNvPr>
          <p:cNvSpPr txBox="1">
            <a:spLocks noChangeArrowheads="1"/>
          </p:cNvSpPr>
          <p:nvPr/>
        </p:nvSpPr>
        <p:spPr bwMode="auto">
          <a:xfrm>
            <a:off x="2420938" y="3867150"/>
            <a:ext cx="357187"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GB" altLang="ko-KR" sz="1000">
                <a:ea typeface="가는각진제목체" panose="02030600000101010101" pitchFamily="18" charset="-127"/>
              </a:rPr>
              <a:t>Sales</a:t>
            </a:r>
            <a:endParaRPr lang="en-GB" altLang="ko-KR" sz="1000" b="0">
              <a:ea typeface="가는각진제목체" panose="02030600000101010101" pitchFamily="18" charset="-127"/>
            </a:endParaRPr>
          </a:p>
        </p:txBody>
      </p:sp>
      <p:sp>
        <p:nvSpPr>
          <p:cNvPr id="101396" name="Rectangle 21">
            <a:extLst>
              <a:ext uri="{FF2B5EF4-FFF2-40B4-BE49-F238E27FC236}">
                <a16:creationId xmlns:a16="http://schemas.microsoft.com/office/drawing/2014/main" id="{B865E751-3091-3F43-B245-0C338576A083}"/>
              </a:ext>
            </a:extLst>
          </p:cNvPr>
          <p:cNvSpPr>
            <a:spLocks noChangeArrowheads="1"/>
          </p:cNvSpPr>
          <p:nvPr/>
        </p:nvSpPr>
        <p:spPr bwMode="auto">
          <a:xfrm>
            <a:off x="265113" y="1614488"/>
            <a:ext cx="765333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800">
                <a:solidFill>
                  <a:srgbClr val="000000"/>
                </a:solidFill>
                <a:ea typeface="굴림" panose="020b0600000101010101" pitchFamily="34" charset="-127"/>
              </a:rPr>
              <a:t>Sales-Driven Turnaround</a:t>
            </a:r>
            <a:endParaRPr lang="en-GB" altLang="ko-KR" sz="1800">
              <a:solidFill>
                <a:srgbClr val="000000"/>
              </a:solidFill>
              <a:ea typeface="가는각진제목체" panose="02030600000101010101" pitchFamily="18" charset="-127"/>
            </a:endParaRPr>
          </a:p>
        </p:txBody>
      </p:sp>
      <p:sp>
        <p:nvSpPr>
          <p:cNvPr id="101397" name="Text Box 22">
            <a:extLst>
              <a:ext uri="{FF2B5EF4-FFF2-40B4-BE49-F238E27FC236}">
                <a16:creationId xmlns:a16="http://schemas.microsoft.com/office/drawing/2014/main" id="{BE5DC94A-B6D4-5C69-BF45-CB333AADD103}"/>
              </a:ext>
            </a:extLst>
          </p:cNvPr>
          <p:cNvSpPr txBox="1">
            <a:spLocks noChangeArrowheads="1"/>
          </p:cNvSpPr>
          <p:nvPr/>
        </p:nvSpPr>
        <p:spPr bwMode="auto">
          <a:xfrm>
            <a:off x="6856413" y="241300"/>
            <a:ext cx="2789237"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Sales-Driven Turnaround: Introduction</a:t>
            </a:r>
          </a:p>
        </p:txBody>
      </p:sp>
      <p:sp>
        <p:nvSpPr>
          <p:cNvPr id="101398" name="Rectangle 23">
            <a:extLst>
              <a:ext uri="{FF2B5EF4-FFF2-40B4-BE49-F238E27FC236}">
                <a16:creationId xmlns:a16="http://schemas.microsoft.com/office/drawing/2014/main" id="{6C01589F-ACBA-2B4D-9825-93C6361DD82C}"/>
              </a:ext>
            </a:extLst>
          </p:cNvPr>
          <p:cNvSpPr>
            <a:spLocks noChangeArrowheads="1"/>
          </p:cNvSpPr>
          <p:nvPr/>
        </p:nvSpPr>
        <p:spPr bwMode="auto">
          <a:xfrm>
            <a:off x="6202363" y="2527300"/>
            <a:ext cx="3430587" cy="4006850"/>
          </a:xfrm>
          <a:prstGeom prst="rect">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108000" rIns="72000" bIns="72000"/>
          <a:lstStyle>
            <a:lvl1pPr marL="257175" indent="-2571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44488" indent="-8572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Clr>
                <a:srgbClr val="0070C0"/>
              </a:buClr>
              <a:buFont typeface="Wingdings" pitchFamily="2" charset="2"/>
              <a:buNone/>
            </a:pPr>
            <a:r>
              <a:rPr lang="en-GB" altLang="ko-KR" sz="1200">
                <a:solidFill>
                  <a:schemeClr val="bg2"/>
                </a:solidFill>
                <a:ea typeface="가는각진제목체" panose="02030600000101010101" pitchFamily="18" charset="-127"/>
              </a:rPr>
              <a:t>1)</a:t>
            </a:r>
            <a:r>
              <a:rPr lang="en-GB" altLang="ko-KR" sz="1200">
                <a:ea typeface="가는각진제목체" panose="02030600000101010101" pitchFamily="18" charset="-127"/>
              </a:rPr>
              <a:t>	Pricing Quality Improvement</a:t>
            </a:r>
          </a:p>
          <a:p>
            <a:pPr lvl="1" eaLnBrk="1" hangingPunct="1">
              <a:spcBef>
                <a:spcPct val="30000"/>
              </a:spcBef>
              <a:buClr>
                <a:srgbClr val="0070C0"/>
              </a:buClr>
              <a:buFontTx/>
              <a:buChar char="•"/>
            </a:pPr>
            <a:r>
              <a:rPr lang="en-GB" altLang="ko-KR" sz="1200" b="0">
                <a:ea typeface="가는각진제목체" panose="02030600000101010101" pitchFamily="18" charset="-127"/>
              </a:rPr>
              <a:t>Price transparency</a:t>
            </a:r>
          </a:p>
          <a:p>
            <a:pPr lvl="1" eaLnBrk="1" hangingPunct="1">
              <a:spcBef>
                <a:spcPct val="30000"/>
              </a:spcBef>
              <a:buClr>
                <a:srgbClr val="0070C0"/>
              </a:buClr>
              <a:buFontTx/>
              <a:buChar char="•"/>
            </a:pPr>
            <a:r>
              <a:rPr lang="en-GB" altLang="ko-KR" sz="1200" b="0">
                <a:ea typeface="가는각진제목체" panose="02030600000101010101" pitchFamily="18" charset="-127"/>
              </a:rPr>
              <a:t>Price enhancement</a:t>
            </a:r>
          </a:p>
          <a:p>
            <a:pPr eaLnBrk="1" hangingPunct="1">
              <a:spcBef>
                <a:spcPct val="50000"/>
              </a:spcBef>
              <a:buClr>
                <a:srgbClr val="0070C0"/>
              </a:buClr>
              <a:buFont typeface="Wingdings" pitchFamily="2" charset="2"/>
              <a:buNone/>
            </a:pPr>
            <a:r>
              <a:rPr lang="en-GB" altLang="ko-KR" sz="1200">
                <a:solidFill>
                  <a:schemeClr val="bg2"/>
                </a:solidFill>
                <a:ea typeface="가는각진제목체" panose="02030600000101010101" pitchFamily="18" charset="-127"/>
              </a:rPr>
              <a:t>2)	</a:t>
            </a:r>
            <a:r>
              <a:rPr lang="en-GB" altLang="ko-KR" sz="1200">
                <a:ea typeface="가는각진제목체" panose="02030600000101010101" pitchFamily="18" charset="-127"/>
              </a:rPr>
              <a:t>Sales Excellence</a:t>
            </a:r>
          </a:p>
          <a:p>
            <a:pPr lvl="1" eaLnBrk="1" hangingPunct="1">
              <a:spcBef>
                <a:spcPct val="30000"/>
              </a:spcBef>
              <a:buClr>
                <a:srgbClr val="0070C0"/>
              </a:buClr>
              <a:buFontTx/>
              <a:buChar char="•"/>
            </a:pPr>
            <a:r>
              <a:rPr lang="en-GB" altLang="ko-KR" sz="1200" b="0">
                <a:ea typeface="가는각진제목체" panose="02030600000101010101" pitchFamily="18" charset="-127"/>
              </a:rPr>
              <a:t>Sales organization / structures</a:t>
            </a:r>
          </a:p>
          <a:p>
            <a:pPr lvl="1" eaLnBrk="1" hangingPunct="1">
              <a:spcBef>
                <a:spcPct val="30000"/>
              </a:spcBef>
              <a:buClr>
                <a:srgbClr val="0070C0"/>
              </a:buClr>
              <a:buFontTx/>
              <a:buChar char="•"/>
            </a:pPr>
            <a:r>
              <a:rPr lang="en-GB" altLang="ko-KR" sz="1200" b="0">
                <a:ea typeface="가는각진제목체" panose="02030600000101010101" pitchFamily="18" charset="-127"/>
              </a:rPr>
              <a:t>Sales steering</a:t>
            </a:r>
          </a:p>
          <a:p>
            <a:pPr lvl="1" eaLnBrk="1" hangingPunct="1">
              <a:spcBef>
                <a:spcPct val="30000"/>
              </a:spcBef>
              <a:buClr>
                <a:srgbClr val="0070C0"/>
              </a:buClr>
              <a:buFontTx/>
              <a:buChar char="•"/>
            </a:pPr>
            <a:r>
              <a:rPr lang="en-GB" altLang="ko-KR" sz="1200" b="0">
                <a:ea typeface="가는각진제목체" panose="02030600000101010101" pitchFamily="18" charset="-127"/>
              </a:rPr>
              <a:t>Sales cost optimization</a:t>
            </a:r>
          </a:p>
          <a:p>
            <a:pPr eaLnBrk="1" hangingPunct="1">
              <a:spcBef>
                <a:spcPct val="50000"/>
              </a:spcBef>
              <a:buClr>
                <a:srgbClr val="0070C0"/>
              </a:buClr>
              <a:buFont typeface="Wingdings" pitchFamily="2" charset="2"/>
              <a:buNone/>
            </a:pPr>
            <a:r>
              <a:rPr lang="en-GB" altLang="ko-KR" sz="1200">
                <a:solidFill>
                  <a:schemeClr val="bg2"/>
                </a:solidFill>
                <a:ea typeface="가는각진제목체" panose="02030600000101010101" pitchFamily="18" charset="-127"/>
              </a:rPr>
              <a:t>3)</a:t>
            </a:r>
            <a:r>
              <a:rPr lang="en-GB" altLang="ko-KR" sz="1200">
                <a:ea typeface="가는각진제목체" panose="02030600000101010101" pitchFamily="18" charset="-127"/>
              </a:rPr>
              <a:t>	Margin Steering along the value chain</a:t>
            </a:r>
          </a:p>
          <a:p>
            <a:pPr lvl="1" eaLnBrk="1" hangingPunct="1">
              <a:spcBef>
                <a:spcPct val="30000"/>
              </a:spcBef>
              <a:buClr>
                <a:srgbClr val="0070C0"/>
              </a:buClr>
              <a:buFontTx/>
              <a:buChar char="•"/>
            </a:pPr>
            <a:r>
              <a:rPr lang="en-GB" altLang="ko-KR" sz="1200" b="0">
                <a:ea typeface="가는각진제목체" panose="02030600000101010101" pitchFamily="18" charset="-127"/>
              </a:rPr>
              <a:t>Interweaved cost/price alignment</a:t>
            </a:r>
          </a:p>
          <a:p>
            <a:pPr lvl="1" eaLnBrk="1" hangingPunct="1">
              <a:spcBef>
                <a:spcPct val="30000"/>
              </a:spcBef>
              <a:buClr>
                <a:srgbClr val="0070C0"/>
              </a:buClr>
              <a:buFontTx/>
              <a:buChar char="•"/>
            </a:pPr>
            <a:r>
              <a:rPr lang="en-GB" altLang="ko-KR" sz="1200" b="0">
                <a:ea typeface="가는각진제목체" panose="02030600000101010101" pitchFamily="18" charset="-127"/>
              </a:rPr>
              <a:t>Adaptive product design</a:t>
            </a:r>
          </a:p>
          <a:p>
            <a:pPr eaLnBrk="1" hangingPunct="1">
              <a:spcBef>
                <a:spcPct val="50000"/>
              </a:spcBef>
              <a:buClr>
                <a:srgbClr val="0070C0"/>
              </a:buClr>
              <a:buFont typeface="Wingdings" pitchFamily="2" charset="2"/>
              <a:buNone/>
            </a:pPr>
            <a:r>
              <a:rPr lang="en-GB" altLang="ko-KR" sz="1200">
                <a:solidFill>
                  <a:schemeClr val="bg2"/>
                </a:solidFill>
                <a:ea typeface="가는각진제목체" panose="02030600000101010101" pitchFamily="18" charset="-127"/>
              </a:rPr>
              <a:t>4)</a:t>
            </a:r>
            <a:r>
              <a:rPr lang="en-GB" altLang="ko-KR" sz="1200">
                <a:ea typeface="가는각진제목체" panose="02030600000101010101" pitchFamily="18" charset="-127"/>
              </a:rPr>
              <a:t>	G&amp;A optimization</a:t>
            </a:r>
          </a:p>
          <a:p>
            <a:pPr lvl="1" eaLnBrk="1" hangingPunct="1">
              <a:spcBef>
                <a:spcPct val="30000"/>
              </a:spcBef>
              <a:buClr>
                <a:srgbClr val="0070C0"/>
              </a:buClr>
              <a:buFontTx/>
              <a:buChar char="•"/>
            </a:pPr>
            <a:r>
              <a:rPr lang="en-GB" altLang="ko-KR" sz="1200" b="0">
                <a:ea typeface="가는각진제목체" panose="02030600000101010101" pitchFamily="18" charset="-127"/>
              </a:rPr>
              <a:t>G&amp;A optimization</a:t>
            </a:r>
          </a:p>
          <a:p>
            <a:pPr lvl="1" eaLnBrk="1" hangingPunct="1">
              <a:spcBef>
                <a:spcPct val="30000"/>
              </a:spcBef>
              <a:buClr>
                <a:srgbClr val="0070C0"/>
              </a:buClr>
              <a:buFontTx/>
              <a:buChar char="•"/>
            </a:pPr>
            <a:r>
              <a:rPr lang="en-GB" altLang="ko-KR" sz="1200" b="0">
                <a:ea typeface="가는각진제목체" panose="02030600000101010101" pitchFamily="18" charset="-127"/>
              </a:rPr>
              <a:t>Indirect costs optimization</a:t>
            </a:r>
            <a:endParaRPr lang="en-GB" altLang="ko-KR" sz="1200">
              <a:solidFill>
                <a:schemeClr val="bg2"/>
              </a:solidFill>
              <a:ea typeface="가는각진제목체" panose="02030600000101010101" pitchFamily="18" charset="-127"/>
            </a:endParaRPr>
          </a:p>
          <a:p>
            <a:pPr eaLnBrk="1" hangingPunct="1">
              <a:spcBef>
                <a:spcPct val="30000"/>
              </a:spcBef>
              <a:buClr>
                <a:srgbClr val="0070C0"/>
              </a:buClr>
              <a:buFontTx/>
              <a:buNone/>
            </a:pPr>
            <a:r>
              <a:rPr lang="en-GB" altLang="ko-KR" sz="1200">
                <a:solidFill>
                  <a:schemeClr val="bg2"/>
                </a:solidFill>
                <a:ea typeface="가는각진제목체" panose="02030600000101010101" pitchFamily="18" charset="-127"/>
              </a:rPr>
              <a:t>5)</a:t>
            </a:r>
            <a:r>
              <a:rPr lang="en-GB" altLang="ko-KR" sz="1200">
                <a:ea typeface="가는각진제목체" panose="02030600000101010101" pitchFamily="18" charset="-127"/>
              </a:rPr>
              <a:t>	Program management</a:t>
            </a:r>
          </a:p>
          <a:p>
            <a:pPr lvl="1" eaLnBrk="1" hangingPunct="1">
              <a:buClr>
                <a:srgbClr val="0070C0"/>
              </a:buClr>
              <a:buFontTx/>
              <a:buChar char="•"/>
            </a:pPr>
            <a:endParaRPr lang="en-GB" altLang="ko-KR" sz="1200" b="0">
              <a:ea typeface="가는각진제목체" panose="02030600000101010101" pitchFamily="18" charset="-127"/>
            </a:endParaRPr>
          </a:p>
        </p:txBody>
      </p:sp>
      <p:sp>
        <p:nvSpPr>
          <p:cNvPr id="101399" name="Rectangle 24">
            <a:extLst>
              <a:ext uri="{FF2B5EF4-FFF2-40B4-BE49-F238E27FC236}">
                <a16:creationId xmlns:a16="http://schemas.microsoft.com/office/drawing/2014/main" id="{D4495EA6-0253-4B42-7B5A-7949C9CA183F}"/>
              </a:ext>
            </a:extLst>
          </p:cNvPr>
          <p:cNvSpPr>
            <a:spLocks noChangeArrowheads="1"/>
          </p:cNvSpPr>
          <p:nvPr/>
        </p:nvSpPr>
        <p:spPr bwMode="auto">
          <a:xfrm>
            <a:off x="6202363" y="2097088"/>
            <a:ext cx="3430587" cy="4318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0"/>
              </a:spcBef>
              <a:buFontTx/>
              <a:buNone/>
            </a:pPr>
            <a:r>
              <a:rPr lang="en-GB" altLang="ko-KR" sz="1400">
                <a:solidFill>
                  <a:schemeClr val="bg1"/>
                </a:solidFill>
                <a:ea typeface="가는각진제목체" panose="02030600000101010101" pitchFamily="18" charset="-127"/>
              </a:rPr>
              <a:t>Approach</a:t>
            </a:r>
            <a:endParaRPr lang="en-GB" altLang="ko-KR" sz="1400" b="0">
              <a:solidFill>
                <a:schemeClr val="bg1"/>
              </a:solidFill>
              <a:ea typeface="가는각진제목체" panose="02030600000101010101" pitchFamily="18" charset="-127"/>
            </a:endParaRPr>
          </a:p>
        </p:txBody>
      </p:sp>
      <p:sp>
        <p:nvSpPr>
          <p:cNvPr id="101400" name="Oval 25">
            <a:extLst>
              <a:ext uri="{FF2B5EF4-FFF2-40B4-BE49-F238E27FC236}">
                <a16:creationId xmlns:a16="http://schemas.microsoft.com/office/drawing/2014/main" id="{983D04B1-C791-FCD7-DE24-433F1BA9F293}"/>
              </a:ext>
            </a:extLst>
          </p:cNvPr>
          <p:cNvSpPr>
            <a:spLocks noChangeAspect="1" noChangeArrowheads="1"/>
          </p:cNvSpPr>
          <p:nvPr/>
        </p:nvSpPr>
        <p:spPr bwMode="auto">
          <a:xfrm>
            <a:off x="6253163" y="2627313"/>
            <a:ext cx="228600" cy="2111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72000"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200">
                <a:solidFill>
                  <a:schemeClr val="bg1"/>
                </a:solidFill>
                <a:ea typeface="가는각진제목체" panose="02030600000101010101" pitchFamily="18" charset="-127"/>
              </a:rPr>
              <a:t>1</a:t>
            </a:r>
          </a:p>
        </p:txBody>
      </p:sp>
      <p:sp>
        <p:nvSpPr>
          <p:cNvPr id="101401" name="Oval 26">
            <a:extLst>
              <a:ext uri="{FF2B5EF4-FFF2-40B4-BE49-F238E27FC236}">
                <a16:creationId xmlns:a16="http://schemas.microsoft.com/office/drawing/2014/main" id="{16624C53-2C45-1E22-2C6E-8D0DDA6C18B7}"/>
              </a:ext>
            </a:extLst>
          </p:cNvPr>
          <p:cNvSpPr>
            <a:spLocks noChangeAspect="1" noChangeArrowheads="1"/>
          </p:cNvSpPr>
          <p:nvPr/>
        </p:nvSpPr>
        <p:spPr bwMode="auto">
          <a:xfrm>
            <a:off x="6253163" y="3327400"/>
            <a:ext cx="228600" cy="211138"/>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72000"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200">
                <a:solidFill>
                  <a:schemeClr val="bg1"/>
                </a:solidFill>
                <a:ea typeface="가는각진제목체" panose="02030600000101010101" pitchFamily="18" charset="-127"/>
              </a:rPr>
              <a:t>2</a:t>
            </a:r>
          </a:p>
        </p:txBody>
      </p:sp>
      <p:sp>
        <p:nvSpPr>
          <p:cNvPr id="101402" name="Oval 27">
            <a:extLst>
              <a:ext uri="{FF2B5EF4-FFF2-40B4-BE49-F238E27FC236}">
                <a16:creationId xmlns:a16="http://schemas.microsoft.com/office/drawing/2014/main" id="{FEFFCBC2-1578-BFCE-0BD9-452304DC8ED8}"/>
              </a:ext>
            </a:extLst>
          </p:cNvPr>
          <p:cNvSpPr>
            <a:spLocks noChangeAspect="1" noChangeArrowheads="1"/>
          </p:cNvSpPr>
          <p:nvPr/>
        </p:nvSpPr>
        <p:spPr bwMode="auto">
          <a:xfrm>
            <a:off x="6253163" y="4256088"/>
            <a:ext cx="228600" cy="2111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72000"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200">
                <a:solidFill>
                  <a:schemeClr val="bg1"/>
                </a:solidFill>
                <a:ea typeface="가는각진제목체" panose="02030600000101010101" pitchFamily="18" charset="-127"/>
              </a:rPr>
              <a:t>3</a:t>
            </a:r>
          </a:p>
        </p:txBody>
      </p:sp>
      <p:sp>
        <p:nvSpPr>
          <p:cNvPr id="101403" name="Oval 28">
            <a:extLst>
              <a:ext uri="{FF2B5EF4-FFF2-40B4-BE49-F238E27FC236}">
                <a16:creationId xmlns:a16="http://schemas.microsoft.com/office/drawing/2014/main" id="{0E46F762-9F38-01A9-91C8-809CB5F76857}"/>
              </a:ext>
            </a:extLst>
          </p:cNvPr>
          <p:cNvSpPr>
            <a:spLocks noChangeAspect="1" noChangeArrowheads="1"/>
          </p:cNvSpPr>
          <p:nvPr/>
        </p:nvSpPr>
        <p:spPr bwMode="auto">
          <a:xfrm>
            <a:off x="6253163" y="4948238"/>
            <a:ext cx="228600" cy="2111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72000"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200">
                <a:solidFill>
                  <a:schemeClr val="bg1"/>
                </a:solidFill>
                <a:ea typeface="가는각진제목체" panose="02030600000101010101" pitchFamily="18" charset="-127"/>
              </a:rPr>
              <a:t>4</a:t>
            </a:r>
          </a:p>
        </p:txBody>
      </p:sp>
      <p:sp>
        <p:nvSpPr>
          <p:cNvPr id="101404" name="Oval 29">
            <a:extLst>
              <a:ext uri="{FF2B5EF4-FFF2-40B4-BE49-F238E27FC236}">
                <a16:creationId xmlns:a16="http://schemas.microsoft.com/office/drawing/2014/main" id="{FC90E710-EAEF-120B-1341-1194407C2AAF}"/>
              </a:ext>
            </a:extLst>
          </p:cNvPr>
          <p:cNvSpPr>
            <a:spLocks noChangeAspect="1" noChangeArrowheads="1"/>
          </p:cNvSpPr>
          <p:nvPr/>
        </p:nvSpPr>
        <p:spPr bwMode="auto">
          <a:xfrm>
            <a:off x="6253163" y="5595938"/>
            <a:ext cx="228600" cy="211137"/>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72000"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200">
                <a:solidFill>
                  <a:schemeClr val="bg1"/>
                </a:solidFill>
                <a:ea typeface="가는각진제목체" panose="02030600000101010101" pitchFamily="18" charset="-127"/>
              </a:rPr>
              <a:t>5</a:t>
            </a:r>
          </a:p>
        </p:txBody>
      </p:sp>
      <p:sp>
        <p:nvSpPr>
          <p:cNvPr id="101405" name="Rectangle 30">
            <a:extLst>
              <a:ext uri="{FF2B5EF4-FFF2-40B4-BE49-F238E27FC236}">
                <a16:creationId xmlns:a16="http://schemas.microsoft.com/office/drawing/2014/main" id="{6BAD638E-3937-8D89-909F-4BD70858482F}"/>
              </a:ext>
            </a:extLst>
          </p:cNvPr>
          <p:cNvSpPr>
            <a:spLocks noChangeArrowheads="1"/>
          </p:cNvSpPr>
          <p:nvPr/>
        </p:nvSpPr>
        <p:spPr bwMode="auto">
          <a:xfrm>
            <a:off x="8535988" y="1455738"/>
            <a:ext cx="1114425" cy="323850"/>
          </a:xfrm>
          <a:prstGeom prst="rect">
            <a:avLst/>
          </a:prstGeom>
          <a:solidFill>
            <a:schemeClr val="folHlink"/>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9" tIns="72009" rIns="72009" bIns="72009">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lnSpc>
                <a:spcPct val="85000"/>
              </a:lnSpc>
              <a:spcBef>
                <a:spcPct val="0"/>
              </a:spcBef>
              <a:buFontTx/>
              <a:buNone/>
            </a:pPr>
            <a:r>
              <a:rPr lang="en-GB" altLang="ko-KR" sz="1400">
                <a:ea typeface="가는각진제목체" panose="02030600000101010101" pitchFamily="18" charset="-127"/>
              </a:rPr>
              <a:t>Illustrative</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05473" name="Rectangle 2">
            <a:extLst>
              <a:ext uri="{FF2B5EF4-FFF2-40B4-BE49-F238E27FC236}">
                <a16:creationId xmlns:a16="http://schemas.microsoft.com/office/drawing/2014/main" id="{94AB930B-7DB0-B5FD-EA8C-083895AC5353}"/>
              </a:ext>
            </a:extLst>
          </p:cNvPr>
          <p:cNvSpPr>
            <a:spLocks noChangeArrowheads="1"/>
          </p:cNvSpPr>
          <p:nvPr/>
        </p:nvSpPr>
        <p:spPr bwMode="auto">
          <a:xfrm>
            <a:off x="5114925" y="2451100"/>
            <a:ext cx="4522788" cy="4152900"/>
          </a:xfrm>
          <a:prstGeom prst="rect">
            <a:avLst/>
          </a:prstGeom>
          <a:solidFill>
            <a:schemeClr val="folHlink"/>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108000"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5138" indent="-1809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SzPct val="80000"/>
              <a:buFont typeface="Wingdings" pitchFamily="2" charset="2"/>
              <a:buNone/>
            </a:pPr>
            <a:br>
              <a:rPr lang="en-GB" altLang="ko-KR" sz="1000" b="0">
                <a:ea typeface="가는각진제목체" panose="02030600000101010101" pitchFamily="18" charset="-127"/>
              </a:rPr>
            </a:br>
            <a:r>
              <a:rPr lang="en-GB" altLang="ko-KR" sz="1000" b="0">
                <a:ea typeface="가는각진제목체" panose="02030600000101010101" pitchFamily="18" charset="-127"/>
              </a:rPr>
              <a:t>(mil. EUR)</a:t>
            </a:r>
          </a:p>
        </p:txBody>
      </p:sp>
      <p:sp>
        <p:nvSpPr>
          <p:cNvPr id="105474" name="Rectangle 3">
            <a:extLst>
              <a:ext uri="{FF2B5EF4-FFF2-40B4-BE49-F238E27FC236}">
                <a16:creationId xmlns:a16="http://schemas.microsoft.com/office/drawing/2014/main" id="{9F46BADE-158A-F513-CE3E-C30FECB44A90}"/>
              </a:ext>
            </a:extLst>
          </p:cNvPr>
          <p:cNvSpPr>
            <a:spLocks noChangeArrowheads="1"/>
          </p:cNvSpPr>
          <p:nvPr/>
        </p:nvSpPr>
        <p:spPr bwMode="auto">
          <a:xfrm>
            <a:off x="266700" y="2451100"/>
            <a:ext cx="4522788" cy="4152900"/>
          </a:xfrm>
          <a:prstGeom prst="rect">
            <a:avLst/>
          </a:prstGeom>
          <a:solidFill>
            <a:schemeClr val="folHlink"/>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438912" rIns="72000" bIns="72000"/>
          <a:lstStyle>
            <a:lvl1pPr marL="176213" indent="-176213">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358775" indent="-1809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SzPct val="80000"/>
            </a:pPr>
            <a:endParaRPr lang="en-GB" altLang="ko-KR" sz="1200" b="0">
              <a:ea typeface="가는각진제목체" panose="02030600000101010101" pitchFamily="18" charset="-127"/>
            </a:endParaRPr>
          </a:p>
        </p:txBody>
      </p:sp>
      <p:sp>
        <p:nvSpPr>
          <p:cNvPr id="105475" name="Rectangle 4">
            <a:extLst>
              <a:ext uri="{FF2B5EF4-FFF2-40B4-BE49-F238E27FC236}">
                <a16:creationId xmlns:a16="http://schemas.microsoft.com/office/drawing/2014/main" id="{C16B2113-5501-C131-7512-ED403C50252C}"/>
              </a:ext>
            </a:extLst>
          </p:cNvPr>
          <p:cNvSpPr>
            <a:spLocks noGrp="1" noChangeArrowheads="1"/>
          </p:cNvSpPr>
          <p:nvPr>
            <p:ph type="title"/>
          </p:nvPr>
        </p:nvSpPr>
        <p:spPr>
          <a:xfrm>
            <a:off x="266700" y="596900"/>
            <a:ext cx="9367838" cy="657225"/>
          </a:xfrm>
        </p:spPr>
        <p:txBody>
          <a:bodyPr/>
          <a:lstStyle/>
          <a:p>
            <a:pPr marL="341313"/>
            <a:r>
              <a:rPr lang="en-GB" altLang="ko-KR"/>
              <a:t>We implemented a rapid G&amp;A optimization approach with typically &gt;10% savings in focused 3-day workshops</a:t>
            </a:r>
          </a:p>
        </p:txBody>
      </p:sp>
      <p:sp>
        <p:nvSpPr>
          <p:cNvPr id="105476" name="Line 5">
            <a:extLst>
              <a:ext uri="{FF2B5EF4-FFF2-40B4-BE49-F238E27FC236}">
                <a16:creationId xmlns:a16="http://schemas.microsoft.com/office/drawing/2014/main" id="{3CA4B733-21A5-20F1-3EE3-5166D7B7EC82}"/>
              </a:ext>
            </a:extLst>
          </p:cNvPr>
          <p:cNvSpPr>
            <a:spLocks noChangeShapeType="1"/>
          </p:cNvSpPr>
          <p:nvPr/>
        </p:nvSpPr>
        <p:spPr bwMode="auto">
          <a:xfrm>
            <a:off x="458788" y="2670175"/>
            <a:ext cx="895350" cy="0"/>
          </a:xfrm>
          <a:prstGeom prst="line">
            <a:avLst/>
          </a:prstGeom>
          <a:noFill/>
          <a:ln w="1905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105477" name="Line 6">
            <a:extLst>
              <a:ext uri="{FF2B5EF4-FFF2-40B4-BE49-F238E27FC236}">
                <a16:creationId xmlns:a16="http://schemas.microsoft.com/office/drawing/2014/main" id="{F4C2B943-AAA2-8BBD-D195-73E4BD4836A0}"/>
              </a:ext>
            </a:extLst>
          </p:cNvPr>
          <p:cNvSpPr>
            <a:spLocks noChangeShapeType="1"/>
          </p:cNvSpPr>
          <p:nvPr/>
        </p:nvSpPr>
        <p:spPr bwMode="auto">
          <a:xfrm flipV="1">
            <a:off x="3467100" y="2660650"/>
            <a:ext cx="1160463" cy="7938"/>
          </a:xfrm>
          <a:prstGeom prst="line">
            <a:avLst/>
          </a:prstGeom>
          <a:noFill/>
          <a:ln w="1905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105478" name="Rectangle 7">
            <a:extLst>
              <a:ext uri="{FF2B5EF4-FFF2-40B4-BE49-F238E27FC236}">
                <a16:creationId xmlns:a16="http://schemas.microsoft.com/office/drawing/2014/main" id="{8EF6CDC2-8C4B-7B12-7A1D-1291B9365F2E}"/>
              </a:ext>
            </a:extLst>
          </p:cNvPr>
          <p:cNvSpPr>
            <a:spLocks noChangeArrowheads="1"/>
          </p:cNvSpPr>
          <p:nvPr/>
        </p:nvSpPr>
        <p:spPr bwMode="auto">
          <a:xfrm>
            <a:off x="636588" y="2541588"/>
            <a:ext cx="538162" cy="2571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GB" altLang="ko-KR" sz="1100" i="1">
                <a:ea typeface="HY견고딕" panose="02030600000101010101" pitchFamily="18" charset="-127"/>
              </a:rPr>
              <a:t>Day 1</a:t>
            </a:r>
          </a:p>
        </p:txBody>
      </p:sp>
      <p:sp>
        <p:nvSpPr>
          <p:cNvPr id="105479" name="Rectangle 8">
            <a:extLst>
              <a:ext uri="{FF2B5EF4-FFF2-40B4-BE49-F238E27FC236}">
                <a16:creationId xmlns:a16="http://schemas.microsoft.com/office/drawing/2014/main" id="{40A0FDA5-5102-9F95-F715-B92F62669180}"/>
              </a:ext>
            </a:extLst>
          </p:cNvPr>
          <p:cNvSpPr>
            <a:spLocks noChangeArrowheads="1"/>
          </p:cNvSpPr>
          <p:nvPr/>
        </p:nvSpPr>
        <p:spPr bwMode="auto">
          <a:xfrm>
            <a:off x="3778250" y="2541588"/>
            <a:ext cx="538163" cy="2571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GB" altLang="ko-KR" sz="1100" i="1">
                <a:ea typeface="HY견고딕" panose="02030600000101010101" pitchFamily="18" charset="-127"/>
              </a:rPr>
              <a:t>Day 3</a:t>
            </a:r>
          </a:p>
        </p:txBody>
      </p:sp>
      <p:sp>
        <p:nvSpPr>
          <p:cNvPr id="105480" name="Line 9">
            <a:extLst>
              <a:ext uri="{FF2B5EF4-FFF2-40B4-BE49-F238E27FC236}">
                <a16:creationId xmlns:a16="http://schemas.microsoft.com/office/drawing/2014/main" id="{A35EEDF7-6270-A650-7161-A3A507DE1799}"/>
              </a:ext>
            </a:extLst>
          </p:cNvPr>
          <p:cNvSpPr>
            <a:spLocks noChangeShapeType="1"/>
          </p:cNvSpPr>
          <p:nvPr/>
        </p:nvSpPr>
        <p:spPr bwMode="auto">
          <a:xfrm>
            <a:off x="1439863" y="2670175"/>
            <a:ext cx="1971675" cy="0"/>
          </a:xfrm>
          <a:prstGeom prst="line">
            <a:avLst/>
          </a:prstGeom>
          <a:noFill/>
          <a:ln w="1905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p>
            <a:endParaRPr lang="ko-KR" altLang="en-US"/>
          </a:p>
        </p:txBody>
      </p:sp>
      <p:sp>
        <p:nvSpPr>
          <p:cNvPr id="105481" name="Rectangle 10">
            <a:extLst>
              <a:ext uri="{FF2B5EF4-FFF2-40B4-BE49-F238E27FC236}">
                <a16:creationId xmlns:a16="http://schemas.microsoft.com/office/drawing/2014/main" id="{6892F1F9-5032-2328-0C0A-827443CC73BF}"/>
              </a:ext>
            </a:extLst>
          </p:cNvPr>
          <p:cNvSpPr>
            <a:spLocks noChangeArrowheads="1"/>
          </p:cNvSpPr>
          <p:nvPr/>
        </p:nvSpPr>
        <p:spPr bwMode="auto">
          <a:xfrm>
            <a:off x="2157413" y="2541588"/>
            <a:ext cx="538162" cy="2571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GB" altLang="ko-KR" sz="1100" i="1">
                <a:ea typeface="HY견고딕" panose="02030600000101010101" pitchFamily="18" charset="-127"/>
              </a:rPr>
              <a:t>Day 2</a:t>
            </a:r>
          </a:p>
        </p:txBody>
      </p:sp>
      <p:sp>
        <p:nvSpPr>
          <p:cNvPr id="105482" name="Rectangle 11">
            <a:extLst>
              <a:ext uri="{FF2B5EF4-FFF2-40B4-BE49-F238E27FC236}">
                <a16:creationId xmlns:a16="http://schemas.microsoft.com/office/drawing/2014/main" id="{57D4D550-D170-AC15-639B-D416E94A6950}"/>
              </a:ext>
            </a:extLst>
          </p:cNvPr>
          <p:cNvSpPr>
            <a:spLocks noChangeArrowheads="1"/>
          </p:cNvSpPr>
          <p:nvPr/>
        </p:nvSpPr>
        <p:spPr bwMode="auto">
          <a:xfrm>
            <a:off x="355600" y="3621088"/>
            <a:ext cx="1011238" cy="5667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33350" indent="-133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30000"/>
              </a:spcBef>
              <a:buFontTx/>
              <a:buChar char="•"/>
            </a:pPr>
            <a:r>
              <a:rPr lang="en-GB" altLang="ko-KR" sz="1000" b="0">
                <a:ea typeface="가는각진제목체" panose="02030600000101010101" pitchFamily="18" charset="-127"/>
              </a:rPr>
              <a:t>Discuss </a:t>
            </a:r>
            <a:r>
              <a:rPr lang="en-GB" altLang="ko-KR" sz="1000">
                <a:ea typeface="가는각진제목체" panose="02030600000101010101" pitchFamily="18" charset="-127"/>
              </a:rPr>
              <a:t>baseline</a:t>
            </a:r>
          </a:p>
          <a:p>
            <a:pPr>
              <a:lnSpc>
                <a:spcPct val="85000"/>
              </a:lnSpc>
              <a:spcBef>
                <a:spcPct val="30000"/>
              </a:spcBef>
              <a:buFontTx/>
              <a:buChar char="•"/>
            </a:pPr>
            <a:r>
              <a:rPr lang="en-GB" altLang="ko-KR" sz="1000" b="0">
                <a:ea typeface="가는각진제목체" panose="02030600000101010101" pitchFamily="18" charset="-127"/>
              </a:rPr>
              <a:t>Clarify open questions</a:t>
            </a:r>
          </a:p>
        </p:txBody>
      </p:sp>
      <p:sp>
        <p:nvSpPr>
          <p:cNvPr id="105483" name="Rectangle 12">
            <a:extLst>
              <a:ext uri="{FF2B5EF4-FFF2-40B4-BE49-F238E27FC236}">
                <a16:creationId xmlns:a16="http://schemas.microsoft.com/office/drawing/2014/main" id="{076F2AE9-DA5C-193C-4622-9638F02669B1}"/>
              </a:ext>
            </a:extLst>
          </p:cNvPr>
          <p:cNvSpPr>
            <a:spLocks noChangeArrowheads="1"/>
          </p:cNvSpPr>
          <p:nvPr/>
        </p:nvSpPr>
        <p:spPr bwMode="auto">
          <a:xfrm>
            <a:off x="3486150" y="3621088"/>
            <a:ext cx="1035050" cy="5667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33350" indent="-133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30000"/>
              </a:spcBef>
              <a:buFontTx/>
              <a:buChar char="•"/>
            </a:pPr>
            <a:r>
              <a:rPr lang="en-GB" altLang="ko-KR" sz="1000" b="0">
                <a:ea typeface="가는각진제목체" panose="02030600000101010101" pitchFamily="18" charset="-127"/>
              </a:rPr>
              <a:t>Discuss results</a:t>
            </a:r>
          </a:p>
          <a:p>
            <a:pPr>
              <a:lnSpc>
                <a:spcPct val="85000"/>
              </a:lnSpc>
              <a:spcBef>
                <a:spcPct val="30000"/>
              </a:spcBef>
              <a:buFontTx/>
              <a:buChar char="•"/>
            </a:pPr>
            <a:r>
              <a:rPr lang="en-GB" altLang="ko-KR" sz="1000" b="0">
                <a:ea typeface="가는각진제목체" panose="02030600000101010101" pitchFamily="18" charset="-127"/>
              </a:rPr>
              <a:t>Agree on</a:t>
            </a:r>
            <a:br>
              <a:rPr lang="en-GB" altLang="ko-KR" sz="1000" b="0">
                <a:ea typeface="가는각진제목체" panose="02030600000101010101" pitchFamily="18" charset="-127"/>
              </a:rPr>
            </a:br>
            <a:r>
              <a:rPr lang="en-GB" altLang="ko-KR" sz="1000">
                <a:ea typeface="가는각진제목체" panose="02030600000101010101" pitchFamily="18" charset="-127"/>
              </a:rPr>
              <a:t>next steps</a:t>
            </a:r>
          </a:p>
        </p:txBody>
      </p:sp>
      <p:sp>
        <p:nvSpPr>
          <p:cNvPr id="105484" name="Rectangle 13">
            <a:extLst>
              <a:ext uri="{FF2B5EF4-FFF2-40B4-BE49-F238E27FC236}">
                <a16:creationId xmlns:a16="http://schemas.microsoft.com/office/drawing/2014/main" id="{CE1C6448-ABA4-7754-E2DB-EEC2410DF751}"/>
              </a:ext>
            </a:extLst>
          </p:cNvPr>
          <p:cNvSpPr>
            <a:spLocks noChangeArrowheads="1"/>
          </p:cNvSpPr>
          <p:nvPr/>
        </p:nvSpPr>
        <p:spPr bwMode="auto">
          <a:xfrm>
            <a:off x="1471613" y="3638550"/>
            <a:ext cx="1906587" cy="1439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33350" indent="-133350">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30000"/>
              </a:spcBef>
              <a:buFontTx/>
              <a:buChar char="•"/>
            </a:pPr>
            <a:r>
              <a:rPr lang="en-GB" altLang="ko-KR" sz="1000" b="0">
                <a:ea typeface="가는각진제목체" panose="02030600000101010101" pitchFamily="18" charset="-127"/>
              </a:rPr>
              <a:t>Understand </a:t>
            </a:r>
            <a:r>
              <a:rPr lang="en-GB" altLang="ko-KR" sz="1000">
                <a:ea typeface="가는각진제목체" panose="02030600000101010101" pitchFamily="18" charset="-127"/>
              </a:rPr>
              <a:t>activities per function</a:t>
            </a:r>
            <a:r>
              <a:rPr lang="en-GB" altLang="ko-KR" sz="1000" b="0">
                <a:ea typeface="가는각진제목체" panose="02030600000101010101" pitchFamily="18" charset="-127"/>
              </a:rPr>
              <a:t> and </a:t>
            </a:r>
            <a:r>
              <a:rPr lang="en-GB" altLang="ko-KR" sz="1000">
                <a:ea typeface="가는각진제목체" panose="02030600000101010101" pitchFamily="18" charset="-127"/>
              </a:rPr>
              <a:t>reasons</a:t>
            </a:r>
            <a:r>
              <a:rPr lang="en-GB" altLang="ko-KR" sz="1000" b="0">
                <a:ea typeface="가는각진제목체" panose="02030600000101010101" pitchFamily="18" charset="-127"/>
              </a:rPr>
              <a:t> for </a:t>
            </a:r>
            <a:r>
              <a:rPr lang="en-GB" altLang="ko-KR" sz="1000">
                <a:ea typeface="가는각진제목체" panose="02030600000101010101" pitchFamily="18" charset="-127"/>
              </a:rPr>
              <a:t>performance</a:t>
            </a:r>
            <a:endParaRPr lang="en-GB" altLang="ko-KR" sz="1000" b="0">
              <a:ea typeface="가는각진제목체" panose="02030600000101010101" pitchFamily="18" charset="-127"/>
            </a:endParaRPr>
          </a:p>
          <a:p>
            <a:pPr>
              <a:lnSpc>
                <a:spcPct val="85000"/>
              </a:lnSpc>
              <a:spcBef>
                <a:spcPct val="30000"/>
              </a:spcBef>
              <a:buFontTx/>
              <a:buChar char="•"/>
            </a:pPr>
            <a:r>
              <a:rPr lang="en-GB" altLang="ko-KR" sz="1000" b="0">
                <a:ea typeface="가는각진제목체" panose="02030600000101010101" pitchFamily="18" charset="-127"/>
              </a:rPr>
              <a:t>Identify, prioritize, and </a:t>
            </a:r>
            <a:br>
              <a:rPr lang="en-GB" altLang="ko-KR" sz="1000" b="0">
                <a:ea typeface="가는각진제목체" panose="02030600000101010101" pitchFamily="18" charset="-127"/>
              </a:rPr>
            </a:br>
            <a:r>
              <a:rPr lang="en-GB" altLang="ko-KR" sz="1000" b="0">
                <a:ea typeface="가는각진제목체" panose="02030600000101010101" pitchFamily="18" charset="-127"/>
              </a:rPr>
              <a:t>select </a:t>
            </a:r>
            <a:r>
              <a:rPr lang="en-GB" altLang="ko-KR" sz="1000">
                <a:ea typeface="가는각진제목체" panose="02030600000101010101" pitchFamily="18" charset="-127"/>
              </a:rPr>
              <a:t>measures</a:t>
            </a:r>
          </a:p>
          <a:p>
            <a:pPr>
              <a:lnSpc>
                <a:spcPct val="85000"/>
              </a:lnSpc>
              <a:spcBef>
                <a:spcPct val="30000"/>
              </a:spcBef>
              <a:buFontTx/>
              <a:buChar char="•"/>
            </a:pPr>
            <a:r>
              <a:rPr lang="en-GB" altLang="ko-KR" sz="1000">
                <a:ea typeface="가는각진제목체" panose="02030600000101010101" pitchFamily="18" charset="-127"/>
              </a:rPr>
              <a:t>Evaluate and detail</a:t>
            </a:r>
            <a:r>
              <a:rPr lang="en-GB" altLang="ko-KR" sz="1000" b="0">
                <a:ea typeface="가는각진제목체" panose="02030600000101010101" pitchFamily="18" charset="-127"/>
              </a:rPr>
              <a:t> measures </a:t>
            </a:r>
          </a:p>
          <a:p>
            <a:pPr>
              <a:lnSpc>
                <a:spcPct val="85000"/>
              </a:lnSpc>
              <a:spcBef>
                <a:spcPct val="30000"/>
              </a:spcBef>
              <a:buFontTx/>
              <a:buChar char="•"/>
            </a:pPr>
            <a:r>
              <a:rPr lang="en-GB" altLang="ko-KR" sz="1000" b="0">
                <a:ea typeface="가는각진제목체" panose="02030600000101010101" pitchFamily="18" charset="-127"/>
              </a:rPr>
              <a:t>Discuss </a:t>
            </a:r>
            <a:r>
              <a:rPr lang="en-GB" altLang="ko-KR" sz="1000">
                <a:ea typeface="가는각진제목체" panose="02030600000101010101" pitchFamily="18" charset="-127"/>
              </a:rPr>
              <a:t>levers</a:t>
            </a:r>
            <a:r>
              <a:rPr lang="en-GB" altLang="ko-KR" sz="1000" b="0">
                <a:ea typeface="가는각진제목체" panose="02030600000101010101" pitchFamily="18" charset="-127"/>
              </a:rPr>
              <a:t> and experi-ence from other workshops using a </a:t>
            </a:r>
            <a:r>
              <a:rPr lang="en-GB" altLang="ko-KR" sz="1000">
                <a:ea typeface="가는각진제목체" panose="02030600000101010101" pitchFamily="18" charset="-127"/>
              </a:rPr>
              <a:t>measure longlist:</a:t>
            </a:r>
          </a:p>
        </p:txBody>
      </p:sp>
      <p:sp>
        <p:nvSpPr>
          <p:cNvPr id="105485" name="AutoShape 14">
            <a:extLst>
              <a:ext uri="{FF2B5EF4-FFF2-40B4-BE49-F238E27FC236}">
                <a16:creationId xmlns:a16="http://schemas.microsoft.com/office/drawing/2014/main" id="{863D064B-C857-8A75-64BD-653EA96188CA}"/>
              </a:ext>
            </a:extLst>
          </p:cNvPr>
          <p:cNvSpPr>
            <a:spLocks noChangeArrowheads="1"/>
          </p:cNvSpPr>
          <p:nvPr/>
        </p:nvSpPr>
        <p:spPr bwMode="auto">
          <a:xfrm>
            <a:off x="355600" y="2828925"/>
            <a:ext cx="1162050" cy="738188"/>
          </a:xfrm>
          <a:prstGeom prst="homePlate">
            <a:avLst>
              <a:gd name="adj" fmla="val 23890"/>
            </a:avLst>
          </a:prstGeom>
          <a:solidFill>
            <a:schemeClr val="accent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72009" rIns="72009" bIns="72009"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GB" altLang="ko-KR" sz="1200">
                <a:solidFill>
                  <a:schemeClr val="bg1"/>
                </a:solidFill>
                <a:ea typeface="가는각진제목체" panose="02030600000101010101" pitchFamily="18" charset="-127"/>
              </a:rPr>
              <a:t>Align and discuss baseline</a:t>
            </a:r>
          </a:p>
        </p:txBody>
      </p:sp>
      <p:sp>
        <p:nvSpPr>
          <p:cNvPr id="105486" name="AutoShape 15">
            <a:extLst>
              <a:ext uri="{FF2B5EF4-FFF2-40B4-BE49-F238E27FC236}">
                <a16:creationId xmlns:a16="http://schemas.microsoft.com/office/drawing/2014/main" id="{29E644BB-7F0C-714D-464C-79CF7FFCB59F}"/>
              </a:ext>
            </a:extLst>
          </p:cNvPr>
          <p:cNvSpPr>
            <a:spLocks noChangeArrowheads="1"/>
          </p:cNvSpPr>
          <p:nvPr/>
        </p:nvSpPr>
        <p:spPr bwMode="auto">
          <a:xfrm>
            <a:off x="3486150" y="2828925"/>
            <a:ext cx="1204913" cy="738188"/>
          </a:xfrm>
          <a:prstGeom prst="chevron">
            <a:avLst>
              <a:gd name="adj" fmla="val 24151"/>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72009" rIns="72009" bIns="72009" anchor="ctr"/>
          <a:lstStyle>
            <a:lvl1pPr marL="666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GB" altLang="ko-KR" sz="1200">
                <a:solidFill>
                  <a:schemeClr val="bg1"/>
                </a:solidFill>
                <a:ea typeface="가는각진제목체" panose="02030600000101010101" pitchFamily="18" charset="-127"/>
              </a:rPr>
              <a:t>Consoli-</a:t>
            </a:r>
            <a:br>
              <a:rPr lang="en-GB" altLang="ko-KR" sz="1200">
                <a:solidFill>
                  <a:schemeClr val="bg1"/>
                </a:solidFill>
                <a:ea typeface="가는각진제목체" panose="02030600000101010101" pitchFamily="18" charset="-127"/>
              </a:rPr>
            </a:br>
            <a:r>
              <a:rPr lang="en-GB" altLang="ko-KR" sz="1200">
                <a:solidFill>
                  <a:schemeClr val="bg1"/>
                </a:solidFill>
                <a:ea typeface="가는각진제목체" panose="02030600000101010101" pitchFamily="18" charset="-127"/>
              </a:rPr>
              <a:t>date measures </a:t>
            </a:r>
          </a:p>
        </p:txBody>
      </p:sp>
      <p:sp>
        <p:nvSpPr>
          <p:cNvPr id="105487" name="AutoShape 16">
            <a:extLst>
              <a:ext uri="{FF2B5EF4-FFF2-40B4-BE49-F238E27FC236}">
                <a16:creationId xmlns:a16="http://schemas.microsoft.com/office/drawing/2014/main" id="{7AD6E64E-893F-D163-4D48-DF499E53D294}"/>
              </a:ext>
            </a:extLst>
          </p:cNvPr>
          <p:cNvSpPr>
            <a:spLocks noChangeArrowheads="1"/>
          </p:cNvSpPr>
          <p:nvPr/>
        </p:nvSpPr>
        <p:spPr bwMode="auto">
          <a:xfrm>
            <a:off x="1406525" y="2828925"/>
            <a:ext cx="2190750" cy="738188"/>
          </a:xfrm>
          <a:prstGeom prst="chevron">
            <a:avLst>
              <a:gd name="adj" fmla="val 23563"/>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36576" rIns="72009" bIns="72009" anchor="ctr"/>
          <a:lstStyle>
            <a:lvl1pPr marL="10953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50000"/>
              </a:spcBef>
              <a:buClrTx/>
              <a:buFontTx/>
              <a:buNone/>
            </a:pPr>
            <a:r>
              <a:rPr lang="en-GB" altLang="ko-KR" sz="1200">
                <a:solidFill>
                  <a:schemeClr val="bg1"/>
                </a:solidFill>
                <a:ea typeface="가는각진제목체" panose="02030600000101010101" pitchFamily="18" charset="-127"/>
              </a:rPr>
              <a:t>Identify and detail measures, and ex-change best practices</a:t>
            </a:r>
          </a:p>
        </p:txBody>
      </p:sp>
      <p:pic>
        <p:nvPicPr>
          <p:cNvPr id="105488" name="Picture 17">
            <a:extLst>
              <a:ext uri="{FF2B5EF4-FFF2-40B4-BE49-F238E27FC236}">
                <a16:creationId xmlns:a16="http://schemas.microsoft.com/office/drawing/2014/main" id="{0C404AE8-BD07-CE94-816E-A8E81464E1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gray">
          <a:xfrm>
            <a:off x="1463675" y="5153025"/>
            <a:ext cx="2166938" cy="1358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5489" name="Group 18">
            <a:extLst>
              <a:ext uri="{FF2B5EF4-FFF2-40B4-BE49-F238E27FC236}">
                <a16:creationId xmlns:a16="http://schemas.microsoft.com/office/drawing/2014/main" id="{7243C2C6-A516-1517-AFA9-9AA1E5182A2A}"/>
              </a:ext>
            </a:extLst>
          </p:cNvPr>
          <p:cNvGrpSpPr/>
          <p:nvPr/>
        </p:nvGrpSpPr>
        <p:grpSpPr>
          <a:xfrm>
            <a:off x="1458913" y="6022975"/>
            <a:ext cx="2192337" cy="561975"/>
            <a:chOff x="1014" y="3696"/>
            <a:chExt cx="4660" cy="406"/>
          </a:xfrm>
        </p:grpSpPr>
        <p:sp>
          <p:nvSpPr>
            <p:cNvPr id="105517" name="Freeform 19">
              <a:extLst>
                <a:ext uri="{FF2B5EF4-FFF2-40B4-BE49-F238E27FC236}">
                  <a16:creationId xmlns:a16="http://schemas.microsoft.com/office/drawing/2014/main" id="{79F18BA0-3FF0-4BE4-C198-CD359C2E283B}"/>
                </a:ext>
              </a:extLst>
            </p:cNvPr>
            <p:cNvSpPr/>
            <p:nvPr/>
          </p:nvSpPr>
          <p:spPr bwMode="gray">
            <a:xfrm flipH="1">
              <a:off x="1014" y="3696"/>
              <a:ext cx="4660" cy="400"/>
            </a:xfrm>
            <a:custGeom>
              <a:gdLst>
                <a:gd name="T0" fmla="*/ 117 w 2631"/>
                <a:gd name="T1" fmla="*/ 22 h 642"/>
                <a:gd name="T2" fmla="*/ 0 w 2631"/>
                <a:gd name="T3" fmla="*/ 12 h 642"/>
                <a:gd name="T4" fmla="*/ 143872 w 2631"/>
                <a:gd name="T5" fmla="*/ 12 h 642"/>
                <a:gd name="T6" fmla="*/ 143872 w 2631"/>
                <a:gd name="T7" fmla="*/ 22 h 642"/>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2631" h="642">
                  <a:moveTo>
                    <a:pt x="2" y="611"/>
                  </a:moveTo>
                  <a:cubicBezTo>
                    <a:pt x="2" y="611"/>
                    <a:pt x="1" y="479"/>
                    <a:pt x="0" y="348"/>
                  </a:cubicBezTo>
                  <a:cubicBezTo>
                    <a:pt x="1073" y="0"/>
                    <a:pt x="981" y="642"/>
                    <a:pt x="2631" y="348"/>
                  </a:cubicBezTo>
                  <a:cubicBezTo>
                    <a:pt x="2631" y="473"/>
                    <a:pt x="2631" y="598"/>
                    <a:pt x="2631" y="598"/>
                  </a:cubicBezTo>
                </a:path>
              </a:pathLst>
            </a:custGeom>
            <a:solidFill>
              <a:schemeClr val="folHlink"/>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105518" name="Freeform 20">
              <a:extLst>
                <a:ext uri="{FF2B5EF4-FFF2-40B4-BE49-F238E27FC236}">
                  <a16:creationId xmlns:a16="http://schemas.microsoft.com/office/drawing/2014/main" id="{97688525-FBC2-8B1A-CB7F-5515C6E11EA8}"/>
                </a:ext>
              </a:extLst>
            </p:cNvPr>
            <p:cNvSpPr/>
            <p:nvPr/>
          </p:nvSpPr>
          <p:spPr bwMode="gray">
            <a:xfrm flipH="1">
              <a:off x="1038" y="3696"/>
              <a:ext cx="4619" cy="406"/>
            </a:xfrm>
            <a:custGeom>
              <a:gdLst>
                <a:gd name="T0" fmla="*/ 0 w 2631"/>
                <a:gd name="T1" fmla="*/ 12 h 652"/>
                <a:gd name="T2" fmla="*/ 135238 w 2631"/>
                <a:gd name="T3" fmla="*/ 12 h 652"/>
                <a:gd name="T4" fmla="*/ 0 60000 65536"/>
                <a:gd name="T5" fmla="*/ 0 60000 65536"/>
              </a:gdLst>
              <a:cxnLst>
                <a:cxn ang="T4">
                  <a:pos x="T0" y="T1"/>
                </a:cxn>
                <a:cxn ang="T5">
                  <a:pos x="T2" y="T3"/>
                </a:cxn>
              </a:cxnLst>
              <a:rect l="0" t="0" r="r" b="b"/>
              <a:pathLst>
                <a:path w="2631" h="652">
                  <a:moveTo>
                    <a:pt x="0" y="348"/>
                  </a:moveTo>
                  <a:cubicBezTo>
                    <a:pt x="1073" y="0"/>
                    <a:pt x="1083" y="652"/>
                    <a:pt x="2631" y="348"/>
                  </a:cubicBezTo>
                </a:path>
              </a:pathLst>
            </a:custGeom>
            <a:noFill/>
            <a:ln w="9525" cap="flat" cmpd="sng">
              <a:solidFill>
                <a:schemeClr val="accent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grpSp>
      <p:sp>
        <p:nvSpPr>
          <p:cNvPr id="105490" name="AutoShape 21">
            <a:extLst>
              <a:ext uri="{FF2B5EF4-FFF2-40B4-BE49-F238E27FC236}">
                <a16:creationId xmlns:a16="http://schemas.microsoft.com/office/drawing/2014/main" id="{AC815318-8C65-E14B-9C6A-5F101E1A7C75}"/>
              </a:ext>
            </a:extLst>
          </p:cNvPr>
          <p:cNvSpPr>
            <a:spLocks noChangeArrowheads="1"/>
          </p:cNvSpPr>
          <p:nvPr/>
        </p:nvSpPr>
        <p:spPr bwMode="auto">
          <a:xfrm>
            <a:off x="2417763" y="5454650"/>
            <a:ext cx="2224087" cy="1069975"/>
          </a:xfrm>
          <a:prstGeom prst="irregularSeal2">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2000" tIns="72000" rIns="72000" bIns="72000" anchor="ctr"/>
          <a:lstStyle>
            <a:lvl1pPr marL="5873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905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GB" altLang="ko-KR" sz="900" i="1">
                <a:solidFill>
                  <a:schemeClr val="bg1"/>
                </a:solidFill>
                <a:ea typeface="가는각진제목체" panose="02030600000101010101" pitchFamily="18" charset="-127"/>
              </a:rPr>
              <a:t>Measure longlist:</a:t>
            </a:r>
          </a:p>
          <a:p>
            <a:pPr algn="ctr">
              <a:spcBef>
                <a:spcPct val="0"/>
              </a:spcBef>
              <a:buClrTx/>
              <a:buFontTx/>
              <a:buNone/>
            </a:pPr>
            <a:r>
              <a:rPr lang="en-GB" altLang="ko-KR" sz="900" i="1">
                <a:solidFill>
                  <a:schemeClr val="bg1"/>
                </a:solidFill>
                <a:ea typeface="가는각진제목체" panose="02030600000101010101" pitchFamily="18" charset="-127"/>
              </a:rPr>
              <a:t>&gt; 100 measures</a:t>
            </a:r>
            <a:br>
              <a:rPr lang="en-GB" altLang="ko-KR" sz="900" i="1">
                <a:solidFill>
                  <a:schemeClr val="bg1"/>
                </a:solidFill>
                <a:ea typeface="가는각진제목체" panose="02030600000101010101" pitchFamily="18" charset="-127"/>
              </a:rPr>
            </a:br>
            <a:r>
              <a:rPr lang="en-GB" altLang="ko-KR" sz="900" i="1">
                <a:solidFill>
                  <a:schemeClr val="bg1"/>
                </a:solidFill>
                <a:ea typeface="가는각진제목체" panose="02030600000101010101" pitchFamily="18" charset="-127"/>
              </a:rPr>
              <a:t> for measure</a:t>
            </a:r>
            <a:br>
              <a:rPr lang="en-GB" altLang="ko-KR" sz="900" i="1">
                <a:solidFill>
                  <a:schemeClr val="bg1"/>
                </a:solidFill>
                <a:ea typeface="가는각진제목체" panose="02030600000101010101" pitchFamily="18" charset="-127"/>
              </a:rPr>
            </a:br>
            <a:r>
              <a:rPr lang="en-GB" altLang="ko-KR" sz="900" i="1">
                <a:solidFill>
                  <a:schemeClr val="bg1"/>
                </a:solidFill>
                <a:ea typeface="가는각진제목체" panose="02030600000101010101" pitchFamily="18" charset="-127"/>
              </a:rPr>
              <a:t>identification</a:t>
            </a:r>
          </a:p>
        </p:txBody>
      </p:sp>
      <p:sp>
        <p:nvSpPr>
          <p:cNvPr id="105491" name="Text Box 22">
            <a:extLst>
              <a:ext uri="{FF2B5EF4-FFF2-40B4-BE49-F238E27FC236}">
                <a16:creationId xmlns:a16="http://schemas.microsoft.com/office/drawing/2014/main" id="{F8C3E57D-4506-2483-4FFE-5292CB531493}"/>
              </a:ext>
            </a:extLst>
          </p:cNvPr>
          <p:cNvSpPr txBox="1">
            <a:spLocks noChangeArrowheads="1"/>
          </p:cNvSpPr>
          <p:nvPr/>
        </p:nvSpPr>
        <p:spPr bwMode="auto">
          <a:xfrm>
            <a:off x="5264150" y="3227388"/>
            <a:ext cx="404813" cy="682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GB" altLang="ko-KR" sz="1000">
                <a:ea typeface="가는각진제목체" panose="02030600000101010101" pitchFamily="18" charset="-127"/>
              </a:rPr>
              <a:t>Non-</a:t>
            </a:r>
            <a:br>
              <a:rPr lang="en-GB" altLang="ko-KR" sz="1000">
                <a:ea typeface="가는각진제목체" panose="02030600000101010101" pitchFamily="18" charset="-127"/>
              </a:rPr>
            </a:br>
            <a:r>
              <a:rPr lang="en-GB" altLang="ko-KR" sz="1000">
                <a:ea typeface="가는각진제목체" panose="02030600000101010101" pitchFamily="18" charset="-127"/>
              </a:rPr>
              <a:t>add-</a:t>
            </a:r>
            <a:br>
              <a:rPr lang="en-GB" altLang="ko-KR" sz="1000">
                <a:ea typeface="가는각진제목체" panose="02030600000101010101" pitchFamily="18" charset="-127"/>
              </a:rPr>
            </a:br>
            <a:r>
              <a:rPr lang="en-GB" altLang="ko-KR" sz="1000">
                <a:ea typeface="가는각진제목체" panose="02030600000101010101" pitchFamily="18" charset="-127"/>
              </a:rPr>
              <a:t>ress-</a:t>
            </a:r>
            <a:br>
              <a:rPr lang="en-GB" altLang="ko-KR" sz="1000">
                <a:ea typeface="가는각진제목체" panose="02030600000101010101" pitchFamily="18" charset="-127"/>
              </a:rPr>
            </a:br>
            <a:r>
              <a:rPr lang="en-GB" altLang="ko-KR" sz="1000">
                <a:ea typeface="가는각진제목체" panose="02030600000101010101" pitchFamily="18" charset="-127"/>
              </a:rPr>
              <a:t>able</a:t>
            </a:r>
            <a:br>
              <a:rPr lang="en-GB" altLang="ko-KR" sz="1000">
                <a:ea typeface="가는각진제목체" panose="02030600000101010101" pitchFamily="18" charset="-127"/>
              </a:rPr>
            </a:br>
            <a:r>
              <a:rPr lang="en-GB" altLang="ko-KR" sz="1000">
                <a:ea typeface="가는각진제목체" panose="02030600000101010101" pitchFamily="18" charset="-127"/>
              </a:rPr>
              <a:t>spend</a:t>
            </a:r>
          </a:p>
        </p:txBody>
      </p:sp>
      <p:sp>
        <p:nvSpPr>
          <p:cNvPr id="105492" name="Text Box 23">
            <a:extLst>
              <a:ext uri="{FF2B5EF4-FFF2-40B4-BE49-F238E27FC236}">
                <a16:creationId xmlns:a16="http://schemas.microsoft.com/office/drawing/2014/main" id="{1546E2CD-C45F-B3C5-D975-B41144C584E0}"/>
              </a:ext>
            </a:extLst>
          </p:cNvPr>
          <p:cNvSpPr txBox="1">
            <a:spLocks noChangeArrowheads="1"/>
          </p:cNvSpPr>
          <p:nvPr/>
        </p:nvSpPr>
        <p:spPr bwMode="auto">
          <a:xfrm>
            <a:off x="5264150" y="4740275"/>
            <a:ext cx="404813" cy="546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50000"/>
              </a:spcBef>
              <a:buFontTx/>
              <a:buNone/>
            </a:pPr>
            <a:r>
              <a:rPr lang="en-GB" altLang="ko-KR" sz="1000">
                <a:ea typeface="가는각진제목체" panose="02030600000101010101" pitchFamily="18" charset="-127"/>
              </a:rPr>
              <a:t>Add-</a:t>
            </a:r>
            <a:br>
              <a:rPr lang="en-GB" altLang="ko-KR" sz="1000">
                <a:ea typeface="가는각진제목체" panose="02030600000101010101" pitchFamily="18" charset="-127"/>
              </a:rPr>
            </a:br>
            <a:r>
              <a:rPr lang="en-GB" altLang="ko-KR" sz="1000">
                <a:ea typeface="가는각진제목체" panose="02030600000101010101" pitchFamily="18" charset="-127"/>
              </a:rPr>
              <a:t>ress-</a:t>
            </a:r>
            <a:br>
              <a:rPr lang="en-GB" altLang="ko-KR" sz="1000">
                <a:ea typeface="가는각진제목체" panose="02030600000101010101" pitchFamily="18" charset="-127"/>
              </a:rPr>
            </a:br>
            <a:r>
              <a:rPr lang="en-GB" altLang="ko-KR" sz="1000">
                <a:ea typeface="가는각진제목체" panose="02030600000101010101" pitchFamily="18" charset="-127"/>
              </a:rPr>
              <a:t>able</a:t>
            </a:r>
            <a:br>
              <a:rPr lang="en-GB" altLang="ko-KR" sz="1000">
                <a:ea typeface="가는각진제목체" panose="02030600000101010101" pitchFamily="18" charset="-127"/>
              </a:rPr>
            </a:br>
            <a:r>
              <a:rPr lang="en-GB" altLang="ko-KR" sz="1000">
                <a:ea typeface="가는각진제목체" panose="02030600000101010101" pitchFamily="18" charset="-127"/>
              </a:rPr>
              <a:t>spend</a:t>
            </a:r>
          </a:p>
        </p:txBody>
      </p:sp>
      <p:sp>
        <p:nvSpPr>
          <p:cNvPr id="105493" name="Text Box 24">
            <a:extLst>
              <a:ext uri="{FF2B5EF4-FFF2-40B4-BE49-F238E27FC236}">
                <a16:creationId xmlns:a16="http://schemas.microsoft.com/office/drawing/2014/main" id="{FBB89B7C-5D73-0896-42D6-5C752F32378D}"/>
              </a:ext>
            </a:extLst>
          </p:cNvPr>
          <p:cNvSpPr txBox="1">
            <a:spLocks noChangeArrowheads="1"/>
          </p:cNvSpPr>
          <p:nvPr/>
        </p:nvSpPr>
        <p:spPr bwMode="auto">
          <a:xfrm>
            <a:off x="5464175" y="6067425"/>
            <a:ext cx="128270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68288" indent="-2682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3188" indent="-1016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lvl="1" algn="ctr" eaLnBrk="1" hangingPunct="1">
              <a:spcBef>
                <a:spcPct val="20000"/>
              </a:spcBef>
              <a:buFontTx/>
              <a:buNone/>
            </a:pPr>
            <a:r>
              <a:rPr lang="en-GB" altLang="ko-KR" sz="1000">
                <a:ea typeface="가는각진제목체" panose="02030600000101010101" pitchFamily="18" charset="-127"/>
              </a:rPr>
              <a:t>Total baseline</a:t>
            </a:r>
          </a:p>
        </p:txBody>
      </p:sp>
      <p:sp>
        <p:nvSpPr>
          <p:cNvPr id="105494" name="Text Box 25">
            <a:extLst>
              <a:ext uri="{FF2B5EF4-FFF2-40B4-BE49-F238E27FC236}">
                <a16:creationId xmlns:a16="http://schemas.microsoft.com/office/drawing/2014/main" id="{0157F6F0-0EFD-BB78-881C-155C2DE9519C}"/>
              </a:ext>
            </a:extLst>
          </p:cNvPr>
          <p:cNvSpPr txBox="1">
            <a:spLocks noChangeArrowheads="1"/>
          </p:cNvSpPr>
          <p:nvPr/>
        </p:nvSpPr>
        <p:spPr bwMode="auto">
          <a:xfrm>
            <a:off x="6473825" y="3119438"/>
            <a:ext cx="1827213" cy="5953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68288" indent="-2682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3188" indent="-1016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lvl="1" eaLnBrk="1" hangingPunct="1">
              <a:spcBef>
                <a:spcPct val="20000"/>
              </a:spcBef>
              <a:buFontTx/>
              <a:buChar char="•"/>
            </a:pPr>
            <a:r>
              <a:rPr lang="en-GB" altLang="ko-KR" sz="800" b="0">
                <a:ea typeface="가는각진제목체" panose="02030600000101010101" pitchFamily="18" charset="-127"/>
              </a:rPr>
              <a:t>Locked contracts</a:t>
            </a:r>
          </a:p>
          <a:p>
            <a:pPr lvl="1" eaLnBrk="1" hangingPunct="1">
              <a:spcBef>
                <a:spcPct val="20000"/>
              </a:spcBef>
              <a:buFontTx/>
              <a:buChar char="•"/>
            </a:pPr>
            <a:r>
              <a:rPr lang="en-GB" altLang="ko-KR" sz="800" b="0">
                <a:ea typeface="가는각진제목체" panose="02030600000101010101" pitchFamily="18" charset="-127"/>
              </a:rPr>
              <a:t>Non-negotiable SLA and allocations</a:t>
            </a:r>
          </a:p>
          <a:p>
            <a:pPr lvl="1" eaLnBrk="1" hangingPunct="1">
              <a:spcBef>
                <a:spcPct val="20000"/>
              </a:spcBef>
              <a:buFontTx/>
              <a:buChar char="•"/>
            </a:pPr>
            <a:r>
              <a:rPr lang="en-GB" altLang="ko-KR" sz="800" b="0">
                <a:ea typeface="가는각진제목체" panose="02030600000101010101" pitchFamily="18" charset="-127"/>
              </a:rPr>
              <a:t>Strategy and site manage-</a:t>
            </a:r>
            <a:br>
              <a:rPr lang="en-GB" altLang="ko-KR" sz="800" b="0">
                <a:ea typeface="가는각진제목체" panose="02030600000101010101" pitchFamily="18" charset="-127"/>
              </a:rPr>
            </a:br>
            <a:r>
              <a:rPr lang="en-GB" altLang="ko-KR" sz="800" b="0">
                <a:ea typeface="가는각진제목체" panose="02030600000101010101" pitchFamily="18" charset="-127"/>
              </a:rPr>
              <a:t>ment (excluded)</a:t>
            </a:r>
          </a:p>
        </p:txBody>
      </p:sp>
      <p:sp>
        <p:nvSpPr>
          <p:cNvPr id="105495" name="Text Box 26">
            <a:extLst>
              <a:ext uri="{FF2B5EF4-FFF2-40B4-BE49-F238E27FC236}">
                <a16:creationId xmlns:a16="http://schemas.microsoft.com/office/drawing/2014/main" id="{A76C58B5-2ECC-B4B5-D81C-482C594D7007}"/>
              </a:ext>
            </a:extLst>
          </p:cNvPr>
          <p:cNvSpPr txBox="1">
            <a:spLocks noChangeArrowheads="1"/>
          </p:cNvSpPr>
          <p:nvPr/>
        </p:nvSpPr>
        <p:spPr bwMode="auto">
          <a:xfrm>
            <a:off x="7766050" y="6075363"/>
            <a:ext cx="1828800" cy="273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68288" indent="-2682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3188" indent="-1016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lvl="1" algn="ctr" eaLnBrk="1" hangingPunct="1">
              <a:spcBef>
                <a:spcPct val="20000"/>
              </a:spcBef>
              <a:buFontTx/>
              <a:buNone/>
            </a:pPr>
            <a:r>
              <a:rPr lang="en-GB" altLang="ko-KR" sz="1000">
                <a:ea typeface="가는각진제목체" panose="02030600000101010101" pitchFamily="18" charset="-127"/>
              </a:rPr>
              <a:t>Addressed spend</a:t>
            </a:r>
            <a:br>
              <a:rPr lang="en-GB" altLang="ko-KR" sz="1000">
                <a:ea typeface="가는각진제목체" panose="02030600000101010101" pitchFamily="18" charset="-127"/>
              </a:rPr>
            </a:br>
            <a:r>
              <a:rPr lang="en-GB" altLang="ko-KR" sz="1000">
                <a:ea typeface="가는각진제목체" panose="02030600000101010101" pitchFamily="18" charset="-127"/>
              </a:rPr>
              <a:t>after measures</a:t>
            </a:r>
          </a:p>
        </p:txBody>
      </p:sp>
      <p:sp>
        <p:nvSpPr>
          <p:cNvPr id="105496" name="Text Box 27">
            <a:extLst>
              <a:ext uri="{FF2B5EF4-FFF2-40B4-BE49-F238E27FC236}">
                <a16:creationId xmlns:a16="http://schemas.microsoft.com/office/drawing/2014/main" id="{9BF3349E-DB04-1CAB-6591-61327F079B7D}"/>
              </a:ext>
            </a:extLst>
          </p:cNvPr>
          <p:cNvSpPr txBox="1">
            <a:spLocks noChangeArrowheads="1"/>
          </p:cNvSpPr>
          <p:nvPr/>
        </p:nvSpPr>
        <p:spPr bwMode="auto">
          <a:xfrm>
            <a:off x="6740525" y="6067425"/>
            <a:ext cx="129222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68288" indent="-268288">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103188" indent="-1016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lvl="1" algn="ctr" eaLnBrk="1" hangingPunct="1">
              <a:spcBef>
                <a:spcPct val="20000"/>
              </a:spcBef>
              <a:buFontTx/>
              <a:buNone/>
            </a:pPr>
            <a:r>
              <a:rPr lang="en-GB" altLang="ko-KR" sz="1000">
                <a:ea typeface="가는각진제목체" panose="02030600000101010101" pitchFamily="18" charset="-127"/>
              </a:rPr>
              <a:t>Savings</a:t>
            </a:r>
          </a:p>
        </p:txBody>
      </p:sp>
      <p:sp>
        <p:nvSpPr>
          <p:cNvPr id="105497" name="Line 28">
            <a:extLst>
              <a:ext uri="{FF2B5EF4-FFF2-40B4-BE49-F238E27FC236}">
                <a16:creationId xmlns:a16="http://schemas.microsoft.com/office/drawing/2014/main" id="{5D21724F-1601-92CF-03C1-B1835A2598A0}"/>
              </a:ext>
            </a:extLst>
          </p:cNvPr>
          <p:cNvSpPr>
            <a:spLocks noChangeShapeType="1"/>
          </p:cNvSpPr>
          <p:nvPr/>
        </p:nvSpPr>
        <p:spPr bwMode="auto">
          <a:xfrm>
            <a:off x="6488113" y="4462463"/>
            <a:ext cx="1801812" cy="268287"/>
          </a:xfrm>
          <a:prstGeom prst="line">
            <a:avLst/>
          </a:prstGeom>
          <a:noFill/>
          <a:ln w="254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105498" name="Oval 29">
            <a:extLst>
              <a:ext uri="{FF2B5EF4-FFF2-40B4-BE49-F238E27FC236}">
                <a16:creationId xmlns:a16="http://schemas.microsoft.com/office/drawing/2014/main" id="{57479603-3E05-F0D4-5DD3-026D6F24F492}"/>
              </a:ext>
            </a:extLst>
          </p:cNvPr>
          <p:cNvSpPr>
            <a:spLocks noChangeArrowheads="1"/>
          </p:cNvSpPr>
          <p:nvPr/>
        </p:nvSpPr>
        <p:spPr bwMode="auto">
          <a:xfrm>
            <a:off x="7058025" y="4462463"/>
            <a:ext cx="633413" cy="304800"/>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GB" altLang="ko-KR" sz="1000" i="1">
                <a:solidFill>
                  <a:schemeClr val="bg1"/>
                </a:solidFill>
                <a:ea typeface="가는각진제목체" panose="02030600000101010101" pitchFamily="18" charset="-127"/>
              </a:rPr>
              <a:t>&gt;10%</a:t>
            </a:r>
          </a:p>
        </p:txBody>
      </p:sp>
      <p:sp>
        <p:nvSpPr>
          <p:cNvPr id="105499" name="Rectangle 30">
            <a:extLst>
              <a:ext uri="{FF2B5EF4-FFF2-40B4-BE49-F238E27FC236}">
                <a16:creationId xmlns:a16="http://schemas.microsoft.com/office/drawing/2014/main" id="{D8C1F81B-4F93-9FE5-3081-CDCF7B773097}"/>
              </a:ext>
            </a:extLst>
          </p:cNvPr>
          <p:cNvSpPr>
            <a:spLocks noChangeArrowheads="1"/>
          </p:cNvSpPr>
          <p:nvPr/>
        </p:nvSpPr>
        <p:spPr bwMode="auto">
          <a:xfrm>
            <a:off x="266700" y="2078038"/>
            <a:ext cx="4522788" cy="431800"/>
          </a:xfrm>
          <a:prstGeom prst="rect">
            <a:avLst/>
          </a:prstGeom>
          <a:solidFill>
            <a:schemeClr val="accent1"/>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GB" altLang="ko-KR" sz="1400">
                <a:solidFill>
                  <a:schemeClr val="bg1"/>
                </a:solidFill>
                <a:ea typeface="가는각진제목체" panose="02030600000101010101" pitchFamily="18" charset="-127"/>
              </a:rPr>
              <a:t>Dedicated 3-day G&amp;A workshops</a:t>
            </a:r>
            <a:endParaRPr lang="en-GB" altLang="ko-KR" sz="1400" baseline="30000">
              <a:solidFill>
                <a:schemeClr val="bg1"/>
              </a:solidFill>
              <a:ea typeface="가는각진제목체" panose="02030600000101010101" pitchFamily="18" charset="-127"/>
            </a:endParaRPr>
          </a:p>
        </p:txBody>
      </p:sp>
      <p:sp>
        <p:nvSpPr>
          <p:cNvPr id="105500" name="Rectangle 31">
            <a:extLst>
              <a:ext uri="{FF2B5EF4-FFF2-40B4-BE49-F238E27FC236}">
                <a16:creationId xmlns:a16="http://schemas.microsoft.com/office/drawing/2014/main" id="{A6DD4179-674F-6C00-280E-98F9AAEDBD82}"/>
              </a:ext>
            </a:extLst>
          </p:cNvPr>
          <p:cNvSpPr>
            <a:spLocks noChangeArrowheads="1"/>
          </p:cNvSpPr>
          <p:nvPr/>
        </p:nvSpPr>
        <p:spPr bwMode="auto">
          <a:xfrm>
            <a:off x="5114925" y="2078038"/>
            <a:ext cx="4522788" cy="431800"/>
          </a:xfrm>
          <a:prstGeom prst="rect">
            <a:avLst/>
          </a:prstGeom>
          <a:solidFill>
            <a:schemeClr val="accent1"/>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50000"/>
              </a:spcBef>
              <a:buClrTx/>
              <a:buFontTx/>
              <a:buNone/>
            </a:pPr>
            <a:r>
              <a:rPr lang="en-GB" altLang="ko-KR" sz="1400">
                <a:solidFill>
                  <a:schemeClr val="bg1"/>
                </a:solidFill>
                <a:ea typeface="가는각진제목체" panose="02030600000101010101" pitchFamily="18" charset="-127"/>
              </a:rPr>
              <a:t>Workshop impact</a:t>
            </a:r>
            <a:endParaRPr lang="en-GB" altLang="ko-KR" sz="1400" baseline="30000">
              <a:solidFill>
                <a:schemeClr val="bg1"/>
              </a:solidFill>
              <a:ea typeface="가는각진제목체" panose="02030600000101010101" pitchFamily="18" charset="-127"/>
            </a:endParaRPr>
          </a:p>
        </p:txBody>
      </p:sp>
      <p:sp>
        <p:nvSpPr>
          <p:cNvPr id="105501" name="Rectangle 32">
            <a:extLst>
              <a:ext uri="{FF2B5EF4-FFF2-40B4-BE49-F238E27FC236}">
                <a16:creationId xmlns:a16="http://schemas.microsoft.com/office/drawing/2014/main" id="{24178CBC-BE15-3D22-92EE-7698D825EB21}"/>
              </a:ext>
            </a:extLst>
          </p:cNvPr>
          <p:cNvSpPr>
            <a:spLocks noChangeArrowheads="1"/>
          </p:cNvSpPr>
          <p:nvPr/>
        </p:nvSpPr>
        <p:spPr bwMode="auto">
          <a:xfrm>
            <a:off x="265113" y="1614488"/>
            <a:ext cx="765333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800">
                <a:solidFill>
                  <a:srgbClr val="000000"/>
                </a:solidFill>
                <a:ea typeface="굴림" panose="020b0600000101010101" pitchFamily="34" charset="-127"/>
              </a:rPr>
              <a:t>G&amp;A Optimization</a:t>
            </a:r>
            <a:endParaRPr lang="en-GB" altLang="ko-KR" sz="1800">
              <a:solidFill>
                <a:srgbClr val="000000"/>
              </a:solidFill>
              <a:ea typeface="가는각진제목체" panose="02030600000101010101" pitchFamily="18" charset="-127"/>
            </a:endParaRPr>
          </a:p>
        </p:txBody>
      </p:sp>
      <p:sp>
        <p:nvSpPr>
          <p:cNvPr id="105502" name="Oval 33">
            <a:extLst>
              <a:ext uri="{FF2B5EF4-FFF2-40B4-BE49-F238E27FC236}">
                <a16:creationId xmlns:a16="http://schemas.microsoft.com/office/drawing/2014/main" id="{BEC2228A-BD1E-570C-ECE0-BAFF3BF0B643}"/>
              </a:ext>
            </a:extLst>
          </p:cNvPr>
          <p:cNvSpPr>
            <a:spLocks noChangeAspect="1" noChangeArrowheads="1"/>
          </p:cNvSpPr>
          <p:nvPr/>
        </p:nvSpPr>
        <p:spPr bwMode="auto">
          <a:xfrm>
            <a:off x="266700" y="612775"/>
            <a:ext cx="312738" cy="2889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54864"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800">
                <a:solidFill>
                  <a:schemeClr val="bg1"/>
                </a:solidFill>
                <a:ea typeface="가는각진제목체" panose="02030600000101010101" pitchFamily="18" charset="-127"/>
              </a:rPr>
              <a:t>4</a:t>
            </a:r>
          </a:p>
        </p:txBody>
      </p:sp>
      <p:sp>
        <p:nvSpPr>
          <p:cNvPr id="105503" name="Line 34">
            <a:extLst>
              <a:ext uri="{FF2B5EF4-FFF2-40B4-BE49-F238E27FC236}">
                <a16:creationId xmlns:a16="http://schemas.microsoft.com/office/drawing/2014/main" id="{7E07DD94-5C4E-7F06-8390-9AC1B4B6859C}"/>
              </a:ext>
            </a:extLst>
          </p:cNvPr>
          <p:cNvSpPr>
            <a:spLocks noChangeShapeType="1"/>
          </p:cNvSpPr>
          <p:nvPr/>
        </p:nvSpPr>
        <p:spPr bwMode="auto">
          <a:xfrm>
            <a:off x="6380163" y="4111625"/>
            <a:ext cx="677862" cy="0"/>
          </a:xfrm>
          <a:prstGeom prst="line">
            <a:avLst/>
          </a:prstGeom>
          <a:noFill/>
          <a:ln w="6350">
            <a:solidFill>
              <a:schemeClr val="bg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105504" name="Line 35">
            <a:extLst>
              <a:ext uri="{FF2B5EF4-FFF2-40B4-BE49-F238E27FC236}">
                <a16:creationId xmlns:a16="http://schemas.microsoft.com/office/drawing/2014/main" id="{1F2C689D-09D3-9921-1D7C-5A4F1F72F49A}"/>
              </a:ext>
            </a:extLst>
          </p:cNvPr>
          <p:cNvSpPr>
            <a:spLocks noChangeShapeType="1"/>
          </p:cNvSpPr>
          <p:nvPr/>
        </p:nvSpPr>
        <p:spPr bwMode="auto">
          <a:xfrm>
            <a:off x="7677150" y="4340225"/>
            <a:ext cx="677863" cy="0"/>
          </a:xfrm>
          <a:prstGeom prst="line">
            <a:avLst/>
          </a:prstGeom>
          <a:noFill/>
          <a:ln w="6350">
            <a:solidFill>
              <a:schemeClr val="bg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p>
            <a:endParaRPr lang="ko-KR" altLang="en-US"/>
          </a:p>
        </p:txBody>
      </p:sp>
      <p:sp>
        <p:nvSpPr>
          <p:cNvPr id="105505" name="Text Box 36">
            <a:extLst>
              <a:ext uri="{FF2B5EF4-FFF2-40B4-BE49-F238E27FC236}">
                <a16:creationId xmlns:a16="http://schemas.microsoft.com/office/drawing/2014/main" id="{DAA5EEAE-D09D-FE17-F92E-987E27A2A0EA}"/>
              </a:ext>
            </a:extLst>
          </p:cNvPr>
          <p:cNvSpPr txBox="1">
            <a:spLocks noChangeArrowheads="1"/>
          </p:cNvSpPr>
          <p:nvPr/>
        </p:nvSpPr>
        <p:spPr bwMode="auto">
          <a:xfrm>
            <a:off x="6856413" y="241300"/>
            <a:ext cx="2789237"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Sales-Driven Turnaround: Introduction</a:t>
            </a:r>
          </a:p>
        </p:txBody>
      </p:sp>
      <p:grpSp>
        <p:nvGrpSpPr>
          <p:cNvPr id="105506" name="Group 39">
            <a:extLst>
              <a:ext uri="{FF2B5EF4-FFF2-40B4-BE49-F238E27FC236}">
                <a16:creationId xmlns:a16="http://schemas.microsoft.com/office/drawing/2014/main" id="{779BADE3-BBC1-1515-88C7-F093B44D8821}"/>
              </a:ext>
            </a:extLst>
          </p:cNvPr>
          <p:cNvGrpSpPr>
            <a:grpSpLocks noChangeAspect="1"/>
          </p:cNvGrpSpPr>
          <p:nvPr/>
        </p:nvGrpSpPr>
        <p:grpSpPr>
          <a:xfrm>
            <a:off x="5326063" y="2574925"/>
            <a:ext cx="4195762" cy="3722688"/>
            <a:chOff x="3355" y="1622"/>
            <a:chExt cx="2643" cy="2345"/>
          </a:xfrm>
        </p:grpSpPr>
        <p:sp>
          <p:nvSpPr>
            <p:cNvPr id="105507" name="AutoShape 38">
              <a:extLst>
                <a:ext uri="{FF2B5EF4-FFF2-40B4-BE49-F238E27FC236}">
                  <a16:creationId xmlns:a16="http://schemas.microsoft.com/office/drawing/2014/main" id="{CD96B8BD-F4D3-8AC2-BED5-61A9AD929F29}"/>
                </a:ext>
              </a:extLst>
            </p:cNvPr>
            <p:cNvSpPr>
              <a:spLocks noChangeAspect="1" noChangeArrowheads="1" noTextEdit="1"/>
            </p:cNvSpPr>
            <p:nvPr/>
          </p:nvSpPr>
          <p:spPr bwMode="auto">
            <a:xfrm>
              <a:off x="3355" y="1622"/>
              <a:ext cx="2643" cy="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05508" name="Rectangle 40">
              <a:extLst>
                <a:ext uri="{FF2B5EF4-FFF2-40B4-BE49-F238E27FC236}">
                  <a16:creationId xmlns:a16="http://schemas.microsoft.com/office/drawing/2014/main" id="{00B86F19-9D86-7DC2-DC1E-01D1F1C6E087}"/>
                </a:ext>
              </a:extLst>
            </p:cNvPr>
            <p:cNvSpPr>
              <a:spLocks noChangeArrowheads="1"/>
            </p:cNvSpPr>
            <p:nvPr/>
          </p:nvSpPr>
          <p:spPr bwMode="auto">
            <a:xfrm>
              <a:off x="3662" y="2542"/>
              <a:ext cx="391" cy="1250"/>
            </a:xfrm>
            <a:prstGeom prst="rect">
              <a:avLst/>
            </a:prstGeom>
            <a:solidFill>
              <a:srgbClr val="969696"/>
            </a:solidFill>
            <a:ln w="11113">
              <a:solidFill>
                <a:srgbClr val="FFFFFF"/>
              </a:solidFill>
              <a:miter lim="800000"/>
            </a:ln>
          </p:spPr>
          <p:txBody>
            <a:bodyPr/>
            <a:lstStyle>
              <a:lvl1pPr>
                <a:defRPr sz="1400" b="1">
                  <a:solidFill>
                    <a:schemeClr val="tx1"/>
                  </a:solidFill>
                  <a:latin typeface="Arial" panose="020b0604020202020204" pitchFamily="34" charset="0"/>
                  <a:ea typeface="가는각진제목체" panose="02030600000101010101" pitchFamily="18" charset="-127"/>
                </a:defRPr>
              </a:lvl1pPr>
              <a:lvl2pPr marL="742950" indent="-285750">
                <a:defRPr sz="1400" b="1">
                  <a:solidFill>
                    <a:schemeClr val="tx1"/>
                  </a:solidFill>
                  <a:latin typeface="Arial" panose="020b0604020202020204" pitchFamily="34" charset="0"/>
                  <a:ea typeface="가는각진제목체" panose="02030600000101010101" pitchFamily="18" charset="-127"/>
                </a:defRPr>
              </a:lvl2pPr>
              <a:lvl3pPr marL="1143000" indent="-228600">
                <a:defRPr sz="1400" b="1">
                  <a:solidFill>
                    <a:schemeClr val="tx1"/>
                  </a:solidFill>
                  <a:latin typeface="Arial" panose="020b0604020202020204" pitchFamily="34" charset="0"/>
                  <a:ea typeface="가는각진제목체" panose="02030600000101010101" pitchFamily="18" charset="-127"/>
                </a:defRPr>
              </a:lvl3pPr>
              <a:lvl4pPr marL="1600200" indent="-228600">
                <a:defRPr sz="1400" b="1">
                  <a:solidFill>
                    <a:schemeClr val="tx1"/>
                  </a:solidFill>
                  <a:latin typeface="Arial" panose="020b0604020202020204" pitchFamily="34" charset="0"/>
                  <a:ea typeface="가는각진제목체" panose="02030600000101010101" pitchFamily="18" charset="-127"/>
                </a:defRPr>
              </a:lvl4pPr>
              <a:lvl5pPr marL="2057400" indent="-228600">
                <a:defRPr sz="1400" b="1">
                  <a:solidFill>
                    <a:schemeClr val="tx1"/>
                  </a:solidFill>
                  <a:latin typeface="Arial" panose="020b0604020202020204" pitchFamily="34" charset="0"/>
                  <a:ea typeface="가는각진제목체" panose="02030600000101010101" pitchFamily="18" charset="-127"/>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endParaRPr lang="ko-KR" altLang="en-US"/>
            </a:p>
          </p:txBody>
        </p:sp>
        <p:sp>
          <p:nvSpPr>
            <p:cNvPr id="105509" name="Rectangle 41">
              <a:extLst>
                <a:ext uri="{FF2B5EF4-FFF2-40B4-BE49-F238E27FC236}">
                  <a16:creationId xmlns:a16="http://schemas.microsoft.com/office/drawing/2014/main" id="{1D584248-F91A-C14A-4215-99DC09A86E4D}"/>
                </a:ext>
              </a:extLst>
            </p:cNvPr>
            <p:cNvSpPr>
              <a:spLocks noChangeArrowheads="1"/>
            </p:cNvSpPr>
            <p:nvPr/>
          </p:nvSpPr>
          <p:spPr bwMode="auto">
            <a:xfrm>
              <a:off x="5293" y="2752"/>
              <a:ext cx="391" cy="1040"/>
            </a:xfrm>
            <a:prstGeom prst="rect">
              <a:avLst/>
            </a:prstGeom>
            <a:solidFill>
              <a:srgbClr val="969696"/>
            </a:solidFill>
            <a:ln w="11113">
              <a:solidFill>
                <a:srgbClr val="FFFFFF"/>
              </a:solidFill>
              <a:miter lim="800000"/>
            </a:ln>
          </p:spPr>
          <p:txBody>
            <a:bodyPr/>
            <a:lstStyle>
              <a:lvl1pPr>
                <a:defRPr sz="1400" b="1">
                  <a:solidFill>
                    <a:schemeClr val="tx1"/>
                  </a:solidFill>
                  <a:latin typeface="Arial" panose="020b0604020202020204" pitchFamily="34" charset="0"/>
                  <a:ea typeface="가는각진제목체" panose="02030600000101010101" pitchFamily="18" charset="-127"/>
                </a:defRPr>
              </a:lvl1pPr>
              <a:lvl2pPr marL="742950" indent="-285750">
                <a:defRPr sz="1400" b="1">
                  <a:solidFill>
                    <a:schemeClr val="tx1"/>
                  </a:solidFill>
                  <a:latin typeface="Arial" panose="020b0604020202020204" pitchFamily="34" charset="0"/>
                  <a:ea typeface="가는각진제목체" panose="02030600000101010101" pitchFamily="18" charset="-127"/>
                </a:defRPr>
              </a:lvl2pPr>
              <a:lvl3pPr marL="1143000" indent="-228600">
                <a:defRPr sz="1400" b="1">
                  <a:solidFill>
                    <a:schemeClr val="tx1"/>
                  </a:solidFill>
                  <a:latin typeface="Arial" panose="020b0604020202020204" pitchFamily="34" charset="0"/>
                  <a:ea typeface="가는각진제목체" panose="02030600000101010101" pitchFamily="18" charset="-127"/>
                </a:defRPr>
              </a:lvl3pPr>
              <a:lvl4pPr marL="1600200" indent="-228600">
                <a:defRPr sz="1400" b="1">
                  <a:solidFill>
                    <a:schemeClr val="tx1"/>
                  </a:solidFill>
                  <a:latin typeface="Arial" panose="020b0604020202020204" pitchFamily="34" charset="0"/>
                  <a:ea typeface="가는각진제목체" panose="02030600000101010101" pitchFamily="18" charset="-127"/>
                </a:defRPr>
              </a:lvl4pPr>
              <a:lvl5pPr marL="2057400" indent="-228600">
                <a:defRPr sz="1400" b="1">
                  <a:solidFill>
                    <a:schemeClr val="tx1"/>
                  </a:solidFill>
                  <a:latin typeface="Arial" panose="020b0604020202020204" pitchFamily="34" charset="0"/>
                  <a:ea typeface="가는각진제목체" panose="02030600000101010101" pitchFamily="18" charset="-127"/>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endParaRPr lang="ko-KR" altLang="en-US"/>
            </a:p>
          </p:txBody>
        </p:sp>
        <p:sp>
          <p:nvSpPr>
            <p:cNvPr id="105510" name="Rectangle 42">
              <a:extLst>
                <a:ext uri="{FF2B5EF4-FFF2-40B4-BE49-F238E27FC236}">
                  <a16:creationId xmlns:a16="http://schemas.microsoft.com/office/drawing/2014/main" id="{89DA5259-0015-109F-F9E6-81FCAE7E895F}"/>
                </a:ext>
              </a:extLst>
            </p:cNvPr>
            <p:cNvSpPr>
              <a:spLocks noChangeArrowheads="1"/>
            </p:cNvSpPr>
            <p:nvPr/>
          </p:nvSpPr>
          <p:spPr bwMode="auto">
            <a:xfrm>
              <a:off x="3662" y="1922"/>
              <a:ext cx="391" cy="620"/>
            </a:xfrm>
            <a:prstGeom prst="rect">
              <a:avLst/>
            </a:prstGeom>
            <a:solidFill>
              <a:srgbClr val="B9B9B9"/>
            </a:solidFill>
            <a:ln w="11113">
              <a:solidFill>
                <a:srgbClr val="FFFFFF"/>
              </a:solidFill>
              <a:miter lim="800000"/>
            </a:ln>
          </p:spPr>
          <p:txBody>
            <a:bodyPr/>
            <a:lstStyle>
              <a:lvl1pPr>
                <a:defRPr sz="1400" b="1">
                  <a:solidFill>
                    <a:schemeClr val="tx1"/>
                  </a:solidFill>
                  <a:latin typeface="Arial" panose="020b0604020202020204" pitchFamily="34" charset="0"/>
                  <a:ea typeface="가는각진제목체" panose="02030600000101010101" pitchFamily="18" charset="-127"/>
                </a:defRPr>
              </a:lvl1pPr>
              <a:lvl2pPr marL="742950" indent="-285750">
                <a:defRPr sz="1400" b="1">
                  <a:solidFill>
                    <a:schemeClr val="tx1"/>
                  </a:solidFill>
                  <a:latin typeface="Arial" panose="020b0604020202020204" pitchFamily="34" charset="0"/>
                  <a:ea typeface="가는각진제목체" panose="02030600000101010101" pitchFamily="18" charset="-127"/>
                </a:defRPr>
              </a:lvl2pPr>
              <a:lvl3pPr marL="1143000" indent="-228600">
                <a:defRPr sz="1400" b="1">
                  <a:solidFill>
                    <a:schemeClr val="tx1"/>
                  </a:solidFill>
                  <a:latin typeface="Arial" panose="020b0604020202020204" pitchFamily="34" charset="0"/>
                  <a:ea typeface="가는각진제목체" panose="02030600000101010101" pitchFamily="18" charset="-127"/>
                </a:defRPr>
              </a:lvl3pPr>
              <a:lvl4pPr marL="1600200" indent="-228600">
                <a:defRPr sz="1400" b="1">
                  <a:solidFill>
                    <a:schemeClr val="tx1"/>
                  </a:solidFill>
                  <a:latin typeface="Arial" panose="020b0604020202020204" pitchFamily="34" charset="0"/>
                  <a:ea typeface="가는각진제목체" panose="02030600000101010101" pitchFamily="18" charset="-127"/>
                </a:defRPr>
              </a:lvl4pPr>
              <a:lvl5pPr marL="2057400" indent="-228600">
                <a:defRPr sz="1400" b="1">
                  <a:solidFill>
                    <a:schemeClr val="tx1"/>
                  </a:solidFill>
                  <a:latin typeface="Arial" panose="020b0604020202020204" pitchFamily="34" charset="0"/>
                  <a:ea typeface="가는각진제목체" panose="02030600000101010101" pitchFamily="18" charset="-127"/>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endParaRPr lang="ko-KR" altLang="en-US"/>
            </a:p>
          </p:txBody>
        </p:sp>
        <p:sp>
          <p:nvSpPr>
            <p:cNvPr id="105511" name="Rectangle 43">
              <a:extLst>
                <a:ext uri="{FF2B5EF4-FFF2-40B4-BE49-F238E27FC236}">
                  <a16:creationId xmlns:a16="http://schemas.microsoft.com/office/drawing/2014/main" id="{72BC0953-9B09-1889-8D49-0C8C753ED4B4}"/>
                </a:ext>
              </a:extLst>
            </p:cNvPr>
            <p:cNvSpPr>
              <a:spLocks noChangeArrowheads="1"/>
            </p:cNvSpPr>
            <p:nvPr/>
          </p:nvSpPr>
          <p:spPr bwMode="auto">
            <a:xfrm>
              <a:off x="4477" y="2542"/>
              <a:ext cx="392" cy="210"/>
            </a:xfrm>
            <a:prstGeom prst="rect">
              <a:avLst/>
            </a:prstGeom>
            <a:solidFill>
              <a:srgbClr val="0070C0"/>
            </a:solidFill>
            <a:ln w="11113">
              <a:solidFill>
                <a:srgbClr val="FFFFFF"/>
              </a:solidFill>
              <a:miter lim="800000"/>
            </a:ln>
          </p:spPr>
          <p:txBody>
            <a:bodyPr/>
            <a:lstStyle>
              <a:lvl1pPr>
                <a:defRPr sz="1400" b="1">
                  <a:solidFill>
                    <a:schemeClr val="tx1"/>
                  </a:solidFill>
                  <a:latin typeface="Arial" panose="020b0604020202020204" pitchFamily="34" charset="0"/>
                  <a:ea typeface="가는각진제목체" panose="02030600000101010101" pitchFamily="18" charset="-127"/>
                </a:defRPr>
              </a:lvl1pPr>
              <a:lvl2pPr marL="742950" indent="-285750">
                <a:defRPr sz="1400" b="1">
                  <a:solidFill>
                    <a:schemeClr val="tx1"/>
                  </a:solidFill>
                  <a:latin typeface="Arial" panose="020b0604020202020204" pitchFamily="34" charset="0"/>
                  <a:ea typeface="가는각진제목체" panose="02030600000101010101" pitchFamily="18" charset="-127"/>
                </a:defRPr>
              </a:lvl2pPr>
              <a:lvl3pPr marL="1143000" indent="-228600">
                <a:defRPr sz="1400" b="1">
                  <a:solidFill>
                    <a:schemeClr val="tx1"/>
                  </a:solidFill>
                  <a:latin typeface="Arial" panose="020b0604020202020204" pitchFamily="34" charset="0"/>
                  <a:ea typeface="가는각진제목체" panose="02030600000101010101" pitchFamily="18" charset="-127"/>
                </a:defRPr>
              </a:lvl3pPr>
              <a:lvl4pPr marL="1600200" indent="-228600">
                <a:defRPr sz="1400" b="1">
                  <a:solidFill>
                    <a:schemeClr val="tx1"/>
                  </a:solidFill>
                  <a:latin typeface="Arial" panose="020b0604020202020204" pitchFamily="34" charset="0"/>
                  <a:ea typeface="가는각진제목체" panose="02030600000101010101" pitchFamily="18" charset="-127"/>
                </a:defRPr>
              </a:lvl4pPr>
              <a:lvl5pPr marL="2057400" indent="-228600">
                <a:defRPr sz="1400" b="1">
                  <a:solidFill>
                    <a:schemeClr val="tx1"/>
                  </a:solidFill>
                  <a:latin typeface="Arial" panose="020b0604020202020204" pitchFamily="34" charset="0"/>
                  <a:ea typeface="가는각진제목체" panose="02030600000101010101" pitchFamily="18" charset="-127"/>
                </a:defRPr>
              </a:lvl5pPr>
              <a:lvl6pPr marL="25146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6pPr>
              <a:lvl7pPr marL="29718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7pPr>
              <a:lvl8pPr marL="34290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8pPr>
              <a:lvl9pPr marL="3886200" indent="-228600" eaLnBrk="0" fontAlgn="base" hangingPunct="0">
                <a:spcBef>
                  <a:spcPct val="0"/>
                </a:spcBef>
                <a:spcAft>
                  <a:spcPct val="0"/>
                </a:spcAft>
                <a:defRPr sz="1400" b="1">
                  <a:solidFill>
                    <a:schemeClr val="tx1"/>
                  </a:solidFill>
                  <a:latin typeface="Arial" panose="020b0604020202020204" pitchFamily="34" charset="0"/>
                  <a:ea typeface="가는각진제목체" panose="02030600000101010101" pitchFamily="18" charset="-127"/>
                </a:defRPr>
              </a:lvl9pPr>
            </a:lstStyle>
            <a:p>
              <a:endParaRPr lang="ko-KR" altLang="en-US"/>
            </a:p>
          </p:txBody>
        </p:sp>
        <p:sp>
          <p:nvSpPr>
            <p:cNvPr id="105512" name="Line 44">
              <a:extLst>
                <a:ext uri="{FF2B5EF4-FFF2-40B4-BE49-F238E27FC236}">
                  <a16:creationId xmlns:a16="http://schemas.microsoft.com/office/drawing/2014/main" id="{79658B20-03C6-9E83-F684-C87488DBDFD2}"/>
                </a:ext>
              </a:extLst>
            </p:cNvPr>
            <p:cNvSpPr>
              <a:spLocks noChangeShapeType="1"/>
            </p:cNvSpPr>
            <p:nvPr/>
          </p:nvSpPr>
          <p:spPr bwMode="auto">
            <a:xfrm>
              <a:off x="3453" y="3792"/>
              <a:ext cx="2446" cy="0"/>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105513" name="Line 45">
              <a:extLst>
                <a:ext uri="{FF2B5EF4-FFF2-40B4-BE49-F238E27FC236}">
                  <a16:creationId xmlns:a16="http://schemas.microsoft.com/office/drawing/2014/main" id="{8900D191-E977-EC2C-DC61-E949E59CC58F}"/>
                </a:ext>
              </a:extLst>
            </p:cNvPr>
            <p:cNvSpPr>
              <a:spLocks noChangeShapeType="1"/>
            </p:cNvSpPr>
            <p:nvPr/>
          </p:nvSpPr>
          <p:spPr bwMode="auto">
            <a:xfrm flipH="1" flipV="1">
              <a:off x="3453" y="3792"/>
              <a:ext cx="0" cy="24"/>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105514" name="Line 46">
              <a:extLst>
                <a:ext uri="{FF2B5EF4-FFF2-40B4-BE49-F238E27FC236}">
                  <a16:creationId xmlns:a16="http://schemas.microsoft.com/office/drawing/2014/main" id="{14DF9ECF-F270-3981-37CC-BBF4C95AE5F3}"/>
                </a:ext>
              </a:extLst>
            </p:cNvPr>
            <p:cNvSpPr>
              <a:spLocks noChangeShapeType="1"/>
            </p:cNvSpPr>
            <p:nvPr/>
          </p:nvSpPr>
          <p:spPr bwMode="auto">
            <a:xfrm flipH="1" flipV="1">
              <a:off x="4268" y="3792"/>
              <a:ext cx="0" cy="24"/>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105515" name="Line 47">
              <a:extLst>
                <a:ext uri="{FF2B5EF4-FFF2-40B4-BE49-F238E27FC236}">
                  <a16:creationId xmlns:a16="http://schemas.microsoft.com/office/drawing/2014/main" id="{0F04A947-1EC4-9701-35B4-3714B0931F9D}"/>
                </a:ext>
              </a:extLst>
            </p:cNvPr>
            <p:cNvSpPr>
              <a:spLocks noChangeShapeType="1"/>
            </p:cNvSpPr>
            <p:nvPr/>
          </p:nvSpPr>
          <p:spPr bwMode="auto">
            <a:xfrm flipH="1" flipV="1">
              <a:off x="5084" y="3792"/>
              <a:ext cx="0" cy="24"/>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sp>
          <p:nvSpPr>
            <p:cNvPr id="105516" name="Line 48">
              <a:extLst>
                <a:ext uri="{FF2B5EF4-FFF2-40B4-BE49-F238E27FC236}">
                  <a16:creationId xmlns:a16="http://schemas.microsoft.com/office/drawing/2014/main" id="{F7391915-2C08-DB33-7C80-F51431AADB8B}"/>
                </a:ext>
              </a:extLst>
            </p:cNvPr>
            <p:cNvSpPr>
              <a:spLocks noChangeShapeType="1"/>
            </p:cNvSpPr>
            <p:nvPr/>
          </p:nvSpPr>
          <p:spPr bwMode="auto">
            <a:xfrm flipH="1" flipV="1">
              <a:off x="5899" y="3792"/>
              <a:ext cx="0" cy="24"/>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ko-KR" altLang="en-US"/>
            </a:p>
          </p:txBody>
        </p:sp>
      </p:gr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07521" name="Rectangle 2">
            <a:extLst>
              <a:ext uri="{FF2B5EF4-FFF2-40B4-BE49-F238E27FC236}">
                <a16:creationId xmlns:a16="http://schemas.microsoft.com/office/drawing/2014/main" id="{F2228CDC-8DB1-EBB9-8C30-7FF6FFC0D50F}"/>
              </a:ext>
            </a:extLst>
          </p:cNvPr>
          <p:cNvSpPr>
            <a:spLocks noChangeArrowheads="1"/>
          </p:cNvSpPr>
          <p:nvPr/>
        </p:nvSpPr>
        <p:spPr bwMode="auto">
          <a:xfrm>
            <a:off x="266700" y="2586038"/>
            <a:ext cx="2963863" cy="4025900"/>
          </a:xfrm>
          <a:prstGeom prst="rect">
            <a:avLst/>
          </a:prstGeom>
          <a:solidFill>
            <a:schemeClr val="folHlink"/>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3152"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5138" indent="-1809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SzPct val="80000"/>
              <a:buFont typeface="Wingdings" pitchFamily="2" charset="2"/>
              <a:buNone/>
            </a:pPr>
            <a:endParaRPr lang="en-GB" altLang="ko-KR" sz="1200" b="0">
              <a:ea typeface="가는각진제목체" panose="02030600000101010101" pitchFamily="18" charset="-127"/>
            </a:endParaRPr>
          </a:p>
        </p:txBody>
      </p:sp>
      <p:sp>
        <p:nvSpPr>
          <p:cNvPr id="107522" name="Rectangle 3">
            <a:extLst>
              <a:ext uri="{FF2B5EF4-FFF2-40B4-BE49-F238E27FC236}">
                <a16:creationId xmlns:a16="http://schemas.microsoft.com/office/drawing/2014/main" id="{88E385C0-52F4-7AE4-E5AD-B985F93204A5}"/>
              </a:ext>
            </a:extLst>
          </p:cNvPr>
          <p:cNvSpPr>
            <a:spLocks noGrp="1" noChangeArrowheads="1"/>
          </p:cNvSpPr>
          <p:nvPr>
            <p:ph type="title"/>
          </p:nvPr>
        </p:nvSpPr>
        <p:spPr>
          <a:xfrm>
            <a:off x="266700" y="596900"/>
            <a:ext cx="9367838" cy="985838"/>
          </a:xfrm>
        </p:spPr>
        <p:txBody>
          <a:bodyPr/>
          <a:lstStyle/>
          <a:p>
            <a:pPr marL="341313"/>
            <a:r>
              <a:rPr lang="en-GB" altLang="ko-KR"/>
              <a:t>We established a strong backbone to steer the overall program with a multi-dimensional web-based tracking tool</a:t>
            </a:r>
          </a:p>
        </p:txBody>
      </p:sp>
      <p:sp>
        <p:nvSpPr>
          <p:cNvPr id="107523" name="Rectangle 4">
            <a:extLst>
              <a:ext uri="{FF2B5EF4-FFF2-40B4-BE49-F238E27FC236}">
                <a16:creationId xmlns:a16="http://schemas.microsoft.com/office/drawing/2014/main" id="{BBC8CCF6-A4D4-5484-08F9-515C170301CD}"/>
              </a:ext>
            </a:extLst>
          </p:cNvPr>
          <p:cNvSpPr>
            <a:spLocks noChangeArrowheads="1"/>
          </p:cNvSpPr>
          <p:nvPr/>
        </p:nvSpPr>
        <p:spPr bwMode="auto">
          <a:xfrm>
            <a:off x="266700" y="2171700"/>
            <a:ext cx="2963863" cy="431800"/>
          </a:xfrm>
          <a:prstGeom prst="rect">
            <a:avLst/>
          </a:prstGeom>
          <a:solidFill>
            <a:schemeClr val="accent1"/>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50000"/>
              </a:spcBef>
              <a:buClrTx/>
              <a:buFontTx/>
              <a:buNone/>
            </a:pPr>
            <a:r>
              <a:rPr lang="en-GB" altLang="ko-KR" sz="1400">
                <a:solidFill>
                  <a:schemeClr val="bg1"/>
                </a:solidFill>
                <a:ea typeface="가는각진제목체" panose="02030600000101010101" pitchFamily="18" charset="-127"/>
              </a:rPr>
              <a:t>Monthly measure ramp-up </a:t>
            </a:r>
            <a:endParaRPr lang="en-GB" altLang="ko-KR" sz="1400" baseline="30000">
              <a:solidFill>
                <a:schemeClr val="bg1"/>
              </a:solidFill>
              <a:ea typeface="가는각진제목체" panose="02030600000101010101" pitchFamily="18" charset="-127"/>
            </a:endParaRPr>
          </a:p>
        </p:txBody>
      </p:sp>
      <p:sp>
        <p:nvSpPr>
          <p:cNvPr id="107524" name="Rectangle 5">
            <a:extLst>
              <a:ext uri="{FF2B5EF4-FFF2-40B4-BE49-F238E27FC236}">
                <a16:creationId xmlns:a16="http://schemas.microsoft.com/office/drawing/2014/main" id="{35DDD5C3-B234-F00A-5C5E-4EC5EC12EAA5}"/>
              </a:ext>
            </a:extLst>
          </p:cNvPr>
          <p:cNvSpPr>
            <a:spLocks noChangeArrowheads="1"/>
          </p:cNvSpPr>
          <p:nvPr/>
        </p:nvSpPr>
        <p:spPr bwMode="auto">
          <a:xfrm>
            <a:off x="350838" y="4600575"/>
            <a:ext cx="468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000">
                <a:ea typeface="가는각진제목체" panose="02030600000101010101" pitchFamily="18" charset="-127"/>
              </a:rPr>
              <a:t>Σ </a:t>
            </a:r>
            <a:br>
              <a:rPr lang="en-GB" altLang="ko-KR" sz="1000">
                <a:ea typeface="가는각진제목체" panose="02030600000101010101" pitchFamily="18" charset="-127"/>
              </a:rPr>
            </a:br>
            <a:r>
              <a:rPr lang="en-GB" altLang="ko-KR" sz="1000">
                <a:ea typeface="가는각진제목체" panose="02030600000101010101" pitchFamily="18" charset="-127"/>
              </a:rPr>
              <a:t>(DI2 to </a:t>
            </a:r>
            <a:br>
              <a:rPr lang="en-GB" altLang="ko-KR" sz="1000">
                <a:ea typeface="가는각진제목체" panose="02030600000101010101" pitchFamily="18" charset="-127"/>
              </a:rPr>
            </a:br>
            <a:r>
              <a:rPr lang="en-GB" altLang="ko-KR" sz="1000">
                <a:ea typeface="가는각진제목체" panose="02030600000101010101" pitchFamily="18" charset="-127"/>
              </a:rPr>
              <a:t>DI5)</a:t>
            </a:r>
            <a:r>
              <a:rPr lang="en-GB" altLang="ko-KR" sz="1000" b="0">
                <a:ea typeface="가는각진제목체" panose="02030600000101010101" pitchFamily="18" charset="-127"/>
              </a:rPr>
              <a:t> </a:t>
            </a:r>
          </a:p>
        </p:txBody>
      </p:sp>
      <p:grpSp>
        <p:nvGrpSpPr>
          <p:cNvPr id="107525" name="Group 6">
            <a:extLst>
              <a:ext uri="{FF2B5EF4-FFF2-40B4-BE49-F238E27FC236}">
                <a16:creationId xmlns:a16="http://schemas.microsoft.com/office/drawing/2014/main" id="{080BC279-BBE1-EBC5-F06C-E9347C397839}"/>
              </a:ext>
            </a:extLst>
          </p:cNvPr>
          <p:cNvGrpSpPr/>
          <p:nvPr/>
        </p:nvGrpSpPr>
        <p:grpSpPr>
          <a:xfrm>
            <a:off x="661988" y="6276975"/>
            <a:ext cx="2146300" cy="144463"/>
            <a:chOff x="1314" y="3316"/>
            <a:chExt cx="1248" cy="91"/>
          </a:xfrm>
        </p:grpSpPr>
        <p:sp>
          <p:nvSpPr>
            <p:cNvPr id="107551" name="Rectangle 7">
              <a:extLst>
                <a:ext uri="{FF2B5EF4-FFF2-40B4-BE49-F238E27FC236}">
                  <a16:creationId xmlns:a16="http://schemas.microsoft.com/office/drawing/2014/main" id="{631251B7-4CAD-2B9D-0F8A-DF1F2752F4F9}"/>
                </a:ext>
              </a:extLst>
            </p:cNvPr>
            <p:cNvSpPr>
              <a:spLocks noChangeArrowheads="1"/>
            </p:cNvSpPr>
            <p:nvPr/>
          </p:nvSpPr>
          <p:spPr bwMode="auto">
            <a:xfrm>
              <a:off x="2085" y="3316"/>
              <a:ext cx="91" cy="91"/>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50000"/>
                </a:spcBef>
                <a:buClrTx/>
                <a:buFontTx/>
                <a:buNone/>
              </a:pPr>
              <a:r>
                <a:rPr lang="en-GB" altLang="ko-KR" sz="800" b="0">
                  <a:ea typeface="가는각진제목체" panose="02030600000101010101" pitchFamily="18" charset="-127"/>
                </a:rPr>
                <a:t>DI 4</a:t>
              </a:r>
              <a:endParaRPr lang="en-GB" altLang="ko-KR" sz="800" b="0" baseline="30000">
                <a:ea typeface="가는각진제목체" panose="02030600000101010101" pitchFamily="18" charset="-127"/>
              </a:endParaRPr>
            </a:p>
          </p:txBody>
        </p:sp>
        <p:sp>
          <p:nvSpPr>
            <p:cNvPr id="107552" name="Rectangle 8">
              <a:extLst>
                <a:ext uri="{FF2B5EF4-FFF2-40B4-BE49-F238E27FC236}">
                  <a16:creationId xmlns:a16="http://schemas.microsoft.com/office/drawing/2014/main" id="{21B363B3-3616-F054-3734-4DCC114C4DF5}"/>
                </a:ext>
              </a:extLst>
            </p:cNvPr>
            <p:cNvSpPr>
              <a:spLocks noChangeArrowheads="1"/>
            </p:cNvSpPr>
            <p:nvPr/>
          </p:nvSpPr>
          <p:spPr bwMode="auto">
            <a:xfrm>
              <a:off x="1699" y="3316"/>
              <a:ext cx="91" cy="91"/>
            </a:xfrm>
            <a:prstGeom prst="rect">
              <a:avLst/>
            </a:prstGeom>
            <a:solidFill>
              <a:schemeClr val="accent2"/>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800" b="0">
                  <a:ea typeface="가는각진제목체" panose="02030600000101010101" pitchFamily="18" charset="-127"/>
                </a:rPr>
                <a:t>DI 3</a:t>
              </a:r>
              <a:endParaRPr lang="en-GB" altLang="ko-KR" sz="800" b="0" baseline="30000">
                <a:ea typeface="가는각진제목체" panose="02030600000101010101" pitchFamily="18" charset="-127"/>
              </a:endParaRPr>
            </a:p>
          </p:txBody>
        </p:sp>
        <p:sp>
          <p:nvSpPr>
            <p:cNvPr id="107553" name="Rectangle 9">
              <a:extLst>
                <a:ext uri="{FF2B5EF4-FFF2-40B4-BE49-F238E27FC236}">
                  <a16:creationId xmlns:a16="http://schemas.microsoft.com/office/drawing/2014/main" id="{6C177C20-357D-13EC-4F20-A90CE7BBE284}"/>
                </a:ext>
              </a:extLst>
            </p:cNvPr>
            <p:cNvSpPr>
              <a:spLocks noChangeArrowheads="1"/>
            </p:cNvSpPr>
            <p:nvPr/>
          </p:nvSpPr>
          <p:spPr bwMode="auto">
            <a:xfrm>
              <a:off x="1314" y="3316"/>
              <a:ext cx="91" cy="91"/>
            </a:xfrm>
            <a:prstGeom prst="rect">
              <a:avLst/>
            </a:prstGeom>
            <a:solidFill>
              <a:schemeClr val="hlink"/>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800" b="0">
                  <a:ea typeface="가는각진제목체" panose="02030600000101010101" pitchFamily="18" charset="-127"/>
                </a:rPr>
                <a:t>DI 2</a:t>
              </a:r>
              <a:endParaRPr lang="en-GB" altLang="ko-KR" sz="800" b="0" baseline="30000">
                <a:ea typeface="가는각진제목체" panose="02030600000101010101" pitchFamily="18" charset="-127"/>
              </a:endParaRPr>
            </a:p>
          </p:txBody>
        </p:sp>
        <p:sp>
          <p:nvSpPr>
            <p:cNvPr id="107554" name="Rectangle 10">
              <a:extLst>
                <a:ext uri="{FF2B5EF4-FFF2-40B4-BE49-F238E27FC236}">
                  <a16:creationId xmlns:a16="http://schemas.microsoft.com/office/drawing/2014/main" id="{DCABE853-A72B-ACC6-3DF5-6C32EE8B051C}"/>
                </a:ext>
              </a:extLst>
            </p:cNvPr>
            <p:cNvSpPr>
              <a:spLocks noChangeArrowheads="1"/>
            </p:cNvSpPr>
            <p:nvPr/>
          </p:nvSpPr>
          <p:spPr bwMode="auto">
            <a:xfrm>
              <a:off x="2471" y="3316"/>
              <a:ext cx="91" cy="91"/>
            </a:xfrm>
            <a:prstGeom prst="rect">
              <a:avLst/>
            </a:prstGeom>
            <a:solidFill>
              <a:schemeClr val="bg2"/>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50000"/>
                </a:spcBef>
                <a:buClrTx/>
                <a:buFontTx/>
                <a:buNone/>
              </a:pPr>
              <a:r>
                <a:rPr lang="en-GB" altLang="ko-KR" sz="800" b="0">
                  <a:ea typeface="가는각진제목체" panose="02030600000101010101" pitchFamily="18" charset="-127"/>
                </a:rPr>
                <a:t>DI 5</a:t>
              </a:r>
              <a:endParaRPr lang="en-GB" altLang="ko-KR" sz="800" b="0" baseline="30000">
                <a:ea typeface="가는각진제목체" panose="02030600000101010101" pitchFamily="18" charset="-127"/>
              </a:endParaRPr>
            </a:p>
          </p:txBody>
        </p:sp>
      </p:grpSp>
      <p:sp>
        <p:nvSpPr>
          <p:cNvPr id="107526" name="Rectangle 11">
            <a:extLst>
              <a:ext uri="{FF2B5EF4-FFF2-40B4-BE49-F238E27FC236}">
                <a16:creationId xmlns:a16="http://schemas.microsoft.com/office/drawing/2014/main" id="{22067D66-B582-B2BD-1511-233E084A691E}"/>
              </a:ext>
            </a:extLst>
          </p:cNvPr>
          <p:cNvSpPr>
            <a:spLocks noChangeArrowheads="1"/>
          </p:cNvSpPr>
          <p:nvPr/>
        </p:nvSpPr>
        <p:spPr bwMode="auto">
          <a:xfrm>
            <a:off x="317500" y="2711450"/>
            <a:ext cx="636588"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1000" b="0">
                <a:ea typeface="가는각진제목체" panose="02030600000101010101" pitchFamily="18" charset="-127"/>
              </a:rPr>
              <a:t>(mil. EUR)</a:t>
            </a:r>
          </a:p>
        </p:txBody>
      </p:sp>
      <p:sp>
        <p:nvSpPr>
          <p:cNvPr id="107527" name="Rectangle 12">
            <a:extLst>
              <a:ext uri="{FF2B5EF4-FFF2-40B4-BE49-F238E27FC236}">
                <a16:creationId xmlns:a16="http://schemas.microsoft.com/office/drawing/2014/main" id="{712D1F01-0E75-596D-4B4E-663B638C6DEA}"/>
              </a:ext>
            </a:extLst>
          </p:cNvPr>
          <p:cNvSpPr>
            <a:spLocks noChangeArrowheads="1"/>
          </p:cNvSpPr>
          <p:nvPr/>
        </p:nvSpPr>
        <p:spPr bwMode="auto">
          <a:xfrm>
            <a:off x="6670675" y="2586038"/>
            <a:ext cx="2963863" cy="4025900"/>
          </a:xfrm>
          <a:prstGeom prst="rect">
            <a:avLst/>
          </a:prstGeom>
          <a:solidFill>
            <a:schemeClr val="folHlink"/>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108000" rIns="72000" bIns="72000"/>
          <a:lstStyle>
            <a:lvl1pPr marL="180975" indent="-1809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541338" indent="-1809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20000"/>
              </a:spcBef>
              <a:buClr>
                <a:srgbClr val="0070C0"/>
              </a:buClr>
              <a:buFontTx/>
              <a:buChar char="•"/>
            </a:pPr>
            <a:r>
              <a:rPr lang="en-US" altLang="ko-KR" sz="1400">
                <a:ea typeface="굴림" panose="020b0600000101010101" pitchFamily="34" charset="-127"/>
              </a:rPr>
              <a:t>Program</a:t>
            </a:r>
            <a:r>
              <a:rPr lang="en-US" altLang="ko-KR" sz="1400" b="0">
                <a:ea typeface="굴림" panose="020b0600000101010101" pitchFamily="34" charset="-127"/>
              </a:rPr>
              <a:t> </a:t>
            </a:r>
            <a:r>
              <a:rPr lang="en-US" altLang="ko-KR" sz="1400">
                <a:ea typeface="굴림" panose="020b0600000101010101" pitchFamily="34" charset="-127"/>
              </a:rPr>
              <a:t>structure</a:t>
            </a:r>
            <a:r>
              <a:rPr lang="en-US" altLang="ko-KR" sz="1400" b="0">
                <a:ea typeface="굴림" panose="020b0600000101010101" pitchFamily="34" charset="-127"/>
              </a:rPr>
              <a:t> with twelve initiatives established </a:t>
            </a:r>
          </a:p>
          <a:p>
            <a:pPr>
              <a:lnSpc>
                <a:spcPct val="85000"/>
              </a:lnSpc>
              <a:spcBef>
                <a:spcPct val="20000"/>
              </a:spcBef>
              <a:buClr>
                <a:srgbClr val="0070C0"/>
              </a:buClr>
              <a:buFontTx/>
              <a:buChar char="•"/>
            </a:pPr>
            <a:r>
              <a:rPr lang="en-US" altLang="ko-KR" sz="1400">
                <a:ea typeface="굴림" panose="020b0600000101010101" pitchFamily="34" charset="-127"/>
              </a:rPr>
              <a:t>Responsibilities and targets</a:t>
            </a:r>
            <a:r>
              <a:rPr lang="en-US" altLang="ko-KR" sz="1400" b="0">
                <a:ea typeface="굴림" panose="020b0600000101010101" pitchFamily="34" charset="-127"/>
              </a:rPr>
              <a:t> for each initiative defined and drivers appointed</a:t>
            </a:r>
          </a:p>
          <a:p>
            <a:pPr>
              <a:lnSpc>
                <a:spcPct val="85000"/>
              </a:lnSpc>
              <a:spcBef>
                <a:spcPct val="20000"/>
              </a:spcBef>
              <a:buClr>
                <a:srgbClr val="0070C0"/>
              </a:buClr>
              <a:buFontTx/>
              <a:buChar char="•"/>
            </a:pPr>
            <a:r>
              <a:rPr lang="en-US" altLang="ko-KR" sz="1400">
                <a:ea typeface="굴림" panose="020b0600000101010101" pitchFamily="34" charset="-127"/>
              </a:rPr>
              <a:t>Measures tracking</a:t>
            </a:r>
            <a:r>
              <a:rPr lang="en-US" altLang="ko-KR" sz="1400" b="0">
                <a:ea typeface="굴림" panose="020b0600000101010101" pitchFamily="34" charset="-127"/>
              </a:rPr>
              <a:t> in web-based measure tracking tool with degree-of-implementation logic established</a:t>
            </a:r>
          </a:p>
          <a:p>
            <a:pPr>
              <a:lnSpc>
                <a:spcPct val="85000"/>
              </a:lnSpc>
              <a:spcBef>
                <a:spcPct val="20000"/>
              </a:spcBef>
              <a:buClr>
                <a:srgbClr val="0070C0"/>
              </a:buClr>
              <a:buFontTx/>
              <a:buChar char="•"/>
            </a:pPr>
            <a:r>
              <a:rPr lang="en-US" altLang="ko-KR" sz="1400">
                <a:ea typeface="굴림" panose="020b0600000101010101" pitchFamily="34" charset="-127"/>
              </a:rPr>
              <a:t>Measure impact calculation</a:t>
            </a:r>
            <a:r>
              <a:rPr lang="en-US" altLang="ko-KR" sz="1400" b="0">
                <a:ea typeface="굴림" panose="020b0600000101010101" pitchFamily="34" charset="-127"/>
              </a:rPr>
              <a:t> </a:t>
            </a:r>
            <a:br>
              <a:rPr lang="en-US" altLang="ko-KR" sz="1400" b="0">
                <a:ea typeface="굴림" panose="020b0600000101010101" pitchFamily="34" charset="-127"/>
              </a:rPr>
            </a:br>
            <a:r>
              <a:rPr lang="en-US" altLang="ko-KR" sz="1400" b="0">
                <a:ea typeface="굴림" panose="020b0600000101010101" pitchFamily="34" charset="-127"/>
              </a:rPr>
              <a:t>in alignment with controlling implemented</a:t>
            </a:r>
          </a:p>
          <a:p>
            <a:pPr>
              <a:lnSpc>
                <a:spcPct val="85000"/>
              </a:lnSpc>
              <a:spcBef>
                <a:spcPct val="20000"/>
              </a:spcBef>
              <a:buClr>
                <a:srgbClr val="0070C0"/>
              </a:buClr>
              <a:buFontTx/>
              <a:buChar char="•"/>
            </a:pPr>
            <a:r>
              <a:rPr lang="en-US" altLang="ko-KR" sz="1400" b="0">
                <a:ea typeface="굴림" panose="020b0600000101010101" pitchFamily="34" charset="-127"/>
              </a:rPr>
              <a:t>Initial management rejection of </a:t>
            </a:r>
            <a:r>
              <a:rPr lang="en-US" altLang="ko-KR" sz="1400">
                <a:ea typeface="굴림" panose="020b0600000101010101" pitchFamily="34" charset="-127"/>
              </a:rPr>
              <a:t>measure tracking tool</a:t>
            </a:r>
            <a:r>
              <a:rPr lang="en-US" altLang="ko-KR" sz="1400" b="0">
                <a:ea typeface="굴림" panose="020b0600000101010101" pitchFamily="34" charset="-127"/>
              </a:rPr>
              <a:t> overcome by strong operatio-nalization and customization. Tracking tool used by all sites, regular reporting established</a:t>
            </a:r>
          </a:p>
          <a:p>
            <a:pPr>
              <a:lnSpc>
                <a:spcPct val="85000"/>
              </a:lnSpc>
              <a:spcBef>
                <a:spcPct val="20000"/>
              </a:spcBef>
              <a:buClr>
                <a:srgbClr val="0070C0"/>
              </a:buClr>
              <a:buFontTx/>
              <a:buChar char="•"/>
            </a:pPr>
            <a:r>
              <a:rPr lang="en-US" altLang="ko-KR" sz="1400">
                <a:ea typeface="굴림" panose="020b0600000101010101" pitchFamily="34" charset="-127"/>
              </a:rPr>
              <a:t>Implementation</a:t>
            </a:r>
            <a:r>
              <a:rPr lang="en-US" altLang="ko-KR" sz="1400" b="0">
                <a:ea typeface="굴림" panose="020b0600000101010101" pitchFamily="34" charset="-127"/>
              </a:rPr>
              <a:t> of about 500 measures ongoing</a:t>
            </a:r>
            <a:endParaRPr lang="en-GB" altLang="ko-KR" sz="1400" b="0">
              <a:ea typeface="가는각진제목체" panose="02030600000101010101" pitchFamily="18" charset="-127"/>
            </a:endParaRPr>
          </a:p>
        </p:txBody>
      </p:sp>
      <p:sp>
        <p:nvSpPr>
          <p:cNvPr id="107528" name="Rectangle 13">
            <a:extLst>
              <a:ext uri="{FF2B5EF4-FFF2-40B4-BE49-F238E27FC236}">
                <a16:creationId xmlns:a16="http://schemas.microsoft.com/office/drawing/2014/main" id="{BD88A021-C52F-CDF6-0B91-C0B435433C34}"/>
              </a:ext>
            </a:extLst>
          </p:cNvPr>
          <p:cNvSpPr>
            <a:spLocks noChangeArrowheads="1"/>
          </p:cNvSpPr>
          <p:nvPr/>
        </p:nvSpPr>
        <p:spPr bwMode="auto">
          <a:xfrm>
            <a:off x="3468688" y="4851400"/>
            <a:ext cx="2963862" cy="1760538"/>
          </a:xfrm>
          <a:prstGeom prst="rect">
            <a:avLst/>
          </a:prstGeom>
          <a:solidFill>
            <a:schemeClr val="folHlink"/>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3152"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5138" indent="-1809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SzPct val="80000"/>
              <a:buFont typeface="Wingdings" pitchFamily="2" charset="2"/>
              <a:buNone/>
            </a:pPr>
            <a:endParaRPr lang="en-GB" altLang="ko-KR" sz="1200" b="0">
              <a:ea typeface="가는각진제목체" panose="02030600000101010101" pitchFamily="18" charset="-127"/>
            </a:endParaRPr>
          </a:p>
          <a:p>
            <a:pPr>
              <a:spcBef>
                <a:spcPct val="20000"/>
              </a:spcBef>
              <a:buSzPct val="80000"/>
              <a:buFont typeface="Wingdings" pitchFamily="2" charset="2"/>
              <a:buNone/>
            </a:pPr>
            <a:endParaRPr lang="en-GB" altLang="ko-KR" sz="1200" b="0">
              <a:ea typeface="가는각진제목체" panose="02030600000101010101" pitchFamily="18" charset="-127"/>
            </a:endParaRPr>
          </a:p>
        </p:txBody>
      </p:sp>
      <p:sp>
        <p:nvSpPr>
          <p:cNvPr id="107529" name="Rectangle 14">
            <a:extLst>
              <a:ext uri="{FF2B5EF4-FFF2-40B4-BE49-F238E27FC236}">
                <a16:creationId xmlns:a16="http://schemas.microsoft.com/office/drawing/2014/main" id="{3E062118-3CD4-96E3-C789-D6ED68DEA496}"/>
              </a:ext>
            </a:extLst>
          </p:cNvPr>
          <p:cNvSpPr>
            <a:spLocks noChangeArrowheads="1"/>
          </p:cNvSpPr>
          <p:nvPr/>
        </p:nvSpPr>
        <p:spPr bwMode="auto">
          <a:xfrm>
            <a:off x="3468688" y="2603500"/>
            <a:ext cx="2963862" cy="1760538"/>
          </a:xfrm>
          <a:prstGeom prst="rect">
            <a:avLst/>
          </a:prstGeom>
          <a:solidFill>
            <a:schemeClr val="folHlink"/>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3152" rIns="72000" bIns="7200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5138" indent="-1809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625475" indent="-163513">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795338" indent="-1682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957263" indent="-160338">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4144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8716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3288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786063" indent="-160338"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20000"/>
              </a:spcBef>
              <a:buSzPct val="80000"/>
              <a:buFont typeface="Wingdings" pitchFamily="2" charset="2"/>
              <a:buNone/>
            </a:pPr>
            <a:endParaRPr lang="en-GB" altLang="ko-KR" sz="1200" b="0">
              <a:ea typeface="가는각진제목체" panose="02030600000101010101" pitchFamily="18" charset="-127"/>
            </a:endParaRPr>
          </a:p>
          <a:p>
            <a:pPr>
              <a:spcBef>
                <a:spcPct val="20000"/>
              </a:spcBef>
              <a:buSzPct val="80000"/>
              <a:buFont typeface="Wingdings" pitchFamily="2" charset="2"/>
              <a:buNone/>
            </a:pPr>
            <a:endParaRPr lang="en-GB" altLang="ko-KR" sz="1200" b="0">
              <a:ea typeface="가는각진제목체" panose="02030600000101010101" pitchFamily="18" charset="-127"/>
            </a:endParaRPr>
          </a:p>
        </p:txBody>
      </p:sp>
      <p:sp>
        <p:nvSpPr>
          <p:cNvPr id="107530" name="Rectangle 15">
            <a:extLst>
              <a:ext uri="{FF2B5EF4-FFF2-40B4-BE49-F238E27FC236}">
                <a16:creationId xmlns:a16="http://schemas.microsoft.com/office/drawing/2014/main" id="{0EAAE07B-8DF3-B807-CCE7-70FB5A001B6B}"/>
              </a:ext>
            </a:extLst>
          </p:cNvPr>
          <p:cNvSpPr>
            <a:spLocks noChangeArrowheads="1"/>
          </p:cNvSpPr>
          <p:nvPr/>
        </p:nvSpPr>
        <p:spPr bwMode="auto">
          <a:xfrm>
            <a:off x="3468688" y="4419600"/>
            <a:ext cx="2963862" cy="431800"/>
          </a:xfrm>
          <a:prstGeom prst="rect">
            <a:avLst/>
          </a:prstGeom>
          <a:solidFill>
            <a:schemeClr val="accent1"/>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50000"/>
              </a:spcBef>
              <a:buClrTx/>
              <a:buFontTx/>
              <a:buNone/>
            </a:pPr>
            <a:r>
              <a:rPr lang="en-GB" altLang="ko-KR" sz="1400">
                <a:solidFill>
                  <a:schemeClr val="bg1"/>
                </a:solidFill>
                <a:ea typeface="가는각진제목체" panose="02030600000101010101" pitchFamily="18" charset="-127"/>
              </a:rPr>
              <a:t>Measures by initiative</a:t>
            </a:r>
            <a:endParaRPr lang="en-GB" altLang="ko-KR" sz="1400" baseline="30000">
              <a:solidFill>
                <a:schemeClr val="bg1"/>
              </a:solidFill>
              <a:ea typeface="가는각진제목체" panose="02030600000101010101" pitchFamily="18" charset="-127"/>
            </a:endParaRPr>
          </a:p>
        </p:txBody>
      </p:sp>
      <p:sp>
        <p:nvSpPr>
          <p:cNvPr id="107531" name="Text Box 16">
            <a:extLst>
              <a:ext uri="{FF2B5EF4-FFF2-40B4-BE49-F238E27FC236}">
                <a16:creationId xmlns:a16="http://schemas.microsoft.com/office/drawing/2014/main" id="{E1C50107-1EE8-AE26-4E4E-6534731FACB2}"/>
              </a:ext>
            </a:extLst>
          </p:cNvPr>
          <p:cNvSpPr txBox="1">
            <a:spLocks noChangeArrowheads="1"/>
          </p:cNvSpPr>
          <p:nvPr/>
        </p:nvSpPr>
        <p:spPr bwMode="auto">
          <a:xfrm>
            <a:off x="3503613" y="4124325"/>
            <a:ext cx="231775" cy="109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GB" altLang="ko-KR" sz="800">
                <a:ea typeface="가는각진제목체" panose="02030600000101010101" pitchFamily="18" charset="-127"/>
              </a:rPr>
              <a:t>Site</a:t>
            </a:r>
          </a:p>
        </p:txBody>
      </p:sp>
      <p:sp>
        <p:nvSpPr>
          <p:cNvPr id="107532" name="Text Box 17">
            <a:extLst>
              <a:ext uri="{FF2B5EF4-FFF2-40B4-BE49-F238E27FC236}">
                <a16:creationId xmlns:a16="http://schemas.microsoft.com/office/drawing/2014/main" id="{9AFB5999-9620-3A2F-8DA9-9D2C8BBA3328}"/>
              </a:ext>
            </a:extLst>
          </p:cNvPr>
          <p:cNvSpPr txBox="1">
            <a:spLocks noChangeArrowheads="1"/>
          </p:cNvSpPr>
          <p:nvPr/>
        </p:nvSpPr>
        <p:spPr bwMode="auto">
          <a:xfrm>
            <a:off x="3548063" y="6338888"/>
            <a:ext cx="338137" cy="219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eaLnBrk="1" hangingPunct="1">
              <a:spcBef>
                <a:spcPct val="50000"/>
              </a:spcBef>
              <a:buFontTx/>
              <a:buNone/>
            </a:pPr>
            <a:r>
              <a:rPr lang="en-GB" altLang="ko-KR" sz="800">
                <a:ea typeface="가는각진제목체" panose="02030600000101010101" pitchFamily="18" charset="-127"/>
              </a:rPr>
              <a:t>Initia-tive</a:t>
            </a:r>
          </a:p>
        </p:txBody>
      </p:sp>
      <p:grpSp>
        <p:nvGrpSpPr>
          <p:cNvPr id="107533" name="Group 18">
            <a:extLst>
              <a:ext uri="{FF2B5EF4-FFF2-40B4-BE49-F238E27FC236}">
                <a16:creationId xmlns:a16="http://schemas.microsoft.com/office/drawing/2014/main" id="{4399051B-0E60-5051-1439-A291B2218D7C}"/>
              </a:ext>
            </a:extLst>
          </p:cNvPr>
          <p:cNvGrpSpPr/>
          <p:nvPr/>
        </p:nvGrpSpPr>
        <p:grpSpPr>
          <a:xfrm>
            <a:off x="4932363" y="2711450"/>
            <a:ext cx="1130300" cy="114300"/>
            <a:chOff x="4581" y="3407"/>
            <a:chExt cx="794" cy="91"/>
          </a:xfrm>
        </p:grpSpPr>
        <p:sp>
          <p:nvSpPr>
            <p:cNvPr id="107548" name="Rectangle 19">
              <a:extLst>
                <a:ext uri="{FF2B5EF4-FFF2-40B4-BE49-F238E27FC236}">
                  <a16:creationId xmlns:a16="http://schemas.microsoft.com/office/drawing/2014/main" id="{9AA85DB8-6741-203A-BC91-ED0BCDAD1B55}"/>
                </a:ext>
              </a:extLst>
            </p:cNvPr>
            <p:cNvSpPr>
              <a:spLocks noChangeArrowheads="1"/>
            </p:cNvSpPr>
            <p:nvPr/>
          </p:nvSpPr>
          <p:spPr bwMode="auto">
            <a:xfrm>
              <a:off x="5284" y="3407"/>
              <a:ext cx="91" cy="91"/>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50000"/>
                </a:spcBef>
                <a:buClrTx/>
                <a:buFontTx/>
                <a:buNone/>
              </a:pPr>
              <a:r>
                <a:rPr lang="en-GB" altLang="ko-KR" sz="800" b="0">
                  <a:ea typeface="가는각진제목체" panose="02030600000101010101" pitchFamily="18" charset="-127"/>
                </a:rPr>
                <a:t>DI 4</a:t>
              </a:r>
              <a:endParaRPr lang="en-GB" altLang="ko-KR" sz="800" b="0" baseline="30000">
                <a:ea typeface="가는각진제목체" panose="02030600000101010101" pitchFamily="18" charset="-127"/>
              </a:endParaRPr>
            </a:p>
          </p:txBody>
        </p:sp>
        <p:sp>
          <p:nvSpPr>
            <p:cNvPr id="107549" name="Rectangle 20">
              <a:extLst>
                <a:ext uri="{FF2B5EF4-FFF2-40B4-BE49-F238E27FC236}">
                  <a16:creationId xmlns:a16="http://schemas.microsoft.com/office/drawing/2014/main" id="{053408CA-BA26-077B-CABA-0CB6D575C1B8}"/>
                </a:ext>
              </a:extLst>
            </p:cNvPr>
            <p:cNvSpPr>
              <a:spLocks noChangeArrowheads="1"/>
            </p:cNvSpPr>
            <p:nvPr/>
          </p:nvSpPr>
          <p:spPr bwMode="auto">
            <a:xfrm>
              <a:off x="4931" y="3407"/>
              <a:ext cx="91" cy="91"/>
            </a:xfrm>
            <a:prstGeom prst="rect">
              <a:avLst/>
            </a:prstGeom>
            <a:solidFill>
              <a:schemeClr val="accent2"/>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800" b="0">
                  <a:ea typeface="가는각진제목체" panose="02030600000101010101" pitchFamily="18" charset="-127"/>
                </a:rPr>
                <a:t>DI 3</a:t>
              </a:r>
              <a:endParaRPr lang="en-GB" altLang="ko-KR" sz="800" b="0" baseline="30000">
                <a:ea typeface="가는각진제목체" panose="02030600000101010101" pitchFamily="18" charset="-127"/>
              </a:endParaRPr>
            </a:p>
          </p:txBody>
        </p:sp>
        <p:sp>
          <p:nvSpPr>
            <p:cNvPr id="107550" name="Rectangle 21">
              <a:extLst>
                <a:ext uri="{FF2B5EF4-FFF2-40B4-BE49-F238E27FC236}">
                  <a16:creationId xmlns:a16="http://schemas.microsoft.com/office/drawing/2014/main" id="{466C85E5-3C1F-E332-7F10-D7D74B5E2940}"/>
                </a:ext>
              </a:extLst>
            </p:cNvPr>
            <p:cNvSpPr>
              <a:spLocks noChangeArrowheads="1"/>
            </p:cNvSpPr>
            <p:nvPr/>
          </p:nvSpPr>
          <p:spPr bwMode="auto">
            <a:xfrm>
              <a:off x="4581" y="3407"/>
              <a:ext cx="91" cy="91"/>
            </a:xfrm>
            <a:prstGeom prst="rect">
              <a:avLst/>
            </a:prstGeom>
            <a:solidFill>
              <a:schemeClr val="hlink"/>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800" b="0">
                  <a:ea typeface="가는각진제목체" panose="02030600000101010101" pitchFamily="18" charset="-127"/>
                </a:rPr>
                <a:t>DI 2</a:t>
              </a:r>
              <a:endParaRPr lang="en-GB" altLang="ko-KR" sz="800" b="0" baseline="30000">
                <a:ea typeface="가는각진제목체" panose="02030600000101010101" pitchFamily="18" charset="-127"/>
              </a:endParaRPr>
            </a:p>
          </p:txBody>
        </p:sp>
      </p:grpSp>
      <p:sp>
        <p:nvSpPr>
          <p:cNvPr id="107534" name="Rectangle 22">
            <a:extLst>
              <a:ext uri="{FF2B5EF4-FFF2-40B4-BE49-F238E27FC236}">
                <a16:creationId xmlns:a16="http://schemas.microsoft.com/office/drawing/2014/main" id="{96932448-3420-BF0F-CAA5-D26DD2BD6724}"/>
              </a:ext>
            </a:extLst>
          </p:cNvPr>
          <p:cNvSpPr>
            <a:spLocks noChangeArrowheads="1"/>
          </p:cNvSpPr>
          <p:nvPr/>
        </p:nvSpPr>
        <p:spPr bwMode="auto">
          <a:xfrm>
            <a:off x="3546475" y="2709863"/>
            <a:ext cx="2682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800" b="0">
                <a:ea typeface="가는각진제목체" panose="02030600000101010101" pitchFamily="18" charset="-127"/>
              </a:rPr>
              <a:t>(mil.</a:t>
            </a:r>
            <a:br>
              <a:rPr lang="en-GB" altLang="ko-KR" sz="800" b="0">
                <a:ea typeface="가는각진제목체" panose="02030600000101010101" pitchFamily="18" charset="-127"/>
              </a:rPr>
            </a:br>
            <a:r>
              <a:rPr lang="en-GB" altLang="ko-KR" sz="800" b="0">
                <a:ea typeface="가는각진제목체" panose="02030600000101010101" pitchFamily="18" charset="-127"/>
              </a:rPr>
              <a:t>EUR)</a:t>
            </a:r>
          </a:p>
        </p:txBody>
      </p:sp>
      <p:sp>
        <p:nvSpPr>
          <p:cNvPr id="107535" name="Rectangle 23">
            <a:extLst>
              <a:ext uri="{FF2B5EF4-FFF2-40B4-BE49-F238E27FC236}">
                <a16:creationId xmlns:a16="http://schemas.microsoft.com/office/drawing/2014/main" id="{FAAAF7CF-456F-0439-1B0F-7107E8788A9B}"/>
              </a:ext>
            </a:extLst>
          </p:cNvPr>
          <p:cNvSpPr>
            <a:spLocks noChangeArrowheads="1"/>
          </p:cNvSpPr>
          <p:nvPr/>
        </p:nvSpPr>
        <p:spPr bwMode="auto">
          <a:xfrm>
            <a:off x="3546475" y="4956175"/>
            <a:ext cx="2682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100000"/>
              </a:lnSpc>
              <a:spcBef>
                <a:spcPct val="0"/>
              </a:spcBef>
              <a:buClrTx/>
              <a:buFontTx/>
              <a:buNone/>
            </a:pPr>
            <a:r>
              <a:rPr lang="en-GB" altLang="ko-KR" sz="800" b="0">
                <a:ea typeface="가는각진제목체" panose="02030600000101010101" pitchFamily="18" charset="-127"/>
              </a:rPr>
              <a:t>(mil.</a:t>
            </a:r>
            <a:br>
              <a:rPr lang="en-GB" altLang="ko-KR" sz="800" b="0">
                <a:ea typeface="가는각진제목체" panose="02030600000101010101" pitchFamily="18" charset="-127"/>
              </a:rPr>
            </a:br>
            <a:r>
              <a:rPr lang="en-GB" altLang="ko-KR" sz="800" b="0">
                <a:ea typeface="가는각진제목체" panose="02030600000101010101" pitchFamily="18" charset="-127"/>
              </a:rPr>
              <a:t>EUR)</a:t>
            </a:r>
          </a:p>
        </p:txBody>
      </p:sp>
      <p:grpSp>
        <p:nvGrpSpPr>
          <p:cNvPr id="107536" name="Group 24">
            <a:extLst>
              <a:ext uri="{FF2B5EF4-FFF2-40B4-BE49-F238E27FC236}">
                <a16:creationId xmlns:a16="http://schemas.microsoft.com/office/drawing/2014/main" id="{F2544CF3-6179-4931-72C1-EC2846D067D6}"/>
              </a:ext>
            </a:extLst>
          </p:cNvPr>
          <p:cNvGrpSpPr/>
          <p:nvPr/>
        </p:nvGrpSpPr>
        <p:grpSpPr>
          <a:xfrm>
            <a:off x="4837113" y="4965700"/>
            <a:ext cx="1130300" cy="114300"/>
            <a:chOff x="4581" y="3407"/>
            <a:chExt cx="794" cy="91"/>
          </a:xfrm>
        </p:grpSpPr>
        <p:sp>
          <p:nvSpPr>
            <p:cNvPr id="107545" name="Rectangle 25">
              <a:extLst>
                <a:ext uri="{FF2B5EF4-FFF2-40B4-BE49-F238E27FC236}">
                  <a16:creationId xmlns:a16="http://schemas.microsoft.com/office/drawing/2014/main" id="{64D0B82E-353D-2AB1-5445-52D8B556C2A2}"/>
                </a:ext>
              </a:extLst>
            </p:cNvPr>
            <p:cNvSpPr>
              <a:spLocks noChangeArrowheads="1"/>
            </p:cNvSpPr>
            <p:nvPr/>
          </p:nvSpPr>
          <p:spPr bwMode="auto">
            <a:xfrm>
              <a:off x="5284" y="3407"/>
              <a:ext cx="91" cy="91"/>
            </a:xfrm>
            <a:prstGeom prst="rect">
              <a:avLst/>
            </a:prstGeom>
            <a:solidFill>
              <a:schemeClr val="accent1"/>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85000"/>
                </a:lnSpc>
                <a:spcBef>
                  <a:spcPct val="50000"/>
                </a:spcBef>
                <a:buClrTx/>
                <a:buFontTx/>
                <a:buNone/>
              </a:pPr>
              <a:r>
                <a:rPr lang="en-GB" altLang="ko-KR" sz="800" b="0">
                  <a:ea typeface="가는각진제목체" panose="02030600000101010101" pitchFamily="18" charset="-127"/>
                </a:rPr>
                <a:t>DI 4</a:t>
              </a:r>
              <a:endParaRPr lang="en-GB" altLang="ko-KR" sz="800" b="0" baseline="30000">
                <a:ea typeface="가는각진제목체" panose="02030600000101010101" pitchFamily="18" charset="-127"/>
              </a:endParaRPr>
            </a:p>
          </p:txBody>
        </p:sp>
        <p:sp>
          <p:nvSpPr>
            <p:cNvPr id="107546" name="Rectangle 26">
              <a:extLst>
                <a:ext uri="{FF2B5EF4-FFF2-40B4-BE49-F238E27FC236}">
                  <a16:creationId xmlns:a16="http://schemas.microsoft.com/office/drawing/2014/main" id="{F4C04AB6-174F-00A7-1BA2-1FA2C80D1F0F}"/>
                </a:ext>
              </a:extLst>
            </p:cNvPr>
            <p:cNvSpPr>
              <a:spLocks noChangeArrowheads="1"/>
            </p:cNvSpPr>
            <p:nvPr/>
          </p:nvSpPr>
          <p:spPr bwMode="auto">
            <a:xfrm>
              <a:off x="4931" y="3407"/>
              <a:ext cx="91" cy="91"/>
            </a:xfrm>
            <a:prstGeom prst="rect">
              <a:avLst/>
            </a:prstGeom>
            <a:solidFill>
              <a:schemeClr val="accent2"/>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800" b="0">
                  <a:ea typeface="가는각진제목체" panose="02030600000101010101" pitchFamily="18" charset="-127"/>
                </a:rPr>
                <a:t>DI 3</a:t>
              </a:r>
              <a:endParaRPr lang="en-GB" altLang="ko-KR" sz="800" b="0" baseline="30000">
                <a:ea typeface="가는각진제목체" panose="02030600000101010101" pitchFamily="18" charset="-127"/>
              </a:endParaRPr>
            </a:p>
          </p:txBody>
        </p:sp>
        <p:sp>
          <p:nvSpPr>
            <p:cNvPr id="107547" name="Rectangle 27">
              <a:extLst>
                <a:ext uri="{FF2B5EF4-FFF2-40B4-BE49-F238E27FC236}">
                  <a16:creationId xmlns:a16="http://schemas.microsoft.com/office/drawing/2014/main" id="{EAF285D6-A5DE-14B9-5D2B-E8632AFF3138}"/>
                </a:ext>
              </a:extLst>
            </p:cNvPr>
            <p:cNvSpPr>
              <a:spLocks noChangeArrowheads="1"/>
            </p:cNvSpPr>
            <p:nvPr/>
          </p:nvSpPr>
          <p:spPr bwMode="auto">
            <a:xfrm>
              <a:off x="4581" y="3407"/>
              <a:ext cx="91" cy="91"/>
            </a:xfrm>
            <a:prstGeom prst="rect">
              <a:avLst/>
            </a:prstGeom>
            <a:solidFill>
              <a:schemeClr val="hlink"/>
            </a:solidFill>
            <a:ln w="9525"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45"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50000"/>
                </a:spcBef>
                <a:buClrTx/>
                <a:buFontTx/>
                <a:buNone/>
              </a:pPr>
              <a:r>
                <a:rPr lang="en-GB" altLang="ko-KR" sz="800" b="0">
                  <a:ea typeface="가는각진제목체" panose="02030600000101010101" pitchFamily="18" charset="-127"/>
                </a:rPr>
                <a:t>DI 2</a:t>
              </a:r>
              <a:endParaRPr lang="en-GB" altLang="ko-KR" sz="800" b="0" baseline="30000">
                <a:ea typeface="가는각진제목체" panose="02030600000101010101" pitchFamily="18" charset="-127"/>
              </a:endParaRPr>
            </a:p>
          </p:txBody>
        </p:sp>
      </p:grpSp>
      <p:sp>
        <p:nvSpPr>
          <p:cNvPr id="107537" name="Rectangle 28">
            <a:extLst>
              <a:ext uri="{FF2B5EF4-FFF2-40B4-BE49-F238E27FC236}">
                <a16:creationId xmlns:a16="http://schemas.microsoft.com/office/drawing/2014/main" id="{44B5D3D0-CB82-1AC1-040D-A61066D88666}"/>
              </a:ext>
            </a:extLst>
          </p:cNvPr>
          <p:cNvSpPr>
            <a:spLocks noChangeArrowheads="1"/>
          </p:cNvSpPr>
          <p:nvPr/>
        </p:nvSpPr>
        <p:spPr bwMode="auto">
          <a:xfrm>
            <a:off x="6670675" y="2171700"/>
            <a:ext cx="2963863" cy="431800"/>
          </a:xfrm>
          <a:prstGeom prst="rect">
            <a:avLst/>
          </a:prstGeom>
          <a:solidFill>
            <a:schemeClr val="accent1"/>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50000"/>
              </a:spcBef>
              <a:buClrTx/>
              <a:buFontTx/>
              <a:buNone/>
            </a:pPr>
            <a:r>
              <a:rPr lang="en-GB" altLang="ko-KR" sz="1400">
                <a:solidFill>
                  <a:schemeClr val="bg1"/>
                </a:solidFill>
                <a:ea typeface="가는각진제목체" panose="02030600000101010101" pitchFamily="18" charset="-127"/>
              </a:rPr>
              <a:t>Program Management achievements</a:t>
            </a:r>
            <a:endParaRPr lang="en-GB" altLang="ko-KR" sz="1400" baseline="30000">
              <a:solidFill>
                <a:schemeClr val="bg1"/>
              </a:solidFill>
              <a:ea typeface="가는각진제목체" panose="02030600000101010101" pitchFamily="18" charset="-127"/>
            </a:endParaRPr>
          </a:p>
        </p:txBody>
      </p:sp>
      <p:sp>
        <p:nvSpPr>
          <p:cNvPr id="107538" name="Rectangle 29">
            <a:extLst>
              <a:ext uri="{FF2B5EF4-FFF2-40B4-BE49-F238E27FC236}">
                <a16:creationId xmlns:a16="http://schemas.microsoft.com/office/drawing/2014/main" id="{FAED2136-02C6-88B3-CA44-8C160498BEAA}"/>
              </a:ext>
            </a:extLst>
          </p:cNvPr>
          <p:cNvSpPr>
            <a:spLocks noChangeArrowheads="1"/>
          </p:cNvSpPr>
          <p:nvPr/>
        </p:nvSpPr>
        <p:spPr bwMode="auto">
          <a:xfrm>
            <a:off x="3468688" y="2171700"/>
            <a:ext cx="2963862" cy="431800"/>
          </a:xfrm>
          <a:prstGeom prst="rect">
            <a:avLst/>
          </a:prstGeom>
          <a:solidFill>
            <a:schemeClr val="accent1"/>
          </a:solidFill>
          <a:ln>
            <a:noFill/>
          </a:ln>
          <a:effectLst/>
          <a:extLs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5000"/>
              </a:lnSpc>
              <a:spcBef>
                <a:spcPct val="50000"/>
              </a:spcBef>
              <a:buClrTx/>
              <a:buFontTx/>
              <a:buNone/>
            </a:pPr>
            <a:r>
              <a:rPr lang="en-GB" altLang="ko-KR" sz="1400">
                <a:solidFill>
                  <a:schemeClr val="bg1"/>
                </a:solidFill>
                <a:ea typeface="가는각진제목체" panose="02030600000101010101" pitchFamily="18" charset="-127"/>
              </a:rPr>
              <a:t>Measures by site</a:t>
            </a:r>
            <a:endParaRPr lang="en-GB" altLang="ko-KR" sz="1400" baseline="30000">
              <a:solidFill>
                <a:schemeClr val="bg1"/>
              </a:solidFill>
              <a:ea typeface="가는각진제목체" panose="02030600000101010101" pitchFamily="18" charset="-127"/>
            </a:endParaRPr>
          </a:p>
        </p:txBody>
      </p:sp>
      <p:sp>
        <p:nvSpPr>
          <p:cNvPr id="107539" name="Rectangle 30">
            <a:extLst>
              <a:ext uri="{FF2B5EF4-FFF2-40B4-BE49-F238E27FC236}">
                <a16:creationId xmlns:a16="http://schemas.microsoft.com/office/drawing/2014/main" id="{81C95A97-5E5E-195A-33C8-B32231588351}"/>
              </a:ext>
            </a:extLst>
          </p:cNvPr>
          <p:cNvSpPr>
            <a:spLocks noChangeArrowheads="1"/>
          </p:cNvSpPr>
          <p:nvPr/>
        </p:nvSpPr>
        <p:spPr bwMode="auto">
          <a:xfrm>
            <a:off x="265113" y="1849438"/>
            <a:ext cx="765333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800">
                <a:solidFill>
                  <a:srgbClr val="000000"/>
                </a:solidFill>
                <a:ea typeface="굴림" panose="020b0600000101010101" pitchFamily="34" charset="-127"/>
              </a:rPr>
              <a:t>Program Management</a:t>
            </a:r>
            <a:endParaRPr lang="en-GB" altLang="ko-KR" sz="1800">
              <a:solidFill>
                <a:srgbClr val="000000"/>
              </a:solidFill>
              <a:ea typeface="가는각진제목체" panose="02030600000101010101" pitchFamily="18" charset="-127"/>
            </a:endParaRPr>
          </a:p>
        </p:txBody>
      </p:sp>
      <p:sp>
        <p:nvSpPr>
          <p:cNvPr id="107540" name="Oval 31">
            <a:extLst>
              <a:ext uri="{FF2B5EF4-FFF2-40B4-BE49-F238E27FC236}">
                <a16:creationId xmlns:a16="http://schemas.microsoft.com/office/drawing/2014/main" id="{D12A0CA7-1144-6D6E-A75F-5BF991001201}"/>
              </a:ext>
            </a:extLst>
          </p:cNvPr>
          <p:cNvSpPr>
            <a:spLocks noChangeAspect="1" noChangeArrowheads="1"/>
          </p:cNvSpPr>
          <p:nvPr/>
        </p:nvSpPr>
        <p:spPr bwMode="auto">
          <a:xfrm>
            <a:off x="266700" y="612775"/>
            <a:ext cx="312738" cy="288925"/>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wrap="none" lIns="54000" tIns="72000" rIns="54864" bIns="54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lnSpc>
                <a:spcPct val="80000"/>
              </a:lnSpc>
              <a:spcBef>
                <a:spcPct val="50000"/>
              </a:spcBef>
              <a:buClrTx/>
              <a:buFontTx/>
              <a:buNone/>
            </a:pPr>
            <a:r>
              <a:rPr lang="en-GB" altLang="ko-KR" sz="1800">
                <a:solidFill>
                  <a:schemeClr val="bg1"/>
                </a:solidFill>
                <a:ea typeface="가는각진제목체" panose="02030600000101010101" pitchFamily="18" charset="-127"/>
              </a:rPr>
              <a:t>5</a:t>
            </a:r>
          </a:p>
        </p:txBody>
      </p:sp>
      <p:sp>
        <p:nvSpPr>
          <p:cNvPr id="107541" name="Text Box 32">
            <a:extLst>
              <a:ext uri="{FF2B5EF4-FFF2-40B4-BE49-F238E27FC236}">
                <a16:creationId xmlns:a16="http://schemas.microsoft.com/office/drawing/2014/main" id="{5E06A1F8-595F-3820-6CFD-1B8C6AEC71CB}"/>
              </a:ext>
            </a:extLst>
          </p:cNvPr>
          <p:cNvSpPr txBox="1">
            <a:spLocks noChangeArrowheads="1"/>
          </p:cNvSpPr>
          <p:nvPr/>
        </p:nvSpPr>
        <p:spPr bwMode="auto">
          <a:xfrm>
            <a:off x="6856413" y="241300"/>
            <a:ext cx="2789237"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Sales-Driven Turnaround: Introduction</a:t>
            </a:r>
          </a:p>
        </p:txBody>
      </p:sp>
      <p:pic>
        <p:nvPicPr>
          <p:cNvPr id="107542" name="Picture 33">
            <a:extLst>
              <a:ext uri="{FF2B5EF4-FFF2-40B4-BE49-F238E27FC236}">
                <a16:creationId xmlns:a16="http://schemas.microsoft.com/office/drawing/2014/main" id="{88DCC4C4-CE1C-3818-0394-90A9E8C326D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78238" y="2868613"/>
            <a:ext cx="2673350"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43" name="Picture 34">
            <a:extLst>
              <a:ext uri="{FF2B5EF4-FFF2-40B4-BE49-F238E27FC236}">
                <a16:creationId xmlns:a16="http://schemas.microsoft.com/office/drawing/2014/main" id="{87610DA6-B132-F4A9-E358-502811705E2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96888" y="2738438"/>
            <a:ext cx="2517775" cy="3694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44" name="Picture 35">
            <a:extLst>
              <a:ext uri="{FF2B5EF4-FFF2-40B4-BE49-F238E27FC236}">
                <a16:creationId xmlns:a16="http://schemas.microsoft.com/office/drawing/2014/main" id="{F82F83E5-6DB6-A385-02A3-3B383FA74465}"/>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678238" y="4956175"/>
            <a:ext cx="2590800" cy="1655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1794050" name="Group 2">
            <a:extLst>
              <a:ext uri="{FF2B5EF4-FFF2-40B4-BE49-F238E27FC236}">
                <a16:creationId xmlns:a16="http://schemas.microsoft.com/office/drawing/2014/main" id="{1C98921B-9E47-44AF-AE35-4B63209B5107}"/>
              </a:ext>
            </a:extLst>
          </p:cNvPr>
          <p:cNvGraphicFramePr>
            <a:graphicFrameLocks noGrp="1"/>
          </p:cNvGraphicFramePr>
          <p:nvPr/>
        </p:nvGraphicFramePr>
        <p:xfrm>
          <a:off x="165100" y="4422775"/>
          <a:ext cx="7766050" cy="1768475"/>
        </p:xfrm>
        <a:graphic>
          <a:graphicData uri="http://schemas.openxmlformats.org/drawingml/2006/table">
            <a:tbl>
              <a:tblPr/>
              <a:tblGrid>
                <a:gridCol w="1733550">
                  <a:extLst>
                    <a:ext uri="{9D8B030D-6E8A-4147-A177-3AD203B41FA5}">
                      <a16:colId xmlns:a16="http://schemas.microsoft.com/office/drawing/2014/main" val="20000"/>
                    </a:ext>
                  </a:extLst>
                </a:gridCol>
                <a:gridCol w="1420813">
                  <a:extLst>
                    <a:ext uri="{9D8B030D-6E8A-4147-A177-3AD203B41FA5}">
                      <a16:colId xmlns:a16="http://schemas.microsoft.com/office/drawing/2014/main" val="20001"/>
                    </a:ext>
                  </a:extLst>
                </a:gridCol>
                <a:gridCol w="1589087">
                  <a:extLst>
                    <a:ext uri="{9D8B030D-6E8A-4147-A177-3AD203B41FA5}">
                      <a16:colId xmlns:a16="http://schemas.microsoft.com/office/drawing/2014/main" val="20002"/>
                    </a:ext>
                  </a:extLst>
                </a:gridCol>
                <a:gridCol w="1557338">
                  <a:extLst>
                    <a:ext uri="{9D8B030D-6E8A-4147-A177-3AD203B41FA5}">
                      <a16:colId xmlns:a16="http://schemas.microsoft.com/office/drawing/2014/main" val="20003"/>
                    </a:ext>
                  </a:extLst>
                </a:gridCol>
                <a:gridCol w="1465262">
                  <a:extLst>
                    <a:ext uri="{9D8B030D-6E8A-4147-A177-3AD203B41FA5}">
                      <a16:colId xmlns:a16="http://schemas.microsoft.com/office/drawing/2014/main" val="20004"/>
                    </a:ext>
                  </a:extLst>
                </a:gridCol>
              </a:tblGrid>
              <a:tr h="1768475">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CA" altLang="ko-KR" sz="14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Service</a:t>
                      </a:r>
                      <a:r>
                        <a:rPr kumimoji="0" lang="en-CA" altLang="ko-KR" sz="12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 </a:t>
                      </a:r>
                      <a:r>
                        <a:rPr kumimoji="0" lang="en-CA" altLang="ko-KR" sz="14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Providers</a:t>
                      </a:r>
                      <a:endPar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6" marB="45736" anchor="ctr" horzOverflow="overflow">
                    <a:lnL cap="flat">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Service providers maintain relationship through 36 to 75 offices</a:t>
                      </a:r>
                      <a:endParaRPr kumimoji="0" lang="en-US" altLang="ko-KR" sz="10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6" marB="45736" anchor="ctr" horzOverflow="overflow">
                    <a:lnL>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0"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Both CLIENT and service provider are at the mercy of municipalities</a:t>
                      </a:r>
                      <a:endParaRPr kumimoji="0" lang="en-US" altLang="ko-KR" sz="10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6" marB="45736" anchor="ctr" horzOverflow="overflow">
                    <a:lnL>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Service providers use computer models.  For example, JJB maintains a database of all property tax assessments in Canada and can compare CLIENT to other companies in its sector</a:t>
                      </a:r>
                      <a:endParaRPr kumimoji="0" lang="en-US" altLang="ko-KR" sz="10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6" marB="45736" anchor="ctr" horzOverflow="overflow">
                    <a:lnL>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Service providers propose to file protective appeals on assets with potential for major reductions in property tax assessments</a:t>
                      </a:r>
                    </a:p>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Leverage experience and intellectual capital from a broad client base</a:t>
                      </a:r>
                      <a:endParaRPr kumimoji="0" lang="en-US" altLang="ko-KR" sz="10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6" marB="45736" anchor="ct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94068" name="Group 20">
            <a:extLst>
              <a:ext uri="{FF2B5EF4-FFF2-40B4-BE49-F238E27FC236}">
                <a16:creationId xmlns:a16="http://schemas.microsoft.com/office/drawing/2014/main" id="{2992CE70-D565-C0C7-2B9A-D54D7770190F}"/>
              </a:ext>
            </a:extLst>
          </p:cNvPr>
          <p:cNvGraphicFramePr>
            <a:graphicFrameLocks noGrp="1"/>
          </p:cNvGraphicFramePr>
          <p:nvPr/>
        </p:nvGraphicFramePr>
        <p:xfrm>
          <a:off x="161925" y="939800"/>
          <a:ext cx="7777163" cy="1189038"/>
        </p:xfrm>
        <a:graphic>
          <a:graphicData uri="http://schemas.openxmlformats.org/drawingml/2006/table">
            <a:tbl>
              <a:tblPr/>
              <a:tblGrid>
                <a:gridCol w="1744663">
                  <a:extLst>
                    <a:ext uri="{9D8B030D-6E8A-4147-A177-3AD203B41FA5}">
                      <a16:colId xmlns:a16="http://schemas.microsoft.com/office/drawing/2014/main" val="20000"/>
                    </a:ext>
                  </a:extLst>
                </a:gridCol>
                <a:gridCol w="1419225">
                  <a:extLst>
                    <a:ext uri="{9D8B030D-6E8A-4147-A177-3AD203B41FA5}">
                      <a16:colId xmlns:a16="http://schemas.microsoft.com/office/drawing/2014/main" val="20001"/>
                    </a:ext>
                  </a:extLst>
                </a:gridCol>
                <a:gridCol w="1589087">
                  <a:extLst>
                    <a:ext uri="{9D8B030D-6E8A-4147-A177-3AD203B41FA5}">
                      <a16:colId xmlns:a16="http://schemas.microsoft.com/office/drawing/2014/main" val="20002"/>
                    </a:ext>
                  </a:extLst>
                </a:gridCol>
                <a:gridCol w="1558925">
                  <a:extLst>
                    <a:ext uri="{9D8B030D-6E8A-4147-A177-3AD203B41FA5}">
                      <a16:colId xmlns:a16="http://schemas.microsoft.com/office/drawing/2014/main" val="20003"/>
                    </a:ext>
                  </a:extLst>
                </a:gridCol>
                <a:gridCol w="1465263">
                  <a:extLst>
                    <a:ext uri="{9D8B030D-6E8A-4147-A177-3AD203B41FA5}">
                      <a16:colId xmlns:a16="http://schemas.microsoft.com/office/drawing/2014/main" val="20004"/>
                    </a:ext>
                  </a:extLst>
                </a:gridCol>
              </a:tblGrid>
              <a:tr h="1189038">
                <a:tc>
                  <a:txBody>
                    <a:bodyPr vert="horz" wrap="square"/>
                    <a:lstStyle>
                      <a:lvl1pPr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0" marR="0" lvl="0" indent="0" algn="ctr" defTabSz="914400" rtl="0" eaLnBrk="0" fontAlgn="base" latinLnBrk="0" hangingPunct="0">
                        <a:lnSpc>
                          <a:spcPct val="90000"/>
                        </a:lnSpc>
                        <a:spcBef>
                          <a:spcPct val="90000"/>
                        </a:spcBef>
                        <a:spcAft>
                          <a:spcPct val="0"/>
                        </a:spcAft>
                        <a:buClr>
                          <a:schemeClr val="bg2"/>
                        </a:buClr>
                        <a:buSzTx/>
                        <a:buFont typeface="Wingdings" pitchFamily="2" charset="2"/>
                        <a:buNone/>
                      </a:pPr>
                      <a:r>
                        <a:rPr kumimoji="0" lang="en-CA" altLang="ko-KR" sz="1400" b="1"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CLIENT</a:t>
                      </a:r>
                      <a:endParaRPr kumimoji="0" lang="en-US" altLang="ko-KR" sz="1400" b="1"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2" marB="45732" anchor="ctr" horzOverflow="overflow">
                    <a:lnL cap="flat">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0"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CLIENT maintains relationships through 7 offices</a:t>
                      </a:r>
                      <a:endParaRPr kumimoji="0" lang="en-US" altLang="ko-KR" sz="10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2" marB="45732" anchor="ctr" horzOverflow="overflow">
                    <a:lnL>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endParaRPr kumimoji="0" lang="en-CA" altLang="ko-KR" sz="1000" b="0"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endParaRPr>
                    </a:p>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0"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Both CLIENT and service provider are at the mercy of municipalities</a:t>
                      </a:r>
                      <a:endParaRPr kumimoji="0" lang="en-US" altLang="ko-KR" sz="10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2" marB="45732" horzOverflow="overflow">
                    <a:lnL>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0"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CLIENT employees manually validate assessments and bills by comparing to assessments and bills from past years and validating against their expectations</a:t>
                      </a:r>
                      <a:endParaRPr kumimoji="0" lang="en-US" altLang="ko-KR" sz="10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2" marB="45732" anchor="ctr" horzOverflow="overflow">
                    <a:lnL>
                      <a:noFill/>
                    </a:lnL>
                    <a:lnR>
                      <a:noFill/>
                    </a:lnR>
                    <a:lnT cap="flat">
                      <a:noFill/>
                    </a:lnT>
                    <a:lnB cap="flat">
                      <a:noFill/>
                    </a:lnB>
                    <a:lnTlToBr>
                      <a:noFill/>
                    </a:lnTlToBr>
                    <a:lnBlToTr>
                      <a:noFill/>
                    </a:lnBlToTr>
                    <a:noFill/>
                  </a:tcPr>
                </a:tc>
                <a:tc>
                  <a:txBody>
                    <a:bodyPr vert="horz" wrap="square"/>
                    <a:lstStyle>
                      <a:lvl1pPr marL="114300" indent="-114300" algn="l" eaLnBrk="0" fontAlgn="base" hangingPunct="0">
                        <a:spcBef>
                          <a:spcPct val="90000"/>
                        </a:spcBef>
                        <a:buFont typeface="Wingdings" pitchFamily="2" charset="2"/>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269875" algn="l" eaLnBrk="0" fontAlgn="base" hangingPunct="0">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461963" algn="l" eaLnBrk="0" fontAlgn="base" hangingPunct="0">
                        <a:spcBef>
                          <a:spcPct val="3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627063" algn="l" eaLnBrk="0" fontAlgn="base" hangingPunct="0">
                        <a:spcBef>
                          <a:spcPct val="1000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796925" algn="l" fontAlgn="base">
                        <a:spcBef>
                          <a:spcPct val="0"/>
                        </a:spcBef>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2541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17113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1685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2625725" fontAlgn="base">
                        <a:lnSpc>
                          <a:spcPct val="90000"/>
                        </a:lnSpc>
                        <a:spcBef>
                          <a:spcPct val="0"/>
                        </a:spcBef>
                        <a:spcAft>
                          <a:spcPct val="0"/>
                        </a:spcAft>
                        <a:buClr>
                          <a:schemeClr val="bg2"/>
                        </a:buClr>
                        <a:buFont typeface="Arial" panose="020b0604020202020204" pitchFamily="34" charset="0"/>
                        <a:defRPr sz="14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marL="114300" marR="0" lvl="0" indent="-114300" algn="l" defTabSz="914400" rtl="0" eaLnBrk="1" fontAlgn="base" latinLnBrk="0" hangingPunct="1">
                        <a:lnSpc>
                          <a:spcPct val="90000"/>
                        </a:lnSpc>
                        <a:spcBef>
                          <a:spcPct val="20000"/>
                        </a:spcBef>
                        <a:spcAft>
                          <a:spcPct val="0"/>
                        </a:spcAft>
                        <a:buClr>
                          <a:schemeClr val="bg2"/>
                        </a:buClr>
                        <a:buSzTx/>
                        <a:buFontTx/>
                        <a:buChar char="•"/>
                      </a:pPr>
                      <a:r>
                        <a:rPr kumimoji="0" lang="en-CA" altLang="ko-KR" sz="1000" b="0" i="0" u="none" strike="noStrike" cap="none" normalizeH="0" baseline="0">
                          <a:ln>
                            <a:noFill/>
                          </a:ln>
                          <a:solidFill>
                            <a:schemeClr val="tx1"/>
                          </a:solidFill>
                          <a:effectLst/>
                          <a:latin typeface="Arial" panose="020b0604020202020204" pitchFamily="34" charset="0"/>
                          <a:ea typeface="돋움체" panose="020b0609000101010101" pitchFamily="49" charset="-127"/>
                          <a:cs typeface="Arial" panose="020b0604020202020204" pitchFamily="34" charset="0"/>
                        </a:rPr>
                        <a:t>CLIENT launches few challenges, but has generally been successful when it does</a:t>
                      </a:r>
                      <a:endParaRPr kumimoji="0" lang="en-US" altLang="ko-KR" sz="1000" b="0" i="0" u="none" strike="noStrike" cap="none" normalizeH="0" baseline="0">
                        <a:ln>
                          <a:noFill/>
                        </a:ln>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5720" marR="45720" marT="45732" marB="45732" anchor="ct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16749" name="Rectangle 38">
            <a:extLst>
              <a:ext uri="{FF2B5EF4-FFF2-40B4-BE49-F238E27FC236}">
                <a16:creationId xmlns:a16="http://schemas.microsoft.com/office/drawing/2014/main" id="{140B2608-DDDF-EF10-590D-0C45C3AC37DE}"/>
              </a:ext>
            </a:extLst>
          </p:cNvPr>
          <p:cNvSpPr>
            <a:spLocks noGrp="1" noChangeArrowheads="1"/>
          </p:cNvSpPr>
          <p:nvPr>
            <p:ph type="title"/>
          </p:nvPr>
        </p:nvSpPr>
        <p:spPr>
          <a:xfrm>
            <a:off x="266700" y="596900"/>
            <a:ext cx="9367838" cy="549275"/>
          </a:xfrm>
        </p:spPr>
        <p:txBody>
          <a:bodyPr/>
          <a:lstStyle/>
          <a:p>
            <a:r>
              <a:rPr lang="en-CA" altLang="ko-KR"/>
              <a:t>A loosely defined property tax process means that CLIENT is likely overlooking property tax savings</a:t>
            </a:r>
            <a:endParaRPr lang="en-US" altLang="ko-KR">
              <a:ea typeface="굴림" panose="020b0600000101010101" pitchFamily="34" charset="-127"/>
            </a:endParaRPr>
          </a:p>
        </p:txBody>
      </p:sp>
      <p:sp>
        <p:nvSpPr>
          <p:cNvPr id="116750" name="Rectangle 39">
            <a:extLst>
              <a:ext uri="{FF2B5EF4-FFF2-40B4-BE49-F238E27FC236}">
                <a16:creationId xmlns:a16="http://schemas.microsoft.com/office/drawing/2014/main" id="{F54562BD-A3CD-1B61-2CB4-1C1C4D3BF7E1}"/>
              </a:ext>
            </a:extLst>
          </p:cNvPr>
          <p:cNvSpPr>
            <a:spLocks noChangeArrowheads="1"/>
          </p:cNvSpPr>
          <p:nvPr/>
        </p:nvSpPr>
        <p:spPr bwMode="auto">
          <a:xfrm>
            <a:off x="8167688" y="2874963"/>
            <a:ext cx="1543050" cy="844550"/>
          </a:xfrm>
          <a:prstGeom prst="rect">
            <a:avLst/>
          </a:prstGeom>
          <a:solidFill>
            <a:srgbClr val="0070C0"/>
          </a:solidFill>
          <a:ln w="12700">
            <a:solidFill>
              <a:srgbClr val="0070C0"/>
            </a:solidFill>
            <a:miter lim="800000"/>
          </a:ln>
        </p:spPr>
        <p:txBody>
          <a:bodyPr lIns="72000" tIns="72000" rIns="7200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651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001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65200" indent="-50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200">
                <a:solidFill>
                  <a:schemeClr val="bg1"/>
                </a:solidFill>
                <a:ea typeface="굴림" panose="020b0600000101010101" pitchFamily="34" charset="-127"/>
              </a:rPr>
              <a:t>Reduced Property Tax Burden</a:t>
            </a:r>
          </a:p>
        </p:txBody>
      </p:sp>
      <p:sp>
        <p:nvSpPr>
          <p:cNvPr id="116751" name="AutoShape 40">
            <a:extLst>
              <a:ext uri="{FF2B5EF4-FFF2-40B4-BE49-F238E27FC236}">
                <a16:creationId xmlns:a16="http://schemas.microsoft.com/office/drawing/2014/main" id="{1B00123B-D59A-338A-E482-E496D4F8939B}"/>
              </a:ext>
            </a:extLst>
          </p:cNvPr>
          <p:cNvSpPr>
            <a:spLocks noChangeArrowheads="1"/>
          </p:cNvSpPr>
          <p:nvPr/>
        </p:nvSpPr>
        <p:spPr bwMode="auto">
          <a:xfrm rot="5400000">
            <a:off x="6766719" y="3015457"/>
            <a:ext cx="287337" cy="571500"/>
          </a:xfrm>
          <a:prstGeom prst="triangle">
            <a:avLst>
              <a:gd name="adj" fmla="val 49995"/>
            </a:avLst>
          </a:prstGeom>
          <a:solidFill>
            <a:schemeClr val="accent1"/>
          </a:solidFill>
          <a:ln w="9525">
            <a:miter lim="800000"/>
          </a:ln>
          <a:effectLst/>
          <a:scene3d>
            <a:camera prst="legacyObliqueLeft"/>
            <a:lightRig rig="legacyFlat3" dir="b"/>
          </a:scene3d>
          <a:sp3d extrusionH="1254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lIns="0" tIns="0" rIns="0" bIns="0" anchor="ctr">
            <a:flatTx/>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endParaRPr lang="de-DE" altLang="ko-KR" sz="1800" b="0">
              <a:ea typeface="가는각진제목체" panose="02030600000101010101" pitchFamily="18" charset="-127"/>
            </a:endParaRPr>
          </a:p>
        </p:txBody>
      </p:sp>
      <p:sp>
        <p:nvSpPr>
          <p:cNvPr id="116752" name="AutoShape 41">
            <a:extLst>
              <a:ext uri="{FF2B5EF4-FFF2-40B4-BE49-F238E27FC236}">
                <a16:creationId xmlns:a16="http://schemas.microsoft.com/office/drawing/2014/main" id="{78CDBA62-3441-2D32-DC7E-72BFE2542E89}"/>
              </a:ext>
            </a:extLst>
          </p:cNvPr>
          <p:cNvSpPr>
            <a:spLocks noChangeArrowheads="1"/>
          </p:cNvSpPr>
          <p:nvPr/>
        </p:nvSpPr>
        <p:spPr bwMode="auto">
          <a:xfrm rot="5400000">
            <a:off x="5684044" y="3024982"/>
            <a:ext cx="1530350" cy="550862"/>
          </a:xfrm>
          <a:custGeom>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226 w 21600"/>
              <a:gd name="T13" fmla="*/ 3226 h 21600"/>
              <a:gd name="T14" fmla="*/ 18374 w 21600"/>
              <a:gd name="T15" fmla="*/ 18374 h 21600"/>
            </a:gdLst>
            <a:cxnLst>
              <a:cxn ang="T8">
                <a:pos x="T0" y="T1"/>
              </a:cxn>
              <a:cxn ang="T9">
                <a:pos x="T2" y="T3"/>
              </a:cxn>
              <a:cxn ang="T10">
                <a:pos x="T4" y="T5"/>
              </a:cxn>
              <a:cxn ang="T11">
                <a:pos x="T6" y="T7"/>
              </a:cxn>
            </a:cxnLst>
            <a:rect l="T12" t="T13" r="T14" b="T15"/>
            <a:pathLst>
              <a:path w="21600" h="21600">
                <a:moveTo>
                  <a:pt x="0" y="0"/>
                </a:moveTo>
                <a:lnTo>
                  <a:pt x="2852" y="21600"/>
                </a:lnTo>
                <a:lnTo>
                  <a:pt x="18748" y="21600"/>
                </a:lnTo>
                <a:lnTo>
                  <a:pt x="21600" y="0"/>
                </a:lnTo>
                <a:lnTo>
                  <a:pt x="0" y="0"/>
                </a:lnTo>
                <a:close/>
              </a:path>
            </a:pathLst>
          </a:custGeom>
          <a:solidFill>
            <a:schemeClr val="bg2">
              <a:alpha val="39999"/>
            </a:schemeClr>
          </a:solidFill>
          <a:ln w="12700">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ko-KR" altLang="en-US"/>
          </a:p>
        </p:txBody>
      </p:sp>
      <p:sp>
        <p:nvSpPr>
          <p:cNvPr id="116753" name="AutoShape 42">
            <a:extLst>
              <a:ext uri="{FF2B5EF4-FFF2-40B4-BE49-F238E27FC236}">
                <a16:creationId xmlns:a16="http://schemas.microsoft.com/office/drawing/2014/main" id="{796737CB-A302-CBFD-A850-66B1D9D7CF7C}"/>
              </a:ext>
            </a:extLst>
          </p:cNvPr>
          <p:cNvSpPr/>
          <p:nvPr/>
        </p:nvSpPr>
        <p:spPr bwMode="auto">
          <a:xfrm rot="16200000" flipH="1">
            <a:off x="5184775" y="2678113"/>
            <a:ext cx="1098550" cy="1244600"/>
          </a:xfrm>
          <a:custGeom>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975 w 21600"/>
              <a:gd name="T13" fmla="*/ 4975 h 21600"/>
              <a:gd name="T14" fmla="*/ 16625 w 21600"/>
              <a:gd name="T15" fmla="*/ 16625 h 21600"/>
            </a:gdLst>
            <a:cxnLst>
              <a:cxn ang="T8">
                <a:pos x="T0" y="T1"/>
              </a:cxn>
              <a:cxn ang="T9">
                <a:pos x="T2" y="T3"/>
              </a:cxn>
              <a:cxn ang="T10">
                <a:pos x="T4" y="T5"/>
              </a:cxn>
              <a:cxn ang="T11">
                <a:pos x="T6" y="T7"/>
              </a:cxn>
            </a:cxnLst>
            <a:rect l="T12" t="T13" r="T14" b="T15"/>
            <a:pathLst>
              <a:path w="21600" h="21600">
                <a:moveTo>
                  <a:pt x="0" y="0"/>
                </a:moveTo>
                <a:lnTo>
                  <a:pt x="6350" y="21600"/>
                </a:lnTo>
                <a:lnTo>
                  <a:pt x="15250" y="21600"/>
                </a:lnTo>
                <a:lnTo>
                  <a:pt x="21600" y="0"/>
                </a:lnTo>
                <a:lnTo>
                  <a:pt x="0" y="0"/>
                </a:lnTo>
                <a:close/>
              </a:path>
            </a:pathLst>
          </a:custGeom>
          <a:solidFill>
            <a:schemeClr val="accent1"/>
          </a:solidFill>
          <a:ln w="9525">
            <a:round/>
          </a:ln>
          <a:effectLst/>
          <a:scene3d>
            <a:camera prst="legacyObliqueLeft"/>
            <a:lightRig rig="legacyFlat3" dir="b"/>
          </a:scene3d>
          <a:sp3d extrusionH="1254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nchor="ctr">
            <a:flatTx/>
          </a:bodyPr>
          <a:lstStyle/>
          <a:p>
            <a:endParaRPr lang="ko-KR" altLang="en-US"/>
          </a:p>
        </p:txBody>
      </p:sp>
      <p:sp>
        <p:nvSpPr>
          <p:cNvPr id="116754" name="AutoShape 43">
            <a:extLst>
              <a:ext uri="{FF2B5EF4-FFF2-40B4-BE49-F238E27FC236}">
                <a16:creationId xmlns:a16="http://schemas.microsoft.com/office/drawing/2014/main" id="{F017FD9D-63CD-3B47-83EB-DBEAD77FDB53}"/>
              </a:ext>
            </a:extLst>
          </p:cNvPr>
          <p:cNvSpPr>
            <a:spLocks noChangeArrowheads="1"/>
          </p:cNvSpPr>
          <p:nvPr/>
        </p:nvSpPr>
        <p:spPr bwMode="auto">
          <a:xfrm rot="5400000">
            <a:off x="3806032" y="2874169"/>
            <a:ext cx="2273300" cy="852487"/>
          </a:xfrm>
          <a:custGeom>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2561 w 21600"/>
              <a:gd name="T13" fmla="*/ 2561 h 21600"/>
              <a:gd name="T14" fmla="*/ 19039 w 21600"/>
              <a:gd name="T15" fmla="*/ 19039 h 21600"/>
            </a:gdLst>
            <a:cxnLst>
              <a:cxn ang="T8">
                <a:pos x="T0" y="T1"/>
              </a:cxn>
              <a:cxn ang="T9">
                <a:pos x="T2" y="T3"/>
              </a:cxn>
              <a:cxn ang="T10">
                <a:pos x="T4" y="T5"/>
              </a:cxn>
              <a:cxn ang="T11">
                <a:pos x="T6" y="T7"/>
              </a:cxn>
            </a:cxnLst>
            <a:rect l="T12" t="T13" r="T14" b="T15"/>
            <a:pathLst>
              <a:path w="21600" h="21600">
                <a:moveTo>
                  <a:pt x="0" y="0"/>
                </a:moveTo>
                <a:lnTo>
                  <a:pt x="1522" y="21600"/>
                </a:lnTo>
                <a:lnTo>
                  <a:pt x="20078" y="21600"/>
                </a:lnTo>
                <a:lnTo>
                  <a:pt x="21600" y="0"/>
                </a:lnTo>
                <a:lnTo>
                  <a:pt x="0" y="0"/>
                </a:lnTo>
                <a:close/>
              </a:path>
            </a:pathLst>
          </a:custGeom>
          <a:solidFill>
            <a:schemeClr val="bg2">
              <a:alpha val="39999"/>
            </a:schemeClr>
          </a:solidFill>
          <a:ln w="12700">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ko-KR" altLang="en-US"/>
          </a:p>
        </p:txBody>
      </p:sp>
      <p:sp>
        <p:nvSpPr>
          <p:cNvPr id="116755" name="AutoShape 44">
            <a:extLst>
              <a:ext uri="{FF2B5EF4-FFF2-40B4-BE49-F238E27FC236}">
                <a16:creationId xmlns:a16="http://schemas.microsoft.com/office/drawing/2014/main" id="{C622A0CE-8FF0-6E92-0928-B39F7DB9AC98}"/>
              </a:ext>
            </a:extLst>
          </p:cNvPr>
          <p:cNvSpPr/>
          <p:nvPr/>
        </p:nvSpPr>
        <p:spPr bwMode="auto">
          <a:xfrm rot="16200000" flipH="1">
            <a:off x="3203575" y="2682875"/>
            <a:ext cx="1908175" cy="1235075"/>
          </a:xfrm>
          <a:custGeom>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645 w 21600"/>
              <a:gd name="T13" fmla="*/ 3645 h 21600"/>
              <a:gd name="T14" fmla="*/ 17955 w 21600"/>
              <a:gd name="T15" fmla="*/ 17955 h 21600"/>
            </a:gdLst>
            <a:cxnLst>
              <a:cxn ang="T8">
                <a:pos x="T0" y="T1"/>
              </a:cxn>
              <a:cxn ang="T9">
                <a:pos x="T2" y="T3"/>
              </a:cxn>
              <a:cxn ang="T10">
                <a:pos x="T4" y="T5"/>
              </a:cxn>
              <a:cxn ang="T11">
                <a:pos x="T6" y="T7"/>
              </a:cxn>
            </a:cxnLst>
            <a:rect l="T12" t="T13" r="T14" b="T15"/>
            <a:pathLst>
              <a:path w="21600" h="21600">
                <a:moveTo>
                  <a:pt x="0" y="0"/>
                </a:moveTo>
                <a:lnTo>
                  <a:pt x="3689" y="21600"/>
                </a:lnTo>
                <a:lnTo>
                  <a:pt x="17911" y="21600"/>
                </a:lnTo>
                <a:lnTo>
                  <a:pt x="21600" y="0"/>
                </a:lnTo>
                <a:lnTo>
                  <a:pt x="0" y="0"/>
                </a:lnTo>
                <a:close/>
              </a:path>
            </a:pathLst>
          </a:custGeom>
          <a:solidFill>
            <a:schemeClr val="accent1"/>
          </a:solidFill>
          <a:ln w="9525">
            <a:round/>
          </a:ln>
          <a:effectLst/>
          <a:scene3d>
            <a:camera prst="legacyObliqueLeft"/>
            <a:lightRig rig="legacyFlat3" dir="b"/>
          </a:scene3d>
          <a:sp3d extrusionH="1254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nchor="ctr">
            <a:flatTx/>
          </a:bodyPr>
          <a:lstStyle/>
          <a:p>
            <a:endParaRPr lang="ko-KR" altLang="en-US"/>
          </a:p>
        </p:txBody>
      </p:sp>
      <p:sp>
        <p:nvSpPr>
          <p:cNvPr id="116756" name="AutoShape 45">
            <a:extLst>
              <a:ext uri="{FF2B5EF4-FFF2-40B4-BE49-F238E27FC236}">
                <a16:creationId xmlns:a16="http://schemas.microsoft.com/office/drawing/2014/main" id="{4010420E-3397-10DC-FDCE-4696162D7BA4}"/>
              </a:ext>
            </a:extLst>
          </p:cNvPr>
          <p:cNvSpPr>
            <a:spLocks noChangeArrowheads="1"/>
          </p:cNvSpPr>
          <p:nvPr/>
        </p:nvSpPr>
        <p:spPr bwMode="auto">
          <a:xfrm rot="5400000">
            <a:off x="1816100" y="2874963"/>
            <a:ext cx="3101975" cy="850900"/>
          </a:xfrm>
          <a:custGeom>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2357 w 21600"/>
              <a:gd name="T13" fmla="*/ 2357 h 21600"/>
              <a:gd name="T14" fmla="*/ 19243 w 21600"/>
              <a:gd name="T15" fmla="*/ 19243 h 21600"/>
            </a:gdLst>
            <a:cxnLst>
              <a:cxn ang="T8">
                <a:pos x="T0" y="T1"/>
              </a:cxn>
              <a:cxn ang="T9">
                <a:pos x="T2" y="T3"/>
              </a:cxn>
              <a:cxn ang="T10">
                <a:pos x="T4" y="T5"/>
              </a:cxn>
              <a:cxn ang="T11">
                <a:pos x="T6" y="T7"/>
              </a:cxn>
            </a:cxnLst>
            <a:rect l="T12" t="T13" r="T14" b="T15"/>
            <a:pathLst>
              <a:path w="21600" h="21600">
                <a:moveTo>
                  <a:pt x="0" y="0"/>
                </a:moveTo>
                <a:lnTo>
                  <a:pt x="1113" y="21600"/>
                </a:lnTo>
                <a:lnTo>
                  <a:pt x="20487" y="21600"/>
                </a:lnTo>
                <a:lnTo>
                  <a:pt x="21600" y="0"/>
                </a:lnTo>
                <a:lnTo>
                  <a:pt x="0" y="0"/>
                </a:lnTo>
                <a:close/>
              </a:path>
            </a:pathLst>
          </a:custGeom>
          <a:solidFill>
            <a:schemeClr val="bg2">
              <a:alpha val="39999"/>
            </a:schemeClr>
          </a:solidFill>
          <a:ln w="12700">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ko-KR" altLang="en-US"/>
          </a:p>
        </p:txBody>
      </p:sp>
      <p:sp>
        <p:nvSpPr>
          <p:cNvPr id="116757" name="AutoShape 46">
            <a:extLst>
              <a:ext uri="{FF2B5EF4-FFF2-40B4-BE49-F238E27FC236}">
                <a16:creationId xmlns:a16="http://schemas.microsoft.com/office/drawing/2014/main" id="{36D7F730-22ED-0B06-9680-764865195F0A}"/>
              </a:ext>
            </a:extLst>
          </p:cNvPr>
          <p:cNvSpPr/>
          <p:nvPr/>
        </p:nvSpPr>
        <p:spPr bwMode="auto">
          <a:xfrm rot="16200000" flipH="1">
            <a:off x="1258094" y="2709069"/>
            <a:ext cx="2708275" cy="1182687"/>
          </a:xfrm>
          <a:custGeom>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51 w 21600"/>
              <a:gd name="T13" fmla="*/ 3051 h 21600"/>
              <a:gd name="T14" fmla="*/ 18549 w 21600"/>
              <a:gd name="T15" fmla="*/ 18549 h 21600"/>
            </a:gdLst>
            <a:cxnLst>
              <a:cxn ang="T8">
                <a:pos x="T0" y="T1"/>
              </a:cxn>
              <a:cxn ang="T9">
                <a:pos x="T2" y="T3"/>
              </a:cxn>
              <a:cxn ang="T10">
                <a:pos x="T4" y="T5"/>
              </a:cxn>
              <a:cxn ang="T11">
                <a:pos x="T6" y="T7"/>
              </a:cxn>
            </a:cxnLst>
            <a:rect l="T12" t="T13" r="T14" b="T15"/>
            <a:pathLst>
              <a:path w="21600" h="21600">
                <a:moveTo>
                  <a:pt x="0" y="0"/>
                </a:moveTo>
                <a:lnTo>
                  <a:pt x="2502" y="21600"/>
                </a:lnTo>
                <a:lnTo>
                  <a:pt x="19098" y="21600"/>
                </a:lnTo>
                <a:lnTo>
                  <a:pt x="21600" y="0"/>
                </a:lnTo>
                <a:lnTo>
                  <a:pt x="0" y="0"/>
                </a:lnTo>
                <a:close/>
              </a:path>
            </a:pathLst>
          </a:custGeom>
          <a:solidFill>
            <a:schemeClr val="accent1"/>
          </a:solidFill>
          <a:ln w="9525">
            <a:round/>
          </a:ln>
          <a:effectLst/>
          <a:scene3d>
            <a:camera prst="legacyObliqueLeft"/>
            <a:lightRig rig="legacyFlat3" dir="b"/>
          </a:scene3d>
          <a:sp3d extrusionH="1254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0" tIns="0" rIns="0" bIns="0" anchor="ctr">
            <a:flatTx/>
          </a:bodyPr>
          <a:lstStyle/>
          <a:p>
            <a:endParaRPr lang="ko-KR" altLang="en-US"/>
          </a:p>
        </p:txBody>
      </p:sp>
      <p:sp>
        <p:nvSpPr>
          <p:cNvPr id="116758" name="Rectangle 47">
            <a:extLst>
              <a:ext uri="{FF2B5EF4-FFF2-40B4-BE49-F238E27FC236}">
                <a16:creationId xmlns:a16="http://schemas.microsoft.com/office/drawing/2014/main" id="{B153CC0E-13F1-88C9-4C74-9A2F5DB1B169}"/>
              </a:ext>
            </a:extLst>
          </p:cNvPr>
          <p:cNvSpPr>
            <a:spLocks noChangeArrowheads="1"/>
          </p:cNvSpPr>
          <p:nvPr/>
        </p:nvSpPr>
        <p:spPr bwMode="auto">
          <a:xfrm>
            <a:off x="2106613" y="3052763"/>
            <a:ext cx="949325"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651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001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65200" indent="-50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CA" altLang="ko-KR" sz="1200" b="0">
                <a:solidFill>
                  <a:schemeClr val="bg1"/>
                </a:solidFill>
                <a:ea typeface="가는각진제목체" panose="02030600000101010101" pitchFamily="18" charset="-127"/>
              </a:rPr>
              <a:t>Relationship </a:t>
            </a:r>
          </a:p>
          <a:p>
            <a:pPr algn="ctr">
              <a:spcBef>
                <a:spcPct val="0"/>
              </a:spcBef>
              <a:buClrTx/>
              <a:buFontTx/>
              <a:buNone/>
            </a:pPr>
            <a:r>
              <a:rPr lang="en-CA" altLang="ko-KR" sz="1200" b="0">
                <a:solidFill>
                  <a:schemeClr val="bg1"/>
                </a:solidFill>
                <a:ea typeface="가는각진제목체" panose="02030600000101010101" pitchFamily="18" charset="-127"/>
              </a:rPr>
              <a:t>with </a:t>
            </a:r>
          </a:p>
          <a:p>
            <a:pPr algn="ctr">
              <a:spcBef>
                <a:spcPct val="0"/>
              </a:spcBef>
              <a:buClrTx/>
              <a:buFontTx/>
              <a:buNone/>
            </a:pPr>
            <a:r>
              <a:rPr lang="en-CA" altLang="ko-KR" sz="1200" b="0">
                <a:solidFill>
                  <a:schemeClr val="bg1"/>
                </a:solidFill>
                <a:ea typeface="가는각진제목체" panose="02030600000101010101" pitchFamily="18" charset="-127"/>
              </a:rPr>
              <a:t>Assessors</a:t>
            </a:r>
            <a:endParaRPr lang="en-US" altLang="ko-KR" sz="1200" b="0">
              <a:solidFill>
                <a:schemeClr val="bg1"/>
              </a:solidFill>
              <a:ea typeface="굴림" panose="020b0600000101010101" pitchFamily="34" charset="-127"/>
            </a:endParaRPr>
          </a:p>
        </p:txBody>
      </p:sp>
      <p:sp>
        <p:nvSpPr>
          <p:cNvPr id="116759" name="Rectangle 48">
            <a:extLst>
              <a:ext uri="{FF2B5EF4-FFF2-40B4-BE49-F238E27FC236}">
                <a16:creationId xmlns:a16="http://schemas.microsoft.com/office/drawing/2014/main" id="{DDED56AD-44DB-5569-56B5-72EBF9E593D1}"/>
              </a:ext>
            </a:extLst>
          </p:cNvPr>
          <p:cNvSpPr>
            <a:spLocks noChangeArrowheads="1"/>
          </p:cNvSpPr>
          <p:nvPr/>
        </p:nvSpPr>
        <p:spPr bwMode="auto">
          <a:xfrm>
            <a:off x="3817938" y="2846388"/>
            <a:ext cx="968375" cy="825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651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001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65200" indent="-50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CA" altLang="ko-KR" sz="1200" b="0">
                <a:solidFill>
                  <a:schemeClr val="bg1"/>
                </a:solidFill>
                <a:ea typeface="가는각진제목체" panose="02030600000101010101" pitchFamily="18" charset="-127"/>
              </a:rPr>
              <a:t>Entry of Billing Information to IT Systems</a:t>
            </a:r>
            <a:endParaRPr lang="en-US" altLang="ko-KR" sz="1200" b="0">
              <a:solidFill>
                <a:schemeClr val="bg1"/>
              </a:solidFill>
              <a:ea typeface="굴림" panose="020b0600000101010101" pitchFamily="34" charset="-127"/>
            </a:endParaRPr>
          </a:p>
        </p:txBody>
      </p:sp>
      <p:sp>
        <p:nvSpPr>
          <p:cNvPr id="116760" name="Rectangle 49">
            <a:extLst>
              <a:ext uri="{FF2B5EF4-FFF2-40B4-BE49-F238E27FC236}">
                <a16:creationId xmlns:a16="http://schemas.microsoft.com/office/drawing/2014/main" id="{55B8FDC7-EB9B-0D62-66B4-3DBC9B450122}"/>
              </a:ext>
            </a:extLst>
          </p:cNvPr>
          <p:cNvSpPr>
            <a:spLocks noChangeArrowheads="1"/>
          </p:cNvSpPr>
          <p:nvPr/>
        </p:nvSpPr>
        <p:spPr bwMode="auto">
          <a:xfrm>
            <a:off x="5392738" y="2992438"/>
            <a:ext cx="941387" cy="603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651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001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65200" indent="-50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CA" altLang="ko-KR" sz="1100" b="0">
                <a:solidFill>
                  <a:schemeClr val="bg1"/>
                </a:solidFill>
                <a:ea typeface="가는각진제목체" panose="02030600000101010101" pitchFamily="18" charset="-127"/>
              </a:rPr>
              <a:t>Flag </a:t>
            </a:r>
          </a:p>
          <a:p>
            <a:pPr algn="ctr">
              <a:spcBef>
                <a:spcPct val="0"/>
              </a:spcBef>
              <a:buClrTx/>
              <a:buFontTx/>
              <a:buNone/>
            </a:pPr>
            <a:r>
              <a:rPr lang="en-CA" altLang="ko-KR" sz="1100" b="0">
                <a:solidFill>
                  <a:schemeClr val="bg1"/>
                </a:solidFill>
                <a:ea typeface="가는각진제목체" panose="02030600000101010101" pitchFamily="18" charset="-127"/>
              </a:rPr>
              <a:t>Questionable </a:t>
            </a:r>
          </a:p>
          <a:p>
            <a:pPr algn="ctr">
              <a:spcBef>
                <a:spcPct val="0"/>
              </a:spcBef>
              <a:buClrTx/>
              <a:buFontTx/>
              <a:buNone/>
            </a:pPr>
            <a:r>
              <a:rPr lang="en-CA" altLang="ko-KR" sz="1100" b="0">
                <a:solidFill>
                  <a:schemeClr val="bg1"/>
                </a:solidFill>
                <a:ea typeface="가는각진제목체" panose="02030600000101010101" pitchFamily="18" charset="-127"/>
              </a:rPr>
              <a:t>Assessments/</a:t>
            </a:r>
          </a:p>
          <a:p>
            <a:pPr algn="ctr">
              <a:spcBef>
                <a:spcPct val="0"/>
              </a:spcBef>
              <a:buClrTx/>
              <a:buFontTx/>
              <a:buNone/>
            </a:pPr>
            <a:r>
              <a:rPr lang="en-CA" altLang="ko-KR" sz="1100" b="0">
                <a:solidFill>
                  <a:schemeClr val="bg1"/>
                </a:solidFill>
                <a:ea typeface="가는각진제목체" panose="02030600000101010101" pitchFamily="18" charset="-127"/>
              </a:rPr>
              <a:t>Bills</a:t>
            </a:r>
            <a:endParaRPr lang="en-US" altLang="ko-KR" sz="1100" b="0">
              <a:solidFill>
                <a:schemeClr val="bg1"/>
              </a:solidFill>
              <a:ea typeface="굴림" panose="020b0600000101010101" pitchFamily="34" charset="-127"/>
            </a:endParaRPr>
          </a:p>
        </p:txBody>
      </p:sp>
      <p:sp>
        <p:nvSpPr>
          <p:cNvPr id="116761" name="Rectangle 50">
            <a:extLst>
              <a:ext uri="{FF2B5EF4-FFF2-40B4-BE49-F238E27FC236}">
                <a16:creationId xmlns:a16="http://schemas.microsoft.com/office/drawing/2014/main" id="{4D5E7507-4342-1822-7AE1-7B4C2C85ABB0}"/>
              </a:ext>
            </a:extLst>
          </p:cNvPr>
          <p:cNvSpPr>
            <a:spLocks noChangeArrowheads="1"/>
          </p:cNvSpPr>
          <p:nvPr/>
        </p:nvSpPr>
        <p:spPr bwMode="auto">
          <a:xfrm>
            <a:off x="7248525" y="3217863"/>
            <a:ext cx="820738"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17961" dir="13500000" algn="ctr" rotWithShape="0">
                    <a:srgbClr val="999999"/>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60375" indent="-16510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8001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965200" indent="-508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CA" altLang="ko-KR" sz="1200" b="0">
                <a:ea typeface="가는각진제목체" panose="02030600000101010101" pitchFamily="18" charset="-127"/>
              </a:rPr>
              <a:t>Challenges</a:t>
            </a:r>
            <a:endParaRPr lang="en-US" altLang="ko-KR" sz="1200" b="0">
              <a:ea typeface="굴림" panose="020b0600000101010101" pitchFamily="34" charset="-127"/>
            </a:endParaRPr>
          </a:p>
        </p:txBody>
      </p:sp>
      <p:sp>
        <p:nvSpPr>
          <p:cNvPr id="116762" name="Text Box 51">
            <a:extLst>
              <a:ext uri="{FF2B5EF4-FFF2-40B4-BE49-F238E27FC236}">
                <a16:creationId xmlns:a16="http://schemas.microsoft.com/office/drawing/2014/main" id="{BCE2122C-3D85-A7DE-5554-C1C92C943332}"/>
              </a:ext>
            </a:extLst>
          </p:cNvPr>
          <p:cNvSpPr txBox="1">
            <a:spLocks noChangeArrowheads="1"/>
          </p:cNvSpPr>
          <p:nvPr/>
        </p:nvSpPr>
        <p:spPr bwMode="auto">
          <a:xfrm>
            <a:off x="117475" y="6330950"/>
            <a:ext cx="9517063" cy="354013"/>
          </a:xfrm>
          <a:prstGeom prst="rect">
            <a:avLst/>
          </a:prstGeom>
          <a:solidFill>
            <a:schemeClr val="bg1"/>
          </a:solidFill>
          <a:ln w="19050" algn="ctr">
            <a:solidFill>
              <a:srgbClr val="0070C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CA" altLang="ko-KR" sz="1400">
                <a:ea typeface="가는각진제목체" panose="02030600000101010101" pitchFamily="18" charset="-127"/>
              </a:rPr>
              <a:t>Service providers expect a 5% decline in tax payments during first two years</a:t>
            </a:r>
            <a:endParaRPr lang="en-US" altLang="ko-KR" sz="1400">
              <a:ea typeface="굴림" panose="020b0600000101010101" pitchFamily="34" charset="-127"/>
            </a:endParaRPr>
          </a:p>
        </p:txBody>
      </p:sp>
      <p:sp>
        <p:nvSpPr>
          <p:cNvPr id="116763" name="Text Box 53">
            <a:extLst>
              <a:ext uri="{FF2B5EF4-FFF2-40B4-BE49-F238E27FC236}">
                <a16:creationId xmlns:a16="http://schemas.microsoft.com/office/drawing/2014/main" id="{5E25B302-8DC6-B2DA-C5E2-9FF2E1CBD6F2}"/>
              </a:ext>
            </a:extLst>
          </p:cNvPr>
          <p:cNvSpPr txBox="1">
            <a:spLocks noChangeArrowheads="1"/>
          </p:cNvSpPr>
          <p:nvPr/>
        </p:nvSpPr>
        <p:spPr bwMode="auto">
          <a:xfrm>
            <a:off x="307975" y="2797175"/>
            <a:ext cx="1273175" cy="11033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r>
              <a:rPr lang="en-US" altLang="ko-KR" sz="1400" i="1">
                <a:ea typeface="굴림" panose="020b0600000101010101" pitchFamily="34" charset="-127"/>
              </a:rPr>
              <a:t>Key Levers for Managing Property Tax Burden</a:t>
            </a:r>
          </a:p>
        </p:txBody>
      </p:sp>
      <p:sp>
        <p:nvSpPr>
          <p:cNvPr id="116764" name="Text Box 54">
            <a:extLst>
              <a:ext uri="{FF2B5EF4-FFF2-40B4-BE49-F238E27FC236}">
                <a16:creationId xmlns:a16="http://schemas.microsoft.com/office/drawing/2014/main" id="{587A7A07-1FEA-58B5-323E-A92E5D259928}"/>
              </a:ext>
            </a:extLst>
          </p:cNvPr>
          <p:cNvSpPr txBox="1">
            <a:spLocks noChangeArrowheads="1"/>
          </p:cNvSpPr>
          <p:nvPr/>
        </p:nvSpPr>
        <p:spPr bwMode="auto">
          <a:xfrm>
            <a:off x="8353425" y="241300"/>
            <a:ext cx="129222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CA" altLang="ko-KR" sz="1000" b="0">
                <a:ea typeface="가는각진제목체" panose="02030600000101010101" pitchFamily="18" charset="-127"/>
              </a:rPr>
              <a:t>Case for Outsourcing</a:t>
            </a:r>
            <a:endParaRPr lang="en-US" altLang="ko-KR" sz="1000" b="0">
              <a:ea typeface="굴림" panose="020b0600000101010101" pitchFamily="34" charset="-127"/>
            </a:endParaRP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19809" name="Rectangle 86">
            <a:extLst>
              <a:ext uri="{FF2B5EF4-FFF2-40B4-BE49-F238E27FC236}">
                <a16:creationId xmlns:a16="http://schemas.microsoft.com/office/drawing/2014/main" id="{20BD6CDE-F750-C238-4D47-7E20EC2E9226}"/>
              </a:ext>
            </a:extLst>
          </p:cNvPr>
          <p:cNvSpPr>
            <a:spLocks noGrp="1" noChangeArrowheads="1"/>
          </p:cNvSpPr>
          <p:nvPr>
            <p:ph type="title"/>
          </p:nvPr>
        </p:nvSpPr>
        <p:spPr>
          <a:xfrm>
            <a:off x="266700" y="596900"/>
            <a:ext cx="9367838" cy="657225"/>
          </a:xfrm>
        </p:spPr>
        <p:txBody>
          <a:bodyPr/>
          <a:lstStyle/>
          <a:p>
            <a:r>
              <a:rPr lang="en-US" altLang="ko-KR"/>
              <a:t>Several key issues need to be taken into account in this evolution for short and long term success</a:t>
            </a:r>
          </a:p>
        </p:txBody>
      </p:sp>
      <p:sp>
        <p:nvSpPr>
          <p:cNvPr id="119810" name="Rectangle 94">
            <a:extLst>
              <a:ext uri="{FF2B5EF4-FFF2-40B4-BE49-F238E27FC236}">
                <a16:creationId xmlns:a16="http://schemas.microsoft.com/office/drawing/2014/main" id="{263FEEE6-4934-0E2C-8056-EA8843455461}"/>
              </a:ext>
            </a:extLst>
          </p:cNvPr>
          <p:cNvSpPr>
            <a:spLocks noChangeArrowheads="1"/>
          </p:cNvSpPr>
          <p:nvPr/>
        </p:nvSpPr>
        <p:spPr bwMode="auto">
          <a:xfrm>
            <a:off x="6692900" y="225425"/>
            <a:ext cx="2951163"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eaLnBrk="1" hangingPunct="1">
              <a:spcBef>
                <a:spcPct val="0"/>
              </a:spcBef>
              <a:buFontTx/>
              <a:buNone/>
            </a:pPr>
            <a:r>
              <a:rPr lang="en-US" altLang="ko-KR" sz="1200" b="0">
                <a:ea typeface="굴림" panose="020b0600000101010101" pitchFamily="34" charset="-127"/>
              </a:rPr>
              <a:t>MVNO entry strategy and operating model - Stages of evolution of Company MVNO business</a:t>
            </a:r>
          </a:p>
        </p:txBody>
      </p:sp>
      <p:sp>
        <p:nvSpPr>
          <p:cNvPr id="119811" name="Text Box 95">
            <a:extLst>
              <a:ext uri="{FF2B5EF4-FFF2-40B4-BE49-F238E27FC236}">
                <a16:creationId xmlns:a16="http://schemas.microsoft.com/office/drawing/2014/main" id="{D0D8C9D6-87FA-3507-10CF-DE3EDB344B21}"/>
              </a:ext>
            </a:extLst>
          </p:cNvPr>
          <p:cNvSpPr txBox="1">
            <a:spLocks noChangeArrowheads="1"/>
          </p:cNvSpPr>
          <p:nvPr/>
        </p:nvSpPr>
        <p:spPr bwMode="auto">
          <a:xfrm>
            <a:off x="301625" y="1628775"/>
            <a:ext cx="2254250" cy="1920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spcBef>
                <a:spcPct val="0"/>
              </a:spcBef>
              <a:buClrTx/>
              <a:buFontTx/>
              <a:buNone/>
            </a:pPr>
            <a:r>
              <a:rPr lang="en-US" altLang="ko-KR" sz="1400"/>
              <a:t>CVI </a:t>
            </a:r>
            <a:r>
              <a:rPr lang="ko-KR" altLang="en-US" sz="1400"/>
              <a:t>비전 추진 경과</a:t>
            </a:r>
            <a:endParaRPr lang="en-US" altLang="ko-KR" sz="1400"/>
          </a:p>
        </p:txBody>
      </p:sp>
      <p:sp>
        <p:nvSpPr>
          <p:cNvPr id="119812" name="Text Box 96">
            <a:extLst>
              <a:ext uri="{FF2B5EF4-FFF2-40B4-BE49-F238E27FC236}">
                <a16:creationId xmlns:a16="http://schemas.microsoft.com/office/drawing/2014/main" id="{6DDF7EC8-7B67-3B41-1C79-8FBA29050346}"/>
              </a:ext>
            </a:extLst>
          </p:cNvPr>
          <p:cNvSpPr txBox="1">
            <a:spLocks noChangeArrowheads="1"/>
          </p:cNvSpPr>
          <p:nvPr/>
        </p:nvSpPr>
        <p:spPr bwMode="auto">
          <a:xfrm>
            <a:off x="309563" y="5473700"/>
            <a:ext cx="304800" cy="33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ko-KR" altLang="en-US" sz="1200"/>
              <a:t>고객</a:t>
            </a:r>
            <a:br>
              <a:rPr lang="ko-KR" altLang="en-US" sz="1200"/>
            </a:br>
            <a:r>
              <a:rPr lang="ko-KR" altLang="en-US" sz="1200"/>
              <a:t>접점</a:t>
            </a:r>
          </a:p>
        </p:txBody>
      </p:sp>
      <p:sp>
        <p:nvSpPr>
          <p:cNvPr id="119813" name="Line 97">
            <a:extLst>
              <a:ext uri="{FF2B5EF4-FFF2-40B4-BE49-F238E27FC236}">
                <a16:creationId xmlns:a16="http://schemas.microsoft.com/office/drawing/2014/main" id="{8D215E87-436A-1CA0-B119-BE08D1E9A7C1}"/>
              </a:ext>
            </a:extLst>
          </p:cNvPr>
          <p:cNvSpPr>
            <a:spLocks noChangeShapeType="1"/>
          </p:cNvSpPr>
          <p:nvPr/>
        </p:nvSpPr>
        <p:spPr bwMode="auto">
          <a:xfrm flipH="1">
            <a:off x="3867150" y="2870200"/>
            <a:ext cx="0" cy="498475"/>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14" name="Line 98">
            <a:extLst>
              <a:ext uri="{FF2B5EF4-FFF2-40B4-BE49-F238E27FC236}">
                <a16:creationId xmlns:a16="http://schemas.microsoft.com/office/drawing/2014/main" id="{C4CC4847-E12F-7EC3-F2D6-53ED403A96B0}"/>
              </a:ext>
            </a:extLst>
          </p:cNvPr>
          <p:cNvSpPr>
            <a:spLocks noChangeShapeType="1"/>
          </p:cNvSpPr>
          <p:nvPr/>
        </p:nvSpPr>
        <p:spPr bwMode="auto">
          <a:xfrm flipH="1">
            <a:off x="5259388" y="2870200"/>
            <a:ext cx="0" cy="498475"/>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15" name="Line 99">
            <a:extLst>
              <a:ext uri="{FF2B5EF4-FFF2-40B4-BE49-F238E27FC236}">
                <a16:creationId xmlns:a16="http://schemas.microsoft.com/office/drawing/2014/main" id="{F9D79DFB-E0B4-B65E-0030-F5AB89BA7EBE}"/>
              </a:ext>
            </a:extLst>
          </p:cNvPr>
          <p:cNvSpPr>
            <a:spLocks noChangeShapeType="1"/>
          </p:cNvSpPr>
          <p:nvPr/>
        </p:nvSpPr>
        <p:spPr bwMode="auto">
          <a:xfrm flipH="1">
            <a:off x="2062163" y="2876550"/>
            <a:ext cx="0" cy="498475"/>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16" name="Line 100">
            <a:extLst>
              <a:ext uri="{FF2B5EF4-FFF2-40B4-BE49-F238E27FC236}">
                <a16:creationId xmlns:a16="http://schemas.microsoft.com/office/drawing/2014/main" id="{CF38050D-AB1C-1052-FDE2-5685C7C54B7C}"/>
              </a:ext>
            </a:extLst>
          </p:cNvPr>
          <p:cNvSpPr>
            <a:spLocks noChangeShapeType="1"/>
          </p:cNvSpPr>
          <p:nvPr/>
        </p:nvSpPr>
        <p:spPr bwMode="auto">
          <a:xfrm flipH="1">
            <a:off x="6626225" y="2889250"/>
            <a:ext cx="0" cy="498475"/>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17" name="Text Box 101">
            <a:extLst>
              <a:ext uri="{FF2B5EF4-FFF2-40B4-BE49-F238E27FC236}">
                <a16:creationId xmlns:a16="http://schemas.microsoft.com/office/drawing/2014/main" id="{58AFF176-0CED-C892-200E-FE8605065852}"/>
              </a:ext>
            </a:extLst>
          </p:cNvPr>
          <p:cNvSpPr txBox="1">
            <a:spLocks noChangeArrowheads="1"/>
          </p:cNvSpPr>
          <p:nvPr/>
        </p:nvSpPr>
        <p:spPr bwMode="auto">
          <a:xfrm>
            <a:off x="309563" y="2689225"/>
            <a:ext cx="30480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ko-KR" altLang="en-US" sz="1200"/>
              <a:t>본사</a:t>
            </a:r>
          </a:p>
        </p:txBody>
      </p:sp>
      <p:sp>
        <p:nvSpPr>
          <p:cNvPr id="119818" name="AutoShape 102">
            <a:extLst>
              <a:ext uri="{FF2B5EF4-FFF2-40B4-BE49-F238E27FC236}">
                <a16:creationId xmlns:a16="http://schemas.microsoft.com/office/drawing/2014/main" id="{85C03085-CAD4-9AF2-4BE2-24C6240F1BA3}"/>
              </a:ext>
            </a:extLst>
          </p:cNvPr>
          <p:cNvSpPr>
            <a:spLocks noChangeArrowheads="1"/>
          </p:cNvSpPr>
          <p:nvPr/>
        </p:nvSpPr>
        <p:spPr bwMode="auto">
          <a:xfrm>
            <a:off x="3203575" y="2773363"/>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t>CVI </a:t>
            </a:r>
            <a:r>
              <a:rPr lang="ko-KR" altLang="en-US" sz="1000"/>
              <a:t>비전 선포</a:t>
            </a:r>
            <a:br>
              <a:rPr lang="ko-KR" altLang="en-US" sz="1000"/>
            </a:br>
            <a:r>
              <a:rPr lang="en-US" altLang="ko-KR" sz="1000"/>
              <a:t>(’06.12)</a:t>
            </a:r>
          </a:p>
        </p:txBody>
      </p:sp>
      <p:sp>
        <p:nvSpPr>
          <p:cNvPr id="119819" name="AutoShape 103">
            <a:extLst>
              <a:ext uri="{FF2B5EF4-FFF2-40B4-BE49-F238E27FC236}">
                <a16:creationId xmlns:a16="http://schemas.microsoft.com/office/drawing/2014/main" id="{8BFE0ACE-1EAB-7C7E-34B9-C48A14C422AC}"/>
              </a:ext>
            </a:extLst>
          </p:cNvPr>
          <p:cNvSpPr>
            <a:spLocks noChangeArrowheads="1"/>
          </p:cNvSpPr>
          <p:nvPr/>
        </p:nvSpPr>
        <p:spPr bwMode="auto">
          <a:xfrm>
            <a:off x="4605338" y="2773363"/>
            <a:ext cx="1319212"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t>CVIC </a:t>
            </a:r>
            <a:r>
              <a:rPr lang="ko-KR" altLang="en-US" sz="1000"/>
              <a:t>신설</a:t>
            </a:r>
          </a:p>
          <a:p>
            <a:pPr algn="ctr">
              <a:spcBef>
                <a:spcPct val="0"/>
              </a:spcBef>
              <a:buClrTx/>
              <a:buFontTx/>
              <a:buNone/>
            </a:pPr>
            <a:r>
              <a:rPr lang="en-US" altLang="ko-KR" sz="1000"/>
              <a:t>(’07~)</a:t>
            </a:r>
          </a:p>
        </p:txBody>
      </p:sp>
      <p:sp>
        <p:nvSpPr>
          <p:cNvPr id="119820" name="AutoShape 104">
            <a:extLst>
              <a:ext uri="{FF2B5EF4-FFF2-40B4-BE49-F238E27FC236}">
                <a16:creationId xmlns:a16="http://schemas.microsoft.com/office/drawing/2014/main" id="{430E6195-3ABA-7F49-7AF6-33F2DE7A71A9}"/>
              </a:ext>
            </a:extLst>
          </p:cNvPr>
          <p:cNvSpPr>
            <a:spLocks noChangeArrowheads="1"/>
          </p:cNvSpPr>
          <p:nvPr/>
        </p:nvSpPr>
        <p:spPr bwMode="auto">
          <a:xfrm>
            <a:off x="1403350" y="2779713"/>
            <a:ext cx="13319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t>CRM </a:t>
            </a:r>
            <a:r>
              <a:rPr lang="ko-KR" altLang="en-US" sz="1000"/>
              <a:t>프로세스 혁신</a:t>
            </a:r>
          </a:p>
          <a:p>
            <a:pPr algn="ctr">
              <a:spcBef>
                <a:spcPct val="0"/>
              </a:spcBef>
              <a:buClrTx/>
              <a:buFontTx/>
              <a:buNone/>
            </a:pPr>
            <a:r>
              <a:rPr lang="en-US" altLang="ko-KR" sz="1000"/>
              <a:t>(’05.5~’07.8)</a:t>
            </a:r>
          </a:p>
        </p:txBody>
      </p:sp>
      <p:sp>
        <p:nvSpPr>
          <p:cNvPr id="119821" name="AutoShape 105">
            <a:extLst>
              <a:ext uri="{FF2B5EF4-FFF2-40B4-BE49-F238E27FC236}">
                <a16:creationId xmlns:a16="http://schemas.microsoft.com/office/drawing/2014/main" id="{0A4D2065-A5DA-F187-5C13-C4670CDBF390}"/>
              </a:ext>
            </a:extLst>
          </p:cNvPr>
          <p:cNvSpPr>
            <a:spLocks noChangeArrowheads="1"/>
          </p:cNvSpPr>
          <p:nvPr/>
        </p:nvSpPr>
        <p:spPr bwMode="auto">
          <a:xfrm>
            <a:off x="1412875" y="2405063"/>
            <a:ext cx="1322388"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고객 니즈</a:t>
            </a:r>
            <a:r>
              <a:rPr lang="en-US" altLang="ko-KR" sz="1000"/>
              <a:t>/</a:t>
            </a:r>
            <a:r>
              <a:rPr lang="ko-KR" altLang="en-US" sz="1000"/>
              <a:t>경험 관리</a:t>
            </a:r>
          </a:p>
          <a:p>
            <a:pPr algn="ctr">
              <a:spcBef>
                <a:spcPct val="0"/>
              </a:spcBef>
              <a:buClrTx/>
              <a:buFontTx/>
              <a:buNone/>
            </a:pPr>
            <a:r>
              <a:rPr lang="en-US" altLang="ko-KR" sz="1000"/>
              <a:t>(’07~)</a:t>
            </a:r>
          </a:p>
        </p:txBody>
      </p:sp>
      <p:sp>
        <p:nvSpPr>
          <p:cNvPr id="119822" name="AutoShape 106">
            <a:extLst>
              <a:ext uri="{FF2B5EF4-FFF2-40B4-BE49-F238E27FC236}">
                <a16:creationId xmlns:a16="http://schemas.microsoft.com/office/drawing/2014/main" id="{DC8FA231-E198-D59B-01F2-3EC149A01122}"/>
              </a:ext>
            </a:extLst>
          </p:cNvPr>
          <p:cNvSpPr>
            <a:spLocks noChangeArrowheads="1"/>
          </p:cNvSpPr>
          <p:nvPr/>
        </p:nvSpPr>
        <p:spPr bwMode="auto">
          <a:xfrm>
            <a:off x="5984875" y="2771775"/>
            <a:ext cx="1395413" cy="296863"/>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고객가치 중심 </a:t>
            </a:r>
            <a:r>
              <a:rPr lang="en-US" altLang="ko-KR" sz="1000"/>
              <a:t>CFT </a:t>
            </a:r>
            <a:r>
              <a:rPr lang="ko-KR" altLang="en-US" sz="1000"/>
              <a:t>활동</a:t>
            </a:r>
          </a:p>
          <a:p>
            <a:pPr algn="ctr">
              <a:spcBef>
                <a:spcPct val="0"/>
              </a:spcBef>
              <a:buClrTx/>
              <a:buFontTx/>
              <a:buNone/>
            </a:pPr>
            <a:r>
              <a:rPr lang="en-US" altLang="ko-KR" sz="1000"/>
              <a:t>(’06~)</a:t>
            </a:r>
          </a:p>
        </p:txBody>
      </p:sp>
      <p:sp>
        <p:nvSpPr>
          <p:cNvPr id="119823" name="AutoShape 107">
            <a:extLst>
              <a:ext uri="{FF2B5EF4-FFF2-40B4-BE49-F238E27FC236}">
                <a16:creationId xmlns:a16="http://schemas.microsoft.com/office/drawing/2014/main" id="{F7B09D6A-6062-E144-F435-FAF2C57E8156}"/>
              </a:ext>
            </a:extLst>
          </p:cNvPr>
          <p:cNvSpPr/>
          <p:nvPr>
            <p:custDataLst>
              <p:tags r:id="rId3"/>
            </p:custDataLst>
          </p:nvPr>
        </p:nvSpPr>
        <p:spPr bwMode="auto">
          <a:xfrm>
            <a:off x="7524750" y="2122488"/>
            <a:ext cx="1368425" cy="1290637"/>
          </a:xfrm>
          <a:prstGeom prst="borderCallout2">
            <a:avLst>
              <a:gd name="adj1" fmla="val 5657"/>
              <a:gd name="adj2" fmla="val -5569"/>
              <a:gd name="adj3" fmla="val 5657"/>
              <a:gd name="adj4" fmla="val -29236"/>
              <a:gd name="adj5" fmla="val 43787"/>
              <a:gd name="adj6" fmla="val -52551"/>
            </a:avLst>
          </a:prstGeom>
          <a:noFill/>
          <a:ln w="9525" algn="ctr">
            <a:solidFill>
              <a:schemeClr val="tx1"/>
            </a:solidFill>
            <a:miter lim="800000"/>
          </a:ln>
          <a:effectLst/>
          <a:extLst>
            <a:ext uri="{909E8E84-426E-40DD-AFC4-6F175D3DCCD1}">
              <a14:hiddenFill xmlns:a14="http://schemas.microsoft.com/office/drawing/2010/main">
                <a:solidFill>
                  <a:schemeClr val="bg1">
                    <a:alpha val="59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indent="-90488" defTabSz="1019175">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471488" indent="-112713" defTabSz="1019175">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763588" indent="-112713" defTabSz="1019175">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055688" indent="-112713" defTabSz="1019175">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1339850" indent="-104775" defTabSz="1019175">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1797050" indent="-104775" defTabSz="101917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254250" indent="-104775" defTabSz="101917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2711450" indent="-104775" defTabSz="101917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168650" indent="-104775" defTabSz="1019175"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nSpc>
                <a:spcPct val="100000"/>
              </a:lnSpc>
              <a:spcBef>
                <a:spcPct val="0"/>
              </a:spcBef>
              <a:buFontTx/>
              <a:buChar char="•"/>
            </a:pPr>
            <a:r>
              <a:rPr lang="ko-KR" altLang="en-US" sz="1000" b="0"/>
              <a:t>고객중심 사업설계</a:t>
            </a:r>
          </a:p>
          <a:p>
            <a:pPr>
              <a:lnSpc>
                <a:spcPct val="100000"/>
              </a:lnSpc>
              <a:spcBef>
                <a:spcPct val="0"/>
              </a:spcBef>
              <a:buFontTx/>
              <a:buChar char="•"/>
            </a:pPr>
            <a:r>
              <a:rPr lang="ko-KR" altLang="en-US" sz="1000" b="0"/>
              <a:t>고객접점 변화관리</a:t>
            </a:r>
          </a:p>
          <a:p>
            <a:pPr>
              <a:lnSpc>
                <a:spcPct val="100000"/>
              </a:lnSpc>
              <a:spcBef>
                <a:spcPct val="0"/>
              </a:spcBef>
              <a:buFontTx/>
              <a:buChar char="•"/>
            </a:pPr>
            <a:r>
              <a:rPr lang="ko-KR" altLang="en-US" sz="1000" b="0"/>
              <a:t>신사업 추진체계</a:t>
            </a:r>
          </a:p>
          <a:p>
            <a:pPr>
              <a:lnSpc>
                <a:spcPct val="100000"/>
              </a:lnSpc>
              <a:spcBef>
                <a:spcPct val="0"/>
              </a:spcBef>
              <a:buFontTx/>
              <a:buChar char="•"/>
            </a:pPr>
            <a:r>
              <a:rPr lang="ko-KR" altLang="en-US" sz="1000" b="0"/>
              <a:t>임직원 역량 및 도전의식 강화</a:t>
            </a:r>
          </a:p>
          <a:p>
            <a:pPr>
              <a:lnSpc>
                <a:spcPct val="100000"/>
              </a:lnSpc>
              <a:spcBef>
                <a:spcPct val="0"/>
              </a:spcBef>
              <a:buFontTx/>
              <a:buChar char="•"/>
            </a:pPr>
            <a:r>
              <a:rPr lang="en-US" altLang="ko-KR" sz="1000" b="0"/>
              <a:t>IT </a:t>
            </a:r>
            <a:r>
              <a:rPr lang="ko-KR" altLang="en-US" sz="1000" b="0"/>
              <a:t>서포터즈 육성</a:t>
            </a:r>
          </a:p>
          <a:p>
            <a:pPr>
              <a:lnSpc>
                <a:spcPct val="100000"/>
              </a:lnSpc>
              <a:spcBef>
                <a:spcPct val="0"/>
              </a:spcBef>
              <a:buFontTx/>
              <a:buChar char="•"/>
            </a:pPr>
            <a:r>
              <a:rPr lang="ko-KR" altLang="en-US" sz="1000" b="0"/>
              <a:t>고객 니즈</a:t>
            </a:r>
          </a:p>
          <a:p>
            <a:pPr>
              <a:lnSpc>
                <a:spcPct val="100000"/>
              </a:lnSpc>
              <a:spcBef>
                <a:spcPct val="0"/>
              </a:spcBef>
              <a:buFontTx/>
              <a:buChar char="•"/>
            </a:pPr>
            <a:r>
              <a:rPr lang="ko-KR" altLang="en-US" sz="1000" b="0"/>
              <a:t>교육체계 개편</a:t>
            </a:r>
            <a:endParaRPr lang="en-US" altLang="ko-KR" sz="1000" b="0"/>
          </a:p>
        </p:txBody>
      </p:sp>
      <p:sp>
        <p:nvSpPr>
          <p:cNvPr id="119824" name="AutoShape 108">
            <a:extLst>
              <a:ext uri="{FF2B5EF4-FFF2-40B4-BE49-F238E27FC236}">
                <a16:creationId xmlns:a16="http://schemas.microsoft.com/office/drawing/2014/main" id="{8F1550A5-EC28-EF2D-B85E-51F53C34A66F}"/>
              </a:ext>
            </a:extLst>
          </p:cNvPr>
          <p:cNvSpPr>
            <a:spLocks noChangeArrowheads="1"/>
          </p:cNvSpPr>
          <p:nvPr/>
        </p:nvSpPr>
        <p:spPr bwMode="auto">
          <a:xfrm>
            <a:off x="3903663" y="2405063"/>
            <a:ext cx="1316037"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고객 관점 지표 강화 </a:t>
            </a:r>
            <a:r>
              <a:rPr lang="en-US" altLang="ko-KR" sz="1000"/>
              <a:t>(’07~)</a:t>
            </a:r>
          </a:p>
        </p:txBody>
      </p:sp>
      <p:sp>
        <p:nvSpPr>
          <p:cNvPr id="119825" name="AutoShape 109">
            <a:extLst>
              <a:ext uri="{FF2B5EF4-FFF2-40B4-BE49-F238E27FC236}">
                <a16:creationId xmlns:a16="http://schemas.microsoft.com/office/drawing/2014/main" id="{5665A6EE-FA9D-6EF7-D189-5FE0B0A64811}"/>
              </a:ext>
            </a:extLst>
          </p:cNvPr>
          <p:cNvSpPr>
            <a:spLocks noChangeArrowheads="1"/>
          </p:cNvSpPr>
          <p:nvPr/>
        </p:nvSpPr>
        <p:spPr bwMode="auto">
          <a:xfrm>
            <a:off x="5292725" y="2405063"/>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디자인 경영실 신설 </a:t>
            </a:r>
            <a:r>
              <a:rPr lang="en-US" altLang="ko-KR" sz="1000"/>
              <a:t>(’07~)</a:t>
            </a:r>
          </a:p>
        </p:txBody>
      </p:sp>
      <p:sp>
        <p:nvSpPr>
          <p:cNvPr id="119826" name="AutoShape 110">
            <a:extLst>
              <a:ext uri="{FF2B5EF4-FFF2-40B4-BE49-F238E27FC236}">
                <a16:creationId xmlns:a16="http://schemas.microsoft.com/office/drawing/2014/main" id="{CE1EF6DE-0DEE-95D7-A178-5816729F8539}"/>
              </a:ext>
            </a:extLst>
          </p:cNvPr>
          <p:cNvSpPr/>
          <p:nvPr/>
        </p:nvSpPr>
        <p:spPr bwMode="auto">
          <a:xfrm>
            <a:off x="641350" y="2355850"/>
            <a:ext cx="152400" cy="838200"/>
          </a:xfrm>
          <a:prstGeom prst="leftBrace">
            <a:avLst>
              <a:gd name="adj1" fmla="val 45833"/>
              <a:gd name="adj2" fmla="val 50000"/>
            </a:avLst>
          </a:prstGeom>
          <a:noFill/>
          <a:ln w="127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119827" name="Line 111">
            <a:extLst>
              <a:ext uri="{FF2B5EF4-FFF2-40B4-BE49-F238E27FC236}">
                <a16:creationId xmlns:a16="http://schemas.microsoft.com/office/drawing/2014/main" id="{FB60AB0C-1669-9385-CAEA-DF5908E65FC6}"/>
              </a:ext>
            </a:extLst>
          </p:cNvPr>
          <p:cNvSpPr>
            <a:spLocks noChangeShapeType="1"/>
          </p:cNvSpPr>
          <p:nvPr/>
        </p:nvSpPr>
        <p:spPr bwMode="auto">
          <a:xfrm flipH="1" flipV="1">
            <a:off x="1765300" y="4976813"/>
            <a:ext cx="0" cy="500062"/>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28" name="Line 112">
            <a:extLst>
              <a:ext uri="{FF2B5EF4-FFF2-40B4-BE49-F238E27FC236}">
                <a16:creationId xmlns:a16="http://schemas.microsoft.com/office/drawing/2014/main" id="{BABC696D-C1A1-946B-21D7-A96B26950F2E}"/>
              </a:ext>
            </a:extLst>
          </p:cNvPr>
          <p:cNvSpPr>
            <a:spLocks noChangeShapeType="1"/>
          </p:cNvSpPr>
          <p:nvPr/>
        </p:nvSpPr>
        <p:spPr bwMode="auto">
          <a:xfrm flipH="1" flipV="1">
            <a:off x="5026025" y="4976813"/>
            <a:ext cx="0" cy="500062"/>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29" name="Line 113">
            <a:extLst>
              <a:ext uri="{FF2B5EF4-FFF2-40B4-BE49-F238E27FC236}">
                <a16:creationId xmlns:a16="http://schemas.microsoft.com/office/drawing/2014/main" id="{8184981B-F7D4-CD16-4798-34DBF9E9EF23}"/>
              </a:ext>
            </a:extLst>
          </p:cNvPr>
          <p:cNvSpPr>
            <a:spLocks noChangeShapeType="1"/>
          </p:cNvSpPr>
          <p:nvPr/>
        </p:nvSpPr>
        <p:spPr bwMode="auto">
          <a:xfrm flipH="1" flipV="1">
            <a:off x="6538913" y="4976813"/>
            <a:ext cx="0" cy="500062"/>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ko-KR" altLang="en-US"/>
          </a:p>
        </p:txBody>
      </p:sp>
      <p:sp>
        <p:nvSpPr>
          <p:cNvPr id="119830" name="AutoShape 114">
            <a:extLst>
              <a:ext uri="{FF2B5EF4-FFF2-40B4-BE49-F238E27FC236}">
                <a16:creationId xmlns:a16="http://schemas.microsoft.com/office/drawing/2014/main" id="{8200A158-A3C9-E342-ADA8-CA17A4770480}"/>
              </a:ext>
            </a:extLst>
          </p:cNvPr>
          <p:cNvSpPr>
            <a:spLocks noChangeArrowheads="1"/>
          </p:cNvSpPr>
          <p:nvPr/>
        </p:nvSpPr>
        <p:spPr bwMode="auto">
          <a:xfrm>
            <a:off x="1116013" y="5213350"/>
            <a:ext cx="1319212"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t>VoC </a:t>
            </a:r>
            <a:r>
              <a:rPr lang="ko-KR" altLang="en-US" sz="1000"/>
              <a:t>시스템 오픈</a:t>
            </a:r>
            <a:br>
              <a:rPr lang="ko-KR" altLang="en-US" sz="1000"/>
            </a:br>
            <a:r>
              <a:rPr lang="en-US" altLang="ko-KR" sz="1000"/>
              <a:t>(’02. 8)</a:t>
            </a:r>
          </a:p>
        </p:txBody>
      </p:sp>
      <p:sp>
        <p:nvSpPr>
          <p:cNvPr id="119831" name="Line 115">
            <a:extLst>
              <a:ext uri="{FF2B5EF4-FFF2-40B4-BE49-F238E27FC236}">
                <a16:creationId xmlns:a16="http://schemas.microsoft.com/office/drawing/2014/main" id="{79B89AFF-1A03-4747-45D1-AC795101A7C7}"/>
              </a:ext>
            </a:extLst>
          </p:cNvPr>
          <p:cNvSpPr>
            <a:spLocks noChangeShapeType="1"/>
          </p:cNvSpPr>
          <p:nvPr/>
        </p:nvSpPr>
        <p:spPr bwMode="auto">
          <a:xfrm flipH="1" flipV="1">
            <a:off x="3328988" y="4976813"/>
            <a:ext cx="0" cy="500062"/>
          </a:xfrm>
          <a:prstGeom prst="line">
            <a:avLst/>
          </a:prstGeom>
          <a:noFill/>
          <a:ln w="25400">
            <a:solidFill>
              <a:schemeClr val="accent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4450" rIns="0" bIns="44450"/>
          <a:lstStyle/>
          <a:p>
            <a:endParaRPr lang="ko-KR" altLang="en-US"/>
          </a:p>
        </p:txBody>
      </p:sp>
      <p:sp>
        <p:nvSpPr>
          <p:cNvPr id="119832" name="AutoShape 116">
            <a:extLst>
              <a:ext uri="{FF2B5EF4-FFF2-40B4-BE49-F238E27FC236}">
                <a16:creationId xmlns:a16="http://schemas.microsoft.com/office/drawing/2014/main" id="{10F3DB03-F229-8E95-1E5D-C98F5F3EAF96}"/>
              </a:ext>
            </a:extLst>
          </p:cNvPr>
          <p:cNvSpPr>
            <a:spLocks noChangeArrowheads="1"/>
          </p:cNvSpPr>
          <p:nvPr/>
        </p:nvSpPr>
        <p:spPr bwMode="auto">
          <a:xfrm>
            <a:off x="2681288" y="5229225"/>
            <a:ext cx="1319212"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고객 부문 신설 </a:t>
            </a:r>
            <a:br>
              <a:rPr lang="ko-KR" altLang="en-US" sz="1000"/>
            </a:br>
            <a:r>
              <a:rPr lang="en-US" altLang="ko-KR" sz="1000"/>
              <a:t>(’07~)</a:t>
            </a:r>
          </a:p>
        </p:txBody>
      </p:sp>
      <p:sp>
        <p:nvSpPr>
          <p:cNvPr id="119833" name="AutoShape 117">
            <a:extLst>
              <a:ext uri="{FF2B5EF4-FFF2-40B4-BE49-F238E27FC236}">
                <a16:creationId xmlns:a16="http://schemas.microsoft.com/office/drawing/2014/main" id="{7532EE57-C8D0-1BA2-8002-7C97A1A3CFF6}"/>
              </a:ext>
            </a:extLst>
          </p:cNvPr>
          <p:cNvSpPr>
            <a:spLocks noChangeArrowheads="1"/>
          </p:cNvSpPr>
          <p:nvPr/>
        </p:nvSpPr>
        <p:spPr bwMode="auto">
          <a:xfrm>
            <a:off x="5867400" y="5213350"/>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결합상품 본격 출시</a:t>
            </a:r>
            <a:br>
              <a:rPr lang="ko-KR" altLang="en-US" sz="1000"/>
            </a:br>
            <a:r>
              <a:rPr lang="en-US" altLang="ko-KR" sz="1000"/>
              <a:t>(’07. 7)</a:t>
            </a:r>
          </a:p>
        </p:txBody>
      </p:sp>
      <p:sp>
        <p:nvSpPr>
          <p:cNvPr id="119834" name="AutoShape 118">
            <a:extLst>
              <a:ext uri="{FF2B5EF4-FFF2-40B4-BE49-F238E27FC236}">
                <a16:creationId xmlns:a16="http://schemas.microsoft.com/office/drawing/2014/main" id="{C78B7BF8-7691-4FA7-A510-B22A5386A45E}"/>
              </a:ext>
            </a:extLst>
          </p:cNvPr>
          <p:cNvSpPr>
            <a:spLocks noChangeArrowheads="1"/>
          </p:cNvSpPr>
          <p:nvPr/>
        </p:nvSpPr>
        <p:spPr bwMode="auto">
          <a:xfrm>
            <a:off x="5867400" y="5645150"/>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전국 단일요금제 등 출시 </a:t>
            </a:r>
            <a:r>
              <a:rPr lang="en-US" altLang="ko-KR" sz="1000"/>
              <a:t>(’07. 11)</a:t>
            </a:r>
          </a:p>
        </p:txBody>
      </p:sp>
      <p:sp>
        <p:nvSpPr>
          <p:cNvPr id="119835" name="AutoShape 119">
            <a:extLst>
              <a:ext uri="{FF2B5EF4-FFF2-40B4-BE49-F238E27FC236}">
                <a16:creationId xmlns:a16="http://schemas.microsoft.com/office/drawing/2014/main" id="{7F01BBA0-7861-CA53-165A-616C98DE6571}"/>
              </a:ext>
            </a:extLst>
          </p:cNvPr>
          <p:cNvSpPr/>
          <p:nvPr/>
        </p:nvSpPr>
        <p:spPr bwMode="auto">
          <a:xfrm flipV="1">
            <a:off x="641350" y="5146675"/>
            <a:ext cx="152400" cy="803275"/>
          </a:xfrm>
          <a:prstGeom prst="leftBrace">
            <a:avLst>
              <a:gd name="adj1" fmla="val 43924"/>
              <a:gd name="adj2" fmla="val 50000"/>
            </a:avLst>
          </a:prstGeom>
          <a:noFill/>
          <a:ln w="127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119836" name="AutoShape 120">
            <a:extLst>
              <a:ext uri="{FF2B5EF4-FFF2-40B4-BE49-F238E27FC236}">
                <a16:creationId xmlns:a16="http://schemas.microsoft.com/office/drawing/2014/main" id="{09A22D42-C45A-54CF-1A11-5523A25F92BB}"/>
              </a:ext>
            </a:extLst>
          </p:cNvPr>
          <p:cNvSpPr>
            <a:spLocks noChangeArrowheads="1"/>
          </p:cNvSpPr>
          <p:nvPr/>
        </p:nvSpPr>
        <p:spPr bwMode="auto">
          <a:xfrm>
            <a:off x="4283075" y="5213350"/>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유무선 복합 매장 오픈 </a:t>
            </a:r>
            <a:br>
              <a:rPr lang="ko-KR" altLang="en-US" sz="1000"/>
            </a:br>
            <a:r>
              <a:rPr lang="en-US" altLang="ko-KR" sz="1000"/>
              <a:t>(’06. 7)</a:t>
            </a:r>
          </a:p>
        </p:txBody>
      </p:sp>
      <p:sp>
        <p:nvSpPr>
          <p:cNvPr id="119837" name="AutoShape 121">
            <a:extLst>
              <a:ext uri="{FF2B5EF4-FFF2-40B4-BE49-F238E27FC236}">
                <a16:creationId xmlns:a16="http://schemas.microsoft.com/office/drawing/2014/main" id="{4215446C-9019-1EAB-A67A-0592C1687A25}"/>
              </a:ext>
            </a:extLst>
          </p:cNvPr>
          <p:cNvSpPr>
            <a:spLocks noChangeArrowheads="1"/>
          </p:cNvSpPr>
          <p:nvPr/>
        </p:nvSpPr>
        <p:spPr bwMode="auto">
          <a:xfrm>
            <a:off x="2698750" y="5645150"/>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a:t>고객 밀착형 지점 체계</a:t>
            </a:r>
            <a:br>
              <a:rPr lang="ko-KR" altLang="en-US" sz="1000"/>
            </a:br>
            <a:r>
              <a:rPr lang="en-US" altLang="ko-KR" sz="1000"/>
              <a:t>(’07~)</a:t>
            </a:r>
          </a:p>
        </p:txBody>
      </p:sp>
      <p:sp>
        <p:nvSpPr>
          <p:cNvPr id="119838" name="AutoShape 122">
            <a:extLst>
              <a:ext uri="{FF2B5EF4-FFF2-40B4-BE49-F238E27FC236}">
                <a16:creationId xmlns:a16="http://schemas.microsoft.com/office/drawing/2014/main" id="{074A122B-6B21-17DD-9AFD-43C535B03862}"/>
              </a:ext>
            </a:extLst>
          </p:cNvPr>
          <p:cNvSpPr>
            <a:spLocks noChangeArrowheads="1"/>
          </p:cNvSpPr>
          <p:nvPr/>
        </p:nvSpPr>
        <p:spPr bwMode="auto">
          <a:xfrm>
            <a:off x="4283075" y="5645150"/>
            <a:ext cx="1319213" cy="304800"/>
          </a:xfrm>
          <a:prstGeom prst="homePlate">
            <a:avLst>
              <a:gd name="adj" fmla="val 0"/>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en-US" altLang="ko-KR" sz="1000"/>
              <a:t>KT </a:t>
            </a:r>
            <a:r>
              <a:rPr lang="ko-KR" altLang="en-US" sz="1000"/>
              <a:t>온라인 사이트 통합</a:t>
            </a:r>
            <a:br>
              <a:rPr lang="ko-KR" altLang="en-US" sz="1000"/>
            </a:br>
            <a:r>
              <a:rPr lang="en-US" altLang="ko-KR" sz="1000"/>
              <a:t>(’07. 10)</a:t>
            </a:r>
          </a:p>
        </p:txBody>
      </p:sp>
      <p:grpSp>
        <p:nvGrpSpPr>
          <p:cNvPr id="119839" name="Group 123">
            <a:extLst>
              <a:ext uri="{FF2B5EF4-FFF2-40B4-BE49-F238E27FC236}">
                <a16:creationId xmlns:a16="http://schemas.microsoft.com/office/drawing/2014/main" id="{0BB6377F-EBA9-7EE7-C91A-B1791570FAC1}"/>
              </a:ext>
            </a:extLst>
          </p:cNvPr>
          <p:cNvGrpSpPr/>
          <p:nvPr/>
        </p:nvGrpSpPr>
        <p:grpSpPr>
          <a:xfrm>
            <a:off x="465138" y="3892550"/>
            <a:ext cx="304800" cy="566738"/>
            <a:chOff x="136" y="2223"/>
            <a:chExt cx="204" cy="349"/>
          </a:xfrm>
        </p:grpSpPr>
        <p:sp>
          <p:nvSpPr>
            <p:cNvPr id="119862" name="Text Box 124">
              <a:extLst>
                <a:ext uri="{FF2B5EF4-FFF2-40B4-BE49-F238E27FC236}">
                  <a16:creationId xmlns:a16="http://schemas.microsoft.com/office/drawing/2014/main" id="{0FC41380-F077-8CAC-C6F9-2E9A83D99444}"/>
                </a:ext>
              </a:extLst>
            </p:cNvPr>
            <p:cNvSpPr txBox="1">
              <a:spLocks noChangeArrowheads="1"/>
            </p:cNvSpPr>
            <p:nvPr/>
          </p:nvSpPr>
          <p:spPr bwMode="auto">
            <a:xfrm>
              <a:off x="136" y="2470"/>
              <a:ext cx="204" cy="1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ko-KR" altLang="en-US" sz="1200"/>
                <a:t>고객</a:t>
              </a:r>
            </a:p>
          </p:txBody>
        </p:sp>
        <p:graphicFrame>
          <p:nvGraphicFramePr>
            <p:cNvPr id="119863" name="Object 125">
              <a:extLst>
                <a:ext uri="{FF2B5EF4-FFF2-40B4-BE49-F238E27FC236}">
                  <a16:creationId xmlns:a16="http://schemas.microsoft.com/office/drawing/2014/main" id="{64731318-0489-125C-D50F-2E9B02B84880}"/>
                </a:ext>
              </a:extLst>
            </p:cNvPr>
            <p:cNvGraphicFramePr>
              <a:graphicFrameLocks noChangeAspect="1"/>
            </p:cNvGraphicFramePr>
            <p:nvPr/>
          </p:nvGraphicFramePr>
          <p:xfrm>
            <a:off x="159" y="2223"/>
            <a:ext cx="170" cy="214"/>
          </p:xfrm>
          <a:graphic>
            <a:graphicData uri="http://schemas.openxmlformats.org/presentationml/2006/ole">
              <mc:AlternateContent>
                <mc:Choice xmlns:v="urn:schemas-microsoft-com:vml" Requires="v">
                  <p:oleObj spid="_x0000_s1058" name="ｸﾘｯﾌﾟ" r:id="rId4" imgW="2311400" imgH="5829300" progId="MS_ClipArt_Gallery.2">
                    <p:embed/>
                  </p:oleObj>
                </mc:Choice>
                <mc:Fallback>
                  <p:oleObj name="ｸﾘｯﾌﾟ" r:id="rId4" imgW="2311400" imgH="5829300" progId="MS_ClipArt_Gallery.2">
                    <p:embed/>
                    <p:pic>
                      <p:nvPicPr>
                        <p:cNvPr id="0" name="OLE substitute image"/>
                        <p:cNvPicPr/>
                        <p:nvPr/>
                      </p:nvPicPr>
                      <p:blipFill>
                        <a:blip r:embed="rId5">
                          <a:lum bright="-12000" contrast="-100000"/>
                          <a:grayscl/>
                          <a:extLst>
                            <a:ext uri="{28A0092B-C50C-407E-A947-70E740481C1C}">
                              <a14:useLocalDpi xmlns:a14="http://schemas.microsoft.com/office/drawing/2010/main" val="0"/>
                            </a:ext>
                          </a:extLst>
                        </a:blip>
                        <a:srcRect b="49738"/>
                        <a:stretch>
                          <a:fillRect/>
                        </a:stretch>
                      </p:blipFill>
                      <p:spPr>
                        <a:xfrm>
                          <a:off x="159" y="2223"/>
                          <a:ext cx="170" cy="214"/>
                        </a:xfrm>
                        <a:prstGeom prst="rect">
                          <a:avLst/>
                        </a:prstGeom>
                        <a:noFill/>
                        <a:ln>
                          <a:noFill/>
                        </a:ln>
                        <a:effectLst/>
                      </p:spPr>
                    </p:pic>
                  </p:oleObj>
                </mc:Fallback>
              </mc:AlternateContent>
            </a:graphicData>
          </a:graphic>
        </p:graphicFrame>
      </p:grpSp>
      <p:grpSp>
        <p:nvGrpSpPr>
          <p:cNvPr id="119840" name="Group 126">
            <a:extLst>
              <a:ext uri="{FF2B5EF4-FFF2-40B4-BE49-F238E27FC236}">
                <a16:creationId xmlns:a16="http://schemas.microsoft.com/office/drawing/2014/main" id="{B34DA6C4-B816-05C5-9AC6-A2A21F382941}"/>
              </a:ext>
            </a:extLst>
          </p:cNvPr>
          <p:cNvGrpSpPr/>
          <p:nvPr/>
        </p:nvGrpSpPr>
        <p:grpSpPr>
          <a:xfrm>
            <a:off x="7618413" y="3892550"/>
            <a:ext cx="304800" cy="566738"/>
            <a:chOff x="5414" y="2223"/>
            <a:chExt cx="204" cy="349"/>
          </a:xfrm>
        </p:grpSpPr>
        <p:sp>
          <p:nvSpPr>
            <p:cNvPr id="119860" name="Text Box 127">
              <a:extLst>
                <a:ext uri="{FF2B5EF4-FFF2-40B4-BE49-F238E27FC236}">
                  <a16:creationId xmlns:a16="http://schemas.microsoft.com/office/drawing/2014/main" id="{43A3A797-0C70-B779-123F-8A317E7F8F1A}"/>
                </a:ext>
              </a:extLst>
            </p:cNvPr>
            <p:cNvSpPr txBox="1">
              <a:spLocks noChangeArrowheads="1"/>
            </p:cNvSpPr>
            <p:nvPr/>
          </p:nvSpPr>
          <p:spPr bwMode="auto">
            <a:xfrm>
              <a:off x="5414" y="2470"/>
              <a:ext cx="204" cy="1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ko-KR" altLang="en-US" sz="1200"/>
                <a:t>고객</a:t>
              </a:r>
            </a:p>
          </p:txBody>
        </p:sp>
        <p:graphicFrame>
          <p:nvGraphicFramePr>
            <p:cNvPr id="119861" name="Object 128">
              <a:extLst>
                <a:ext uri="{FF2B5EF4-FFF2-40B4-BE49-F238E27FC236}">
                  <a16:creationId xmlns:a16="http://schemas.microsoft.com/office/drawing/2014/main" id="{9B98D8D8-7A18-2892-59D3-1BD4DE96220E}"/>
                </a:ext>
              </a:extLst>
            </p:cNvPr>
            <p:cNvGraphicFramePr>
              <a:graphicFrameLocks noChangeAspect="1"/>
            </p:cNvGraphicFramePr>
            <p:nvPr/>
          </p:nvGraphicFramePr>
          <p:xfrm>
            <a:off x="5437" y="2223"/>
            <a:ext cx="170" cy="214"/>
          </p:xfrm>
          <a:graphic>
            <a:graphicData uri="http://schemas.openxmlformats.org/presentationml/2006/ole">
              <mc:AlternateContent>
                <mc:Choice xmlns:v="urn:schemas-microsoft-com:vml" Requires="v">
                  <p:oleObj spid="_x0000_s1059" name="ｸﾘｯﾌﾟ" r:id="rId6" imgW="2311400" imgH="5829300" progId="MS_ClipArt_Gallery.2">
                    <p:embed/>
                  </p:oleObj>
                </mc:Choice>
                <mc:Fallback>
                  <p:oleObj name="ｸﾘｯﾌﾟ" r:id="rId6" imgW="2311400" imgH="5829300" progId="MS_ClipArt_Gallery.2">
                    <p:embed/>
                    <p:pic>
                      <p:nvPicPr>
                        <p:cNvPr id="0" name="OLE substitute image"/>
                        <p:cNvPicPr/>
                        <p:nvPr/>
                      </p:nvPicPr>
                      <p:blipFill>
                        <a:blip r:embed="rId5">
                          <a:lum bright="-12000" contrast="-100000"/>
                          <a:grayscl/>
                          <a:extLst>
                            <a:ext uri="{28A0092B-C50C-407E-A947-70E740481C1C}">
                              <a14:useLocalDpi xmlns:a14="http://schemas.microsoft.com/office/drawing/2010/main" val="0"/>
                            </a:ext>
                          </a:extLst>
                        </a:blip>
                        <a:srcRect b="49738"/>
                        <a:stretch>
                          <a:fillRect/>
                        </a:stretch>
                      </p:blipFill>
                      <p:spPr>
                        <a:xfrm>
                          <a:off x="5437" y="2223"/>
                          <a:ext cx="170" cy="214"/>
                        </a:xfrm>
                        <a:prstGeom prst="rect">
                          <a:avLst/>
                        </a:prstGeom>
                        <a:noFill/>
                        <a:ln>
                          <a:noFill/>
                        </a:ln>
                        <a:effectLst/>
                      </p:spPr>
                    </p:pic>
                  </p:oleObj>
                </mc:Fallback>
              </mc:AlternateContent>
            </a:graphicData>
          </a:graphic>
        </p:graphicFrame>
      </p:grpSp>
      <p:sp>
        <p:nvSpPr>
          <p:cNvPr id="119841" name="AutoShape 129">
            <a:extLst>
              <a:ext uri="{FF2B5EF4-FFF2-40B4-BE49-F238E27FC236}">
                <a16:creationId xmlns:a16="http://schemas.microsoft.com/office/drawing/2014/main" id="{B233AEFB-59CF-62AD-F60E-8BD7A2FB924C}"/>
              </a:ext>
            </a:extLst>
          </p:cNvPr>
          <p:cNvSpPr>
            <a:spLocks noChangeArrowheads="1"/>
          </p:cNvSpPr>
          <p:nvPr/>
        </p:nvSpPr>
        <p:spPr bwMode="auto">
          <a:xfrm>
            <a:off x="949325" y="3409950"/>
            <a:ext cx="6527800" cy="1531938"/>
          </a:xfrm>
          <a:prstGeom prst="homePlate">
            <a:avLst>
              <a:gd name="adj" fmla="val 26494"/>
            </a:avLst>
          </a:prstGeom>
          <a:solidFill>
            <a:schemeClr val="folHlink"/>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hangingPunct="1">
              <a:spcBef>
                <a:spcPct val="50000"/>
              </a:spcBef>
              <a:buFontTx/>
              <a:buNone/>
            </a:pPr>
            <a:endParaRPr lang="ko-KR" altLang="en-US" sz="1400"/>
          </a:p>
        </p:txBody>
      </p:sp>
      <p:sp>
        <p:nvSpPr>
          <p:cNvPr id="119842" name="AutoShape 130">
            <a:extLst>
              <a:ext uri="{FF2B5EF4-FFF2-40B4-BE49-F238E27FC236}">
                <a16:creationId xmlns:a16="http://schemas.microsoft.com/office/drawing/2014/main" id="{D779A811-C518-3EBA-A260-34EF1DEB26C5}"/>
              </a:ext>
            </a:extLst>
          </p:cNvPr>
          <p:cNvSpPr>
            <a:spLocks noChangeArrowheads="1"/>
          </p:cNvSpPr>
          <p:nvPr/>
        </p:nvSpPr>
        <p:spPr bwMode="auto">
          <a:xfrm>
            <a:off x="949325" y="3714750"/>
            <a:ext cx="6527800" cy="925513"/>
          </a:xfrm>
          <a:prstGeom prst="homePlate">
            <a:avLst>
              <a:gd name="adj" fmla="val 26417"/>
            </a:avLst>
          </a:prstGeom>
          <a:solidFill>
            <a:srgbClr val="333333"/>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eaLnBrk="1" fontAlgn="b" hangingPunct="1">
              <a:spcBef>
                <a:spcPct val="50000"/>
              </a:spcBef>
              <a:buFontTx/>
              <a:buNone/>
            </a:pPr>
            <a:endParaRPr lang="ko-KR" altLang="en-US" sz="1400">
              <a:ea typeface="가는각진제목체" panose="02030600000101010101" pitchFamily="18" charset="-127"/>
            </a:endParaRPr>
          </a:p>
        </p:txBody>
      </p:sp>
      <p:sp>
        <p:nvSpPr>
          <p:cNvPr id="119843" name="Rectangle 131">
            <a:extLst>
              <a:ext uri="{FF2B5EF4-FFF2-40B4-BE49-F238E27FC236}">
                <a16:creationId xmlns:a16="http://schemas.microsoft.com/office/drawing/2014/main" id="{9DDB07EF-B842-F8DD-6473-15B4218A3DB6}"/>
              </a:ext>
            </a:extLst>
          </p:cNvPr>
          <p:cNvSpPr>
            <a:spLocks noChangeArrowheads="1"/>
          </p:cNvSpPr>
          <p:nvPr/>
        </p:nvSpPr>
        <p:spPr bwMode="white">
          <a:xfrm>
            <a:off x="1047750" y="3841750"/>
            <a:ext cx="1047750" cy="6683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200">
                <a:solidFill>
                  <a:schemeClr val="bg1"/>
                </a:solidFill>
              </a:rPr>
              <a:t>고객에 대한 깊은 이해</a:t>
            </a:r>
          </a:p>
        </p:txBody>
      </p:sp>
      <p:sp>
        <p:nvSpPr>
          <p:cNvPr id="119844" name="Rectangle 132">
            <a:extLst>
              <a:ext uri="{FF2B5EF4-FFF2-40B4-BE49-F238E27FC236}">
                <a16:creationId xmlns:a16="http://schemas.microsoft.com/office/drawing/2014/main" id="{9004AD32-7FCF-277A-1418-217CE0AB4ACE}"/>
              </a:ext>
            </a:extLst>
          </p:cNvPr>
          <p:cNvSpPr>
            <a:spLocks noChangeArrowheads="1"/>
          </p:cNvSpPr>
          <p:nvPr/>
        </p:nvSpPr>
        <p:spPr bwMode="white">
          <a:xfrm>
            <a:off x="3186113" y="3841750"/>
            <a:ext cx="1495425" cy="6683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200">
                <a:solidFill>
                  <a:schemeClr val="bg1"/>
                </a:solidFill>
              </a:rPr>
              <a:t>고객 가치 개발을 위한 전사 역량의 통합</a:t>
            </a:r>
            <a:r>
              <a:rPr lang="en-US" altLang="ko-KR" sz="1200">
                <a:solidFill>
                  <a:schemeClr val="bg1"/>
                </a:solidFill>
              </a:rPr>
              <a:t>, </a:t>
            </a:r>
            <a:r>
              <a:rPr lang="ko-KR" altLang="en-US" sz="1200">
                <a:solidFill>
                  <a:schemeClr val="bg1"/>
                </a:solidFill>
              </a:rPr>
              <a:t>조율 및 결집</a:t>
            </a:r>
          </a:p>
        </p:txBody>
      </p:sp>
      <p:sp>
        <p:nvSpPr>
          <p:cNvPr id="119845" name="Rectangle 133">
            <a:extLst>
              <a:ext uri="{FF2B5EF4-FFF2-40B4-BE49-F238E27FC236}">
                <a16:creationId xmlns:a16="http://schemas.microsoft.com/office/drawing/2014/main" id="{2E1DC468-A4DF-5A99-3FE4-821BC5DEF63E}"/>
              </a:ext>
            </a:extLst>
          </p:cNvPr>
          <p:cNvSpPr>
            <a:spLocks noChangeArrowheads="1"/>
          </p:cNvSpPr>
          <p:nvPr/>
        </p:nvSpPr>
        <p:spPr bwMode="white">
          <a:xfrm>
            <a:off x="5700713" y="3841750"/>
            <a:ext cx="1501775" cy="6683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72000" anchor="ct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200">
                <a:solidFill>
                  <a:schemeClr val="bg1"/>
                </a:solidFill>
              </a:rPr>
              <a:t>고객 접점에서의 차별적 가치 제공을 위한 업무 수행 변화</a:t>
            </a:r>
          </a:p>
        </p:txBody>
      </p:sp>
      <p:sp>
        <p:nvSpPr>
          <p:cNvPr id="119846" name="Text Box 134">
            <a:extLst>
              <a:ext uri="{FF2B5EF4-FFF2-40B4-BE49-F238E27FC236}">
                <a16:creationId xmlns:a16="http://schemas.microsoft.com/office/drawing/2014/main" id="{797D88E3-7D36-FF45-FD69-66CD3BC28377}"/>
              </a:ext>
            </a:extLst>
          </p:cNvPr>
          <p:cNvSpPr txBox="1">
            <a:spLocks noChangeArrowheads="1"/>
          </p:cNvSpPr>
          <p:nvPr/>
        </p:nvSpPr>
        <p:spPr bwMode="auto">
          <a:xfrm>
            <a:off x="3203575" y="3494088"/>
            <a:ext cx="1847850"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200"/>
              <a:t>본사의 업무 수행 방식 변화</a:t>
            </a:r>
          </a:p>
        </p:txBody>
      </p:sp>
      <p:sp>
        <p:nvSpPr>
          <p:cNvPr id="119847" name="Text Box 135">
            <a:extLst>
              <a:ext uri="{FF2B5EF4-FFF2-40B4-BE49-F238E27FC236}">
                <a16:creationId xmlns:a16="http://schemas.microsoft.com/office/drawing/2014/main" id="{5C12DFE0-D5E7-5A16-C3DA-23CF834796FE}"/>
              </a:ext>
            </a:extLst>
          </p:cNvPr>
          <p:cNvSpPr txBox="1">
            <a:spLocks noChangeArrowheads="1"/>
          </p:cNvSpPr>
          <p:nvPr/>
        </p:nvSpPr>
        <p:spPr bwMode="auto">
          <a:xfrm>
            <a:off x="3030538" y="4706938"/>
            <a:ext cx="2195512" cy="165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200"/>
              <a:t>고객 접점의 업무 수행 방식 변화</a:t>
            </a:r>
          </a:p>
        </p:txBody>
      </p:sp>
      <p:sp>
        <p:nvSpPr>
          <p:cNvPr id="119848" name="Freeform 136">
            <a:extLst>
              <a:ext uri="{FF2B5EF4-FFF2-40B4-BE49-F238E27FC236}">
                <a16:creationId xmlns:a16="http://schemas.microsoft.com/office/drawing/2014/main" id="{E47AF2F8-2A50-B515-9020-80440A3A6D65}"/>
              </a:ext>
            </a:extLst>
          </p:cNvPr>
          <p:cNvSpPr/>
          <p:nvPr/>
        </p:nvSpPr>
        <p:spPr bwMode="white">
          <a:xfrm>
            <a:off x="2209800" y="3387725"/>
            <a:ext cx="395288" cy="1570038"/>
          </a:xfrm>
          <a:custGeom>
            <a:gdLst>
              <a:gd name="T0" fmla="*/ 2147483646 w 264"/>
              <a:gd name="T1" fmla="*/ 2147483646 h 971"/>
              <a:gd name="T2" fmla="*/ 0 w 264"/>
              <a:gd name="T3" fmla="*/ 2147483646 h 971"/>
              <a:gd name="T4" fmla="*/ 2147483646 w 264"/>
              <a:gd name="T5" fmla="*/ 2147483646 h 971"/>
              <a:gd name="T6" fmla="*/ 2147483646 w 264"/>
              <a:gd name="T7" fmla="*/ 2147483646 h 971"/>
              <a:gd name="T8" fmla="*/ 2147483646 w 264"/>
              <a:gd name="T9" fmla="*/ 2147483646 h 971"/>
              <a:gd name="T10" fmla="*/ 2147483646 w 264"/>
              <a:gd name="T11" fmla="*/ 2147483646 h 971"/>
              <a:gd name="T12" fmla="*/ 2147483646 w 264"/>
              <a:gd name="T13" fmla="*/ 2147483646 h 971"/>
              <a:gd name="T14" fmla="*/ 2147483646 w 264"/>
              <a:gd name="T15" fmla="*/ 0 h 971"/>
              <a:gd name="T16" fmla="*/ 2147483646 w 264"/>
              <a:gd name="T17" fmla="*/ 2147483646 h 9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4" h="971">
                <a:moveTo>
                  <a:pt x="142" y="6"/>
                </a:moveTo>
                <a:lnTo>
                  <a:pt x="0" y="427"/>
                </a:lnTo>
                <a:lnTo>
                  <a:pt x="172" y="685"/>
                </a:lnTo>
                <a:lnTo>
                  <a:pt x="54" y="967"/>
                </a:lnTo>
                <a:lnTo>
                  <a:pt x="142" y="971"/>
                </a:lnTo>
                <a:lnTo>
                  <a:pt x="264" y="693"/>
                </a:lnTo>
                <a:lnTo>
                  <a:pt x="92" y="426"/>
                </a:lnTo>
                <a:lnTo>
                  <a:pt x="235" y="0"/>
                </a:lnTo>
                <a:lnTo>
                  <a:pt x="142" y="6"/>
                </a:lnTo>
                <a:close/>
              </a:path>
            </a:pathLst>
          </a:custGeom>
          <a:solidFill>
            <a:schemeClr val="bg1"/>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ko-KR" altLang="en-US"/>
          </a:p>
        </p:txBody>
      </p:sp>
      <p:sp>
        <p:nvSpPr>
          <p:cNvPr id="119849" name="Freeform 137">
            <a:extLst>
              <a:ext uri="{FF2B5EF4-FFF2-40B4-BE49-F238E27FC236}">
                <a16:creationId xmlns:a16="http://schemas.microsoft.com/office/drawing/2014/main" id="{FFC45AF0-3BCC-D48C-041B-C8FCF5AE75EB}"/>
              </a:ext>
            </a:extLst>
          </p:cNvPr>
          <p:cNvSpPr/>
          <p:nvPr/>
        </p:nvSpPr>
        <p:spPr bwMode="auto">
          <a:xfrm>
            <a:off x="2211388" y="3402013"/>
            <a:ext cx="260350" cy="1543050"/>
          </a:xfrm>
          <a:custGeom>
            <a:gdLst>
              <a:gd name="T0" fmla="*/ 2147483646 w 174"/>
              <a:gd name="T1" fmla="*/ 0 h 954"/>
              <a:gd name="T2" fmla="*/ 0 w 174"/>
              <a:gd name="T3" fmla="*/ 2147483646 h 954"/>
              <a:gd name="T4" fmla="*/ 2147483646 w 174"/>
              <a:gd name="T5" fmla="*/ 2147483646 h 954"/>
              <a:gd name="T6" fmla="*/ 2147483646 w 174"/>
              <a:gd name="T7" fmla="*/ 2147483646 h 954"/>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174" h="954">
                <a:moveTo>
                  <a:pt x="139" y="0"/>
                </a:moveTo>
                <a:lnTo>
                  <a:pt x="0" y="419"/>
                </a:lnTo>
                <a:lnTo>
                  <a:pt x="174" y="677"/>
                </a:lnTo>
                <a:lnTo>
                  <a:pt x="55" y="954"/>
                </a:ln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ko-KR" altLang="en-US"/>
          </a:p>
        </p:txBody>
      </p:sp>
      <p:sp>
        <p:nvSpPr>
          <p:cNvPr id="119850" name="Freeform 138">
            <a:extLst>
              <a:ext uri="{FF2B5EF4-FFF2-40B4-BE49-F238E27FC236}">
                <a16:creationId xmlns:a16="http://schemas.microsoft.com/office/drawing/2014/main" id="{6F4A64D3-AA11-DA20-41D4-48072F8F309F}"/>
              </a:ext>
            </a:extLst>
          </p:cNvPr>
          <p:cNvSpPr/>
          <p:nvPr/>
        </p:nvSpPr>
        <p:spPr bwMode="auto">
          <a:xfrm>
            <a:off x="2347913" y="3402013"/>
            <a:ext cx="258762" cy="1541462"/>
          </a:xfrm>
          <a:custGeom>
            <a:gdLst>
              <a:gd name="T0" fmla="*/ 2147483646 w 174"/>
              <a:gd name="T1" fmla="*/ 0 h 953"/>
              <a:gd name="T2" fmla="*/ 0 w 174"/>
              <a:gd name="T3" fmla="*/ 2147483646 h 953"/>
              <a:gd name="T4" fmla="*/ 2147483646 w 174"/>
              <a:gd name="T5" fmla="*/ 2147483646 h 953"/>
              <a:gd name="T6" fmla="*/ 2147483646 w 174"/>
              <a:gd name="T7" fmla="*/ 2147483646 h 953"/>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174" h="953">
                <a:moveTo>
                  <a:pt x="139" y="0"/>
                </a:moveTo>
                <a:lnTo>
                  <a:pt x="0" y="419"/>
                </a:lnTo>
                <a:lnTo>
                  <a:pt x="174" y="677"/>
                </a:lnTo>
                <a:lnTo>
                  <a:pt x="57" y="953"/>
                </a:ln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ko-KR" altLang="en-US"/>
          </a:p>
        </p:txBody>
      </p:sp>
      <p:sp>
        <p:nvSpPr>
          <p:cNvPr id="119851" name="Freeform 139">
            <a:extLst>
              <a:ext uri="{FF2B5EF4-FFF2-40B4-BE49-F238E27FC236}">
                <a16:creationId xmlns:a16="http://schemas.microsoft.com/office/drawing/2014/main" id="{D13B8C55-A9E9-27A3-5DC2-D7C6B6E94DB3}"/>
              </a:ext>
            </a:extLst>
          </p:cNvPr>
          <p:cNvSpPr/>
          <p:nvPr/>
        </p:nvSpPr>
        <p:spPr bwMode="white">
          <a:xfrm>
            <a:off x="5281613" y="3387725"/>
            <a:ext cx="395287" cy="1570038"/>
          </a:xfrm>
          <a:custGeom>
            <a:gdLst>
              <a:gd name="T0" fmla="*/ 2147483646 w 264"/>
              <a:gd name="T1" fmla="*/ 2147483646 h 971"/>
              <a:gd name="T2" fmla="*/ 0 w 264"/>
              <a:gd name="T3" fmla="*/ 2147483646 h 971"/>
              <a:gd name="T4" fmla="*/ 2147483646 w 264"/>
              <a:gd name="T5" fmla="*/ 2147483646 h 971"/>
              <a:gd name="T6" fmla="*/ 2147483646 w 264"/>
              <a:gd name="T7" fmla="*/ 2147483646 h 971"/>
              <a:gd name="T8" fmla="*/ 2147483646 w 264"/>
              <a:gd name="T9" fmla="*/ 2147483646 h 971"/>
              <a:gd name="T10" fmla="*/ 2147483646 w 264"/>
              <a:gd name="T11" fmla="*/ 2147483646 h 971"/>
              <a:gd name="T12" fmla="*/ 2147483646 w 264"/>
              <a:gd name="T13" fmla="*/ 2147483646 h 971"/>
              <a:gd name="T14" fmla="*/ 2147483646 w 264"/>
              <a:gd name="T15" fmla="*/ 0 h 971"/>
              <a:gd name="T16" fmla="*/ 2147483646 w 264"/>
              <a:gd name="T17" fmla="*/ 2147483646 h 9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4" h="971">
                <a:moveTo>
                  <a:pt x="142" y="6"/>
                </a:moveTo>
                <a:lnTo>
                  <a:pt x="0" y="427"/>
                </a:lnTo>
                <a:lnTo>
                  <a:pt x="172" y="685"/>
                </a:lnTo>
                <a:lnTo>
                  <a:pt x="54" y="967"/>
                </a:lnTo>
                <a:lnTo>
                  <a:pt x="142" y="971"/>
                </a:lnTo>
                <a:lnTo>
                  <a:pt x="264" y="693"/>
                </a:lnTo>
                <a:lnTo>
                  <a:pt x="92" y="426"/>
                </a:lnTo>
                <a:lnTo>
                  <a:pt x="235" y="0"/>
                </a:lnTo>
                <a:lnTo>
                  <a:pt x="142" y="6"/>
                </a:lnTo>
                <a:close/>
              </a:path>
            </a:pathLst>
          </a:custGeom>
          <a:solidFill>
            <a:schemeClr val="bg1"/>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ko-KR" altLang="en-US"/>
          </a:p>
        </p:txBody>
      </p:sp>
      <p:sp>
        <p:nvSpPr>
          <p:cNvPr id="119852" name="Freeform 140">
            <a:extLst>
              <a:ext uri="{FF2B5EF4-FFF2-40B4-BE49-F238E27FC236}">
                <a16:creationId xmlns:a16="http://schemas.microsoft.com/office/drawing/2014/main" id="{CAE284B5-45A7-2A68-2D0B-0032B753944D}"/>
              </a:ext>
            </a:extLst>
          </p:cNvPr>
          <p:cNvSpPr/>
          <p:nvPr/>
        </p:nvSpPr>
        <p:spPr bwMode="auto">
          <a:xfrm>
            <a:off x="5283200" y="3402013"/>
            <a:ext cx="260350" cy="1543050"/>
          </a:xfrm>
          <a:custGeom>
            <a:gdLst>
              <a:gd name="T0" fmla="*/ 2147483646 w 174"/>
              <a:gd name="T1" fmla="*/ 0 h 954"/>
              <a:gd name="T2" fmla="*/ 0 w 174"/>
              <a:gd name="T3" fmla="*/ 2147483646 h 954"/>
              <a:gd name="T4" fmla="*/ 2147483646 w 174"/>
              <a:gd name="T5" fmla="*/ 2147483646 h 954"/>
              <a:gd name="T6" fmla="*/ 2147483646 w 174"/>
              <a:gd name="T7" fmla="*/ 2147483646 h 954"/>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174" h="954">
                <a:moveTo>
                  <a:pt x="139" y="0"/>
                </a:moveTo>
                <a:lnTo>
                  <a:pt x="0" y="419"/>
                </a:lnTo>
                <a:lnTo>
                  <a:pt x="174" y="677"/>
                </a:lnTo>
                <a:lnTo>
                  <a:pt x="55" y="954"/>
                </a:ln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ko-KR" altLang="en-US"/>
          </a:p>
        </p:txBody>
      </p:sp>
      <p:sp>
        <p:nvSpPr>
          <p:cNvPr id="119853" name="Freeform 141">
            <a:extLst>
              <a:ext uri="{FF2B5EF4-FFF2-40B4-BE49-F238E27FC236}">
                <a16:creationId xmlns:a16="http://schemas.microsoft.com/office/drawing/2014/main" id="{3AA61921-D19C-21F3-DCAA-E051D67A1E52}"/>
              </a:ext>
            </a:extLst>
          </p:cNvPr>
          <p:cNvSpPr/>
          <p:nvPr/>
        </p:nvSpPr>
        <p:spPr bwMode="auto">
          <a:xfrm>
            <a:off x="5419725" y="3402013"/>
            <a:ext cx="260350" cy="1541462"/>
          </a:xfrm>
          <a:custGeom>
            <a:gdLst>
              <a:gd name="T0" fmla="*/ 2147483646 w 174"/>
              <a:gd name="T1" fmla="*/ 0 h 953"/>
              <a:gd name="T2" fmla="*/ 0 w 174"/>
              <a:gd name="T3" fmla="*/ 2147483646 h 953"/>
              <a:gd name="T4" fmla="*/ 2147483646 w 174"/>
              <a:gd name="T5" fmla="*/ 2147483646 h 953"/>
              <a:gd name="T6" fmla="*/ 2147483646 w 174"/>
              <a:gd name="T7" fmla="*/ 2147483646 h 953"/>
              <a:gd name="T8" fmla="*/ 0 60000 65536"/>
              <a:gd name="T9" fmla="*/ 0 60000 65536"/>
              <a:gd name="T10" fmla="*/ 0 60000 65536"/>
              <a:gd name="T11" fmla="*/ 0 60000 65536"/>
            </a:gdLst>
            <a:cxnLst>
              <a:cxn ang="T8">
                <a:pos x="T0" y="T1"/>
              </a:cxn>
              <a:cxn ang="T9">
                <a:pos x="T2" y="T3"/>
              </a:cxn>
              <a:cxn ang="T10">
                <a:pos x="T4" y="T5"/>
              </a:cxn>
              <a:cxn ang="T11">
                <a:pos x="T6" y="T7"/>
              </a:cxn>
            </a:cxnLst>
            <a:rect l="0" t="0" r="r" b="b"/>
            <a:pathLst>
              <a:path w="174" h="953">
                <a:moveTo>
                  <a:pt x="139" y="0"/>
                </a:moveTo>
                <a:lnTo>
                  <a:pt x="0" y="419"/>
                </a:lnTo>
                <a:lnTo>
                  <a:pt x="174" y="677"/>
                </a:lnTo>
                <a:lnTo>
                  <a:pt x="57" y="953"/>
                </a:ln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ko-KR" altLang="en-US"/>
          </a:p>
        </p:txBody>
      </p:sp>
      <p:sp>
        <p:nvSpPr>
          <p:cNvPr id="119854" name="Text Box 142">
            <a:extLst>
              <a:ext uri="{FF2B5EF4-FFF2-40B4-BE49-F238E27FC236}">
                <a16:creationId xmlns:a16="http://schemas.microsoft.com/office/drawing/2014/main" id="{3EBE3610-A819-D247-2A4C-DBD1EDF441D1}"/>
              </a:ext>
            </a:extLst>
          </p:cNvPr>
          <p:cNvSpPr txBox="1">
            <a:spLocks noChangeArrowheads="1"/>
          </p:cNvSpPr>
          <p:nvPr/>
        </p:nvSpPr>
        <p:spPr bwMode="auto">
          <a:xfrm>
            <a:off x="1795463" y="2219325"/>
            <a:ext cx="579437"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US" altLang="ko-KR" sz="1000" i="1"/>
              <a:t>CRM </a:t>
            </a:r>
            <a:r>
              <a:rPr lang="ko-KR" altLang="en-US" sz="1000" i="1"/>
              <a:t>혁신</a:t>
            </a:r>
          </a:p>
        </p:txBody>
      </p:sp>
      <p:sp>
        <p:nvSpPr>
          <p:cNvPr id="119855" name="Text Box 143">
            <a:extLst>
              <a:ext uri="{FF2B5EF4-FFF2-40B4-BE49-F238E27FC236}">
                <a16:creationId xmlns:a16="http://schemas.microsoft.com/office/drawing/2014/main" id="{5E4603F4-F5DA-EED8-FCF5-AF302360362B}"/>
              </a:ext>
            </a:extLst>
          </p:cNvPr>
          <p:cNvSpPr txBox="1">
            <a:spLocks noChangeArrowheads="1"/>
          </p:cNvSpPr>
          <p:nvPr/>
        </p:nvSpPr>
        <p:spPr bwMode="auto">
          <a:xfrm>
            <a:off x="4722813" y="2212975"/>
            <a:ext cx="788987"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en-US" altLang="ko-KR" sz="1000" i="1"/>
              <a:t>CVI </a:t>
            </a:r>
            <a:r>
              <a:rPr lang="ko-KR" altLang="en-US" sz="1000" i="1"/>
              <a:t>비전 이행</a:t>
            </a:r>
          </a:p>
        </p:txBody>
      </p:sp>
      <p:sp>
        <p:nvSpPr>
          <p:cNvPr id="119856" name="Text Box 144">
            <a:extLst>
              <a:ext uri="{FF2B5EF4-FFF2-40B4-BE49-F238E27FC236}">
                <a16:creationId xmlns:a16="http://schemas.microsoft.com/office/drawing/2014/main" id="{283AF6AC-A36A-E4F6-C280-C123816E2606}"/>
              </a:ext>
            </a:extLst>
          </p:cNvPr>
          <p:cNvSpPr txBox="1">
            <a:spLocks noChangeArrowheads="1"/>
          </p:cNvSpPr>
          <p:nvPr/>
        </p:nvSpPr>
        <p:spPr bwMode="auto">
          <a:xfrm>
            <a:off x="1309688" y="6029325"/>
            <a:ext cx="958850"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r">
              <a:spcBef>
                <a:spcPct val="0"/>
              </a:spcBef>
              <a:buClrTx/>
              <a:buFontTx/>
              <a:buNone/>
            </a:pPr>
            <a:r>
              <a:rPr lang="ko-KR" altLang="en-US" sz="1000" i="1"/>
              <a:t>고객 서비스 강화</a:t>
            </a:r>
          </a:p>
        </p:txBody>
      </p:sp>
      <p:sp>
        <p:nvSpPr>
          <p:cNvPr id="119857" name="Text Box 145">
            <a:extLst>
              <a:ext uri="{FF2B5EF4-FFF2-40B4-BE49-F238E27FC236}">
                <a16:creationId xmlns:a16="http://schemas.microsoft.com/office/drawing/2014/main" id="{76E070EE-7B03-57B0-B3FD-C1D828F5971C}"/>
              </a:ext>
            </a:extLst>
          </p:cNvPr>
          <p:cNvSpPr txBox="1">
            <a:spLocks noChangeArrowheads="1"/>
          </p:cNvSpPr>
          <p:nvPr/>
        </p:nvSpPr>
        <p:spPr bwMode="auto">
          <a:xfrm>
            <a:off x="2811463" y="6021388"/>
            <a:ext cx="112077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i="1"/>
              <a:t>고객 중심 조직 개편</a:t>
            </a:r>
          </a:p>
        </p:txBody>
      </p:sp>
      <p:sp>
        <p:nvSpPr>
          <p:cNvPr id="119858" name="Text Box 146">
            <a:extLst>
              <a:ext uri="{FF2B5EF4-FFF2-40B4-BE49-F238E27FC236}">
                <a16:creationId xmlns:a16="http://schemas.microsoft.com/office/drawing/2014/main" id="{147A92CD-6386-74EE-870D-4A590B988B25}"/>
              </a:ext>
            </a:extLst>
          </p:cNvPr>
          <p:cNvSpPr txBox="1">
            <a:spLocks noChangeArrowheads="1"/>
          </p:cNvSpPr>
          <p:nvPr/>
        </p:nvSpPr>
        <p:spPr bwMode="auto">
          <a:xfrm>
            <a:off x="4387850" y="6021388"/>
            <a:ext cx="112077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i="1"/>
              <a:t>고객 중심 채널 개편</a:t>
            </a:r>
          </a:p>
        </p:txBody>
      </p:sp>
      <p:sp>
        <p:nvSpPr>
          <p:cNvPr id="119859" name="Text Box 147">
            <a:extLst>
              <a:ext uri="{FF2B5EF4-FFF2-40B4-BE49-F238E27FC236}">
                <a16:creationId xmlns:a16="http://schemas.microsoft.com/office/drawing/2014/main" id="{2772DEDB-3F6D-1770-9FA3-825E8F98E596}"/>
              </a:ext>
            </a:extLst>
          </p:cNvPr>
          <p:cNvSpPr txBox="1">
            <a:spLocks noChangeArrowheads="1"/>
          </p:cNvSpPr>
          <p:nvPr/>
        </p:nvSpPr>
        <p:spPr bwMode="auto">
          <a:xfrm>
            <a:off x="5972175" y="6021388"/>
            <a:ext cx="1120775" cy="136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lnSpc>
                <a:spcPct val="90000"/>
              </a:lnSpc>
              <a:spcBef>
                <a:spcPct val="90000"/>
              </a:spcBef>
              <a:buClr>
                <a:schemeClr val="bg2"/>
              </a:buClr>
              <a:buFont typeface="Wingdings" pitchFamily="2" charset="2"/>
              <a:buChar char="n"/>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1pPr>
            <a:lvl2pPr marL="742950" indent="-285750">
              <a:lnSpc>
                <a:spcPct val="90000"/>
              </a:lnSpc>
              <a:spcBef>
                <a:spcPct val="5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2pPr>
            <a:lvl3pPr marL="1143000" indent="-228600">
              <a:lnSpc>
                <a:spcPct val="90000"/>
              </a:lnSpc>
              <a:spcBef>
                <a:spcPct val="3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3pPr>
            <a:lvl4pPr marL="1600200" indent="-228600">
              <a:lnSpc>
                <a:spcPct val="90000"/>
              </a:lnSpc>
              <a:spcBef>
                <a:spcPct val="10000"/>
              </a:spcBef>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4pPr>
            <a:lvl5pPr marL="2057400" indent="-228600">
              <a:lnSpc>
                <a:spcPct val="90000"/>
              </a:lnSpc>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5pPr>
            <a:lvl6pPr marL="25146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6pPr>
            <a:lvl7pPr marL="29718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7pPr>
            <a:lvl8pPr marL="34290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8pPr>
            <a:lvl9pPr marL="3886200" indent="-228600" eaLnBrk="0" fontAlgn="base" hangingPunct="0">
              <a:lnSpc>
                <a:spcPct val="90000"/>
              </a:lnSpc>
              <a:spcBef>
                <a:spcPct val="0"/>
              </a:spcBef>
              <a:spcAft>
                <a:spcPct val="0"/>
              </a:spcAft>
              <a:buClr>
                <a:schemeClr val="bg2"/>
              </a:buClr>
              <a:buFont typeface="Arial" panose="020b0604020202020204" pitchFamily="34" charset="0"/>
              <a:buChar char="­"/>
              <a:defRPr sz="1600">
                <a:solidFill>
                  <a:schemeClr val="tx1"/>
                </a:solidFill>
                <a:latin typeface="Arial" panose="020b0604020202020204" pitchFamily="34" charset="0"/>
                <a:ea typeface="돋움체" panose="020b0609000101010101" pitchFamily="49" charset="-127"/>
                <a:cs typeface="Arial" panose="020b0604020202020204" pitchFamily="34" charset="0"/>
              </a:defRPr>
            </a:lvl9pPr>
          </a:lstStyle>
          <a:p>
            <a:pPr algn="ctr">
              <a:spcBef>
                <a:spcPct val="0"/>
              </a:spcBef>
              <a:buClrTx/>
              <a:buFontTx/>
              <a:buNone/>
            </a:pPr>
            <a:r>
              <a:rPr lang="ko-KR" altLang="en-US" sz="1000" i="1"/>
              <a:t>고객 중심 상품 제공</a:t>
            </a:r>
          </a:p>
        </p:txBody>
      </p:sp>
    </p:spTree>
  </p:cSld>
  <p:clrMapOvr>
    <a:masterClrMapping/>
  </p:clrMapOvr>
  <p:transition/>
  <p:timing/>
</p:sld>
</file>

<file path=ppt/tags/tag1.xml><?xml version="1.0" encoding="utf-8"?>
<p:tagLst xmlns:p="http://schemas.openxmlformats.org/presentationml/2006/main">
  <p:tag name="THINKCELLSHAPEDONOTDELETE" val="thinkcellActiveDocDoNotDelete"/>
  <p:tag name="THINKCELLSTATEDONOTDELETE" val="7xKqHXCsmEqpYS9D3W9JOA"/>
</p:tagLst>
</file>

<file path=ppt/tags/tag2.xml><?xml version="1.0" encoding="utf-8"?>
<p:tagLst xmlns:p="http://schemas.openxmlformats.org/presentationml/2006/main">
  <p:tag name="THINKCELLSHAPEDONOTDELETE" val="AeqrisKERESHyaIRpIMFIA"/>
</p:tagLst>
</file>

<file path=ppt/tags/tag3.xml><?xml version="1.0" encoding="utf-8"?>
<p:tagLst xmlns:p="http://schemas.openxmlformats.org/presentationml/2006/main">
  <p:tag name="THINKCELLSHAPEDONOTDELETE" val="_h5mD41lAE2Recvxf_p4TQ"/>
</p:tagLst>
</file>

<file path=ppt/tags/tag4.xml><?xml version="1.0" encoding="utf-8"?>
<p:tagLst xmlns:p="http://schemas.openxmlformats.org/presentationml/2006/main">
  <p:tag name="LLEFT" val=" 143.875"/>
  <p:tag name="LTOP" val=" 208.75"/>
</p:tagLst>
</file>

<file path=ppt/tags/tag5.xml><?xml version="1.0" encoding="utf-8"?>
<p:tagLst xmlns:p="http://schemas.openxmlformats.org/presentationml/2006/main">
  <p:tag name="AS_NET" val="6.0.36"/>
  <p:tag name="AS_OS" val="Unix 5.4.0.205"/>
  <p:tag name="AS_RELEASE_DATE" val="2023.01.14"/>
  <p:tag name="AS_TITLE" val="Aspose.Slides for .NET5"/>
  <p:tag name="AS_VERSION" val="23.1"/>
</p:tagLst>
</file>

<file path=ppt/theme/theme1.xml><?xml version="1.0" encoding="utf-8"?>
<a:theme xmlns:r="http://schemas.openxmlformats.org/officeDocument/2006/relationships" xmlns:a="http://schemas.openxmlformats.org/drawingml/2006/main" name="Blank">
  <a:themeElements>
    <a:clrScheme name="Blank 1">
      <a:dk1>
        <a:srgbClr val="000000"/>
      </a:dk1>
      <a:lt1>
        <a:srgbClr val="FFFFFF"/>
      </a:lt1>
      <a:dk2>
        <a:srgbClr val="000000"/>
      </a:dk2>
      <a:lt2>
        <a:srgbClr val="7D0900"/>
      </a:lt2>
      <a:accent1>
        <a:srgbClr val="808080"/>
      </a:accent1>
      <a:accent2>
        <a:srgbClr val="A0A0A0"/>
      </a:accent2>
      <a:accent3>
        <a:srgbClr val="FFFFFF"/>
      </a:accent3>
      <a:accent4>
        <a:srgbClr val="000000"/>
      </a:accent4>
      <a:accent5>
        <a:srgbClr val="C0C0C0"/>
      </a:accent5>
      <a:accent6>
        <a:srgbClr val="919191"/>
      </a:accent6>
      <a:hlink>
        <a:srgbClr val="B9B9B9"/>
      </a:hlink>
      <a:folHlink>
        <a:srgbClr val="DCDCDC"/>
      </a:folHlink>
    </a:clrScheme>
    <a:fontScheme name="Blank">
      <a:majorFont>
        <a:latin typeface="Arial"/>
        <a:ea typeface="HY견고딕"/>
        <a:cs typeface="Arial"/>
      </a:majorFont>
      <a:minorFont>
        <a:latin typeface="Arial"/>
        <a:ea typeface="돋움체"/>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72000" tIns="72000" rIns="72000" bIns="72000" numCol="1" anchor="ctr" anchorCtr="0" compatLnSpc="1">
        <a:prstTxWarp prst="textNoShape">
          <a:avLst/>
        </a:prstTxWarp>
      </a:bodyPr>
      <a:lstStyle>
        <a:defPPr marL="0" marR="0" indent="0" algn="ctr" defTabSz="914400" rtl="0" eaLnBrk="1" fontAlgn="b" latinLnBrk="0" hangingPunct="1">
          <a:lnSpc>
            <a:spcPct val="90000"/>
          </a:lnSpc>
          <a:spcBef>
            <a:spcPct val="50000"/>
          </a:spcBef>
          <a:spcAft>
            <a:spcPct val="0"/>
          </a:spcAft>
          <a:buClr>
            <a:schemeClr val="bg2"/>
          </a:buClr>
          <a:buSzTx/>
          <a:buFontTx/>
          <a:buNone/>
          <a:tabLst/>
          <a:defRPr kumimoji="0" lang="en-US" altLang="ko-KR" sz="1400" b="1" i="0" u="none" strike="noStrike" cap="none" normalizeH="0" baseline="0" smtClean="0">
            <a:ln>
              <a:noFill/>
            </a:ln>
            <a:solidFill>
              <a:schemeClr val="tx1"/>
            </a:solidFill>
            <a:effectLst/>
            <a:latin typeface="Arial" panose="020B0604020202020204" pitchFamily="34" charset="0"/>
            <a:ea typeface="가는각진제목체" panose="02030600000101010101" pitchFamily="18" charset="-127"/>
            <a:cs typeface="Arial" panose="020B0604020202020204" pitchFamily="34"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72000" tIns="72000" rIns="72000" bIns="72000" numCol="1" anchor="ctr" anchorCtr="0" compatLnSpc="1">
        <a:prstTxWarp prst="textNoShape">
          <a:avLst/>
        </a:prstTxWarp>
      </a:bodyPr>
      <a:lstStyle>
        <a:defPPr marL="0" marR="0" indent="0" algn="ctr" defTabSz="914400" rtl="0" eaLnBrk="1" fontAlgn="b" latinLnBrk="0" hangingPunct="1">
          <a:lnSpc>
            <a:spcPct val="90000"/>
          </a:lnSpc>
          <a:spcBef>
            <a:spcPct val="50000"/>
          </a:spcBef>
          <a:spcAft>
            <a:spcPct val="0"/>
          </a:spcAft>
          <a:buClr>
            <a:schemeClr val="bg2"/>
          </a:buClr>
          <a:buSzTx/>
          <a:buFontTx/>
          <a:buNone/>
          <a:tabLst/>
          <a:defRPr kumimoji="0" lang="en-US" altLang="ko-KR" sz="1400" b="1" i="0" u="none" strike="noStrike" cap="none" normalizeH="0" baseline="0" smtClean="0">
            <a:ln>
              <a:noFill/>
            </a:ln>
            <a:solidFill>
              <a:schemeClr val="tx1"/>
            </a:solidFill>
            <a:effectLst/>
            <a:latin typeface="Arial" panose="020B0604020202020204" pitchFamily="34" charset="0"/>
            <a:ea typeface="가는각진제목체" panose="02030600000101010101" pitchFamily="18" charset="-127"/>
            <a:cs typeface="Arial" panose="020B0604020202020204" pitchFamily="34" charset="0"/>
          </a:defRPr>
        </a:defPPr>
      </a:lstStyle>
    </a:lnDef>
  </a:objectDefaults>
  <a:extraClrSchemeLst>
    <a:extraClrScheme>
      <a:clrScheme name="Blank 1">
        <a:dk1>
          <a:srgbClr val="000000"/>
        </a:dk1>
        <a:lt1>
          <a:srgbClr val="FFFFFF"/>
        </a:lt1>
        <a:dk2>
          <a:srgbClr val="000000"/>
        </a:dk2>
        <a:lt2>
          <a:srgbClr val="7D0900"/>
        </a:lt2>
        <a:accent1>
          <a:srgbClr val="808080"/>
        </a:accent1>
        <a:accent2>
          <a:srgbClr val="A0A0A0"/>
        </a:accent2>
        <a:accent3>
          <a:srgbClr val="FFFFFF"/>
        </a:accent3>
        <a:accent4>
          <a:srgbClr val="000000"/>
        </a:accent4>
        <a:accent5>
          <a:srgbClr val="C0C0C0"/>
        </a:accent5>
        <a:accent6>
          <a:srgbClr val="919191"/>
        </a:accent6>
        <a:hlink>
          <a:srgbClr val="B9B9B9"/>
        </a:hlink>
        <a:folHlink>
          <a:srgbClr val="DCDCD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panose="020f0302020204030204"/>
        <a:ea typeface="맑은 고딕"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302020204030204"/>
        <a:ea typeface="맑은 고딕" panose="020f03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panose="020f0302020204030204"/>
        <a:ea typeface="맑은 고딕"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302020204030204"/>
        <a:ea typeface="맑은 고딕" panose="020f03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Template>blank</Template>
  <Company/>
  <PresentationFormat>A4 Paper (210x297 mm)</PresentationFormat>
  <Paragraphs>1369</Paragraphs>
  <Slides>40</Slides>
  <Notes>39</Notes>
  <TotalTime>0</TotalTime>
  <HiddenSlides>0</HiddenSlides>
  <MMClips>0</MMClips>
  <ScaleCrop>0</ScaleCrop>
  <HeadingPairs>
    <vt:vector baseType="variant" size="6">
      <vt:variant>
        <vt:lpstr>Fonts used</vt:lpstr>
      </vt:variant>
      <vt:variant>
        <vt:i4>16</vt:i4>
      </vt:variant>
      <vt:variant>
        <vt:lpstr>Theme</vt:lpstr>
      </vt:variant>
      <vt:variant>
        <vt:i4>1</vt:i4>
      </vt:variant>
      <vt:variant>
        <vt:lpstr>Slide Titles</vt:lpstr>
      </vt:variant>
      <vt:variant>
        <vt:i4>40</vt:i4>
      </vt:variant>
    </vt:vector>
  </HeadingPairs>
  <TitlesOfParts>
    <vt:vector baseType="lpstr" size="57">
      <vt:lpstr>Arial</vt:lpstr>
      <vt:lpstr>HY견고딕</vt:lpstr>
      <vt:lpstr>돋움체</vt:lpstr>
      <vt:lpstr>가는각진제목체</vt:lpstr>
      <vt:lpstr>Wingdings</vt:lpstr>
      <vt:lpstr>맑은 고딕</vt:lpstr>
      <vt:lpstr>굴림</vt:lpstr>
      <vt:lpstr>Arial Unicode MS</vt:lpstr>
      <vt:lpstr>Monotype Sorts</vt:lpstr>
      <vt:lpstr>SimSun</vt:lpstr>
      <vt:lpstr>华文楷体</vt:lpstr>
      <vt:lpstr>HelveticaNeue Extended</vt:lpstr>
      <vt:lpstr>Tele-GroteskNor</vt:lpstr>
      <vt:lpstr>Symbol</vt:lpstr>
      <vt:lpstr>MS PGothic</vt:lpstr>
      <vt:lpstr>ヒラギノ角ゴ Pro W3</vt:lpstr>
      <vt:lpstr>Blank</vt:lpstr>
      <vt:lpstr>Controlling and Accounting activities bound 61% of the allocated capacities in Finance </vt:lpstr>
      <vt:lpstr>Creation of SSC is beneficial already in its initial year, i.e. during the running restructuring process</vt:lpstr>
      <vt:lpstr>Business Value and Operational Excellence of sites vary widely independent of current profitability</vt:lpstr>
      <vt:lpstr>SSCs are created by centralizing activities common to more than one company into a new unit</vt:lpstr>
      <vt:lpstr>In order to accelerate the launching of SSC we have focused on the client needs throughout the whole project</vt:lpstr>
      <vt:lpstr>The project of creating a shared service center (SSC) can be performed in three phases</vt:lpstr>
      <vt:lpstr>Change Management is only working top-down and with sufficient “psychological strain"</vt:lpstr>
      <vt:lpstr>The classical sourcing methodology follows a structured 7-step-approach</vt:lpstr>
      <vt:lpstr>Cost regression analysis is done systematically in four steps</vt:lpstr>
      <vt:lpstr>Combining both methodologies creates a high momentum and ensures a constant utilization</vt:lpstr>
      <vt:lpstr>The CRA approach can be integrated without frictions and significant additional effort into the regular approach</vt:lpstr>
      <vt:lpstr>Most activities run in parallel avoiding frictions between both methodologies</vt:lpstr>
      <vt:lpstr>For wave 1, we prioritized and chose four major categories, three additional categories will follow in wave 2</vt:lpstr>
      <vt:lpstr>There are five fundamental elements that are the foundation of a brand</vt:lpstr>
      <vt:lpstr>Every healthcare insurer has two ‘crucial’ capabilities: the composition of their ‘insured portfolio’ and ‘healthcare procurement’</vt:lpstr>
      <vt:lpstr>The healthcare procurement takes place through a standard 7-step sourcing methodology</vt:lpstr>
      <vt:lpstr>The care providers market can be approached in two ways: by segment or by clinical picture (clinical picture management)</vt:lpstr>
      <vt:lpstr>Estimated development effort was expected to decrease significantly in the blueprint phase</vt:lpstr>
      <vt:lpstr>The investment cost refers to hardware, software and implementation services</vt:lpstr>
      <vt:lpstr>Biggest part of investment costs occurs in 2021 and 2022 according to the global implementation roadmap</vt:lpstr>
      <vt:lpstr>Business benefits of the OOO investment occur after the system is implemented and stabilized1)</vt:lpstr>
      <vt:lpstr>We recommend phased implementation, with quick-wins to be captured in 2024, and the rest in medium and long-term…</vt:lpstr>
      <vt:lpstr>Case study: Charging license fee is an alternative way to collect out-network revenue, but increases difficulty in full supplier control in the future </vt:lpstr>
      <vt:lpstr>The automotive demand stagnates in developed markets, but has a steady growth in emerging markets</vt:lpstr>
      <vt:lpstr>Spain, UK and Italy are expected to have the highest aluminum die casting volume CAGRs</vt:lpstr>
      <vt:lpstr>Analogous to the U.S. market a SaaS maturation time of about 10 years has to be assumed for Germany.</vt:lpstr>
      <vt:lpstr>Client examples indicate that substantial growth can be realized if the right actions are implemented effectively</vt:lpstr>
      <vt:lpstr>The Lean System framework allows to cover all generic efficiency drivers of a Service business</vt:lpstr>
      <vt:lpstr>Likewise the industrial Lean methodology, there are 4 natures of optimization levers</vt:lpstr>
      <vt:lpstr>Each motivation lever should contribute to the entire motivation loop but presents individual characteristics</vt:lpstr>
      <vt:lpstr>For a given Service Level target, occupancy rate will structurally increase with size</vt:lpstr>
      <vt:lpstr>Sample - Captive center setup plan </vt:lpstr>
      <vt:lpstr>Several issues and opportunities were identified during the Finance-IT diagnostic</vt:lpstr>
      <vt:lpstr>Size &amp; skills provide competitive advantage to companies, while access to cheap funds provides sustainability </vt:lpstr>
      <vt:lpstr>Large industry players perform better compared to the mid and small tier leasing companies</vt:lpstr>
      <vt:lpstr>We supported the sales-driven turnaround of a leading power transmission and distribution equipment supplier</vt:lpstr>
      <vt:lpstr>We implemented a rapid G&amp;A optimization approach with typically &gt;10% savings in focused 3-day workshops</vt:lpstr>
      <vt:lpstr>We established a strong backbone to steer the overall program with a multi-dimensional web-based tracking tool</vt:lpstr>
      <vt:lpstr>A loosely defined property tax process means that CLIENT is likely overlooking property tax savings</vt:lpstr>
      <vt:lpstr>Several key issues need to be taken into account in this evolution for short and long term success</vt:lpstr>
    </vt:vector>
  </TitlesOfParts>
  <LinksUpToDate>0</LinksUpToDate>
  <SharedDoc>0</SharedDoc>
  <HyperlinksChanged>0</HyperlinksChanged>
  <Application>Aspose.Slides for .NET</Application>
  <AppVersion>23.0100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Client Name or Logo</dc:title>
  <dc:description>Version 2 09/2005</dc:description>
  <cp:revision>183</cp:revision>
  <dcterms:created xsi:type="dcterms:W3CDTF">2007-06-15T02:29:06Z</dcterms:created>
  <dcterms:modified xsi:type="dcterms:W3CDTF">2025-11-19T07:51:53Z</dcterms:modified>
</cp:coreProperties>
</file>
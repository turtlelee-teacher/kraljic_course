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902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80741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0000"/>
                </a:solidFill>
                <a:latin typeface="맑은 고딕"/>
              </a:defRPr>
            </a:pPr>
            <a:r>
              <a:t>[1회차] 전략적 재고운영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8074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333333"/>
                </a:solidFill>
                <a:latin typeface="맑은 고딕"/>
              </a:defRPr>
            </a:pPr>
            <a:r>
              <a:t>Kraljic Matrix와 자재계획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8074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  <a:defRPr sz="1400">
                <a:solidFill>
                  <a:srgbClr val="666666"/>
                </a:solidFill>
                <a:latin typeface="맑은 고딕"/>
              </a:defRPr>
            </a:pPr>
            <a:r>
              <a:t>전략적 재고운영 및 자재계획수립 과정</a:t>
            </a:r>
          </a:p>
          <a:p>
            <a:pPr algn="ctr">
              <a:spcAft>
                <a:spcPts val="600"/>
              </a:spcAft>
              <a:defRPr sz="1400">
                <a:solidFill>
                  <a:srgbClr val="666666"/>
                </a:solidFill>
                <a:latin typeface="맑은 고딕"/>
              </a:defRPr>
            </a:pPr>
            <a:r>
              <a:t>45분</a:t>
            </a:r>
          </a:p>
          <a:p>
            <a:pPr algn="ctr">
              <a:spcAft>
                <a:spcPts val="600"/>
              </a:spcAft>
              <a:defRPr sz="1400">
                <a:solidFill>
                  <a:srgbClr val="666666"/>
                </a:solidFill>
                <a:latin typeface="맑은 고딕"/>
              </a:defRPr>
            </a:pPr>
            <a:r>
              <a:t>Session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2.3 Kraljic Matrix: 4대 자재군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공급 리스크(Y축)와 구매 임팩트(X축)의 조합으로 4개 자재군을 분류하며, 각 군은 완전히 다른 관리 철학을 요구합니다.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6949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66666"/>
                </a:solidFill>
                <a:latin typeface="맑은 고딕"/>
              </a:defRPr>
            </a:pPr>
            <a:r>
              <a:t>← 낮음                공급 리스크 (Supply Risk)                높음 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3474720" cy="2011680"/>
          </a:xfrm>
          <a:prstGeom prst="rect">
            <a:avLst/>
          </a:prstGeom>
          <a:solidFill>
            <a:srgbClr val="27AE3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9659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레버리지자재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33172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Leverage Materials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공급 안정, 금액 큼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경쟁 입찰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원가 절감 집중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MRP 계획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828800"/>
            <a:ext cx="3474720" cy="2011680"/>
          </a:xfrm>
          <a:prstGeom prst="rect">
            <a:avLst/>
          </a:prstGeom>
          <a:solidFill>
            <a:srgbClr val="8E44A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9659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전략자재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33172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Strategic Materials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공급 어렵고 금액 큼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장기 파트너십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Win-Win 협력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LTP + Hybrid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840480"/>
            <a:ext cx="3474720" cy="2011680"/>
          </a:xfrm>
          <a:prstGeom prst="rect">
            <a:avLst/>
          </a:prstGeom>
          <a:solidFill>
            <a:srgbClr val="95A5A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977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일상자재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34340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Routine Materials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6634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공급 쉽고 금액 작음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자동화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효율성 극대화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Min-Max / VMI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3840480"/>
            <a:ext cx="3474720" cy="2011680"/>
          </a:xfrm>
          <a:prstGeom prst="rect">
            <a:avLst/>
          </a:prstGeom>
          <a:solidFill>
            <a:srgbClr val="E67E2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3977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병목자재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34340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Bottleneck Materials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6634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공급 어렵고 금액 작음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안전재고 확보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공급 안정성 우선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ROP 발주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
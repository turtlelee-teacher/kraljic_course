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8074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8074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Session 1 | 전략적 재고운영 및 자재계획수립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본 과정은 Kraljic Matrix 기반으로 자재군별 차별화 전략과 계획 방법론을 체계적으로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JIT → JIC 패러다임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0896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00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749039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7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38912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5장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통합 KPI 프레임워크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02920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6장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166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산업별 적용 사례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66928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06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9회차 학습 여정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22860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맑은 고딕"/>
              </a:defRPr>
            </a:pPr>
            <a:r>
              <a:t>JIT → JIC</a:t>
            </a:r>
            <a:br/>
            <a:r>
              <a:t>패러다임 전환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0" y="3840480"/>
            <a:ext cx="5669280" cy="0"/>
          </a:xfrm>
          <a:prstGeom prst="line">
            <a:avLst/>
          </a:prstGeom>
          <a:ln w="381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Just-In-Time에서 Just-In-Case로</a:t>
            </a:r>
            <a:br/>
            <a:r>
              <a:t>재고 관리 전략의 근본적 변화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JIT의 영광과 몰락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 방식은 40년간 제조업의 표준이었으나 2020년 팬데믹으로 치명적 약점이 드러났습니다.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2743200"/>
            <a:ext cx="822960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280160" y="2651760"/>
            <a:ext cx="182880" cy="18288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맑은 고딕"/>
              </a:defRPr>
            </a:pPr>
            <a:r>
              <a:t>1970s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645920"/>
            <a:ext cx="91440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JIT 탄생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103120"/>
            <a:ext cx="0" cy="54864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14400" y="3291840"/>
            <a:ext cx="914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6499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도요타 생산 방식</a:t>
            </a:r>
            <a:br/>
            <a:r>
              <a:t>무재고 경영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↑</a:t>
            </a:r>
          </a:p>
        </p:txBody>
      </p:sp>
      <p:sp>
        <p:nvSpPr>
          <p:cNvPr id="14" name="Oval 13"/>
          <p:cNvSpPr/>
          <p:nvPr/>
        </p:nvSpPr>
        <p:spPr>
          <a:xfrm>
            <a:off x="2880360" y="2651760"/>
            <a:ext cx="182880" cy="18288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926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맑은 고딕"/>
              </a:defRPr>
            </a:pPr>
            <a:r>
              <a:t>1990s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645920"/>
            <a:ext cx="91440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16916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글로벌 확산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71800" y="2103120"/>
            <a:ext cx="0" cy="54864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514600" y="3291840"/>
            <a:ext cx="914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336499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미국·유럽 제조업</a:t>
            </a:r>
            <a:br/>
            <a:r>
              <a:t>표준 채택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↑↑</a:t>
            </a:r>
          </a:p>
        </p:txBody>
      </p:sp>
      <p:sp>
        <p:nvSpPr>
          <p:cNvPr id="22" name="Oval 21"/>
          <p:cNvSpPr/>
          <p:nvPr/>
        </p:nvSpPr>
        <p:spPr>
          <a:xfrm>
            <a:off x="4480560" y="2651760"/>
            <a:ext cx="182880" cy="18288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맑은 고딕"/>
              </a:defRPr>
            </a:pPr>
            <a:r>
              <a:t>2000s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1645920"/>
            <a:ext cx="91440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16916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디지털화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0" y="2103120"/>
            <a:ext cx="0" cy="54864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114800" y="3291840"/>
            <a:ext cx="914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0520" y="336499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ERP 시스템</a:t>
            </a:r>
            <a:br/>
            <a:r>
              <a:t>실시간 가시성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↑↑↑</a:t>
            </a:r>
          </a:p>
        </p:txBody>
      </p:sp>
      <p:sp>
        <p:nvSpPr>
          <p:cNvPr id="30" name="Oval 29"/>
          <p:cNvSpPr/>
          <p:nvPr/>
        </p:nvSpPr>
        <p:spPr>
          <a:xfrm>
            <a:off x="6080760" y="2651760"/>
            <a:ext cx="182880" cy="18288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2926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맑은 고딕"/>
              </a:defRPr>
            </a:pPr>
            <a:r>
              <a:t>2010s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1645920"/>
            <a:ext cx="91440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16916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최적화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72200" y="2103120"/>
            <a:ext cx="0" cy="54864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715000" y="3291840"/>
            <a:ext cx="914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36499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공급망 최적화</a:t>
            </a:r>
            <a:br/>
            <a:r>
              <a:t>원가 절감 극대화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↑↑↑</a:t>
            </a:r>
          </a:p>
        </p:txBody>
      </p:sp>
      <p:sp>
        <p:nvSpPr>
          <p:cNvPr id="38" name="Oval 37"/>
          <p:cNvSpPr/>
          <p:nvPr/>
        </p:nvSpPr>
        <p:spPr>
          <a:xfrm>
            <a:off x="7680960" y="2651760"/>
            <a:ext cx="182880" cy="18288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79" y="2926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맑은 고딕"/>
              </a:defRPr>
            </a:pPr>
            <a:r>
              <a:t>2020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1645920"/>
            <a:ext cx="91440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60920" y="16916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팬데믹 쇼크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72400" y="2103120"/>
            <a:ext cx="0" cy="54864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7315200" y="3291840"/>
            <a:ext cx="914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60920" y="3364992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공급망 마비</a:t>
            </a:r>
            <a:br/>
            <a:r>
              <a:t>JIT 붕괴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37947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↓↓↓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1828800"/>
            <a:ext cx="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199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시사점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194560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19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JIT는 40년간 제조업 혁신의 상징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2514600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19" y="2514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원가 절감과 효율성 극대화 달성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0" y="2834640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19" y="2834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2020년 팬데믹으로 근본적 한계 노출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3154680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19" y="3154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공급망 리스크에 극도로 취약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3474720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19" y="3474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JIC로의 패러다임 전환 불가피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팬데믹이 드러낸 JIT의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글로벌 공급망 마비로 JIT의 3대 위험(재고 부족, 공급 중단, 생산 마비)이 현실화되었습니다.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474720"/>
            <a:ext cx="1828800" cy="731520"/>
          </a:xfrm>
          <a:prstGeom prst="rect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0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공급망 마비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1645920" cy="10972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안전재고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98648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98648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즉각 결품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099816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99816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생산 차질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37360" y="2834640"/>
            <a:ext cx="1463040" cy="100584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14400" y="4114800"/>
            <a:ext cx="1645920" cy="10972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2062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공급 중단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2628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26280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단일 공급원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727448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727448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대체품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28616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928616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긴급 조달 불가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737360" y="3840480"/>
            <a:ext cx="1463040" cy="82296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486400" y="3017520"/>
            <a:ext cx="1645920" cy="10972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생산 마비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342900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429000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라인 가동 중단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3630168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630168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납기 지연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831336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831336"/>
            <a:ext cx="1325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매출 손실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029200" y="3566160"/>
            <a:ext cx="457200" cy="2743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산업별 피해 사례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286000"/>
            <a:ext cx="2560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23591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자동차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26060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반도체 부족으로 감산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2971800"/>
            <a:ext cx="2560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30449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전자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부품 결품으로 출시 지연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3657600"/>
            <a:ext cx="2560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의료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977639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마스크·장갑 공급 중단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4343400"/>
            <a:ext cx="2560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4165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식품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6634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포장재 부족으로 생산 차질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
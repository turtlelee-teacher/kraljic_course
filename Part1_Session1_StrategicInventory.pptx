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9902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8074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0000"/>
                </a:solidFill>
              </a:defRPr>
            </a:pPr>
            <a:r>
              <a:t>전략적 재고운영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80741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666666"/>
                </a:solidFill>
              </a:defRPr>
            </a:pPr>
            <a:r>
              <a:t>Kraljic Matrix와 자재계획 방법론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8074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333333"/>
                </a:solidFill>
              </a:defRPr>
            </a:pPr>
            <a:r>
              <a:t>전략적 재고운영 및 자재계획수립 과정</a:t>
            </a:r>
          </a:p>
          <a:p>
            <a:pPr algn="ctr">
              <a:defRPr sz="1400">
                <a:solidFill>
                  <a:srgbClr val="333333"/>
                </a:solidFill>
              </a:defRPr>
            </a:pPr>
            <a:r>
              <a:t>2025년 Part 1 (Session 1)</a:t>
            </a:r>
          </a:p>
          <a:p>
            <a:pPr algn="ctr">
              <a:defRPr sz="1400">
                <a:solidFill>
                  <a:srgbClr val="333333"/>
                </a:solidFill>
              </a:defRPr>
            </a:pPr>
            <a:r>
              <a:t>SCM 전문가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988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목차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988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66666"/>
                </a:solidFill>
              </a:defRPr>
            </a:pPr>
            <a:r>
              <a:t>오늘 학습할 내용은 JIT→JIC 패러다임 전환, Kraljic Matrix 프레임워크, 4대 자재군 전략, 자재계획 방법론 맵입니다.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</a:defRPr>
            </a:pPr>
            <a: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333333"/>
                </a:solidFill>
              </a:defRPr>
            </a:pPr>
            <a:r>
              <a:t>1장. 패러다임의 전환: JIT에서 JIC로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2장. Kraljic Matrix: 자재 포트폴리오 전략의 핵심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3장. 자재군별 차별화 전략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4장. 자재계획 방법론 전체 맵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5장. 통합 KPI 프레임워크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6장. 산업별·규모별 적용 가이드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988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학습 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988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66666"/>
                </a:solidFill>
              </a:defRPr>
            </a:pPr>
            <a:r>
              <a:t>이 세션을 통해 JIC 패러다임, Kraljic Matrix 분류 역량, 자재군별 관리 철학을 완전히 습득하게 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</a:defRPr>
            </a:pPr>
            <a: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333333"/>
                </a:solidFill>
              </a:defRPr>
            </a:pPr>
            <a:r>
              <a:t>JIT에서 JIC로의 패러다임 전환 배경과 필요성 이해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전략적 재고운영의 핵심 개념과 차별화된 접근법 습득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Kraljic Matrix를 활용한 자재 포트폴리오 분류 역량 확보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자재군별 관리 철학과 자재계획 방법론의 전체 맵 이해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산업별·규모별 맞춤형 적용 전략 파악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988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1.1 왜 지금 이 과정이 필요한가?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988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66666"/>
                </a:solidFill>
              </a:defRPr>
            </a:pPr>
            <a:r>
              <a:t>재고는 더 이상 '보유 자산'이 아닌 '전략적 자원'으로, 불확실성의 뉴노멀 시대에 차별화된 접근이 필수입니다.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</a:defRPr>
            </a:pPr>
            <a: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33333"/>
                </a:solidFill>
              </a:defRPr>
            </a:pPr>
            <a:r>
              <a:t>환경 변화</a:t>
            </a:r>
          </a:p>
          <a:p>
            <a:pPr>
              <a:spcBef>
                <a:spcPts val="1200"/>
              </a:spcBef>
              <a:defRPr sz="1000">
                <a:solidFill>
                  <a:srgbClr val="333333"/>
                </a:solidFill>
              </a:defRPr>
            </a:pPr>
            <a:r>
              <a:t>• 불확실성의 뉴노멀: 팬데믹, 지정학적 리스크, 기후변화</a:t>
            </a:r>
            <a:br/>
            <a:r>
              <a:t>• 공급망 취약성은 이제 상수(Constant)</a:t>
            </a:r>
            <a:br/>
            <a:r>
              <a:t>• 경영진 인식 변화: "재고 비용 &lt; 결품 비용"</a:t>
            </a:r>
            <a:br/>
            <a:r>
              <a:t>• Efficiency &lt; Resilience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4630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33333"/>
                </a:solidFill>
              </a:defRPr>
            </a:pPr>
            <a:r>
              <a:t>본 과정의 가치</a:t>
            </a:r>
          </a:p>
          <a:p>
            <a:pPr>
              <a:spcBef>
                <a:spcPts val="1200"/>
              </a:spcBef>
              <a:defRPr sz="1000">
                <a:solidFill>
                  <a:srgbClr val="333333"/>
                </a:solidFill>
              </a:defRPr>
            </a:pPr>
            <a:r>
              <a:t>• What: 어떤 자재를 차별화? → Kraljic Matrix</a:t>
            </a:r>
            <a:br/>
            <a:r>
              <a:t>• How Much: 얼마나 보유? → 자재계획 방법론</a:t>
            </a:r>
            <a:br/>
            <a:r>
              <a:t>• How: 어떻게 관리? → 자재군별 전략</a:t>
            </a:r>
            <a:br/>
            <a:r>
              <a:t>• Measure: 어떻게 측정? → KPI 프레임워크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988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1.2 JIT의 7대 원칙과 전성기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988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66666"/>
                </a:solidFill>
              </a:defRPr>
            </a:pPr>
            <a:r>
              <a:t>1980-2010년대 도요타의 JIT는 전 세계 제조업의 표준이었으나, 안정적 공급망을 전제로 한 시스템이었습니다.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</a:defRPr>
            </a:pPr>
            <a: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333333"/>
                </a:solidFill>
              </a:defRPr>
            </a:pPr>
            <a:r>
              <a:t>Zero Inventory: 재고는 최소화, 이상적으로는 Zero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Pull System: 수요가 발생할 때만 생산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Kanban: 시각적 신호 기반 생산 지시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Continuous Flow: 공정 간 재고 없이 흐름 생산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Short Lead Time: 리드타임 단축으로 재고 불필요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Perfect Quality: 불량 Zero로 안전재고 불필요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Supplier Partnership: 공급업체와의 긴밀한 협업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988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1.3 2020년 팬데믹: JIT의 붕괴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988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66666"/>
                </a:solidFill>
              </a:defRPr>
            </a:pPr>
            <a:r>
              <a:t>2020년 팬데믹은 JIT 방식의 치명적 약점을 극명하게 드러냈고, 전 세계 기업들은 JIC로 전환하기 시작했습니다.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</a:defRPr>
            </a:pPr>
            <a: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333333"/>
                </a:solidFill>
              </a:defRPr>
            </a:pPr>
            <a:r>
              <a:t>2021년 글로벌 반도체 대란: 자동차 생산 1,000만 대 감소, 산업 손실 $210억 (25조원)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마스크 대란 (2020.2-3): 전 세계 생산 50%를 중국 의존, 봉쇄로 공급 중단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컨테이너선 대란 (2021-2022): 운임비 10배 폭등 ($1,500→$15,000), 리드타임 2배 증가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GM: 반도체 부족으로 생산 차질 200만 대, 안전재고 0주 → 10-12주로 확대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Toyota (JIT 창시자): "우리는 더 이상 JIT만을 추구하지 않는다" - 안전재고 4-6개월 확보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Apple: 핵심 부품 안전재고 2주 → 6-8주 확대, 공급망 회복력에 $430억 투자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Intel: 원자재 안전재고 4주 → 12주 확대, Arizona/Ohio에 $200억 반도체 공장 건설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988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1.4 JIT vs JIC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988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66666"/>
                </a:solidFill>
              </a:defRPr>
            </a:pPr>
            <a:r>
              <a:t>JIC는 '무조건 재고 증가'가 아닌, 자재 특성에 따른 차별화된 전략입니다.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</a:defRPr>
            </a:pPr>
            <a: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33333"/>
                </a:solidFill>
              </a:defRPr>
            </a:pPr>
            <a:r>
              <a:t>JIT (과거)</a:t>
            </a:r>
          </a:p>
          <a:p>
            <a:pPr>
              <a:spcBef>
                <a:spcPts val="1200"/>
              </a:spcBef>
              <a:defRPr sz="1000">
                <a:solidFill>
                  <a:srgbClr val="333333"/>
                </a:solidFill>
              </a:defRPr>
            </a:pPr>
            <a:r>
              <a:t>• 재고 철학: 재고 = 낭비</a:t>
            </a:r>
            <a:br/>
            <a:r>
              <a:t>• 목표: 재고 최소화 (Zero)</a:t>
            </a:r>
            <a:br/>
            <a:r>
              <a:t>• 우선순위: 효율성 (Efficiency)</a:t>
            </a:r>
            <a:br/>
            <a:r>
              <a:t>• 리스크 관점: 리스크 무시</a:t>
            </a:r>
            <a:br/>
            <a:r>
              <a:t>• 공급망 구조: 글로벌 최적화</a:t>
            </a:r>
            <a:br/>
            <a:r>
              <a:t>• 안전재고: 최소 (1-2주)</a:t>
            </a:r>
            <a:br/>
            <a:r>
              <a:t>• 공급업체: Single Source</a:t>
            </a:r>
            <a:br/>
            <a:r>
              <a:t>• 의사결정: 원가 절감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4630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33333"/>
                </a:solidFill>
              </a:defRPr>
            </a:pPr>
            <a:r>
              <a:t>JIC (현재/미래)</a:t>
            </a:r>
          </a:p>
          <a:p>
            <a:pPr>
              <a:spcBef>
                <a:spcPts val="1200"/>
              </a:spcBef>
              <a:defRPr sz="1000">
                <a:solidFill>
                  <a:srgbClr val="333333"/>
                </a:solidFill>
              </a:defRPr>
            </a:pPr>
            <a:r>
              <a:t>• 재고 철학: 재고 = 전략적 자산</a:t>
            </a:r>
            <a:br/>
            <a:r>
              <a:t>• 목표: 최적 재고 (Optimal)</a:t>
            </a:r>
            <a:br/>
            <a:r>
              <a:t>• 우선순위: 회복력 (Resilience)</a:t>
            </a:r>
            <a:br/>
            <a:r>
              <a:t>• 리스크 관점: 리스크 관리</a:t>
            </a:r>
            <a:br/>
            <a:r>
              <a:t>• 공급망 구조: 지역 분산</a:t>
            </a:r>
            <a:br/>
            <a:r>
              <a:t>• 안전재고: 차별화 (1주-6개월)</a:t>
            </a:r>
            <a:br/>
            <a:r>
              <a:t>• 공급업체: Dual/Multi Source</a:t>
            </a:r>
            <a:br/>
            <a:r>
              <a:t>• 의사결정: TCO + 리스크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988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2.1 Kraljic Matrix의 탄생 (1983)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988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66666"/>
                </a:solidFill>
              </a:defRPr>
            </a:pPr>
            <a:r>
              <a:t>Peter Kraljic은 1970년대 석유파동을 계기로 '모든 자재는 동등하지 않다'는 혁명적 통찰을 제시했습니다.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</a:defRPr>
            </a:pPr>
            <a: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333333"/>
                </a:solidFill>
              </a:defRPr>
            </a:pPr>
            <a:r>
              <a:t>저자: Peter Kraljic, McKinsey 파트너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발표: Harvard Business Review (1983) "Purchasing Must Become Supply Management"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배경: 1970년대 2차례 석유파동으로 공급 불안정 극심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핵심 통찰: "Not all materials are created equal" - 모든 자재가 동등하게 만들어지지 않았다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차별화 필요성: 획일적 관리에서 자재 특성에 따른 차별화된 전략으로 전환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2축 평가: 공급 리스크 (Supply Risk) × 구매 임팩트 (Purchase Impact)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4대 자재군: 전략/레버리지/병목/일상 자재로 분류하여 각각 다른 전략 적용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988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2.2 Kraljic Matrix의 두 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988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66666"/>
                </a:solidFill>
              </a:defRPr>
            </a:pPr>
            <a:r>
              <a:t>Kraljic Matrix는 공급의 어려움(Y축)과 사업 영향(X축) 두 차원으로 자재를 평가합니다.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</a:defRPr>
            </a:pPr>
            <a: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33333"/>
                </a:solidFill>
              </a:defRPr>
            </a:pPr>
            <a:r>
              <a:t>Y축: 공급 리스크 (Supply Risk)</a:t>
            </a:r>
          </a:p>
          <a:p>
            <a:pPr>
              <a:spcBef>
                <a:spcPts val="1200"/>
              </a:spcBef>
              <a:defRPr sz="1000">
                <a:solidFill>
                  <a:srgbClr val="333333"/>
                </a:solidFill>
              </a:defRPr>
            </a:pPr>
            <a:r>
              <a:t>공급의 어려움을 나타냅니다</a:t>
            </a:r>
            <a:br/>
            <a:br/>
            <a:r>
              <a:t>• 공급업체 수: 1-2개(고) vs 10개 이상(저)</a:t>
            </a:r>
            <a:br/>
            <a:r>
              <a:t>• 대체 가능성: 대체 불가(고) vs 쉽게 대체(저)</a:t>
            </a:r>
            <a:br/>
            <a:r>
              <a:t>• 시장 구조: 독과점(고) vs 경쟁시장(저)</a:t>
            </a:r>
            <a:br/>
            <a:r>
              <a:t>• 지리적 집중도: 특정 지역 집중(고) vs 분산(저)</a:t>
            </a:r>
            <a:br/>
            <a:r>
              <a:t>• 기술 복잡성: 특수 기술(고) vs 범용 기술(저)</a:t>
            </a:r>
            <a:br/>
            <a:r>
              <a:t>• 리드타임: 6개월 이상(고) vs 1개월 이하(저)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4630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33333"/>
                </a:solidFill>
              </a:defRPr>
            </a:pPr>
            <a:r>
              <a:t>X축: 구매 임팩트 (Purchase Impact)</a:t>
            </a:r>
          </a:p>
          <a:p>
            <a:pPr>
              <a:spcBef>
                <a:spcPts val="1200"/>
              </a:spcBef>
              <a:defRPr sz="1000">
                <a:solidFill>
                  <a:srgbClr val="333333"/>
                </a:solidFill>
              </a:defRPr>
            </a:pPr>
            <a:r>
              <a:t>사업에 미치는 영향을 나타냅니다</a:t>
            </a:r>
            <a:br/>
            <a:br/>
            <a:r>
              <a:t>• 구매 금액: 총 구매액 대비 비중</a:t>
            </a:r>
            <a:br/>
            <a:r>
              <a:t>• 원가 비중: 제품 원가 중 차지 비율</a:t>
            </a:r>
            <a:br/>
            <a:r>
              <a:t>• 사업 영향도: 결품 시 생산 중단 여부</a:t>
            </a:r>
            <a:br/>
            <a:r>
              <a:t>• 부가가치: 최종 제품 성능에 미치는 영향</a:t>
            </a:r>
            <a:br/>
            <a:r>
              <a:t>• 품질 중요성: 품질 문제 시 파급 효과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988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2.3 Kraljic Matrix: 4대 자재군 분류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988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66666"/>
                </a:solidFill>
              </a:defRPr>
            </a:pPr>
            <a:r>
              <a:t>공급 리스크와 구매 임팩트 두 축으로 자재를 4개 군으로 분류하여 각각 차별화된 전략을 적용합니다.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3333"/>
                </a:solidFill>
              </a:defRPr>
            </a:pPr>
            <a:r>
              <a:t>공급 리스크와 구매 임팩트 두 축으로 자재를 4개 군으로 분류합니다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2011680"/>
            <a:ext cx="3657600" cy="2011680"/>
          </a:xfrm>
          <a:prstGeom prst="rect">
            <a:avLst/>
          </a:prstGeom>
          <a:solidFill>
            <a:srgbClr val="8E44AD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전략자재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Strategic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높은 리스크 + 높은 임팩트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예: 핵심 반도체(AP, SoC)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예: 특수 소재(OLED 발광재료)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목표: 전략적 파트너십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011680"/>
            <a:ext cx="3657600" cy="2011680"/>
          </a:xfrm>
          <a:prstGeom prst="rect">
            <a:avLst/>
          </a:prstGeom>
          <a:solidFill>
            <a:srgbClr val="E67E22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병목자재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Bottleneck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높은 리스크 + 낮은 임팩트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예: 차량용 MCU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예: 희소 원자재(희토류)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목표: 공급 안정성 확보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4023360"/>
            <a:ext cx="3657600" cy="2011680"/>
          </a:xfrm>
          <a:prstGeom prst="rect">
            <a:avLst/>
          </a:prstGeom>
          <a:solidFill>
            <a:srgbClr val="27AE6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레버리지자재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Leverage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낮은 리스크 + 높은 임팩트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예: 범용 원자재(철강)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예: 표준 전자부품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목표: 원가 절감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4023360"/>
            <a:ext cx="3657600" cy="2011680"/>
          </a:xfrm>
          <a:prstGeom prst="rect">
            <a:avLst/>
          </a:prstGeom>
          <a:solidFill>
            <a:srgbClr val="95A5A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일상자재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Routine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낮은 리스크 + 낮은 임팩트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예: MRO 품목(볼트, 너트)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예: 사무용품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목표: 효율화 &amp; 자동화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612648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</a:defRPr>
            </a:pPr>
            <a:r>
              <a:t>구매 임팩트 (Purchase Impact)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2011680"/>
            <a:ext cx="914400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</a:defRPr>
            </a:pPr>
            <a:r>
              <a:t>공급 리스크</a:t>
            </a:r>
          </a:p>
          <a:p>
            <a:pPr algn="ctr">
              <a:defRPr sz="1000" b="1">
                <a:solidFill>
                  <a:srgbClr val="333333"/>
                </a:solidFill>
              </a:defRPr>
            </a:pPr>
            <a:r>
              <a:t>(Supply Risk)</a:t>
            </a:r>
          </a:p>
          <a:p>
            <a:pPr algn="ctr">
              <a:defRPr sz="1000" b="1">
                <a:solidFill>
                  <a:srgbClr val="333333"/>
                </a:solidFill>
              </a:defRPr>
            </a:pPr>
            <a:r>
              <a:t>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66666"/>
                </a:solidFill>
              </a:defRPr>
            </a:pPr>
            <a:r>
              <a:t>각 자재군은 차별화된 관리 전략이 필요합니다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988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2.4 자재 분류 실습 프로세스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988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66666"/>
                </a:solidFill>
              </a:defRPr>
            </a:pPr>
            <a:r>
              <a:t>자재를 Kraljic Matrix로 분류하려면 데이터 수집 → 점수화 → 매트릭스 배치 3단계를 거칩니다.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333333"/>
                </a:solidFill>
              </a:defRPr>
            </a:pPr>
            <a:r>
              <a:t>Step 1 - 데이터 수집: 구매 임팩트(연간 구매액, 원가 비중), 공급 리스크(공급업체 수, 리드타임), 대체성, 사업 영향 수집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Step 2 - 점수화: 공급 리스크 점수 = (공급업체 수×0.3) + (대체성×0.3) + (리드타임×0.2) + (지역 집중도×0.2)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Step 2 - 점수화: 구매 임팩트 점수 = (구매 금액×0.4) + (원가 비중×0.3) + (사업 영향도×0.3)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Step 3 - 매트릭스 배치: 공급 리스크 3점 이상 = 높음, 구매 임팩트 3점 이상 = 높음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출처: ERP 구매 모듈, 원가 회계 시스템, BOM, 설계 사양서, 대체 자재 승인 목록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988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3.1 획일적 관리의 문제점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988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66666"/>
                </a:solidFill>
              </a:defRPr>
            </a:pPr>
            <a:r>
              <a:t>모든 자재를 동일하게 관리하면 전략자재 공급업체 이탈, 레버리지자재 재고 비용 증가, 병목자재 결품 발생 등의 문제가 발생합니다.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</a:defRPr>
            </a:pPr>
            <a: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33333"/>
                </a:solidFill>
              </a:defRPr>
            </a:pPr>
            <a:r>
              <a:t>전략자재 &amp; 병목자재</a:t>
            </a:r>
          </a:p>
          <a:p>
            <a:pPr>
              <a:spcBef>
                <a:spcPts val="1200"/>
              </a:spcBef>
              <a:defRPr sz="1000">
                <a:solidFill>
                  <a:srgbClr val="333333"/>
                </a:solidFill>
              </a:defRPr>
            </a:pPr>
            <a:r>
              <a:t>전략자재에 원가 절감 압박</a:t>
            </a:r>
            <a:br/>
            <a:r>
              <a:t>→ 공급업체 이탈</a:t>
            </a:r>
            <a:br/>
            <a:r>
              <a:t>→ 공급 중단</a:t>
            </a:r>
            <a:br/>
            <a:r>
              <a:t>→ 생산 중단 ($$$)</a:t>
            </a:r>
            <a:br/>
            <a:br/>
            <a:r>
              <a:t>병목자재를 소홀히 관리</a:t>
            </a:r>
            <a:br/>
            <a:r>
              <a:t>→ 결품 발생</a:t>
            </a:r>
            <a:br/>
            <a:r>
              <a:t>→ 생산 라인 정지</a:t>
            </a:r>
            <a:br/>
            <a:r>
              <a:t>→ 막대한 손실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4630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33333"/>
                </a:solidFill>
              </a:defRPr>
            </a:pPr>
            <a:r>
              <a:t>레버리지자재 &amp; 일상자재</a:t>
            </a:r>
          </a:p>
          <a:p>
            <a:pPr>
              <a:spcBef>
                <a:spcPts val="1200"/>
              </a:spcBef>
              <a:defRPr sz="1000">
                <a:solidFill>
                  <a:srgbClr val="333333"/>
                </a:solidFill>
              </a:defRPr>
            </a:pPr>
            <a:r>
              <a:t>레버리지자재에 높은 안전재고</a:t>
            </a:r>
            <a:br/>
            <a:r>
              <a:t>→ 재고 비용 증가</a:t>
            </a:r>
            <a:br/>
            <a:r>
              <a:t>→ 원가 경쟁력 상실</a:t>
            </a:r>
            <a:br/>
            <a:r>
              <a:t>→ 시장 점유율 하락</a:t>
            </a:r>
            <a:br/>
            <a:br/>
            <a:r>
              <a:t>일상자재에 과도한 관리</a:t>
            </a:r>
            <a:br/>
            <a:r>
              <a:t>→ 인력 낭비</a:t>
            </a:r>
            <a:br/>
            <a:r>
              <a:t>→ 전략 업무 소홀</a:t>
            </a:r>
            <a:br/>
            <a:r>
              <a:t>→ 핵심 자재 리스크 증가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988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3.2 자재군별 핵심 전략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988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66666"/>
                </a:solidFill>
              </a:defRPr>
            </a:pPr>
            <a:r>
              <a:t>4대 자재군은 관리 목표, 공급업체 수, 안전재고, 발주 방식, 협상 방식에서 완전히 다른 전략을 요구합니다.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</a:defRPr>
            </a:pPr>
            <a: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333333"/>
                </a:solidFill>
              </a:defRPr>
            </a:pPr>
            <a:r>
              <a:t>병목자재: 목표=공급 확보, 공급업체=증가 시도(1→2-3개), 안전재고=높음(4-8주), 발주=ROP, 협상=안정성 중심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레버리지자재: 목표=원가 절감, 공급업체=경쟁 유지(5개 이상), 안전재고=낮음(1-2주), 발주=MRP, 협상=가격 경쟁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전략자재: 목표=파트너십, 공급업체=전략적 선택(1-2개), 안전재고=중상(3-6주), 발주=LTP+Hybrid, 협상=Win-Win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일상자재: 목표=효율화, 공급업체=통합(10-20개), 안전재고=최소(1주), 발주=Min-Max/VMI, 협상=표준화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988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3.3 자재군별 핵심 철학의 차이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988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66666"/>
                </a:solidFill>
              </a:defRPr>
            </a:pPr>
            <a:r>
              <a:t>병목자재는 '보험', 레버리지자재는 '투자', 전략자재는 '파트너십', 일상자재는 '자동화'의 관점으로 접근합니다.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</a:defRPr>
            </a:pPr>
            <a: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33333"/>
                </a:solidFill>
              </a:defRPr>
            </a:pPr>
            <a:r>
              <a:t>병목자재 &amp; 레버리지자재</a:t>
            </a:r>
          </a:p>
          <a:p>
            <a:pPr>
              <a:spcBef>
                <a:spcPts val="1200"/>
              </a:spcBef>
              <a:defRPr sz="1000">
                <a:solidFill>
                  <a:srgbClr val="333333"/>
                </a:solidFill>
              </a:defRPr>
            </a:pPr>
            <a:r>
              <a:t>병목자재: "보험"의 관점</a:t>
            </a:r>
            <a:br/>
            <a:r>
              <a:t>• 안전재고 비용 &lt;&lt; 결품 손실</a:t>
            </a:r>
            <a:br/>
            <a:r>
              <a:t>• 예: 차량용 반도체 안전재고 연 5억원 vs 하루 생산 중단 100억원</a:t>
            </a:r>
            <a:br/>
            <a:r>
              <a:t>• 결론: 재고는 "보험료"</a:t>
            </a:r>
            <a:br/>
            <a:br/>
            <a:r>
              <a:t>레버리지자재: "투자"의 관점</a:t>
            </a:r>
            <a:br/>
            <a:r>
              <a:t>• 재고 감축 = 원가 절감 = 이익 증대</a:t>
            </a:r>
            <a:br/>
            <a:r>
              <a:t>• 예: 플라스틱 수지 재고 30% 감축 → 연 10억원 절감, 원가 5% 절감 → 연 15억원</a:t>
            </a:r>
            <a:br/>
            <a:r>
              <a:t>• 결론: 최적화가 곧 이익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4630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33333"/>
                </a:solidFill>
              </a:defRPr>
            </a:pPr>
            <a:r>
              <a:t>전략자재 &amp; 일상자재</a:t>
            </a:r>
          </a:p>
          <a:p>
            <a:pPr>
              <a:spcBef>
                <a:spcPts val="1200"/>
              </a:spcBef>
              <a:defRPr sz="1000">
                <a:solidFill>
                  <a:srgbClr val="333333"/>
                </a:solidFill>
              </a:defRPr>
            </a:pPr>
            <a:r>
              <a:t>전략자재: "파트너십"의 관점</a:t>
            </a:r>
            <a:br/>
            <a:r>
              <a:t>• 단기 이익 &lt; 장기 협력 가치</a:t>
            </a:r>
            <a:br/>
            <a:r>
              <a:t>• 예: 핵심 반도체 단기 원가 절감 5억원 vs 장기 파트너십 가치 50억원</a:t>
            </a:r>
            <a:br/>
            <a:r>
              <a:t>• 결론: 관계가 곧 자산</a:t>
            </a:r>
            <a:br/>
            <a:br/>
            <a:r>
              <a:t>일상자재: "자동화"의 관점</a:t>
            </a:r>
            <a:br/>
            <a:r>
              <a:t>• 관리 비용 &gt; 자재 가치</a:t>
            </a:r>
            <a:br/>
            <a:r>
              <a:t>• 예: 사무용품 금액 연 1억원 vs 수작업 관리 비용 2억원 vs 자동화 후 0.5억원</a:t>
            </a:r>
            <a:br/>
            <a:r>
              <a:t>• 결론: 손대지 않는 것이 최선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988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4.1 5대 자재계획 방법론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988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66666"/>
                </a:solidFill>
              </a:defRPr>
            </a:pPr>
            <a:r>
              <a:t>ROP, MRP, LTP, Min-Max, VMI/CMI 5가지 방법론을 자재군 특성에 맞춰 선택적으로 적용합니다.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</a:defRPr>
            </a:pPr>
            <a: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333333"/>
                </a:solidFill>
              </a:defRPr>
            </a:pPr>
            <a:r>
              <a:t>ROP (Re-Order Point): 재고 수준이 기준점 도달 시 자동 발주 → 병목자재 (지속 모니터링, 높은 서비스 수준)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MRP (Material Requirements Planning): MPS+BOM 기반 소요량 계산 → 레버리지자재 (계획적 발주, 재고 최적화)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LTP (Long-Term Planning): 장기 수급 계획 + 분할 납입 → 전략자재 (Capacity 확보, 장기 가시성)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Min-Max: 최소/최대값 기준 자동 보충 → 일상자재 (단순 자동화, 관리 최소화)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VMI/CMI: 공급업체 주도 재고 관리 → 일상자재 (완전 자동화, Zero Touch, 재고 이전)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988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4.2 전략자재의 하이브리드 접근법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988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66666"/>
                </a:solidFill>
              </a:defRPr>
            </a:pPr>
            <a:r>
              <a:t>전략자재는 단일 방법론으로 해결 불가하며, LTP(18-24개월) + MRP(3-6개월) + ROP(실시간) 3단계 통합이 필요합니다.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</a:defRPr>
            </a:pPr>
            <a: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33333"/>
                </a:solidFill>
              </a:defRPr>
            </a:pPr>
            <a:r>
              <a:t>장기 + 중기 계획</a:t>
            </a:r>
          </a:p>
          <a:p>
            <a:pPr>
              <a:spcBef>
                <a:spcPts val="1200"/>
              </a:spcBef>
              <a:defRPr sz="1000">
                <a:solidFill>
                  <a:srgbClr val="333333"/>
                </a:solidFill>
              </a:defRPr>
            </a:pPr>
            <a:r>
              <a:t>LTP (18-24개월)</a:t>
            </a:r>
            <a:br/>
            <a:r>
              <a:t>• Framework Agreement</a:t>
            </a:r>
            <a:br/>
            <a:r>
              <a:t>• Capacity 확보</a:t>
            </a:r>
            <a:br/>
            <a:r>
              <a:t>• 분기별 총량 계획</a:t>
            </a:r>
            <a:br/>
            <a:br/>
            <a:r>
              <a:t>MRP (3-6개월)</a:t>
            </a:r>
            <a:br/>
            <a:r>
              <a:t>• 월간 상세 계획</a:t>
            </a:r>
            <a:br/>
            <a:r>
              <a:t>• Release Order</a:t>
            </a:r>
            <a:br/>
            <a:r>
              <a:t>• BOM 기반 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4630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33333"/>
                </a:solidFill>
              </a:defRPr>
            </a:pPr>
            <a:r>
              <a:t>단기 + 실시간 대응</a:t>
            </a:r>
          </a:p>
          <a:p>
            <a:pPr>
              <a:spcBef>
                <a:spcPts val="1200"/>
              </a:spcBef>
              <a:defRPr sz="1000">
                <a:solidFill>
                  <a:srgbClr val="333333"/>
                </a:solidFill>
              </a:defRPr>
            </a:pPr>
            <a:r>
              <a:t>ROP (실시간)</a:t>
            </a:r>
            <a:br/>
            <a:r>
              <a:t>• 안전재고 모니터링</a:t>
            </a:r>
            <a:br/>
            <a:r>
              <a:t>• 긴급 발주 대응</a:t>
            </a:r>
            <a:br/>
            <a:r>
              <a:t>• 버퍼 역할</a:t>
            </a:r>
            <a:br/>
            <a:br/>
            <a:r>
              <a:t>통합 효과</a:t>
            </a:r>
            <a:br/>
            <a:r>
              <a:t>• 장기 안정성 확보</a:t>
            </a:r>
            <a:br/>
            <a:r>
              <a:t>• 중기 정밀 계획</a:t>
            </a:r>
            <a:br/>
            <a:r>
              <a:t>• 단기 유연성 보장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988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5.1 자재군별 핵심 KPI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988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66666"/>
                </a:solidFill>
              </a:defRPr>
            </a:pPr>
            <a:r>
              <a:t>병목은 가용률 95%+, 레버리지는 절감률 3-5%/년, 전략은 연속성 100%, 일상은 자동화율 80%+를 목표로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</a:defRPr>
            </a:pPr>
            <a: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333333"/>
                </a:solidFill>
              </a:defRPr>
            </a:pPr>
            <a:r>
              <a:t>병목자재: 재고 가용률 95% 이상, 공급 안정성 95% 이상, 긴급 발주 5회/월 이하 (주별/월별 측정)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레버리지자재: 원가 절감률 3-5%/년, 재고 회전율 12회 이상, 발주 정확도 95% 이상 (월별/분기별)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전략자재: 공급 연속성 100%, LTP 정확도 70% 이상, TCO 개선 -3%/년 (월별/분기별)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일상자재: 발주 처리비용 5천원/건 이하, 자동화율 80% 이상, 공급업체 수 100개 이하 (분기별)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988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6.1 산업별 자재 분포 및 우선순위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988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66666"/>
                </a:solidFill>
              </a:defRPr>
            </a:pPr>
            <a:r>
              <a:t>제조업은 전략+병목 우선, 프로세스 산업은 전략+레버리지 우선, 유통은 일상+레버리지 우선으로 접근합니다.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</a:defRPr>
            </a:pPr>
            <a: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333333"/>
                </a:solidFill>
              </a:defRPr>
            </a:pPr>
            <a:r>
              <a:t>제조업 (자동차, 전자, 기계): 전략 10-15%, 병목 15-20%, 레버리지 30-35%, 일상 35-40% → 우선순위: 전략→병목→레버리지→일상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프로세스 산업 (화학, 제약, 식품): 전략 20-30%, 병목 10-15%, 레버리지 40-50%, 일상 10-20% → 우선순위: 전략→레버리지→병목→일상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유통·서비스업: 전략 0-5%, 병목 5-10%, 레버리지 10-20%, 일상 70-80% → 우선순위: 일상→레버리지→병목→전략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988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6.2 기업 규모별 적용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988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66666"/>
                </a:solidFill>
              </a:defRPr>
            </a:pPr>
            <a:r>
              <a:t>대기업은 균형 관리, 중견기업은 전략+병목 집중, 중소기업은 병목만 집중, 스타트업은 초간소화 전략을 권장합니다.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</a:defRPr>
            </a:pPr>
            <a: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33333"/>
                </a:solidFill>
              </a:defRPr>
            </a:pPr>
            <a:r>
              <a:t>대기업 &amp; 중견기업</a:t>
            </a:r>
          </a:p>
          <a:p>
            <a:pPr>
              <a:spcBef>
                <a:spcPts val="1200"/>
              </a:spcBef>
              <a:defRPr sz="1000">
                <a:solidFill>
                  <a:srgbClr val="333333"/>
                </a:solidFill>
              </a:defRPr>
            </a:pPr>
            <a:r>
              <a:t>대기업 (매출 1조원 이상)</a:t>
            </a:r>
            <a:br/>
            <a:r>
              <a:t>• 강점: 구매력 큼, 전문 조직, 시스템 인프라</a:t>
            </a:r>
            <a:br/>
            <a:r>
              <a:t>• 접근: 4대 자재군 균형 관리, 자재군별 전담 팀, SAP/Oracle 활용</a:t>
            </a:r>
            <a:br/>
            <a:br/>
            <a:r>
              <a:t>중견기업 (1천억~1조원)</a:t>
            </a:r>
            <a:br/>
            <a:r>
              <a:t>• 특징: 제한된 인력(5-10명), 일부 시스템</a:t>
            </a:r>
            <a:br/>
            <a:r>
              <a:t>• 접근: 전략+병목 집중(80% 자원), 레버리지는 협회/공동구매, 일상은 아웃소싱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4630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33333"/>
                </a:solidFill>
              </a:defRPr>
            </a:pPr>
            <a:r>
              <a:t>중소기업 &amp; 스타트업</a:t>
            </a:r>
          </a:p>
          <a:p>
            <a:pPr>
              <a:spcBef>
                <a:spcPts val="1200"/>
              </a:spcBef>
              <a:defRPr sz="1000">
                <a:solidFill>
                  <a:srgbClr val="333333"/>
                </a:solidFill>
              </a:defRPr>
            </a:pPr>
            <a:r>
              <a:t>중소기업 (1천억원 미만)</a:t>
            </a:r>
            <a:br/>
            <a:r>
              <a:t>• 특징: 구매 전담 1-3명, 시스템 최소화</a:t>
            </a:r>
            <a:br/>
            <a:r>
              <a:t>• 접근: 병목자재만 집중, 전략/레버리지는 표준화, 일상은 완전 자동화</a:t>
            </a:r>
            <a:br/>
            <a:br/>
            <a:r>
              <a:t>스타트업 / 소기업</a:t>
            </a:r>
            <a:br/>
            <a:r>
              <a:t>• 초간소화: 생존 필수 자재 5-10개만 식별 → 공급 리스크 높은 것만 병목으로 관리 → 나머지 전부 일상 처리 → 성장 후 세분화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988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7.1 실전 사례: 2021년 글로벌 반도체 대란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988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66666"/>
                </a:solidFill>
              </a:defRPr>
            </a:pPr>
            <a:r>
              <a:t>GM, Ford, Toyota 등은 병목자재(반도체)를 JIT로 관리한 실수로 막대한 손실을 입었고, 이후 JIC로 전환했습니다.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</a:defRPr>
            </a:pPr>
            <a: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333333"/>
                </a:solidFill>
              </a:defRPr>
            </a:pPr>
            <a:r>
              <a:t>배경: 2020-2021년 팬데믹으로 차량용 반도체 공급망 붕괴, 완성차 업체들은 수요 감소 예상하고 JIT 원칙에 따라 주문 취소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영향: GM·Ford·폭스바겐 수개월 생산 중단, 2021년 전 세계 자동차 생산 1,000만 대 감소, 산업 손실 $210억 (25조원)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Kraljic 관점: 차량용 반도체는 전형적 병목자재 (높은 공급 리스크: 소수 공급업체, 긴 리드타임 6-12개월, 지역 집중 대만·한국)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JIT 실패: 안전재고 1-2주 → 버퍼 Zero → 공급 충격에 즉시 노출 → 생산 중단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JIC 전환: GM 안전재고 6개월 확보 연 $5억 투자, Ford 삼성과 3년 계약+Dual Sourcing, Toyota 4-6개월 안전재고, VW 반도체 전담 조직 50명 신설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988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7.2 반도체 대란 비용-효익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988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66666"/>
                </a:solidFill>
              </a:defRPr>
            </a:pPr>
            <a:r>
              <a:t>안전재고 증가 비용(500억원)은 생산 중단 손실(1,050억원)보다 훨씬 작아 ROI 110%를 달성합니다.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</a:defRPr>
            </a:pPr>
            <a: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33333"/>
                </a:solidFill>
              </a:defRPr>
            </a:pPr>
            <a:r>
              <a:t>안전재고 증가 비용</a:t>
            </a:r>
          </a:p>
          <a:p>
            <a:pPr>
              <a:spcBef>
                <a:spcPts val="1200"/>
              </a:spcBef>
              <a:defRPr sz="1000">
                <a:solidFill>
                  <a:srgbClr val="333333"/>
                </a:solidFill>
              </a:defRPr>
            </a:pPr>
            <a:r>
              <a:t>• 반도체 단가: 평균 $50 (6만원)</a:t>
            </a:r>
            <a:br/>
            <a:r>
              <a:t>• 연간 소요량: 1,000만개</a:t>
            </a:r>
            <a:br/>
            <a:r>
              <a:t>• 안전재고 증가: 2주 → 3개월 (6배)</a:t>
            </a:r>
            <a:br/>
            <a:r>
              <a:t>• 추가 재고 비용: 약 500억원/년</a:t>
            </a:r>
            <a:br/>
            <a:br/>
            <a:r>
              <a:t>→ 재고 보유 비용: 연 500억원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4630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33333"/>
                </a:solidFill>
              </a:defRPr>
            </a:pPr>
            <a:r>
              <a:t>생산 중단 손실</a:t>
            </a:r>
          </a:p>
          <a:p>
            <a:pPr>
              <a:spcBef>
                <a:spcPts val="1200"/>
              </a:spcBef>
              <a:defRPr sz="1000">
                <a:solidFill>
                  <a:srgbClr val="333333"/>
                </a:solidFill>
              </a:defRPr>
            </a:pPr>
            <a:r>
              <a:t>• 하루 생산량: 3,000대</a:t>
            </a:r>
            <a:br/>
            <a:r>
              <a:t>• 차량당 영업이익: 500만원</a:t>
            </a:r>
            <a:br/>
            <a:r>
              <a:t>• 하루 손실: 150억원</a:t>
            </a:r>
            <a:br/>
            <a:r>
              <a:t>• 1주 생산 중단: 1,050억원</a:t>
            </a:r>
            <a:br/>
            <a:br/>
            <a:r>
              <a:t>→ 결론: 재고 비용(500억) &lt;&lt; 결품 손실(1,050억)</a:t>
            </a:r>
            <a:br/>
            <a:r>
              <a:t>→ ROI = (1,050억-500억)/500억 = 110%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988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8.1 자주 묻는 질문 (FAQ)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988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66666"/>
                </a:solidFill>
              </a:defRPr>
            </a:pPr>
            <a:r>
              <a:t>JIC는 모든 자재의 재고를 늘리는 것이 아니라, 병목·전략자재만 선택적으로 증가시키는 차별화 전략입니다.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</a:defRPr>
            </a:pPr>
            <a: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333333"/>
                </a:solidFill>
              </a:defRPr>
            </a:pPr>
            <a:r>
              <a:t>Q1. JIC로 전환하면 재고 비용이 너무 증가하지 않나요? → A: 병목·전략자재만 증가, 레버리지는 MRP로 감소, 일상은 VMI로 이전 → 전체 재고 10-20% 증가, 결품 리스크 80% 감소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Q2. JIT를 완전히 버려야 하나요? → A: 아닙니다. 레버리지·일상자재는 JIT 유지 가능, Kraljic Matrix로 자재군별 차별화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Q3. 자재 분류가 애매한 경우? → A: 보수적으로 판단 (불확실하면 리스크 높은 쪽), 정기 재검토(분기별)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Q4. 자재군이 시간에 따라 바뀌나요? → A: 네, 시장 변화·사업 변화 반영 필수, 분기별 모니터링·연 1회 전면 재검토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Q5. 어디서부터 시작? → A: 파일럿(자재 20개) → 우선순위(가장 문제되는 자재군 1개) → 빠른 성과(3개월) → 점진적 확대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988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8.2 조직 저항 극복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988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66666"/>
                </a:solidFill>
              </a:defRPr>
            </a:pPr>
            <a:r>
              <a:t>재무팀은 ROI 계산서, 구매팀은 파일럿 성과, 경영진은 간단한 대시보드로 설득합니다.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</a:defRPr>
            </a:pPr>
            <a: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33333"/>
                </a:solidFill>
              </a:defRPr>
            </a:pPr>
            <a:r>
              <a:t>예상 저항</a:t>
            </a:r>
          </a:p>
          <a:p>
            <a:pPr>
              <a:spcBef>
                <a:spcPts val="1200"/>
              </a:spcBef>
              <a:defRPr sz="1000">
                <a:solidFill>
                  <a:srgbClr val="333333"/>
                </a:solidFill>
              </a:defRPr>
            </a:pPr>
            <a:r>
              <a:t>재무팀</a:t>
            </a:r>
            <a:br/>
            <a:r>
              <a:t>• "재고 증가 = 비용 증가"</a:t>
            </a:r>
            <a:br/>
            <a:r>
              <a:t>• 우려: 재고자산 증가, ROA 악화</a:t>
            </a:r>
            <a:br/>
            <a:br/>
            <a:r>
              <a:t>구매팀</a:t>
            </a:r>
            <a:br/>
            <a:r>
              <a:t>• "관계 악화 우려"</a:t>
            </a:r>
            <a:br/>
            <a:r>
              <a:t>• 우려: 공급업체 반발, 협상 부담</a:t>
            </a:r>
            <a:br/>
            <a:br/>
            <a:r>
              <a:t>경영진</a:t>
            </a:r>
            <a:br/>
            <a:r>
              <a:t>• "복잡성 증가"</a:t>
            </a:r>
            <a:br/>
            <a:r>
              <a:t>• 우려: 관리 복잡도, 시스템 투자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4630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33333"/>
                </a:solidFill>
              </a:defRPr>
            </a:pPr>
            <a:r>
              <a:t>극복 전략</a:t>
            </a:r>
          </a:p>
          <a:p>
            <a:pPr>
              <a:spcBef>
                <a:spcPts val="1200"/>
              </a:spcBef>
              <a:defRPr sz="1000">
                <a:solidFill>
                  <a:srgbClr val="333333"/>
                </a:solidFill>
              </a:defRPr>
            </a:pPr>
            <a:r>
              <a:t>재무팀 설득</a:t>
            </a:r>
            <a:br/>
            <a:r>
              <a:t>• 결품 비용 vs 재고 비용 ROI 계산서 제시</a:t>
            </a:r>
            <a:br/>
            <a:r>
              <a:t>• 예: 재고 500억 vs 결품 1,050억 → ROI 110%</a:t>
            </a:r>
            <a:br/>
            <a:br/>
            <a:r>
              <a:t>구매팀 설득</a:t>
            </a:r>
            <a:br/>
            <a:r>
              <a:t>• 파일럿 성과 증명 (재고 가용률 90%→98%)</a:t>
            </a:r>
            <a:br/>
            <a:r>
              <a:t>• 성공 사례 공유, 점진적 확대</a:t>
            </a:r>
            <a:br/>
            <a:br/>
            <a:r>
              <a:t>경영진 설득</a:t>
            </a:r>
            <a:br/>
            <a:r>
              <a:t>• 간단한 대시보드로 복잡성 해소</a:t>
            </a:r>
            <a:br/>
            <a:r>
              <a:t>• 4대 자재군 × 4개 핵심 KPI = 16개 지표만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988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핵심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988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66666"/>
                </a:solidFill>
              </a:defRPr>
            </a:pPr>
            <a:r>
              <a:t>JIT→JIC 패러다임 전환, Kraljic Matrix 4대 자재군 분류, 자재군별 차별화 전략, 5대 자재계획 방법론을 학습했습니다.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</a:defRPr>
            </a:pPr>
            <a: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333333"/>
                </a:solidFill>
              </a:defRPr>
            </a:pPr>
            <a:r>
              <a:t>패러다임 전환: JIT(재고=낭비, 효율성) → JIC(재고=전략적 자산, 회복력) - 2020년 팬데믹이 계기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Kraljic Matrix: 공급 리스크 × 구매 임팩트 → 4대 자재군 (전략/레버리지/병목/일상) 분류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차별화 전략: 병목=보험, 레버리지=투자, 전략=파트너십, 일상=자동화 관점으로 접근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자재계획 방법론: 병목→ROP, 레버리지→MRP, 전략→LTP+Hybrid, 일상→Min-Max/VMI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KPI: 병목=가용률 95%+, 레버리지=절감률 3-5%, 전략=연속성 100%, 일상=자동화율 80%+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988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다음 세션 예고 및 실습 과제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988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66666"/>
                </a:solidFill>
              </a:defRPr>
            </a:pPr>
            <a:r>
              <a:t>2회차에서는 자재군별 소싱 전략, 공급업체 성과 평가, 계약 전략을 실전 데이터로 학습합니다.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</a:defRPr>
            </a:pPr>
            <a: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333333"/>
                </a:solidFill>
              </a:defRPr>
            </a:pPr>
            <a:r>
              <a:t>2회차 주제: 자재군별 소싱 전략 및 공급업체 관계 관리 (SRM)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학습 내용: 자재군별 차별화된 소싱 전략, 공급업체 성과 평가 체계(Scorecard), 계약 전략 및 협상 포인트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실습 데이터: 10개 공급업체 성과 데이터 분석, Kraljic Matrix 포지셔닝, 개선 전략 수립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실습 과제 (1): 여러분 조직의 주요 자재 10-20개를 Kraljic Matrix에 배치해 오세요</a:t>
            </a:r>
          </a:p>
          <a:p>
            <a:pPr>
              <a:spcBef>
                <a:spcPts val="600"/>
              </a:spcBef>
              <a:defRPr sz="1200">
                <a:solidFill>
                  <a:srgbClr val="333333"/>
                </a:solidFill>
              </a:defRPr>
            </a:pPr>
            <a:r>
              <a:t>실습 과제 (2): 각 자재군별로 현재 관리 방식과 문제점을 정리해 오세요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
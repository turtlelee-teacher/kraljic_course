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902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8074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0000"/>
                </a:solidFill>
                <a:latin typeface="맑은 고딕"/>
              </a:defRPr>
            </a:pPr>
            <a:r>
              <a:t>[1회차] 전략적 재고운영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8074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333333"/>
                </a:solidFill>
                <a:latin typeface="맑은 고딕"/>
              </a:defRPr>
            </a:pPr>
            <a:r>
              <a:t>Kraljic Matrix와 자재계획 방법론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8074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600"/>
              </a:spcAft>
              <a:defRPr sz="1400">
                <a:solidFill>
                  <a:srgbClr val="666666"/>
                </a:solidFill>
                <a:latin typeface="맑은 고딕"/>
              </a:defRPr>
            </a:pPr>
            <a:r>
              <a:t>전략적 재고운영 및 자재계획수립 과정</a:t>
            </a:r>
          </a:p>
          <a:p>
            <a:pPr algn="ctr">
              <a:spcAft>
                <a:spcPts val="600"/>
              </a:spcAft>
              <a:defRPr sz="1400">
                <a:solidFill>
                  <a:srgbClr val="666666"/>
                </a:solidFill>
                <a:latin typeface="맑은 고딕"/>
              </a:defRPr>
            </a:pPr>
            <a:r>
              <a:t>45분</a:t>
            </a:r>
          </a:p>
          <a:p>
            <a:pPr algn="ctr">
              <a:spcAft>
                <a:spcPts val="600"/>
              </a:spcAft>
              <a:defRPr sz="1400">
                <a:solidFill>
                  <a:srgbClr val="666666"/>
                </a:solidFill>
                <a:latin typeface="맑은 고딕"/>
              </a:defRPr>
            </a:pPr>
            <a:r>
              <a:t>Session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8686800" cy="59436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1장 패러다임의 전환: JIT에서 JIC로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57400"/>
            <a:ext cx="86868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2장 Kraljic Matrix 프레임워크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8686800" cy="59436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3장 자재군별 차별화 전략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29000"/>
            <a:ext cx="86868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4장 자재계획 방법론 전체 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14800"/>
            <a:ext cx="8686800" cy="59436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5장 통합 KPI 프레임워크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00600"/>
            <a:ext cx="8686800" cy="5943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6장 산업별·규모별 적용 가이드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86400"/>
            <a:ext cx="8686800" cy="59436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7장 9회차 학습 여정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1장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297680"/>
            <a:ext cx="6245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맑은 고딕"/>
              </a:defRPr>
            </a:pPr>
            <a:r>
              <a:t>패러다임의 전환: JIT에서 JIC로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1.1 JIT의 영광과 몰락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도요타의 JIT는 안정적인 공급망 환경에서는 완벽했으나, 공급 충격에는 극도로 취약한 시스템이었습니다.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JIT 7대 원칙: Zero Inventory, Pull System, Kanban, Continuous Flow, Short Lead Time, Perfect Quality, Supplier Partnership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1980-2010년대: GM, Harley-Davidson, Ford 등 전 세계 제조업체들이 JIT 도입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성공 사례: 재고 비용 30-50% 절감, 생산성 대폭 향상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당시의 전제: 안정적 공급망, 예측 가능한 수요, 저렴한 운송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팬데믹이 드러낸 JIT의 치명적 약점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2021년 글로벌 반도체 대란은 $210억 손실을 초래했으며, 재고 Zero 전략의 위험성을 명확히 증명했습니다.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2021년 글로벌 반도체 대란: 자동차 생산 1,000만 대 감소, 산업 손실 $210억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GM, 포드, 폭스바겐 등 수개월간 생산 중단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원인: JIT 방식으로 안전재고 Zero → 공급 충격에 즉각 노출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교훈: 재고 Zero = 리스크 Maximum, 효율적이지만 깨지기 쉬운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1.2 JIT vs JIC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JIC는 무조건적인 재고 증가가 아니라, 자재 특성에 따른 차별화된 접근을 의미합니다.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8961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JIT (과거)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JIC (현재/미래)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재고 철학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재고 = 낭비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재고 = 전략적 자산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목표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재고 최소화 (Zero)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최적 재고 (Optimal)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우선순위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효율성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회복력</a:t>
                      </a:r>
                    </a:p>
                  </a:txBody>
                  <a:tcPr/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리스크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리스크 무시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리스크 관리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안전재고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최소 (1-2주)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차별화 (1주-6개월)</a:t>
                      </a:r>
                    </a:p>
                  </a:txBody>
                  <a:tcPr/>
                </a:tc>
              </a:tr>
              <a:tr h="627018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공급업체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Single Source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Dual/Multi Source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1.3 JIC를 채택한 글로벌 기업들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Apple, Intel, Toyota 등 글로벌 선도 기업들은 핵심 자재의 안전재고를 2주에서 6개월로 확대하며 공급망 회복력에 투자하고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Apple: 핵심 부품 안전재고 2주 → 6-8주 확대, Dual Sourcing 강화, 공급망 회복력에 $430억 투자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Intel: 핵심 원자재 안전재고 4주 → 12주 확대, Arizona와 Ohio에 $200억 반도체 공장 건설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Toyota (JIT 창시자): 2021년 이후 반도체 안전재고 4-6개월치 확보, "더 이상 JIT만 추구하지 않는다"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GM: 핵심 반도체 안전재고 0주 → 10-12주 확대, Triple Source 다변화, $70억 투자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2장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297680"/>
            <a:ext cx="6245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맑은 고딕"/>
              </a:defRPr>
            </a:pPr>
            <a:r>
              <a:t>Kraljic Matrix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2.1 Kraljic Matrix의 탄생과 의미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Kraljic Matrix는 모든 자재를 동등하게 취급하는 것이 아니라, 공급 리스크와 구매 임팩트에 따라 차별화된 전략을 적용하는 프레임워크입니다.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1983년 Peter Kraljic이 Harvard Business Review에 발표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배경: 1970년대 2차례 석유파동으로 공급 불안정 극심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핵심 통찰: "Not all materials are created equal" - 자재 특성에 따른 차별화 필요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2개 축: 공급 리스크(Y축) × 구매 임팩트(X축)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4개 자재군: 병목, 레버리지, 전략, 일상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2.2 2×2 매트릭스의 두 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리스크와 구매 임팩트를 평가하여 자재를 4개 군으로 분류합니다.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Y축: 공급 리스크 (Supply Risk) - 공급의 어려움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평가 요소: 공급업체 수, 대체 가능성, 시장 구조, 지리적 집중도, 기술 복잡성, 리드타임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높음: 1-2개 업체, 대체 불가, 독과점, 6개월+ 리드타임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X축: 구매 임팩트 (Purchase Impact) - 사업에 미치는 영향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평가 요소: 구매 금액, 원가 비중, 사업 영향도, 부가가치, 품질 중요성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높음: 총 구매액 대비 비중 높음, 결품 시 생산 중단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2.3 Kraljic Matrix: 4대 자재군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 리스크(Y축)와 구매 임팩트(X축)의 조합으로 4개 자재군을 분류하며, 각 군은 완전히 다른 관리 철학을 요구합니다.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666666"/>
                </a:solidFill>
                <a:latin typeface="맑은 고딕"/>
              </a:defRPr>
            </a:pPr>
            <a:r>
              <a:t>← 낮음                공급 리스크 (Supply Risk)                높음 →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3474720" cy="2011680"/>
          </a:xfrm>
          <a:prstGeom prst="rect">
            <a:avLst/>
          </a:prstGeom>
          <a:solidFill>
            <a:srgbClr val="27AE3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659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레버리지자재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33172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Leverage Materials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안정, 금액 큼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경쟁 입찰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원가 절감 집중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MRP 계획</a:t>
            </a:r>
          </a:p>
        </p:txBody>
      </p:sp>
      <p:sp>
        <p:nvSpPr>
          <p:cNvPr id="9" name="Rectangle 8"/>
          <p:cNvSpPr/>
          <p:nvPr/>
        </p:nvSpPr>
        <p:spPr>
          <a:xfrm>
            <a:off x="4846320" y="1828800"/>
            <a:ext cx="3474720" cy="2011680"/>
          </a:xfrm>
          <a:prstGeom prst="rect">
            <a:avLst/>
          </a:prstGeom>
          <a:solidFill>
            <a:srgbClr val="8E44AD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96596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전략자재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3172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Strategic Materials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어렵고 금액 큼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장기 파트너십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Win-Win 협력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LTP + Hybrid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840480"/>
            <a:ext cx="3474720" cy="2011680"/>
          </a:xfrm>
          <a:prstGeom prst="rect">
            <a:avLst/>
          </a:prstGeom>
          <a:solidFill>
            <a:srgbClr val="95A5A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54480" y="3977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일상자재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34340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Routine Materials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쉽고 금액 작음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자동화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효율성 극대화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Min-Max / VMI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3840480"/>
            <a:ext cx="3474720" cy="2011680"/>
          </a:xfrm>
          <a:prstGeom prst="rect">
            <a:avLst/>
          </a:prstGeom>
          <a:solidFill>
            <a:srgbClr val="E67E22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0" y="397764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병목자재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34340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Bottleneck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66344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어렵고 금액 작음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안전재고 확보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공급 안정성 우선</a:t>
            </a:r>
          </a:p>
          <a:p>
            <a:pPr>
              <a:spcAft>
                <a:spcPts val="300"/>
              </a:spcAft>
              <a:defRPr sz="1000">
                <a:solidFill>
                  <a:srgbClr val="FFFFFF"/>
                </a:solidFill>
                <a:latin typeface="맑은 고딕"/>
              </a:defRPr>
            </a:pPr>
            <a:r>
              <a:t>• ROP 발주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2.4 병목자재 (Bottleneck Materials)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금액은 작지만 공급이 어려운 병목자재는 재고를 보험료로 인식하고 높은 안전재고를 확보해야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정의: 높은 공급 리스크 + 낮은 구매 임팩트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특징: 금액은 작지만 없으면 생산 중단, 공급업체 1-2개로 매우 제한적, 대체 자재/공급선 찾기 어려움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사례: 차량용 MCU, 특수 규격 센서, 희소 원자재, 인증 필요 부품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핵심 과제: 공급 안정성 확보 (비용이 들더라도 공급이 확실해야)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전략: 안전재고 확보 (4-8주), 대체품 발굴, 장기 계약, ROP 발주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2.5 레버리지자재 (Leverage Materials)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공급이 안정적이고 금액이 큰 레버리지자재는 경쟁 입찰을 통한 원가 절감에 집중해야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정의: 낮은 공급 리스크 + 높은 구매 임팩트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특징: 금액이 크지만 공급은 안정적, 공급업체 다수 (5개 이상), 표준화된 품목, 경쟁시장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사례: 범용 원자재 (철강, 플라스틱), 표준 전자부품, 대량 구매 품목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핵심 과제: 원가 절감 (경쟁을 통한 최적 가격 확보)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전략: 경쟁 입찰, 가격 협상, Volume Discount, MRP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2.6 전략자재 (Strategic Materials)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공급도 어렵고 금액도 큰 전략자재는 단기 이익보다 장기 파트너십이 핵심입니다.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정의: 높은 공급 리스크 + 높은 구매 임팩트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특징: 금액도 크고 공급도 어려움, 사업의 성패를 좌우, 대체 불가능, 장기 개발 필요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사례: 핵심 반도체 (AP, SoC), 특수 소재, 장납기 외자재, 독점 기술 부품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핵심 과제: 전략적 파트너십 (Win-Win 협력을 통한 상호 성장)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전략: 장기 계약 (3-5년), 기술 협력, 공동 개발, LTP + Hybrid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2.7 일상자재 (Routine Materials)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금액도 작고 공급도 쉬운 일상자재는 자동화를 통해 관리 비용을 최소화해야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정의: 낮은 공급 리스크 + 낮은 구매 임팩트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특징: 금액도 작고 공급도 쉬움, 하지만 품목 수는 전체의 60-80%, 관리 부담 큼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사례: MRO 품목 (볼트, 너트), 사무용품, 소모품 전반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핵심 과제: 효율화 &amp; 자동화 (최소한의 노력으로 관리)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전략: E-Procurement, VMI, 통합 발주, Min-Max 자동 보충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3장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297680"/>
            <a:ext cx="6245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맑은 고딕"/>
              </a:defRPr>
            </a:pPr>
            <a:r>
              <a:t>자재군별 차별화 전략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3.1 차별화가 필수인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모든 자재를 동일하게 관리하면 전략자재는 공급 중단, 레버리지자재는 원가 경쟁력 상실, 병목자재는 결품 발생, 일상자재는 인력 낭비가 발생합니다.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획일적 관리의 문제점: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전략자재에 원가 절감 압박 → 공급업체 이탈 → 생산 중단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레버리지자재에 높은 안전재고 → 재고 비용 증가 → 원가 경쟁력 상실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병목자재를 소홀히 관리 → 결품 발생 → 생산 라인 정지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일상자재에 과도한 관리 → 인력 낭비 → 전략 업무 소홀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3.2 자재군별 차별화 전략 매트릭스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자재군별로 관리 목표, 우선순위, 안전재고 수준, 발주 방식을 차별화해야 전체 최적화가 가능합니다.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645920"/>
          <a:ext cx="935431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862"/>
                <a:gridCol w="1870862"/>
                <a:gridCol w="1870862"/>
                <a:gridCol w="1870862"/>
                <a:gridCol w="1870864"/>
              </a:tblGrid>
              <a:tr h="822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병목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레버리지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전략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일상</a:t>
                      </a:r>
                    </a:p>
                  </a:txBody>
                  <a:tcPr>
                    <a:solidFill>
                      <a:srgbClr val="333333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관리 목표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공급 확보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원가 절감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파트너십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효율화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안전재고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높음 (4-8주)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낮음 (1-2주)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중상 (3-6주)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최소 (1주)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발주 방식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MRP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LTP+Hybrid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Min-Max/VMI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공급업체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증가 (1→2-3)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경쟁 (5+)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전략 (1-2)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3333"/>
                          </a:solidFill>
                          <a:latin typeface="맑은 고딕"/>
                        </a:defRPr>
                      </a:pPr>
                      <a:r>
                        <a:t>통합 (10-20)</a:t>
                      </a:r>
                    </a:p>
                  </a:txBody>
                  <a:tcPr>
                    <a:solidFill>
                      <a:srgbClr val="E6E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286000"/>
            <a:ext cx="6245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333333"/>
                </a:solidFill>
                <a:latin typeface="맑은 고딕"/>
              </a:defRPr>
            </a:pPr>
            <a:r>
              <a:t>4장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297680"/>
            <a:ext cx="62453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666666"/>
                </a:solidFill>
                <a:latin typeface="맑은 고딕"/>
              </a:defRPr>
            </a:pPr>
            <a:r>
              <a:t>자재계획 방법론 전체 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4.1 자재계획 방법론 전체 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병목은 ROP, 레버리지는 MRP, 전략은 LTP+Hybrid, 일상은 Min-Max/VMI로 자재 특성에 맞는 방법론을 적용해야 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4297680" cy="118872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3333"/>
                </a:solidFill>
                <a:latin typeface="맑은 고딕"/>
              </a:defRPr>
            </a:pPr>
            <a:r>
              <a:t>ROP (Re-Order Point)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4023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맑은 고딕"/>
              </a:defRPr>
            </a:pPr>
            <a:r>
              <a:t>→ 병목자재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774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재고 수준이 발주점 도달 시 자동 발주</a:t>
            </a:r>
          </a:p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지속 모니터링, 높은 서비스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737360"/>
            <a:ext cx="4297680" cy="118872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57800" y="182880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3333"/>
                </a:solidFill>
                <a:latin typeface="맑은 고딕"/>
              </a:defRPr>
            </a:pPr>
            <a:r>
              <a:t>MRP (Material Requirements Planning)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2148840"/>
            <a:ext cx="4023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맑은 고딕"/>
              </a:defRPr>
            </a:pPr>
            <a:r>
              <a:t>→ 레버리지자재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37744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MPS + BOM 기반 소요량 계산</a:t>
            </a:r>
          </a:p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계획적 발주, 재고 최적화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00400"/>
            <a:ext cx="4297680" cy="118872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29184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3333"/>
                </a:solidFill>
                <a:latin typeface="맑은 고딕"/>
              </a:defRPr>
            </a:pPr>
            <a:r>
              <a:t>LTP (Long-Term Planning)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11880"/>
            <a:ext cx="4023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맑은 고딕"/>
              </a:defRPr>
            </a:pPr>
            <a:r>
              <a:t>→ 전략자재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840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장기 수급 계획 + 분할 납입</a:t>
            </a:r>
          </a:p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Capacity 확보, 협업 계획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3200400"/>
            <a:ext cx="4297680" cy="1188720"/>
          </a:xfrm>
          <a:prstGeom prst="rect">
            <a:avLst/>
          </a:prstGeom>
          <a:solidFill>
            <a:srgbClr val="E6E6E6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3291840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33333"/>
                </a:solidFill>
                <a:latin typeface="맑은 고딕"/>
              </a:defRPr>
            </a:pPr>
            <a:r>
              <a:t>Min-Max / VMI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3611880"/>
            <a:ext cx="40233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맑은 고딕"/>
              </a:defRPr>
            </a:pPr>
            <a:r>
              <a:t>→ 일상자재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84048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최소/최대값 기준 자동 보충</a:t>
            </a:r>
          </a:p>
          <a:p>
            <a:pPr>
              <a:defRPr sz="900">
                <a:solidFill>
                  <a:srgbClr val="333333"/>
                </a:solidFill>
                <a:latin typeface="맑은 고딕"/>
              </a:defRPr>
            </a:pPr>
            <a:r>
              <a:t>단순 자동화, 관리 최소화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4.2 하이브리드 접근법 (전략자재)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전략자재는 단일 방법론으로 해결 불가하며, 장기+중기+단기 계획을 통합해야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전략자재의 특수성: 공급도 어렵고 금액도 커서 단일 방법론으로 불충분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3단계 통합 계획: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LTP (18-24개월): Framework Agreement, Capacity 확보, 분기별 총량 계획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MRP (3-6개월): 월간 상세 계획, Release Order, BOM 기반 계산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ROP (실시간): 안전재고 모니터링, 긴급 발주 대응, 버퍼 역할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효과: 장기 안정성 + 중기 유연성 + 단기 대응력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5.1 통합 KPI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자재군별로 다른 KPI를 설정하고 측정해야 올바른 성과 평가가 가능합니다.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병목자재: 재고 가용률 95% 이상, 공급 안정성 95% 이상, 긴급 발주 5회/월 이하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레버리지자재: 원가 절감률 3-5%/년, 재고 회전율 12회 이상, 발주 정확도 95% 이상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전략자재: 공급 연속성 100%, LTP 정확도 70% 이상, TCO 개선 -3%/년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일상자재: 발주 처리비용 5천원/건 이하, 자동화율 80% 이상, 공급업체 수 100개 이하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6.1 산업별·규모별 적용 가이드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제조업, 프로세스 산업, 유통업은 자재 분포가 다르므로, 산업 특성에 맞는 우선순위와 전략을 수립해야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제조업 (자동차, 전자): 전략 10-15%, 병목 15-20%, 레버리지 30-35%, 일상 35-40%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→ 우선순위: 전략 → 병목 → 레버리지 → 일상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프로세스 산업 (화학, 제약): 전략 20-30%, 병목 10-15%, 레버리지 40-50%, 일상 10-20%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→ 우선순위: 전략 → 레버리지 → 병목 → 일상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유통·서비스업: 전략 0-5%, 병목 5-10%, 레버리지 10-20%, 일상 70-80%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→ 우선순위: 일상 → 레버리지 → 병목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7.1 9회차 학습 여정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Session 1-3은 구조적 기초, Session 4-7은 자재군별 실습, Session 8-9는 통합 워크샵으로 진행되며 점진적으로 마스터할 수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807415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Module 1: Foundation (1-2회차)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- 1회차: JIT→JIC + Kraljic Matrix (지금)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- 2회차: 소싱 전략 + 공급업체 관계 관리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Module 2: 자재군별 심화 (3-6회차)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- 3회차: 병목자재 + ROP (이론+실습)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- 4회차: 레버리지자재 + MRP (이론+실습)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- 5회차: 전략자재 + LTP (이론+실습)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- 6회차: 일상자재 + 자동화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• Module 3: 실전 통합 (7-9회차)</a:t>
            </a:r>
          </a:p>
          <a:p>
            <a:pPr>
              <a:spcAft>
                <a:spcPts val="1200"/>
              </a:spcAft>
              <a:defRPr sz="1200">
                <a:solidFill>
                  <a:srgbClr val="333333"/>
                </a:solidFill>
                <a:latin typeface="맑은 고딕"/>
              </a:defRPr>
            </a:pPr>
            <a:r>
              <a:t>  - 7-8회차: 실전 워크샵, 9회차: 발표 및 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74320"/>
            <a:ext cx="935431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0000"/>
                </a:solidFill>
                <a:latin typeface="맑은 고딕"/>
              </a:defRPr>
            </a:pPr>
            <a:r>
              <a:t>핵심 요약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23544"/>
            <a:ext cx="9436608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666666"/>
                </a:solidFill>
                <a:latin typeface="맑은 고딕"/>
              </a:defRPr>
            </a:pPr>
            <a:r>
              <a:t>JIT에서 JIC로의 패러다임 전환과 Kraljic Matrix 기반 차별화 전략이 전략적 재고운영의 핵심이며, 다음 회차부터 각 자재군별 구체적 방법론을 학습합니다.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4114800" cy="1645920"/>
          </a:xfrm>
          <a:prstGeom prst="rect">
            <a:avLst/>
          </a:prstGeom>
          <a:solidFill>
            <a:srgbClr val="E6E6E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20"/>
            <a:ext cx="3749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1. 패러다임의 전환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JIT (재고=낭비) → JIC (재고=전략적 자산)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효율성 추구 → 회복력 확보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80" y="1737360"/>
            <a:ext cx="4114800" cy="1645920"/>
          </a:xfrm>
          <a:prstGeom prst="rect">
            <a:avLst/>
          </a:prstGeom>
          <a:solidFill>
            <a:srgbClr val="E6E6E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0" y="1874520"/>
            <a:ext cx="3749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2. Kraljic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286000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공급 리스크 × 구매 임팩트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4개 자재군 차별화 전략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49040"/>
            <a:ext cx="4114800" cy="1645920"/>
          </a:xfrm>
          <a:prstGeom prst="rect">
            <a:avLst/>
          </a:prstGeom>
          <a:solidFill>
            <a:srgbClr val="E6E6E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3749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3. 자재계획 방법론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병목→ROP, 레버리지→MRP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전략→LTP+Hybrid, 일상→VMI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3749040"/>
            <a:ext cx="4114800" cy="1645920"/>
          </a:xfrm>
          <a:prstGeom prst="rect">
            <a:avLst/>
          </a:prstGeom>
          <a:solidFill>
            <a:srgbClr val="E6E6E6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94960" y="3886200"/>
            <a:ext cx="3749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33333"/>
                </a:solidFill>
                <a:latin typeface="맑은 고딕"/>
              </a:defRPr>
            </a:pPr>
            <a:r>
              <a:t>4. 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960" y="4297680"/>
            <a:ext cx="3749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Session 2: 소싱 전략 &amp; 공급업체 관계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맑은 고딕"/>
              </a:defRPr>
            </a:pPr>
            <a:r>
              <a:t>Session 3-7: 자재군별 심화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6666"/>
                </a:solidFill>
                <a:latin typeface="Arial"/>
              </a:defRPr>
            </a:pPr>
            <a:r>
              <a:t>전략적 재고운영 Foundation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64008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6666"/>
                </a:solidFill>
                <a:latin typeface="Arial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
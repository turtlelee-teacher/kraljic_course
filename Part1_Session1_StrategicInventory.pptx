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902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8074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맑은 고딕"/>
              </a:defRPr>
            </a:pPr>
            <a:r>
              <a:t>전략적 재고운영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8074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맑은 고딕"/>
              </a:defRPr>
            </a:pPr>
            <a:r>
              <a:t>Kraljic Matrix와 자재계획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8074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Session 1 | 전략적 재고운영 및 자재계획수립 과정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본 과정은 Kraljic Matrix 기반으로 자재군별 차별화 전략과 계획 방법론을 체계적으로 학습합니다.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8074152" cy="594360"/>
          </a:xfrm>
          <a:prstGeom prst="rect">
            <a:avLst/>
          </a:prstGeom>
          <a:solidFill>
            <a:srgbClr val="E6E6E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1장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965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JIT → JIC 패러다임 전환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468880"/>
            <a:ext cx="80741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2장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606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Kraljic Matrix 프레임워크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08960"/>
            <a:ext cx="8074152" cy="594360"/>
          </a:xfrm>
          <a:prstGeom prst="rect">
            <a:avLst/>
          </a:prstGeom>
          <a:solidFill>
            <a:srgbClr val="E6E6E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3장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246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차별화 전략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749039"/>
            <a:ext cx="80741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840479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4장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886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계획 방법론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389120"/>
            <a:ext cx="8074152" cy="594360"/>
          </a:xfrm>
          <a:prstGeom prst="rect">
            <a:avLst/>
          </a:prstGeom>
          <a:solidFill>
            <a:srgbClr val="E6E6E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805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5장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526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통합 KPI 프레임워크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029200"/>
            <a:ext cx="80741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1206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6장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166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산업별 적용 사례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669280"/>
            <a:ext cx="8074152" cy="594360"/>
          </a:xfrm>
          <a:prstGeom prst="rect">
            <a:avLst/>
          </a:prstGeom>
          <a:solidFill>
            <a:srgbClr val="E6E6E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760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7장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806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9회차 학습 여정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333333"/>
                </a:solidFill>
                <a:latin typeface="맑은 고딕"/>
              </a:defRPr>
            </a:pPr>
            <a:r>
              <a:t>1장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22860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맑은 고딕"/>
              </a:defRPr>
            </a:pPr>
            <a:r>
              <a:t>JIT → JIC</a:t>
            </a:r>
            <a:br/>
            <a:r>
              <a:t>패러다임 전환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0" y="3840480"/>
            <a:ext cx="5669280" cy="0"/>
          </a:xfrm>
          <a:prstGeom prst="line">
            <a:avLst/>
          </a:prstGeom>
          <a:ln w="381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0" y="4114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Just-In-Time에서 Just-In-Case로</a:t>
            </a:r>
            <a:br/>
            <a:r>
              <a:t>재고 관리 전략의 근본적 변화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1.1 JIT의 영광과 몰락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JIT 방식은 40년간 제조업의 표준이었으나 2020년 팬데믹으로 치명적 약점이 드러났습니다.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3200400"/>
            <a:ext cx="8595360" cy="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68680" y="1737360"/>
            <a:ext cx="822960" cy="320040"/>
          </a:xfrm>
          <a:prstGeom prst="rect">
            <a:avLst/>
          </a:prstGeom>
          <a:solidFill>
            <a:srgbClr val="33333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99" y="18105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JIT 탄생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03120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399" y="21488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기업: 도요타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395728"/>
            <a:ext cx="8229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399" y="244144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재고 50% 감소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688336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399" y="273405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기술: 칸반 시스템</a:t>
            </a:r>
          </a:p>
        </p:txBody>
      </p:sp>
      <p:sp>
        <p:nvSpPr>
          <p:cNvPr id="14" name="Oval 13"/>
          <p:cNvSpPr/>
          <p:nvPr/>
        </p:nvSpPr>
        <p:spPr>
          <a:xfrm>
            <a:off x="1170431" y="3090672"/>
            <a:ext cx="219456" cy="219456"/>
          </a:xfrm>
          <a:prstGeom prst="ellipse">
            <a:avLst/>
          </a:prstGeom>
          <a:solidFill>
            <a:srgbClr val="333333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338328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1970s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80160" y="2944368"/>
            <a:ext cx="0" cy="146304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68680" y="365760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99" y="37307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무재고 경영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023360"/>
            <a:ext cx="82296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399" y="40965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Just-In-Time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38912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399" y="44622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7대 낭비 제거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80160" y="3310128"/>
            <a:ext cx="0" cy="34747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514600" y="1737360"/>
            <a:ext cx="822960" cy="320040"/>
          </a:xfrm>
          <a:prstGeom prst="rect">
            <a:avLst/>
          </a:prstGeom>
          <a:solidFill>
            <a:srgbClr val="33333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18105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글로벌 확산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2103120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21488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기업: GM·포드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2395728"/>
            <a:ext cx="8229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244144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원가 30% 절감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2688336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0" y="273405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기술: Pull System</a:t>
            </a:r>
          </a:p>
        </p:txBody>
      </p:sp>
      <p:sp>
        <p:nvSpPr>
          <p:cNvPr id="32" name="Oval 31"/>
          <p:cNvSpPr/>
          <p:nvPr/>
        </p:nvSpPr>
        <p:spPr>
          <a:xfrm>
            <a:off x="2816352" y="3090672"/>
            <a:ext cx="219456" cy="219456"/>
          </a:xfrm>
          <a:prstGeom prst="ellipse">
            <a:avLst/>
          </a:prstGeom>
          <a:solidFill>
            <a:srgbClr val="333333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338328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1990s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926080" y="2944368"/>
            <a:ext cx="0" cy="146304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514600" y="365760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0" y="37307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미국 채택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4600" y="4023360"/>
            <a:ext cx="82296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0" y="40965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린 생산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14600" y="438912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0" y="44622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표준화 확산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926080" y="3310128"/>
            <a:ext cx="0" cy="34747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4160520" y="1737360"/>
            <a:ext cx="822960" cy="320040"/>
          </a:xfrm>
          <a:prstGeom prst="rect">
            <a:avLst/>
          </a:prstGeom>
          <a:solidFill>
            <a:srgbClr val="33333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18105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디지털화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2103120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0" y="21488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기업: 전 산업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60520" y="2395728"/>
            <a:ext cx="8229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244144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리드타임 40% 단축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60520" y="2688336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273405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기술: ERP·MES 통합</a:t>
            </a:r>
          </a:p>
        </p:txBody>
      </p:sp>
      <p:sp>
        <p:nvSpPr>
          <p:cNvPr id="50" name="Oval 49"/>
          <p:cNvSpPr/>
          <p:nvPr/>
        </p:nvSpPr>
        <p:spPr>
          <a:xfrm>
            <a:off x="4462272" y="3090672"/>
            <a:ext cx="219456" cy="219456"/>
          </a:xfrm>
          <a:prstGeom prst="ellipse">
            <a:avLst/>
          </a:prstGeom>
          <a:solidFill>
            <a:srgbClr val="333333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51960" y="338328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2000s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572000" y="2944368"/>
            <a:ext cx="0" cy="146304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160520" y="365760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06240" y="37307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실시간 가시성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60520" y="4023360"/>
            <a:ext cx="82296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06240" y="40965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자동 발주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60520" y="438912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06240" y="44622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글로벌 SCM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572000" y="3310128"/>
            <a:ext cx="0" cy="34747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5806440" y="1737360"/>
            <a:ext cx="822960" cy="320040"/>
          </a:xfrm>
          <a:prstGeom prst="rect">
            <a:avLst/>
          </a:prstGeom>
          <a:solidFill>
            <a:srgbClr val="33333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52159" y="18105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최적화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06440" y="2103120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52159" y="21488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기업: 애플·삼성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06440" y="2395728"/>
            <a:ext cx="8229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52159" y="244144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재고회전율 50회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06440" y="2688336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52159" y="273405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기술: AI 수요예측</a:t>
            </a:r>
          </a:p>
        </p:txBody>
      </p:sp>
      <p:sp>
        <p:nvSpPr>
          <p:cNvPr id="68" name="Oval 67"/>
          <p:cNvSpPr/>
          <p:nvPr/>
        </p:nvSpPr>
        <p:spPr>
          <a:xfrm>
            <a:off x="6108192" y="3090672"/>
            <a:ext cx="219456" cy="219456"/>
          </a:xfrm>
          <a:prstGeom prst="ellipse">
            <a:avLst/>
          </a:prstGeom>
          <a:solidFill>
            <a:srgbClr val="333333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97880" y="338328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2010s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217920" y="2944368"/>
            <a:ext cx="0" cy="146304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5806440" y="365760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52159" y="37307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극한 효율화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06440" y="4023360"/>
            <a:ext cx="82296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52159" y="40965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초정밀 계획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06440" y="438912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52159" y="44622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Zero Buffer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217920" y="3310128"/>
            <a:ext cx="0" cy="34747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7452360" y="1737360"/>
            <a:ext cx="822960" cy="320040"/>
          </a:xfrm>
          <a:prstGeom prst="rect">
            <a:avLst/>
          </a:prstGeom>
          <a:solidFill>
            <a:srgbClr val="33333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98079" y="18105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팬데믹 쇼크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52360" y="2103120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98079" y="21488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기업: 전 세계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52360" y="2395728"/>
            <a:ext cx="8229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98079" y="244144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생산 80% 중단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52360" y="2688336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98079" y="273405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기술: JIT 붕괴</a:t>
            </a:r>
          </a:p>
        </p:txBody>
      </p:sp>
      <p:sp>
        <p:nvSpPr>
          <p:cNvPr id="86" name="Oval 85"/>
          <p:cNvSpPr/>
          <p:nvPr/>
        </p:nvSpPr>
        <p:spPr>
          <a:xfrm>
            <a:off x="7754112" y="3090672"/>
            <a:ext cx="219456" cy="219456"/>
          </a:xfrm>
          <a:prstGeom prst="ellipse">
            <a:avLst/>
          </a:prstGeom>
          <a:solidFill>
            <a:srgbClr val="333333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43800" y="338328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2020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863840" y="2944368"/>
            <a:ext cx="0" cy="146304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7452360" y="365760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498079" y="37307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공급망 마비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52360" y="4023360"/>
            <a:ext cx="82296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498079" y="40965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재고 부족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452360" y="438912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498079" y="44622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JIC 전환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863840" y="3310128"/>
            <a:ext cx="0" cy="34747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822960" y="5760720"/>
            <a:ext cx="1645920" cy="59436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68680" y="580644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혁신 기간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8680" y="60167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1970-2010</a:t>
            </a:r>
            <a:br/>
            <a:r>
              <a:t>40년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542032" y="576072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587752" y="580644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효과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587752" y="60167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재고 50%↓</a:t>
            </a:r>
            <a:br/>
            <a:r>
              <a:t>원가 30%↓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261104" y="5760720"/>
            <a:ext cx="1645920" cy="59436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306824" y="580644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확산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306824" y="60167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전 산업</a:t>
            </a:r>
            <a:br/>
            <a:r>
              <a:t>글로벌 표준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980176" y="576072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025896" y="580644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붕괴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25896" y="60167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2020 팬데믹</a:t>
            </a:r>
            <a:br/>
            <a:r>
              <a:t>1개월 마비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699248" y="5760720"/>
            <a:ext cx="1645920" cy="59436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744968" y="580644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전환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744968" y="60167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JIT → JIC</a:t>
            </a:r>
            <a:br/>
            <a:r>
              <a:t>안전재고 확보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1.2 팬데믹이 드러낸 JIT의 약점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글로벌 공급망 마비로 JIT의 3대 위험(재고 부족, 공급 중단, 생산 마비)이 현실화되었습니다.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474720"/>
            <a:ext cx="1828800" cy="731520"/>
          </a:xfrm>
          <a:prstGeom prst="rect">
            <a:avLst/>
          </a:prstGeom>
          <a:solidFill>
            <a:srgbClr val="333333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2020 팬데믹</a:t>
            </a:r>
            <a:br/>
            <a:r>
              <a:t>공급망 마비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1645920" cy="109728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맑은 고딕"/>
              </a:defRPr>
            </a:pPr>
            <a:r>
              <a:t>재고 부족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안전재고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98648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98648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즉각 결품 발생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99816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99816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생산 차질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37360" y="2834640"/>
            <a:ext cx="1463040" cy="100584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14400" y="4114800"/>
            <a:ext cx="1645920" cy="109728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맑은 고딕"/>
              </a:defRPr>
            </a:pPr>
            <a:r>
              <a:t>공급 중단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26280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단일 공급원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727448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727448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대체품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928616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928616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긴급 조달 불가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737360" y="3840480"/>
            <a:ext cx="1463040" cy="82296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486400" y="3017520"/>
            <a:ext cx="1645920" cy="109728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3108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맑은 고딕"/>
              </a:defRPr>
            </a:pPr>
            <a:r>
              <a:t>생산 마비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429000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42900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라인 가동 중단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3630168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630168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납기 지연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831336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3831336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매출 손실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5029200" y="3566160"/>
            <a:ext cx="457200" cy="27432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58000" y="1828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맑은 고딕"/>
              </a:defRPr>
            </a:pPr>
            <a:r>
              <a:t>산업별 피해 사례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2286000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23591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자동차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26060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반도체 부족으로 감산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2971800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3044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전자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291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부품 결품으로 출시 지연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3657600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37307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의료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397763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마스크·장갑 공급 중단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0" y="4343400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44165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식품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46634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포장재 부족으로 생산 차질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
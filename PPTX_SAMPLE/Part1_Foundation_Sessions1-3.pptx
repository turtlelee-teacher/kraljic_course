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902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1828800"/>
            <a:ext cx="9079992" cy="1828800"/>
          </a:xfrm>
          <a:prstGeom prst="rect">
            <a:avLst/>
          </a:prstGeom>
          <a:solidFill>
            <a:srgbClr val="1A527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>
                <a:solidFill>
                  <a:srgbClr val="FFFFFF"/>
                </a:solidFill>
                <a:latin typeface="맑은 고딕"/>
              </a:rPr>
              <a:t>전략적 재고운영 및 자재계획수립
Part 1: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114800"/>
            <a:ext cx="907999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333333"/>
                </a:solidFill>
                <a:latin typeface="맑은 고딕"/>
              </a:rPr>
              <a:t>Sessions 1-3: Kraljic Matrix, 소싱 전략, ABC-XYZ 분류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486400"/>
            <a:ext cx="90799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666666"/>
                </a:solidFill>
                <a:latin typeface="Arial"/>
              </a:rPr>
              <a:t>2025년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8686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Session 1: 학습 목표 &amp;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JIT에서 JIC로의 패러다임 전환과 Kraljic Matrix를 활용한 자재 분류 방법을 학습합니다.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653796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  <a:latin typeface="Arial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8686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0"/>
              </a:spcAft>
            </a:pPr>
            <a:r>
              <a:rPr sz="1800" b="1">
                <a:solidFill>
                  <a:srgbClr val="000000"/>
                </a:solidFill>
                <a:latin typeface="Arial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8686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600">
                <a:solidFill>
                  <a:srgbClr val="333333"/>
                </a:solidFill>
                <a:latin typeface="맑은 고딕"/>
              </a:rPr>
              <a:t>• JIT에서 JIC로의 패러다임 전환 배경과 필요성 이해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3333"/>
                </a:solidFill>
                <a:latin typeface="맑은 고딕"/>
              </a:rPr>
              <a:t>• 전략적 재고운영의 핵심 개념과 차별화된 접근법 습득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3333"/>
                </a:solidFill>
                <a:latin typeface="맑은 고딕"/>
              </a:rPr>
              <a:t>• Kraljic Matrix를 활용한 자재 포트폴리오 분류 역량 확보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3333"/>
                </a:solidFill>
                <a:latin typeface="맑은 고딕"/>
              </a:rPr>
              <a:t>• 자재군별 관리 철학과 자재계획 방법론의 전체 맵 이해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8686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JIT vs JIC: 패러다임의 전환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2020년 팬데믹은 JIT의 취약성을 드러냈고, 기업들은 회복력 중심의 JIC로 전환하고 있습니다.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653796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  <a:latin typeface="Arial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0000"/>
                </a:solidFill>
                <a:latin typeface="Arial"/>
              </a:rPr>
              <a:t>JIT (과거)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>
                <a:solidFill>
                  <a:srgbClr val="333333"/>
                </a:solidFill>
                <a:latin typeface="맑은 고딕"/>
              </a:rPr>
              <a:t>• 재고 = 낭비 (Waste)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333333"/>
                </a:solidFill>
                <a:latin typeface="맑은 고딕"/>
              </a:rPr>
              <a:t>• 목표: 재고 Zero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333333"/>
                </a:solidFill>
                <a:latin typeface="맑은 고딕"/>
              </a:rPr>
              <a:t>• 우선순위: 효율성 (Efficiency)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333333"/>
                </a:solidFill>
                <a:latin typeface="맑은 고딕"/>
              </a:rPr>
              <a:t>• 안전재고: 최소 (1-2주)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333333"/>
                </a:solidFill>
                <a:latin typeface="맑은 고딕"/>
              </a:rPr>
              <a:t>• 공급업체: Single 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18288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A5276"/>
                </a:solidFill>
                <a:latin typeface="Arial"/>
              </a:rPr>
              <a:t>JIC (현재/미래)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237744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>
                <a:solidFill>
                  <a:srgbClr val="333333"/>
                </a:solidFill>
                <a:latin typeface="맑은 고딕"/>
              </a:rPr>
              <a:t>• 재고 = 전략적 자산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333333"/>
                </a:solidFill>
                <a:latin typeface="맑은 고딕"/>
              </a:rPr>
              <a:t>• 목표: 최적 재고 (Optimal)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333333"/>
                </a:solidFill>
                <a:latin typeface="맑은 고딕"/>
              </a:rPr>
              <a:t>• 우선순위: 회복력 (Resilience)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333333"/>
                </a:solidFill>
                <a:latin typeface="맑은 고딕"/>
              </a:rPr>
              <a:t>• 안전재고: 차별화 (1주-6개월)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333333"/>
                </a:solidFill>
                <a:latin typeface="맑은 고딕"/>
              </a:rPr>
              <a:t>• 공급업체: Dual/Multi Source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8686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JIT 붕괴 사례: 2020-2021 공급망 위기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글로벌 팬데믹은 Just-In-Time 방식의 치명적 약점을 극명하게 드러냈습니다.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653796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  <a:latin typeface="Arial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8686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600">
                <a:solidFill>
                  <a:srgbClr val="333333"/>
                </a:solidFill>
                <a:latin typeface="맑은 고딕"/>
              </a:rPr>
              <a:t>• 2021년 글로벌 반도체 대란: 자동차 생산 1,000만 대 감소, 산업 손실 $210억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3333"/>
                </a:solidFill>
                <a:latin typeface="맑은 고딕"/>
              </a:rPr>
              <a:t>• 마스크 대란 (2020): 전 세계 생산의 50%를 중국에 의존, 봉쇄로 공급 중단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3333"/>
                </a:solidFill>
                <a:latin typeface="맑은 고딕"/>
              </a:rPr>
              <a:t>• 컨테이너선 대란 (2021-2022): 운임비 10배 폭등, 리드타임 2배 증가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3333"/>
                </a:solidFill>
                <a:latin typeface="맑은 고딕"/>
              </a:rPr>
              <a:t>• GM: 반도체 부족으로 생산 차질 200만 대 → 안전재고 0주에서 10-12주로 확대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3333"/>
                </a:solidFill>
                <a:latin typeface="맑은 고딕"/>
              </a:rPr>
              <a:t>• Toyota: JIT 창시자조차 반도체 안전재고 4-6개월치 확보로 전략 전환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8686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Kraljic Matrix의 탄생과 핵심 통찰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1983년 Peter Kraljic은 모든 자재가 동등하지 않다는 혁신적 통찰을 제시했습니다.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653796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  <a:latin typeface="Arial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666666"/>
                </a:solidFill>
                <a:latin typeface="맑은 고딕"/>
              </a:rPr>
              <a:t>Peter Kraljic (1983, Harvard Business Review): "Purchasing Must Become Supply Management"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8686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600">
                <a:solidFill>
                  <a:srgbClr val="333333"/>
                </a:solidFill>
                <a:latin typeface="맑은 고딕"/>
              </a:rPr>
              <a:t>• 탄생 배경: 1970년대 2차례 석유파동으로 공급 불안정 극심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3333"/>
                </a:solidFill>
                <a:latin typeface="맑은 고딕"/>
              </a:rPr>
              <a:t>• 핵심 통찰: 'Not all materials are created equal' - 모든 자재가 동등하지 않다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3333"/>
                </a:solidFill>
                <a:latin typeface="맑은 고딕"/>
              </a:rPr>
              <a:t>• 차별화 필요성: 자재의 특성에 따라 차별화된 관리 전략 적용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3333"/>
                </a:solidFill>
                <a:latin typeface="맑은 고딕"/>
              </a:rPr>
              <a:t>• 2축 평가: 공급 리스크 (Supply Risk) × 구매 임팩트 (Purchase Impact)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3333"/>
                </a:solidFill>
                <a:latin typeface="맑은 고딕"/>
              </a:rPr>
              <a:t>• 4대 자재군: 전략/레버리지/병목/일상 자재로 분류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8686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Kraljic Matrix의 두 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공급 리스크와 구매 임팩트 두 차원으로 자재를 평가하여 4개 군으로 분류합니다.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653796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  <a:latin typeface="Arial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</a:rPr>
              <a:t>Y축: 공급 리스크 (Supply Risk)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맑은 고딕"/>
              </a:rPr>
              <a:t>• 공급업체 수 (1-2개 고위험)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맑은 고딕"/>
              </a:rPr>
              <a:t>• 대체 가능성 (대체 불가 고위험)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맑은 고딕"/>
              </a:rPr>
              <a:t>• 시장 구조 (독과점 고위험)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맑은 고딕"/>
              </a:rPr>
              <a:t>• 지리적 집중도 (특정 지역 집중 고위험)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맑은 고딕"/>
              </a:rPr>
              <a:t>• 리드타임 (6개월 이상 고위험)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18288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5276"/>
                </a:solidFill>
                <a:latin typeface="Arial"/>
              </a:rPr>
              <a:t>X축: 구매 임팩트 (Purchase Impact)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237744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맑은 고딕"/>
              </a:rPr>
              <a:t>• 구매 금액 (총 구매액 대비 비중)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맑은 고딕"/>
              </a:rPr>
              <a:t>• 원가 비중 (제품 원가 중 차지 비율)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맑은 고딕"/>
              </a:rPr>
              <a:t>• 사업 영향도 (결품 시 생산 중단)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맑은 고딕"/>
              </a:rPr>
              <a:t>• 부가가치 (최종 제품 성능 영향)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3333"/>
                </a:solidFill>
                <a:latin typeface="맑은 고딕"/>
              </a:rPr>
              <a:t>• 품질 중요성 (품질 문제 파급 효과)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8686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Kraljic Matrix: 4대 자재군 분류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자재를 공급 리스크와 구매 임팩트 두 축으로 분류하여 차별화된 전략을 수립합니다.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653796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  <a:latin typeface="Arial"/>
              </a:rPr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286000"/>
            <a:ext cx="3840480" cy="1645920"/>
          </a:xfrm>
          <a:prstGeom prst="rect">
            <a:avLst/>
          </a:prstGeom>
          <a:solidFill>
            <a:srgbClr val="CCCCCC"/>
          </a:solidFill>
          <a:ln w="254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spcBef>
                <a:spcPts val="1000"/>
              </a:spcBef>
            </a:pPr>
            <a:r>
              <a:rPr sz="1400" b="1">
                <a:solidFill>
                  <a:srgbClr val="333333"/>
                </a:solidFill>
                <a:latin typeface="맑은 고딕"/>
              </a:rPr>
              <a:t>병목자재
Bottleneck
독점 공급, 희토류
특수 소재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0" y="2286000"/>
            <a:ext cx="3840480" cy="1645920"/>
          </a:xfrm>
          <a:prstGeom prst="rect">
            <a:avLst/>
          </a:prstGeom>
          <a:solidFill>
            <a:srgbClr val="333333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spcBef>
                <a:spcPts val="1000"/>
              </a:spcBef>
            </a:pPr>
            <a:r>
              <a:rPr sz="1400" b="1">
                <a:solidFill>
                  <a:srgbClr val="FFFFFF"/>
                </a:solidFill>
                <a:latin typeface="맑은 고딕"/>
              </a:rPr>
              <a:t>전략자재
Strategic
핵심 부품, 고가 장비
전략 원자재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4114800"/>
            <a:ext cx="384048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spcBef>
                <a:spcPts val="1000"/>
              </a:spcBef>
            </a:pPr>
            <a:r>
              <a:rPr sz="1400" b="1">
                <a:solidFill>
                  <a:srgbClr val="333333"/>
                </a:solidFill>
                <a:latin typeface="맑은 고딕"/>
              </a:rPr>
              <a:t>일상자재
Routine
사무용품, 소모품
저가 부품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0" y="4114800"/>
            <a:ext cx="3840480" cy="1645920"/>
          </a:xfrm>
          <a:prstGeom prst="rect">
            <a:avLst/>
          </a:prstGeom>
          <a:solidFill>
            <a:srgbClr val="CCCCCC"/>
          </a:solidFill>
          <a:ln w="254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spcBef>
                <a:spcPts val="1000"/>
              </a:spcBef>
            </a:pPr>
            <a:r>
              <a:rPr sz="1400" b="1">
                <a:solidFill>
                  <a:srgbClr val="333333"/>
                </a:solidFill>
                <a:latin typeface="맑은 고딕"/>
              </a:rPr>
              <a:t>레버리지자재
Leverage
범용 부품, 표준 원자재
MRO 물품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3657600"/>
            <a:ext cx="731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맑은 고딕"/>
              </a:rPr>
              <a:t>공급
리스크
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62179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1A5276"/>
                </a:solidFill>
                <a:latin typeface="맑은 고딕"/>
              </a:rPr>
              <a:t>구매 임팩트 (Purchase Impact) 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8686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Session 2: 자재군별 소싱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각 자재군의 특성에 맞는 차별화된 소싱 전략과 공급업체 관리 방법을 학습합니다.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653796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  <a:latin typeface="Arial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8686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700">
                <a:solidFill>
                  <a:srgbClr val="333333"/>
                </a:solidFill>
                <a:latin typeface="맑은 고딕"/>
              </a:rPr>
              <a:t>• 병목자재 소싱 전략: 공급 안정성 확보</a:t>
            </a:r>
          </a:p>
          <a:p>
            <a:pPr>
              <a:spcBef>
                <a:spcPts val="800"/>
              </a:spcBef>
            </a:pPr>
            <a:r>
              <a:rPr sz="1700">
                <a:solidFill>
                  <a:srgbClr val="333333"/>
                </a:solidFill>
                <a:latin typeface="맑은 고딕"/>
              </a:rPr>
              <a:t>• 레버리지자재 소싱 전략: 경쟁 촉진 및 통합 구매</a:t>
            </a:r>
          </a:p>
          <a:p>
            <a:pPr>
              <a:spcBef>
                <a:spcPts val="800"/>
              </a:spcBef>
            </a:pPr>
            <a:r>
              <a:rPr sz="1700">
                <a:solidFill>
                  <a:srgbClr val="333333"/>
                </a:solidFill>
                <a:latin typeface="맑은 고딕"/>
              </a:rPr>
              <a:t>• 전략자재 소싱 전략: 전략적 파트너십 구축</a:t>
            </a:r>
          </a:p>
          <a:p>
            <a:pPr>
              <a:spcBef>
                <a:spcPts val="800"/>
              </a:spcBef>
            </a:pPr>
            <a:r>
              <a:rPr sz="1700">
                <a:solidFill>
                  <a:srgbClr val="333333"/>
                </a:solidFill>
                <a:latin typeface="맑은 고딕"/>
              </a:rPr>
              <a:t>• 일상자재 소싱 전략: 효율화 및 자동화</a:t>
            </a:r>
          </a:p>
          <a:p>
            <a:pPr>
              <a:spcBef>
                <a:spcPts val="800"/>
              </a:spcBef>
            </a:pPr>
            <a:r>
              <a:rPr sz="1700">
                <a:solidFill>
                  <a:srgbClr val="333333"/>
                </a:solidFill>
                <a:latin typeface="맑은 고딕"/>
              </a:rPr>
              <a:t>• 공급업체 관계 관리 (SRM) 프레임워크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8686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병목자재 소싱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공급 리스크가 높은 병목자재는 공급 연속성 확보와 대체재 개발이 핵심입니다.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653796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  <a:latin typeface="Arial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8686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>
                <a:solidFill>
                  <a:srgbClr val="333333"/>
                </a:solidFill>
                <a:latin typeface="맑은 고딕"/>
              </a:rPr>
              <a:t>• 핵심 전략: 공급 안정성 확보 (Supply Continuity)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333333"/>
                </a:solidFill>
                <a:latin typeface="맑은 고딕"/>
              </a:rPr>
              <a:t>• 장기 계약: 2-3년 장기 공급 계약으로 안정성 확보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333333"/>
                </a:solidFill>
                <a:latin typeface="맑은 고딕"/>
              </a:rPr>
              <a:t>• 안전재고: 3-6개월치 안전재고 보유 (ROP 방법론)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333333"/>
                </a:solidFill>
                <a:latin typeface="맑은 고딕"/>
              </a:rPr>
              <a:t>• 공급원 다변화: Dual/Triple Sourcing 추진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333333"/>
                </a:solidFill>
                <a:latin typeface="맑은 고딕"/>
              </a:rPr>
              <a:t>• 대체재 개발: R&amp;D 투자로 기술 종속성 탈피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333333"/>
                </a:solidFill>
                <a:latin typeface="맑은 고딕"/>
              </a:rPr>
              <a:t>• 리스크 모니터링: 공급업체 재무 상태 및 지정학적 리스크 상시 모니터링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8686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레버리지자재 소싱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공급 리스크가 낮은 레버리지자재는 경쟁 입찰과 물량 레버리지로 원가 절감을 추구합니다.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653796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  <a:latin typeface="Arial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8686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>
                <a:solidFill>
                  <a:srgbClr val="333333"/>
                </a:solidFill>
                <a:latin typeface="맑은 고딕"/>
              </a:rPr>
              <a:t>• 핵심 전략: 경쟁 촉진 및 통합 구매 (Competitive Bidding)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333333"/>
                </a:solidFill>
                <a:latin typeface="맑은 고딕"/>
              </a:rPr>
              <a:t>• 경쟁 입찰: RFQ (Request for Quotation) 정기 실시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333333"/>
                </a:solidFill>
                <a:latin typeface="맑은 고딕"/>
              </a:rPr>
              <a:t>• 물량 통합: 여러 사업부 수요 통합으로 협상력 강화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333333"/>
                </a:solidFill>
                <a:latin typeface="맑은 고딕"/>
              </a:rPr>
              <a:t>• 다수 공급업체: 3-5개 공급업체 경쟁 체제 유지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333333"/>
                </a:solidFill>
                <a:latin typeface="맑은 고딕"/>
              </a:rPr>
              <a:t>• 단기 계약: 6개월-1년 단기 계약으로 시장 가격 반영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333333"/>
                </a:solidFill>
                <a:latin typeface="맑은 고딕"/>
              </a:rPr>
              <a:t>• MRP 기반 정밀 계획: 수요 예측 정확도 향상으로 재고 최소화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8686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전략자재 소싱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고위험·고금액 전략자재는 장기 파트너십과 협업적 혁신이 핵심 전략입니다.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653796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  <a:latin typeface="Arial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8686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>
                <a:solidFill>
                  <a:srgbClr val="333333"/>
                </a:solidFill>
                <a:latin typeface="맑은 고딕"/>
              </a:rPr>
              <a:t>• 핵심 전략: 전략적 파트너십 구축 (Strategic Partnership)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333333"/>
                </a:solidFill>
                <a:latin typeface="맑은 고딕"/>
              </a:rPr>
              <a:t>• 장기 계약: 3-5년 장기 계약 with 수량/가격 조정 조항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333333"/>
                </a:solidFill>
                <a:latin typeface="맑은 고딕"/>
              </a:rPr>
              <a:t>• 공동 개발: 신제품 개발 단계부터 공급업체 참여 (Early Supplier Involvement)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333333"/>
                </a:solidFill>
                <a:latin typeface="맑은 고딕"/>
              </a:rPr>
              <a:t>• 정보 공유: 수요 예측, 생산 계획 등 핵심 정보 공유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333333"/>
                </a:solidFill>
                <a:latin typeface="맑은 고딕"/>
              </a:rPr>
              <a:t>• 리스크 분담: 수요 변동, 원자재 가격 변동 리스크 분담 메커니즘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333333"/>
                </a:solidFill>
                <a:latin typeface="맑은 고딕"/>
              </a:rPr>
              <a:t>• 하이브리드 계획: MRP + ROP 결합으로 유연성과 안정성 확보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8686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일상자재 소싱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저위험·저금액 일상자재는 프로세스 효율화와 자동화로 관리 비용을 최소화합니다.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653796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  <a:latin typeface="Arial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8686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>
                <a:solidFill>
                  <a:srgbClr val="333333"/>
                </a:solidFill>
                <a:latin typeface="맑은 고딕"/>
              </a:rPr>
              <a:t>• 핵심 전략: 효율화 및 자동화 (Efficiency &amp; Automation)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333333"/>
                </a:solidFill>
                <a:latin typeface="맑은 고딕"/>
              </a:rPr>
              <a:t>• E-Procurement: 전자 구매 시스템으로 주문 프로세스 자동화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333333"/>
                </a:solidFill>
                <a:latin typeface="맑은 고딕"/>
              </a:rPr>
              <a:t>• 자동 발주: 재고 수준 기반 자동 발주 (Auto-Replenishment)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333333"/>
                </a:solidFill>
                <a:latin typeface="맑은 고딕"/>
              </a:rPr>
              <a:t>• 프레임 계약: 1년 단위 프레임 계약으로 개별 협상 불필요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333333"/>
                </a:solidFill>
                <a:latin typeface="맑은 고딕"/>
              </a:rPr>
              <a:t>• 공급업체 통합: 1-2개 통합 공급업체로 관리 부담 축소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333333"/>
                </a:solidFill>
                <a:latin typeface="맑은 고딕"/>
              </a:rPr>
              <a:t>• 표준화: 품목 표준화로 대체 가능성 극대화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8686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공급업체 관계 관리 (SRM)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Supplier Relationship Management는 공급업체를 전략적 자산으로 관리하는 체계입니다.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653796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  <a:latin typeface="Arial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8686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600">
                <a:solidFill>
                  <a:srgbClr val="333333"/>
                </a:solidFill>
                <a:latin typeface="맑은 고딕"/>
              </a:rPr>
              <a:t>• SRM 정의: 공급업체를 거래 대상이 아닌 전략적 파트너로 관리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3333"/>
                </a:solidFill>
                <a:latin typeface="맑은 고딕"/>
              </a:rPr>
              <a:t>• 자재군별 관계 유형: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3333"/>
                </a:solidFill>
                <a:latin typeface="맑은 고딕"/>
              </a:rPr>
              <a:t>•   • 전략자재 → 전략적 파트너십 (Strategic Partnership)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3333"/>
                </a:solidFill>
                <a:latin typeface="맑은 고딕"/>
              </a:rPr>
              <a:t>•   • 레버리지자재 → 경쟁적 공급 (Competitive Supply)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3333"/>
                </a:solidFill>
                <a:latin typeface="맑은 고딕"/>
              </a:rPr>
              <a:t>•   • 병목자재 → 안정적 공급 (Secure Supply)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3333"/>
                </a:solidFill>
                <a:latin typeface="맑은 고딕"/>
              </a:rPr>
              <a:t>•   • 일상자재 → 효율적 처리 (Efficient Processing)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3333"/>
                </a:solidFill>
                <a:latin typeface="맑은 고딕"/>
              </a:rPr>
              <a:t>• SRM 핵심 활동: 성과 평가, 개선 협업, 리스크 관리, 혁신 촉진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8686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공급업체 성과 평가 체계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정량적 지표 기반 공급업체 성과 평가로 데이터 기반 의사결정을 지원합니다.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653796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  <a:latin typeface="Arial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8686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>
                <a:solidFill>
                  <a:srgbClr val="333333"/>
                </a:solidFill>
                <a:latin typeface="맑은 고딕"/>
              </a:rPr>
              <a:t>• 평가 4대 영역: 품질 (40%) / 납기 (30%) / 가격 (20%) / 협력성 (10%)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333333"/>
                </a:solidFill>
                <a:latin typeface="맑은 고딕"/>
              </a:rPr>
              <a:t>• 품질 지표: 검사 통과율, 불량률, 클레임 건수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333333"/>
                </a:solidFill>
                <a:latin typeface="맑은 고딕"/>
              </a:rPr>
              <a:t>• 납기 지표: 납기 준수율 (OTD: On-Time Delivery), 리드타임 준수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333333"/>
                </a:solidFill>
                <a:latin typeface="맑은 고딕"/>
              </a:rPr>
              <a:t>• 가격 지표: 가격 경쟁력, 가격 안정성, 개선 제안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333333"/>
                </a:solidFill>
                <a:latin typeface="맑은 고딕"/>
              </a:rPr>
              <a:t>• 협력성 지표: 커뮤니케이션, 문제 해결, 혁신 제안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333333"/>
                </a:solidFill>
                <a:latin typeface="맑은 고딕"/>
              </a:rPr>
              <a:t>• 등급 체계: A (90-100점) / B (80-89) / C (70-79) / D (&lt;70점)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8686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Session 3: ABC-XYZ 재고 분류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ABC-XYZ 분석은 금액과 수요 변동성 기준으로 재고를 9개 그룹으로 세분화합니다.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653796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  <a:latin typeface="Arial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8686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600">
                <a:solidFill>
                  <a:srgbClr val="333333"/>
                </a:solidFill>
                <a:latin typeface="맑은 고딕"/>
              </a:rPr>
              <a:t>• ABC-XYZ의 필요성: Kraljic Matrix가 전략적 분류라면, ABC-XYZ는 운영적 분류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3333"/>
                </a:solidFill>
                <a:latin typeface="맑은 고딕"/>
              </a:rPr>
              <a:t>• ABC 분석: 금액 기준 우선순위화 (파레토 법칙)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3333"/>
                </a:solidFill>
                <a:latin typeface="맑은 고딕"/>
              </a:rPr>
              <a:t>• XYZ 분석: 수요 변동성 기준 예측 가능성 평가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3333"/>
                </a:solidFill>
                <a:latin typeface="맑은 고딕"/>
              </a:rPr>
              <a:t>• 9개 조합: AX, AY, AZ, BX, BY, BZ, CX, CY, CZ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3333"/>
                </a:solidFill>
                <a:latin typeface="맑은 고딕"/>
              </a:rPr>
              <a:t>• 실무 적용: Kraljic Matrix로 전략 수립 → ABC-XYZ로 세부 운영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8686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ABC 분석: 금액 기준 우선순위화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파레토 법칙 (80/20 법칙)에 따라 소수의 핵심 품목에 관리 역량을 집중합니다.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653796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  <a:latin typeface="Arial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8686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>
                <a:solidFill>
                  <a:srgbClr val="333333"/>
                </a:solidFill>
                <a:latin typeface="맑은 고딕"/>
              </a:rPr>
              <a:t>• A급 (70-80%): 금액 상위 20% 품목이 전체 금액의 70-80% 차지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333333"/>
                </a:solidFill>
                <a:latin typeface="맑은 고딕"/>
              </a:rPr>
              <a:t>•   → 집중 관리: 주간 재고 점검, 정밀 수요 예측, 최적 재고 수준 관리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333333"/>
                </a:solidFill>
                <a:latin typeface="맑은 고딕"/>
              </a:rPr>
              <a:t>• B급 (15-25%): 중간 30% 품목이 전체 금액의 15-25% 차지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333333"/>
                </a:solidFill>
                <a:latin typeface="맑은 고딕"/>
              </a:rPr>
              <a:t>•   → 표준 관리: 월간 재고 점검, 일반 수요 예측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333333"/>
                </a:solidFill>
                <a:latin typeface="맑은 고딕"/>
              </a:rPr>
              <a:t>• C급 (5%): 하위 50% 품목이 전체 금액의 5% 차지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333333"/>
                </a:solidFill>
                <a:latin typeface="맑은 고딕"/>
              </a:rPr>
              <a:t>•   → 간소 관리: 분기별 점검, 간단한 발주 정책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8686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XYZ 분석: 수요 변동성 기준 분류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변동계수 (CV)로 수요의 예측 가능성을 평가하여 재고 정책을 차별화합니다.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653796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  <a:latin typeface="Arial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8686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>
                <a:solidFill>
                  <a:srgbClr val="333333"/>
                </a:solidFill>
                <a:latin typeface="맑은 고딕"/>
              </a:rPr>
              <a:t>• X급 (CV &lt; 0.5): 수요 안정적, 예측 가능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333333"/>
                </a:solidFill>
                <a:latin typeface="맑은 고딕"/>
              </a:rPr>
              <a:t>•   → 정밀 예측 가능, 안전재고 최소화, MRP 적합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333333"/>
                </a:solidFill>
                <a:latin typeface="맑은 고딕"/>
              </a:rPr>
              <a:t>• Y급 (0.5 ≤ CV &lt; 1.0): 수요 변동 중간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333333"/>
                </a:solidFill>
                <a:latin typeface="맑은 고딕"/>
              </a:rPr>
              <a:t>•   → 통계적 예측, 적정 안전재고, MRP + 버퍼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333333"/>
                </a:solidFill>
                <a:latin typeface="맑은 고딕"/>
              </a:rPr>
              <a:t>• Z급 (CV ≥ 1.0): 수요 변동 크고 예측 어려움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333333"/>
                </a:solidFill>
                <a:latin typeface="맑은 고딕"/>
              </a:rPr>
              <a:t>•   → 예측 정확도 낮음, 높은 안전재고 또는 주문 생산, ROP 적합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333333"/>
                </a:solidFill>
                <a:latin typeface="맑은 고딕"/>
              </a:rPr>
              <a:t>• 변동계수 (CV) = 표준편차 / 평균 수요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8686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ABC-XYZ 매트릭스: 9가지 조합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금액과 변동성을 결합하여 9개 그룹별로 최적화된 재고 정책을 수립합니다.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653796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  <a:latin typeface="Arial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8686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1600">
                <a:solidFill>
                  <a:srgbClr val="333333"/>
                </a:solidFill>
                <a:latin typeface="맑은 고딕"/>
              </a:rPr>
              <a:t>• AX (고금액+안정): 최우선 관리, 정밀 예측, 최소 안전재고</a:t>
            </a:r>
          </a:p>
          <a:p>
            <a:pPr>
              <a:spcBef>
                <a:spcPts val="1200"/>
              </a:spcBef>
            </a:pPr>
            <a:r>
              <a:rPr sz="1600">
                <a:solidFill>
                  <a:srgbClr val="333333"/>
                </a:solidFill>
                <a:latin typeface="맑은 고딕"/>
              </a:rPr>
              <a:t>• AY (고금액+중간 변동): 중점 관리, 통계 예측, 적정 안전재고</a:t>
            </a:r>
          </a:p>
          <a:p>
            <a:pPr>
              <a:spcBef>
                <a:spcPts val="1200"/>
              </a:spcBef>
            </a:pPr>
            <a:r>
              <a:rPr sz="1600">
                <a:solidFill>
                  <a:srgbClr val="333333"/>
                </a:solidFill>
                <a:latin typeface="맑은 고딕"/>
              </a:rPr>
              <a:t>• AZ (고금액+고변동): 집중 모니터링, 높은 안전재고 또는 주문 생산</a:t>
            </a:r>
          </a:p>
          <a:p>
            <a:pPr>
              <a:spcBef>
                <a:spcPts val="1200"/>
              </a:spcBef>
            </a:pPr>
            <a:r>
              <a:rPr sz="1600">
                <a:solidFill>
                  <a:srgbClr val="333333"/>
                </a:solidFill>
                <a:latin typeface="맑은 고딕"/>
              </a:rPr>
              <a:t>• BX/BY/BZ: 표준 관리, 자동화된 발주 정책</a:t>
            </a:r>
          </a:p>
          <a:p>
            <a:pPr>
              <a:spcBef>
                <a:spcPts val="1200"/>
              </a:spcBef>
            </a:pPr>
            <a:r>
              <a:rPr sz="1600">
                <a:solidFill>
                  <a:srgbClr val="333333"/>
                </a:solidFill>
                <a:latin typeface="맑은 고딕"/>
              </a:rPr>
              <a:t>• CX/CY/CZ: 간소 관리, 대량 발주, 낮은 관리 우선순위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8686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Kraljic vs ABC-XYZ: 언제 무엇을 사용할까?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Kraljic은 전략 수립, ABC-XYZ는 운영 최적화에 사용하며 상호 보완적입니다.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653796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  <a:latin typeface="Arial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8686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>
                <a:solidFill>
                  <a:srgbClr val="333333"/>
                </a:solidFill>
                <a:latin typeface="맑은 고딕"/>
              </a:rPr>
              <a:t>• Kraljic Matrix: 자재 포트폴리오 전략 수립 (소싱, 계약, 관계 관리)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333333"/>
                </a:solidFill>
                <a:latin typeface="맑은 고딕"/>
              </a:rPr>
              <a:t>•   → 전략적 의사결정: 어떤 공급업체와 어떻게 협력할 것인가?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333333"/>
                </a:solidFill>
                <a:latin typeface="맑은 고딕"/>
              </a:rPr>
              <a:t>• ABC-XYZ: 재고 운영 정책 수립 (재고 수준, 발주 주기, 안전재고)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333333"/>
                </a:solidFill>
                <a:latin typeface="맑은 고딕"/>
              </a:rPr>
              <a:t>•   → 운영적 의사결정: 얼마나 보유하고 언제 발주할 것인가?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333333"/>
                </a:solidFill>
                <a:latin typeface="맑은 고딕"/>
              </a:rPr>
              <a:t>• 통합 활용: Kraljic으로 전략 → ABC-XYZ로 세부 운영 정책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333333"/>
                </a:solidFill>
                <a:latin typeface="맑은 고딕"/>
              </a:rPr>
              <a:t>• 예: 전략자재(Kraljic) 중 AX는 집중 관리, CZ는 유연한 주문 생산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83464"/>
            <a:ext cx="8686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0000"/>
                </a:solidFill>
                <a:latin typeface="맑은 고딕"/>
              </a:rPr>
              <a:t>Part 1 종합 요약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23544"/>
            <a:ext cx="9436608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33333"/>
                </a:solidFill>
                <a:latin typeface="맑은 고딕"/>
              </a:rPr>
              <a:t>Sessions 1-3를 통해 Kraljic Matrix와 ABC-XYZ 분석의 기초를 완성했습니다.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653796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66666"/>
                </a:solidFill>
                <a:latin typeface="Arial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8686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0000"/>
                </a:solidFill>
                <a:latin typeface="Arial"/>
              </a:rPr>
              <a:t>핵심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8686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600">
                <a:solidFill>
                  <a:srgbClr val="333333"/>
                </a:solidFill>
                <a:latin typeface="맑은 고딕"/>
              </a:rPr>
              <a:t>• JIT → JIC: 재고는 낭비가 아닌 전략적 자산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3333"/>
                </a:solidFill>
                <a:latin typeface="맑은 고딕"/>
              </a:rPr>
              <a:t>• Kraljic Matrix: 공급 리스크 × 구매 임팩트로 4대 자재군 분류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3333"/>
                </a:solidFill>
                <a:latin typeface="맑은 고딕"/>
              </a:rPr>
              <a:t>• 소싱 전략: 병목(안정성) / 레버리지(경쟁) / 전략(파트너십) / 일상(효율화)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3333"/>
                </a:solidFill>
                <a:latin typeface="맑은 고딕"/>
              </a:rPr>
              <a:t>• ABC-XYZ: 금액 × 변동성으로 9개 그룹 세분화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3333"/>
                </a:solidFill>
                <a:latin typeface="맑은 고딕"/>
              </a:rPr>
              <a:t>• Part 2 예고: 자재군별 Deep Dive (Sessions 4-7)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5943600"/>
            <a:ext cx="7159752" cy="548640"/>
          </a:xfrm>
          <a:prstGeom prst="rect">
            <a:avLst/>
          </a:prstGeom>
          <a:solidFill>
            <a:srgbClr val="333333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다음 학습: 자사 자재 20개를 Kraljic Matrix와 ABC-XYZ로 분류해 보세요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
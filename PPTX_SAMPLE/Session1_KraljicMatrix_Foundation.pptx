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전략적 재고운영 및 자재계획수립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002060"/>
                </a:solidFill>
                <a:latin typeface="맑은 고딕"/>
              </a:defRPr>
            </a:pPr>
            <a:r>
              <a:t>[1회차] Kraljic Matrix와 자재계획 방법론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5029200"/>
            <a:ext cx="4876495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002060"/>
                </a:solidFill>
                <a:latin typeface="맑은 고딕"/>
              </a:defRPr>
            </a:pPr>
            <a:r>
              <a:t>난이도: 중급  |  소요시간: 45분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학습 목표 및 과정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5029200" cy="2286000"/>
          </a:xfrm>
          <a:prstGeom prst="roundRect">
            <a:avLst/>
          </a:prstGeom>
          <a:solidFill>
            <a:srgbClr val="E6F0FF"/>
          </a:solidFill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defRPr sz="2200" b="1">
                <a:solidFill>
                  <a:srgbClr val="002060"/>
                </a:solidFill>
                <a:latin typeface="맑은 고딕"/>
              </a:defRPr>
            </a:pPr>
            <a:r>
              <a:t>🎯 학습 목표</a:t>
            </a:r>
          </a:p>
          <a:p>
            <a:pPr>
              <a:spcBef>
                <a:spcPts val="600"/>
              </a:spcBef>
              <a:defRPr sz="1400">
                <a:latin typeface="맑은 고딕"/>
              </a:defRPr>
            </a:pPr>
            <a:r>
              <a:t>• JIT에서 JIC로의 패러다임 전환 이해</a:t>
            </a:r>
          </a:p>
          <a:p>
            <a:pPr>
              <a:spcBef>
                <a:spcPts val="600"/>
              </a:spcBef>
              <a:defRPr sz="1400">
                <a:latin typeface="맑은 고딕"/>
              </a:defRPr>
            </a:pPr>
            <a:r>
              <a:t>• 전략적 재고운영의 핵심 개념 습득</a:t>
            </a:r>
          </a:p>
          <a:p>
            <a:pPr>
              <a:spcBef>
                <a:spcPts val="600"/>
              </a:spcBef>
              <a:defRPr sz="1400">
                <a:latin typeface="맑은 고딕"/>
              </a:defRPr>
            </a:pPr>
            <a:r>
              <a:t>• Kraljic Matrix 자재 분류 역량 확보</a:t>
            </a:r>
          </a:p>
          <a:p>
            <a:pPr>
              <a:spcBef>
                <a:spcPts val="600"/>
              </a:spcBef>
              <a:defRPr sz="1400">
                <a:latin typeface="맑은 고딕"/>
              </a:defRPr>
            </a:pPr>
            <a:r>
              <a:t>• 자재군별 관리 철학 이해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097280"/>
            <a:ext cx="5029200" cy="5029200"/>
          </a:xfrm>
          <a:prstGeom prst="roundRect">
            <a:avLst/>
          </a:prstGeom>
          <a:solidFill>
            <a:srgbClr val="FFFAF0"/>
          </a:solidFill>
          <a:ln w="381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defRPr sz="2200" b="1">
                <a:solidFill>
                  <a:srgbClr val="002060"/>
                </a:solidFill>
                <a:latin typeface="맑은 고딕"/>
              </a:defRPr>
            </a:pPr>
            <a:r>
              <a:t>📋 과정 구성</a:t>
            </a:r>
          </a:p>
          <a:p>
            <a:pPr>
              <a:spcBef>
                <a:spcPts val="1000"/>
              </a:spcBef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1. 패러다임의 전환: JIT → JIC</a:t>
            </a:r>
          </a:p>
          <a:p>
            <a:pPr>
              <a:spcBef>
                <a:spcPts val="1000"/>
              </a:spcBef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2. Kraljic Matrix 프레임워크</a:t>
            </a:r>
          </a:p>
          <a:p>
            <a:pPr>
              <a:spcBef>
                <a:spcPts val="1000"/>
              </a:spcBef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3. 4대 자재군 특성 및 관리 철학</a:t>
            </a:r>
          </a:p>
          <a:p>
            <a:pPr>
              <a:spcBef>
                <a:spcPts val="1000"/>
              </a:spcBef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4. 자재계획 방법론 맵</a:t>
            </a:r>
          </a:p>
          <a:p>
            <a:pPr>
              <a:spcBef>
                <a:spcPts val="1000"/>
              </a:spcBef>
              <a:defRPr sz="1600" b="1">
                <a:solidFill>
                  <a:srgbClr val="E67E22"/>
                </a:solidFill>
                <a:latin typeface="맑은 고딕"/>
              </a:defRPr>
            </a:pPr>
            <a:r>
              <a:t>5. 통합 KPI 프레임워크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274320" cy="13716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맑은 고딕"/>
              </a:defRPr>
            </a:pPr>
            <a:r>
              <a:t>1. 패러다임의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00B0F0"/>
                </a:solidFill>
                <a:latin typeface="맑은 고딕"/>
              </a:defRPr>
            </a:pPr>
            <a:r>
              <a:t>JIT에서 JIC로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JIT의 위기: 2021년 글로벌 반도체 대란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5303520" cy="2286000"/>
          </a:xfrm>
          <a:prstGeom prst="roundRect">
            <a:avLst/>
          </a:prstGeom>
          <a:solidFill>
            <a:srgbClr val="FFEBEB"/>
          </a:solidFill>
          <a:ln w="381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400" b="1">
                <a:solidFill>
                  <a:srgbClr val="C00000"/>
                </a:solidFill>
                <a:latin typeface="맑은 고딕"/>
              </a:defRPr>
            </a:pPr>
            <a:r>
              <a:t>⚠️ JIT의 붕괴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• 자동차 생산 1,000만 대 감소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• 산업 전체 손실 $210억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• GM, 포드, 폭스바겐 생산 중단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• 안전재고 Zero → 공급 충격 즉시 노출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303520" cy="2286000"/>
          </a:xfrm>
          <a:prstGeom prst="roundRect">
            <a:avLst/>
          </a:prstGeom>
          <a:solidFill>
            <a:srgbClr val="EBFFF5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400" b="1">
                <a:solidFill>
                  <a:srgbClr val="008000"/>
                </a:solidFill>
                <a:latin typeface="맑은 고딕"/>
              </a:defRPr>
            </a:pPr>
            <a:r>
              <a:t>💡 핵심 교훈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✓ JIT = Efficient but Fragile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✓ 재고 Zero = 리스크 Maximum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✓ 차별화된 재고 전략 필요</a:t>
            </a:r>
          </a:p>
          <a:p>
            <a:pPr>
              <a:spcBef>
                <a:spcPts val="800"/>
              </a:spcBef>
              <a:defRPr sz="1400">
                <a:latin typeface="맑은 고딕"/>
              </a:defRPr>
            </a:pPr>
            <a:r>
              <a:t>✓ 병목자재 안전재고 확대 필수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200400" cy="1828800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200" b="1">
                <a:solidFill>
                  <a:srgbClr val="00B0F0"/>
                </a:solidFill>
                <a:latin typeface="맑은 고딕"/>
              </a:defRPr>
            </a:pPr>
            <a:r>
              <a:t>1-2주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  <a:latin typeface="맑은 고딕"/>
              </a:defRPr>
            </a:pPr>
            <a:r>
              <a:t>Before</a:t>
            </a:r>
            <a:br/>
            <a:r>
              <a:t>JIT 안전재고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840480"/>
            <a:ext cx="3200400" cy="1828800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200" b="1">
                <a:solidFill>
                  <a:srgbClr val="00B0F0"/>
                </a:solidFill>
                <a:latin typeface="맑은 고딕"/>
              </a:defRPr>
            </a:pPr>
            <a:r>
              <a:t>6개월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  <a:latin typeface="맑은 고딕"/>
              </a:defRPr>
            </a:pPr>
            <a:r>
              <a:t>After</a:t>
            </a:r>
            <a:br/>
            <a:r>
              <a:t>JIC 안전재고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840480"/>
            <a:ext cx="3200400" cy="1828800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200" b="1">
                <a:solidFill>
                  <a:srgbClr val="00B0F0"/>
                </a:solidFill>
                <a:latin typeface="맑은 고딕"/>
              </a:defRPr>
            </a:pPr>
            <a:r>
              <a:t>15배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  <a:latin typeface="맑은 고딕"/>
              </a:defRPr>
            </a:pPr>
            <a:r>
              <a:t>재고 증가율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패러다임의 전환: JIT vs JIC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36576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JIT (과거)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097280"/>
            <a:ext cx="365760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JIC (현재/미래)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3657600" cy="54864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00" b="1">
                <a:latin typeface="맑은 고딕"/>
              </a:defRPr>
            </a:pPr>
            <a:r>
              <a:t>재고 철학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645920"/>
            <a:ext cx="3657600" cy="548640"/>
          </a:xfrm>
          <a:prstGeom prst="rect">
            <a:avLst/>
          </a:prstGeom>
          <a:solidFill>
            <a:srgbClr val="FF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재고 = 낭비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645920"/>
            <a:ext cx="3657600" cy="548640"/>
          </a:xfrm>
          <a:prstGeom prst="rect">
            <a:avLst/>
          </a:prstGeom>
          <a:solidFill>
            <a:srgbClr val="F0FF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재고 = 전략적 자산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31720"/>
            <a:ext cx="3657600" cy="54864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00" b="1">
                <a:latin typeface="맑은 고딕"/>
              </a:defRPr>
            </a:pPr>
            <a:r>
              <a:t>목표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331720"/>
            <a:ext cx="3657600" cy="548640"/>
          </a:xfrm>
          <a:prstGeom prst="rect">
            <a:avLst/>
          </a:prstGeom>
          <a:solidFill>
            <a:srgbClr val="FF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재고 최소화 (Zero)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331720"/>
            <a:ext cx="3657600" cy="548640"/>
          </a:xfrm>
          <a:prstGeom prst="rect">
            <a:avLst/>
          </a:prstGeom>
          <a:solidFill>
            <a:srgbClr val="F0FF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최적 재고 (Optimal)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17520"/>
            <a:ext cx="3657600" cy="54864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00" b="1">
                <a:latin typeface="맑은 고딕"/>
              </a:defRPr>
            </a:pPr>
            <a:r>
              <a:t>우선순위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017520"/>
            <a:ext cx="3657600" cy="548640"/>
          </a:xfrm>
          <a:prstGeom prst="rect">
            <a:avLst/>
          </a:prstGeom>
          <a:solidFill>
            <a:srgbClr val="FF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효율성 (Efficiency)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3017520"/>
            <a:ext cx="3657600" cy="548640"/>
          </a:xfrm>
          <a:prstGeom prst="rect">
            <a:avLst/>
          </a:prstGeom>
          <a:solidFill>
            <a:srgbClr val="F0FF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회복력 (Resilience)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03320"/>
            <a:ext cx="3657600" cy="54864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00" b="1">
                <a:latin typeface="맑은 고딕"/>
              </a:defRPr>
            </a:pPr>
            <a:r>
              <a:t>리스크 관점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703320"/>
            <a:ext cx="3657600" cy="548640"/>
          </a:xfrm>
          <a:prstGeom prst="rect">
            <a:avLst/>
          </a:prstGeom>
          <a:solidFill>
            <a:srgbClr val="FF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리스크 무시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703320"/>
            <a:ext cx="3657600" cy="548640"/>
          </a:xfrm>
          <a:prstGeom prst="rect">
            <a:avLst/>
          </a:prstGeom>
          <a:solidFill>
            <a:srgbClr val="F0FF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리스크 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389120"/>
            <a:ext cx="3657600" cy="54864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00" b="1">
                <a:latin typeface="맑은 고딕"/>
              </a:defRPr>
            </a:pPr>
            <a:r>
              <a:t>공급망 구조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4389120"/>
            <a:ext cx="3657600" cy="548640"/>
          </a:xfrm>
          <a:prstGeom prst="rect">
            <a:avLst/>
          </a:prstGeom>
          <a:solidFill>
            <a:srgbClr val="FF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글로벌 최적화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4389120"/>
            <a:ext cx="3657600" cy="548640"/>
          </a:xfrm>
          <a:prstGeom prst="rect">
            <a:avLst/>
          </a:prstGeom>
          <a:solidFill>
            <a:srgbClr val="F0FF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지역 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074920"/>
            <a:ext cx="3657600" cy="54864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00" b="1">
                <a:latin typeface="맑은 고딕"/>
              </a:defRPr>
            </a:pPr>
            <a:r>
              <a:t>안전재고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5074920"/>
            <a:ext cx="3657600" cy="548640"/>
          </a:xfrm>
          <a:prstGeom prst="rect">
            <a:avLst/>
          </a:prstGeom>
          <a:solidFill>
            <a:srgbClr val="FF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최소 (1-2주)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5074920"/>
            <a:ext cx="3657600" cy="548640"/>
          </a:xfrm>
          <a:prstGeom prst="rect">
            <a:avLst/>
          </a:prstGeom>
          <a:solidFill>
            <a:srgbClr val="F0FF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>
                <a:latin typeface="맑은 고딕"/>
              </a:defRPr>
            </a:pPr>
            <a:r>
              <a:t>차별화 (1주-6개월)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274320" cy="13716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맑은 고딕"/>
              </a:defRPr>
            </a:pPr>
            <a:r>
              <a:t>2. Kraljic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00B0F0"/>
                </a:solidFill>
                <a:latin typeface="맑은 고딕"/>
              </a:defRPr>
            </a:pPr>
            <a:r>
              <a:t>자재 포트폴리오 전략의 핵심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Kraljic Matrix: 2×2 자재 포트폴리오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0" y="1280160"/>
            <a:ext cx="2468879" cy="2468879"/>
          </a:xfrm>
          <a:prstGeom prst="roundRect">
            <a:avLst/>
          </a:prstGeom>
          <a:solidFill>
            <a:srgbClr val="FFC8C8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3200"/>
            </a:pPr>
            <a:r>
              <a:t>🔴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C00000"/>
                </a:solidFill>
                <a:latin typeface="맑은 고딕"/>
              </a:defRPr>
            </a:pPr>
            <a:r>
              <a:t>병목자재</a:t>
            </a:r>
            <a:br/>
            <a:r>
              <a:t>Bottleneck</a:t>
            </a:r>
          </a:p>
          <a:p>
            <a:pPr algn="ctr">
              <a:spcBef>
                <a:spcPts val="600"/>
              </a:spcBef>
              <a:defRPr sz="1200">
                <a:solidFill>
                  <a:srgbClr val="C00000"/>
                </a:solidFill>
                <a:latin typeface="맑은 고딕"/>
              </a:defRPr>
            </a:pPr>
            <a:r>
              <a:t>높은 공급 리스크</a:t>
            </a:r>
            <a:br/>
            <a:r>
              <a:t>낮은 구매 금액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2468879" cy="2468879"/>
          </a:xfrm>
          <a:prstGeom prst="roundRect">
            <a:avLst/>
          </a:prstGeom>
          <a:solidFill>
            <a:srgbClr val="E6C8FF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3200"/>
            </a:pPr>
            <a:r>
              <a:t>🟣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800080"/>
                </a:solidFill>
                <a:latin typeface="맑은 고딕"/>
              </a:defRPr>
            </a:pPr>
            <a:r>
              <a:t>전략자재</a:t>
            </a:r>
            <a:br/>
            <a:r>
              <a:t>Strategic</a:t>
            </a:r>
          </a:p>
          <a:p>
            <a:pPr algn="ctr">
              <a:spcBef>
                <a:spcPts val="600"/>
              </a:spcBef>
              <a:defRPr sz="1200">
                <a:solidFill>
                  <a:srgbClr val="800080"/>
                </a:solidFill>
                <a:latin typeface="맑은 고딕"/>
              </a:defRPr>
            </a:pPr>
            <a:r>
              <a:t>높은 공급 리스크</a:t>
            </a:r>
            <a:br/>
            <a:r>
              <a:t>높은 구매 금액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3840480"/>
            <a:ext cx="2468879" cy="2468879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3200"/>
            </a:pPr>
            <a:r>
              <a:t>⚪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606060"/>
                </a:solidFill>
                <a:latin typeface="맑은 고딕"/>
              </a:defRPr>
            </a:pPr>
            <a:r>
              <a:t>일상자재</a:t>
            </a:r>
            <a:br/>
            <a:r>
              <a:t>Routine</a:t>
            </a:r>
          </a:p>
          <a:p>
            <a:pPr algn="ctr">
              <a:spcBef>
                <a:spcPts val="600"/>
              </a:spcBef>
              <a:defRPr sz="1200">
                <a:solidFill>
                  <a:srgbClr val="606060"/>
                </a:solidFill>
                <a:latin typeface="맑은 고딕"/>
              </a:defRPr>
            </a:pPr>
            <a:r>
              <a:t>낮은 공급 리스크</a:t>
            </a:r>
            <a:br/>
            <a:r>
              <a:t>낮은 구매 금액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840480"/>
            <a:ext cx="2468879" cy="2468879"/>
          </a:xfrm>
          <a:prstGeom prst="roundRect">
            <a:avLst/>
          </a:prstGeom>
          <a:solidFill>
            <a:srgbClr val="C8FFC8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3200"/>
            </a:pPr>
            <a:r>
              <a:t>🟢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008000"/>
                </a:solidFill>
                <a:latin typeface="맑은 고딕"/>
              </a:defRPr>
            </a:pPr>
            <a:r>
              <a:t>레버리지자재</a:t>
            </a:r>
            <a:br/>
            <a:r>
              <a:t>Leverage</a:t>
            </a:r>
          </a:p>
          <a:p>
            <a:pPr algn="ctr">
              <a:spcBef>
                <a:spcPts val="600"/>
              </a:spcBef>
              <a:defRPr sz="1200">
                <a:solidFill>
                  <a:srgbClr val="008000"/>
                </a:solidFill>
                <a:latin typeface="맑은 고딕"/>
              </a:defRPr>
            </a:pPr>
            <a:r>
              <a:t>낮은 공급 리스크</a:t>
            </a:r>
            <a:br/>
            <a:r>
              <a:t>높은 구매 금액</a:t>
            </a:r>
          </a:p>
        </p:txBody>
      </p:sp>
      <p:sp>
        <p:nvSpPr>
          <p:cNvPr id="9" name="Up Arrow 8"/>
          <p:cNvSpPr/>
          <p:nvPr/>
        </p:nvSpPr>
        <p:spPr>
          <a:xfrm>
            <a:off x="1828800" y="2286000"/>
            <a:ext cx="365760" cy="2743200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0040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  <a:latin typeface="맑은 고딕"/>
              </a:defRPr>
            </a:pPr>
            <a:r>
              <a:t>구매 금액</a:t>
            </a:r>
            <a:br/>
            <a:r>
              <a:t>(Purchase</a:t>
            </a:r>
            <a:br/>
            <a:r>
              <a:t>Impact)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14800" y="5943600"/>
            <a:ext cx="2743200" cy="36576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6217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  <a:latin typeface="맑은 고딕"/>
              </a:defRPr>
            </a:pPr>
            <a:r>
              <a:t>공급 리스크 (Supply Risk)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4대 자재군: 차별화된 관리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2194560"/>
          </a:xfrm>
          <a:prstGeom prst="roundRect">
            <a:avLst/>
          </a:prstGeom>
          <a:solidFill>
            <a:srgbClr val="FFC8C8"/>
          </a:solidFill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200" b="1">
                <a:solidFill>
                  <a:srgbClr val="C00000"/>
                </a:solidFill>
                <a:latin typeface="맑은 고딕"/>
              </a:defRPr>
            </a:pPr>
            <a:r>
              <a:t>🔴 병목자재</a:t>
            </a:r>
          </a:p>
          <a:p>
            <a:br/>
            <a:pPr>
              <a:spcBef>
                <a:spcPts val="800"/>
              </a:spcBef>
              <a:defRPr sz="1500" b="1">
                <a:latin typeface="맑은 고딕"/>
              </a:defRPr>
            </a:pPr>
            <a:r>
              <a:t>목표: 공급 확보</a:t>
            </a:r>
          </a:p>
          <a:p>
            <a:pPr>
              <a:spcBef>
                <a:spcPts val="600"/>
              </a:spcBef>
              <a:defRPr sz="1300">
                <a:latin typeface="맑은 고딕"/>
              </a:defRPr>
            </a:pPr>
            <a:r>
              <a:t>계획 방법: ROP (Re-Order Point)</a:t>
            </a:r>
          </a:p>
          <a:p>
            <a:pPr>
              <a:spcBef>
                <a:spcPts val="400"/>
              </a:spcBef>
              <a:defRPr sz="1300">
                <a:latin typeface="맑은 고딕"/>
              </a:defRPr>
            </a:pPr>
            <a:r>
              <a:t>전략: 높은 안전재고 (4-8주)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303520" cy="2194560"/>
          </a:xfrm>
          <a:prstGeom prst="roundRect">
            <a:avLst/>
          </a:prstGeom>
          <a:solidFill>
            <a:srgbClr val="C8FFC8"/>
          </a:solidFill>
          <a:ln w="381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200" b="1">
                <a:solidFill>
                  <a:srgbClr val="008000"/>
                </a:solidFill>
                <a:latin typeface="맑은 고딕"/>
              </a:defRPr>
            </a:pPr>
            <a:r>
              <a:t>🟢 레버리지자재</a:t>
            </a:r>
          </a:p>
          <a:p>
            <a:br/>
            <a:pPr>
              <a:spcBef>
                <a:spcPts val="800"/>
              </a:spcBef>
              <a:defRPr sz="1500" b="1">
                <a:latin typeface="맑은 고딕"/>
              </a:defRPr>
            </a:pPr>
            <a:r>
              <a:t>목표: 원가 절감</a:t>
            </a:r>
          </a:p>
          <a:p>
            <a:pPr>
              <a:spcBef>
                <a:spcPts val="600"/>
              </a:spcBef>
              <a:defRPr sz="1300">
                <a:latin typeface="맑은 고딕"/>
              </a:defRPr>
            </a:pPr>
            <a:r>
              <a:t>계획 방법: MRP (계획 기반)</a:t>
            </a:r>
          </a:p>
          <a:p>
            <a:pPr>
              <a:spcBef>
                <a:spcPts val="400"/>
              </a:spcBef>
              <a:defRPr sz="1300">
                <a:latin typeface="맑은 고딕"/>
              </a:defRPr>
            </a:pPr>
            <a:r>
              <a:t>전략: 경쟁 입찰, 낮은 재고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303520" cy="2194560"/>
          </a:xfrm>
          <a:prstGeom prst="roundRect">
            <a:avLst/>
          </a:prstGeom>
          <a:solidFill>
            <a:srgbClr val="E6C8FF"/>
          </a:solidFill>
          <a:ln w="381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200" b="1">
                <a:solidFill>
                  <a:srgbClr val="800080"/>
                </a:solidFill>
                <a:latin typeface="맑은 고딕"/>
              </a:defRPr>
            </a:pPr>
            <a:r>
              <a:t>🟣 전략자재</a:t>
            </a:r>
          </a:p>
          <a:p>
            <a:br/>
            <a:pPr>
              <a:spcBef>
                <a:spcPts val="800"/>
              </a:spcBef>
              <a:defRPr sz="1500" b="1">
                <a:latin typeface="맑은 고딕"/>
              </a:defRPr>
            </a:pPr>
            <a:r>
              <a:t>목표: 파트너십</a:t>
            </a:r>
          </a:p>
          <a:p>
            <a:pPr>
              <a:spcBef>
                <a:spcPts val="600"/>
              </a:spcBef>
              <a:defRPr sz="1300">
                <a:latin typeface="맑은 고딕"/>
              </a:defRPr>
            </a:pPr>
            <a:r>
              <a:t>계획 방법: 하이브리드 계획</a:t>
            </a:r>
          </a:p>
          <a:p>
            <a:pPr>
              <a:spcBef>
                <a:spcPts val="400"/>
              </a:spcBef>
              <a:defRPr sz="1300">
                <a:latin typeface="맑은 고딕"/>
              </a:defRPr>
            </a:pPr>
            <a:r>
              <a:t>전략: 장기 계약, 협력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931920"/>
            <a:ext cx="5303520" cy="2194560"/>
          </a:xfrm>
          <a:prstGeom prst="roundRect">
            <a:avLst/>
          </a:prstGeom>
          <a:solidFill>
            <a:srgbClr val="F0F0F0"/>
          </a:solidFill>
          <a:ln w="381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200" b="1">
                <a:solidFill>
                  <a:srgbClr val="606060"/>
                </a:solidFill>
                <a:latin typeface="맑은 고딕"/>
              </a:defRPr>
            </a:pPr>
            <a:r>
              <a:t>⚪ 일상자재</a:t>
            </a:r>
          </a:p>
          <a:p>
            <a:br/>
            <a:pPr>
              <a:spcBef>
                <a:spcPts val="800"/>
              </a:spcBef>
              <a:defRPr sz="1500" b="1">
                <a:latin typeface="맑은 고딕"/>
              </a:defRPr>
            </a:pPr>
            <a:r>
              <a:t>목표: 효율화</a:t>
            </a:r>
          </a:p>
          <a:p>
            <a:pPr>
              <a:spcBef>
                <a:spcPts val="600"/>
              </a:spcBef>
              <a:defRPr sz="1300">
                <a:latin typeface="맑은 고딕"/>
              </a:defRPr>
            </a:pPr>
            <a:r>
              <a:t>계획 방법: 자동화 (VMI)</a:t>
            </a:r>
          </a:p>
          <a:p>
            <a:pPr>
              <a:spcBef>
                <a:spcPts val="400"/>
              </a:spcBef>
              <a:defRPr sz="1300">
                <a:latin typeface="맑은 고딕"/>
              </a:defRPr>
            </a:pPr>
            <a:r>
              <a:t>전략: 프로세스 간소화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핵심 요약 (Key Takeaways)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2060"/>
                </a:solidFill>
                <a:latin typeface="맑은 고딕"/>
              </a:defRPr>
            </a:pPr>
            <a:r>
              <a:t>💎 오늘 배운 핵심 내용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474720" cy="3474720"/>
          </a:xfrm>
          <a:prstGeom prst="roundRect">
            <a:avLst/>
          </a:prstGeom>
          <a:solidFill>
            <a:srgbClr val="E6F0FF"/>
          </a:solidFill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800" b="1">
                <a:solidFill>
                  <a:srgbClr val="002060"/>
                </a:solidFill>
                <a:latin typeface="맑은 고딕"/>
              </a:defRPr>
            </a:pPr>
            <a:r>
              <a:t>1. 패러다임 전환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JIT → JIC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효율성 → 회복력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획일적 관리 → 차별화 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286000"/>
            <a:ext cx="3474720" cy="3474720"/>
          </a:xfrm>
          <a:prstGeom prst="roundRect">
            <a:avLst/>
          </a:prstGeom>
          <a:solidFill>
            <a:srgbClr val="FFFAF0"/>
          </a:solidFill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800" b="1">
                <a:solidFill>
                  <a:srgbClr val="002060"/>
                </a:solidFill>
                <a:latin typeface="맑은 고딕"/>
              </a:defRPr>
            </a:pPr>
            <a:r>
              <a:t>2. Kraljic Matrix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2개 축: 공급 리스크 × 구매 금액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4개 자재군 분류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차별화된 관리 전략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286000"/>
            <a:ext cx="3474720" cy="3474720"/>
          </a:xfrm>
          <a:prstGeom prst="roundRect">
            <a:avLst/>
          </a:prstGeom>
          <a:solidFill>
            <a:srgbClr val="F0FFF0"/>
          </a:solidFill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800" b="1">
                <a:solidFill>
                  <a:srgbClr val="002060"/>
                </a:solidFill>
                <a:latin typeface="맑은 고딕"/>
              </a:defRPr>
            </a:pPr>
            <a:r>
              <a:t>3. 실행 방향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자재 특성 분석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포트폴리오 분류</a:t>
            </a:r>
          </a:p>
          <a:p>
            <a:pPr>
              <a:spcBef>
                <a:spcPts val="1000"/>
              </a:spcBef>
              <a:defRPr sz="1300">
                <a:latin typeface="맑은 고딕"/>
              </a:defRPr>
            </a:pPr>
            <a:r>
              <a:t>• 자재군별 맞춤 전략 수립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70C0"/>
                </a:solidFill>
                <a:latin typeface="맑은 고딕"/>
              </a:defRPr>
            </a:pPr>
            <a:r>
              <a:t>다음 회차: [2회차] 자재군별 소싱 전략 및 공급업체 관계 관리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
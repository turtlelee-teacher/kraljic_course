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902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0"/>
            <a:ext cx="6190488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00000"/>
                </a:solidFill>
                <a:latin typeface="Arial"/>
              </a:defRPr>
            </a:pPr>
            <a:r>
              <a:t>전략적 재고운영 및</a:t>
            </a:r>
            <a:br/>
            <a:r>
              <a:t>자재계획수립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794760"/>
            <a:ext cx="4956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0000"/>
                </a:solidFill>
                <a:latin typeface="Arial"/>
              </a:defRPr>
            </a:pPr>
            <a:r>
              <a:t> - [1회차] Kraljic Matrix와 자재계획 방법론 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343400"/>
            <a:ext cx="6190488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1600">
                <a:latin typeface="Arial"/>
              </a:defRPr>
            </a:pPr>
            <a:r>
              <a:t>2025년 11월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92608"/>
            <a:ext cx="5239512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</a:defRPr>
            </a:pPr>
            <a:r>
              <a:t>금일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" y="1051560"/>
            <a:ext cx="6537960" cy="3922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패러다임의 전환: JIT에서 JIC로</a:t>
            </a:r>
          </a:p>
          <a:p>
            <a:pPr>
              <a:spcBef>
                <a:spcPts val="1200"/>
              </a:spcBef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Kraljic Matrix 프레임워크</a:t>
            </a:r>
          </a:p>
          <a:p>
            <a:pPr>
              <a:spcBef>
                <a:spcPts val="1200"/>
              </a:spcBef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4대 자재군 특성 및 관리 철학</a:t>
            </a:r>
          </a:p>
          <a:p>
            <a:pPr>
              <a:spcBef>
                <a:spcPts val="1200"/>
              </a:spcBef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자재계획 방법론 맵</a:t>
            </a:r>
          </a:p>
          <a:p>
            <a:pPr>
              <a:spcBef>
                <a:spcPts val="1200"/>
              </a:spcBef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통합 KPI 프레임워크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latin typeface="맑은 고딕"/>
              </a:defRPr>
            </a:pPr>
            <a:r>
              <a:t>패러다임의 전환: JIT에서 JIC로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latin typeface="맑은 고딕"/>
              </a:defRPr>
            </a:pPr>
            <a:r>
              <a:t>2020년 코로나19 팬데믹 이후, 글로벌 기업들이 JIT(Just-In-Time)에서 JIC(Just-In-Case)로 재고 전략을 전환하고 있습니다.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2926080" cy="502920"/>
          </a:xfrm>
          <a:prstGeom prst="rect">
            <a:avLst/>
          </a:prstGeom>
          <a:solidFill>
            <a:srgbClr val="D9D9D9"/>
          </a:solidFill>
          <a:ln w="63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300" b="1">
                <a:latin typeface="맑은 고딕"/>
              </a:defRPr>
            </a:pPr>
            <a:r>
              <a:t>구분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828800"/>
            <a:ext cx="2926080" cy="502920"/>
          </a:xfrm>
          <a:prstGeom prst="rect">
            <a:avLst/>
          </a:prstGeom>
          <a:solidFill>
            <a:srgbClr val="D9D9D9"/>
          </a:solidFill>
          <a:ln w="63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300" b="1">
                <a:latin typeface="맑은 고딕"/>
              </a:defRPr>
            </a:pPr>
            <a:r>
              <a:t>JIT (과거)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92240" y="1828800"/>
            <a:ext cx="2926080" cy="502920"/>
          </a:xfrm>
          <a:prstGeom prst="rect">
            <a:avLst/>
          </a:prstGeom>
          <a:solidFill>
            <a:srgbClr val="D9D9D9"/>
          </a:solidFill>
          <a:ln w="63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300" b="1">
                <a:latin typeface="맑은 고딕"/>
              </a:defRPr>
            </a:pPr>
            <a:r>
              <a:t>JIC (현재/미래)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77440"/>
            <a:ext cx="2926080" cy="502920"/>
          </a:xfrm>
          <a:prstGeom prst="rect">
            <a:avLst/>
          </a:prstGeom>
          <a:noFill/>
          <a:ln w="63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200" b="0">
                <a:latin typeface="맑은 고딕"/>
              </a:defRPr>
            </a:pPr>
            <a:r>
              <a:t>재고 철학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2377440"/>
            <a:ext cx="2926080" cy="502920"/>
          </a:xfrm>
          <a:prstGeom prst="rect">
            <a:avLst/>
          </a:prstGeom>
          <a:noFill/>
          <a:ln w="63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200" b="0">
                <a:latin typeface="맑은 고딕"/>
              </a:defRPr>
            </a:pPr>
            <a:r>
              <a:t>재고 = 낭비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377440"/>
            <a:ext cx="2926080" cy="502920"/>
          </a:xfrm>
          <a:prstGeom prst="rect">
            <a:avLst/>
          </a:prstGeom>
          <a:noFill/>
          <a:ln w="63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200" b="0">
                <a:latin typeface="맑은 고딕"/>
              </a:defRPr>
            </a:pPr>
            <a:r>
              <a:t>재고 = 전략적 자산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26080"/>
            <a:ext cx="2926080" cy="502920"/>
          </a:xfrm>
          <a:prstGeom prst="rect">
            <a:avLst/>
          </a:prstGeom>
          <a:noFill/>
          <a:ln w="63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200" b="0">
                <a:latin typeface="맑은 고딕"/>
              </a:defRPr>
            </a:pPr>
            <a:r>
              <a:t>목표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2926080"/>
            <a:ext cx="2926080" cy="502920"/>
          </a:xfrm>
          <a:prstGeom prst="rect">
            <a:avLst/>
          </a:prstGeom>
          <a:noFill/>
          <a:ln w="63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200" b="0">
                <a:latin typeface="맑은 고딕"/>
              </a:defRPr>
            </a:pPr>
            <a:r>
              <a:t>재고 최소화 (Zero)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2926080"/>
            <a:ext cx="2926080" cy="502920"/>
          </a:xfrm>
          <a:prstGeom prst="rect">
            <a:avLst/>
          </a:prstGeom>
          <a:noFill/>
          <a:ln w="63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200" b="0">
                <a:latin typeface="맑은 고딕"/>
              </a:defRPr>
            </a:pPr>
            <a:r>
              <a:t>최적 재고 (Optimal)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74720"/>
            <a:ext cx="2926080" cy="502920"/>
          </a:xfrm>
          <a:prstGeom prst="rect">
            <a:avLst/>
          </a:prstGeom>
          <a:noFill/>
          <a:ln w="63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200" b="0">
                <a:latin typeface="맑은 고딕"/>
              </a:defRPr>
            </a:pPr>
            <a:r>
              <a:t>우선순위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3474720"/>
            <a:ext cx="2926080" cy="502920"/>
          </a:xfrm>
          <a:prstGeom prst="rect">
            <a:avLst/>
          </a:prstGeom>
          <a:noFill/>
          <a:ln w="63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200" b="0">
                <a:latin typeface="맑은 고딕"/>
              </a:defRPr>
            </a:pPr>
            <a:r>
              <a:t>효율성 (Efficiency)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3474720"/>
            <a:ext cx="2926080" cy="502920"/>
          </a:xfrm>
          <a:prstGeom prst="rect">
            <a:avLst/>
          </a:prstGeom>
          <a:noFill/>
          <a:ln w="63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200" b="0">
                <a:latin typeface="맑은 고딕"/>
              </a:defRPr>
            </a:pPr>
            <a:r>
              <a:t>회복력 (Resilience)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023360"/>
            <a:ext cx="2926080" cy="502920"/>
          </a:xfrm>
          <a:prstGeom prst="rect">
            <a:avLst/>
          </a:prstGeom>
          <a:noFill/>
          <a:ln w="63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200" b="0">
                <a:latin typeface="맑은 고딕"/>
              </a:defRPr>
            </a:pPr>
            <a:r>
              <a:t>리스크 관점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4023360"/>
            <a:ext cx="2926080" cy="502920"/>
          </a:xfrm>
          <a:prstGeom prst="rect">
            <a:avLst/>
          </a:prstGeom>
          <a:noFill/>
          <a:ln w="63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200" b="0">
                <a:latin typeface="맑은 고딕"/>
              </a:defRPr>
            </a:pPr>
            <a:r>
              <a:t>리스크 무시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4023360"/>
            <a:ext cx="2926080" cy="502920"/>
          </a:xfrm>
          <a:prstGeom prst="rect">
            <a:avLst/>
          </a:prstGeom>
          <a:noFill/>
          <a:ln w="63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200" b="0">
                <a:latin typeface="맑은 고딕"/>
              </a:defRPr>
            </a:pPr>
            <a:r>
              <a:t>리스크 관리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572000"/>
            <a:ext cx="2926080" cy="502920"/>
          </a:xfrm>
          <a:prstGeom prst="rect">
            <a:avLst/>
          </a:prstGeom>
          <a:noFill/>
          <a:ln w="63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200" b="0">
                <a:latin typeface="맑은 고딕"/>
              </a:defRPr>
            </a:pPr>
            <a:r>
              <a:t>안전재고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4572000"/>
            <a:ext cx="2926080" cy="502920"/>
          </a:xfrm>
          <a:prstGeom prst="rect">
            <a:avLst/>
          </a:prstGeom>
          <a:noFill/>
          <a:ln w="63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200" b="0">
                <a:latin typeface="맑은 고딕"/>
              </a:defRPr>
            </a:pPr>
            <a:r>
              <a:t>최소 (1-2주)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4572000"/>
            <a:ext cx="2926080" cy="502920"/>
          </a:xfrm>
          <a:prstGeom prst="rect">
            <a:avLst/>
          </a:prstGeom>
          <a:noFill/>
          <a:ln w="63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200" b="0">
                <a:latin typeface="맑은 고딕"/>
              </a:defRPr>
            </a:pPr>
            <a:r>
              <a:t>차별화 (1주-6개월)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latin typeface="맑은 고딕"/>
              </a:defRPr>
            </a:pPr>
            <a:r>
              <a:t>JIT의 위기: 2021년 글로벌 반도체 대란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latin typeface="맑은 고딕"/>
              </a:defRPr>
            </a:pPr>
            <a:r>
              <a:t>차량용 반도체 부족으로 자동차 생산 1,000만 대 감소, 산업 전체 손실 $210억 (약 25조 원)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" y="1828800"/>
            <a:ext cx="8686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defRPr sz="1600" b="1">
                <a:latin typeface="맑은 고딕"/>
              </a:defRPr>
            </a:pPr>
            <a:r>
              <a:t>피해 사례</a:t>
            </a:r>
          </a:p>
          <a:p>
            <a:pPr>
              <a:spcBef>
                <a:spcPts val="600"/>
              </a:spcBef>
              <a:defRPr sz="1400" b="0">
                <a:latin typeface="맑은 고딕"/>
              </a:defRPr>
            </a:pPr>
            <a:r>
              <a:t>  • GM, 포드, 폭스바겐 등 수개월간 생산 중단</a:t>
            </a:r>
          </a:p>
          <a:p>
            <a:pPr>
              <a:spcBef>
                <a:spcPts val="600"/>
              </a:spcBef>
              <a:defRPr sz="1400" b="0">
                <a:latin typeface="맑은 고딕"/>
              </a:defRPr>
            </a:pPr>
            <a:r>
              <a:t>  • 2021년 한 해 동안 전 세계 자동차 생산량 약 1,000만 대 감소</a:t>
            </a:r>
          </a:p>
          <a:p>
            <a:pPr>
              <a:spcBef>
                <a:spcPts val="600"/>
              </a:spcBef>
              <a:defRPr sz="1400" b="0">
                <a:latin typeface="맑은 고딕"/>
              </a:defRPr>
            </a:pPr>
            <a:r>
              <a:t>  • 안전재고 Zero → 공급 충격에 즉시 노출</a:t>
            </a:r>
          </a:p>
          <a:p>
            <a:pPr>
              <a:spcBef>
                <a:spcPts val="600"/>
              </a:spcBef>
              <a:defRPr sz="1400" b="0">
                <a:latin typeface="맑은 고딕"/>
              </a:defRPr>
            </a:pPr>
          </a:p>
          <a:p>
            <a:pPr>
              <a:spcBef>
                <a:spcPts val="600"/>
              </a:spcBef>
              <a:defRPr sz="1600" b="1">
                <a:latin typeface="맑은 고딕"/>
              </a:defRPr>
            </a:pPr>
            <a:r>
              <a:t>JIT가 실패한 이유</a:t>
            </a:r>
          </a:p>
          <a:p>
            <a:pPr>
              <a:spcBef>
                <a:spcPts val="600"/>
              </a:spcBef>
              <a:defRPr sz="1400" b="0">
                <a:latin typeface="맑은 고딕"/>
              </a:defRPr>
            </a:pPr>
            <a:r>
              <a:t>  • 팬데믹으로 글로벌 공급망 동시 중단</a:t>
            </a:r>
          </a:p>
          <a:p>
            <a:pPr>
              <a:spcBef>
                <a:spcPts val="600"/>
              </a:spcBef>
              <a:defRPr sz="1400" b="0">
                <a:latin typeface="맑은 고딕"/>
              </a:defRPr>
            </a:pPr>
            <a:r>
              <a:t>  • 리드타임 2-4주 → 3-6개월로 증가</a:t>
            </a:r>
          </a:p>
          <a:p>
            <a:pPr>
              <a:spcBef>
                <a:spcPts val="600"/>
              </a:spcBef>
              <a:defRPr sz="1400" b="0">
                <a:latin typeface="맑은 고딕"/>
              </a:defRPr>
            </a:pPr>
            <a:r>
              <a:t>  • 컨테이너 운임 10배 폭등</a:t>
            </a:r>
          </a:p>
          <a:p>
            <a:pPr>
              <a:spcBef>
                <a:spcPts val="600"/>
              </a:spcBef>
              <a:defRPr sz="1400" b="0">
                <a:latin typeface="맑은 고딕"/>
              </a:defRPr>
            </a:pPr>
          </a:p>
          <a:p>
            <a:pPr>
              <a:spcBef>
                <a:spcPts val="600"/>
              </a:spcBef>
              <a:defRPr sz="1600" b="1">
                <a:latin typeface="맑은 고딕"/>
              </a:defRPr>
            </a:pPr>
            <a:r>
              <a:t>기업들의 대응</a:t>
            </a:r>
          </a:p>
          <a:p>
            <a:pPr>
              <a:spcBef>
                <a:spcPts val="600"/>
              </a:spcBef>
              <a:defRPr sz="1400" b="0">
                <a:latin typeface="맑은 고딕"/>
              </a:defRPr>
            </a:pPr>
            <a:r>
              <a:t>  • Apple: 핵심 부품 안전재고 2주 → 6-8주로 확대</a:t>
            </a:r>
          </a:p>
          <a:p>
            <a:pPr>
              <a:spcBef>
                <a:spcPts val="600"/>
              </a:spcBef>
              <a:defRPr sz="1400" b="0">
                <a:latin typeface="맑은 고딕"/>
              </a:defRPr>
            </a:pPr>
            <a:r>
              <a:t>  • Intel: 핵심 원자재 안전재고 4주 → 12주로 확대</a:t>
            </a:r>
          </a:p>
          <a:p>
            <a:pPr>
              <a:spcBef>
                <a:spcPts val="600"/>
              </a:spcBef>
              <a:defRPr sz="1400" b="0">
                <a:latin typeface="맑은 고딕"/>
              </a:defRPr>
            </a:pPr>
            <a:r>
              <a:t>  • Toyota: 반도체 안전재고 4-6개월치 확보</a:t>
            </a:r>
          </a:p>
          <a:p>
            <a:pPr>
              <a:spcBef>
                <a:spcPts val="600"/>
              </a:spcBef>
              <a:defRPr sz="1400" b="0">
                <a:latin typeface="맑은 고딕"/>
              </a:defRPr>
            </a:pPr>
            <a:r>
              <a:t>  • GM: 전략적 재고에 $70억 투자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latin typeface="맑은 고딕"/>
              </a:defRPr>
            </a:pPr>
            <a:r>
              <a:t>Kraljic Matrix: 자재 포트폴리오 전략의 핵심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latin typeface="맑은 고딕"/>
              </a:defRPr>
            </a:pPr>
            <a:r>
              <a:t>1983년 Peter Kraljic이 Harvard Business Review에 발표한 프레임워크로,</a:t>
            </a:r>
            <a:br/>
            <a:r>
              <a:t>자재를 공급 리스크와 구매 임팩트 2개 축으로 분류하여 차별화된 전략을 수립합니다.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" y="2286000"/>
            <a:ext cx="8686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defRPr sz="1800" b="1">
                <a:latin typeface="맑은 고딕"/>
              </a:defRPr>
            </a:pPr>
            <a:r>
              <a:t>핵심 통찰</a:t>
            </a:r>
          </a:p>
          <a:p>
            <a:pPr>
              <a:spcBef>
                <a:spcPts val="800"/>
              </a:spcBef>
              <a:defRPr sz="1600" b="1">
                <a:latin typeface="맑은 고딕"/>
              </a:defRPr>
            </a:pPr>
            <a:r>
              <a:t>"Not all materials are created equal"</a:t>
            </a:r>
          </a:p>
          <a:p>
            <a:pPr>
              <a:spcBef>
                <a:spcPts val="800"/>
              </a:spcBef>
              <a:defRPr sz="1400" b="0">
                <a:latin typeface="맑은 고딕"/>
              </a:defRPr>
            </a:pPr>
            <a:r>
              <a:t>모든 자재가 동등하게 만들어지지 않았다. 자재의 특성에 따라 차별화된 전략이 필요하다.</a:t>
            </a:r>
          </a:p>
          <a:p>
            <a:pPr>
              <a:spcBef>
                <a:spcPts val="800"/>
              </a:spcBef>
              <a:defRPr sz="1400" b="0">
                <a:latin typeface="맑은 고딕"/>
              </a:defRPr>
            </a:pPr>
          </a:p>
          <a:p>
            <a:pPr>
              <a:spcBef>
                <a:spcPts val="800"/>
              </a:spcBef>
              <a:defRPr sz="1800" b="1">
                <a:latin typeface="맑은 고딕"/>
              </a:defRPr>
            </a:pPr>
            <a:r>
              <a:t>2개 축</a:t>
            </a:r>
          </a:p>
          <a:p>
            <a:pPr>
              <a:spcBef>
                <a:spcPts val="800"/>
              </a:spcBef>
              <a:defRPr sz="1400" b="1">
                <a:latin typeface="맑은 고딕"/>
              </a:defRPr>
            </a:pPr>
            <a:r>
              <a:t>  • Y축: 공급 리스크 (Supply Risk)</a:t>
            </a:r>
          </a:p>
          <a:p>
            <a:pPr>
              <a:spcBef>
                <a:spcPts val="800"/>
              </a:spcBef>
              <a:defRPr sz="1400" b="0">
                <a:latin typeface="맑은 고딕"/>
              </a:defRPr>
            </a:pPr>
            <a:r>
              <a:t>     - 공급업체 수, 대체 가능성, 시장 구조, 지리적 집중도, 리드타임</a:t>
            </a:r>
          </a:p>
          <a:p>
            <a:pPr>
              <a:spcBef>
                <a:spcPts val="800"/>
              </a:spcBef>
              <a:defRPr sz="1400" b="0">
                <a:latin typeface="맑은 고딕"/>
              </a:defRPr>
            </a:pPr>
          </a:p>
          <a:p>
            <a:pPr>
              <a:spcBef>
                <a:spcPts val="800"/>
              </a:spcBef>
              <a:defRPr sz="1400" b="1">
                <a:latin typeface="맑은 고딕"/>
              </a:defRPr>
            </a:pPr>
            <a:r>
              <a:t>  • X축: 구매 임팩트 (Profit Impact)</a:t>
            </a:r>
          </a:p>
          <a:p>
            <a:pPr>
              <a:spcBef>
                <a:spcPts val="800"/>
              </a:spcBef>
              <a:defRPr sz="1400" b="0">
                <a:latin typeface="맑은 고딕"/>
              </a:defRPr>
            </a:pPr>
            <a:r>
              <a:t>     - 구매 금액, 원가 비중, 사업 영향도, 부가가치, 품질 중요성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latin typeface="맑은 고딕"/>
              </a:defRPr>
            </a:pPr>
            <a:r>
              <a:t>Kraljic Matrix: 2×2 자재 분류</a:t>
            </a:r>
          </a:p>
        </p:txBody>
      </p:sp>
      <p:sp>
        <p:nvSpPr>
          <p:cNvPr id="3" name="Rectangle 2"/>
          <p:cNvSpPr/>
          <p:nvPr/>
        </p:nvSpPr>
        <p:spPr>
          <a:xfrm>
            <a:off x="2651760" y="1371600"/>
            <a:ext cx="2240280" cy="224028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274320"/>
          <a:lstStyle/>
          <a:p>
            <a:pPr algn="ctr">
              <a:defRPr sz="1600" b="1">
                <a:latin typeface="맑은 고딕"/>
              </a:defRPr>
            </a:pPr>
            <a:r>
              <a:t>병목자재</a:t>
            </a:r>
            <a:br/>
            <a:r>
              <a:t>(Bottleneck)</a:t>
            </a:r>
          </a:p>
          <a:p>
            <a:br/>
            <a:pPr algn="ctr">
              <a:spcBef>
                <a:spcPts val="1000"/>
              </a:spcBef>
              <a:defRPr sz="1200">
                <a:latin typeface="맑은 고딕"/>
              </a:defRPr>
            </a:pPr>
            <a:r>
              <a:t>높은 공급 리스크</a:t>
            </a:r>
            <a:br/>
            <a:r>
              <a:t>낮은 구매 금액</a:t>
            </a:r>
          </a:p>
        </p:txBody>
      </p:sp>
      <p:sp>
        <p:nvSpPr>
          <p:cNvPr id="4" name="Rectangle 3"/>
          <p:cNvSpPr/>
          <p:nvPr/>
        </p:nvSpPr>
        <p:spPr>
          <a:xfrm>
            <a:off x="4937760" y="1371600"/>
            <a:ext cx="2240280" cy="224028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274320"/>
          <a:lstStyle/>
          <a:p>
            <a:pPr algn="ctr">
              <a:defRPr sz="1600" b="1">
                <a:latin typeface="맑은 고딕"/>
              </a:defRPr>
            </a:pPr>
            <a:r>
              <a:t>전략자재</a:t>
            </a:r>
            <a:br/>
            <a:r>
              <a:t>(Strategic)</a:t>
            </a:r>
          </a:p>
          <a:p>
            <a:br/>
            <a:pPr algn="ctr">
              <a:spcBef>
                <a:spcPts val="1000"/>
              </a:spcBef>
              <a:defRPr sz="1200">
                <a:latin typeface="맑은 고딕"/>
              </a:defRPr>
            </a:pPr>
            <a:r>
              <a:t>높은 공급 리스크</a:t>
            </a:r>
            <a:br/>
            <a:r>
              <a:t>높은 구매 금액</a:t>
            </a:r>
          </a:p>
        </p:txBody>
      </p:sp>
      <p:sp>
        <p:nvSpPr>
          <p:cNvPr id="5" name="Rectangle 4"/>
          <p:cNvSpPr/>
          <p:nvPr/>
        </p:nvSpPr>
        <p:spPr>
          <a:xfrm>
            <a:off x="2651760" y="3657600"/>
            <a:ext cx="2240280" cy="224028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274320"/>
          <a:lstStyle/>
          <a:p>
            <a:pPr algn="ctr">
              <a:defRPr sz="1600" b="1">
                <a:latin typeface="맑은 고딕"/>
              </a:defRPr>
            </a:pPr>
            <a:r>
              <a:t>일상자재</a:t>
            </a:r>
            <a:br/>
            <a:r>
              <a:t>(Routine)</a:t>
            </a:r>
          </a:p>
          <a:p>
            <a:br/>
            <a:pPr algn="ctr">
              <a:spcBef>
                <a:spcPts val="1000"/>
              </a:spcBef>
              <a:defRPr sz="1200">
                <a:latin typeface="맑은 고딕"/>
              </a:defRPr>
            </a:pPr>
            <a:r>
              <a:t>낮은 공급 리스크</a:t>
            </a:r>
            <a:br/>
            <a:r>
              <a:t>낮은 구매 금액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0" y="3657600"/>
            <a:ext cx="2240280" cy="224028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274320"/>
          <a:lstStyle/>
          <a:p>
            <a:pPr algn="ctr">
              <a:defRPr sz="1600" b="1">
                <a:latin typeface="맑은 고딕"/>
              </a:defRPr>
            </a:pPr>
            <a:r>
              <a:t>레버리지자재</a:t>
            </a:r>
            <a:br/>
            <a:r>
              <a:t>(Leverage)</a:t>
            </a:r>
          </a:p>
          <a:p>
            <a:br/>
            <a:pPr algn="ctr">
              <a:spcBef>
                <a:spcPts val="1000"/>
              </a:spcBef>
              <a:defRPr sz="1200">
                <a:latin typeface="맑은 고딕"/>
              </a:defRPr>
            </a:pPr>
            <a:r>
              <a:t>낮은 공급 리스크</a:t>
            </a:r>
            <a:br/>
            <a:r>
              <a:t>높은 구매 금액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00400"/>
            <a:ext cx="1097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latin typeface="맑은 고딕"/>
              </a:defRPr>
            </a:pPr>
            <a:r>
              <a:t>구매 금액</a:t>
            </a:r>
            <a:br/>
            <a:r>
              <a:t>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1264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latin typeface="맑은 고딕"/>
              </a:defRPr>
            </a:pPr>
            <a:r>
              <a:t>공급 리스크 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latin typeface="맑은 고딕"/>
              </a:defRPr>
            </a:pPr>
            <a:r>
              <a:t>4대 자재군: 차별화된 관리 전략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371600"/>
            <a:ext cx="1645920" cy="685800"/>
          </a:xfrm>
          <a:prstGeom prst="rect">
            <a:avLst/>
          </a:prstGeom>
          <a:solidFill>
            <a:srgbClr val="D9D9D9"/>
          </a:solidFill>
          <a:ln w="63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1">
                <a:latin typeface="맑은 고딕"/>
              </a:defRPr>
            </a:pPr>
            <a:r>
              <a:t>자재군</a:t>
            </a:r>
          </a:p>
        </p:txBody>
      </p:sp>
      <p:sp>
        <p:nvSpPr>
          <p:cNvPr id="4" name="Rectangle 3"/>
          <p:cNvSpPr/>
          <p:nvPr/>
        </p:nvSpPr>
        <p:spPr>
          <a:xfrm>
            <a:off x="1920240" y="1371600"/>
            <a:ext cx="1371600" cy="685800"/>
          </a:xfrm>
          <a:prstGeom prst="rect">
            <a:avLst/>
          </a:prstGeom>
          <a:solidFill>
            <a:srgbClr val="D9D9D9"/>
          </a:solidFill>
          <a:ln w="63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1">
                <a:latin typeface="맑은 고딕"/>
              </a:defRPr>
            </a:pPr>
            <a:r>
              <a:t>목표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0" y="1371600"/>
            <a:ext cx="1371600" cy="685800"/>
          </a:xfrm>
          <a:prstGeom prst="rect">
            <a:avLst/>
          </a:prstGeom>
          <a:solidFill>
            <a:srgbClr val="D9D9D9"/>
          </a:solidFill>
          <a:ln w="63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1">
                <a:latin typeface="맑은 고딕"/>
              </a:defRPr>
            </a:pPr>
            <a:r>
              <a:t>계획 방법</a:t>
            </a:r>
          </a:p>
        </p:txBody>
      </p:sp>
      <p:sp>
        <p:nvSpPr>
          <p:cNvPr id="6" name="Rectangle 5"/>
          <p:cNvSpPr/>
          <p:nvPr/>
        </p:nvSpPr>
        <p:spPr>
          <a:xfrm>
            <a:off x="4663440" y="1371600"/>
            <a:ext cx="1645920" cy="685800"/>
          </a:xfrm>
          <a:prstGeom prst="rect">
            <a:avLst/>
          </a:prstGeom>
          <a:solidFill>
            <a:srgbClr val="D9D9D9"/>
          </a:solidFill>
          <a:ln w="63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1">
                <a:latin typeface="맑은 고딕"/>
              </a:defRPr>
            </a:pPr>
            <a:r>
              <a:t>안전재고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59" y="1371600"/>
            <a:ext cx="3200400" cy="685800"/>
          </a:xfrm>
          <a:prstGeom prst="rect">
            <a:avLst/>
          </a:prstGeom>
          <a:solidFill>
            <a:srgbClr val="D9D9D9"/>
          </a:solidFill>
          <a:ln w="63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1">
                <a:latin typeface="맑은 고딕"/>
              </a:defRPr>
            </a:pPr>
            <a:r>
              <a:t>주요 전략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03120"/>
            <a:ext cx="1645920" cy="685800"/>
          </a:xfrm>
          <a:prstGeom prst="rect">
            <a:avLst/>
          </a:prstGeom>
          <a:noFill/>
          <a:ln w="63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100" b="1">
                <a:latin typeface="맑은 고딕"/>
              </a:defRPr>
            </a:pPr>
            <a:r>
              <a:t>병목자재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0240" y="2103120"/>
            <a:ext cx="1371600" cy="685800"/>
          </a:xfrm>
          <a:prstGeom prst="rect">
            <a:avLst/>
          </a:prstGeom>
          <a:noFill/>
          <a:ln w="63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100" b="0">
                <a:latin typeface="맑은 고딕"/>
              </a:defRPr>
            </a:pPr>
            <a:r>
              <a:t>공급 확보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2103120"/>
            <a:ext cx="1371600" cy="685800"/>
          </a:xfrm>
          <a:prstGeom prst="rect">
            <a:avLst/>
          </a:prstGeom>
          <a:noFill/>
          <a:ln w="63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100" b="0">
                <a:latin typeface="맑은 고딕"/>
              </a:defRPr>
            </a:pPr>
            <a:r>
              <a:t>ROP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2103120"/>
            <a:ext cx="1645920" cy="685800"/>
          </a:xfrm>
          <a:prstGeom prst="rect">
            <a:avLst/>
          </a:prstGeom>
          <a:noFill/>
          <a:ln w="63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100" b="0">
                <a:latin typeface="맑은 고딕"/>
              </a:defRPr>
            </a:pPr>
            <a:r>
              <a:t>4-8주 (높음)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59" y="2103120"/>
            <a:ext cx="3200400" cy="685800"/>
          </a:xfrm>
          <a:prstGeom prst="rect">
            <a:avLst/>
          </a:prstGeom>
          <a:noFill/>
          <a:ln w="63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100" b="0">
                <a:latin typeface="맑은 고딕"/>
              </a:defRPr>
            </a:pPr>
            <a:r>
              <a:t>Dual Sourcing, 높은 서비스 수준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834640"/>
            <a:ext cx="1645920" cy="685800"/>
          </a:xfrm>
          <a:prstGeom prst="rect">
            <a:avLst/>
          </a:prstGeom>
          <a:noFill/>
          <a:ln w="63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100" b="1">
                <a:latin typeface="맑은 고딕"/>
              </a:defRPr>
            </a:pPr>
            <a:r>
              <a:t>레버리지자재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20240" y="2834640"/>
            <a:ext cx="1371600" cy="685800"/>
          </a:xfrm>
          <a:prstGeom prst="rect">
            <a:avLst/>
          </a:prstGeom>
          <a:noFill/>
          <a:ln w="63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100" b="0">
                <a:latin typeface="맑은 고딕"/>
              </a:defRPr>
            </a:pPr>
            <a:r>
              <a:t>원가 절감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2834640"/>
            <a:ext cx="1371600" cy="685800"/>
          </a:xfrm>
          <a:prstGeom prst="rect">
            <a:avLst/>
          </a:prstGeom>
          <a:noFill/>
          <a:ln w="63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100" b="0">
                <a:latin typeface="맑은 고딕"/>
              </a:defRPr>
            </a:pPr>
            <a:r>
              <a:t>MRP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2834640"/>
            <a:ext cx="1645920" cy="685800"/>
          </a:xfrm>
          <a:prstGeom prst="rect">
            <a:avLst/>
          </a:prstGeom>
          <a:noFill/>
          <a:ln w="63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100" b="0">
                <a:latin typeface="맑은 고딕"/>
              </a:defRPr>
            </a:pPr>
            <a:r>
              <a:t>1-2주 (낮음)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59" y="2834640"/>
            <a:ext cx="3200400" cy="685800"/>
          </a:xfrm>
          <a:prstGeom prst="rect">
            <a:avLst/>
          </a:prstGeom>
          <a:noFill/>
          <a:ln w="63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100" b="0">
                <a:latin typeface="맑은 고딕"/>
              </a:defRPr>
            </a:pPr>
            <a:r>
              <a:t>경쟁 입찰, 볼륨 레버리지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566160"/>
            <a:ext cx="1645920" cy="685800"/>
          </a:xfrm>
          <a:prstGeom prst="rect">
            <a:avLst/>
          </a:prstGeom>
          <a:noFill/>
          <a:ln w="63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100" b="1">
                <a:latin typeface="맑은 고딕"/>
              </a:defRPr>
            </a:pPr>
            <a:r>
              <a:t>전략자재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20240" y="3566160"/>
            <a:ext cx="1371600" cy="685800"/>
          </a:xfrm>
          <a:prstGeom prst="rect">
            <a:avLst/>
          </a:prstGeom>
          <a:noFill/>
          <a:ln w="63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100" b="0">
                <a:latin typeface="맑은 고딕"/>
              </a:defRPr>
            </a:pPr>
            <a:r>
              <a:t>파트너십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3566160"/>
            <a:ext cx="1371600" cy="685800"/>
          </a:xfrm>
          <a:prstGeom prst="rect">
            <a:avLst/>
          </a:prstGeom>
          <a:noFill/>
          <a:ln w="63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100" b="0">
                <a:latin typeface="맑은 고딕"/>
              </a:defRPr>
            </a:pPr>
            <a:r>
              <a:t>하이브리드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3566160"/>
            <a:ext cx="1645920" cy="685800"/>
          </a:xfrm>
          <a:prstGeom prst="rect">
            <a:avLst/>
          </a:prstGeom>
          <a:noFill/>
          <a:ln w="63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100" b="0">
                <a:latin typeface="맑은 고딕"/>
              </a:defRPr>
            </a:pPr>
            <a:r>
              <a:t>3-6주 (중상)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59" y="3566160"/>
            <a:ext cx="3200400" cy="685800"/>
          </a:xfrm>
          <a:prstGeom prst="rect">
            <a:avLst/>
          </a:prstGeom>
          <a:noFill/>
          <a:ln w="63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100" b="0">
                <a:latin typeface="맑은 고딕"/>
              </a:defRPr>
            </a:pPr>
            <a:r>
              <a:t>장기 계약, Win-Win 협력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297680"/>
            <a:ext cx="1645920" cy="685800"/>
          </a:xfrm>
          <a:prstGeom prst="rect">
            <a:avLst/>
          </a:prstGeom>
          <a:noFill/>
          <a:ln w="63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100" b="1">
                <a:latin typeface="맑은 고딕"/>
              </a:defRPr>
            </a:pPr>
            <a:r>
              <a:t>일상자재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20240" y="4297680"/>
            <a:ext cx="1371600" cy="685800"/>
          </a:xfrm>
          <a:prstGeom prst="rect">
            <a:avLst/>
          </a:prstGeom>
          <a:noFill/>
          <a:ln w="63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100" b="0">
                <a:latin typeface="맑은 고딕"/>
              </a:defRPr>
            </a:pPr>
            <a:r>
              <a:t>효율화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4297680"/>
            <a:ext cx="1371600" cy="685800"/>
          </a:xfrm>
          <a:prstGeom prst="rect">
            <a:avLst/>
          </a:prstGeom>
          <a:noFill/>
          <a:ln w="63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100" b="0">
                <a:latin typeface="맑은 고딕"/>
              </a:defRPr>
            </a:pPr>
            <a:r>
              <a:t>자동화/VMI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4297680"/>
            <a:ext cx="1645920" cy="685800"/>
          </a:xfrm>
          <a:prstGeom prst="rect">
            <a:avLst/>
          </a:prstGeom>
          <a:noFill/>
          <a:ln w="63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100" b="0">
                <a:latin typeface="맑은 고딕"/>
              </a:defRPr>
            </a:pPr>
            <a:r>
              <a:t>1주 (최소)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59" y="4297680"/>
            <a:ext cx="3200400" cy="685800"/>
          </a:xfrm>
          <a:prstGeom prst="rect">
            <a:avLst/>
          </a:prstGeom>
          <a:noFill/>
          <a:ln w="63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100" b="0">
                <a:latin typeface="맑은 고딕"/>
              </a:defRPr>
            </a:pPr>
            <a:r>
              <a:t>프로세스 간소화, 통합 관리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latin typeface="맑은 고딕"/>
              </a:defRPr>
            </a:pPr>
            <a:r>
              <a:t>자재계획 방법론 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" y="1188720"/>
            <a:ext cx="8686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defRPr sz="1600" b="1">
                <a:latin typeface="맑은 고딕"/>
              </a:defRPr>
            </a:pPr>
            <a:r>
              <a:t>1. ROP (Re-Order Point) - 병목자재</a:t>
            </a:r>
          </a:p>
          <a:p>
            <a:pPr>
              <a:spcBef>
                <a:spcPts val="800"/>
              </a:spcBef>
              <a:defRPr sz="1400" b="0">
                <a:latin typeface="맑은 고딕"/>
              </a:defRPr>
            </a:pPr>
            <a:r>
              <a:t>   • 재고 수준이 기준점 도달 시 자동 발주</a:t>
            </a:r>
          </a:p>
          <a:p>
            <a:pPr>
              <a:spcBef>
                <a:spcPts val="800"/>
              </a:spcBef>
              <a:defRPr sz="1400" b="0">
                <a:latin typeface="맑은 고딕"/>
              </a:defRPr>
            </a:pPr>
            <a:r>
              <a:t>   • 지속 모니터링, 높은 서비스 수준 (95-99%)</a:t>
            </a:r>
          </a:p>
          <a:p>
            <a:pPr>
              <a:spcBef>
                <a:spcPts val="800"/>
              </a:spcBef>
              <a:defRPr sz="1400" b="0">
                <a:latin typeface="맑은 고딕"/>
              </a:defRPr>
            </a:pPr>
          </a:p>
          <a:p>
            <a:pPr>
              <a:spcBef>
                <a:spcPts val="800"/>
              </a:spcBef>
              <a:defRPr sz="1600" b="1">
                <a:latin typeface="맑은 고딕"/>
              </a:defRPr>
            </a:pPr>
            <a:r>
              <a:t>2. MRP (Material Requirements Planning) - 레버리지자재</a:t>
            </a:r>
          </a:p>
          <a:p>
            <a:pPr>
              <a:spcBef>
                <a:spcPts val="800"/>
              </a:spcBef>
              <a:defRPr sz="1400" b="0">
                <a:latin typeface="맑은 고딕"/>
              </a:defRPr>
            </a:pPr>
            <a:r>
              <a:t>   • MPS + BOM 기반 소요량 계산</a:t>
            </a:r>
          </a:p>
          <a:p>
            <a:pPr>
              <a:spcBef>
                <a:spcPts val="800"/>
              </a:spcBef>
              <a:defRPr sz="1400" b="0">
                <a:latin typeface="맑은 고딕"/>
              </a:defRPr>
            </a:pPr>
            <a:r>
              <a:t>   • 계획적 발주, 재고 최적화, Lot Sizing</a:t>
            </a:r>
          </a:p>
          <a:p>
            <a:pPr>
              <a:spcBef>
                <a:spcPts val="800"/>
              </a:spcBef>
              <a:defRPr sz="1400" b="0">
                <a:latin typeface="맑은 고딕"/>
              </a:defRPr>
            </a:pPr>
          </a:p>
          <a:p>
            <a:pPr>
              <a:spcBef>
                <a:spcPts val="800"/>
              </a:spcBef>
              <a:defRPr sz="1600" b="1">
                <a:latin typeface="맑은 고딕"/>
              </a:defRPr>
            </a:pPr>
            <a:r>
              <a:t>3. 하이브리드 계획 (LTP + MRP + ROP) - 전략자재</a:t>
            </a:r>
          </a:p>
          <a:p>
            <a:pPr>
              <a:spcBef>
                <a:spcPts val="800"/>
              </a:spcBef>
              <a:defRPr sz="1400" b="0">
                <a:latin typeface="맑은 고딕"/>
              </a:defRPr>
            </a:pPr>
            <a:r>
              <a:t>   • 장기 계획 (18-24개월) + 중기 계획 (3-6개월) + 실시간 모니터링</a:t>
            </a:r>
          </a:p>
          <a:p>
            <a:pPr>
              <a:spcBef>
                <a:spcPts val="800"/>
              </a:spcBef>
              <a:defRPr sz="1400" b="0">
                <a:latin typeface="맑은 고딕"/>
              </a:defRPr>
            </a:pPr>
            <a:r>
              <a:t>   • Framework Agreement, Capacity 확보, 분기별 총량 계획</a:t>
            </a:r>
          </a:p>
          <a:p>
            <a:pPr>
              <a:spcBef>
                <a:spcPts val="800"/>
              </a:spcBef>
              <a:defRPr sz="1400" b="0">
                <a:latin typeface="맑은 고딕"/>
              </a:defRPr>
            </a:pPr>
          </a:p>
          <a:p>
            <a:pPr>
              <a:spcBef>
                <a:spcPts val="800"/>
              </a:spcBef>
              <a:defRPr sz="1600" b="1">
                <a:latin typeface="맑은 고딕"/>
              </a:defRPr>
            </a:pPr>
            <a:r>
              <a:t>4. 자동화 (Min-Max / VMI) - 일상자재</a:t>
            </a:r>
          </a:p>
          <a:p>
            <a:pPr>
              <a:spcBef>
                <a:spcPts val="800"/>
              </a:spcBef>
              <a:defRPr sz="1400" b="0">
                <a:latin typeface="맑은 고딕"/>
              </a:defRPr>
            </a:pPr>
            <a:r>
              <a:t>   • 최소/최대값 기준 자동 보충</a:t>
            </a:r>
          </a:p>
          <a:p>
            <a:pPr>
              <a:spcBef>
                <a:spcPts val="800"/>
              </a:spcBef>
              <a:defRPr sz="1400" b="0">
                <a:latin typeface="맑은 고딕"/>
              </a:defRPr>
            </a:pPr>
            <a:r>
              <a:t>   • 공급업체 주도 재고 관리 (VMI)</a:t>
            </a:r>
          </a:p>
          <a:p>
            <a:pPr>
              <a:spcBef>
                <a:spcPts val="800"/>
              </a:spcBef>
              <a:defRPr sz="1400" b="0">
                <a:latin typeface="맑은 고딕"/>
              </a:defRPr>
            </a:pPr>
            <a:r>
              <a:t>   • 단순 자동화, 관리 최소화, Zero Touch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latin typeface="맑은 고딕"/>
              </a:defRPr>
            </a:pPr>
            <a:r>
              <a:t>핵심 요약 (Key Takeaways)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" y="1188720"/>
            <a:ext cx="8686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defRPr sz="1800" b="1">
                <a:latin typeface="맑은 고딕"/>
              </a:defRPr>
            </a:pPr>
            <a:r>
              <a:t>1. 패러다임의 전환</a:t>
            </a:r>
          </a:p>
          <a:p>
            <a:pPr>
              <a:spcBef>
                <a:spcPts val="1000"/>
              </a:spcBef>
              <a:defRPr sz="1400" b="0">
                <a:latin typeface="맑은 고딕"/>
              </a:defRPr>
            </a:pPr>
            <a:r>
              <a:t>   • JIT (재고 = 낭비) → JIC (재고 = 전략적 자산)</a:t>
            </a:r>
          </a:p>
          <a:p>
            <a:pPr>
              <a:spcBef>
                <a:spcPts val="1000"/>
              </a:spcBef>
              <a:defRPr sz="1400" b="0">
                <a:latin typeface="맑은 고딕"/>
              </a:defRPr>
            </a:pPr>
            <a:r>
              <a:t>   • 효율성 추구 → 회복력 확보</a:t>
            </a:r>
          </a:p>
          <a:p>
            <a:pPr>
              <a:spcBef>
                <a:spcPts val="1000"/>
              </a:spcBef>
              <a:defRPr sz="1400" b="0">
                <a:latin typeface="맑은 고딕"/>
              </a:defRPr>
            </a:pPr>
            <a:r>
              <a:t>   • 획일적 관리 → 차별화된 전략</a:t>
            </a:r>
          </a:p>
          <a:p>
            <a:pPr>
              <a:spcBef>
                <a:spcPts val="1000"/>
              </a:spcBef>
              <a:defRPr sz="1400">
                <a:latin typeface="맑은 고딕"/>
              </a:defRPr>
            </a:pPr>
          </a:p>
          <a:p>
            <a:pPr>
              <a:spcBef>
                <a:spcPts val="1000"/>
              </a:spcBef>
              <a:defRPr sz="1800" b="1">
                <a:latin typeface="맑은 고딕"/>
              </a:defRPr>
            </a:pPr>
            <a:r>
              <a:t>2. Kraljic Matrix</a:t>
            </a:r>
          </a:p>
          <a:p>
            <a:pPr>
              <a:spcBef>
                <a:spcPts val="1000"/>
              </a:spcBef>
              <a:defRPr sz="1400" b="0">
                <a:latin typeface="맑은 고딕"/>
              </a:defRPr>
            </a:pPr>
            <a:r>
              <a:t>   • 2개 축: 공급 리스크 × 구매 임팩트</a:t>
            </a:r>
          </a:p>
          <a:p>
            <a:pPr>
              <a:spcBef>
                <a:spcPts val="1000"/>
              </a:spcBef>
              <a:defRPr sz="1400" b="0">
                <a:latin typeface="맑은 고딕"/>
              </a:defRPr>
            </a:pPr>
            <a:r>
              <a:t>   • 4개 자재군: 병목 / 레버리지 / 전략 / 일상</a:t>
            </a:r>
          </a:p>
          <a:p>
            <a:pPr>
              <a:spcBef>
                <a:spcPts val="1000"/>
              </a:spcBef>
              <a:defRPr sz="1400" b="0">
                <a:latin typeface="맑은 고딕"/>
              </a:defRPr>
            </a:pPr>
            <a:r>
              <a:t>   • 각 자재군별 차별화된 관리 전략 필요</a:t>
            </a:r>
          </a:p>
          <a:p>
            <a:pPr>
              <a:spcBef>
                <a:spcPts val="1000"/>
              </a:spcBef>
              <a:defRPr sz="1400">
                <a:latin typeface="맑은 고딕"/>
              </a:defRPr>
            </a:pPr>
          </a:p>
          <a:p>
            <a:pPr>
              <a:spcBef>
                <a:spcPts val="1000"/>
              </a:spcBef>
              <a:defRPr sz="1800" b="1">
                <a:latin typeface="맑은 고딕"/>
              </a:defRPr>
            </a:pPr>
            <a:r>
              <a:t>3. 자재계획 방법론</a:t>
            </a:r>
          </a:p>
          <a:p>
            <a:pPr>
              <a:spcBef>
                <a:spcPts val="1000"/>
              </a:spcBef>
              <a:defRPr sz="1400" b="0">
                <a:latin typeface="맑은 고딕"/>
              </a:defRPr>
            </a:pPr>
            <a:r>
              <a:t>   • 병목자재 → ROP (재주문점 발주, 높은 안전재고)</a:t>
            </a:r>
          </a:p>
          <a:p>
            <a:pPr>
              <a:spcBef>
                <a:spcPts val="1000"/>
              </a:spcBef>
              <a:defRPr sz="1400" b="0">
                <a:latin typeface="맑은 고딕"/>
              </a:defRPr>
            </a:pPr>
            <a:r>
              <a:t>   • 레버리지자재 → MRP (계획 기반, 낮은 재고)</a:t>
            </a:r>
          </a:p>
          <a:p>
            <a:pPr>
              <a:spcBef>
                <a:spcPts val="1000"/>
              </a:spcBef>
              <a:defRPr sz="1400" b="0">
                <a:latin typeface="맑은 고딕"/>
              </a:defRPr>
            </a:pPr>
            <a:r>
              <a:t>   • 전략자재 → 하이브리드 (장기 + 중기 + 단기 통합)</a:t>
            </a:r>
          </a:p>
          <a:p>
            <a:pPr>
              <a:spcBef>
                <a:spcPts val="1000"/>
              </a:spcBef>
              <a:defRPr sz="1400" b="0">
                <a:latin typeface="맑은 고딕"/>
              </a:defRPr>
            </a:pPr>
            <a:r>
              <a:t>   • 일상자재 → 자동화 (Min-Max, VMI)</a:t>
            </a:r>
          </a:p>
          <a:p>
            <a:pPr>
              <a:spcBef>
                <a:spcPts val="1000"/>
              </a:spcBef>
              <a:defRPr sz="1400">
                <a:latin typeface="맑은 고딕"/>
              </a:defRPr>
            </a:pPr>
          </a:p>
          <a:p>
            <a:pPr>
              <a:spcBef>
                <a:spcPts val="1000"/>
              </a:spcBef>
              <a:defRPr sz="1800" b="1">
                <a:latin typeface="맑은 고딕"/>
              </a:defRPr>
            </a:pPr>
            <a:r>
              <a:t>다음 회차 예고: [2회차] 자재군별 소싱 전략 및 공급업체 관계 관리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
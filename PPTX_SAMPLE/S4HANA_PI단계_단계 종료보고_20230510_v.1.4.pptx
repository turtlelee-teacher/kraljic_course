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4"/>
  </p:sldMasterIdLst>
  <p:notesMasterIdLst>
    <p:notesMasterId r:id="rId40"/>
  </p:notesMasterIdLst>
  <p:sldIdLst>
    <p:sldId id="2145710353" r:id="rId5"/>
    <p:sldId id="1221" r:id="rId6"/>
    <p:sldId id="2145710543" r:id="rId7"/>
    <p:sldId id="2145710380" r:id="rId8"/>
    <p:sldId id="2145710544" r:id="rId9"/>
    <p:sldId id="2145710598" r:id="rId10"/>
    <p:sldId id="2145710566" r:id="rId11"/>
    <p:sldId id="2145710599" r:id="rId12"/>
    <p:sldId id="2145710546" r:id="rId13"/>
    <p:sldId id="2145710465" r:id="rId14"/>
    <p:sldId id="2145710588" r:id="rId15"/>
    <p:sldId id="2145710589" r:id="rId16"/>
    <p:sldId id="2145710590" r:id="rId17"/>
    <p:sldId id="2145710591" r:id="rId18"/>
    <p:sldId id="2145710592" r:id="rId19"/>
    <p:sldId id="2145710593" r:id="rId20"/>
    <p:sldId id="2145710594" r:id="rId21"/>
    <p:sldId id="2145710549" r:id="rId22"/>
    <p:sldId id="2145710550" r:id="rId23"/>
    <p:sldId id="2145710551" r:id="rId24"/>
    <p:sldId id="2145710552" r:id="rId25"/>
    <p:sldId id="2145710556" r:id="rId26"/>
    <p:sldId id="2145710557" r:id="rId27"/>
    <p:sldId id="2145710586" r:id="rId28"/>
    <p:sldId id="2145710587" r:id="rId29"/>
    <p:sldId id="2145710597" r:id="rId30"/>
    <p:sldId id="2145710559" r:id="rId31"/>
    <p:sldId id="2145710561" r:id="rId32"/>
    <p:sldId id="2145710613" r:id="rId33"/>
    <p:sldId id="2145710621" r:id="rId34"/>
    <p:sldId id="2145710632" r:id="rId35"/>
    <p:sldId id="2145710623" r:id="rId36"/>
    <p:sldId id="2145710624" r:id="rId37"/>
    <p:sldId id="2145710633" r:id="rId38"/>
    <p:sldId id="1230" r:id="rId39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165" userDrawn="1">
          <p15:clr>
            <a:srgbClr val="A4A3A4"/>
          </p15:clr>
        </p15:guide>
        <p15:guide id="7" pos="4617" userDrawn="1">
          <p15:clr>
            <a:srgbClr val="A4A3A4"/>
          </p15:clr>
        </p15:guide>
        <p15:guide id="8" pos="1578" userDrawn="1">
          <p15:clr>
            <a:srgbClr val="A4A3A4"/>
          </p15:clr>
        </p15:guide>
        <p15:guide id="9" pos="6068" userDrawn="1">
          <p15:clr>
            <a:srgbClr val="A4A3A4"/>
          </p15:clr>
        </p15:guide>
        <p15:guide id="10" orient="horz" pos="3952" userDrawn="1">
          <p15:clr>
            <a:srgbClr val="A4A3A4"/>
          </p15:clr>
        </p15:guide>
        <p15:guide id="11" orient="horz" pos="4042" userDrawn="1">
          <p15:clr>
            <a:srgbClr val="A4A3A4"/>
          </p15:clr>
        </p15:guide>
        <p15:guide id="12" pos="172" userDrawn="1">
          <p15:clr>
            <a:srgbClr val="A4A3A4"/>
          </p15:clr>
        </p15:guide>
        <p15:guide id="13" orient="horz" pos="232" userDrawn="1">
          <p15:clr>
            <a:srgbClr val="A4A3A4"/>
          </p15:clr>
        </p15:guide>
        <p15:guide id="14" orient="horz" pos="391" userDrawn="1">
          <p15:clr>
            <a:srgbClr val="A4A3A4"/>
          </p15:clr>
        </p15:guide>
        <p15:guide id="15" pos="4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828282"/>
    <a:srgbClr val="FFFFFF"/>
    <a:srgbClr val="171717"/>
    <a:srgbClr val="D06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2" autoAdjust="0"/>
    <p:restoredTop sz="94947" autoAdjust="0"/>
  </p:normalViewPr>
  <p:slideViewPr>
    <p:cSldViewPr snapToGrid="0">
      <p:cViewPr varScale="1">
        <p:scale>
          <a:sx n="80" d="100"/>
          <a:sy n="80" d="100"/>
        </p:scale>
        <p:origin x="1522" y="67"/>
      </p:cViewPr>
      <p:guideLst>
        <p:guide orient="horz" pos="1956"/>
        <p:guide pos="3165"/>
        <p:guide pos="4617"/>
        <p:guide pos="1578"/>
        <p:guide pos="6068"/>
        <p:guide orient="horz" pos="3952"/>
        <p:guide orient="horz" pos="4042"/>
        <p:guide pos="172"/>
        <p:guide orient="horz" pos="232"/>
        <p:guide orient="horz" pos="391"/>
        <p:guide pos="4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0"/>
            <a:ext cx="2945659" cy="496332"/>
          </a:xfrm>
          <a:prstGeom prst="rect">
            <a:avLst/>
          </a:prstGeom>
        </p:spPr>
        <p:txBody>
          <a:bodyPr vert="horz" lIns="92043" tIns="46024" rIns="92043" bIns="4602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9" y="0"/>
            <a:ext cx="2945659" cy="496332"/>
          </a:xfrm>
          <a:prstGeom prst="rect">
            <a:avLst/>
          </a:prstGeom>
        </p:spPr>
        <p:txBody>
          <a:bodyPr vert="horz" lIns="92043" tIns="46024" rIns="92043" bIns="46024" rtlCol="0"/>
          <a:lstStyle>
            <a:lvl1pPr algn="r">
              <a:defRPr sz="1200"/>
            </a:lvl1pPr>
          </a:lstStyle>
          <a:p>
            <a:fld id="{B1B50DA2-FDB6-4AFC-A3B8-EF617D114300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43" tIns="46024" rIns="92043" bIns="460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61"/>
            <a:ext cx="5438140" cy="4466987"/>
          </a:xfrm>
          <a:prstGeom prst="rect">
            <a:avLst/>
          </a:prstGeom>
        </p:spPr>
        <p:txBody>
          <a:bodyPr vert="horz" lIns="92043" tIns="46024" rIns="92043" bIns="46024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8" y="9428584"/>
            <a:ext cx="2945659" cy="496332"/>
          </a:xfrm>
          <a:prstGeom prst="rect">
            <a:avLst/>
          </a:prstGeom>
        </p:spPr>
        <p:txBody>
          <a:bodyPr vert="horz" lIns="92043" tIns="46024" rIns="92043" bIns="4602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9" y="9428584"/>
            <a:ext cx="2945659" cy="496332"/>
          </a:xfrm>
          <a:prstGeom prst="rect">
            <a:avLst/>
          </a:prstGeom>
        </p:spPr>
        <p:txBody>
          <a:bodyPr vert="horz" lIns="92043" tIns="46024" rIns="92043" bIns="46024" rtlCol="0" anchor="b"/>
          <a:lstStyle>
            <a:lvl1pPr algn="r">
              <a:defRPr sz="1200"/>
            </a:lvl1pPr>
          </a:lstStyle>
          <a:p>
            <a:fld id="{08D84E72-F4C6-4E13-8BB8-A43DBEFE31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24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Title Slide All Grey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2979" latinLnBrk="1">
              <a:defRPr/>
            </a:pPr>
            <a:fld id="{20CA530D-631F-4981-98F0-E6C07C67E1A3}" type="slidenum">
              <a:rPr lang="en-US" altLang="ko-KR">
                <a:solidFill>
                  <a:srgbClr val="000000"/>
                </a:solidFill>
                <a:latin typeface="Arial"/>
              </a:rPr>
              <a:pPr defTabSz="912979" latinLnBrk="1">
                <a:defRPr/>
              </a:pPr>
              <a:t>1</a:t>
            </a:fld>
            <a:endParaRPr lang="ko-KR" alt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77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2950"/>
            <a:ext cx="5378450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84E72-F4C6-4E13-8BB8-A43DBEFE315A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533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2950"/>
            <a:ext cx="5378450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84E72-F4C6-4E13-8BB8-A43DBEFE315A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670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2950"/>
            <a:ext cx="5378450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84E72-F4C6-4E13-8BB8-A43DBEFE315A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628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2950"/>
            <a:ext cx="5378450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84E72-F4C6-4E13-8BB8-A43DBEFE315A}" type="slidenum">
              <a:rPr lang="ko-KR" altLang="en-US" smtClean="0">
                <a:solidFill>
                  <a:prstClr val="black"/>
                </a:solidFill>
              </a:rPr>
              <a:pPr/>
              <a:t>18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194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2950"/>
            <a:ext cx="5378450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84E72-F4C6-4E13-8BB8-A43DBEFE315A}" type="slidenum">
              <a:rPr lang="ko-KR" altLang="en-US" smtClean="0">
                <a:solidFill>
                  <a:prstClr val="black"/>
                </a:solidFill>
              </a:rPr>
              <a:pPr/>
              <a:t>28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23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14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1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34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88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4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12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29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5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63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962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2023-05-11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직선 연결선 7"/>
          <p:cNvCxnSpPr>
            <a:cxnSpLocks/>
          </p:cNvCxnSpPr>
          <p:nvPr userDrawn="1"/>
        </p:nvCxnSpPr>
        <p:spPr bwMode="auto">
          <a:xfrm>
            <a:off x="319533" y="836712"/>
            <a:ext cx="9283031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Picture 2" descr="주)영원무역 2023년 기업정보 | 사원수 280명, 근무환경, 복리후생 등 기업정보 제공 - 사람인">
            <a:extLst>
              <a:ext uri="{FF2B5EF4-FFF2-40B4-BE49-F238E27FC236}">
                <a16:creationId xmlns:a16="http://schemas.microsoft.com/office/drawing/2014/main" id="{1797A536-777B-4BA5-AF78-70CAC28009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52" b="33767"/>
          <a:stretch/>
        </p:blipFill>
        <p:spPr bwMode="auto">
          <a:xfrm>
            <a:off x="8159955" y="6526294"/>
            <a:ext cx="1442609" cy="28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F466F6E-6C51-48A3-ABB8-F43136E88F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3" y="6593437"/>
            <a:ext cx="2289573" cy="15374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D759DF-CA77-4B1D-838F-E7C38D14DEB6}"/>
              </a:ext>
            </a:extLst>
          </p:cNvPr>
          <p:cNvSpPr/>
          <p:nvPr userDrawn="1"/>
        </p:nvSpPr>
        <p:spPr>
          <a:xfrm>
            <a:off x="-3313" y="380036"/>
            <a:ext cx="275794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477978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6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B0DE54F-C70B-4B83-855E-487674A702A3}"/>
              </a:ext>
            </a:extLst>
          </p:cNvPr>
          <p:cNvSpPr/>
          <p:nvPr userDrawn="1"/>
        </p:nvSpPr>
        <p:spPr>
          <a:xfrm>
            <a:off x="0" y="5013176"/>
            <a:ext cx="9906000" cy="18448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0" y="0"/>
            <a:ext cx="9906000" cy="311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Char char="Ø"/>
              <a:tabLst/>
            </a:pPr>
            <a:endParaRPr kumimoji="0" lang="ko-KR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8" name="Picture 2" descr="주)영원무역 2023년 기업정보 | 사원수 280명, 근무환경, 복리후생 등 기업정보 제공 - 사람인">
            <a:extLst>
              <a:ext uri="{FF2B5EF4-FFF2-40B4-BE49-F238E27FC236}">
                <a16:creationId xmlns:a16="http://schemas.microsoft.com/office/drawing/2014/main" id="{01C18510-B8FB-4814-8F5A-0C2A1E08748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52" b="33767"/>
          <a:stretch/>
        </p:blipFill>
        <p:spPr bwMode="auto">
          <a:xfrm>
            <a:off x="8159955" y="476673"/>
            <a:ext cx="1442609" cy="28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471F2E9-EBCA-4B73-A96A-3F146E2074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3" y="543816"/>
            <a:ext cx="2289573" cy="15374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9D2BF8-476F-4651-8C92-479C0444087D}"/>
              </a:ext>
            </a:extLst>
          </p:cNvPr>
          <p:cNvSpPr/>
          <p:nvPr userDrawn="1"/>
        </p:nvSpPr>
        <p:spPr>
          <a:xfrm>
            <a:off x="0" y="4869160"/>
            <a:ext cx="9906000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31809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 bwMode="auto">
          <a:xfrm>
            <a:off x="319533" y="836712"/>
            <a:ext cx="9283031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" name="Picture 2" descr="주)영원무역 2023년 기업정보 | 사원수 280명, 근무환경, 복리후생 등 기업정보 제공 - 사람인">
            <a:extLst>
              <a:ext uri="{FF2B5EF4-FFF2-40B4-BE49-F238E27FC236}">
                <a16:creationId xmlns:a16="http://schemas.microsoft.com/office/drawing/2014/main" id="{15CA673D-F22E-4EDC-B1EF-AF135D71373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52" b="33767"/>
          <a:stretch/>
        </p:blipFill>
        <p:spPr bwMode="auto">
          <a:xfrm>
            <a:off x="8159955" y="6526294"/>
            <a:ext cx="1442609" cy="28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F1179A1-C523-435A-AAB0-76FEDB833C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14" y="6593437"/>
            <a:ext cx="2289573" cy="15374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47CD65-B6E9-40CD-B677-FCAD8F0058E6}"/>
              </a:ext>
            </a:extLst>
          </p:cNvPr>
          <p:cNvSpPr/>
          <p:nvPr userDrawn="1"/>
        </p:nvSpPr>
        <p:spPr>
          <a:xfrm>
            <a:off x="-3313" y="380036"/>
            <a:ext cx="275794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All Grey" userDrawn="1">
  <p:cSld name="Title Slide All Grey">
    <p:bg>
      <p:bgPr>
        <a:solidFill>
          <a:srgbClr val="464646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925" y="5550664"/>
            <a:ext cx="1126800" cy="854677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15925" y="765175"/>
            <a:ext cx="6192837" cy="2339637"/>
          </a:xfrm>
        </p:spPr>
        <p:txBody>
          <a:bodyPr anchor="b" anchorCtr="0">
            <a:normAutofit/>
          </a:bodyPr>
          <a:lstStyle>
            <a:lvl1pPr algn="l" latinLnBrk="0"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0BB2B18-6E64-DC4A-839C-64D89383DB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5925" y="3703320"/>
            <a:ext cx="6192838" cy="59436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458" y="6114000"/>
            <a:ext cx="2680589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11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>
            <a:cxnSpLocks/>
          </p:cNvCxnSpPr>
          <p:nvPr userDrawn="1"/>
        </p:nvCxnSpPr>
        <p:spPr bwMode="auto">
          <a:xfrm>
            <a:off x="273000" y="836712"/>
            <a:ext cx="9360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Picture 2" descr="주)영원무역 2023년 기업정보 | 사원수 280명, 근무환경, 복리후생 등 기업정보 제공 - 사람인">
            <a:extLst>
              <a:ext uri="{FF2B5EF4-FFF2-40B4-BE49-F238E27FC236}">
                <a16:creationId xmlns:a16="http://schemas.microsoft.com/office/drawing/2014/main" id="{1797A536-777B-4BA5-AF78-70CAC28009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52" b="33767"/>
          <a:stretch/>
        </p:blipFill>
        <p:spPr bwMode="auto">
          <a:xfrm>
            <a:off x="8159955" y="6526294"/>
            <a:ext cx="1442609" cy="28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F466F6E-6C51-48A3-ABB8-F43136E88F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3" y="6593437"/>
            <a:ext cx="2289573" cy="15374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D759DF-CA77-4B1D-838F-E7C38D14DEB6}"/>
              </a:ext>
            </a:extLst>
          </p:cNvPr>
          <p:cNvSpPr/>
          <p:nvPr userDrawn="1"/>
        </p:nvSpPr>
        <p:spPr>
          <a:xfrm>
            <a:off x="-3313" y="380036"/>
            <a:ext cx="275794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4661C5B2-4291-46F7-9042-3A5063C8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&lt;#&gt;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853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B959E-5626-4366-AFED-F9A52B74A46A}" type="datetimeFigureOut">
              <a:rPr lang="ko-KR" altLang="en-US" smtClean="0"/>
              <a:pPr/>
              <a:t>2023-05-11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98D3B-30EE-458A-AE4A-3A7A7E6BEB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82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2" r:id="rId12"/>
    <p:sldLayoutId id="2147483893" r:id="rId13"/>
    <p:sldLayoutId id="2147483649" r:id="rId14"/>
    <p:sldLayoutId id="2147483894" r:id="rId15"/>
    <p:sldLayoutId id="2147483895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DE94748-379E-4C02-BAAB-3B30583FC3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43" r="11413"/>
          <a:stretch/>
        </p:blipFill>
        <p:spPr>
          <a:xfrm>
            <a:off x="3178678" y="-3533"/>
            <a:ext cx="6721689" cy="4057231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2A635787-3C3C-4119-9D0D-A35CD88DDEF0}"/>
              </a:ext>
            </a:extLst>
          </p:cNvPr>
          <p:cNvGrpSpPr/>
          <p:nvPr/>
        </p:nvGrpSpPr>
        <p:grpSpPr>
          <a:xfrm>
            <a:off x="0" y="0"/>
            <a:ext cx="8186656" cy="6858001"/>
            <a:chOff x="0" y="2"/>
            <a:chExt cx="7242708" cy="6858001"/>
          </a:xfrm>
          <a:solidFill>
            <a:srgbClr val="464646"/>
          </a:solidFill>
        </p:grpSpPr>
        <p:sp>
          <p:nvSpPr>
            <p:cNvPr id="14" name="Google Shape;101;p15">
              <a:extLst>
                <a:ext uri="{FF2B5EF4-FFF2-40B4-BE49-F238E27FC236}">
                  <a16:creationId xmlns:a16="http://schemas.microsoft.com/office/drawing/2014/main" id="{A1B92D9C-C779-489D-BF0C-CC9E9B003C68}"/>
                </a:ext>
              </a:extLst>
            </p:cNvPr>
            <p:cNvSpPr/>
            <p:nvPr/>
          </p:nvSpPr>
          <p:spPr>
            <a:xfrm>
              <a:off x="0" y="2"/>
              <a:ext cx="7242708" cy="6858001"/>
            </a:xfrm>
            <a:custGeom>
              <a:avLst/>
              <a:gdLst/>
              <a:ahLst/>
              <a:cxnLst/>
              <a:rect l="l" t="t" r="r" b="b"/>
              <a:pathLst>
                <a:path w="8914102" h="6858001" extrusionOk="0">
                  <a:moveTo>
                    <a:pt x="1260764" y="0"/>
                  </a:moveTo>
                  <a:lnTo>
                    <a:pt x="5169189" y="0"/>
                  </a:lnTo>
                  <a:lnTo>
                    <a:pt x="5169189" y="765175"/>
                  </a:lnTo>
                  <a:lnTo>
                    <a:pt x="5937540" y="765175"/>
                  </a:lnTo>
                  <a:lnTo>
                    <a:pt x="5937540" y="1957388"/>
                  </a:lnTo>
                  <a:lnTo>
                    <a:pt x="7920327" y="1957388"/>
                  </a:lnTo>
                  <a:lnTo>
                    <a:pt x="7920327" y="4899025"/>
                  </a:lnTo>
                  <a:lnTo>
                    <a:pt x="8914102" y="4899025"/>
                  </a:lnTo>
                  <a:lnTo>
                    <a:pt x="8914102" y="6858000"/>
                  </a:lnTo>
                  <a:lnTo>
                    <a:pt x="7920327" y="6858000"/>
                  </a:lnTo>
                  <a:lnTo>
                    <a:pt x="5937540" y="6858000"/>
                  </a:lnTo>
                  <a:lnTo>
                    <a:pt x="5169189" y="6858000"/>
                  </a:lnTo>
                  <a:lnTo>
                    <a:pt x="3705515" y="6858000"/>
                  </a:lnTo>
                  <a:lnTo>
                    <a:pt x="1260764" y="6858000"/>
                  </a:lnTo>
                  <a:lnTo>
                    <a:pt x="1260764" y="6858001"/>
                  </a:lnTo>
                  <a:lnTo>
                    <a:pt x="0" y="6858001"/>
                  </a:lnTo>
                  <a:lnTo>
                    <a:pt x="0" y="1"/>
                  </a:lnTo>
                  <a:lnTo>
                    <a:pt x="12607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6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1D259F9-277A-4DB2-83B9-843991D07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5925" y="5550664"/>
              <a:ext cx="1126800" cy="854677"/>
            </a:xfrm>
            <a:prstGeom prst="rect">
              <a:avLst/>
            </a:prstGeom>
            <a:grpFill/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C1959A8-F28C-4CF8-BD13-D81247E32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6458" y="6114000"/>
              <a:ext cx="2680589" cy="180000"/>
            </a:xfrm>
            <a:prstGeom prst="rect">
              <a:avLst/>
            </a:prstGeom>
            <a:grpFill/>
          </p:spPr>
        </p:pic>
      </p:grp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415925" y="1408663"/>
            <a:ext cx="6192837" cy="2339637"/>
          </a:xfrm>
          <a:noFill/>
        </p:spPr>
        <p:txBody>
          <a:bodyPr>
            <a:normAutofit fontScale="90000"/>
          </a:bodyPr>
          <a:lstStyle/>
          <a:p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영원무역</a:t>
            </a:r>
            <a:b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SAP S/4HANA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차세대 글로벌 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ERP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구축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15925" y="4346808"/>
            <a:ext cx="6192838" cy="594360"/>
          </a:xfrm>
        </p:spPr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2023.05.</a:t>
            </a:r>
          </a:p>
        </p:txBody>
      </p:sp>
      <p:sp>
        <p:nvSpPr>
          <p:cNvPr id="4" name="Google Shape;56;p1">
            <a:extLst>
              <a:ext uri="{FF2B5EF4-FFF2-40B4-BE49-F238E27FC236}">
                <a16:creationId xmlns:a16="http://schemas.microsoft.com/office/drawing/2014/main" id="{6D7BF893-459A-4EA4-9243-3CE23317EB01}"/>
              </a:ext>
            </a:extLst>
          </p:cNvPr>
          <p:cNvSpPr txBox="1"/>
          <p:nvPr/>
        </p:nvSpPr>
        <p:spPr>
          <a:xfrm>
            <a:off x="415925" y="3798168"/>
            <a:ext cx="49545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Arial"/>
                <a:cs typeface="Arial"/>
                <a:sym typeface="Arial"/>
              </a:rPr>
              <a:t> - PI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Arial"/>
                <a:cs typeface="Arial"/>
                <a:sym typeface="Arial"/>
              </a:rPr>
              <a:t>단계 종료 보고</a:t>
            </a:r>
            <a:r>
              <a:rPr lang="ko-KR" altLang="en-US" b="1" noProof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b="1" noProof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-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42125A-8DB5-4C67-BC6E-6C098D0E3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" y="5271686"/>
            <a:ext cx="8077200" cy="139767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19D03AA-E7D0-4E65-B810-DA15C416006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925" y="5550664"/>
            <a:ext cx="1126800" cy="8546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B6A0CBC-B59C-4FE6-8ED0-A783FD320E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458" y="6114000"/>
            <a:ext cx="2680589" cy="180000"/>
          </a:xfrm>
          <a:prstGeom prst="rect">
            <a:avLst/>
          </a:prstGeom>
        </p:spPr>
      </p:pic>
      <p:pic>
        <p:nvPicPr>
          <p:cNvPr id="19" name="Picture 2" descr="영원무역">
            <a:extLst>
              <a:ext uri="{FF2B5EF4-FFF2-40B4-BE49-F238E27FC236}">
                <a16:creationId xmlns:a16="http://schemas.microsoft.com/office/drawing/2014/main" id="{5BEC973B-9052-46EF-82A4-4BA6F64DE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57" b="36903"/>
          <a:stretch/>
        </p:blipFill>
        <p:spPr bwMode="auto">
          <a:xfrm>
            <a:off x="7643976" y="3640944"/>
            <a:ext cx="2251841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169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271463" y="291426"/>
            <a:ext cx="5242104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latinLnBrk="0">
              <a:defRPr/>
            </a:pPr>
            <a:r>
              <a:rPr lang="ko-KR" altLang="en-US" sz="2000" b="1" kern="0" spc="-150">
                <a:ln w="1905"/>
                <a:solidFill>
                  <a:prstClr val="black"/>
                </a:solidFill>
              </a:rPr>
              <a:t>금일</a:t>
            </a:r>
            <a:r>
              <a:rPr lang="en-US" altLang="ko-KR" sz="2000" b="1" kern="0" spc="-150">
                <a:ln w="1905"/>
                <a:solidFill>
                  <a:prstClr val="black"/>
                </a:solidFill>
              </a:rPr>
              <a:t> Agenda</a:t>
            </a:r>
            <a:endParaRPr lang="ko-KR" altLang="en-US" sz="2000" b="1" kern="0" spc="-150">
              <a:ln w="1905"/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27E4-C30D-4BED-ADBB-FA1E1B82D042}"/>
              </a:ext>
            </a:extLst>
          </p:cNvPr>
          <p:cNvSpPr txBox="1"/>
          <p:nvPr/>
        </p:nvSpPr>
        <p:spPr>
          <a:xfrm>
            <a:off x="645044" y="1052736"/>
            <a:ext cx="6540204" cy="3918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PI 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단계 추진 경과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영원의 주요 변화 사항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혁신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(PI)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의 이행 계획 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성공적 혁신 이행을 위한 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PwC </a:t>
            </a:r>
            <a:r>
              <a:rPr lang="ko-KR" altLang="en-US" sz="2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제언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06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C4F5677-B1F2-43DD-A896-FA41953FD544}"/>
              </a:ext>
            </a:extLst>
          </p:cNvPr>
          <p:cNvSpPr/>
          <p:nvPr/>
        </p:nvSpPr>
        <p:spPr>
          <a:xfrm>
            <a:off x="645044" y="1395242"/>
            <a:ext cx="5391962" cy="54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271463" y="291426"/>
            <a:ext cx="5242104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latinLnBrk="0">
              <a:defRPr/>
            </a:pPr>
            <a:r>
              <a:rPr lang="ko-KR" altLang="en-US" sz="2000" b="1" kern="0" spc="-150">
                <a:ln w="1905"/>
                <a:solidFill>
                  <a:prstClr val="black"/>
                </a:solidFill>
              </a:rPr>
              <a:t>금일</a:t>
            </a:r>
            <a:r>
              <a:rPr lang="en-US" altLang="ko-KR" sz="2000" b="1" kern="0" spc="-150">
                <a:ln w="1905"/>
                <a:solidFill>
                  <a:prstClr val="black"/>
                </a:solidFill>
              </a:rPr>
              <a:t> Agenda</a:t>
            </a:r>
            <a:endParaRPr lang="ko-KR" altLang="en-US" sz="2000" b="1" kern="0" spc="-150">
              <a:ln w="1905"/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27E4-C30D-4BED-ADBB-FA1E1B82D042}"/>
              </a:ext>
            </a:extLst>
          </p:cNvPr>
          <p:cNvSpPr txBox="1"/>
          <p:nvPr/>
        </p:nvSpPr>
        <p:spPr>
          <a:xfrm>
            <a:off x="645044" y="1052736"/>
            <a:ext cx="65402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PI 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단계 추진 경과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영원의 주요 변화 사항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혁신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(PI)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의 이행 계획 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성공적 혁신 이행을 위한 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PwC </a:t>
            </a:r>
            <a:r>
              <a:rPr lang="ko-KR" altLang="en-US" sz="2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제언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91275" y="1395242"/>
            <a:ext cx="2952750" cy="8050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 smtClean="0">
                <a:solidFill>
                  <a:schemeClr val="tx1"/>
                </a:solidFill>
              </a:rPr>
              <a:t>PI </a:t>
            </a:r>
            <a:r>
              <a:rPr lang="ko-KR" altLang="en-US" sz="1400" dirty="0" smtClean="0">
                <a:solidFill>
                  <a:schemeClr val="tx1"/>
                </a:solidFill>
              </a:rPr>
              <a:t>단계 추진 경과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 smtClean="0">
                <a:solidFill>
                  <a:schemeClr val="tx1"/>
                </a:solidFill>
              </a:rPr>
              <a:t>PI </a:t>
            </a:r>
            <a:r>
              <a:rPr lang="ko-KR" altLang="en-US" sz="1400" dirty="0" smtClean="0">
                <a:solidFill>
                  <a:schemeClr val="tx1"/>
                </a:solidFill>
              </a:rPr>
              <a:t>단계의 주요 산출물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6037006" y="1657350"/>
            <a:ext cx="354269" cy="0"/>
          </a:xfrm>
          <a:prstGeom prst="lin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7005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latin typeface="맑은 고딕"/>
                <a:ea typeface="맑은 고딕"/>
              </a:rPr>
              <a:t>PI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단계 </a:t>
            </a:r>
            <a:r>
              <a:rPr lang="ko-KR" altLang="en-US" sz="2000" b="1" kern="0" spc="-138" dirty="0" smtClean="0">
                <a:ln w="1905"/>
                <a:latin typeface="맑은 고딕"/>
                <a:ea typeface="맑은 고딕"/>
              </a:rPr>
              <a:t>추진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경과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71FEAADE-958E-4F1D-B80F-3CC9E3D79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59" y="927777"/>
            <a:ext cx="9434769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/>
          <a:p>
            <a:pPr>
              <a:defRPr/>
            </a:pP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`</a:t>
            </a:r>
            <a:r>
              <a:rPr lang="en-US" altLang="ko-KR" sz="1600" b="1" kern="0" spc="-150" dirty="0" smtClean="0">
                <a:ln w="1905"/>
                <a:latin typeface="맑은 고딕"/>
                <a:ea typeface="맑은 고딕"/>
              </a:rPr>
              <a:t>23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년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1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월부터 약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5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개월간 </a:t>
            </a:r>
            <a:r>
              <a:rPr lang="ko-KR" altLang="en-US" sz="1600" b="1" kern="0" spc="-150" dirty="0" err="1" smtClean="0">
                <a:ln w="1905"/>
                <a:latin typeface="맑은 고딕"/>
                <a:ea typeface="맑은 고딕"/>
              </a:rPr>
              <a:t>영원무역홀딩스와</a:t>
            </a:r>
            <a:r>
              <a:rPr lang="ko-KR" altLang="en-US" sz="1600" b="1" kern="0" spc="-150" dirty="0" smtClean="0">
                <a:ln w="1905"/>
                <a:latin typeface="맑은 고딕"/>
                <a:ea typeface="맑은 고딕"/>
              </a:rPr>
              <a:t>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영원무역 본사</a:t>
            </a:r>
            <a:r>
              <a:rPr lang="en-US" altLang="ko-KR" sz="1600" b="1" kern="0" spc="-150" dirty="0" smtClean="0">
                <a:ln w="1905"/>
                <a:latin typeface="맑은 고딕"/>
                <a:ea typeface="맑은 고딕"/>
              </a:rPr>
              <a:t>, 10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개 현지법인을 대상으로 업무 혁신의 방향과 이를 위한 중점 추진과제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, To-Be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업무 프로세스를 설계하고 향후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S/4HANA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구축 계획을 상세 수립함</a:t>
            </a:r>
          </a:p>
        </p:txBody>
      </p:sp>
      <p:grpSp>
        <p:nvGrpSpPr>
          <p:cNvPr id="108" name="그룹 107"/>
          <p:cNvGrpSpPr/>
          <p:nvPr/>
        </p:nvGrpSpPr>
        <p:grpSpPr>
          <a:xfrm>
            <a:off x="505328" y="2151700"/>
            <a:ext cx="2258739" cy="1048699"/>
            <a:chOff x="554035" y="2151701"/>
            <a:chExt cx="1819513" cy="980186"/>
          </a:xfrm>
        </p:grpSpPr>
        <p:sp>
          <p:nvSpPr>
            <p:cNvPr id="109" name="오각형 108"/>
            <p:cNvSpPr/>
            <p:nvPr/>
          </p:nvSpPr>
          <p:spPr>
            <a:xfrm rot="5400000">
              <a:off x="973699" y="1732037"/>
              <a:ext cx="980186" cy="1819513"/>
            </a:xfrm>
            <a:prstGeom prst="homePlate">
              <a:avLst>
                <a:gd name="adj" fmla="val 1854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ko-KR" altLang="en-US" sz="14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62318" y="2171578"/>
              <a:ext cx="1002949" cy="30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2000" tIns="36000" rIns="72000" bIns="36000" rtlCol="0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Arial" pitchFamily="34" charset="0"/>
                </a:rPr>
                <a:t>Top-down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576983" y="2475152"/>
              <a:ext cx="1773617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 lang="ko-KR" altLang="en-US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글로벌 운영 모델 고도화 요소와 최근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ERP 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기반의 업무 혁신 트렌드에 따른 혁신 방향 도출 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505328" y="5295776"/>
            <a:ext cx="2258739" cy="980186"/>
            <a:chOff x="554035" y="2151701"/>
            <a:chExt cx="1819513" cy="980186"/>
          </a:xfrm>
        </p:grpSpPr>
        <p:sp>
          <p:nvSpPr>
            <p:cNvPr id="125" name="오각형 124"/>
            <p:cNvSpPr/>
            <p:nvPr/>
          </p:nvSpPr>
          <p:spPr>
            <a:xfrm rot="16200000" flipV="1">
              <a:off x="973699" y="1732037"/>
              <a:ext cx="980186" cy="1819513"/>
            </a:xfrm>
            <a:prstGeom prst="homePlate">
              <a:avLst>
                <a:gd name="adj" fmla="val 1854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ko-KR" altLang="en-US" sz="1400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029774" y="2241151"/>
              <a:ext cx="868042" cy="30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2000" tIns="36000" rIns="72000" bIns="36000" rtlCol="0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Arial" pitchFamily="34" charset="0"/>
                </a:rPr>
                <a:t>Bottom-up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603225" y="2544725"/>
              <a:ext cx="1721134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 lang="ko-KR" altLang="en-US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업무 프로세스 및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ERP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 시스템  지원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/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운영 수준에 대한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/>
              </a:r>
              <a:b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</a:b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/>
                </a:rPr>
                <a:t>현황 및 이슈 파악 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25235" y="3854427"/>
            <a:ext cx="2218937" cy="551848"/>
            <a:chOff x="516907" y="3582341"/>
            <a:chExt cx="2094213" cy="551848"/>
          </a:xfrm>
        </p:grpSpPr>
        <p:sp>
          <p:nvSpPr>
            <p:cNvPr id="134" name="오각형 133"/>
            <p:cNvSpPr/>
            <p:nvPr/>
          </p:nvSpPr>
          <p:spPr>
            <a:xfrm>
              <a:off x="516907" y="3728720"/>
              <a:ext cx="2094213" cy="371857"/>
            </a:xfrm>
            <a:prstGeom prst="homePlate">
              <a:avLst>
                <a:gd name="adj" fmla="val 3889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tIns="108000" bIns="0" rtlCol="0" anchor="ctr"/>
            <a:lstStyle/>
            <a:p>
              <a:pPr algn="ctr">
                <a:lnSpc>
                  <a:spcPct val="90000"/>
                </a:lnSpc>
              </a:pP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>
              <a:off x="516908" y="3582341"/>
              <a:ext cx="2094212" cy="341951"/>
              <a:chOff x="1051880" y="3582340"/>
              <a:chExt cx="1772742" cy="508076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37" name="오각형 136"/>
              <p:cNvSpPr/>
              <p:nvPr/>
            </p:nvSpPr>
            <p:spPr>
              <a:xfrm>
                <a:off x="1051880" y="3582340"/>
                <a:ext cx="375365" cy="508076"/>
              </a:xfrm>
              <a:prstGeom prst="homePlate">
                <a:avLst>
                  <a:gd name="adj" fmla="val 39741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tIns="72000" bIns="72000"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b="1" dirty="0">
                    <a:solidFill>
                      <a:schemeClr val="bg1"/>
                    </a:solidFill>
                  </a:rPr>
                  <a:t>영업</a:t>
                </a:r>
              </a:p>
            </p:txBody>
          </p:sp>
          <p:sp>
            <p:nvSpPr>
              <p:cNvPr id="138" name="갈매기형 수장 137"/>
              <p:cNvSpPr/>
              <p:nvPr/>
            </p:nvSpPr>
            <p:spPr>
              <a:xfrm>
                <a:off x="1360145" y="3582340"/>
                <a:ext cx="416445" cy="508076"/>
              </a:xfrm>
              <a:prstGeom prst="chevron">
                <a:avLst>
                  <a:gd name="adj" fmla="val 34712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tIns="72000" bIns="72000"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b="1" dirty="0">
                    <a:solidFill>
                      <a:schemeClr val="bg1"/>
                    </a:solidFill>
                  </a:rPr>
                  <a:t>구매 </a:t>
                </a:r>
                <a:r>
                  <a:rPr lang="en-US" altLang="ko-KR" sz="1000" b="1" dirty="0">
                    <a:solidFill>
                      <a:schemeClr val="bg1"/>
                    </a:solidFill>
                  </a:rPr>
                  <a:t/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ko-KR" altLang="en-US" sz="1000" b="1" dirty="0">
                    <a:solidFill>
                      <a:schemeClr val="bg1"/>
                    </a:solidFill>
                  </a:rPr>
                  <a:t>재고</a:t>
                </a:r>
              </a:p>
            </p:txBody>
          </p:sp>
          <p:sp>
            <p:nvSpPr>
              <p:cNvPr id="140" name="갈매기형 수장 139"/>
              <p:cNvSpPr/>
              <p:nvPr/>
            </p:nvSpPr>
            <p:spPr>
              <a:xfrm>
                <a:off x="1709490" y="3582340"/>
                <a:ext cx="416445" cy="508076"/>
              </a:xfrm>
              <a:prstGeom prst="chevron">
                <a:avLst>
                  <a:gd name="adj" fmla="val 34712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tIns="72000" bIns="72000"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b="1" dirty="0">
                    <a:solidFill>
                      <a:schemeClr val="bg1"/>
                    </a:solidFill>
                  </a:rPr>
                  <a:t>생산</a:t>
                </a:r>
              </a:p>
            </p:txBody>
          </p:sp>
          <p:sp>
            <p:nvSpPr>
              <p:cNvPr id="141" name="갈매기형 수장 140"/>
              <p:cNvSpPr/>
              <p:nvPr/>
            </p:nvSpPr>
            <p:spPr>
              <a:xfrm>
                <a:off x="2058834" y="3582340"/>
                <a:ext cx="416445" cy="508076"/>
              </a:xfrm>
              <a:prstGeom prst="chevron">
                <a:avLst>
                  <a:gd name="adj" fmla="val 34712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tIns="72000" bIns="72000"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b="1" dirty="0">
                    <a:solidFill>
                      <a:schemeClr val="bg1"/>
                    </a:solidFill>
                  </a:rPr>
                  <a:t>재무</a:t>
                </a:r>
                <a:r>
                  <a:rPr lang="en-US" altLang="ko-KR" sz="1000" b="1" dirty="0">
                    <a:solidFill>
                      <a:schemeClr val="bg1"/>
                    </a:solidFill>
                  </a:rPr>
                  <a:t/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ko-KR" altLang="en-US" sz="1000" b="1" dirty="0">
                    <a:solidFill>
                      <a:schemeClr val="bg1"/>
                    </a:solidFill>
                  </a:rPr>
                  <a:t>자금</a:t>
                </a:r>
              </a:p>
            </p:txBody>
          </p:sp>
          <p:sp>
            <p:nvSpPr>
              <p:cNvPr id="144" name="갈매기형 수장 143"/>
              <p:cNvSpPr/>
              <p:nvPr/>
            </p:nvSpPr>
            <p:spPr>
              <a:xfrm>
                <a:off x="2408177" y="3582340"/>
                <a:ext cx="416445" cy="508076"/>
              </a:xfrm>
              <a:prstGeom prst="chevron">
                <a:avLst>
                  <a:gd name="adj" fmla="val 34712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tIns="72000" bIns="72000"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b="1" dirty="0">
                    <a:solidFill>
                      <a:schemeClr val="bg1"/>
                    </a:solidFill>
                  </a:rPr>
                  <a:t>관리</a:t>
                </a:r>
              </a:p>
            </p:txBody>
          </p:sp>
        </p:grpSp>
        <p:sp>
          <p:nvSpPr>
            <p:cNvPr id="136" name="직사각형 135"/>
            <p:cNvSpPr/>
            <p:nvPr/>
          </p:nvSpPr>
          <p:spPr>
            <a:xfrm>
              <a:off x="1196586" y="3903357"/>
              <a:ext cx="658414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fontAlgn="base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0AB00"/>
                </a:buClr>
                <a:buSzPct val="100000"/>
                <a:defRPr/>
              </a:pPr>
              <a:r>
                <a:rPr lang="ko-KR" altLang="en-US" sz="1000" b="1" kern="0" dirty="0">
                  <a:solidFill>
                    <a:schemeClr val="bg1"/>
                  </a:solidFill>
                  <a:cs typeface="Arial Unicode MS" pitchFamily="34" charset="-128"/>
                </a:rPr>
                <a:t>기준정보</a:t>
              </a:r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144148" y="3398055"/>
            <a:ext cx="2981119" cy="305780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ko-KR" alt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홀딩스</a:t>
            </a:r>
            <a: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영원무역</a:t>
            </a:r>
            <a: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 +</a:t>
            </a:r>
            <a:r>
              <a:rPr lang="ko-KR" alt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10</a:t>
            </a:r>
            <a:r>
              <a:rPr lang="ko-KR" alt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개 현지법인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92183" y="4544140"/>
            <a:ext cx="2085040" cy="534368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SAP ERP + </a:t>
            </a:r>
            <a:r>
              <a:rPr lang="ko-KR" alt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연관 시스템</a:t>
            </a:r>
            <a: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/>
            </a:r>
            <a:br>
              <a:rPr lang="en-US" altLang="ko-KR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</a:br>
            <a:r>
              <a:rPr lang="en-US" altLang="ko-KR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(GLOSTOM, FRP* </a:t>
            </a:r>
            <a:r>
              <a:rPr lang="ko-KR" altLang="en-US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등</a:t>
            </a:r>
            <a:r>
              <a:rPr lang="en-US" altLang="ko-KR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itchFamily="34" charset="0"/>
              </a:rPr>
              <a:t>)</a:t>
            </a:r>
            <a:endParaRPr lang="ko-KR" altLang="en-US" sz="1400" i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2CFC10D6-B82E-47FD-AF4A-8F17454C6555}"/>
              </a:ext>
            </a:extLst>
          </p:cNvPr>
          <p:cNvSpPr/>
          <p:nvPr/>
        </p:nvSpPr>
        <p:spPr>
          <a:xfrm>
            <a:off x="280373" y="6312822"/>
            <a:ext cx="4331898" cy="19884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FRP : 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FastReactPlan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148" name="직선 연결선 147"/>
          <p:cNvCxnSpPr/>
          <p:nvPr/>
        </p:nvCxnSpPr>
        <p:spPr>
          <a:xfrm>
            <a:off x="3147042" y="2340918"/>
            <a:ext cx="6300000" cy="0"/>
          </a:xfrm>
          <a:prstGeom prst="line">
            <a:avLst/>
          </a:prstGeom>
          <a:ln w="28575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50" name="Freeform 16"/>
          <p:cNvSpPr>
            <a:spLocks/>
          </p:cNvSpPr>
          <p:nvPr/>
        </p:nvSpPr>
        <p:spPr bwMode="auto">
          <a:xfrm>
            <a:off x="3140946" y="1989138"/>
            <a:ext cx="3600000" cy="351780"/>
          </a:xfrm>
          <a:custGeom>
            <a:avLst/>
            <a:gdLst/>
            <a:ahLst/>
            <a:cxnLst>
              <a:cxn ang="0">
                <a:pos x="0" y="116"/>
              </a:cxn>
              <a:cxn ang="0">
                <a:pos x="0" y="0"/>
              </a:cxn>
              <a:cxn ang="0">
                <a:pos x="852" y="0"/>
              </a:cxn>
              <a:cxn ang="0">
                <a:pos x="1199" y="116"/>
              </a:cxn>
              <a:cxn ang="0">
                <a:pos x="0" y="116"/>
              </a:cxn>
            </a:cxnLst>
            <a:rect l="0" t="0" r="r" b="b"/>
            <a:pathLst>
              <a:path w="1199" h="116">
                <a:moveTo>
                  <a:pt x="0" y="116"/>
                </a:moveTo>
                <a:lnTo>
                  <a:pt x="0" y="0"/>
                </a:lnTo>
                <a:lnTo>
                  <a:pt x="852" y="0"/>
                </a:lnTo>
                <a:lnTo>
                  <a:pt x="1199" y="116"/>
                </a:lnTo>
                <a:lnTo>
                  <a:pt x="0" y="11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t"/>
          <a:lstStyle/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3133462" y="2022649"/>
            <a:ext cx="2738250" cy="2847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400" b="1" dirty="0">
                <a:solidFill>
                  <a:srgbClr val="FFFFFF"/>
                </a:solidFill>
              </a:rPr>
              <a:t>S/4HANA </a:t>
            </a:r>
            <a:r>
              <a:rPr lang="ko-KR" altLang="en-US" sz="1400" b="1" dirty="0">
                <a:solidFill>
                  <a:srgbClr val="FFFFFF"/>
                </a:solidFill>
              </a:rPr>
              <a:t>구축을 위한 </a:t>
            </a:r>
            <a:r>
              <a:rPr lang="en-US" altLang="ko-KR" sz="1400" b="1" dirty="0">
                <a:solidFill>
                  <a:srgbClr val="FFFFFF"/>
                </a:solidFill>
              </a:rPr>
              <a:t>PI </a:t>
            </a:r>
            <a:r>
              <a:rPr lang="ko-KR" altLang="en-US" sz="1400" b="1" dirty="0">
                <a:solidFill>
                  <a:srgbClr val="FFFFFF"/>
                </a:solidFill>
              </a:rPr>
              <a:t>단계 </a:t>
            </a:r>
          </a:p>
        </p:txBody>
      </p:sp>
      <p:sp>
        <p:nvSpPr>
          <p:cNvPr id="153" name="Text Box 67"/>
          <p:cNvSpPr txBox="1">
            <a:spLocks noChangeArrowheads="1"/>
          </p:cNvSpPr>
          <p:nvPr/>
        </p:nvSpPr>
        <p:spPr bwMode="auto">
          <a:xfrm>
            <a:off x="9187647" y="1875765"/>
            <a:ext cx="6269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Today</a:t>
            </a:r>
            <a:endParaRPr kumimoji="1" lang="ko-KR" altLang="en-US" sz="1200" dirty="0">
              <a:solidFill>
                <a:srgbClr val="000000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56" name="AutoShape 8"/>
          <p:cNvSpPr>
            <a:spLocks noChangeArrowheads="1"/>
          </p:cNvSpPr>
          <p:nvPr/>
        </p:nvSpPr>
        <p:spPr bwMode="gray">
          <a:xfrm>
            <a:off x="3133116" y="2406782"/>
            <a:ext cx="3849438" cy="284706"/>
          </a:xfrm>
          <a:prstGeom prst="homePlate">
            <a:avLst>
              <a:gd name="adj" fmla="val 29246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Ⅰ. Assess &amp; Envision</a:t>
            </a:r>
            <a:endParaRPr lang="ko-KR" altLang="en-US" sz="13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7" name="AutoShape 8"/>
          <p:cNvSpPr>
            <a:spLocks noChangeArrowheads="1"/>
          </p:cNvSpPr>
          <p:nvPr/>
        </p:nvSpPr>
        <p:spPr bwMode="gray">
          <a:xfrm>
            <a:off x="3133116" y="2677931"/>
            <a:ext cx="3849438" cy="3593943"/>
          </a:xfrm>
          <a:prstGeom prst="rect">
            <a:avLst/>
          </a:prstGeom>
          <a:noFill/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endParaRPr lang="ko-KR" altLang="en-US" sz="13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8" name="AutoShape 8"/>
          <p:cNvSpPr>
            <a:spLocks noChangeArrowheads="1"/>
          </p:cNvSpPr>
          <p:nvPr/>
        </p:nvSpPr>
        <p:spPr bwMode="gray">
          <a:xfrm>
            <a:off x="8346956" y="2415876"/>
            <a:ext cx="1146302" cy="284706"/>
          </a:xfrm>
          <a:prstGeom prst="homePlate">
            <a:avLst>
              <a:gd name="adj" fmla="val 29246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III. Plan </a:t>
            </a:r>
            <a:endParaRPr lang="ko-KR" altLang="en-US" sz="13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9" name="AutoShape 8"/>
          <p:cNvSpPr>
            <a:spLocks noChangeArrowheads="1"/>
          </p:cNvSpPr>
          <p:nvPr/>
        </p:nvSpPr>
        <p:spPr bwMode="gray">
          <a:xfrm>
            <a:off x="7059723" y="2406782"/>
            <a:ext cx="1213600" cy="284706"/>
          </a:xfrm>
          <a:prstGeom prst="homePlate">
            <a:avLst>
              <a:gd name="adj" fmla="val 29246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r>
              <a:rPr lang="en-US" altLang="ko-KR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Ⅱ. Design </a:t>
            </a:r>
          </a:p>
        </p:txBody>
      </p:sp>
      <p:sp>
        <p:nvSpPr>
          <p:cNvPr id="161" name="AutoShape 8"/>
          <p:cNvSpPr>
            <a:spLocks noChangeArrowheads="1"/>
          </p:cNvSpPr>
          <p:nvPr/>
        </p:nvSpPr>
        <p:spPr bwMode="gray">
          <a:xfrm>
            <a:off x="8346956" y="2677931"/>
            <a:ext cx="1146302" cy="3593943"/>
          </a:xfrm>
          <a:prstGeom prst="rect">
            <a:avLst/>
          </a:prstGeom>
          <a:noFill/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endParaRPr lang="ko-KR" altLang="en-US" sz="13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2" name="AutoShape 8"/>
          <p:cNvSpPr>
            <a:spLocks noChangeArrowheads="1"/>
          </p:cNvSpPr>
          <p:nvPr/>
        </p:nvSpPr>
        <p:spPr bwMode="gray">
          <a:xfrm>
            <a:off x="7059722" y="2677931"/>
            <a:ext cx="1251157" cy="3593943"/>
          </a:xfrm>
          <a:prstGeom prst="rect">
            <a:avLst/>
          </a:prstGeom>
          <a:noFill/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lIns="32268" tIns="32268" rIns="32268" bIns="32268" anchor="ctr"/>
          <a:lstStyle/>
          <a:p>
            <a:pPr marL="159366" indent="-159366" algn="ctr" defTabSz="913375" eaLnBrk="0" latinLnBrk="0" hangingPunct="0">
              <a:lnSpc>
                <a:spcPct val="90000"/>
              </a:lnSpc>
              <a:defRPr/>
            </a:pPr>
            <a:endParaRPr lang="en-US" altLang="ko-KR" sz="13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242442" y="2860087"/>
            <a:ext cx="1140716" cy="335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경영 환경 분석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6015182" y="2817829"/>
            <a:ext cx="905184" cy="32818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12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Biz Infra </a:t>
            </a:r>
            <a:r>
              <a:rPr lang="ko-KR" altLang="en-US" sz="1200" b="1" dirty="0">
                <a:solidFill>
                  <a:schemeClr val="bg1"/>
                </a:solidFill>
              </a:rPr>
              <a:t>변화</a:t>
            </a:r>
            <a:r>
              <a:rPr lang="en-US" altLang="ko-KR" sz="1200" b="1" dirty="0">
                <a:solidFill>
                  <a:schemeClr val="bg1"/>
                </a:solidFill>
              </a:rPr>
              <a:t/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ko-KR" altLang="en-US" sz="1200" b="1" dirty="0">
                <a:solidFill>
                  <a:schemeClr val="bg1"/>
                </a:solidFill>
              </a:rPr>
              <a:t>필요성</a:t>
            </a:r>
            <a:r>
              <a:rPr lang="en-US" altLang="ko-KR" sz="1200" b="1" dirty="0">
                <a:solidFill>
                  <a:schemeClr val="bg1"/>
                </a:solidFill>
              </a:rPr>
              <a:t/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en-US" altLang="ko-KR" sz="1200" b="1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방향성 도출</a:t>
            </a:r>
          </a:p>
        </p:txBody>
      </p:sp>
      <p:sp>
        <p:nvSpPr>
          <p:cNvPr id="165" name="직사각형 164"/>
          <p:cNvSpPr/>
          <p:nvPr/>
        </p:nvSpPr>
        <p:spPr>
          <a:xfrm>
            <a:off x="4600193" y="3140522"/>
            <a:ext cx="1140716" cy="335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경영진</a:t>
            </a:r>
            <a:r>
              <a:rPr lang="en-US" altLang="ko-KR" sz="1100" b="1" dirty="0">
                <a:solidFill>
                  <a:schemeClr val="tx1"/>
                </a:solidFill>
              </a:rPr>
              <a:t> VOB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4600193" y="4494148"/>
            <a:ext cx="1140716" cy="335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As-Is </a:t>
            </a:r>
            <a:r>
              <a:rPr lang="ko-KR" altLang="en-US" sz="1100" b="1" dirty="0">
                <a:solidFill>
                  <a:schemeClr val="tx1"/>
                </a:solidFill>
              </a:rPr>
              <a:t>업무 </a:t>
            </a:r>
            <a:r>
              <a:rPr lang="en-US" altLang="ko-KR" sz="1100" b="1" dirty="0">
                <a:solidFill>
                  <a:schemeClr val="tx1"/>
                </a:solidFill>
              </a:rPr>
              <a:t/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프로세스 구조화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4600193" y="5170140"/>
            <a:ext cx="1140716" cy="335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현지 요건 청취</a:t>
            </a:r>
          </a:p>
        </p:txBody>
      </p:sp>
      <p:sp>
        <p:nvSpPr>
          <p:cNvPr id="175" name="직사각형 174"/>
          <p:cNvSpPr/>
          <p:nvPr/>
        </p:nvSpPr>
        <p:spPr>
          <a:xfrm>
            <a:off x="3242442" y="4791961"/>
            <a:ext cx="1140716" cy="335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 분석</a:t>
            </a:r>
            <a:r>
              <a:rPr lang="en-US" altLang="ko-KR" sz="1100" b="1" dirty="0">
                <a:solidFill>
                  <a:schemeClr val="tx1"/>
                </a:solidFill>
              </a:rPr>
              <a:t/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업무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시스템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3227853" y="3253199"/>
            <a:ext cx="1256885" cy="444570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36000" tIns="36000" rIns="36000" bIns="36000" rtlCol="0" anchor="t">
            <a:spAutoFit/>
          </a:bodyPr>
          <a:lstStyle/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800" dirty="0">
                <a:latin typeface="+mn-ea"/>
              </a:rPr>
              <a:t>글로벌 기업의 업무 혁신 사례 </a:t>
            </a:r>
            <a:endParaRPr lang="en-US" altLang="ko-KR" sz="800" dirty="0">
              <a:latin typeface="+mn-ea"/>
            </a:endParaRPr>
          </a:p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800" dirty="0">
                <a:latin typeface="+mn-ea"/>
              </a:rPr>
              <a:t>영원 </a:t>
            </a:r>
            <a:r>
              <a:rPr lang="en-US" altLang="ko-KR" sz="800" dirty="0">
                <a:latin typeface="+mn-ea"/>
              </a:rPr>
              <a:t>Biz </a:t>
            </a:r>
            <a:r>
              <a:rPr lang="ko-KR" altLang="en-US" sz="800" dirty="0">
                <a:latin typeface="+mn-ea"/>
              </a:rPr>
              <a:t>현황 파악</a:t>
            </a:r>
            <a:endParaRPr lang="en-US" altLang="ko-KR" sz="800" dirty="0">
              <a:latin typeface="+mn-ea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4540315" y="3491936"/>
            <a:ext cx="1339588" cy="195814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36000" tIns="36000" rIns="36000" bIns="36000" rtlCol="0" anchor="t">
            <a:spAutoFit/>
          </a:bodyPr>
          <a:lstStyle/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800" dirty="0">
                <a:latin typeface="+mn-ea"/>
              </a:rPr>
              <a:t>대상 법인 경영진 </a:t>
            </a:r>
            <a:r>
              <a:rPr lang="en-US" altLang="ko-KR" sz="800" dirty="0">
                <a:latin typeface="+mn-ea"/>
              </a:rPr>
              <a:t>19</a:t>
            </a:r>
            <a:r>
              <a:rPr lang="ko-KR" altLang="en-US" sz="800" dirty="0">
                <a:latin typeface="+mn-ea"/>
              </a:rPr>
              <a:t>명 </a:t>
            </a:r>
            <a:endParaRPr lang="en-US" altLang="ko-KR" sz="800" dirty="0">
              <a:latin typeface="+mn-ea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3266284" y="5178431"/>
            <a:ext cx="1250028" cy="680562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36000" tIns="36000" rIns="36000" bIns="36000" rtlCol="0" anchor="t">
            <a:spAutoFit/>
          </a:bodyPr>
          <a:lstStyle/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en-US" altLang="ko-KR" sz="800" dirty="0">
                <a:latin typeface="+mn-ea"/>
              </a:rPr>
              <a:t>‘23.1.2. ~ 3.10.</a:t>
            </a:r>
          </a:p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800" dirty="0">
                <a:latin typeface="+mn-ea"/>
              </a:rPr>
              <a:t>영원무역</a:t>
            </a:r>
            <a:r>
              <a:rPr lang="en-US" altLang="ko-KR" sz="800" dirty="0">
                <a:latin typeface="+mn-ea"/>
              </a:rPr>
              <a:t>,</a:t>
            </a:r>
            <a:r>
              <a:rPr lang="ko-KR" altLang="en-US" sz="800" dirty="0">
                <a:latin typeface="+mn-ea"/>
              </a:rPr>
              <a:t>홀딩스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인터뷰</a:t>
            </a:r>
            <a:endParaRPr lang="en-US" altLang="ko-KR" sz="800" dirty="0">
              <a:latin typeface="+mn-ea"/>
            </a:endParaRPr>
          </a:p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en-US" altLang="ko-KR" sz="800" dirty="0">
                <a:latin typeface="+mn-ea"/>
              </a:rPr>
              <a:t>As-Is </a:t>
            </a:r>
            <a:r>
              <a:rPr lang="ko-KR" altLang="en-US" sz="800" dirty="0">
                <a:latin typeface="+mn-ea"/>
              </a:rPr>
              <a:t>구조화</a:t>
            </a:r>
            <a:endParaRPr lang="en-US" altLang="ko-KR" sz="800" dirty="0">
              <a:latin typeface="+mn-ea"/>
            </a:endParaRPr>
          </a:p>
          <a:p>
            <a:pPr marL="8890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en-US" altLang="ko-KR" sz="800" dirty="0">
                <a:latin typeface="+mn-ea"/>
              </a:rPr>
              <a:t>IT </a:t>
            </a:r>
            <a:r>
              <a:rPr lang="ko-KR" altLang="en-US" sz="800" dirty="0">
                <a:latin typeface="+mn-ea"/>
              </a:rPr>
              <a:t>인프라 현황 분석</a:t>
            </a:r>
            <a:endParaRPr lang="en-US" altLang="ko-KR" sz="800" dirty="0">
              <a:latin typeface="+mn-ea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6099064" y="4285696"/>
            <a:ext cx="737421" cy="4680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개선 기회</a:t>
            </a:r>
            <a:r>
              <a:rPr lang="en-US" altLang="ko-KR" sz="1100" b="1" dirty="0">
                <a:solidFill>
                  <a:schemeClr val="tx1"/>
                </a:solidFill>
              </a:rPr>
              <a:t/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정의</a:t>
            </a:r>
          </a:p>
        </p:txBody>
      </p:sp>
      <p:sp>
        <p:nvSpPr>
          <p:cNvPr id="182" name="직사각형 181"/>
          <p:cNvSpPr/>
          <p:nvPr/>
        </p:nvSpPr>
        <p:spPr>
          <a:xfrm>
            <a:off x="6099064" y="4903126"/>
            <a:ext cx="737421" cy="4680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이슈</a:t>
            </a:r>
            <a:r>
              <a:rPr lang="en-US" altLang="ko-KR" sz="1100" b="1" dirty="0">
                <a:solidFill>
                  <a:schemeClr val="tx1"/>
                </a:solidFill>
              </a:rPr>
              <a:t>/PI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과제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내부</a:t>
            </a:r>
            <a:r>
              <a:rPr lang="en-US" altLang="ko-KR" sz="1100" b="1" dirty="0">
                <a:solidFill>
                  <a:schemeClr val="tx1"/>
                </a:solidFill>
              </a:rPr>
              <a:t/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논의</a:t>
            </a:r>
          </a:p>
        </p:txBody>
      </p:sp>
      <p:sp>
        <p:nvSpPr>
          <p:cNvPr id="183" name="직사각형 182"/>
          <p:cNvSpPr/>
          <p:nvPr/>
        </p:nvSpPr>
        <p:spPr>
          <a:xfrm>
            <a:off x="6099064" y="5520555"/>
            <a:ext cx="737421" cy="4680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개선 방향</a:t>
            </a:r>
            <a:r>
              <a:rPr lang="en-US" altLang="ko-KR" sz="1100" b="1" dirty="0">
                <a:solidFill>
                  <a:schemeClr val="tx1"/>
                </a:solidFill>
              </a:rPr>
              <a:t/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도출</a:t>
            </a:r>
          </a:p>
        </p:txBody>
      </p:sp>
      <p:cxnSp>
        <p:nvCxnSpPr>
          <p:cNvPr id="184" name="꺾인 연결선 183"/>
          <p:cNvCxnSpPr/>
          <p:nvPr/>
        </p:nvCxnSpPr>
        <p:spPr>
          <a:xfrm>
            <a:off x="4383158" y="3115673"/>
            <a:ext cx="217035" cy="199846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85" name="꺾인 연결선 184"/>
          <p:cNvCxnSpPr>
            <a:stCxn id="175" idx="3"/>
            <a:endCxn id="173" idx="1"/>
          </p:cNvCxnSpPr>
          <p:nvPr/>
        </p:nvCxnSpPr>
        <p:spPr>
          <a:xfrm flipV="1">
            <a:off x="4383158" y="4661999"/>
            <a:ext cx="217035" cy="297812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86" name="꺾인 연결선 109"/>
          <p:cNvCxnSpPr/>
          <p:nvPr/>
        </p:nvCxnSpPr>
        <p:spPr>
          <a:xfrm>
            <a:off x="4396092" y="2991591"/>
            <a:ext cx="1632024" cy="0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87" name="꺾인 연결선 109"/>
          <p:cNvCxnSpPr/>
          <p:nvPr/>
        </p:nvCxnSpPr>
        <p:spPr>
          <a:xfrm>
            <a:off x="4396092" y="4999995"/>
            <a:ext cx="1632024" cy="0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90" name="꺾인 연결선 109"/>
          <p:cNvCxnSpPr/>
          <p:nvPr/>
        </p:nvCxnSpPr>
        <p:spPr>
          <a:xfrm>
            <a:off x="5755498" y="3294899"/>
            <a:ext cx="272618" cy="0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92" name="꺾인 연결선 109"/>
          <p:cNvCxnSpPr/>
          <p:nvPr/>
        </p:nvCxnSpPr>
        <p:spPr>
          <a:xfrm>
            <a:off x="5755498" y="4667835"/>
            <a:ext cx="272618" cy="0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93" name="꺾인 연결선 109"/>
          <p:cNvCxnSpPr/>
          <p:nvPr/>
        </p:nvCxnSpPr>
        <p:spPr>
          <a:xfrm>
            <a:off x="5755498" y="5340744"/>
            <a:ext cx="272618" cy="0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94" name="꺾인 연결선 109"/>
          <p:cNvCxnSpPr>
            <a:stCxn id="181" idx="2"/>
            <a:endCxn id="182" idx="0"/>
          </p:cNvCxnSpPr>
          <p:nvPr/>
        </p:nvCxnSpPr>
        <p:spPr>
          <a:xfrm>
            <a:off x="6467775" y="4753769"/>
            <a:ext cx="0" cy="149357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96" name="꺾인 연결선 109"/>
          <p:cNvCxnSpPr>
            <a:stCxn id="182" idx="2"/>
            <a:endCxn id="183" idx="0"/>
          </p:cNvCxnSpPr>
          <p:nvPr/>
        </p:nvCxnSpPr>
        <p:spPr>
          <a:xfrm>
            <a:off x="6467775" y="5371198"/>
            <a:ext cx="0" cy="149357"/>
          </a:xfrm>
          <a:prstGeom prst="straightConnector1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97" name="직사각형 196"/>
          <p:cNvSpPr/>
          <p:nvPr/>
        </p:nvSpPr>
        <p:spPr>
          <a:xfrm>
            <a:off x="7106142" y="4611126"/>
            <a:ext cx="1140716" cy="5085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솔루션 대안</a:t>
            </a:r>
            <a:r>
              <a:rPr lang="en-US" altLang="ko-KR" sz="1200" b="1" dirty="0">
                <a:solidFill>
                  <a:schemeClr val="tx1"/>
                </a:solidFill>
              </a:rPr>
              <a:t/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조합 선정</a:t>
            </a:r>
            <a:r>
              <a:rPr lang="en-US" altLang="ko-KR" sz="1200" b="1" dirty="0">
                <a:solidFill>
                  <a:schemeClr val="tx1"/>
                </a:solidFill>
              </a:rPr>
              <a:t/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en-US" altLang="ko-KR" sz="900" b="1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</a:rPr>
              <a:t>도입 모듈</a:t>
            </a:r>
            <a:r>
              <a:rPr lang="en-US" altLang="ko-KR" sz="900" b="1" dirty="0">
                <a:solidFill>
                  <a:schemeClr val="tx1"/>
                </a:solidFill>
              </a:rPr>
              <a:t>, Legacy)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7106142" y="3720090"/>
            <a:ext cx="1140716" cy="5085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시스템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기능 도출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7106142" y="5502164"/>
            <a:ext cx="1140716" cy="5085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To-Be </a:t>
            </a:r>
            <a:r>
              <a:rPr lang="ko-KR" altLang="en-US" sz="1200" b="1" dirty="0">
                <a:solidFill>
                  <a:schemeClr val="tx1"/>
                </a:solidFill>
              </a:rPr>
              <a:t>시스템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아키텍처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도출</a:t>
            </a:r>
          </a:p>
        </p:txBody>
      </p:sp>
      <p:grpSp>
        <p:nvGrpSpPr>
          <p:cNvPr id="201" name="그룹 200"/>
          <p:cNvGrpSpPr/>
          <p:nvPr/>
        </p:nvGrpSpPr>
        <p:grpSpPr>
          <a:xfrm>
            <a:off x="7107567" y="2822448"/>
            <a:ext cx="1137867" cy="515115"/>
            <a:chOff x="7091879" y="3524515"/>
            <a:chExt cx="1137867" cy="556754"/>
          </a:xfrm>
          <a:solidFill>
            <a:schemeClr val="bg2"/>
          </a:solidFill>
        </p:grpSpPr>
        <p:sp>
          <p:nvSpPr>
            <p:cNvPr id="202" name="직사각형 201"/>
            <p:cNvSpPr/>
            <p:nvPr/>
          </p:nvSpPr>
          <p:spPr>
            <a:xfrm>
              <a:off x="7091879" y="3524515"/>
              <a:ext cx="504000" cy="5496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과제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/>
              </a:r>
              <a:br>
                <a:rPr lang="en-US" altLang="ko-KR" sz="1200" b="1" dirty="0">
                  <a:solidFill>
                    <a:schemeClr val="tx1"/>
                  </a:solidFill>
                </a:rPr>
              </a:br>
              <a:r>
                <a:rPr lang="ko-KR" altLang="en-US" sz="1200" b="1" dirty="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7725746" y="3531655"/>
              <a:ext cx="504000" cy="5496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업무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/>
              </a:r>
              <a:br>
                <a:rPr lang="en-US" altLang="ko-KR" sz="1200" b="1" dirty="0">
                  <a:solidFill>
                    <a:schemeClr val="tx1"/>
                  </a:solidFill>
                </a:rPr>
              </a:br>
              <a:r>
                <a:rPr lang="ko-KR" altLang="en-US" sz="1200" b="1" dirty="0">
                  <a:solidFill>
                    <a:schemeClr val="tx1"/>
                  </a:solidFill>
                </a:rPr>
                <a:t>설계</a:t>
              </a:r>
            </a:p>
          </p:txBody>
        </p:sp>
      </p:grpSp>
      <p:cxnSp>
        <p:nvCxnSpPr>
          <p:cNvPr id="206" name="꺾인 연결선 205"/>
          <p:cNvCxnSpPr>
            <a:stCxn id="203" idx="2"/>
            <a:endCxn id="198" idx="0"/>
          </p:cNvCxnSpPr>
          <p:nvPr/>
        </p:nvCxnSpPr>
        <p:spPr>
          <a:xfrm rot="5400000">
            <a:off x="7643704" y="3370359"/>
            <a:ext cx="382528" cy="316934"/>
          </a:xfrm>
          <a:prstGeom prst="bentConnector3">
            <a:avLst>
              <a:gd name="adj1" fmla="val 50000"/>
            </a:avLst>
          </a:prstGeom>
          <a:ln w="12700" cap="sq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08" name="꺾인 연결선 207"/>
          <p:cNvCxnSpPr>
            <a:stCxn id="202" idx="2"/>
            <a:endCxn id="198" idx="0"/>
          </p:cNvCxnSpPr>
          <p:nvPr/>
        </p:nvCxnSpPr>
        <p:spPr>
          <a:xfrm rot="16200000" flipH="1">
            <a:off x="7323467" y="3367056"/>
            <a:ext cx="389134" cy="316933"/>
          </a:xfrm>
          <a:prstGeom prst="bentConnector3">
            <a:avLst>
              <a:gd name="adj1" fmla="val 50000"/>
            </a:avLst>
          </a:prstGeom>
          <a:ln w="12700" cap="sq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09" name="꺾인 연결선 109"/>
          <p:cNvCxnSpPr>
            <a:stCxn id="198" idx="2"/>
            <a:endCxn id="197" idx="0"/>
          </p:cNvCxnSpPr>
          <p:nvPr/>
        </p:nvCxnSpPr>
        <p:spPr>
          <a:xfrm>
            <a:off x="7676500" y="4228599"/>
            <a:ext cx="0" cy="382528"/>
          </a:xfrm>
          <a:prstGeom prst="straightConnector1">
            <a:avLst/>
          </a:prstGeom>
          <a:ln w="12700" cap="sq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11" name="직사각형 210"/>
          <p:cNvSpPr/>
          <p:nvPr/>
        </p:nvSpPr>
        <p:spPr>
          <a:xfrm>
            <a:off x="8398107" y="3742265"/>
            <a:ext cx="1044000" cy="5085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과제 </a:t>
            </a:r>
            <a:r>
              <a:rPr lang="en-US" altLang="ko-KR" sz="1200" b="1" dirty="0">
                <a:solidFill>
                  <a:schemeClr val="tx1"/>
                </a:solidFill>
              </a:rPr>
              <a:t/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우선순위 평가</a:t>
            </a:r>
          </a:p>
        </p:txBody>
      </p:sp>
      <p:sp>
        <p:nvSpPr>
          <p:cNvPr id="212" name="직사각형 211"/>
          <p:cNvSpPr/>
          <p:nvPr/>
        </p:nvSpPr>
        <p:spPr>
          <a:xfrm>
            <a:off x="8398107" y="4658550"/>
            <a:ext cx="1044000" cy="5085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구축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이행</a:t>
            </a:r>
            <a:r>
              <a:rPr lang="en-US" altLang="ko-KR" sz="1200" b="1" dirty="0">
                <a:solidFill>
                  <a:schemeClr val="tx1"/>
                </a:solidFill>
              </a:rPr>
              <a:t/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로드맵 수립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9397761" y="2166764"/>
            <a:ext cx="206674" cy="4137757"/>
            <a:chOff x="9397761" y="2166764"/>
            <a:chExt cx="206674" cy="4137757"/>
          </a:xfrm>
        </p:grpSpPr>
        <p:sp>
          <p:nvSpPr>
            <p:cNvPr id="154" name="AutoShape 66"/>
            <p:cNvSpPr>
              <a:spLocks noChangeArrowheads="1"/>
            </p:cNvSpPr>
            <p:nvPr/>
          </p:nvSpPr>
          <p:spPr bwMode="auto">
            <a:xfrm flipV="1">
              <a:off x="9397761" y="2166764"/>
              <a:ext cx="206674" cy="166538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3" name="Horizontal Line"/>
            <p:cNvCxnSpPr>
              <a:cxnSpLocks/>
            </p:cNvCxnSpPr>
            <p:nvPr/>
          </p:nvCxnSpPr>
          <p:spPr>
            <a:xfrm rot="5400000">
              <a:off x="7519297" y="4322720"/>
              <a:ext cx="3963603" cy="0"/>
            </a:xfrm>
            <a:prstGeom prst="line">
              <a:avLst/>
            </a:prstGeom>
            <a:noFill/>
            <a:ln w="19050" cap="flat" cmpd="sng" algn="ctr">
              <a:solidFill>
                <a:srgbClr val="AA2417"/>
              </a:solidFill>
              <a:prstDash val="solid"/>
              <a:tailEnd type="none" w="lg" len="lg"/>
            </a:ln>
            <a:effectLst/>
          </p:spPr>
        </p:cxnSp>
      </p:grpSp>
      <p:cxnSp>
        <p:nvCxnSpPr>
          <p:cNvPr id="215" name="꺾인 연결선 214"/>
          <p:cNvCxnSpPr/>
          <p:nvPr/>
        </p:nvCxnSpPr>
        <p:spPr>
          <a:xfrm>
            <a:off x="4383158" y="5037363"/>
            <a:ext cx="217035" cy="333076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17" name="꺾인 연결선 109"/>
          <p:cNvCxnSpPr>
            <a:stCxn id="197" idx="2"/>
            <a:endCxn id="200" idx="0"/>
          </p:cNvCxnSpPr>
          <p:nvPr/>
        </p:nvCxnSpPr>
        <p:spPr>
          <a:xfrm>
            <a:off x="7676500" y="5119635"/>
            <a:ext cx="0" cy="382528"/>
          </a:xfrm>
          <a:prstGeom prst="straightConnector1">
            <a:avLst/>
          </a:prstGeom>
          <a:ln w="12700" cap="sq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18" name="꺾인 연결선 109"/>
          <p:cNvCxnSpPr>
            <a:stCxn id="211" idx="2"/>
            <a:endCxn id="212" idx="0"/>
          </p:cNvCxnSpPr>
          <p:nvPr/>
        </p:nvCxnSpPr>
        <p:spPr>
          <a:xfrm>
            <a:off x="8920107" y="4250773"/>
            <a:ext cx="0" cy="407777"/>
          </a:xfrm>
          <a:prstGeom prst="straightConnector1">
            <a:avLst/>
          </a:prstGeom>
          <a:ln w="12700" cap="sq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9" name="직사각형 28"/>
          <p:cNvSpPr/>
          <p:nvPr/>
        </p:nvSpPr>
        <p:spPr>
          <a:xfrm>
            <a:off x="4540315" y="5582225"/>
            <a:ext cx="1471484" cy="54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lvl="0" indent="-88900" defTabSz="972494" fontAlgn="base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방글라데시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개 법인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베트남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개 법인 영역별 업무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/ERP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 관련자 인터뷰 약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120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명 </a:t>
            </a:r>
            <a:endParaRPr lang="en-US" altLang="ko-KR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Text Box 67"/>
          <p:cNvSpPr txBox="1">
            <a:spLocks noChangeArrowheads="1"/>
          </p:cNvSpPr>
          <p:nvPr/>
        </p:nvSpPr>
        <p:spPr bwMode="auto">
          <a:xfrm>
            <a:off x="6636560" y="1875765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중간보고</a:t>
            </a:r>
            <a:endParaRPr kumimoji="1" lang="ko-KR" altLang="en-US" sz="1200" dirty="0">
              <a:solidFill>
                <a:srgbClr val="000000"/>
              </a:solidFill>
              <a:latin typeface="+mj-lt"/>
              <a:ea typeface="맑은 고딕" panose="020B0503020000020004" pitchFamily="50" charset="-127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6884330" y="2166764"/>
            <a:ext cx="206674" cy="4137757"/>
            <a:chOff x="9397761" y="2166764"/>
            <a:chExt cx="206674" cy="4137757"/>
          </a:xfrm>
        </p:grpSpPr>
        <p:sp>
          <p:nvSpPr>
            <p:cNvPr id="76" name="AutoShape 66"/>
            <p:cNvSpPr>
              <a:spLocks noChangeArrowheads="1"/>
            </p:cNvSpPr>
            <p:nvPr/>
          </p:nvSpPr>
          <p:spPr bwMode="auto">
            <a:xfrm flipV="1">
              <a:off x="9397761" y="2166764"/>
              <a:ext cx="206674" cy="166538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7" name="Horizontal Line"/>
            <p:cNvCxnSpPr>
              <a:cxnSpLocks/>
            </p:cNvCxnSpPr>
            <p:nvPr/>
          </p:nvCxnSpPr>
          <p:spPr>
            <a:xfrm rot="5400000">
              <a:off x="7519297" y="4322720"/>
              <a:ext cx="3963603" cy="0"/>
            </a:xfrm>
            <a:prstGeom prst="line">
              <a:avLst/>
            </a:prstGeom>
            <a:noFill/>
            <a:ln w="19050" cap="flat" cmpd="sng" algn="ctr">
              <a:solidFill>
                <a:srgbClr val="AA2417"/>
              </a:solidFill>
              <a:prstDash val="solid"/>
              <a:tailEnd type="non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5062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53C4A7E1-C51E-469D-91CA-2378629C444B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2ABEAB3E-83BE-4FA3-A3A9-5D7AEA46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latin typeface="맑은 고딕"/>
                <a:ea typeface="맑은 고딕"/>
              </a:rPr>
              <a:t>PI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단계의 주요 산출물 </a:t>
            </a:r>
            <a:r>
              <a:rPr lang="en-US" altLang="ko-KR" sz="2000" b="1" kern="0" spc="-138" dirty="0">
                <a:ln w="1905"/>
                <a:latin typeface="맑은 고딕"/>
                <a:ea typeface="맑은 고딕"/>
              </a:rPr>
              <a:t>–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① 혁신</a:t>
            </a:r>
            <a:r>
              <a:rPr lang="en-US" altLang="ko-KR" sz="2000" b="1" kern="0" spc="-138" dirty="0">
                <a:ln w="1905"/>
                <a:latin typeface="맑은 고딕"/>
                <a:ea typeface="맑은 고딕"/>
              </a:rPr>
              <a:t>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방향 및 중점 추진과제 도출 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472832E-3FC4-4B6A-8E38-59CAA256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59" y="927777"/>
            <a:ext cx="9434769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/>
          <a:p>
            <a:pPr>
              <a:defRPr/>
            </a:pP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국내외 업무 현황 분석과 경영진 인터뷰 등을 기반으로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8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대 중점 추진과제와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 24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개 세부 실행과제를 도출하였으며  이를 기반으로 업무 프로세스와 차세대 시스템을 설계함  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415638"/>
              </p:ext>
            </p:extLst>
          </p:nvPr>
        </p:nvGraphicFramePr>
        <p:xfrm>
          <a:off x="5005014" y="2310630"/>
          <a:ext cx="4630894" cy="4107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52">
                  <a:extLst>
                    <a:ext uri="{9D8B030D-6E8A-4147-A177-3AD203B41FA5}">
                      <a16:colId xmlns:a16="http://schemas.microsoft.com/office/drawing/2014/main" val="2274392009"/>
                    </a:ext>
                  </a:extLst>
                </a:gridCol>
                <a:gridCol w="1428872">
                  <a:extLst>
                    <a:ext uri="{9D8B030D-6E8A-4147-A177-3AD203B41FA5}">
                      <a16:colId xmlns:a16="http://schemas.microsoft.com/office/drawing/2014/main" val="1992565427"/>
                    </a:ext>
                  </a:extLst>
                </a:gridCol>
                <a:gridCol w="2571970">
                  <a:extLst>
                    <a:ext uri="{9D8B030D-6E8A-4147-A177-3AD203B41FA5}">
                      <a16:colId xmlns:a16="http://schemas.microsoft.com/office/drawing/2014/main" val="1911341563"/>
                    </a:ext>
                  </a:extLst>
                </a:gridCol>
              </a:tblGrid>
              <a:tr h="2234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중점 추진과제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세부 </a:t>
                      </a:r>
                      <a:r>
                        <a:rPr lang="ko-KR" altLang="en-US" sz="1100" dirty="0" err="1"/>
                        <a:t>실행과제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1853"/>
                  </a:ext>
                </a:extLst>
              </a:tr>
              <a:tr h="867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재무</a:t>
                      </a:r>
                      <a:endParaRPr lang="en-US" altLang="ko-KR" sz="1100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자금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/>
                        <a:t>글로벌 통합 재무 관리 체계 정립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글로벌 재무 정보 체계 통합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결산 업무 고도화를 통한 조기 결산 체계 구현 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자금 수지 분석 및 계획 수립 체계 효율화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29824"/>
                  </a:ext>
                </a:extLst>
              </a:tr>
              <a:tr h="69010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관리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회계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/>
                        <a:t>제품별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사업 영역별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dirty="0"/>
                        <a:t>손익 </a:t>
                      </a:r>
                      <a:r>
                        <a:rPr lang="en-US" altLang="ko-KR" sz="1200" b="1" dirty="0"/>
                        <a:t/>
                      </a:r>
                      <a:br>
                        <a:rPr lang="en-US" altLang="ko-KR" sz="1200" b="1" dirty="0"/>
                      </a:br>
                      <a:r>
                        <a:rPr lang="ko-KR" altLang="en-US" sz="1200" b="1" dirty="0"/>
                        <a:t>분석 정교화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영업 손익 산출을 위한 배부 체계 구축 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사전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사후 원가의 시스템적 산출 및 분석 기반 조성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54469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기획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관리 업무 고도화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전사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사업 영역별 사업 계획 수립 및 공유 체계 정립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예산 관리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</a:rPr>
                        <a:t> 프로세스 정립 및 시스템 지원 확대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229303"/>
                  </a:ext>
                </a:extLst>
              </a:tr>
              <a:tr h="77882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인프라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유연하고 안정성 있는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IT Infra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클라우드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기반 글로벌 인프라 구성 방안 수립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글로벌 서비스 보안 강화 방안 수립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1416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글로벌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통합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관리 체계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글로벌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통합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IT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지원 체계 정립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글로벌 템플릿 관리 방안 도출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21271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109966"/>
              </p:ext>
            </p:extLst>
          </p:nvPr>
        </p:nvGraphicFramePr>
        <p:xfrm>
          <a:off x="273048" y="2310630"/>
          <a:ext cx="4610236" cy="410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69">
                  <a:extLst>
                    <a:ext uri="{9D8B030D-6E8A-4147-A177-3AD203B41FA5}">
                      <a16:colId xmlns:a16="http://schemas.microsoft.com/office/drawing/2014/main" val="2274392009"/>
                    </a:ext>
                  </a:extLst>
                </a:gridCol>
                <a:gridCol w="1477394">
                  <a:extLst>
                    <a:ext uri="{9D8B030D-6E8A-4147-A177-3AD203B41FA5}">
                      <a16:colId xmlns:a16="http://schemas.microsoft.com/office/drawing/2014/main" val="1992565427"/>
                    </a:ext>
                  </a:extLst>
                </a:gridCol>
                <a:gridCol w="2492773">
                  <a:extLst>
                    <a:ext uri="{9D8B030D-6E8A-4147-A177-3AD203B41FA5}">
                      <a16:colId xmlns:a16="http://schemas.microsoft.com/office/drawing/2014/main" val="1911341563"/>
                    </a:ext>
                  </a:extLst>
                </a:gridCol>
              </a:tblGrid>
              <a:tr h="2259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중점 추진과제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세부 </a:t>
                      </a:r>
                      <a:r>
                        <a:rPr lang="ko-KR" altLang="en-US" sz="1100" dirty="0" err="1"/>
                        <a:t>실행과제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1853"/>
                  </a:ext>
                </a:extLst>
              </a:tr>
              <a:tr h="891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기준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/>
                        <a:t>전사 통합 기준정보 체계 및 관리 프로세스 정립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 err="1"/>
                        <a:t>자재마스터</a:t>
                      </a:r>
                      <a:r>
                        <a:rPr lang="ko-KR" altLang="en-US" sz="1050" dirty="0"/>
                        <a:t> 분류 체계 재정립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dirty="0"/>
                        <a:t>BP </a:t>
                      </a:r>
                      <a:r>
                        <a:rPr lang="ko-KR" altLang="en-US" sz="1050" dirty="0"/>
                        <a:t>관리 체계 개선 및 중복 방지 방안 수립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통합 기준정보 관리 프로세스 및 운영 기준 수립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29824"/>
                  </a:ext>
                </a:extLst>
              </a:tr>
              <a:tr h="685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영업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물류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/>
                        <a:t>Global</a:t>
                      </a:r>
                      <a:r>
                        <a:rPr lang="ko-KR" altLang="en-US" sz="1200" b="1" dirty="0"/>
                        <a:t> 영업 </a:t>
                      </a:r>
                      <a:r>
                        <a:rPr lang="en-US" altLang="ko-KR" sz="1200" b="1" dirty="0"/>
                        <a:t>O2C </a:t>
                      </a:r>
                      <a:r>
                        <a:rPr lang="ko-KR" altLang="en-US" sz="1200" b="1" dirty="0"/>
                        <a:t>체계 정립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dirty="0"/>
                        <a:t>Global</a:t>
                      </a:r>
                      <a:r>
                        <a:rPr lang="ko-KR" altLang="en-US" sz="1050" dirty="0"/>
                        <a:t> 표준 프로세스 정립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법인 간 거래 프로세스 최적화</a:t>
                      </a:r>
                      <a:endParaRPr lang="en-US" altLang="ko-KR" sz="1050" dirty="0"/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altLang="ko-KR" sz="1050" dirty="0"/>
                        <a:t>O2C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E2E Visibility</a:t>
                      </a:r>
                      <a:r>
                        <a:rPr lang="ko-KR" altLang="en-US" sz="1050" dirty="0"/>
                        <a:t> 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54469"/>
                  </a:ext>
                </a:extLst>
              </a:tr>
              <a:tr h="6276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구매</a:t>
                      </a:r>
                      <a:endParaRPr lang="en-US" altLang="ko-KR" sz="1100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재고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/>
                        <a:t>구매 역량</a:t>
                      </a:r>
                      <a:r>
                        <a:rPr lang="ko-KR" altLang="en-US" sz="1200" b="1" baseline="0" dirty="0"/>
                        <a:t> 강화 및 재고 관리 고도화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시스템 기반의 구매 업무 프로세스 표준화</a:t>
                      </a:r>
                      <a:endParaRPr lang="en-US" altLang="ko-K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4625" indent="-174625" algn="l" latinLnBrk="0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dirty="0"/>
                        <a:t>재고 </a:t>
                      </a:r>
                      <a:r>
                        <a:rPr lang="ko-KR" altLang="en-US" sz="1050" dirty="0" err="1"/>
                        <a:t>수불부</a:t>
                      </a:r>
                      <a:r>
                        <a:rPr lang="ko-KR" altLang="en-US" sz="1050" dirty="0"/>
                        <a:t> 관리 표준화</a:t>
                      </a:r>
                      <a:endParaRPr lang="en-US" altLang="ko-KR" sz="105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229303"/>
                  </a:ext>
                </a:extLst>
              </a:tr>
              <a:tr h="14058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생산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품질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  <a:br>
                        <a:rPr lang="en-US" altLang="ko-KR" sz="11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설비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생산관리 고도화 및 가시성 확보</a:t>
                      </a:r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생산 기준정보 정비 및 표준화 </a:t>
                      </a:r>
                      <a:endParaRPr lang="en-US" altLang="ko-K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4625" indent="-174625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생산 계획 체계 수립 및 시스템 연계 강화 </a:t>
                      </a:r>
                      <a:endParaRPr lang="en-US" altLang="ko-K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4625" indent="-174625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생산 실적 관리 신뢰성 확보</a:t>
                      </a:r>
                      <a:endParaRPr lang="en-US" altLang="ko-K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AutoNum type="arabicPeriod" startAt="4"/>
                      </a:pPr>
                      <a:r>
                        <a:rPr lang="ko-KR" altLang="en-US" sz="1050" i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품질의 시스템적 관리 체계 구현</a:t>
                      </a:r>
                      <a:endParaRPr lang="en-US" altLang="ko-KR" sz="1050" i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spcAft>
                          <a:spcPts val="300"/>
                        </a:spcAft>
                        <a:buFont typeface="+mj-lt"/>
                        <a:buAutoNum type="arabicPeriod" startAt="4"/>
                      </a:pPr>
                      <a:r>
                        <a:rPr lang="ko-KR" altLang="en-US" sz="1050" i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설비 보전 기준정보 체계 정립 및 데이터 정비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1416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22442" y="5854118"/>
            <a:ext cx="14016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향후 </a:t>
            </a:r>
            <a:r>
              <a:rPr lang="en-US" altLang="ko-KR" sz="1050" dirty="0" smtClean="0"/>
              <a:t>MES(</a:t>
            </a:r>
            <a:r>
              <a:rPr lang="ko-KR" altLang="en-US" sz="1050" dirty="0" smtClean="0"/>
              <a:t>舊 </a:t>
            </a:r>
            <a:r>
              <a:rPr lang="en-US" altLang="ko-KR" sz="1050" dirty="0" smtClean="0"/>
              <a:t>PMS) </a:t>
            </a:r>
            <a:r>
              <a:rPr lang="ko-KR" altLang="en-US" sz="1050" dirty="0"/>
              <a:t>기반 고도화 영역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273050" y="1611633"/>
            <a:ext cx="9359900" cy="644557"/>
            <a:chOff x="273060" y="1611633"/>
            <a:chExt cx="9227360" cy="644557"/>
          </a:xfrm>
        </p:grpSpPr>
        <p:grpSp>
          <p:nvGrpSpPr>
            <p:cNvPr id="32" name="그룹 31"/>
            <p:cNvGrpSpPr/>
            <p:nvPr/>
          </p:nvGrpSpPr>
          <p:grpSpPr>
            <a:xfrm>
              <a:off x="273060" y="1611633"/>
              <a:ext cx="4547410" cy="644557"/>
              <a:chOff x="405590" y="2001263"/>
              <a:chExt cx="4341846" cy="836579"/>
            </a:xfrm>
          </p:grpSpPr>
          <p:sp>
            <p:nvSpPr>
              <p:cNvPr id="33" name="직사각형 32"/>
              <p:cNvSpPr/>
              <p:nvPr/>
            </p:nvSpPr>
            <p:spPr>
              <a:xfrm>
                <a:off x="405590" y="2001263"/>
                <a:ext cx="4341846" cy="8365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  </a:t>
                </a: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혁신 </a:t>
                </a:r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/>
                </a:r>
                <a:b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</a:t>
                </a: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지향점</a:t>
                </a: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1388679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고객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/</a:t>
                </a:r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시장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/>
                </a:r>
                <a:b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대응력 제고</a:t>
                </a: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493450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사업관리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/>
                </a:r>
                <a:b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수준 고도화</a:t>
                </a: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3598222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통합 효과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/>
                </a:r>
                <a:b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극대화</a:t>
                </a:r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4953010" y="1611633"/>
              <a:ext cx="4547410" cy="644557"/>
              <a:chOff x="405590" y="2001263"/>
              <a:chExt cx="4341846" cy="836579"/>
            </a:xfrm>
          </p:grpSpPr>
          <p:sp>
            <p:nvSpPr>
              <p:cNvPr id="38" name="직사각형 37"/>
              <p:cNvSpPr/>
              <p:nvPr/>
            </p:nvSpPr>
            <p:spPr>
              <a:xfrm>
                <a:off x="405590" y="2001263"/>
                <a:ext cx="4341846" cy="8365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  </a:t>
                </a: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혁신</a:t>
                </a:r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/>
                </a:r>
                <a:b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추진 원칙</a:t>
                </a: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1388679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체계화</a:t>
                </a: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2493450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효율화</a:t>
                </a: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3598222" y="2112221"/>
                <a:ext cx="1023474" cy="6146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통합화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/>
                </a:r>
                <a:b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(</a:t>
                </a:r>
                <a:r>
                  <a:rPr lang="ko-KR" altLang="en-US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표준화</a:t>
                </a:r>
                <a:r>
                  <a:rPr lang="en-US" altLang="ko-KR" sz="13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)</a:t>
                </a:r>
                <a:endParaRPr lang="ko-KR" altLang="en-US" sz="13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FC10D6-B82E-47FD-AF4A-8F17454C6555}"/>
              </a:ext>
            </a:extLst>
          </p:cNvPr>
          <p:cNvSpPr/>
          <p:nvPr/>
        </p:nvSpPr>
        <p:spPr>
          <a:xfrm>
            <a:off x="325220" y="6438144"/>
            <a:ext cx="4331898" cy="19884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맑은 고딕"/>
                <a:ea typeface="맑은 고딕"/>
              </a:rPr>
              <a:t>BP: Business Partner   O2C : Order</a:t>
            </a:r>
            <a:r>
              <a:rPr lang="ko-KR" altLang="en-US" sz="800" dirty="0" smtClean="0">
                <a:latin typeface="맑은 고딕"/>
                <a:ea typeface="맑은 고딕"/>
              </a:rPr>
              <a:t> </a:t>
            </a:r>
            <a:r>
              <a:rPr lang="en-US" altLang="ko-KR" sz="800" dirty="0" smtClean="0">
                <a:latin typeface="맑은 고딕"/>
                <a:ea typeface="맑은 고딕"/>
              </a:rPr>
              <a:t>to Cash    MES : Manufacturing Execution System</a:t>
            </a:r>
            <a:r>
              <a:rPr lang="ko-KR" altLang="en-US" sz="800" dirty="0" smtClean="0">
                <a:latin typeface="맑은 고딕"/>
                <a:ea typeface="맑은 고딕"/>
              </a:rPr>
              <a:t>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628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53C4A7E1-C51E-469D-91CA-2378629C444B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6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2ABEAB3E-83BE-4FA3-A3A9-5D7AEA46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>
                <a:ln w="1905"/>
                <a:ea typeface="맑은 고딕"/>
              </a:rPr>
              <a:t>PI </a:t>
            </a:r>
            <a:r>
              <a:rPr lang="ko-KR" altLang="en-US" sz="2000" b="1" kern="0" spc="-138">
                <a:ln w="1905"/>
                <a:ea typeface="맑은 고딕"/>
              </a:rPr>
              <a:t>단계의 주요 산출물 </a:t>
            </a:r>
            <a:r>
              <a:rPr lang="en-US" altLang="ko-KR" sz="2000" b="1" kern="0" spc="-138">
                <a:ln w="1905"/>
                <a:ea typeface="맑은 고딕"/>
              </a:rPr>
              <a:t>– </a:t>
            </a:r>
            <a:r>
              <a:rPr lang="ko-KR" altLang="en-US" sz="2000" b="1" kern="0" spc="-138">
                <a:ln w="1905"/>
                <a:ea typeface="맑은 고딕"/>
              </a:rPr>
              <a:t>② </a:t>
            </a:r>
            <a:r>
              <a:rPr lang="en-US" altLang="ko-KR" sz="2000" b="1" kern="0" spc="-138">
                <a:ln w="1905"/>
                <a:ea typeface="맑은 고딕"/>
              </a:rPr>
              <a:t>To-Be </a:t>
            </a:r>
            <a:r>
              <a:rPr lang="ko-KR" altLang="en-US" sz="2000" b="1" kern="0" spc="-138">
                <a:ln w="1905"/>
                <a:ea typeface="맑은 고딕"/>
              </a:rPr>
              <a:t>전사 표준 업무 프로세스 설계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472832E-3FC4-4B6A-8E38-59CAA256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59" y="927777"/>
            <a:ext cx="9434769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/>
          <a:p>
            <a:pPr lvl="0">
              <a:defRPr/>
            </a:pP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전사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As-Is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프로세스에 대해 현황 분석 후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,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혁신 방향 및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PI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과제를 반영한  전사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To-Be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표준 업무 프로세스를 </a:t>
            </a:r>
            <a:endParaRPr lang="en-US" altLang="ko-KR" sz="1600" b="1" kern="0" spc="-150" dirty="0" smtClean="0">
              <a:ln w="1905"/>
              <a:solidFill>
                <a:prstClr val="black"/>
              </a:solidFill>
              <a:ea typeface="맑은 고딕"/>
            </a:endParaRPr>
          </a:p>
          <a:p>
            <a:pPr lvl="0">
              <a:defRPr/>
            </a:pPr>
            <a:r>
              <a:rPr lang="en-US" altLang="ko-KR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1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차 도출하였으며 이에 따라 </a:t>
            </a:r>
            <a:r>
              <a:rPr lang="ko-KR" altLang="en-US" sz="1600" b="1" kern="0" spc="-150" dirty="0" err="1">
                <a:ln w="1905"/>
                <a:solidFill>
                  <a:prstClr val="black"/>
                </a:solidFill>
                <a:ea typeface="맑은 고딕"/>
              </a:rPr>
              <a:t>법인별로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 분리되어 있던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As-Is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프로세스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282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개가 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225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개로 통합 관리됨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38AEBE-265D-40BB-A5ED-E9C88705F796}"/>
              </a:ext>
            </a:extLst>
          </p:cNvPr>
          <p:cNvSpPr txBox="1"/>
          <p:nvPr/>
        </p:nvSpPr>
        <p:spPr>
          <a:xfrm>
            <a:off x="287293" y="2012535"/>
            <a:ext cx="9382169" cy="2038600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wrap="square" lIns="72000" tIns="36000" rIns="72000" bIns="36000" rtlCol="0" anchor="ctr">
            <a:noAutofit/>
          </a:bodyPr>
          <a:lstStyle/>
          <a:p>
            <a:pPr marL="144000" marR="0" lvl="0" indent="-144000" algn="l" defTabSz="957769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rial" pitchFamily="34" charset="0"/>
              </a:rPr>
              <a:t>22222</a:t>
            </a:r>
            <a:endParaRPr kumimoji="0" lang="ko-KR" alt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1" name="오른쪽 화살표 118">
            <a:extLst>
              <a:ext uri="{FF2B5EF4-FFF2-40B4-BE49-F238E27FC236}">
                <a16:creationId xmlns:a16="http://schemas.microsoft.com/office/drawing/2014/main" id="{7B895C07-E564-492B-BC88-6520CE6D7531}"/>
              </a:ext>
            </a:extLst>
          </p:cNvPr>
          <p:cNvSpPr/>
          <p:nvPr/>
        </p:nvSpPr>
        <p:spPr>
          <a:xfrm>
            <a:off x="5748144" y="2040659"/>
            <a:ext cx="2120258" cy="2037295"/>
          </a:xfrm>
          <a:prstGeom prst="rightArrow">
            <a:avLst>
              <a:gd name="adj1" fmla="val 74531"/>
              <a:gd name="adj2" fmla="val 25720"/>
            </a:avLst>
          </a:prstGeom>
          <a:gradFill flip="none" rotWithShape="1">
            <a:gsLst>
              <a:gs pos="0">
                <a:srgbClr val="FFFFFF">
                  <a:lumMod val="85000"/>
                </a:srgbClr>
              </a:gs>
              <a:gs pos="50000">
                <a:srgbClr val="FFFFFF">
                  <a:lumMod val="9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468000" rIns="0" rtlCol="0" anchor="ctr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 고도화</a:t>
            </a:r>
            <a:r>
              <a:rPr kumimoji="0" lang="en-US" altLang="ko-KR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전문화</a:t>
            </a:r>
            <a:endParaRPr kumimoji="0" lang="en-US" altLang="ko-KR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혁신 방향 및 </a:t>
            </a:r>
            <a:r>
              <a:rPr kumimoji="0" lang="en-US" altLang="ko-KR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PI </a:t>
            </a:r>
            <a:r>
              <a:rPr kumimoji="0" lang="ko-KR" altLang="en-U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과제 설계 내용 중점 반영</a:t>
            </a:r>
          </a:p>
        </p:txBody>
      </p:sp>
      <p:sp>
        <p:nvSpPr>
          <p:cNvPr id="32" name="Rectangle 147">
            <a:extLst>
              <a:ext uri="{FF2B5EF4-FFF2-40B4-BE49-F238E27FC236}">
                <a16:creationId xmlns:a16="http://schemas.microsoft.com/office/drawing/2014/main" id="{550515B6-4425-4DF3-BCB0-39DB3530E265}"/>
              </a:ext>
            </a:extLst>
          </p:cNvPr>
          <p:cNvSpPr/>
          <p:nvPr/>
        </p:nvSpPr>
        <p:spPr>
          <a:xfrm>
            <a:off x="337660" y="2135189"/>
            <a:ext cx="5811005" cy="1820029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t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6900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전사 프로세스</a:t>
            </a:r>
            <a:endParaRPr kumimoji="0" lang="en-US" altLang="ko-KR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Line 42">
            <a:extLst>
              <a:ext uri="{FF2B5EF4-FFF2-40B4-BE49-F238E27FC236}">
                <a16:creationId xmlns:a16="http://schemas.microsoft.com/office/drawing/2014/main" id="{3009E2AB-8325-4F0C-A2C9-12EF770AA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6517" y="2475733"/>
            <a:ext cx="0" cy="136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58D8813A-1B12-4188-9C67-0CC010CAE59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9224" y="4155574"/>
            <a:ext cx="9382168" cy="3288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solidFill>
              <a:srgbClr val="7F7F7F"/>
            </a:solidFill>
            <a:prstDash val="solid"/>
          </a:ln>
          <a:effectLst/>
        </p:spPr>
        <p:txBody>
          <a:bodyPr lIns="90000" tIns="46800" rIns="90000" bIns="46800" rtlCol="0" anchor="ctr" anchorCtr="0"/>
          <a:lstStyle/>
          <a:p>
            <a:pPr marL="0" marR="0" lvl="0" indent="-93663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47675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영역 별 </a:t>
            </a: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To-Be </a:t>
            </a: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프로세스 구성 및 주요 변화 내용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0DF08DB-C048-4148-9E92-052CC24C2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18570"/>
              </p:ext>
            </p:extLst>
          </p:nvPr>
        </p:nvGraphicFramePr>
        <p:xfrm>
          <a:off x="276718" y="4569825"/>
          <a:ext cx="4608512" cy="1657718"/>
        </p:xfrm>
        <a:graphic>
          <a:graphicData uri="http://schemas.openxmlformats.org/drawingml/2006/table">
            <a:tbl>
              <a:tblPr firstRow="1" bandRow="1"/>
              <a:tblGrid>
                <a:gridCol w="939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3501566662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1440031822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2597855168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2716052590"/>
                    </a:ext>
                  </a:extLst>
                </a:gridCol>
                <a:gridCol w="611440">
                  <a:extLst>
                    <a:ext uri="{9D8B030D-6E8A-4147-A177-3AD203B41FA5}">
                      <a16:colId xmlns:a16="http://schemas.microsoft.com/office/drawing/2014/main" val="3553688605"/>
                    </a:ext>
                  </a:extLst>
                </a:gridCol>
              </a:tblGrid>
              <a:tr h="5771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Mega process</a:t>
                      </a:r>
                    </a:p>
                    <a:p>
                      <a:pPr algn="ctr" rtl="0" fontAlgn="ctr"/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(Lv.1)</a:t>
                      </a: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79200" marR="792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</a:t>
                      </a:r>
                      <a:endParaRPr lang="en-US" altLang="ko-KR" sz="1000" b="1" i="0" u="none" strike="noStrike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자금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회계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</a:t>
                      </a:r>
                      <a:endParaRPr lang="ko-KR" altLang="en-US" sz="1000" b="1" i="0" u="none" strike="noStrike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3331"/>
                  </a:ext>
                </a:extLst>
              </a:tr>
              <a:tr h="27013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개수</a:t>
                      </a:r>
                      <a:r>
                        <a:rPr lang="en-US" altLang="ko-KR" sz="1000" b="1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(Lv.4)</a:t>
                      </a:r>
                      <a:endParaRPr lang="ko-KR" altLang="en-US" sz="1000" b="1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spc="-3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</a:t>
                      </a:r>
                      <a:endParaRPr lang="ko-KR" altLang="en-US" sz="1000" b="1" i="0" u="none" strike="noStrike" spc="-3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359265"/>
                  </a:ext>
                </a:extLst>
              </a:tr>
              <a:tr h="270134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79200" marR="792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000" b="0" i="0" u="none" strike="noStrike" spc="-3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spc="-3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102</a:t>
                      </a:r>
                      <a:endParaRPr lang="ko-KR" altLang="en-US" sz="1000" b="1" i="0" u="none" strike="noStrike" spc="-3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13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endParaRPr lang="en-US" altLang="ko-KR" sz="1000" b="1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Georgia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3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  <a:endParaRPr lang="ko-KR" altLang="en-US" sz="1000" b="1" i="0" u="none" strike="noStrike" spc="-3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13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en-US" altLang="ko-KR" sz="1000" b="1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b="0" i="0" u="none" strike="noStrike" spc="-3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b="0" i="0" u="none" strike="noStrike" spc="-3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pc="-3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b="0" i="0" u="none" strike="noStrike" spc="-3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spc="-3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</a:t>
                      </a:r>
                      <a:endParaRPr lang="ko-KR" altLang="en-US" sz="1000" b="1" i="0" u="none" strike="noStrike" spc="-3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200" marR="792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77702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2B98B864-5143-474F-B54E-1A527E8B8FD9}"/>
              </a:ext>
            </a:extLst>
          </p:cNvPr>
          <p:cNvSpPr txBox="1"/>
          <p:nvPr/>
        </p:nvSpPr>
        <p:spPr>
          <a:xfrm>
            <a:off x="5024438" y="4611285"/>
            <a:ext cx="4608512" cy="1631216"/>
          </a:xfrm>
          <a:prstGeom prst="rect">
            <a:avLst/>
          </a:prstGeom>
          <a:noFill/>
        </p:spPr>
        <p:txBody>
          <a:bodyPr wrap="square" lIns="3600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견적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제품개발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오더 단계의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Global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표준 프로세스 정립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자재의 속성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특성 관리 기능 강화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재고 관리 기능 추가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생산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생산 기준정보 정비 및 생산 계획 체제 시스템 연계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글로벌 재무정보 체계 통합 및 결산 업무 고도화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관리회계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 영역별 손익 분석 </a:t>
            </a:r>
            <a:r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정교화</a:t>
            </a:r>
            <a:r>
              <a:rPr kumimoji="0" lang="en-US" altLang="ko-KR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원가</a:t>
            </a:r>
            <a:r>
              <a:rPr lang="ko-KR" altLang="en-US" sz="11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강화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670085C-4D02-FC23-1B24-9E9662865A4E}"/>
              </a:ext>
            </a:extLst>
          </p:cNvPr>
          <p:cNvGrpSpPr/>
          <p:nvPr/>
        </p:nvGrpSpPr>
        <p:grpSpPr>
          <a:xfrm>
            <a:off x="368172" y="2450333"/>
            <a:ext cx="1787890" cy="1427119"/>
            <a:chOff x="339891" y="2234143"/>
            <a:chExt cx="1787890" cy="1427119"/>
          </a:xfrm>
        </p:grpSpPr>
        <p:sp>
          <p:nvSpPr>
            <p:cNvPr id="38" name="Rectangle 147">
              <a:extLst>
                <a:ext uri="{FF2B5EF4-FFF2-40B4-BE49-F238E27FC236}">
                  <a16:creationId xmlns:a16="http://schemas.microsoft.com/office/drawing/2014/main" id="{5DAAD1BB-7B1A-4AE4-ACA6-2A1E08A820BD}"/>
                </a:ext>
              </a:extLst>
            </p:cNvPr>
            <p:cNvSpPr/>
            <p:nvPr/>
          </p:nvSpPr>
          <p:spPr>
            <a:xfrm>
              <a:off x="339891" y="2234143"/>
              <a:ext cx="1787889" cy="24919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tIns="46800" rIns="90000" bIns="4680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사업 부문 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모서리가 둥근 직사각형 61">
              <a:extLst>
                <a:ext uri="{FF2B5EF4-FFF2-40B4-BE49-F238E27FC236}">
                  <a16:creationId xmlns:a16="http://schemas.microsoft.com/office/drawing/2014/main" id="{D7D1FD22-FC65-4E24-99EE-6150B3FFC1D3}"/>
                </a:ext>
              </a:extLst>
            </p:cNvPr>
            <p:cNvSpPr/>
            <p:nvPr/>
          </p:nvSpPr>
          <p:spPr>
            <a:xfrm>
              <a:off x="339891" y="256513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Garment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모서리가 둥근 직사각형 61">
              <a:extLst>
                <a:ext uri="{FF2B5EF4-FFF2-40B4-BE49-F238E27FC236}">
                  <a16:creationId xmlns:a16="http://schemas.microsoft.com/office/drawing/2014/main" id="{04B25633-0825-467B-8B1B-F49401BB8ABB}"/>
                </a:ext>
              </a:extLst>
            </p:cNvPr>
            <p:cNvSpPr/>
            <p:nvPr/>
          </p:nvSpPr>
          <p:spPr>
            <a:xfrm>
              <a:off x="942917" y="2569092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Padding 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모서리가 둥근 직사각형 61">
              <a:extLst>
                <a:ext uri="{FF2B5EF4-FFF2-40B4-BE49-F238E27FC236}">
                  <a16:creationId xmlns:a16="http://schemas.microsoft.com/office/drawing/2014/main" id="{2024BE01-7412-4A30-A101-8F0652BFEA87}"/>
                </a:ext>
              </a:extLst>
            </p:cNvPr>
            <p:cNvSpPr/>
            <p:nvPr/>
          </p:nvSpPr>
          <p:spPr>
            <a:xfrm>
              <a:off x="1545944" y="2561103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Sweater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모서리가 둥근 직사각형 61">
              <a:extLst>
                <a:ext uri="{FF2B5EF4-FFF2-40B4-BE49-F238E27FC236}">
                  <a16:creationId xmlns:a16="http://schemas.microsoft.com/office/drawing/2014/main" id="{A3724D21-EBA3-82C1-6733-2F5135334ACB}"/>
                </a:ext>
              </a:extLst>
            </p:cNvPr>
            <p:cNvSpPr/>
            <p:nvPr/>
          </p:nvSpPr>
          <p:spPr>
            <a:xfrm>
              <a:off x="339891" y="314601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Shoes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모서리가 둥근 직사각형 61">
              <a:extLst>
                <a:ext uri="{FF2B5EF4-FFF2-40B4-BE49-F238E27FC236}">
                  <a16:creationId xmlns:a16="http://schemas.microsoft.com/office/drawing/2014/main" id="{0C9B6CF9-9A6B-AECE-D1C0-23B76DD00F93}"/>
                </a:ext>
              </a:extLst>
            </p:cNvPr>
            <p:cNvSpPr/>
            <p:nvPr/>
          </p:nvSpPr>
          <p:spPr>
            <a:xfrm>
              <a:off x="1545944" y="314601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Back-pack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모서리가 둥근 직사각형 61">
              <a:extLst>
                <a:ext uri="{FF2B5EF4-FFF2-40B4-BE49-F238E27FC236}">
                  <a16:creationId xmlns:a16="http://schemas.microsoft.com/office/drawing/2014/main" id="{68313547-7FA9-8285-C4EA-D049D3049AE7}"/>
                </a:ext>
              </a:extLst>
            </p:cNvPr>
            <p:cNvSpPr/>
            <p:nvPr/>
          </p:nvSpPr>
          <p:spPr>
            <a:xfrm>
              <a:off x="942917" y="314601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Material</a:t>
              </a: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CC673AA-A2F5-6441-C08A-B7AD401DF3ED}"/>
              </a:ext>
            </a:extLst>
          </p:cNvPr>
          <p:cNvGrpSpPr/>
          <p:nvPr/>
        </p:nvGrpSpPr>
        <p:grpSpPr>
          <a:xfrm>
            <a:off x="2336972" y="2450333"/>
            <a:ext cx="1791279" cy="1427119"/>
            <a:chOff x="2348130" y="2234143"/>
            <a:chExt cx="1791279" cy="1427119"/>
          </a:xfrm>
        </p:grpSpPr>
        <p:sp>
          <p:nvSpPr>
            <p:cNvPr id="46" name="모서리가 둥근 직사각형 61">
              <a:extLst>
                <a:ext uri="{FF2B5EF4-FFF2-40B4-BE49-F238E27FC236}">
                  <a16:creationId xmlns:a16="http://schemas.microsoft.com/office/drawing/2014/main" id="{BFB015B5-4FD9-65AC-6EA9-10B8F40AD189}"/>
                </a:ext>
              </a:extLst>
            </p:cNvPr>
            <p:cNvSpPr/>
            <p:nvPr/>
          </p:nvSpPr>
          <p:spPr>
            <a:xfrm>
              <a:off x="2351519" y="256513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영업</a:t>
              </a: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</a:t>
              </a:r>
              <a:b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물류</a:t>
              </a:r>
            </a:p>
          </p:txBody>
        </p:sp>
        <p:sp>
          <p:nvSpPr>
            <p:cNvPr id="47" name="모서리가 둥근 직사각형 61">
              <a:extLst>
                <a:ext uri="{FF2B5EF4-FFF2-40B4-BE49-F238E27FC236}">
                  <a16:creationId xmlns:a16="http://schemas.microsoft.com/office/drawing/2014/main" id="{54975858-F0FE-CF1D-4647-764F3750CD06}"/>
                </a:ext>
              </a:extLst>
            </p:cNvPr>
            <p:cNvSpPr/>
            <p:nvPr/>
          </p:nvSpPr>
          <p:spPr>
            <a:xfrm>
              <a:off x="2954545" y="2569092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구매</a:t>
              </a: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</a:t>
              </a:r>
              <a:b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재고</a:t>
              </a:r>
            </a:p>
          </p:txBody>
        </p:sp>
        <p:sp>
          <p:nvSpPr>
            <p:cNvPr id="48" name="모서리가 둥근 직사각형 61">
              <a:extLst>
                <a:ext uri="{FF2B5EF4-FFF2-40B4-BE49-F238E27FC236}">
                  <a16:creationId xmlns:a16="http://schemas.microsoft.com/office/drawing/2014/main" id="{7A17C0F5-B6DC-2041-3DE2-E80EFA8DE2EB}"/>
                </a:ext>
              </a:extLst>
            </p:cNvPr>
            <p:cNvSpPr/>
            <p:nvPr/>
          </p:nvSpPr>
          <p:spPr>
            <a:xfrm>
              <a:off x="3557572" y="2561103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생산</a:t>
              </a: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</a:t>
              </a:r>
              <a:b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품질</a:t>
              </a: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</a:t>
              </a:r>
              <a:b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설비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6D4D151-F5F6-DEAA-D707-FF2598C9EDCB}"/>
                </a:ext>
              </a:extLst>
            </p:cNvPr>
            <p:cNvGrpSpPr/>
            <p:nvPr/>
          </p:nvGrpSpPr>
          <p:grpSpPr>
            <a:xfrm>
              <a:off x="2616319" y="3146016"/>
              <a:ext cx="1184862" cy="515246"/>
              <a:chOff x="2771103" y="3146016"/>
              <a:chExt cx="1265426" cy="515246"/>
            </a:xfrm>
          </p:grpSpPr>
          <p:sp>
            <p:nvSpPr>
              <p:cNvPr id="51" name="모서리가 둥근 직사각형 61">
                <a:extLst>
                  <a:ext uri="{FF2B5EF4-FFF2-40B4-BE49-F238E27FC236}">
                    <a16:creationId xmlns:a16="http://schemas.microsoft.com/office/drawing/2014/main" id="{C3F49F2D-C250-B727-14E1-2D8FEAF03A68}"/>
                  </a:ext>
                </a:extLst>
              </p:cNvPr>
              <p:cNvSpPr/>
              <p:nvPr/>
            </p:nvSpPr>
            <p:spPr>
              <a:xfrm>
                <a:off x="2771103" y="3146016"/>
                <a:ext cx="621398" cy="515246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5776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69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재무</a:t>
                </a:r>
                <a:r>
                  <a:rPr kumimoji="0" lang="en-US" altLang="ko-KR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/</a:t>
                </a:r>
                <a:br>
                  <a:rPr kumimoji="0" lang="en-US" altLang="ko-KR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</a:br>
                <a:r>
                  <a: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자금</a:t>
                </a:r>
              </a:p>
            </p:txBody>
          </p:sp>
          <p:sp>
            <p:nvSpPr>
              <p:cNvPr id="52" name="모서리가 둥근 직사각형 61">
                <a:extLst>
                  <a:ext uri="{FF2B5EF4-FFF2-40B4-BE49-F238E27FC236}">
                    <a16:creationId xmlns:a16="http://schemas.microsoft.com/office/drawing/2014/main" id="{3C601D8C-636D-2353-703D-276A441212D3}"/>
                  </a:ext>
                </a:extLst>
              </p:cNvPr>
              <p:cNvSpPr/>
              <p:nvPr/>
            </p:nvSpPr>
            <p:spPr>
              <a:xfrm>
                <a:off x="3415131" y="3146016"/>
                <a:ext cx="621398" cy="515246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5776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69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관리회계</a:t>
                </a:r>
              </a:p>
            </p:txBody>
          </p:sp>
        </p:grpSp>
        <p:sp>
          <p:nvSpPr>
            <p:cNvPr id="50" name="Rectangle 147">
              <a:extLst>
                <a:ext uri="{FF2B5EF4-FFF2-40B4-BE49-F238E27FC236}">
                  <a16:creationId xmlns:a16="http://schemas.microsoft.com/office/drawing/2014/main" id="{7F4B29F7-63E8-AB86-1EB7-28BE6FC58CA4}"/>
                </a:ext>
              </a:extLst>
            </p:cNvPr>
            <p:cNvSpPr/>
            <p:nvPr/>
          </p:nvSpPr>
          <p:spPr>
            <a:xfrm>
              <a:off x="2348130" y="2234143"/>
              <a:ext cx="1787889" cy="24919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tIns="46800" rIns="90000" bIns="4680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프로세스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3A8BDFE-267F-1DAC-B92F-54F4A60465C7}"/>
              </a:ext>
            </a:extLst>
          </p:cNvPr>
          <p:cNvGrpSpPr/>
          <p:nvPr/>
        </p:nvGrpSpPr>
        <p:grpSpPr>
          <a:xfrm>
            <a:off x="4309163" y="2450333"/>
            <a:ext cx="1789979" cy="1427119"/>
            <a:chOff x="4280882" y="2234143"/>
            <a:chExt cx="1789979" cy="1427119"/>
          </a:xfrm>
        </p:grpSpPr>
        <p:sp>
          <p:nvSpPr>
            <p:cNvPr id="54" name="Rectangle 147">
              <a:extLst>
                <a:ext uri="{FF2B5EF4-FFF2-40B4-BE49-F238E27FC236}">
                  <a16:creationId xmlns:a16="http://schemas.microsoft.com/office/drawing/2014/main" id="{DCB8F8B0-76A3-B254-52CB-DEC84A90B841}"/>
                </a:ext>
              </a:extLst>
            </p:cNvPr>
            <p:cNvSpPr/>
            <p:nvPr/>
          </p:nvSpPr>
          <p:spPr>
            <a:xfrm>
              <a:off x="4280882" y="2234143"/>
              <a:ext cx="1787889" cy="24919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tIns="46800" rIns="90000" bIns="4680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기준정보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모서리가 둥근 직사각형 61">
              <a:extLst>
                <a:ext uri="{FF2B5EF4-FFF2-40B4-BE49-F238E27FC236}">
                  <a16:creationId xmlns:a16="http://schemas.microsoft.com/office/drawing/2014/main" id="{A52C756D-10D9-0AD1-6D01-0D1D6BFD887A}"/>
                </a:ext>
              </a:extLst>
            </p:cNvPr>
            <p:cNvSpPr/>
            <p:nvPr/>
          </p:nvSpPr>
          <p:spPr>
            <a:xfrm>
              <a:off x="4282972" y="2565136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Material</a:t>
              </a:r>
              <a:b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Master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모서리가 둥근 직사각형 61">
              <a:extLst>
                <a:ext uri="{FF2B5EF4-FFF2-40B4-BE49-F238E27FC236}">
                  <a16:creationId xmlns:a16="http://schemas.microsoft.com/office/drawing/2014/main" id="{79287CE3-8A87-D1AC-CB83-CD400E2E34DB}"/>
                </a:ext>
              </a:extLst>
            </p:cNvPr>
            <p:cNvSpPr/>
            <p:nvPr/>
          </p:nvSpPr>
          <p:spPr>
            <a:xfrm>
              <a:off x="4885998" y="2569092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lang="en-US" altLang="ko-KR" sz="1000" b="1" kern="0" dirty="0" smtClean="0">
                  <a:solidFill>
                    <a:srgbClr val="000000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Chart of </a:t>
              </a:r>
              <a:r>
                <a:rPr kumimoji="0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Accounting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모서리가 둥근 직사각형 61">
              <a:extLst>
                <a:ext uri="{FF2B5EF4-FFF2-40B4-BE49-F238E27FC236}">
                  <a16:creationId xmlns:a16="http://schemas.microsoft.com/office/drawing/2014/main" id="{AD93F680-0C23-A117-7E96-F9D90D6BA1D8}"/>
                </a:ext>
              </a:extLst>
            </p:cNvPr>
            <p:cNvSpPr/>
            <p:nvPr/>
          </p:nvSpPr>
          <p:spPr>
            <a:xfrm>
              <a:off x="5489024" y="2561103"/>
              <a:ext cx="581837" cy="51524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C6900"/>
                </a:buClr>
                <a:buSzPct val="80000"/>
                <a:buFontTx/>
                <a:buNone/>
                <a:tabLst/>
                <a:defRPr/>
              </a:pPr>
              <a:r>
                <a:rPr lang="en-US" altLang="ko-KR" sz="1000" b="1" kern="0" noProof="0" dirty="0" smtClean="0">
                  <a:solidFill>
                    <a:srgbClr val="000000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Business</a:t>
              </a:r>
              <a:br>
                <a:rPr lang="en-US" altLang="ko-KR" sz="1000" b="1" kern="0" noProof="0" dirty="0" smtClean="0">
                  <a:solidFill>
                    <a:srgbClr val="000000"/>
                  </a:solidFill>
                  <a:latin typeface="맑은 고딕" panose="020F0502020204030204"/>
                  <a:ea typeface="맑은 고딕" panose="020B0503020000020004" pitchFamily="50" charset="-127"/>
                </a:rPr>
              </a:br>
              <a:r>
                <a:rPr kumimoji="0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Partner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ED70E6B-D72A-8135-63D1-0BB600748050}"/>
                </a:ext>
              </a:extLst>
            </p:cNvPr>
            <p:cNvGrpSpPr/>
            <p:nvPr/>
          </p:nvGrpSpPr>
          <p:grpSpPr>
            <a:xfrm>
              <a:off x="4547772" y="3146016"/>
              <a:ext cx="1184862" cy="515246"/>
              <a:chOff x="2771103" y="3146016"/>
              <a:chExt cx="1265426" cy="515246"/>
            </a:xfrm>
          </p:grpSpPr>
          <p:sp>
            <p:nvSpPr>
              <p:cNvPr id="59" name="모서리가 둥근 직사각형 61">
                <a:extLst>
                  <a:ext uri="{FF2B5EF4-FFF2-40B4-BE49-F238E27FC236}">
                    <a16:creationId xmlns:a16="http://schemas.microsoft.com/office/drawing/2014/main" id="{A314783C-0FE4-A3C4-9708-F0B83F9B2F84}"/>
                  </a:ext>
                </a:extLst>
              </p:cNvPr>
              <p:cNvSpPr/>
              <p:nvPr/>
            </p:nvSpPr>
            <p:spPr>
              <a:xfrm>
                <a:off x="2771103" y="3146016"/>
                <a:ext cx="621398" cy="515246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5776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6900"/>
                  </a:buClr>
                  <a:buSzPct val="80000"/>
                  <a:buFontTx/>
                  <a:buNone/>
                  <a:tabLst/>
                  <a:defRPr/>
                </a:pPr>
                <a:r>
                  <a:rPr lang="en-US" altLang="ko-KR" sz="1000" b="1" kern="0" dirty="0">
                    <a:solidFill>
                      <a:srgbClr val="000000"/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BOM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0" name="모서리가 둥근 직사각형 61">
                <a:extLst>
                  <a:ext uri="{FF2B5EF4-FFF2-40B4-BE49-F238E27FC236}">
                    <a16:creationId xmlns:a16="http://schemas.microsoft.com/office/drawing/2014/main" id="{70E52053-12E1-6C73-9019-B457589D07BA}"/>
                  </a:ext>
                </a:extLst>
              </p:cNvPr>
              <p:cNvSpPr/>
              <p:nvPr/>
            </p:nvSpPr>
            <p:spPr>
              <a:xfrm>
                <a:off x="3415131" y="3146016"/>
                <a:ext cx="621398" cy="515246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5776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6900"/>
                  </a:buClr>
                  <a:buSzPct val="80000"/>
                  <a:buFontTx/>
                  <a:buNone/>
                  <a:tabLst/>
                  <a:defRPr/>
                </a:pPr>
                <a:r>
                  <a:rPr lang="en-US" altLang="ko-KR" sz="1000" b="1" kern="0" dirty="0">
                    <a:solidFill>
                      <a:srgbClr val="000000"/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…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61" name="Line 42">
            <a:extLst>
              <a:ext uri="{FF2B5EF4-FFF2-40B4-BE49-F238E27FC236}">
                <a16:creationId xmlns:a16="http://schemas.microsoft.com/office/drawing/2014/main" id="{8401E96D-6C6D-3FF5-7033-25AC33A5F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8706" y="2475733"/>
            <a:ext cx="0" cy="136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CE6317-99FC-DAE3-6949-EF975215B864}"/>
              </a:ext>
            </a:extLst>
          </p:cNvPr>
          <p:cNvSpPr txBox="1"/>
          <p:nvPr/>
        </p:nvSpPr>
        <p:spPr>
          <a:xfrm>
            <a:off x="7920015" y="2149021"/>
            <a:ext cx="1610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As-Is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프로세스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(L4)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58519EFD-2966-2E09-CBE9-27FD6AA064CD}"/>
              </a:ext>
            </a:extLst>
          </p:cNvPr>
          <p:cNvSpPr/>
          <p:nvPr/>
        </p:nvSpPr>
        <p:spPr>
          <a:xfrm>
            <a:off x="8361817" y="2416947"/>
            <a:ext cx="535829" cy="535197"/>
          </a:xfrm>
          <a:prstGeom prst="ellipse">
            <a:avLst/>
          </a:prstGeom>
          <a:noFill/>
          <a:ln w="444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282</a:t>
            </a:r>
            <a:endParaRPr kumimoji="0" lang="ko-KR" altLang="en-US" sz="1500" b="1" i="0" u="none" strike="noStrike" kern="1200" cap="none" spc="0" normalizeH="0" baseline="0" noProof="0">
              <a:ln>
                <a:noFill/>
              </a:ln>
              <a:solidFill>
                <a:srgbClr val="AFABAB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F7EA7A-6798-9D11-C494-D594D5A1E5B3}"/>
              </a:ext>
            </a:extLst>
          </p:cNvPr>
          <p:cNvSpPr txBox="1"/>
          <p:nvPr/>
        </p:nvSpPr>
        <p:spPr>
          <a:xfrm>
            <a:off x="7920015" y="3129715"/>
            <a:ext cx="1610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To-Be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프로세스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(L4)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27C6638-088F-4A80-E622-F5AA01FA058F}"/>
              </a:ext>
            </a:extLst>
          </p:cNvPr>
          <p:cNvSpPr/>
          <p:nvPr/>
        </p:nvSpPr>
        <p:spPr>
          <a:xfrm>
            <a:off x="8361817" y="3397641"/>
            <a:ext cx="535829" cy="535197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225</a:t>
            </a:r>
            <a:endParaRPr kumimoji="0" lang="ko-KR" altLang="en-US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DD0FBE-794E-6A0E-4408-76399D84C0AE}"/>
              </a:ext>
            </a:extLst>
          </p:cNvPr>
          <p:cNvSpPr txBox="1"/>
          <p:nvPr/>
        </p:nvSpPr>
        <p:spPr>
          <a:xfrm>
            <a:off x="8895659" y="2499879"/>
            <a:ext cx="5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273D6D-4800-0977-993F-F02AA9A73958}"/>
              </a:ext>
            </a:extLst>
          </p:cNvPr>
          <p:cNvSpPr txBox="1"/>
          <p:nvPr/>
        </p:nvSpPr>
        <p:spPr>
          <a:xfrm>
            <a:off x="8895659" y="3480573"/>
            <a:ext cx="5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500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53C4A7E1-C51E-469D-91CA-2378629C444B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7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2ABEAB3E-83BE-4FA3-A3A9-5D7AEA46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PI </a:t>
            </a:r>
            <a:r>
              <a:rPr lang="ko-KR" altLang="en-US" sz="2000" b="1" kern="0" spc="-138" dirty="0">
                <a:ln w="1905"/>
                <a:ea typeface="맑은 고딕"/>
              </a:rPr>
              <a:t>단계의 주요 산출물 </a:t>
            </a:r>
            <a:r>
              <a:rPr lang="en-US" altLang="ko-KR" sz="2000" b="1" kern="0" spc="-138" dirty="0">
                <a:ln w="1905"/>
                <a:ea typeface="맑은 고딕"/>
              </a:rPr>
              <a:t>– </a:t>
            </a:r>
            <a:r>
              <a:rPr lang="ko-KR" altLang="en-US" sz="2000" b="1" kern="0" spc="-138" dirty="0">
                <a:ln w="1905"/>
                <a:ea typeface="맑은 고딕"/>
              </a:rPr>
              <a:t>③ </a:t>
            </a:r>
            <a:r>
              <a:rPr lang="en-US" altLang="ko-KR" sz="2000" b="1" kern="0" spc="-138" dirty="0">
                <a:ln w="1905"/>
                <a:ea typeface="맑은 고딕"/>
              </a:rPr>
              <a:t>To-Be </a:t>
            </a:r>
            <a:r>
              <a:rPr lang="ko-KR" altLang="en-US" sz="2000" b="1" kern="0" spc="-138" dirty="0">
                <a:ln w="1905"/>
                <a:ea typeface="맑은 고딕"/>
              </a:rPr>
              <a:t>시스템</a:t>
            </a:r>
            <a:r>
              <a:rPr lang="en-US" altLang="ko-KR" sz="2000" b="1" kern="0" spc="-138" dirty="0">
                <a:ln w="1905"/>
                <a:ea typeface="맑은 고딕"/>
              </a:rPr>
              <a:t> </a:t>
            </a:r>
            <a:r>
              <a:rPr lang="ko-KR" altLang="en-US" sz="2000" b="1" kern="0" spc="-138" dirty="0" err="1">
                <a:ln w="1905"/>
                <a:ea typeface="맑은 고딕"/>
              </a:rPr>
              <a:t>아키텍쳐</a:t>
            </a:r>
            <a:r>
              <a:rPr lang="ko-KR" altLang="en-US" sz="2000" b="1" kern="0" spc="-138" dirty="0">
                <a:ln w="1905"/>
                <a:ea typeface="맑은 고딕"/>
              </a:rPr>
              <a:t> 설계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472832E-3FC4-4B6A-8E38-59CAA256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59" y="927777"/>
            <a:ext cx="9434769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/>
          <a:p>
            <a:pPr lvl="0">
              <a:defRPr/>
            </a:pP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세부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실행 과제의 설계 </a:t>
            </a: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내용</a:t>
            </a:r>
            <a:r>
              <a:rPr lang="en-US" altLang="ko-KR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, To-Be </a:t>
            </a: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업무 프로세스 설계</a:t>
            </a:r>
            <a:r>
              <a:rPr lang="en-US" altLang="ko-KR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, </a:t>
            </a: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현업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실무자들의 기능요건 등을 반영하여 영원의 차세대</a:t>
            </a:r>
            <a:r>
              <a:rPr lang="en-US" altLang="ko-KR" sz="1600" b="1" kern="0" spc="-150" dirty="0">
                <a:ln w="1905"/>
                <a:solidFill>
                  <a:prstClr val="black"/>
                </a:solidFill>
                <a:ea typeface="맑은 고딕"/>
              </a:rPr>
              <a:t> ERP </a:t>
            </a:r>
            <a:r>
              <a:rPr lang="ko-KR" altLang="en-US" sz="1600" b="1" kern="0" spc="-150" dirty="0">
                <a:ln w="1905"/>
                <a:solidFill>
                  <a:prstClr val="black"/>
                </a:solidFill>
                <a:ea typeface="맑은 고딕"/>
              </a:rPr>
              <a:t>시스템 </a:t>
            </a: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아키텍처를 설계함 </a:t>
            </a:r>
            <a:r>
              <a:rPr lang="en-US" altLang="ko-KR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(Garment </a:t>
            </a:r>
            <a:r>
              <a:rPr lang="ko-KR" altLang="en-US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중심</a:t>
            </a:r>
            <a:r>
              <a:rPr lang="en-US" altLang="ko-KR" sz="1600" b="1" kern="0" spc="-150" dirty="0" smtClean="0">
                <a:ln w="1905"/>
                <a:solidFill>
                  <a:prstClr val="black"/>
                </a:solidFill>
                <a:ea typeface="맑은 고딕"/>
              </a:rPr>
              <a:t>)</a:t>
            </a:r>
            <a:endParaRPr lang="ko-KR" altLang="en-US" sz="1600" b="1" kern="0" spc="-150" dirty="0">
              <a:ln w="1905"/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14212" y="1534979"/>
            <a:ext cx="9232460" cy="4781232"/>
            <a:chOff x="584447" y="1534979"/>
            <a:chExt cx="8641656" cy="4781232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16F3678F-CA02-4BFF-930E-CB682AC73D40}"/>
                </a:ext>
              </a:extLst>
            </p:cNvPr>
            <p:cNvSpPr/>
            <p:nvPr/>
          </p:nvSpPr>
          <p:spPr>
            <a:xfrm flipH="1">
              <a:off x="584447" y="1863393"/>
              <a:ext cx="8641656" cy="44528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72000" tIns="36000" rIns="72000" bIns="36000" rtlCol="0" anchor="b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endParaRPr lang="ko-KR" altLang="en-US" i="1" dirty="0">
                <a:latin typeface="+mn-ea"/>
              </a:endParaRPr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F191E584-FABB-47EE-9058-D1E13B82B276}"/>
                </a:ext>
              </a:extLst>
            </p:cNvPr>
            <p:cNvGrpSpPr/>
            <p:nvPr/>
          </p:nvGrpSpPr>
          <p:grpSpPr>
            <a:xfrm>
              <a:off x="744583" y="2012460"/>
              <a:ext cx="8321384" cy="4154684"/>
              <a:chOff x="828473" y="2065843"/>
              <a:chExt cx="8321384" cy="4154684"/>
            </a:xfrm>
          </p:grpSpPr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3322BA61-9E0D-43E7-AF48-755707D4A353}"/>
                  </a:ext>
                </a:extLst>
              </p:cNvPr>
              <p:cNvGrpSpPr/>
              <p:nvPr/>
            </p:nvGrpSpPr>
            <p:grpSpPr>
              <a:xfrm>
                <a:off x="828818" y="2065843"/>
                <a:ext cx="2340000" cy="2439119"/>
                <a:chOff x="847385" y="2081867"/>
                <a:chExt cx="2340000" cy="2439119"/>
              </a:xfrm>
            </p:grpSpPr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BAFF2021-1DFF-42DF-B05B-F6B3A90002F8}"/>
                    </a:ext>
                  </a:extLst>
                </p:cNvPr>
                <p:cNvSpPr/>
                <p:nvPr/>
              </p:nvSpPr>
              <p:spPr>
                <a:xfrm>
                  <a:off x="847385" y="2081867"/>
                  <a:ext cx="2340000" cy="24391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영업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물류 관리</a:t>
                  </a:r>
                </a:p>
              </p:txBody>
            </p:sp>
            <p:sp>
              <p:nvSpPr>
                <p:cNvPr id="184" name="모서리가 둥근 직사각형 52">
                  <a:extLst>
                    <a:ext uri="{FF2B5EF4-FFF2-40B4-BE49-F238E27FC236}">
                      <a16:creationId xmlns:a16="http://schemas.microsoft.com/office/drawing/2014/main" id="{2ECF8C80-EB8D-4B8A-B329-EB7559092DD3}"/>
                    </a:ext>
                  </a:extLst>
                </p:cNvPr>
                <p:cNvSpPr/>
                <p:nvPr/>
              </p:nvSpPr>
              <p:spPr>
                <a:xfrm>
                  <a:off x="939542" y="2462290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 err="1">
                      <a:solidFill>
                        <a:schemeClr val="tx1"/>
                      </a:solidFill>
                    </a:rPr>
                    <a:t>eCUS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(e-Customs Service </a:t>
                  </a:r>
                  <a:br>
                    <a:rPr lang="en-US" altLang="ko-KR" sz="8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System)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모서리가 둥근 직사각형 52">
                  <a:extLst>
                    <a:ext uri="{FF2B5EF4-FFF2-40B4-BE49-F238E27FC236}">
                      <a16:creationId xmlns:a16="http://schemas.microsoft.com/office/drawing/2014/main" id="{393D1AA9-A73B-4B6A-B8D6-A07C3AA134B5}"/>
                    </a:ext>
                  </a:extLst>
                </p:cNvPr>
                <p:cNvSpPr/>
                <p:nvPr/>
              </p:nvSpPr>
              <p:spPr>
                <a:xfrm>
                  <a:off x="939542" y="3136337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YBMS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 err="1">
                      <a:solidFill>
                        <a:schemeClr val="tx1"/>
                      </a:solidFill>
                      <a:latin typeface="+mn-ea"/>
                    </a:rPr>
                    <a:t>Youngone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 Bond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Mgt. System 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" name="모서리가 둥근 직사각형 52">
                  <a:extLst>
                    <a:ext uri="{FF2B5EF4-FFF2-40B4-BE49-F238E27FC236}">
                      <a16:creationId xmlns:a16="http://schemas.microsoft.com/office/drawing/2014/main" id="{CE34A42E-EF63-4CAA-8781-EF6A5B298B1A}"/>
                    </a:ext>
                  </a:extLst>
                </p:cNvPr>
                <p:cNvSpPr/>
                <p:nvPr/>
              </p:nvSpPr>
              <p:spPr>
                <a:xfrm>
                  <a:off x="939542" y="3810385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CF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Clearing &amp;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Forwarding)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" name="모서리가 둥근 직사각형 52">
                  <a:extLst>
                    <a:ext uri="{FF2B5EF4-FFF2-40B4-BE49-F238E27FC236}">
                      <a16:creationId xmlns:a16="http://schemas.microsoft.com/office/drawing/2014/main" id="{F545F8AC-AD51-482B-A1F5-4CF863CAF548}"/>
                    </a:ext>
                  </a:extLst>
                </p:cNvPr>
                <p:cNvSpPr/>
                <p:nvPr/>
              </p:nvSpPr>
              <p:spPr>
                <a:xfrm>
                  <a:off x="2064777" y="2462290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MIPS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Marine Insurance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Premium System)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모서리가 둥근 직사각형 52">
                  <a:extLst>
                    <a:ext uri="{FF2B5EF4-FFF2-40B4-BE49-F238E27FC236}">
                      <a16:creationId xmlns:a16="http://schemas.microsoft.com/office/drawing/2014/main" id="{7E5B1749-75CA-4A35-BC25-9573E635A480}"/>
                    </a:ext>
                  </a:extLst>
                </p:cNvPr>
                <p:cNvSpPr/>
                <p:nvPr/>
              </p:nvSpPr>
              <p:spPr>
                <a:xfrm>
                  <a:off x="2064777" y="3136338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IIMS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Import Information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Mgt. System)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" name="모서리가 둥근 직사각형 52">
                  <a:extLst>
                    <a:ext uri="{FF2B5EF4-FFF2-40B4-BE49-F238E27FC236}">
                      <a16:creationId xmlns:a16="http://schemas.microsoft.com/office/drawing/2014/main" id="{FAD5574B-2B07-4818-BCEA-3A2EBAF429DD}"/>
                    </a:ext>
                  </a:extLst>
                </p:cNvPr>
                <p:cNvSpPr/>
                <p:nvPr/>
              </p:nvSpPr>
              <p:spPr>
                <a:xfrm>
                  <a:off x="2064777" y="3810385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PAS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(Packing Automation </a:t>
                  </a:r>
                  <a:br>
                    <a:rPr lang="en-US" altLang="ko-KR" sz="8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System)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E705C770-24DB-4DA2-AA83-F4A87634DAD5}"/>
                  </a:ext>
                </a:extLst>
              </p:cNvPr>
              <p:cNvGrpSpPr/>
              <p:nvPr/>
            </p:nvGrpSpPr>
            <p:grpSpPr>
              <a:xfrm>
                <a:off x="828473" y="4596753"/>
                <a:ext cx="2340001" cy="1623774"/>
                <a:chOff x="847040" y="4608167"/>
                <a:chExt cx="2340001" cy="1623774"/>
              </a:xfrm>
            </p:grpSpPr>
            <p:sp>
              <p:nvSpPr>
                <p:cNvPr id="178" name="직사각형 177">
                  <a:extLst>
                    <a:ext uri="{FF2B5EF4-FFF2-40B4-BE49-F238E27FC236}">
                      <a16:creationId xmlns:a16="http://schemas.microsoft.com/office/drawing/2014/main" id="{D44549EF-F1C4-4440-A512-7075C928EEF7}"/>
                    </a:ext>
                  </a:extLst>
                </p:cNvPr>
                <p:cNvSpPr/>
                <p:nvPr/>
              </p:nvSpPr>
              <p:spPr>
                <a:xfrm>
                  <a:off x="847040" y="4608167"/>
                  <a:ext cx="2340001" cy="162377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구매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재고관리</a:t>
                  </a:r>
                </a:p>
                <a:p>
                  <a:endParaRPr lang="ko-KR" alt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9" name="모서리가 둥근 직사각형 52">
                  <a:extLst>
                    <a:ext uri="{FF2B5EF4-FFF2-40B4-BE49-F238E27FC236}">
                      <a16:creationId xmlns:a16="http://schemas.microsoft.com/office/drawing/2014/main" id="{68F8F64A-D338-4FF4-92F6-A55BB83D3FE1}"/>
                    </a:ext>
                  </a:extLst>
                </p:cNvPr>
                <p:cNvSpPr/>
                <p:nvPr/>
              </p:nvSpPr>
              <p:spPr>
                <a:xfrm>
                  <a:off x="939404" y="4895366"/>
                  <a:ext cx="1044000" cy="576000"/>
                </a:xfrm>
                <a:prstGeom prst="roundRect">
                  <a:avLst/>
                </a:prstGeom>
                <a:solidFill>
                  <a:srgbClr val="7F7F7F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GLOSTOM</a:t>
                  </a:r>
                  <a:r>
                    <a:rPr lang="en-US" altLang="ko-KR" sz="1000" dirty="0">
                      <a:solidFill>
                        <a:schemeClr val="bg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bg1"/>
                      </a:solidFill>
                    </a:rPr>
                  </a:br>
                  <a:r>
                    <a:rPr lang="en-US" altLang="ko-KR" sz="1000" dirty="0">
                      <a:solidFill>
                        <a:schemeClr val="bg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+mn-ea"/>
                    </a:rPr>
                    <a:t>Global Leftover </a:t>
                  </a:r>
                  <a:br>
                    <a:rPr lang="en-US" altLang="ko-KR" sz="800" dirty="0">
                      <a:solidFill>
                        <a:schemeClr val="bg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bg1"/>
                      </a:solidFill>
                      <a:latin typeface="+mn-ea"/>
                    </a:rPr>
                    <a:t>Stock Mgt.)</a:t>
                  </a:r>
                  <a:endParaRPr lang="ko-KR" altLang="en-US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0" name="모서리가 둥근 직사각형 52">
                  <a:extLst>
                    <a:ext uri="{FF2B5EF4-FFF2-40B4-BE49-F238E27FC236}">
                      <a16:creationId xmlns:a16="http://schemas.microsoft.com/office/drawing/2014/main" id="{6986B1E8-0798-47A7-B5FD-4555774CE457}"/>
                    </a:ext>
                  </a:extLst>
                </p:cNvPr>
                <p:cNvSpPr/>
                <p:nvPr/>
              </p:nvSpPr>
              <p:spPr>
                <a:xfrm>
                  <a:off x="939542" y="5552105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CMS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Challan Mgt. System)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" name="모서리가 둥근 직사각형 52">
                  <a:extLst>
                    <a:ext uri="{FF2B5EF4-FFF2-40B4-BE49-F238E27FC236}">
                      <a16:creationId xmlns:a16="http://schemas.microsoft.com/office/drawing/2014/main" id="{B8EBA8F0-4B98-4E86-A716-FD04700B87C0}"/>
                    </a:ext>
                  </a:extLst>
                </p:cNvPr>
                <p:cNvSpPr/>
                <p:nvPr/>
              </p:nvSpPr>
              <p:spPr>
                <a:xfrm>
                  <a:off x="2064777" y="5552105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MMCD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(Maintenance Material </a:t>
                  </a:r>
                  <a:br>
                    <a:rPr lang="en-US" altLang="ko-KR" sz="8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Controlling Dept. 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2" name="모서리가 둥근 직사각형 52">
                  <a:extLst>
                    <a:ext uri="{FF2B5EF4-FFF2-40B4-BE49-F238E27FC236}">
                      <a16:creationId xmlns:a16="http://schemas.microsoft.com/office/drawing/2014/main" id="{62B142AF-336B-4BD2-AAC6-9F2C2511951E}"/>
                    </a:ext>
                  </a:extLst>
                </p:cNvPr>
                <p:cNvSpPr/>
                <p:nvPr/>
              </p:nvSpPr>
              <p:spPr>
                <a:xfrm>
                  <a:off x="2064777" y="4895366"/>
                  <a:ext cx="1044000" cy="576000"/>
                </a:xfrm>
                <a:prstGeom prst="round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36000" rIns="36000"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WMIS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/>
                  </a:r>
                  <a:br>
                    <a:rPr lang="en-US" altLang="ko-KR" sz="1000" dirty="0">
                      <a:solidFill>
                        <a:schemeClr val="tx1"/>
                      </a:solidFill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Workshop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+mn-ea"/>
                    </a:rPr>
                    <a:t>Mgt. System)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9E913427-4D9F-4E63-8C4C-6FE41A47871A}"/>
                  </a:ext>
                </a:extLst>
              </p:cNvPr>
              <p:cNvSpPr/>
              <p:nvPr/>
            </p:nvSpPr>
            <p:spPr>
              <a:xfrm>
                <a:off x="6809854" y="4592314"/>
                <a:ext cx="2340000" cy="16282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</a:rPr>
                  <a:t>재무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자금 관리</a:t>
                </a:r>
              </a:p>
            </p:txBody>
          </p:sp>
          <p:sp>
            <p:nvSpPr>
              <p:cNvPr id="139" name="모서리가 둥근 직사각형 52">
                <a:extLst>
                  <a:ext uri="{FF2B5EF4-FFF2-40B4-BE49-F238E27FC236}">
                    <a16:creationId xmlns:a16="http://schemas.microsoft.com/office/drawing/2014/main" id="{E2007D20-F2DB-40FA-B84D-4D54B5FDF4B9}"/>
                  </a:ext>
                </a:extLst>
              </p:cNvPr>
              <p:cNvSpPr/>
              <p:nvPr/>
            </p:nvSpPr>
            <p:spPr>
              <a:xfrm>
                <a:off x="6890693" y="4883953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bg1"/>
                    </a:solidFill>
                  </a:rPr>
                  <a:t>연결회계</a:t>
                </a:r>
                <a:r>
                  <a:rPr lang="en-US" altLang="ko-KR" sz="1000" b="1" dirty="0">
                    <a:solidFill>
                      <a:schemeClr val="bg1"/>
                    </a:solidFill>
                  </a:rPr>
                  <a:t/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en-US" altLang="ko-KR" sz="800" b="1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800" b="1" dirty="0" err="1">
                    <a:solidFill>
                      <a:schemeClr val="bg1"/>
                    </a:solidFill>
                  </a:rPr>
                  <a:t>Confinas</a:t>
                </a:r>
                <a:r>
                  <a:rPr lang="en-US" altLang="ko-KR" sz="800" b="1" dirty="0">
                    <a:solidFill>
                      <a:schemeClr val="bg1"/>
                    </a:solidFill>
                  </a:rPr>
                  <a:t>)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모서리가 둥근 직사각형 52">
                <a:extLst>
                  <a:ext uri="{FF2B5EF4-FFF2-40B4-BE49-F238E27FC236}">
                    <a16:creationId xmlns:a16="http://schemas.microsoft.com/office/drawing/2014/main" id="{507061B5-143F-4F5F-B82C-3535E1959013}"/>
                  </a:ext>
                </a:extLst>
              </p:cNvPr>
              <p:cNvSpPr/>
              <p:nvPr/>
            </p:nvSpPr>
            <p:spPr>
              <a:xfrm>
                <a:off x="8036003" y="4883953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e-Accounting</a:t>
                </a:r>
              </a:p>
            </p:txBody>
          </p:sp>
          <p:sp>
            <p:nvSpPr>
              <p:cNvPr id="141" name="모서리가 둥근 직사각형 52">
                <a:extLst>
                  <a:ext uri="{FF2B5EF4-FFF2-40B4-BE49-F238E27FC236}">
                    <a16:creationId xmlns:a16="http://schemas.microsoft.com/office/drawing/2014/main" id="{0E5D1F5F-9507-4294-9269-4E7B12756AFC}"/>
                  </a:ext>
                </a:extLst>
              </p:cNvPr>
              <p:cNvSpPr/>
              <p:nvPr/>
            </p:nvSpPr>
            <p:spPr>
              <a:xfrm>
                <a:off x="8036003" y="5540692"/>
                <a:ext cx="1044000" cy="576000"/>
              </a:xfrm>
              <a:prstGeom prst="roundRect">
                <a:avLst/>
              </a:prstGeom>
              <a:solidFill>
                <a:srgbClr val="0D0D0D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Firm Banking</a:t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en-US" altLang="ko-KR" sz="800" b="1" dirty="0">
                    <a:solidFill>
                      <a:schemeClr val="bg1"/>
                    </a:solidFill>
                  </a:rPr>
                  <a:t>(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해외법인 대상</a:t>
                </a:r>
                <a:r>
                  <a:rPr lang="en-US" altLang="ko-KR" sz="800" b="1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  <p:sp>
            <p:nvSpPr>
              <p:cNvPr id="142" name="모서리가 둥근 직사각형 52">
                <a:extLst>
                  <a:ext uri="{FF2B5EF4-FFF2-40B4-BE49-F238E27FC236}">
                    <a16:creationId xmlns:a16="http://schemas.microsoft.com/office/drawing/2014/main" id="{32302EC5-9D67-421C-A6AA-0472D5BFAFD1}"/>
                  </a:ext>
                </a:extLst>
              </p:cNvPr>
              <p:cNvSpPr/>
              <p:nvPr/>
            </p:nvSpPr>
            <p:spPr>
              <a:xfrm>
                <a:off x="6890693" y="5540692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bg1"/>
                    </a:solidFill>
                  </a:rPr>
                  <a:t>전자세금계산서</a:t>
                </a:r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B5BD4FF1-7B5C-4275-9583-6564A2BAA091}"/>
                  </a:ext>
                </a:extLst>
              </p:cNvPr>
              <p:cNvSpPr/>
              <p:nvPr/>
            </p:nvSpPr>
            <p:spPr>
              <a:xfrm flipH="1">
                <a:off x="6809854" y="2066544"/>
                <a:ext cx="2340003" cy="24225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</a:rPr>
                  <a:t>생산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설비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품질 관리</a:t>
                </a:r>
              </a:p>
              <a:p>
                <a:endParaRPr lang="ko-KR" alt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모서리가 둥근 직사각형 52">
                <a:extLst>
                  <a:ext uri="{FF2B5EF4-FFF2-40B4-BE49-F238E27FC236}">
                    <a16:creationId xmlns:a16="http://schemas.microsoft.com/office/drawing/2014/main" id="{7C6968B3-BBAD-4FCE-800F-390025584CAE}"/>
                  </a:ext>
                </a:extLst>
              </p:cNvPr>
              <p:cNvSpPr/>
              <p:nvPr/>
            </p:nvSpPr>
            <p:spPr>
              <a:xfrm>
                <a:off x="6890701" y="3794360"/>
                <a:ext cx="1044000" cy="576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DCS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(Dyehouse Central </a:t>
                </a:r>
                <a:br>
                  <a:rPr lang="en-US" altLang="ko-KR" sz="800" dirty="0">
                    <a:solidFill>
                      <a:schemeClr val="tx1"/>
                    </a:solidFill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</a:rPr>
                  <a:t>System)</a:t>
                </a:r>
              </a:p>
            </p:txBody>
          </p:sp>
          <p:sp>
            <p:nvSpPr>
              <p:cNvPr id="145" name="모서리가 둥근 직사각형 52">
                <a:extLst>
                  <a:ext uri="{FF2B5EF4-FFF2-40B4-BE49-F238E27FC236}">
                    <a16:creationId xmlns:a16="http://schemas.microsoft.com/office/drawing/2014/main" id="{7AF013B4-E3CF-4AB9-8972-2E7FF16F36DA}"/>
                  </a:ext>
                </a:extLst>
              </p:cNvPr>
              <p:cNvSpPr/>
              <p:nvPr/>
            </p:nvSpPr>
            <p:spPr>
              <a:xfrm>
                <a:off x="8036011" y="2446265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APM</a:t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en-US" altLang="ko-KR" sz="8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800" dirty="0" err="1">
                    <a:solidFill>
                      <a:schemeClr val="bg1"/>
                    </a:solidFill>
                  </a:rPr>
                  <a:t>Arel</a:t>
                </a:r>
                <a:r>
                  <a:rPr lang="en-US" altLang="ko-KR" sz="800" dirty="0">
                    <a:solidFill>
                      <a:schemeClr val="bg1"/>
                    </a:solidFill>
                  </a:rPr>
                  <a:t> Process </a:t>
                </a:r>
                <a:br>
                  <a:rPr lang="en-US" altLang="ko-KR" sz="800" dirty="0">
                    <a:solidFill>
                      <a:schemeClr val="bg1"/>
                    </a:solidFill>
                  </a:rPr>
                </a:br>
                <a:r>
                  <a:rPr lang="en-US" altLang="ko-KR" sz="800" dirty="0">
                    <a:solidFill>
                      <a:schemeClr val="bg1"/>
                    </a:solidFill>
                  </a:rPr>
                  <a:t>Management)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모서리가 둥근 직사각형 52">
                <a:extLst>
                  <a:ext uri="{FF2B5EF4-FFF2-40B4-BE49-F238E27FC236}">
                    <a16:creationId xmlns:a16="http://schemas.microsoft.com/office/drawing/2014/main" id="{084B7CBC-205E-41BF-B5FE-1A2F37E8B8DD}"/>
                  </a:ext>
                </a:extLst>
              </p:cNvPr>
              <p:cNvSpPr/>
              <p:nvPr/>
            </p:nvSpPr>
            <p:spPr>
              <a:xfrm>
                <a:off x="6890701" y="3120313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MES</a:t>
                </a:r>
                <a:br>
                  <a:rPr lang="en-US" altLang="ko-KR" sz="1000" b="1" dirty="0">
                    <a:solidFill>
                      <a:schemeClr val="bg1"/>
                    </a:solidFill>
                  </a:rPr>
                </a:br>
                <a:r>
                  <a:rPr lang="en-US" altLang="ko-KR" sz="800" dirty="0">
                    <a:solidFill>
                      <a:schemeClr val="bg1"/>
                    </a:solidFill>
                  </a:rPr>
                  <a:t>(Manufacturing </a:t>
                </a:r>
                <a:br>
                  <a:rPr lang="en-US" altLang="ko-KR" sz="800" dirty="0">
                    <a:solidFill>
                      <a:schemeClr val="bg1"/>
                    </a:solidFill>
                  </a:rPr>
                </a:br>
                <a:r>
                  <a:rPr lang="en-US" altLang="ko-KR" sz="800" dirty="0">
                    <a:solidFill>
                      <a:schemeClr val="bg1"/>
                    </a:solidFill>
                  </a:rPr>
                  <a:t>Execution System)</a:t>
                </a:r>
              </a:p>
            </p:txBody>
          </p:sp>
          <p:sp>
            <p:nvSpPr>
              <p:cNvPr id="147" name="모서리가 둥근 직사각형 52">
                <a:extLst>
                  <a:ext uri="{FF2B5EF4-FFF2-40B4-BE49-F238E27FC236}">
                    <a16:creationId xmlns:a16="http://schemas.microsoft.com/office/drawing/2014/main" id="{A8DE5C88-2DB7-4669-ADDF-3A949837CBE5}"/>
                  </a:ext>
                </a:extLst>
              </p:cNvPr>
              <p:cNvSpPr/>
              <p:nvPr/>
            </p:nvSpPr>
            <p:spPr>
              <a:xfrm>
                <a:off x="8036011" y="3120313"/>
                <a:ext cx="1044000" cy="576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GSD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1000" dirty="0">
                    <a:solidFill>
                      <a:schemeClr val="tx1"/>
                    </a:solidFill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</a:rPr>
                  <a:t>(General Sewing Data)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모서리가 둥근 직사각형 52">
                <a:extLst>
                  <a:ext uri="{FF2B5EF4-FFF2-40B4-BE49-F238E27FC236}">
                    <a16:creationId xmlns:a16="http://schemas.microsoft.com/office/drawing/2014/main" id="{A66C6085-99F4-4016-AB45-45D6C065D23B}"/>
                  </a:ext>
                </a:extLst>
              </p:cNvPr>
              <p:cNvSpPr/>
              <p:nvPr/>
            </p:nvSpPr>
            <p:spPr>
              <a:xfrm>
                <a:off x="8036012" y="3794360"/>
                <a:ext cx="1044000" cy="576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LIMS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1000" dirty="0">
                    <a:solidFill>
                      <a:schemeClr val="tx1"/>
                    </a:solidFill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Lab Information 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Mgt. System)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9" name="모서리가 둥근 직사각형 52">
                <a:extLst>
                  <a:ext uri="{FF2B5EF4-FFF2-40B4-BE49-F238E27FC236}">
                    <a16:creationId xmlns:a16="http://schemas.microsoft.com/office/drawing/2014/main" id="{0F87D97B-B754-48E6-B033-D127A93EDE86}"/>
                  </a:ext>
                </a:extLst>
              </p:cNvPr>
              <p:cNvSpPr/>
              <p:nvPr/>
            </p:nvSpPr>
            <p:spPr>
              <a:xfrm>
                <a:off x="6890701" y="2446265"/>
                <a:ext cx="1044000" cy="576000"/>
              </a:xfrm>
              <a:prstGeom prst="roundRect">
                <a:avLst/>
              </a:prstGeom>
              <a:solidFill>
                <a:srgbClr val="7F7F7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FRP</a:t>
                </a:r>
                <a:r>
                  <a:rPr lang="en-US" altLang="ko-KR" sz="1000" dirty="0">
                    <a:solidFill>
                      <a:schemeClr val="bg1"/>
                    </a:solidFill>
                  </a:rPr>
                  <a:t/>
                </a:r>
                <a:br>
                  <a:rPr lang="en-US" altLang="ko-KR" sz="1000" dirty="0">
                    <a:solidFill>
                      <a:schemeClr val="bg1"/>
                    </a:solidFill>
                  </a:rPr>
                </a:br>
                <a:r>
                  <a:rPr lang="en-US" altLang="ko-KR" sz="800" dirty="0">
                    <a:solidFill>
                      <a:schemeClr val="bg1"/>
                    </a:solidFill>
                  </a:rPr>
                  <a:t>(Fast React Plan)</a:t>
                </a:r>
                <a:endParaRPr lang="en-US" altLang="ko-KR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화살표: 왼쪽/오른쪽 91">
                <a:extLst>
                  <a:ext uri="{FF2B5EF4-FFF2-40B4-BE49-F238E27FC236}">
                    <a16:creationId xmlns:a16="http://schemas.microsoft.com/office/drawing/2014/main" id="{0ED7B7C2-B073-4587-83EA-1C50404A4A05}"/>
                  </a:ext>
                </a:extLst>
              </p:cNvPr>
              <p:cNvSpPr/>
              <p:nvPr/>
            </p:nvSpPr>
            <p:spPr>
              <a:xfrm>
                <a:off x="3186964" y="3521700"/>
                <a:ext cx="235812" cy="225330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화살표: 왼쪽/오른쪽 92">
                <a:extLst>
                  <a:ext uri="{FF2B5EF4-FFF2-40B4-BE49-F238E27FC236}">
                    <a16:creationId xmlns:a16="http://schemas.microsoft.com/office/drawing/2014/main" id="{671C12D3-DD9B-4B57-B049-34DD739DBBA3}"/>
                  </a:ext>
                </a:extLst>
              </p:cNvPr>
              <p:cNvSpPr/>
              <p:nvPr/>
            </p:nvSpPr>
            <p:spPr>
              <a:xfrm rot="19800000">
                <a:off x="3215096" y="5095381"/>
                <a:ext cx="235812" cy="225330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화살표: 왼쪽/오른쪽 93">
                <a:extLst>
                  <a:ext uri="{FF2B5EF4-FFF2-40B4-BE49-F238E27FC236}">
                    <a16:creationId xmlns:a16="http://schemas.microsoft.com/office/drawing/2014/main" id="{B998924B-3E63-47F8-ABC5-D0DE5D2E70DA}"/>
                  </a:ext>
                </a:extLst>
              </p:cNvPr>
              <p:cNvSpPr/>
              <p:nvPr/>
            </p:nvSpPr>
            <p:spPr>
              <a:xfrm>
                <a:off x="6571410" y="3521700"/>
                <a:ext cx="235812" cy="225330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화살표: 왼쪽/오른쪽 94">
                <a:extLst>
                  <a:ext uri="{FF2B5EF4-FFF2-40B4-BE49-F238E27FC236}">
                    <a16:creationId xmlns:a16="http://schemas.microsoft.com/office/drawing/2014/main" id="{4E8DDAFD-C4DD-4519-9BB3-6EC681605C9C}"/>
                  </a:ext>
                </a:extLst>
              </p:cNvPr>
              <p:cNvSpPr/>
              <p:nvPr/>
            </p:nvSpPr>
            <p:spPr>
              <a:xfrm rot="1800000" flipV="1">
                <a:off x="6572933" y="5072876"/>
                <a:ext cx="235812" cy="225330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82DE71D7-AB8A-4960-A3EE-2E20EC79C69A}"/>
                  </a:ext>
                </a:extLst>
              </p:cNvPr>
              <p:cNvGrpSpPr/>
              <p:nvPr/>
            </p:nvGrpSpPr>
            <p:grpSpPr>
              <a:xfrm>
                <a:off x="3472855" y="3266746"/>
                <a:ext cx="3082698" cy="1829910"/>
                <a:chOff x="3413820" y="2559629"/>
                <a:chExt cx="3056191" cy="1701285"/>
              </a:xfrm>
            </p:grpSpPr>
            <p:sp>
              <p:nvSpPr>
                <p:cNvPr id="171" name="직사각형 170">
                  <a:extLst>
                    <a:ext uri="{FF2B5EF4-FFF2-40B4-BE49-F238E27FC236}">
                      <a16:creationId xmlns:a16="http://schemas.microsoft.com/office/drawing/2014/main" id="{6F92D976-552C-4AF7-99BF-40BE1E548B1C}"/>
                    </a:ext>
                  </a:extLst>
                </p:cNvPr>
                <p:cNvSpPr/>
                <p:nvPr/>
              </p:nvSpPr>
              <p:spPr>
                <a:xfrm>
                  <a:off x="3413820" y="2559629"/>
                  <a:ext cx="3056191" cy="1701285"/>
                </a:xfrm>
                <a:prstGeom prst="rect">
                  <a:avLst/>
                </a:prstGeom>
                <a:solidFill>
                  <a:srgbClr val="0D0D0D"/>
                </a:solidFill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ERP(S/4HANA)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2" name="직사각형 37">
                  <a:extLst>
                    <a:ext uri="{FF2B5EF4-FFF2-40B4-BE49-F238E27FC236}">
                      <a16:creationId xmlns:a16="http://schemas.microsoft.com/office/drawing/2014/main" id="{F1995199-C093-4AF6-82B1-58C40C6B964B}"/>
                    </a:ext>
                  </a:extLst>
                </p:cNvPr>
                <p:cNvSpPr/>
                <p:nvPr/>
              </p:nvSpPr>
              <p:spPr>
                <a:xfrm>
                  <a:off x="3571578" y="2858063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영업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물류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(SD)</a:t>
                  </a:r>
                  <a:endParaRPr lang="ko-KR" alt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3" name="직사각형 42">
                  <a:extLst>
                    <a:ext uri="{FF2B5EF4-FFF2-40B4-BE49-F238E27FC236}">
                      <a16:creationId xmlns:a16="http://schemas.microsoft.com/office/drawing/2014/main" id="{4305A21A-280C-4063-8AA9-B5F1E87C0CA8}"/>
                    </a:ext>
                  </a:extLst>
                </p:cNvPr>
                <p:cNvSpPr/>
                <p:nvPr/>
              </p:nvSpPr>
              <p:spPr>
                <a:xfrm>
                  <a:off x="3571578" y="3311221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구매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재고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(MM)</a:t>
                  </a:r>
                </a:p>
              </p:txBody>
            </p:sp>
            <p:sp>
              <p:nvSpPr>
                <p:cNvPr id="174" name="직사각형 37">
                  <a:extLst>
                    <a:ext uri="{FF2B5EF4-FFF2-40B4-BE49-F238E27FC236}">
                      <a16:creationId xmlns:a16="http://schemas.microsoft.com/office/drawing/2014/main" id="{3E36FA24-F82B-4CC4-BF97-6A8B83B76151}"/>
                    </a:ext>
                  </a:extLst>
                </p:cNvPr>
                <p:cNvSpPr/>
                <p:nvPr/>
              </p:nvSpPr>
              <p:spPr>
                <a:xfrm>
                  <a:off x="5049599" y="2858063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관리 회계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(CO)</a:t>
                  </a:r>
                  <a:endParaRPr lang="ko-KR" alt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" name="직사각형 42">
                  <a:extLst>
                    <a:ext uri="{FF2B5EF4-FFF2-40B4-BE49-F238E27FC236}">
                      <a16:creationId xmlns:a16="http://schemas.microsoft.com/office/drawing/2014/main" id="{2CDFE1D0-77A2-4F83-B774-324FFE0C0CAF}"/>
                    </a:ext>
                  </a:extLst>
                </p:cNvPr>
                <p:cNvSpPr/>
                <p:nvPr/>
              </p:nvSpPr>
              <p:spPr>
                <a:xfrm>
                  <a:off x="5042650" y="3764380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자금 관리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(TR)</a:t>
                  </a:r>
                  <a:endParaRPr lang="ko-KR" alt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6" name="직사각형 43">
                  <a:extLst>
                    <a:ext uri="{FF2B5EF4-FFF2-40B4-BE49-F238E27FC236}">
                      <a16:creationId xmlns:a16="http://schemas.microsoft.com/office/drawing/2014/main" id="{E75E90F9-7130-4816-BE33-FEBB037D5974}"/>
                    </a:ext>
                  </a:extLst>
                </p:cNvPr>
                <p:cNvSpPr/>
                <p:nvPr/>
              </p:nvSpPr>
              <p:spPr>
                <a:xfrm>
                  <a:off x="5049600" y="3311221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재무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세무 회계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(FI)</a:t>
                  </a:r>
                  <a:endParaRPr lang="ko-KR" alt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7" name="직사각형 42">
                  <a:extLst>
                    <a:ext uri="{FF2B5EF4-FFF2-40B4-BE49-F238E27FC236}">
                      <a16:creationId xmlns:a16="http://schemas.microsoft.com/office/drawing/2014/main" id="{D9BF8E66-8C43-4946-B755-A8CB9A3DB6ED}"/>
                    </a:ext>
                  </a:extLst>
                </p:cNvPr>
                <p:cNvSpPr/>
                <p:nvPr/>
              </p:nvSpPr>
              <p:spPr>
                <a:xfrm>
                  <a:off x="3571578" y="3764380"/>
                  <a:ext cx="1296872" cy="362664"/>
                </a:xfrm>
                <a:prstGeom prst="snip1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1100" b="1" dirty="0">
                      <a:solidFill>
                        <a:schemeClr val="tx1"/>
                      </a:solidFill>
                    </a:rPr>
                    <a:t>생산관리</a:t>
                  </a:r>
                  <a:r>
                    <a:rPr lang="en-US" altLang="ko-KR" sz="1100" b="1" dirty="0">
                      <a:solidFill>
                        <a:schemeClr val="tx1"/>
                      </a:solidFill>
                    </a:rPr>
                    <a:t>(PP)</a:t>
                  </a:r>
                </a:p>
              </p:txBody>
            </p:sp>
          </p:grp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091DDE41-8F6B-42B4-B664-BDB359541097}"/>
                  </a:ext>
                </a:extLst>
              </p:cNvPr>
              <p:cNvSpPr/>
              <p:nvPr/>
            </p:nvSpPr>
            <p:spPr>
              <a:xfrm>
                <a:off x="3454158" y="5294686"/>
                <a:ext cx="3091851" cy="9258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</a:rPr>
                  <a:t>IT 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관리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업무지원</a:t>
                </a:r>
              </a:p>
            </p:txBody>
          </p:sp>
          <p:sp>
            <p:nvSpPr>
              <p:cNvPr id="156" name="모서리가 둥근 직사각형 59">
                <a:extLst>
                  <a:ext uri="{FF2B5EF4-FFF2-40B4-BE49-F238E27FC236}">
                    <a16:creationId xmlns:a16="http://schemas.microsoft.com/office/drawing/2014/main" id="{8AE5C5DD-B16B-4B6F-AEF9-F2140828CDD2}"/>
                  </a:ext>
                </a:extLst>
              </p:cNvPr>
              <p:cNvSpPr/>
              <p:nvPr/>
            </p:nvSpPr>
            <p:spPr>
              <a:xfrm>
                <a:off x="5547314" y="5855609"/>
                <a:ext cx="936000" cy="264627"/>
              </a:xfrm>
              <a:prstGeom prst="roundRect">
                <a:avLst/>
              </a:prstGeom>
              <a:pattFill prst="wd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사내</a:t>
                </a:r>
                <a:r>
                  <a:rPr lang="en-US" altLang="ko-KR" sz="900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900" b="1" dirty="0">
                    <a:solidFill>
                      <a:schemeClr val="tx1"/>
                    </a:solidFill>
                  </a:rPr>
                  <a:t>메신저</a:t>
                </a:r>
              </a:p>
            </p:txBody>
          </p:sp>
          <p:sp>
            <p:nvSpPr>
              <p:cNvPr id="157" name="모서리가 둥근 직사각형 56">
                <a:extLst>
                  <a:ext uri="{FF2B5EF4-FFF2-40B4-BE49-F238E27FC236}">
                    <a16:creationId xmlns:a16="http://schemas.microsoft.com/office/drawing/2014/main" id="{8423CD2D-EF36-48E8-AC31-AA73D2BAA676}"/>
                  </a:ext>
                </a:extLst>
              </p:cNvPr>
              <p:cNvSpPr/>
              <p:nvPr/>
            </p:nvSpPr>
            <p:spPr>
              <a:xfrm>
                <a:off x="3516852" y="5867177"/>
                <a:ext cx="936000" cy="264627"/>
              </a:xfrm>
              <a:prstGeom prst="roundRect">
                <a:avLst/>
              </a:prstGeom>
              <a:pattFill prst="wd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계정관리</a:t>
                </a:r>
                <a:r>
                  <a:rPr lang="en-US" altLang="ko-KR" sz="900" b="1" dirty="0">
                    <a:solidFill>
                      <a:schemeClr val="tx1"/>
                    </a:solidFill>
                  </a:rPr>
                  <a:t>/IAM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모서리가 둥근 직사각형 56">
                <a:extLst>
                  <a:ext uri="{FF2B5EF4-FFF2-40B4-BE49-F238E27FC236}">
                    <a16:creationId xmlns:a16="http://schemas.microsoft.com/office/drawing/2014/main" id="{A0ECB585-A2F1-4E79-BB2B-51D439CB9928}"/>
                  </a:ext>
                </a:extLst>
              </p:cNvPr>
              <p:cNvSpPr/>
              <p:nvPr/>
            </p:nvSpPr>
            <p:spPr>
              <a:xfrm>
                <a:off x="3516852" y="5541776"/>
                <a:ext cx="936000" cy="26462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전자결재</a:t>
                </a:r>
              </a:p>
            </p:txBody>
          </p:sp>
          <p:sp>
            <p:nvSpPr>
              <p:cNvPr id="159" name="모서리가 둥근 직사각형 56">
                <a:extLst>
                  <a:ext uri="{FF2B5EF4-FFF2-40B4-BE49-F238E27FC236}">
                    <a16:creationId xmlns:a16="http://schemas.microsoft.com/office/drawing/2014/main" id="{6C35A3BF-F6D3-492F-9059-F9B0DE40B18D}"/>
                  </a:ext>
                </a:extLst>
              </p:cNvPr>
              <p:cNvSpPr/>
              <p:nvPr/>
            </p:nvSpPr>
            <p:spPr>
              <a:xfrm>
                <a:off x="4532083" y="5862591"/>
                <a:ext cx="936000" cy="264627"/>
              </a:xfrm>
              <a:prstGeom prst="roundRect">
                <a:avLst/>
              </a:prstGeom>
              <a:pattFill prst="wd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b="1">
                    <a:solidFill>
                      <a:schemeClr val="tx1"/>
                    </a:solidFill>
                  </a:rPr>
                  <a:t>ITS</a:t>
                </a:r>
                <a:r>
                  <a:rPr lang="en-US" altLang="ko-KR" sz="900" b="1" dirty="0">
                    <a:solidFill>
                      <a:schemeClr val="tx1"/>
                    </a:solidFill>
                  </a:rPr>
                  <a:t>M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모서리가 둥근 직사각형 56">
                <a:extLst>
                  <a:ext uri="{FF2B5EF4-FFF2-40B4-BE49-F238E27FC236}">
                    <a16:creationId xmlns:a16="http://schemas.microsoft.com/office/drawing/2014/main" id="{2E2D79A0-9FB8-4041-8C04-4BCBFAAB403C}"/>
                  </a:ext>
                </a:extLst>
              </p:cNvPr>
              <p:cNvSpPr/>
              <p:nvPr/>
            </p:nvSpPr>
            <p:spPr>
              <a:xfrm>
                <a:off x="5547314" y="5533607"/>
                <a:ext cx="936000" cy="26462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시스템 모니터링</a:t>
                </a:r>
              </a:p>
            </p:txBody>
          </p:sp>
          <p:sp>
            <p:nvSpPr>
              <p:cNvPr id="161" name="모서리가 둥근 직사각형 52">
                <a:extLst>
                  <a:ext uri="{FF2B5EF4-FFF2-40B4-BE49-F238E27FC236}">
                    <a16:creationId xmlns:a16="http://schemas.microsoft.com/office/drawing/2014/main" id="{113B6FBE-7F22-4DC6-8C64-982B22DBEA22}"/>
                  </a:ext>
                </a:extLst>
              </p:cNvPr>
              <p:cNvSpPr/>
              <p:nvPr/>
            </p:nvSpPr>
            <p:spPr>
              <a:xfrm>
                <a:off x="4532083" y="5541776"/>
                <a:ext cx="936000" cy="26462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문서관리</a:t>
                </a:r>
              </a:p>
            </p:txBody>
          </p:sp>
          <p:sp>
            <p:nvSpPr>
              <p:cNvPr id="162" name="화살표: 왼쪽/오른쪽 110">
                <a:extLst>
                  <a:ext uri="{FF2B5EF4-FFF2-40B4-BE49-F238E27FC236}">
                    <a16:creationId xmlns:a16="http://schemas.microsoft.com/office/drawing/2014/main" id="{BD0A5815-CEEE-4B10-95F5-D3CA9E20A543}"/>
                  </a:ext>
                </a:extLst>
              </p:cNvPr>
              <p:cNvSpPr/>
              <p:nvPr/>
            </p:nvSpPr>
            <p:spPr>
              <a:xfrm rot="5400000">
                <a:off x="4916698" y="5101820"/>
                <a:ext cx="173282" cy="212453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5DEAFD49-4E91-4E65-B464-BBEFA3BAF04E}"/>
                  </a:ext>
                </a:extLst>
              </p:cNvPr>
              <p:cNvSpPr/>
              <p:nvPr/>
            </p:nvSpPr>
            <p:spPr>
              <a:xfrm>
                <a:off x="3454158" y="2065844"/>
                <a:ext cx="3091851" cy="10028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</a:rPr>
                  <a:t>경영지원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100" b="1" dirty="0">
                    <a:solidFill>
                      <a:schemeClr val="tx1"/>
                    </a:solidFill>
                  </a:rPr>
                  <a:t>인사</a:t>
                </a:r>
              </a:p>
            </p:txBody>
          </p:sp>
          <p:sp>
            <p:nvSpPr>
              <p:cNvPr id="164" name="모서리가 둥근 직사각형 59">
                <a:extLst>
                  <a:ext uri="{FF2B5EF4-FFF2-40B4-BE49-F238E27FC236}">
                    <a16:creationId xmlns:a16="http://schemas.microsoft.com/office/drawing/2014/main" id="{4A5EBF9C-5C68-4F5D-9A68-6045A7D8E84F}"/>
                  </a:ext>
                </a:extLst>
              </p:cNvPr>
              <p:cNvSpPr/>
              <p:nvPr/>
            </p:nvSpPr>
            <p:spPr>
              <a:xfrm>
                <a:off x="5547314" y="2278745"/>
                <a:ext cx="936000" cy="324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KSOX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모서리가 둥근 직사각형 56">
                <a:extLst>
                  <a:ext uri="{FF2B5EF4-FFF2-40B4-BE49-F238E27FC236}">
                    <a16:creationId xmlns:a16="http://schemas.microsoft.com/office/drawing/2014/main" id="{BBE11517-1C3F-4BBD-9CC9-A6BF97CFAE19}"/>
                  </a:ext>
                </a:extLst>
              </p:cNvPr>
              <p:cNvSpPr/>
              <p:nvPr/>
            </p:nvSpPr>
            <p:spPr>
              <a:xfrm>
                <a:off x="5547314" y="2643419"/>
                <a:ext cx="936000" cy="324000"/>
              </a:xfrm>
              <a:prstGeom prst="roundRect">
                <a:avLst/>
              </a:prstGeom>
              <a:pattFill prst="wd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SAC</a:t>
                </a:r>
                <a:br>
                  <a:rPr lang="en-US" altLang="ko-KR" sz="900" b="1" dirty="0">
                    <a:solidFill>
                      <a:schemeClr val="tx1"/>
                    </a:solidFill>
                  </a:rPr>
                </a:br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  <a:t>(SAP Analytics </a:t>
                </a:r>
                <a:r>
                  <a:rPr lang="en-US" altLang="ko-KR" sz="700" dirty="0" smtClean="0">
                    <a:solidFill>
                      <a:schemeClr val="tx1"/>
                    </a:solidFill>
                    <a:latin typeface="+mn-ea"/>
                  </a:rPr>
                  <a:t>Cloud)</a:t>
                </a:r>
                <a:endParaRPr lang="ko-KR" altLang="en-US" sz="7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모서리가 둥근 직사각형 56">
                <a:extLst>
                  <a:ext uri="{FF2B5EF4-FFF2-40B4-BE49-F238E27FC236}">
                    <a16:creationId xmlns:a16="http://schemas.microsoft.com/office/drawing/2014/main" id="{05178538-6234-4D9F-88EB-E8C492C9473B}"/>
                  </a:ext>
                </a:extLst>
              </p:cNvPr>
              <p:cNvSpPr/>
              <p:nvPr/>
            </p:nvSpPr>
            <p:spPr>
              <a:xfrm>
                <a:off x="3516852" y="2286914"/>
                <a:ext cx="936000" cy="324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HRMS</a:t>
                </a:r>
                <a:br>
                  <a:rPr lang="en-US" altLang="ko-KR" sz="900" b="1" dirty="0">
                    <a:solidFill>
                      <a:schemeClr val="tx1"/>
                    </a:solidFill>
                  </a:rPr>
                </a:br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  <a:t>(Human Resource </a:t>
                </a:r>
                <a:b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</a:br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  <a:t>Mgt. System)</a:t>
                </a:r>
                <a:endParaRPr lang="ko-KR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모서리가 둥근 직사각형 56">
                <a:extLst>
                  <a:ext uri="{FF2B5EF4-FFF2-40B4-BE49-F238E27FC236}">
                    <a16:creationId xmlns:a16="http://schemas.microsoft.com/office/drawing/2014/main" id="{B75C2497-280F-4501-B1C1-79ABF7DCF298}"/>
                  </a:ext>
                </a:extLst>
              </p:cNvPr>
              <p:cNvSpPr/>
              <p:nvPr/>
            </p:nvSpPr>
            <p:spPr>
              <a:xfrm>
                <a:off x="3516852" y="2654987"/>
                <a:ext cx="936000" cy="324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ts val="700"/>
                  </a:lnSpc>
                </a:pPr>
                <a:r>
                  <a:rPr lang="en-US" altLang="ko-KR" sz="900" b="1" dirty="0">
                    <a:solidFill>
                      <a:schemeClr val="tx1"/>
                    </a:solidFill>
                  </a:rPr>
                  <a:t>PFAS</a:t>
                </a:r>
                <a:br>
                  <a:rPr lang="en-US" altLang="ko-KR" sz="900" b="1" dirty="0">
                    <a:solidFill>
                      <a:schemeClr val="tx1"/>
                    </a:solidFill>
                  </a:rPr>
                </a:br>
                <a:r>
                  <a:rPr lang="en-US" altLang="ko-KR" sz="7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  <a:t>Provident fund </a:t>
                </a:r>
                <a:b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</a:br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</a:rPr>
                  <a:t>accounting System)</a:t>
                </a:r>
                <a:endParaRPr lang="ko-KR" altLang="en-US" sz="7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모서리가 둥근 직사각형 52">
                <a:extLst>
                  <a:ext uri="{FF2B5EF4-FFF2-40B4-BE49-F238E27FC236}">
                    <a16:creationId xmlns:a16="http://schemas.microsoft.com/office/drawing/2014/main" id="{113B137D-0A0B-425E-912F-A564797D9606}"/>
                  </a:ext>
                </a:extLst>
              </p:cNvPr>
              <p:cNvSpPr/>
              <p:nvPr/>
            </p:nvSpPr>
            <p:spPr>
              <a:xfrm>
                <a:off x="4532083" y="2286914"/>
                <a:ext cx="936000" cy="324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b="1" dirty="0" err="1">
                    <a:solidFill>
                      <a:schemeClr val="tx1"/>
                    </a:solidFill>
                  </a:rPr>
                  <a:t>eHR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화살표: 왼쪽/오른쪽 117">
                <a:extLst>
                  <a:ext uri="{FF2B5EF4-FFF2-40B4-BE49-F238E27FC236}">
                    <a16:creationId xmlns:a16="http://schemas.microsoft.com/office/drawing/2014/main" id="{B77F7864-4650-4511-8259-D82652711B45}"/>
                  </a:ext>
                </a:extLst>
              </p:cNvPr>
              <p:cNvSpPr/>
              <p:nvPr/>
            </p:nvSpPr>
            <p:spPr>
              <a:xfrm rot="5400000">
                <a:off x="4909633" y="3064932"/>
                <a:ext cx="187412" cy="212453"/>
              </a:xfrm>
              <a:prstGeom prst="leftRightArrow">
                <a:avLst>
                  <a:gd name="adj1" fmla="val 54439"/>
                  <a:gd name="adj2" fmla="val 26696"/>
                </a:avLst>
              </a:prstGeom>
              <a:gradFill>
                <a:gsLst>
                  <a:gs pos="0">
                    <a:schemeClr val="bg2">
                      <a:lumMod val="25000"/>
                    </a:schemeClr>
                  </a:gs>
                  <a:gs pos="30000">
                    <a:schemeClr val="bg2">
                      <a:lumMod val="75000"/>
                    </a:schemeClr>
                  </a:gs>
                  <a:gs pos="70000">
                    <a:schemeClr val="bg2">
                      <a:lumMod val="75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" name="모서리가 둥근 직사각형 52">
                <a:extLst>
                  <a:ext uri="{FF2B5EF4-FFF2-40B4-BE49-F238E27FC236}">
                    <a16:creationId xmlns:a16="http://schemas.microsoft.com/office/drawing/2014/main" id="{E1F0E921-82AD-4F90-9E57-7DC8ACA0F9B5}"/>
                  </a:ext>
                </a:extLst>
              </p:cNvPr>
              <p:cNvSpPr/>
              <p:nvPr/>
            </p:nvSpPr>
            <p:spPr>
              <a:xfrm>
                <a:off x="4532083" y="2654712"/>
                <a:ext cx="936000" cy="324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그룹웨어</a:t>
                </a:r>
              </a:p>
            </p:txBody>
          </p:sp>
        </p:grp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B166EEA-0DD9-4D6E-90B7-82586FD10952}"/>
                </a:ext>
              </a:extLst>
            </p:cNvPr>
            <p:cNvSpPr/>
            <p:nvPr/>
          </p:nvSpPr>
          <p:spPr>
            <a:xfrm>
              <a:off x="7680308" y="1534979"/>
              <a:ext cx="360382" cy="247664"/>
            </a:xfrm>
            <a:prstGeom prst="rect">
              <a:avLst/>
            </a:prstGeom>
            <a:solidFill>
              <a:srgbClr val="0D0D0D"/>
            </a:solidFill>
            <a:ln>
              <a:solidFill>
                <a:sysClr val="window" lastClr="FFFFFF">
                  <a:lumMod val="65000"/>
                </a:sysClr>
              </a:solidFill>
            </a:ln>
            <a:effectLst/>
          </p:spPr>
          <p:txBody>
            <a:bodyPr wrap="none" rtlCol="0" anchor="ctr"/>
            <a:lstStyle/>
            <a:p>
              <a:pPr marL="0" marR="0" lvl="0" indent="0" algn="ctr" defTabSz="9771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신규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도입</a:t>
              </a: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A8E76AC1-4998-4A0C-A008-79614B001419}"/>
                </a:ext>
              </a:extLst>
            </p:cNvPr>
            <p:cNvSpPr/>
            <p:nvPr/>
          </p:nvSpPr>
          <p:spPr>
            <a:xfrm>
              <a:off x="8069126" y="1534983"/>
              <a:ext cx="360382" cy="247664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p:spPr>
          <p:txBody>
            <a:bodyPr wrap="none" rtlCol="0" anchor="ctr"/>
            <a:lstStyle/>
            <a:p>
              <a:pPr marL="0" marR="0" lvl="0" indent="0" algn="ctr" defTabSz="9771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대응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개발</a:t>
              </a: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0D9E146-0B84-48E9-9BFE-FDFDB903148C}"/>
                </a:ext>
              </a:extLst>
            </p:cNvPr>
            <p:cNvSpPr/>
            <p:nvPr/>
          </p:nvSpPr>
          <p:spPr>
            <a:xfrm>
              <a:off x="8457944" y="1534986"/>
              <a:ext cx="360382" cy="247664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  <a:effectLst/>
          </p:spPr>
          <p:txBody>
            <a:bodyPr wrap="none" rtlCol="0" anchor="ctr"/>
            <a:lstStyle/>
            <a:p>
              <a:pPr marL="0" marR="0" lvl="0" indent="0" algn="ctr" defTabSz="9771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기존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유지</a:t>
              </a:r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EFC150F6-9669-4080-9738-7953FAAEA757}"/>
                </a:ext>
              </a:extLst>
            </p:cNvPr>
            <p:cNvSpPr/>
            <p:nvPr/>
          </p:nvSpPr>
          <p:spPr>
            <a:xfrm>
              <a:off x="8865721" y="1534990"/>
              <a:ext cx="360382" cy="247664"/>
            </a:xfrm>
            <a:prstGeom prst="rect">
              <a:avLst/>
            </a:prstGeom>
            <a:pattFill prst="wdDn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>
              <a:solidFill>
                <a:sysClr val="windowText" lastClr="000000">
                  <a:lumMod val="95000"/>
                  <a:lumOff val="5000"/>
                </a:sysClr>
              </a:solidFill>
              <a:prstDash val="sysDash"/>
            </a:ln>
            <a:effectLst/>
          </p:spPr>
          <p:txBody>
            <a:bodyPr lIns="72000" rIns="36000" rtlCol="0" anchor="ctr"/>
            <a:lstStyle/>
            <a:p>
              <a:pPr algn="ctr" defTabSz="977172"/>
              <a:r>
                <a:rPr lang="ko-KR" altLang="en-US" sz="8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별도</a:t>
              </a:r>
              <a:r>
                <a:rPr lang="en-US" altLang="ko-KR" sz="8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/>
              </a:r>
              <a:br>
                <a:rPr lang="en-US" altLang="ko-KR" sz="8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구현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614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53C4A7E1-C51E-469D-91CA-2378629C444B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8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2ABEAB3E-83BE-4FA3-A3A9-5D7AEA46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 smtClean="0">
                <a:ln w="1905"/>
                <a:latin typeface="맑은 고딕"/>
                <a:ea typeface="맑은 고딕"/>
              </a:rPr>
              <a:t>[</a:t>
            </a:r>
            <a:r>
              <a:rPr lang="ko-KR" altLang="en-US" sz="2000" b="1" kern="0" spc="-138" dirty="0" smtClean="0">
                <a:ln w="1905"/>
                <a:latin typeface="맑은 고딕"/>
                <a:ea typeface="맑은 고딕"/>
              </a:rPr>
              <a:t>참고</a:t>
            </a:r>
            <a:r>
              <a:rPr lang="en-US" altLang="ko-KR" sz="2000" b="1" kern="0" spc="-138" dirty="0" smtClean="0">
                <a:ln w="1905"/>
                <a:latin typeface="맑은 고딕"/>
                <a:ea typeface="맑은 고딕"/>
              </a:rPr>
              <a:t>] PI 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단계의 주요 협의</a:t>
            </a:r>
            <a:r>
              <a:rPr lang="en-US" altLang="ko-KR" sz="2000" b="1" kern="0" spc="-138" dirty="0">
                <a:ln w="1905"/>
                <a:latin typeface="맑은 고딕"/>
                <a:ea typeface="맑은 고딕"/>
              </a:rPr>
              <a:t>/</a:t>
            </a:r>
            <a:r>
              <a:rPr lang="ko-KR" altLang="en-US" sz="2000" b="1" kern="0" spc="-138" dirty="0">
                <a:ln w="1905"/>
                <a:latin typeface="맑은 고딕"/>
                <a:ea typeface="맑은 고딕"/>
              </a:rPr>
              <a:t>공유 과정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472832E-3FC4-4B6A-8E38-59CAA256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59" y="927777"/>
            <a:ext cx="9434769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/>
          <a:p>
            <a:pPr>
              <a:defRPr/>
            </a:pP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PI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 단계의 주요 산출물들은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PI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단계 동안 지속적으로 주요 경영진 및 국내외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PI(TFT</a:t>
            </a:r>
            <a:r>
              <a:rPr lang="en-US" altLang="ko-KR" sz="1600" b="1" kern="0" spc="-150" dirty="0" smtClean="0">
                <a:ln w="1905"/>
                <a:latin typeface="맑은 고딕"/>
                <a:ea typeface="맑은 고딕"/>
              </a:rPr>
              <a:t>), </a:t>
            </a:r>
            <a:r>
              <a:rPr lang="ko-KR" altLang="en-US" sz="1600" b="1" kern="0" spc="-150" dirty="0" smtClean="0">
                <a:ln w="1905"/>
                <a:latin typeface="맑은 고딕"/>
                <a:ea typeface="맑은 고딕"/>
              </a:rPr>
              <a:t>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실무자들과 공유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 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및 협의를 통해서 </a:t>
            </a:r>
            <a:r>
              <a:rPr lang="ko-KR" altLang="en-US" sz="1600" b="1" kern="0" spc="-150" dirty="0" smtClean="0">
                <a:ln w="1905"/>
                <a:latin typeface="맑은 고딕"/>
                <a:ea typeface="맑은 고딕"/>
              </a:rPr>
              <a:t>도출</a:t>
            </a:r>
            <a:r>
              <a:rPr lang="en-US" altLang="ko-KR" sz="1600" b="1" kern="0" spc="-150" dirty="0" smtClean="0">
                <a:ln w="1905"/>
                <a:latin typeface="맑은 고딕"/>
                <a:ea typeface="맑은 고딕"/>
              </a:rPr>
              <a:t>, </a:t>
            </a:r>
            <a:r>
              <a:rPr lang="en-US" altLang="ko-KR" sz="1600" b="1" kern="0" spc="-150" dirty="0">
                <a:ln w="1905"/>
                <a:latin typeface="맑은 고딕"/>
                <a:ea typeface="맑은 고딕"/>
              </a:rPr>
              <a:t>1</a:t>
            </a:r>
            <a:r>
              <a:rPr lang="ko-KR" altLang="en-US" sz="1600" b="1" kern="0" spc="-150" dirty="0">
                <a:ln w="1905"/>
                <a:latin typeface="맑은 고딕"/>
                <a:ea typeface="맑은 고딕"/>
              </a:rPr>
              <a:t>차 </a:t>
            </a:r>
            <a:r>
              <a:rPr lang="ko-KR" altLang="en-US" sz="1600" b="1" kern="0" spc="-150" dirty="0" smtClean="0">
                <a:ln w="1905"/>
                <a:latin typeface="맑은 고딕"/>
                <a:ea typeface="맑은 고딕"/>
              </a:rPr>
              <a:t>확정 되었음</a:t>
            </a:r>
            <a:endParaRPr lang="ko-KR" altLang="en-US" sz="1600" b="1" kern="0" spc="-150" dirty="0">
              <a:ln w="1905"/>
              <a:latin typeface="맑은 고딕"/>
              <a:ea typeface="맑은 고딕"/>
            </a:endParaRPr>
          </a:p>
        </p:txBody>
      </p:sp>
      <p:sp>
        <p:nvSpPr>
          <p:cNvPr id="72" name="오각형 8">
            <a:extLst>
              <a:ext uri="{FF2B5EF4-FFF2-40B4-BE49-F238E27FC236}">
                <a16:creationId xmlns:a16="http://schemas.microsoft.com/office/drawing/2014/main" id="{679358A5-6B4A-4649-B428-02D73C9D63D9}"/>
              </a:ext>
            </a:extLst>
          </p:cNvPr>
          <p:cNvSpPr/>
          <p:nvPr/>
        </p:nvSpPr>
        <p:spPr>
          <a:xfrm>
            <a:off x="1137849" y="1965186"/>
            <a:ext cx="4225715" cy="577912"/>
          </a:xfrm>
          <a:prstGeom prst="homePlate">
            <a:avLst>
              <a:gd name="adj" fmla="val 18898"/>
            </a:avLst>
          </a:prstGeom>
          <a:solidFill>
            <a:schemeClr val="bg2">
              <a:lumMod val="25000"/>
            </a:schemeClr>
          </a:solidFill>
          <a:ln w="9525" cap="flat" cmpd="sng" algn="ctr">
            <a:solidFill>
              <a:schemeClr val="accent3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400" b="1" kern="0" dirty="0">
                <a:solidFill>
                  <a:schemeClr val="bg1"/>
                </a:solidFill>
                <a:latin typeface="+mn-ea"/>
                <a:sym typeface="Wingdings" pitchFamily="2" charset="2"/>
              </a:rPr>
              <a:t>Phase Ⅰ. 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Assess &amp; Envision</a:t>
            </a:r>
          </a:p>
          <a:p>
            <a:pPr lvl="0" algn="ctr" defTabSz="914400">
              <a:defRPr/>
            </a:pP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(</a:t>
            </a:r>
            <a:r>
              <a:rPr lang="ko-KR" altLang="en-US" sz="1400" b="1" kern="0" dirty="0">
                <a:solidFill>
                  <a:schemeClr val="bg1"/>
                </a:solidFill>
                <a:latin typeface="+mn-ea"/>
                <a:cs typeface="Arial"/>
              </a:rPr>
              <a:t>현황 분석 및 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PI </a:t>
            </a:r>
            <a:r>
              <a:rPr lang="ko-KR" altLang="en-US" sz="1400" b="1" kern="0" dirty="0">
                <a:solidFill>
                  <a:schemeClr val="bg1"/>
                </a:solidFill>
                <a:latin typeface="+mn-ea"/>
                <a:cs typeface="Arial"/>
              </a:rPr>
              <a:t>방향성 수립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)</a:t>
            </a:r>
          </a:p>
        </p:txBody>
      </p:sp>
      <p:sp>
        <p:nvSpPr>
          <p:cNvPr id="73" name="오각형 8">
            <a:extLst>
              <a:ext uri="{FF2B5EF4-FFF2-40B4-BE49-F238E27FC236}">
                <a16:creationId xmlns:a16="http://schemas.microsoft.com/office/drawing/2014/main" id="{29431913-C054-4633-BCCF-40385458B73F}"/>
              </a:ext>
            </a:extLst>
          </p:cNvPr>
          <p:cNvSpPr/>
          <p:nvPr/>
        </p:nvSpPr>
        <p:spPr>
          <a:xfrm>
            <a:off x="5363564" y="1965186"/>
            <a:ext cx="2158644" cy="577912"/>
          </a:xfrm>
          <a:prstGeom prst="chevron">
            <a:avLst>
              <a:gd name="adj" fmla="val 18970"/>
            </a:avLst>
          </a:prstGeom>
          <a:solidFill>
            <a:schemeClr val="bg2">
              <a:lumMod val="25000"/>
            </a:schemeClr>
          </a:solidFill>
          <a:ln w="9525" cap="flat" cmpd="sng" algn="ctr">
            <a:solidFill>
              <a:schemeClr val="accent3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400" b="1" kern="0" dirty="0">
                <a:solidFill>
                  <a:schemeClr val="bg1"/>
                </a:solidFill>
                <a:latin typeface="+mn-ea"/>
                <a:sym typeface="Wingdings" pitchFamily="2" charset="2"/>
              </a:rPr>
              <a:t>Phase Ⅱ. 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</a:rPr>
              <a:t>Design</a:t>
            </a:r>
          </a:p>
          <a:p>
            <a:pPr lvl="0" algn="ctr" defTabSz="914400">
              <a:defRPr/>
            </a:pPr>
            <a:r>
              <a:rPr lang="en-US" altLang="ko-KR" sz="1400" b="1" kern="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To-be</a:t>
            </a:r>
            <a:r>
              <a:rPr lang="ko-KR" altLang="en-US" sz="1400" b="1" kern="0" dirty="0">
                <a:solidFill>
                  <a:schemeClr val="bg1"/>
                </a:solidFill>
                <a:latin typeface="+mn-ea"/>
                <a:cs typeface="Arial"/>
              </a:rPr>
              <a:t> 상세 설계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/>
              </a:rPr>
              <a:t>)</a:t>
            </a:r>
            <a:endParaRPr kumimoji="0" lang="en-US" sz="1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74" name="오각형 8">
            <a:extLst>
              <a:ext uri="{FF2B5EF4-FFF2-40B4-BE49-F238E27FC236}">
                <a16:creationId xmlns:a16="http://schemas.microsoft.com/office/drawing/2014/main" id="{2E5BF898-22BF-4906-890A-C5F25329FAB9}"/>
              </a:ext>
            </a:extLst>
          </p:cNvPr>
          <p:cNvSpPr/>
          <p:nvPr/>
        </p:nvSpPr>
        <p:spPr>
          <a:xfrm>
            <a:off x="7522208" y="1965186"/>
            <a:ext cx="2110740" cy="577912"/>
          </a:xfrm>
          <a:prstGeom prst="chevron">
            <a:avLst>
              <a:gd name="adj" fmla="val 18956"/>
            </a:avLst>
          </a:prstGeom>
          <a:solidFill>
            <a:schemeClr val="bg2">
              <a:lumMod val="25000"/>
            </a:schemeClr>
          </a:solidFill>
          <a:ln w="9525" cap="flat" cmpd="sng" algn="ctr">
            <a:solidFill>
              <a:schemeClr val="accent3"/>
            </a:solidFill>
            <a:prstDash val="solid"/>
          </a:ln>
          <a:effectLst/>
        </p:spPr>
        <p:txBody>
          <a:bodyPr lIns="108000" tIns="0" rIns="0" bIns="0" rtlCol="0" anchor="ctr"/>
          <a:lstStyle/>
          <a:p>
            <a:pPr algn="ctr" defTabSz="914400"/>
            <a:r>
              <a:rPr lang="en-US" altLang="ko-KR" sz="1400" b="1" kern="0" dirty="0">
                <a:solidFill>
                  <a:schemeClr val="bg1"/>
                </a:solidFill>
                <a:latin typeface="+mn-ea"/>
                <a:sym typeface="Wingdings" pitchFamily="2" charset="2"/>
              </a:rPr>
              <a:t>Ⅲ. 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</a:rPr>
              <a:t>Plan</a:t>
            </a:r>
          </a:p>
          <a:p>
            <a:pPr algn="ctr" defTabSz="914400"/>
            <a:r>
              <a:rPr lang="en-US" altLang="ko-KR" sz="1400" b="1" kern="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400" b="1" kern="0" dirty="0">
                <a:solidFill>
                  <a:schemeClr val="bg1"/>
                </a:solidFill>
                <a:latin typeface="+mn-ea"/>
              </a:rPr>
              <a:t>구현계획 수립</a:t>
            </a:r>
            <a:r>
              <a:rPr lang="en-US" altLang="ko-KR" sz="1400" b="1" kern="0" dirty="0">
                <a:solidFill>
                  <a:schemeClr val="bg1"/>
                </a:solidFill>
                <a:latin typeface="+mn-ea"/>
              </a:rPr>
              <a:t>)</a:t>
            </a:r>
            <a:endParaRPr lang="en-US" sz="14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직사각형 70">
            <a:extLst>
              <a:ext uri="{FF2B5EF4-FFF2-40B4-BE49-F238E27FC236}">
                <a16:creationId xmlns:a16="http://schemas.microsoft.com/office/drawing/2014/main" id="{368F65FA-99BF-1FC7-C3AA-1D444F1D3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113" y="2622611"/>
            <a:ext cx="4225715" cy="614407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lIns="15879" tIns="0" rIns="15879" bIns="0" anchor="ctr"/>
          <a:lstStyle/>
          <a:p>
            <a:pPr lvl="0" algn="ctr" defTabSz="914400" eaLnBrk="0" hangingPunct="0">
              <a:defRPr/>
            </a:pP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경영진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+</a:t>
            </a: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실무진 인터뷰를 통한 현황 파악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/>
            </a:r>
            <a:b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</a:b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및 이에 따른 이슈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변화 방향성 공유</a:t>
            </a:r>
            <a:endParaRPr lang="en-US" altLang="ko-KR" sz="1300" b="1" kern="0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0" name="직사각형 70">
            <a:extLst>
              <a:ext uri="{FF2B5EF4-FFF2-40B4-BE49-F238E27FC236}">
                <a16:creationId xmlns:a16="http://schemas.microsoft.com/office/drawing/2014/main" id="{6A4F48F1-C91A-5C6A-03C5-45D03C90B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3178" y="2622611"/>
            <a:ext cx="2110742" cy="614407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lIns="15879" tIns="0" rIns="15879" bIns="0" anchor="ctr"/>
          <a:lstStyle/>
          <a:p>
            <a:pPr algn="ctr" defTabSz="914400" eaLnBrk="0" hangingPunct="0">
              <a:defRPr/>
            </a:pP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To-Be</a:t>
            </a: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설계 내용 공유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,</a:t>
            </a:r>
            <a:b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</a:b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주요 의사결정 사항에 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/>
            </a:r>
            <a:b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</a:b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대한 논의 진행</a:t>
            </a:r>
            <a:endParaRPr lang="en-US" altLang="ko-KR" sz="1300" b="1" kern="0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1" name="직사각형 70">
            <a:extLst>
              <a:ext uri="{FF2B5EF4-FFF2-40B4-BE49-F238E27FC236}">
                <a16:creationId xmlns:a16="http://schemas.microsoft.com/office/drawing/2014/main" id="{26A8901B-E976-48CA-0E1B-8332EC77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208" y="2622611"/>
            <a:ext cx="2110742" cy="614407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lIns="15879" tIns="0" rIns="15879" bIns="0" anchor="ctr"/>
          <a:lstStyle/>
          <a:p>
            <a:pPr algn="ctr" defTabSz="914400" eaLnBrk="0" hangingPunct="0">
              <a:defRPr/>
            </a:pP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업무 변화 사항과 세부 </a:t>
            </a:r>
            <a:r>
              <a:rPr lang="en-US" altLang="ko-KR" sz="1300" b="1" kern="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/>
            </a:r>
            <a:br>
              <a:rPr lang="en-US" altLang="ko-KR" sz="1300" b="1" kern="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</a:br>
            <a:r>
              <a:rPr lang="ko-KR" altLang="en-US" sz="1300" b="1" kern="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설계 </a:t>
            </a: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내용 공유</a:t>
            </a:r>
            <a:r>
              <a:rPr lang="en-US" altLang="ko-KR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/</a:t>
            </a:r>
            <a:r>
              <a:rPr lang="ko-KR" altLang="en-US" sz="13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확정</a:t>
            </a:r>
            <a:endParaRPr lang="en-US" altLang="ko-KR" sz="1300" b="1" kern="0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A7C616E-4C94-4DA0-AA82-B95A378FE316}"/>
              </a:ext>
            </a:extLst>
          </p:cNvPr>
          <p:cNvGrpSpPr/>
          <p:nvPr/>
        </p:nvGrpSpPr>
        <p:grpSpPr>
          <a:xfrm>
            <a:off x="228599" y="3274143"/>
            <a:ext cx="9404351" cy="3104782"/>
            <a:chOff x="228599" y="3496649"/>
            <a:chExt cx="9404351" cy="2882275"/>
          </a:xfrm>
        </p:grpSpPr>
        <p:sp>
          <p:nvSpPr>
            <p:cNvPr id="14" name="오각형 8">
              <a:extLst>
                <a:ext uri="{FF2B5EF4-FFF2-40B4-BE49-F238E27FC236}">
                  <a16:creationId xmlns:a16="http://schemas.microsoft.com/office/drawing/2014/main" id="{19D9B501-3672-0182-F7D2-1DECE4FE5109}"/>
                </a:ext>
              </a:extLst>
            </p:cNvPr>
            <p:cNvSpPr/>
            <p:nvPr/>
          </p:nvSpPr>
          <p:spPr>
            <a:xfrm>
              <a:off x="4966264" y="4243271"/>
              <a:ext cx="573616" cy="2135653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현황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분석서 공유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1E52730F-B5E0-4AA1-BBFB-35012F6B7A3A}"/>
                </a:ext>
              </a:extLst>
            </p:cNvPr>
            <p:cNvSpPr/>
            <p:nvPr/>
          </p:nvSpPr>
          <p:spPr>
            <a:xfrm>
              <a:off x="228599" y="3496650"/>
              <a:ext cx="821799" cy="633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accent3"/>
              </a:solidFill>
            </a:ln>
            <a:effectLst/>
          </p:spPr>
          <p:txBody>
            <a:bodyPr vert="horz" wrap="square" lIns="0" tIns="36000" rIns="0" bIns="36000" rtlCol="0" anchor="ctr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en-US" altLang="ko-KR" sz="1200" b="1" dirty="0">
                  <a:solidFill>
                    <a:schemeClr val="bg1"/>
                  </a:solidFill>
                  <a:latin typeface="+mn-ea"/>
                </a:rPr>
                <a:t>Steering</a:t>
              </a:r>
              <a:br>
                <a:rPr lang="en-US" altLang="ko-KR" sz="1200" b="1" dirty="0">
                  <a:solidFill>
                    <a:schemeClr val="bg1"/>
                  </a:solidFill>
                  <a:latin typeface="+mn-ea"/>
                </a:rPr>
              </a:br>
              <a:r>
                <a:rPr lang="en-US" altLang="ko-KR" sz="1200" b="1" dirty="0">
                  <a:solidFill>
                    <a:schemeClr val="bg1"/>
                  </a:solidFill>
                  <a:latin typeface="+mn-ea"/>
                </a:rPr>
                <a:t>Committee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2" name="오각형 8">
              <a:extLst>
                <a:ext uri="{FF2B5EF4-FFF2-40B4-BE49-F238E27FC236}">
                  <a16:creationId xmlns:a16="http://schemas.microsoft.com/office/drawing/2014/main" id="{48B02B51-774F-48B5-A981-28545D797AEF}"/>
                </a:ext>
              </a:extLst>
            </p:cNvPr>
            <p:cNvSpPr/>
            <p:nvPr/>
          </p:nvSpPr>
          <p:spPr>
            <a:xfrm>
              <a:off x="1125114" y="3496650"/>
              <a:ext cx="856085" cy="632624"/>
            </a:xfrm>
            <a:prstGeom prst="homePlate">
              <a:avLst>
                <a:gd name="adj" fmla="val 18898"/>
              </a:avLst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en-US" altLang="ko-KR" sz="1000" b="1" kern="0" dirty="0">
                  <a:latin typeface="+mn-ea"/>
                  <a:sym typeface="Wingdings" pitchFamily="2" charset="2"/>
                </a:rPr>
                <a:t>Kick-off </a:t>
              </a:r>
              <a:r>
                <a:rPr lang="ko-KR" altLang="en-US" sz="1000" b="1" kern="0" dirty="0">
                  <a:latin typeface="+mn-ea"/>
                  <a:sym typeface="Wingdings" pitchFamily="2" charset="2"/>
                </a:rPr>
                <a:t>보고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84" name="오각형 8">
              <a:extLst>
                <a:ext uri="{FF2B5EF4-FFF2-40B4-BE49-F238E27FC236}">
                  <a16:creationId xmlns:a16="http://schemas.microsoft.com/office/drawing/2014/main" id="{CABBF339-DF08-49C7-8C16-2A97FFE85EB5}"/>
                </a:ext>
              </a:extLst>
            </p:cNvPr>
            <p:cNvSpPr/>
            <p:nvPr/>
          </p:nvSpPr>
          <p:spPr>
            <a:xfrm>
              <a:off x="4196681" y="3496650"/>
              <a:ext cx="756320" cy="1390982"/>
            </a:xfrm>
            <a:prstGeom prst="homePlate">
              <a:avLst>
                <a:gd name="adj" fmla="val 18898"/>
              </a:avLst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algn="ctr" defTabSz="914400"/>
              <a:r>
                <a:rPr lang="en-US" altLang="ko-KR" sz="1000" b="1" kern="0" dirty="0">
                  <a:latin typeface="+mn-ea"/>
                  <a:sym typeface="Wingdings" pitchFamily="2" charset="2"/>
                </a:rPr>
                <a:t>PI</a:t>
              </a:r>
              <a:r>
                <a:rPr lang="ko-KR" altLang="en-US" sz="1000" b="1" kern="0" dirty="0">
                  <a:latin typeface="+mn-ea"/>
                  <a:sym typeface="Wingdings" pitchFamily="2" charset="2"/>
                </a:rPr>
                <a:t> 중간</a:t>
              </a:r>
              <a:r>
                <a:rPr lang="en-US" altLang="ko-KR" sz="1000" b="1" kern="0" dirty="0">
                  <a:latin typeface="+mn-ea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sym typeface="Wingdings" pitchFamily="2" charset="2"/>
                </a:rPr>
                <a:t>보고</a:t>
              </a:r>
              <a:endParaRPr lang="en-US" altLang="ko-KR" sz="1000" b="1" kern="0" dirty="0">
                <a:latin typeface="+mn-ea"/>
              </a:endParaRPr>
            </a:p>
          </p:txBody>
        </p:sp>
        <p:sp>
          <p:nvSpPr>
            <p:cNvPr id="11" name="오각형 8">
              <a:extLst>
                <a:ext uri="{FF2B5EF4-FFF2-40B4-BE49-F238E27FC236}">
                  <a16:creationId xmlns:a16="http://schemas.microsoft.com/office/drawing/2014/main" id="{FC7D1CEC-A305-BE17-D2DF-F698EC41B960}"/>
                </a:ext>
              </a:extLst>
            </p:cNvPr>
            <p:cNvSpPr/>
            <p:nvPr/>
          </p:nvSpPr>
          <p:spPr>
            <a:xfrm>
              <a:off x="9026012" y="3496649"/>
              <a:ext cx="606935" cy="1390984"/>
            </a:xfrm>
            <a:prstGeom prst="homePlate">
              <a:avLst>
                <a:gd name="adj" fmla="val 18898"/>
              </a:avLst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>PI</a:t>
              </a:r>
              <a:r>
                <a:rPr lang="ko-KR" altLang="en-US" sz="1000" b="1" kern="0">
                  <a:latin typeface="+mn-ea"/>
                  <a:cs typeface="Arial"/>
                  <a:sym typeface="Wingdings" pitchFamily="2" charset="2"/>
                </a:rPr>
                <a:t> 종료</a:t>
              </a:r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>
                  <a:latin typeface="+mn-ea"/>
                  <a:cs typeface="Arial"/>
                  <a:sym typeface="Wingdings" pitchFamily="2" charset="2"/>
                </a:rPr>
                <a:t>보고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19" name="오각형 8">
              <a:extLst>
                <a:ext uri="{FF2B5EF4-FFF2-40B4-BE49-F238E27FC236}">
                  <a16:creationId xmlns:a16="http://schemas.microsoft.com/office/drawing/2014/main" id="{115AA496-30D8-A39B-0D67-F0327F54DE60}"/>
                </a:ext>
              </a:extLst>
            </p:cNvPr>
            <p:cNvSpPr/>
            <p:nvPr/>
          </p:nvSpPr>
          <p:spPr>
            <a:xfrm>
              <a:off x="7335629" y="4224236"/>
              <a:ext cx="756320" cy="2134047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t"/>
            <a:lstStyle/>
            <a:p>
              <a:pPr algn="ctr" defTabSz="914400"/>
              <a:r>
                <a:rPr lang="en-US" altLang="ko-KR" sz="1000" b="1" kern="0" dirty="0" smtClean="0">
                  <a:latin typeface="+mn-ea"/>
                  <a:cs typeface="Arial"/>
                </a:rPr>
                <a:t/>
              </a:r>
              <a:br>
                <a:rPr lang="en-US" altLang="ko-KR" sz="1000" b="1" kern="0" dirty="0" smtClean="0">
                  <a:latin typeface="+mn-ea"/>
                  <a:cs typeface="Arial"/>
                </a:rPr>
              </a:br>
              <a:r>
                <a:rPr lang="ko-KR" altLang="en-US" sz="1000" b="1" kern="0" dirty="0" smtClean="0">
                  <a:latin typeface="+mn-ea"/>
                  <a:cs typeface="Arial"/>
                </a:rPr>
                <a:t>국내 </a:t>
              </a:r>
              <a:r>
                <a:rPr lang="ko-KR" altLang="en-US" sz="1000" b="1" kern="0" dirty="0">
                  <a:latin typeface="+mn-ea"/>
                  <a:cs typeface="Arial"/>
                </a:rPr>
                <a:t>대상 공청회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20" name="오각형 8">
              <a:extLst>
                <a:ext uri="{FF2B5EF4-FFF2-40B4-BE49-F238E27FC236}">
                  <a16:creationId xmlns:a16="http://schemas.microsoft.com/office/drawing/2014/main" id="{BAA7081D-445C-A13A-5F81-F5B7C9B79960}"/>
                </a:ext>
              </a:extLst>
            </p:cNvPr>
            <p:cNvSpPr/>
            <p:nvPr/>
          </p:nvSpPr>
          <p:spPr>
            <a:xfrm>
              <a:off x="8091950" y="4224236"/>
              <a:ext cx="934062" cy="2134047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t"/>
            <a:lstStyle/>
            <a:p>
              <a:pPr algn="ctr" defTabSz="914400"/>
              <a:r>
                <a:rPr lang="en-US" altLang="ko-KR" sz="1000" b="1" kern="0" dirty="0" smtClean="0">
                  <a:latin typeface="+mn-ea"/>
                  <a:cs typeface="Arial"/>
                </a:rPr>
                <a:t/>
              </a:r>
              <a:br>
                <a:rPr lang="en-US" altLang="ko-KR" sz="1000" b="1" kern="0" dirty="0" smtClean="0">
                  <a:latin typeface="+mn-ea"/>
                  <a:cs typeface="Arial"/>
                </a:rPr>
              </a:br>
              <a:r>
                <a:rPr lang="en-US" altLang="ko-KR" sz="1000" b="1" kern="0" dirty="0" smtClean="0">
                  <a:latin typeface="+mn-ea"/>
                  <a:cs typeface="Arial"/>
                </a:rPr>
                <a:t>BD,VN</a:t>
              </a:r>
              <a:r>
                <a:rPr lang="ko-KR" altLang="en-US" sz="1000" b="1" kern="0" dirty="0" smtClean="0">
                  <a:latin typeface="+mn-ea"/>
                  <a:cs typeface="Arial"/>
                </a:rPr>
                <a:t> </a:t>
              </a:r>
              <a:r>
                <a:rPr lang="ko-KR" altLang="en-US" sz="1000" b="1" kern="0" dirty="0">
                  <a:latin typeface="+mn-ea"/>
                  <a:cs typeface="Arial"/>
                </a:rPr>
                <a:t>대상 공청회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D3DA162D-5637-4133-ADAF-E0C427677EAA}"/>
                </a:ext>
              </a:extLst>
            </p:cNvPr>
            <p:cNvSpPr/>
            <p:nvPr/>
          </p:nvSpPr>
          <p:spPr>
            <a:xfrm>
              <a:off x="228600" y="5000654"/>
              <a:ext cx="821799" cy="63262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accent3"/>
              </a:solidFill>
            </a:ln>
            <a:effectLst/>
          </p:spPr>
          <p:txBody>
            <a:bodyPr vert="horz" wrap="square" lIns="0" tIns="36000" rIns="0" bIns="36000" rtlCol="0" anchor="ctr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ko-KR" altLang="en-US" sz="1300" b="1" dirty="0">
                  <a:solidFill>
                    <a:schemeClr val="bg1"/>
                  </a:solidFill>
                  <a:latin typeface="+mn-ea"/>
                </a:rPr>
                <a:t>국내 실무자</a:t>
              </a:r>
            </a:p>
          </p:txBody>
        </p:sp>
        <p:sp>
          <p:nvSpPr>
            <p:cNvPr id="8" name="오각형 8">
              <a:extLst>
                <a:ext uri="{FF2B5EF4-FFF2-40B4-BE49-F238E27FC236}">
                  <a16:creationId xmlns:a16="http://schemas.microsoft.com/office/drawing/2014/main" id="{7CDD5164-E34F-8555-B9E3-22FEF6D6E8EF}"/>
                </a:ext>
              </a:extLst>
            </p:cNvPr>
            <p:cNvSpPr/>
            <p:nvPr/>
          </p:nvSpPr>
          <p:spPr>
            <a:xfrm>
              <a:off x="1125113" y="5000654"/>
              <a:ext cx="2500281" cy="61198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ko-KR" altLang="en-US" sz="1000" b="1" kern="0">
                  <a:latin typeface="+mn-ea"/>
                  <a:cs typeface="Arial"/>
                  <a:sym typeface="Wingdings" pitchFamily="2" charset="2"/>
                </a:rPr>
                <a:t>현황분석 및 </a:t>
              </a:r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>Interview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17" name="오각형 8">
              <a:extLst>
                <a:ext uri="{FF2B5EF4-FFF2-40B4-BE49-F238E27FC236}">
                  <a16:creationId xmlns:a16="http://schemas.microsoft.com/office/drawing/2014/main" id="{37C93D92-A6A1-8D9F-FEDA-8C0520FA70F3}"/>
                </a:ext>
              </a:extLst>
            </p:cNvPr>
            <p:cNvSpPr/>
            <p:nvPr/>
          </p:nvSpPr>
          <p:spPr>
            <a:xfrm>
              <a:off x="7329143" y="5000654"/>
              <a:ext cx="1451743" cy="632623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 dirty="0">
                  <a:latin typeface="+mn-ea"/>
                  <a:cs typeface="Arial"/>
                </a:rPr>
                <a:t>To-be Process </a:t>
              </a:r>
              <a:r>
                <a:rPr lang="ko-KR" altLang="en-US" sz="1000" b="1" kern="0" dirty="0">
                  <a:latin typeface="+mn-ea"/>
                  <a:cs typeface="Arial"/>
                </a:rPr>
                <a:t>정의서</a:t>
              </a:r>
              <a:r>
                <a:rPr lang="en-US" altLang="ko-KR" sz="1000" b="1" kern="0" dirty="0">
                  <a:latin typeface="+mn-ea"/>
                  <a:cs typeface="Arial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</a:rPr>
              </a:br>
              <a:r>
                <a:rPr lang="ko-KR" altLang="en-US" sz="1000" b="1" kern="0" dirty="0">
                  <a:latin typeface="+mn-ea"/>
                  <a:cs typeface="Arial"/>
                </a:rPr>
                <a:t>협의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27" name="오각형 8">
              <a:extLst>
                <a:ext uri="{FF2B5EF4-FFF2-40B4-BE49-F238E27FC236}">
                  <a16:creationId xmlns:a16="http://schemas.microsoft.com/office/drawing/2014/main" id="{987B9327-9722-008A-ABB3-48C4603C0C0B}"/>
                </a:ext>
              </a:extLst>
            </p:cNvPr>
            <p:cNvSpPr/>
            <p:nvPr/>
          </p:nvSpPr>
          <p:spPr>
            <a:xfrm>
              <a:off x="3676448" y="5000654"/>
              <a:ext cx="1274696" cy="63262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en-US" altLang="ko-KR" sz="1000" b="1" kern="0">
                  <a:latin typeface="+mn-ea"/>
                  <a:cs typeface="Arial"/>
                </a:rPr>
                <a:t>PI </a:t>
              </a:r>
              <a:r>
                <a:rPr lang="ko-KR" altLang="en-US" sz="1000" b="1" kern="0">
                  <a:latin typeface="+mn-ea"/>
                  <a:cs typeface="Arial"/>
                </a:rPr>
                <a:t>과제 </a:t>
              </a:r>
              <a:r>
                <a:rPr lang="en-US" altLang="ko-KR" sz="1000" b="1" kern="0">
                  <a:latin typeface="+mn-ea"/>
                  <a:cs typeface="Arial"/>
                </a:rPr>
                <a:t>List</a:t>
              </a:r>
              <a:br>
                <a:rPr lang="en-US" altLang="ko-KR" sz="1000" b="1" kern="0">
                  <a:latin typeface="+mn-ea"/>
                  <a:cs typeface="Arial"/>
                </a:rPr>
              </a:br>
              <a:r>
                <a:rPr lang="ko-KR" altLang="en-US" sz="1000" b="1" kern="0">
                  <a:latin typeface="+mn-ea"/>
                  <a:cs typeface="Arial"/>
                </a:rPr>
                <a:t>협의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28" name="오각형 8">
              <a:extLst>
                <a:ext uri="{FF2B5EF4-FFF2-40B4-BE49-F238E27FC236}">
                  <a16:creationId xmlns:a16="http://schemas.microsoft.com/office/drawing/2014/main" id="{8AF158CF-0198-222B-050A-7D3828D0B065}"/>
                </a:ext>
              </a:extLst>
            </p:cNvPr>
            <p:cNvSpPr/>
            <p:nvPr/>
          </p:nvSpPr>
          <p:spPr>
            <a:xfrm>
              <a:off x="5742235" y="5000654"/>
              <a:ext cx="1550739" cy="632624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>
                  <a:latin typeface="+mn-ea"/>
                  <a:cs typeface="Arial"/>
                </a:rPr>
                <a:t>PI </a:t>
              </a:r>
              <a:r>
                <a:rPr lang="ko-KR" altLang="en-US" sz="1000" b="1" kern="0">
                  <a:latin typeface="+mn-ea"/>
                  <a:cs typeface="Arial"/>
                </a:rPr>
                <a:t>과제</a:t>
              </a:r>
              <a:r>
                <a:rPr lang="en-US" altLang="ko-KR" sz="1000" b="1" kern="0">
                  <a:latin typeface="+mn-ea"/>
                  <a:cs typeface="Arial"/>
                </a:rPr>
                <a:t/>
              </a:r>
              <a:br>
                <a:rPr lang="en-US" altLang="ko-KR" sz="1000" b="1" kern="0">
                  <a:latin typeface="+mn-ea"/>
                  <a:cs typeface="Arial"/>
                </a:rPr>
              </a:br>
              <a:r>
                <a:rPr lang="ko-KR" altLang="en-US" sz="1000" b="1" kern="0">
                  <a:latin typeface="+mn-ea"/>
                  <a:cs typeface="Arial"/>
                </a:rPr>
                <a:t>정의서 협의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22" name="오각형 8">
              <a:extLst>
                <a:ext uri="{FF2B5EF4-FFF2-40B4-BE49-F238E27FC236}">
                  <a16:creationId xmlns:a16="http://schemas.microsoft.com/office/drawing/2014/main" id="{0D50E155-BBB4-36A7-03E8-23F805A2D860}"/>
                </a:ext>
              </a:extLst>
            </p:cNvPr>
            <p:cNvSpPr/>
            <p:nvPr/>
          </p:nvSpPr>
          <p:spPr>
            <a:xfrm>
              <a:off x="2007383" y="4255009"/>
              <a:ext cx="1274696" cy="63262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lvl="0" algn="ctr" defTabSz="914400">
                <a:defRPr/>
              </a:pPr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>BD, VN </a:t>
              </a:r>
              <a:r>
                <a:rPr lang="ko-KR" altLang="en-US" sz="1000" b="1" kern="0">
                  <a:latin typeface="+mn-ea"/>
                  <a:cs typeface="Arial"/>
                  <a:sym typeface="Wingdings" pitchFamily="2" charset="2"/>
                </a:rPr>
                <a:t>경영진 </a:t>
              </a:r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>Interview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8CA4D4A-E146-431D-98E2-9A5F92616FDA}"/>
                </a:ext>
              </a:extLst>
            </p:cNvPr>
            <p:cNvSpPr/>
            <p:nvPr/>
          </p:nvSpPr>
          <p:spPr>
            <a:xfrm>
              <a:off x="228600" y="4255009"/>
              <a:ext cx="821799" cy="63262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accent3"/>
              </a:solidFill>
            </a:ln>
            <a:effectLst/>
          </p:spPr>
          <p:txBody>
            <a:bodyPr vert="horz" wrap="square" lIns="0" tIns="36000" rIns="0" bIns="36000" rtlCol="0" anchor="ctr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ko-KR" altLang="en-US" sz="1300" b="1" dirty="0">
                  <a:solidFill>
                    <a:schemeClr val="bg1"/>
                  </a:solidFill>
                  <a:latin typeface="+mn-ea"/>
                </a:rPr>
                <a:t>국내</a:t>
              </a:r>
              <a:r>
                <a:rPr lang="en-US" altLang="ko-KR" sz="1300" b="1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ko-KR" altLang="en-US" sz="1300" b="1" dirty="0">
                  <a:solidFill>
                    <a:schemeClr val="bg1"/>
                  </a:solidFill>
                  <a:latin typeface="+mn-ea"/>
                </a:rPr>
                <a:t>해외</a:t>
              </a:r>
              <a:r>
                <a:rPr lang="en-US" altLang="ko-KR" sz="13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3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300" b="1" dirty="0">
                  <a:solidFill>
                    <a:schemeClr val="bg1"/>
                  </a:solidFill>
                  <a:latin typeface="+mn-ea"/>
                </a:rPr>
                <a:t>경영진</a:t>
              </a:r>
            </a:p>
          </p:txBody>
        </p:sp>
        <p:sp>
          <p:nvSpPr>
            <p:cNvPr id="10" name="오각형 8">
              <a:extLst>
                <a:ext uri="{FF2B5EF4-FFF2-40B4-BE49-F238E27FC236}">
                  <a16:creationId xmlns:a16="http://schemas.microsoft.com/office/drawing/2014/main" id="{7EADD6E3-BF1C-C4D5-81BE-AAFEDDFDD62C}"/>
                </a:ext>
              </a:extLst>
            </p:cNvPr>
            <p:cNvSpPr/>
            <p:nvPr/>
          </p:nvSpPr>
          <p:spPr>
            <a:xfrm>
              <a:off x="5494755" y="4224235"/>
              <a:ext cx="573616" cy="697961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기준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정보 방향성 보고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12" name="오각형 8">
              <a:extLst>
                <a:ext uri="{FF2B5EF4-FFF2-40B4-BE49-F238E27FC236}">
                  <a16:creationId xmlns:a16="http://schemas.microsoft.com/office/drawing/2014/main" id="{516CECFA-99D9-6804-882A-D2BC492C31C0}"/>
                </a:ext>
              </a:extLst>
            </p:cNvPr>
            <p:cNvSpPr/>
            <p:nvPr/>
          </p:nvSpPr>
          <p:spPr>
            <a:xfrm>
              <a:off x="1137848" y="4255009"/>
              <a:ext cx="786861" cy="63262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국내 경영진 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>Interview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25" name="오각형 8">
              <a:extLst>
                <a:ext uri="{FF2B5EF4-FFF2-40B4-BE49-F238E27FC236}">
                  <a16:creationId xmlns:a16="http://schemas.microsoft.com/office/drawing/2014/main" id="{DFF4DB24-6F92-AF29-E34D-EE376873F8F6}"/>
                </a:ext>
              </a:extLst>
            </p:cNvPr>
            <p:cNvSpPr/>
            <p:nvPr/>
          </p:nvSpPr>
          <p:spPr>
            <a:xfrm>
              <a:off x="3282079" y="4255009"/>
              <a:ext cx="786861" cy="63262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>Interview</a:t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기술서 공유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31" name="오각형 8">
              <a:extLst>
                <a:ext uri="{FF2B5EF4-FFF2-40B4-BE49-F238E27FC236}">
                  <a16:creationId xmlns:a16="http://schemas.microsoft.com/office/drawing/2014/main" id="{2C62900E-5817-3EEC-A502-ADF4DD1E99CF}"/>
                </a:ext>
              </a:extLst>
            </p:cNvPr>
            <p:cNvSpPr/>
            <p:nvPr/>
          </p:nvSpPr>
          <p:spPr>
            <a:xfrm>
              <a:off x="6715625" y="4255009"/>
              <a:ext cx="573616" cy="644362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구축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전략 안 보고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C66C373-9F3F-47AE-B89E-D21E1B094192}"/>
                </a:ext>
              </a:extLst>
            </p:cNvPr>
            <p:cNvSpPr/>
            <p:nvPr/>
          </p:nvSpPr>
          <p:spPr>
            <a:xfrm>
              <a:off x="228600" y="5746300"/>
              <a:ext cx="821799" cy="63262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accent3"/>
              </a:solidFill>
            </a:ln>
            <a:effectLst/>
          </p:spPr>
          <p:txBody>
            <a:bodyPr vert="horz" wrap="square" lIns="0" tIns="36000" rIns="0" bIns="36000" rtlCol="0" anchor="ctr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400"/>
                </a:spcBef>
              </a:pPr>
              <a:r>
                <a:rPr lang="ko-KR" altLang="en-US" sz="1300" b="1" dirty="0">
                  <a:solidFill>
                    <a:schemeClr val="bg1"/>
                  </a:solidFill>
                  <a:latin typeface="+mn-ea"/>
                </a:rPr>
                <a:t>해외 실무자</a:t>
              </a:r>
            </a:p>
          </p:txBody>
        </p:sp>
        <p:sp>
          <p:nvSpPr>
            <p:cNvPr id="26" name="오각형 8">
              <a:extLst>
                <a:ext uri="{FF2B5EF4-FFF2-40B4-BE49-F238E27FC236}">
                  <a16:creationId xmlns:a16="http://schemas.microsoft.com/office/drawing/2014/main" id="{E288FA26-B4C7-AADF-7AEC-93771AE329C7}"/>
                </a:ext>
              </a:extLst>
            </p:cNvPr>
            <p:cNvSpPr/>
            <p:nvPr/>
          </p:nvSpPr>
          <p:spPr>
            <a:xfrm>
              <a:off x="2505074" y="5746300"/>
              <a:ext cx="1120321" cy="61198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사전 질의서 배포 및 의견 취합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29" name="오각형 8">
              <a:extLst>
                <a:ext uri="{FF2B5EF4-FFF2-40B4-BE49-F238E27FC236}">
                  <a16:creationId xmlns:a16="http://schemas.microsoft.com/office/drawing/2014/main" id="{7E2377AE-A9E0-3812-8D85-4A87E322CBA8}"/>
                </a:ext>
              </a:extLst>
            </p:cNvPr>
            <p:cNvSpPr/>
            <p:nvPr/>
          </p:nvSpPr>
          <p:spPr>
            <a:xfrm>
              <a:off x="3687667" y="5746300"/>
              <a:ext cx="1286569" cy="61198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914400">
                <a:defRPr/>
              </a:pPr>
              <a:r>
                <a:rPr lang="ko-KR" altLang="en-US" sz="1000" b="1" kern="0">
                  <a:latin typeface="+mn-ea"/>
                  <a:cs typeface="Arial"/>
                  <a:sym typeface="Wingdings" pitchFamily="2" charset="2"/>
                </a:rPr>
                <a:t>현황분석 </a:t>
              </a:r>
              <a:r>
                <a:rPr lang="en-US" altLang="ko-KR" sz="1000" b="1" kern="0">
                  <a:latin typeface="+mn-ea"/>
                  <a:cs typeface="Arial"/>
                  <a:sym typeface="Wingdings" pitchFamily="2" charset="2"/>
                </a:rPr>
                <a:t>Interview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30" name="오각형 8">
              <a:extLst>
                <a:ext uri="{FF2B5EF4-FFF2-40B4-BE49-F238E27FC236}">
                  <a16:creationId xmlns:a16="http://schemas.microsoft.com/office/drawing/2014/main" id="{115EB4A3-657A-3E65-0EE1-B748A1662A24}"/>
                </a:ext>
              </a:extLst>
            </p:cNvPr>
            <p:cNvSpPr/>
            <p:nvPr/>
          </p:nvSpPr>
          <p:spPr>
            <a:xfrm>
              <a:off x="6614147" y="5746300"/>
              <a:ext cx="678828" cy="632624"/>
            </a:xfrm>
            <a:prstGeom prst="homePlate">
              <a:avLst>
                <a:gd name="adj" fmla="val 18898"/>
              </a:avLst>
            </a:prstGeom>
            <a:solidFill>
              <a:srgbClr val="F2F2F2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>
                  <a:latin typeface="+mn-ea"/>
                  <a:cs typeface="Arial"/>
                </a:rPr>
                <a:t>PI </a:t>
              </a:r>
              <a:r>
                <a:rPr lang="ko-KR" altLang="en-US" sz="1000" b="1" kern="0">
                  <a:latin typeface="+mn-ea"/>
                  <a:cs typeface="Arial"/>
                </a:rPr>
                <a:t>과제</a:t>
              </a:r>
              <a:r>
                <a:rPr lang="en-US" altLang="ko-KR" sz="1000" b="1" kern="0">
                  <a:latin typeface="+mn-ea"/>
                  <a:cs typeface="Arial"/>
                </a:rPr>
                <a:t/>
              </a:r>
              <a:br>
                <a:rPr lang="en-US" altLang="ko-KR" sz="1000" b="1" kern="0">
                  <a:latin typeface="+mn-ea"/>
                  <a:cs typeface="Arial"/>
                </a:rPr>
              </a:br>
              <a:r>
                <a:rPr lang="ko-KR" altLang="en-US" sz="1000" b="1" kern="0">
                  <a:latin typeface="+mn-ea"/>
                  <a:cs typeface="Arial"/>
                </a:rPr>
                <a:t>정의서 공유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35" name="오각형 8">
              <a:extLst>
                <a:ext uri="{FF2B5EF4-FFF2-40B4-BE49-F238E27FC236}">
                  <a16:creationId xmlns:a16="http://schemas.microsoft.com/office/drawing/2014/main" id="{1A2C39EF-AC10-93CF-472A-82E2C48CC79E}"/>
                </a:ext>
              </a:extLst>
            </p:cNvPr>
            <p:cNvSpPr/>
            <p:nvPr/>
          </p:nvSpPr>
          <p:spPr>
            <a:xfrm>
              <a:off x="7335628" y="5746300"/>
              <a:ext cx="1451743" cy="632624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>
                  <a:latin typeface="+mn-ea"/>
                  <a:cs typeface="Arial"/>
                </a:rPr>
                <a:t>PI </a:t>
              </a:r>
              <a:r>
                <a:rPr lang="ko-KR" altLang="en-US" sz="1000" b="1" kern="0">
                  <a:latin typeface="+mn-ea"/>
                  <a:cs typeface="Arial"/>
                </a:rPr>
                <a:t>과제</a:t>
              </a:r>
              <a:r>
                <a:rPr lang="en-US" altLang="ko-KR" sz="1000" b="1" kern="0">
                  <a:latin typeface="+mn-ea"/>
                  <a:cs typeface="Arial"/>
                </a:rPr>
                <a:t/>
              </a:r>
              <a:br>
                <a:rPr lang="en-US" altLang="ko-KR" sz="1000" b="1" kern="0">
                  <a:latin typeface="+mn-ea"/>
                  <a:cs typeface="Arial"/>
                </a:rPr>
              </a:br>
              <a:r>
                <a:rPr lang="ko-KR" altLang="en-US" sz="1000" b="1" kern="0">
                  <a:latin typeface="+mn-ea"/>
                  <a:cs typeface="Arial"/>
                </a:rPr>
                <a:t>정의서 배포 후 </a:t>
              </a:r>
              <a:r>
                <a:rPr lang="en-US" altLang="ko-KR" sz="1000" b="1" kern="0">
                  <a:latin typeface="+mn-ea"/>
                  <a:cs typeface="Arial"/>
                </a:rPr>
                <a:t/>
              </a:r>
              <a:br>
                <a:rPr lang="en-US" altLang="ko-KR" sz="1000" b="1" kern="0">
                  <a:latin typeface="+mn-ea"/>
                  <a:cs typeface="Arial"/>
                </a:rPr>
              </a:br>
              <a:r>
                <a:rPr lang="ko-KR" altLang="en-US" sz="1000" b="1" kern="0">
                  <a:latin typeface="+mn-ea"/>
                  <a:cs typeface="Arial"/>
                </a:rPr>
                <a:t>의견 취합</a:t>
              </a:r>
              <a:endParaRPr lang="en-US" altLang="ko-KR" sz="1000" b="1" kern="0">
                <a:latin typeface="+mn-ea"/>
                <a:cs typeface="Arial"/>
              </a:endParaRPr>
            </a:p>
          </p:txBody>
        </p:sp>
        <p:sp>
          <p:nvSpPr>
            <p:cNvPr id="2" name="오각형 8">
              <a:extLst>
                <a:ext uri="{FF2B5EF4-FFF2-40B4-BE49-F238E27FC236}">
                  <a16:creationId xmlns:a16="http://schemas.microsoft.com/office/drawing/2014/main" id="{D7A962BE-3509-3CBD-BC13-11C7BF63198D}"/>
                </a:ext>
              </a:extLst>
            </p:cNvPr>
            <p:cNvSpPr/>
            <p:nvPr/>
          </p:nvSpPr>
          <p:spPr>
            <a:xfrm>
              <a:off x="8817055" y="5000654"/>
              <a:ext cx="815895" cy="1378270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en-US" altLang="ko-KR" sz="1000" b="1" kern="0" dirty="0">
                  <a:latin typeface="+mn-ea"/>
                  <a:cs typeface="Arial"/>
                </a:rPr>
                <a:t>PI</a:t>
              </a:r>
              <a:r>
                <a:rPr lang="ko-KR" altLang="en-US" sz="1000" b="1" kern="0" dirty="0">
                  <a:latin typeface="+mn-ea"/>
                  <a:cs typeface="Arial"/>
                </a:rPr>
                <a:t> 과제 </a:t>
              </a:r>
              <a:r>
                <a:rPr lang="ko-KR" altLang="en-US" sz="1000" b="1" kern="0">
                  <a:latin typeface="+mn-ea"/>
                  <a:cs typeface="Arial"/>
                </a:rPr>
                <a:t>및 </a:t>
              </a:r>
              <a:r>
                <a:rPr lang="en-US" altLang="ko-KR" sz="1000" b="1" kern="0" dirty="0">
                  <a:latin typeface="+mn-ea"/>
                  <a:cs typeface="Arial"/>
                </a:rPr>
                <a:t>To-be </a:t>
              </a:r>
              <a:r>
                <a:rPr lang="en-US" altLang="ko-KR" sz="1000" b="1" kern="0">
                  <a:latin typeface="+mn-ea"/>
                  <a:cs typeface="Arial"/>
                </a:rPr>
                <a:t>Process </a:t>
              </a:r>
              <a:r>
                <a:rPr lang="ko-KR" altLang="en-US" sz="1000" b="1" kern="0">
                  <a:latin typeface="+mn-ea"/>
                  <a:cs typeface="Arial"/>
                </a:rPr>
                <a:t>확정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  <p:sp>
          <p:nvSpPr>
            <p:cNvPr id="37" name="오각형 8">
              <a:extLst>
                <a:ext uri="{FF2B5EF4-FFF2-40B4-BE49-F238E27FC236}">
                  <a16:creationId xmlns:a16="http://schemas.microsoft.com/office/drawing/2014/main" id="{2D0A50CF-CD30-4B0B-9F8C-D408E3667A72}"/>
                </a:ext>
              </a:extLst>
            </p:cNvPr>
            <p:cNvSpPr/>
            <p:nvPr/>
          </p:nvSpPr>
          <p:spPr>
            <a:xfrm>
              <a:off x="6105190" y="4224235"/>
              <a:ext cx="573616" cy="697961"/>
            </a:xfrm>
            <a:prstGeom prst="homePlate">
              <a:avLst>
                <a:gd name="adj" fmla="val 18898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36000" rIns="0" bIns="36000" rtlCol="0" anchor="ctr"/>
            <a:lstStyle/>
            <a:p>
              <a:pPr algn="ctr" defTabSz="914400"/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손익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분석</a:t>
              </a:r>
              <a: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  <a:t/>
              </a:r>
              <a:br>
                <a:rPr lang="en-US" altLang="ko-KR" sz="1000" b="1" kern="0" dirty="0">
                  <a:latin typeface="+mn-ea"/>
                  <a:cs typeface="Arial"/>
                  <a:sym typeface="Wingdings" pitchFamily="2" charset="2"/>
                </a:rPr>
              </a:br>
              <a:r>
                <a:rPr lang="ko-KR" altLang="en-US" sz="1000" b="1" kern="0" dirty="0">
                  <a:latin typeface="+mn-ea"/>
                  <a:cs typeface="Arial"/>
                  <a:sym typeface="Wingdings" pitchFamily="2" charset="2"/>
                </a:rPr>
                <a:t>방향성</a:t>
              </a:r>
              <a:endParaRPr lang="en-US" altLang="ko-KR" sz="1000" b="1" kern="0" dirty="0">
                <a:latin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902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C4F5677-B1F2-43DD-A896-FA41953FD544}"/>
              </a:ext>
            </a:extLst>
          </p:cNvPr>
          <p:cNvSpPr/>
          <p:nvPr/>
        </p:nvSpPr>
        <p:spPr>
          <a:xfrm>
            <a:off x="645044" y="2390773"/>
            <a:ext cx="5391962" cy="54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271463" y="291426"/>
            <a:ext cx="5242104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latinLnBrk="0">
              <a:defRPr/>
            </a:pPr>
            <a:r>
              <a:rPr lang="ko-KR" altLang="en-US" sz="2000" b="1" kern="0" spc="-150">
                <a:ln w="1905"/>
                <a:solidFill>
                  <a:prstClr val="black"/>
                </a:solidFill>
              </a:rPr>
              <a:t>금일</a:t>
            </a:r>
            <a:r>
              <a:rPr lang="en-US" altLang="ko-KR" sz="2000" b="1" kern="0" spc="-150">
                <a:ln w="1905"/>
                <a:solidFill>
                  <a:prstClr val="black"/>
                </a:solidFill>
              </a:rPr>
              <a:t> Agenda</a:t>
            </a:r>
            <a:endParaRPr lang="ko-KR" altLang="en-US" sz="2000" b="1" kern="0" spc="-150">
              <a:ln w="1905"/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27E4-C30D-4BED-ADBB-FA1E1B82D042}"/>
              </a:ext>
            </a:extLst>
          </p:cNvPr>
          <p:cNvSpPr txBox="1"/>
          <p:nvPr/>
        </p:nvSpPr>
        <p:spPr>
          <a:xfrm>
            <a:off x="645044" y="1052736"/>
            <a:ext cx="65402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PI 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단계 추진 경과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영원의 주요 변화 사항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혁신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(PI)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의 이행 계획 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성공적 혁신 이행을 위한 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PwC </a:t>
            </a:r>
            <a:r>
              <a:rPr lang="ko-KR" altLang="en-US" sz="2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제언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91275" y="2404892"/>
            <a:ext cx="2952750" cy="8050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영원의 혁신 </a:t>
            </a:r>
            <a:r>
              <a:rPr lang="en-US" altLang="ko-KR" sz="1400" dirty="0" smtClean="0">
                <a:solidFill>
                  <a:schemeClr val="tx1"/>
                </a:solidFill>
              </a:rPr>
              <a:t>Big Picture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영역별 주요 변화 사항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037006" y="2667000"/>
            <a:ext cx="354269" cy="0"/>
          </a:xfrm>
          <a:prstGeom prst="lin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93625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FAF8797D-95FF-4C95-8093-2596F43FA334}"/>
              </a:ext>
            </a:extLst>
          </p:cNvPr>
          <p:cNvGrpSpPr/>
          <p:nvPr/>
        </p:nvGrpSpPr>
        <p:grpSpPr>
          <a:xfrm>
            <a:off x="250377" y="2233825"/>
            <a:ext cx="1673673" cy="1167352"/>
            <a:chOff x="231161" y="2261648"/>
            <a:chExt cx="1373007" cy="1167352"/>
          </a:xfrm>
        </p:grpSpPr>
        <p:sp>
          <p:nvSpPr>
            <p:cNvPr id="47" name="화살표: 오각형 91">
              <a:extLst>
                <a:ext uri="{FF2B5EF4-FFF2-40B4-BE49-F238E27FC236}">
                  <a16:creationId xmlns:a16="http://schemas.microsoft.com/office/drawing/2014/main" id="{C8658769-CB9A-4160-A42A-82E44278CF1F}"/>
                </a:ext>
              </a:extLst>
            </p:cNvPr>
            <p:cNvSpPr/>
            <p:nvPr/>
          </p:nvSpPr>
          <p:spPr>
            <a:xfrm>
              <a:off x="338008" y="2261648"/>
              <a:ext cx="1266160" cy="1167352"/>
            </a:xfrm>
            <a:prstGeom prst="homePlate">
              <a:avLst>
                <a:gd name="adj" fmla="val 2083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400" b="1" dirty="0"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37086C-7ECA-416A-AD99-3DCD4584BE6F}"/>
                </a:ext>
              </a:extLst>
            </p:cNvPr>
            <p:cNvSpPr txBox="1"/>
            <p:nvPr/>
          </p:nvSpPr>
          <p:spPr>
            <a:xfrm>
              <a:off x="231161" y="2665324"/>
              <a:ext cx="1266160" cy="360000"/>
            </a:xfrm>
            <a:prstGeom prst="rect">
              <a:avLst/>
            </a:prstGeom>
            <a:noFill/>
          </p:spPr>
          <p:txBody>
            <a:bodyPr wrap="square" lIns="144000" tIns="36000" rIns="36000" bIns="36000" rtlCol="0" anchor="ctr" anchorCtr="0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고객</a:t>
              </a:r>
              <a: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/</a:t>
              </a: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시장</a:t>
              </a:r>
              <a: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/>
              </a:r>
              <a:b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</a:b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대응력 제고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CEFA38F-DA39-4B13-8178-981CB6A1E4EF}"/>
              </a:ext>
            </a:extLst>
          </p:cNvPr>
          <p:cNvGrpSpPr/>
          <p:nvPr/>
        </p:nvGrpSpPr>
        <p:grpSpPr>
          <a:xfrm>
            <a:off x="250377" y="3669106"/>
            <a:ext cx="1673673" cy="1167352"/>
            <a:chOff x="231161" y="2261648"/>
            <a:chExt cx="1373007" cy="1167352"/>
          </a:xfrm>
        </p:grpSpPr>
        <p:sp>
          <p:nvSpPr>
            <p:cNvPr id="45" name="화살표: 오각형 97">
              <a:extLst>
                <a:ext uri="{FF2B5EF4-FFF2-40B4-BE49-F238E27FC236}">
                  <a16:creationId xmlns:a16="http://schemas.microsoft.com/office/drawing/2014/main" id="{7A1DEEC4-689F-48E0-8E79-9E499F35BFF4}"/>
                </a:ext>
              </a:extLst>
            </p:cNvPr>
            <p:cNvSpPr/>
            <p:nvPr/>
          </p:nvSpPr>
          <p:spPr>
            <a:xfrm>
              <a:off x="338008" y="2261648"/>
              <a:ext cx="1266160" cy="1167352"/>
            </a:xfrm>
            <a:prstGeom prst="homePlate">
              <a:avLst>
                <a:gd name="adj" fmla="val 2083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400" b="1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DC83F2-47CB-4B8E-80D5-F94192547CAE}"/>
                </a:ext>
              </a:extLst>
            </p:cNvPr>
            <p:cNvSpPr txBox="1"/>
            <p:nvPr/>
          </p:nvSpPr>
          <p:spPr>
            <a:xfrm>
              <a:off x="231161" y="2665324"/>
              <a:ext cx="1266160" cy="360000"/>
            </a:xfrm>
            <a:prstGeom prst="rect">
              <a:avLst/>
            </a:prstGeom>
            <a:noFill/>
          </p:spPr>
          <p:txBody>
            <a:bodyPr wrap="square" lIns="144000" tIns="36000" rIns="36000" bIns="36000" rtlCol="0" anchor="ctr" anchorCtr="0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사업 관리 </a:t>
              </a:r>
              <a: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/>
              </a:r>
              <a:b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</a:b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수준 고도화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00E146B-DCD1-4B25-83FE-63F66C02719D}"/>
              </a:ext>
            </a:extLst>
          </p:cNvPr>
          <p:cNvGrpSpPr/>
          <p:nvPr/>
        </p:nvGrpSpPr>
        <p:grpSpPr>
          <a:xfrm>
            <a:off x="250377" y="5104386"/>
            <a:ext cx="1673673" cy="1167352"/>
            <a:chOff x="231161" y="2261648"/>
            <a:chExt cx="1373007" cy="1167352"/>
          </a:xfrm>
        </p:grpSpPr>
        <p:sp>
          <p:nvSpPr>
            <p:cNvPr id="43" name="화살표: 오각형 100">
              <a:extLst>
                <a:ext uri="{FF2B5EF4-FFF2-40B4-BE49-F238E27FC236}">
                  <a16:creationId xmlns:a16="http://schemas.microsoft.com/office/drawing/2014/main" id="{2CB1EF02-23A7-4567-A601-BBFDF098286B}"/>
                </a:ext>
              </a:extLst>
            </p:cNvPr>
            <p:cNvSpPr/>
            <p:nvPr/>
          </p:nvSpPr>
          <p:spPr>
            <a:xfrm>
              <a:off x="338008" y="2261648"/>
              <a:ext cx="1266160" cy="1167352"/>
            </a:xfrm>
            <a:prstGeom prst="homePlate">
              <a:avLst>
                <a:gd name="adj" fmla="val 2083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400" b="1" dirty="0"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67FAC77-E0E7-4260-83D5-622CA8853B07}"/>
                </a:ext>
              </a:extLst>
            </p:cNvPr>
            <p:cNvSpPr txBox="1"/>
            <p:nvPr/>
          </p:nvSpPr>
          <p:spPr>
            <a:xfrm>
              <a:off x="231161" y="2665324"/>
              <a:ext cx="1266160" cy="360000"/>
            </a:xfrm>
            <a:prstGeom prst="rect">
              <a:avLst/>
            </a:prstGeom>
            <a:noFill/>
          </p:spPr>
          <p:txBody>
            <a:bodyPr wrap="square" lIns="144000" tIns="36000" rIns="36000" bIns="36000" rtlCol="0" anchor="ctr" anchorCtr="0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글로벌 통합</a:t>
              </a:r>
              <a: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/>
              </a:r>
              <a:br>
                <a:rPr kumimoji="1" lang="en-US" altLang="ko-KR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</a:br>
              <a:r>
                <a:rPr kumimoji="1" lang="ko-KR" altLang="en-US" sz="1400" b="1" i="1" dirty="0">
                  <a:solidFill>
                    <a:schemeClr val="bg1"/>
                  </a:solidFill>
                  <a:cs typeface="Malgun Gothic Semilight" panose="020B0502040204020203" pitchFamily="50" charset="-127"/>
                </a:rPr>
                <a:t>효과 극대화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A9153BA-EE76-4A8D-A050-315362B9FB5B}"/>
              </a:ext>
            </a:extLst>
          </p:cNvPr>
          <p:cNvSpPr/>
          <p:nvPr/>
        </p:nvSpPr>
        <p:spPr>
          <a:xfrm>
            <a:off x="1953235" y="1989138"/>
            <a:ext cx="7716228" cy="44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Google Shape;5231;p64">
            <a:extLst>
              <a:ext uri="{FF2B5EF4-FFF2-40B4-BE49-F238E27FC236}">
                <a16:creationId xmlns:a16="http://schemas.microsoft.com/office/drawing/2014/main" id="{D2126780-1F85-413F-8318-B2077BCBFBC4}"/>
              </a:ext>
            </a:extLst>
          </p:cNvPr>
          <p:cNvSpPr txBox="1"/>
          <p:nvPr/>
        </p:nvSpPr>
        <p:spPr>
          <a:xfrm>
            <a:off x="1953236" y="2024604"/>
            <a:ext cx="1758465" cy="30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As-Is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38" name="Google Shape;5232;p64">
            <a:extLst>
              <a:ext uri="{FF2B5EF4-FFF2-40B4-BE49-F238E27FC236}">
                <a16:creationId xmlns:a16="http://schemas.microsoft.com/office/drawing/2014/main" id="{8BE59594-E976-4C78-9455-072651F297A6}"/>
              </a:ext>
            </a:extLst>
          </p:cNvPr>
          <p:cNvCxnSpPr>
            <a:cxnSpLocks/>
          </p:cNvCxnSpPr>
          <p:nvPr/>
        </p:nvCxnSpPr>
        <p:spPr>
          <a:xfrm>
            <a:off x="2077837" y="2353824"/>
            <a:ext cx="1509264" cy="0"/>
          </a:xfrm>
          <a:prstGeom prst="straightConnector1">
            <a:avLst/>
          </a:prstGeom>
          <a:noFill/>
          <a:ln w="12700" cap="sq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5231;p64">
            <a:extLst>
              <a:ext uri="{FF2B5EF4-FFF2-40B4-BE49-F238E27FC236}">
                <a16:creationId xmlns:a16="http://schemas.microsoft.com/office/drawing/2014/main" id="{B8384A86-BA39-4633-9774-2541CEEB6F2F}"/>
              </a:ext>
            </a:extLst>
          </p:cNvPr>
          <p:cNvSpPr txBox="1"/>
          <p:nvPr/>
        </p:nvSpPr>
        <p:spPr>
          <a:xfrm>
            <a:off x="4224587" y="2024604"/>
            <a:ext cx="1758270" cy="30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To-Be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50" name="Google Shape;5232;p64">
            <a:extLst>
              <a:ext uri="{FF2B5EF4-FFF2-40B4-BE49-F238E27FC236}">
                <a16:creationId xmlns:a16="http://schemas.microsoft.com/office/drawing/2014/main" id="{C3472997-BD04-423C-B5F5-07FBAB111A5A}"/>
              </a:ext>
            </a:extLst>
          </p:cNvPr>
          <p:cNvCxnSpPr>
            <a:cxnSpLocks/>
          </p:cNvCxnSpPr>
          <p:nvPr/>
        </p:nvCxnSpPr>
        <p:spPr>
          <a:xfrm>
            <a:off x="4349175" y="2353824"/>
            <a:ext cx="1509095" cy="0"/>
          </a:xfrm>
          <a:prstGeom prst="straightConnector1">
            <a:avLst/>
          </a:prstGeom>
          <a:noFill/>
          <a:ln w="12700" cap="sq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모서리가 둥근 직사각형 35">
            <a:extLst>
              <a:ext uri="{FF2B5EF4-FFF2-40B4-BE49-F238E27FC236}">
                <a16:creationId xmlns:a16="http://schemas.microsoft.com/office/drawing/2014/main" id="{6E8F8C3D-1928-4F42-8E4D-6D64897D29ED}"/>
              </a:ext>
            </a:extLst>
          </p:cNvPr>
          <p:cNvSpPr/>
          <p:nvPr/>
        </p:nvSpPr>
        <p:spPr bwMode="ltGray">
          <a:xfrm>
            <a:off x="2117709" y="2392263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>
              <a:lnSpc>
                <a:spcPct val="90000"/>
              </a:lnSpc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ea typeface="맑은 고딕"/>
              </a:rPr>
              <a:t>Season</a:t>
            </a:r>
            <a:r>
              <a:rPr lang="ko-KR" altLang="en-US" sz="1400" b="1" dirty="0">
                <a:solidFill>
                  <a:srgbClr val="000000"/>
                </a:solidFill>
                <a:ea typeface="맑은 고딕"/>
              </a:rPr>
              <a:t>별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손익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769F8D4-B3ED-40D5-B6CE-9E3646DE4734}"/>
              </a:ext>
            </a:extLst>
          </p:cNvPr>
          <p:cNvGrpSpPr/>
          <p:nvPr/>
        </p:nvGrpSpPr>
        <p:grpSpPr>
          <a:xfrm>
            <a:off x="3703971" y="2532441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53" name="화살표: 갈매기형 수장 125">
              <a:extLst>
                <a:ext uri="{FF2B5EF4-FFF2-40B4-BE49-F238E27FC236}">
                  <a16:creationId xmlns:a16="http://schemas.microsoft.com/office/drawing/2014/main" id="{E059111E-0BCD-459C-9F4E-BDAFF164488D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화살표: 갈매기형 수장 126">
              <a:extLst>
                <a:ext uri="{FF2B5EF4-FFF2-40B4-BE49-F238E27FC236}">
                  <a16:creationId xmlns:a16="http://schemas.microsoft.com/office/drawing/2014/main" id="{2B4E7AE8-A058-4496-981B-09866D77D530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화살표: 갈매기형 수장 127">
              <a:extLst>
                <a:ext uri="{FF2B5EF4-FFF2-40B4-BE49-F238E27FC236}">
                  <a16:creationId xmlns:a16="http://schemas.microsoft.com/office/drawing/2014/main" id="{1046DF7C-A1C7-4876-B8D5-212340AC00ED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모서리가 둥근 직사각형 35">
            <a:extLst>
              <a:ext uri="{FF2B5EF4-FFF2-40B4-BE49-F238E27FC236}">
                <a16:creationId xmlns:a16="http://schemas.microsoft.com/office/drawing/2014/main" id="{861F313B-5CD4-412A-8768-A381DF1880D9}"/>
              </a:ext>
            </a:extLst>
          </p:cNvPr>
          <p:cNvSpPr/>
          <p:nvPr/>
        </p:nvSpPr>
        <p:spPr bwMode="ltGray">
          <a:xfrm>
            <a:off x="4389060" y="2392263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>
              <a:lnSpc>
                <a:spcPct val="90000"/>
              </a:lnSpc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  <a:ea typeface="맑은 고딕"/>
              </a:rPr>
              <a:t>Style</a:t>
            </a:r>
            <a:r>
              <a:rPr lang="ko-KR" altLang="en-US" sz="1400" b="1" dirty="0">
                <a:solidFill>
                  <a:schemeClr val="bg1"/>
                </a:solidFill>
                <a:ea typeface="맑은 고딕"/>
              </a:rPr>
              <a:t>별</a:t>
            </a:r>
            <a:r>
              <a:rPr lang="en-US" altLang="ko-KR" sz="1400" b="1" dirty="0">
                <a:solidFill>
                  <a:schemeClr val="bg1"/>
                </a:solidFill>
                <a:ea typeface="맑은 고딕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ea typeface="맑은 고딕"/>
              </a:rPr>
              <a:t>월별</a:t>
            </a:r>
            <a:endParaRPr lang="ko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7" name="모서리가 둥근 직사각형 35">
            <a:extLst>
              <a:ext uri="{FF2B5EF4-FFF2-40B4-BE49-F238E27FC236}">
                <a16:creationId xmlns:a16="http://schemas.microsoft.com/office/drawing/2014/main" id="{33960298-79BC-4E8F-9CBB-1A6445AA60DB}"/>
              </a:ext>
            </a:extLst>
          </p:cNvPr>
          <p:cNvSpPr/>
          <p:nvPr/>
        </p:nvSpPr>
        <p:spPr bwMode="ltGray">
          <a:xfrm>
            <a:off x="5909783" y="2390638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marR="0" lvl="0" indent="-88900" defTabSz="97717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고객별</a:t>
            </a:r>
            <a: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/Season</a:t>
            </a:r>
            <a:r>
              <a: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별 매출</a:t>
            </a:r>
            <a: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손익 분석에서</a:t>
            </a:r>
            <a: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/>
            </a:r>
            <a:b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Style</a:t>
            </a:r>
            <a:r>
              <a: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별</a:t>
            </a:r>
            <a:r>
              <a:rPr kumimoji="0" lang="en-US" altLang="ko-KR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월별 손익 산출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 정보 제공</a:t>
            </a:r>
            <a:endParaRPr kumimoji="0" lang="ko-KR" altLang="en-US" sz="105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8" name="모서리가 둥근 직사각형 35">
            <a:extLst>
              <a:ext uri="{FF2B5EF4-FFF2-40B4-BE49-F238E27FC236}">
                <a16:creationId xmlns:a16="http://schemas.microsoft.com/office/drawing/2014/main" id="{2E55937D-1111-470B-9CE8-5B3612E6B2A4}"/>
              </a:ext>
            </a:extLst>
          </p:cNvPr>
          <p:cNvSpPr/>
          <p:nvPr/>
        </p:nvSpPr>
        <p:spPr bwMode="ltGray">
          <a:xfrm>
            <a:off x="8717691" y="2390638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R="0" lvl="0" algn="ctr" defTabSz="97717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관리회계</a:t>
            </a: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/>
            </a:r>
            <a:b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</a:b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SCM </a:t>
            </a:r>
            <a:r>
              <a:rPr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전 영역</a:t>
            </a: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/>
            </a:r>
            <a:b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</a:br>
            <a:r>
              <a:rPr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기준정보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9" name="모서리가 둥근 직사각형 36">
            <a:extLst>
              <a:ext uri="{FF2B5EF4-FFF2-40B4-BE49-F238E27FC236}">
                <a16:creationId xmlns:a16="http://schemas.microsoft.com/office/drawing/2014/main" id="{64DD7F9E-A4B8-4151-9F72-2C9529F29F0B}"/>
              </a:ext>
            </a:extLst>
          </p:cNvPr>
          <p:cNvSpPr/>
          <p:nvPr/>
        </p:nvSpPr>
        <p:spPr bwMode="ltGray">
          <a:xfrm>
            <a:off x="2117709" y="3531933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977172">
              <a:lnSpc>
                <a:spcPct val="90000"/>
              </a:lnSpc>
            </a:pPr>
            <a:r>
              <a:rPr lang="ko-KR" altLang="en-US" sz="1400" b="1" dirty="0">
                <a:solidFill>
                  <a:srgbClr val="000000"/>
                </a:solidFill>
                <a:ea typeface="맑은 고딕"/>
              </a:rPr>
              <a:t>과거 정보</a:t>
            </a:r>
            <a:r>
              <a:rPr lang="en-US" altLang="ko-KR" sz="1400" b="1" dirty="0">
                <a:solidFill>
                  <a:srgbClr val="000000"/>
                </a:solidFill>
                <a:ea typeface="맑은 고딕"/>
              </a:rPr>
              <a:t/>
            </a:r>
            <a:br>
              <a:rPr lang="en-US" altLang="ko-KR" sz="1400" b="1" dirty="0">
                <a:solidFill>
                  <a:srgbClr val="000000"/>
                </a:solidFill>
                <a:ea typeface="맑은 고딕"/>
              </a:rPr>
            </a:br>
            <a:r>
              <a:rPr lang="en-US" altLang="ko-KR" sz="1000" dirty="0">
                <a:solidFill>
                  <a:srgbClr val="000000"/>
                </a:solidFill>
                <a:ea typeface="맑은 고딕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ea typeface="맑은 고딕"/>
              </a:rPr>
              <a:t>마감</a:t>
            </a:r>
            <a:r>
              <a:rPr lang="en-US" altLang="ko-KR" sz="1000" dirty="0">
                <a:solidFill>
                  <a:srgbClr val="000000"/>
                </a:solidFill>
                <a:ea typeface="맑은 고딕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ea typeface="맑은 고딕"/>
              </a:rPr>
              <a:t>결산</a:t>
            </a:r>
            <a:r>
              <a:rPr lang="en-US" altLang="ko-KR" sz="1000" dirty="0">
                <a:solidFill>
                  <a:srgbClr val="000000"/>
                </a:solidFill>
                <a:ea typeface="맑은 고딕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a typeface="맑은 고딕"/>
              </a:rPr>
              <a:t>재고</a:t>
            </a:r>
            <a:r>
              <a:rPr lang="en-US" altLang="ko-KR" sz="1000" dirty="0">
                <a:solidFill>
                  <a:srgbClr val="000000"/>
                </a:solidFill>
                <a:ea typeface="맑은 고딕"/>
              </a:rPr>
              <a:t>)</a:t>
            </a:r>
            <a:endParaRPr lang="ko-KR" altLang="en-US" sz="1000" dirty="0">
              <a:solidFill>
                <a:srgbClr val="000000"/>
              </a:solidFill>
              <a:ea typeface="맑은 고딕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7ED802-E3D9-4EEE-9FF5-6571C5C02A4F}"/>
              </a:ext>
            </a:extLst>
          </p:cNvPr>
          <p:cNvGrpSpPr/>
          <p:nvPr/>
        </p:nvGrpSpPr>
        <p:grpSpPr>
          <a:xfrm>
            <a:off x="3703971" y="3659316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61" name="화살표: 갈매기형 수장 134">
              <a:extLst>
                <a:ext uri="{FF2B5EF4-FFF2-40B4-BE49-F238E27FC236}">
                  <a16:creationId xmlns:a16="http://schemas.microsoft.com/office/drawing/2014/main" id="{784633E8-5B0D-419C-8EFB-22F94DEB5E48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갈매기형 수장 135">
              <a:extLst>
                <a:ext uri="{FF2B5EF4-FFF2-40B4-BE49-F238E27FC236}">
                  <a16:creationId xmlns:a16="http://schemas.microsoft.com/office/drawing/2014/main" id="{C9D290BE-9521-4DC3-AA2B-BEC90F1BB8BD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화살표: 갈매기형 수장 136">
              <a:extLst>
                <a:ext uri="{FF2B5EF4-FFF2-40B4-BE49-F238E27FC236}">
                  <a16:creationId xmlns:a16="http://schemas.microsoft.com/office/drawing/2014/main" id="{45CF9927-9CEF-4687-8AE6-0F30A811FF6C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4" name="모서리가 둥근 직사각형 36">
            <a:extLst>
              <a:ext uri="{FF2B5EF4-FFF2-40B4-BE49-F238E27FC236}">
                <a16:creationId xmlns:a16="http://schemas.microsoft.com/office/drawing/2014/main" id="{8546601D-F49E-4F3F-B2B4-58F2100B9862}"/>
              </a:ext>
            </a:extLst>
          </p:cNvPr>
          <p:cNvSpPr/>
          <p:nvPr/>
        </p:nvSpPr>
        <p:spPr bwMode="ltGray">
          <a:xfrm>
            <a:off x="4389060" y="3531933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977172">
              <a:lnSpc>
                <a:spcPct val="90000"/>
              </a:lnSpc>
            </a:pPr>
            <a:r>
              <a:rPr lang="ko-KR" altLang="en-US" sz="1400" b="1" dirty="0">
                <a:solidFill>
                  <a:prstClr val="white"/>
                </a:solidFill>
                <a:ea typeface="맑은 고딕"/>
              </a:rPr>
              <a:t>현황 정보</a:t>
            </a:r>
            <a:r>
              <a:rPr lang="en-US" altLang="ko-KR" sz="1400" b="1" dirty="0">
                <a:solidFill>
                  <a:prstClr val="white"/>
                </a:solidFill>
                <a:ea typeface="맑은 고딕"/>
              </a:rPr>
              <a:t/>
            </a:r>
            <a:br>
              <a:rPr lang="en-US" altLang="ko-KR" sz="1400" b="1" dirty="0">
                <a:solidFill>
                  <a:prstClr val="white"/>
                </a:solidFill>
                <a:ea typeface="맑은 고딕"/>
              </a:rPr>
            </a:br>
            <a:r>
              <a:rPr lang="en-US" altLang="ko-KR" sz="900" b="1" dirty="0">
                <a:solidFill>
                  <a:prstClr val="white"/>
                </a:solidFill>
                <a:ea typeface="맑은 고딕"/>
              </a:rPr>
              <a:t>(Tracking &amp; Forecasting)</a:t>
            </a:r>
            <a:endParaRPr lang="ko-KR" altLang="en-US" sz="1400" b="1" dirty="0">
              <a:solidFill>
                <a:prstClr val="white"/>
              </a:solidFill>
              <a:ea typeface="맑은 고딕"/>
            </a:endParaRPr>
          </a:p>
        </p:txBody>
      </p:sp>
      <p:sp>
        <p:nvSpPr>
          <p:cNvPr id="65" name="모서리가 둥근 직사각형 36">
            <a:extLst>
              <a:ext uri="{FF2B5EF4-FFF2-40B4-BE49-F238E27FC236}">
                <a16:creationId xmlns:a16="http://schemas.microsoft.com/office/drawing/2014/main" id="{CF6F609A-839C-4A68-BA66-3F6EFB8C2437}"/>
              </a:ext>
            </a:extLst>
          </p:cNvPr>
          <p:cNvSpPr/>
          <p:nvPr/>
        </p:nvSpPr>
        <p:spPr bwMode="ltGray">
          <a:xfrm>
            <a:off x="5909783" y="3530308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특정 시점의 재무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물류 결과 정보 중심에서 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End-to-End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현황 정보 가시성 및 예측 정보 제공 기반 조성 </a:t>
            </a:r>
          </a:p>
        </p:txBody>
      </p:sp>
      <p:sp>
        <p:nvSpPr>
          <p:cNvPr id="66" name="모서리가 둥근 직사각형 36">
            <a:extLst>
              <a:ext uri="{FF2B5EF4-FFF2-40B4-BE49-F238E27FC236}">
                <a16:creationId xmlns:a16="http://schemas.microsoft.com/office/drawing/2014/main" id="{10BB3030-8BF9-4E7C-BCC7-8F395985A0B2}"/>
              </a:ext>
            </a:extLst>
          </p:cNvPr>
          <p:cNvSpPr/>
          <p:nvPr/>
        </p:nvSpPr>
        <p:spPr bwMode="ltGray">
          <a:xfrm>
            <a:off x="8717691" y="3530308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/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영업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구매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생산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자금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/>
            </a:r>
            <a:b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</a:b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기준정보</a:t>
            </a:r>
          </a:p>
        </p:txBody>
      </p:sp>
      <p:sp>
        <p:nvSpPr>
          <p:cNvPr id="67" name="모서리가 둥근 직사각형 39">
            <a:extLst>
              <a:ext uri="{FF2B5EF4-FFF2-40B4-BE49-F238E27FC236}">
                <a16:creationId xmlns:a16="http://schemas.microsoft.com/office/drawing/2014/main" id="{BECC50FC-2707-4AE1-81F3-96B7E24B52A7}"/>
              </a:ext>
            </a:extLst>
          </p:cNvPr>
          <p:cNvSpPr/>
          <p:nvPr/>
        </p:nvSpPr>
        <p:spPr bwMode="ltGray">
          <a:xfrm>
            <a:off x="2117709" y="2962098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ko-KR" altLang="en-US" sz="1400" b="1" dirty="0" err="1">
                <a:solidFill>
                  <a:srgbClr val="000000"/>
                </a:solidFill>
                <a:latin typeface="맑은 고딕"/>
                <a:ea typeface="맑은 고딕"/>
              </a:rPr>
              <a:t>법인별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개별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endParaRPr lang="ko-KR" altLang="en-US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6DE298D-46C6-4B9B-A907-175D8177F039}"/>
              </a:ext>
            </a:extLst>
          </p:cNvPr>
          <p:cNvGrpSpPr/>
          <p:nvPr/>
        </p:nvGrpSpPr>
        <p:grpSpPr>
          <a:xfrm>
            <a:off x="3703971" y="3095878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69" name="화살표: 갈매기형 수장 130">
              <a:extLst>
                <a:ext uri="{FF2B5EF4-FFF2-40B4-BE49-F238E27FC236}">
                  <a16:creationId xmlns:a16="http://schemas.microsoft.com/office/drawing/2014/main" id="{ABF8709F-855C-49C7-A9D9-C4F9050194E8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화살표: 갈매기형 수장 131">
              <a:extLst>
                <a:ext uri="{FF2B5EF4-FFF2-40B4-BE49-F238E27FC236}">
                  <a16:creationId xmlns:a16="http://schemas.microsoft.com/office/drawing/2014/main" id="{C6B3F2B9-73F6-4443-A668-429403E9828D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화살표: 갈매기형 수장 132">
              <a:extLst>
                <a:ext uri="{FF2B5EF4-FFF2-40B4-BE49-F238E27FC236}">
                  <a16:creationId xmlns:a16="http://schemas.microsoft.com/office/drawing/2014/main" id="{B2D37C35-3AFA-40D9-B455-6F495301A5D4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2" name="모서리가 둥근 직사각형 39">
            <a:extLst>
              <a:ext uri="{FF2B5EF4-FFF2-40B4-BE49-F238E27FC236}">
                <a16:creationId xmlns:a16="http://schemas.microsoft.com/office/drawing/2014/main" id="{B439C707-4F55-4B61-B386-1ED394E4683F}"/>
              </a:ext>
            </a:extLst>
          </p:cNvPr>
          <p:cNvSpPr/>
          <p:nvPr/>
        </p:nvSpPr>
        <p:spPr bwMode="ltGray">
          <a:xfrm>
            <a:off x="4389060" y="2962098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>
              <a:lnSpc>
                <a:spcPct val="90000"/>
              </a:lnSpc>
            </a:pPr>
            <a:r>
              <a:rPr lang="ko-KR" altLang="en-US" sz="1400" b="1" dirty="0" err="1">
                <a:solidFill>
                  <a:schemeClr val="bg1"/>
                </a:solidFill>
                <a:latin typeface="맑은 고딕"/>
                <a:ea typeface="맑은 고딕"/>
              </a:rPr>
              <a:t>법인간</a:t>
            </a:r>
            <a:r>
              <a:rPr lang="ko-KR" altLang="en-US" sz="1400" b="1" dirty="0">
                <a:solidFill>
                  <a:schemeClr val="bg1"/>
                </a:solidFill>
                <a:latin typeface="맑은 고딕"/>
                <a:ea typeface="맑은 고딕"/>
              </a:rPr>
              <a:t> 통합</a:t>
            </a:r>
          </a:p>
        </p:txBody>
      </p:sp>
      <p:sp>
        <p:nvSpPr>
          <p:cNvPr id="73" name="모서리가 둥근 직사각형 39">
            <a:extLst>
              <a:ext uri="{FF2B5EF4-FFF2-40B4-BE49-F238E27FC236}">
                <a16:creationId xmlns:a16="http://schemas.microsoft.com/office/drawing/2014/main" id="{D0DAF9D2-C3CA-491B-8513-635CC3C608D1}"/>
              </a:ext>
            </a:extLst>
          </p:cNvPr>
          <p:cNvSpPr/>
          <p:nvPr/>
        </p:nvSpPr>
        <p:spPr bwMode="ltGray">
          <a:xfrm>
            <a:off x="5909783" y="2960473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영원무역내 법인 간 거래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, Plant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간 이동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원단 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의류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,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반제품 등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)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을 감안한 실 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/>
            </a:r>
            <a:b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</a:b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통합 재무 정보 가시성</a:t>
            </a:r>
            <a:endParaRPr lang="ko-KR" altLang="en-US" sz="105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4" name="모서리가 둥근 직사각형 39">
            <a:extLst>
              <a:ext uri="{FF2B5EF4-FFF2-40B4-BE49-F238E27FC236}">
                <a16:creationId xmlns:a16="http://schemas.microsoft.com/office/drawing/2014/main" id="{9C655F84-7254-419A-9105-D205F1BAC1D1}"/>
              </a:ext>
            </a:extLst>
          </p:cNvPr>
          <p:cNvSpPr/>
          <p:nvPr/>
        </p:nvSpPr>
        <p:spPr bwMode="ltGray">
          <a:xfrm>
            <a:off x="8717691" y="2960473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977172">
              <a:defRPr/>
            </a:pP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재무관리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/>
            </a:r>
            <a:b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</a:b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SCM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전 영역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/>
            </a:r>
            <a:b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</a:b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기준정보</a:t>
            </a:r>
          </a:p>
        </p:txBody>
      </p:sp>
      <p:sp>
        <p:nvSpPr>
          <p:cNvPr id="75" name="모서리가 둥근 직사각형 45">
            <a:extLst>
              <a:ext uri="{FF2B5EF4-FFF2-40B4-BE49-F238E27FC236}">
                <a16:creationId xmlns:a16="http://schemas.microsoft.com/office/drawing/2014/main" id="{6D3E8A60-E3DB-4058-8ABA-4630E7C14DC1}"/>
              </a:ext>
            </a:extLst>
          </p:cNvPr>
          <p:cNvSpPr/>
          <p:nvPr/>
        </p:nvSpPr>
        <p:spPr bwMode="ltGray">
          <a:xfrm>
            <a:off x="2117709" y="4671603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분산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/Silo</a:t>
            </a:r>
            <a:endParaRPr lang="ko-KR" altLang="en-US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D1645BE-9112-410D-87C0-37F887E8B309}"/>
              </a:ext>
            </a:extLst>
          </p:cNvPr>
          <p:cNvGrpSpPr/>
          <p:nvPr/>
        </p:nvGrpSpPr>
        <p:grpSpPr>
          <a:xfrm>
            <a:off x="3703971" y="4786190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77" name="화살표: 갈매기형 수장 142">
              <a:extLst>
                <a:ext uri="{FF2B5EF4-FFF2-40B4-BE49-F238E27FC236}">
                  <a16:creationId xmlns:a16="http://schemas.microsoft.com/office/drawing/2014/main" id="{B64B479F-C994-4213-9C39-7A9B68214854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화살표: 갈매기형 수장 143">
              <a:extLst>
                <a:ext uri="{FF2B5EF4-FFF2-40B4-BE49-F238E27FC236}">
                  <a16:creationId xmlns:a16="http://schemas.microsoft.com/office/drawing/2014/main" id="{7980182F-98F5-43FE-85CC-2BABAFF3FEFB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화살표: 갈매기형 수장 144">
              <a:extLst>
                <a:ext uri="{FF2B5EF4-FFF2-40B4-BE49-F238E27FC236}">
                  <a16:creationId xmlns:a16="http://schemas.microsoft.com/office/drawing/2014/main" id="{4CED94DA-D809-4731-8BBC-55C28205F190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0" name="모서리가 둥근 직사각형 45">
            <a:extLst>
              <a:ext uri="{FF2B5EF4-FFF2-40B4-BE49-F238E27FC236}">
                <a16:creationId xmlns:a16="http://schemas.microsoft.com/office/drawing/2014/main" id="{B448F897-BC73-4634-A8BB-C240049F19B8}"/>
              </a:ext>
            </a:extLst>
          </p:cNvPr>
          <p:cNvSpPr/>
          <p:nvPr/>
        </p:nvSpPr>
        <p:spPr bwMode="ltGray">
          <a:xfrm>
            <a:off x="4389060" y="4671603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맑은 고딕"/>
                <a:ea typeface="맑은 고딕"/>
              </a:rPr>
              <a:t>통합</a:t>
            </a:r>
            <a:r>
              <a:rPr lang="en-US" altLang="ko-KR" sz="1400" b="1" dirty="0">
                <a:solidFill>
                  <a:schemeClr val="bg1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맑은 고딕"/>
                <a:ea typeface="맑은 고딕"/>
              </a:rPr>
              <a:t>공유</a:t>
            </a:r>
          </a:p>
        </p:txBody>
      </p:sp>
      <p:sp>
        <p:nvSpPr>
          <p:cNvPr id="81" name="모서리가 둥근 직사각형 45">
            <a:extLst>
              <a:ext uri="{FF2B5EF4-FFF2-40B4-BE49-F238E27FC236}">
                <a16:creationId xmlns:a16="http://schemas.microsoft.com/office/drawing/2014/main" id="{A024ADED-FFC3-45EE-8451-42C952577AB6}"/>
              </a:ext>
            </a:extLst>
          </p:cNvPr>
          <p:cNvSpPr/>
          <p:nvPr/>
        </p:nvSpPr>
        <p:spPr bwMode="ltGray">
          <a:xfrm>
            <a:off x="5909783" y="4669979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분절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분산된 시스템 구성과 제한적 정보 공유 체계에서 시스템간 연계 기반의 통합 정보 확보 및 연관 영역간 정보 공유</a:t>
            </a:r>
          </a:p>
        </p:txBody>
      </p:sp>
      <p:sp>
        <p:nvSpPr>
          <p:cNvPr id="82" name="모서리가 둥근 직사각형 45">
            <a:extLst>
              <a:ext uri="{FF2B5EF4-FFF2-40B4-BE49-F238E27FC236}">
                <a16:creationId xmlns:a16="http://schemas.microsoft.com/office/drawing/2014/main" id="{B53536AD-89A9-43F3-A205-582143F3A417}"/>
              </a:ext>
            </a:extLst>
          </p:cNvPr>
          <p:cNvSpPr/>
          <p:nvPr/>
        </p:nvSpPr>
        <p:spPr bwMode="ltGray">
          <a:xfrm>
            <a:off x="8717691" y="4669979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/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영업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구매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생산</a:t>
            </a:r>
            <a:r>
              <a:rPr lang="en-US" altLang="ko-KR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관리회계</a:t>
            </a:r>
          </a:p>
        </p:txBody>
      </p:sp>
      <p:sp>
        <p:nvSpPr>
          <p:cNvPr id="83" name="모서리가 둥근 직사각형 40">
            <a:extLst>
              <a:ext uri="{FF2B5EF4-FFF2-40B4-BE49-F238E27FC236}">
                <a16:creationId xmlns:a16="http://schemas.microsoft.com/office/drawing/2014/main" id="{C9A84FEA-B2F6-4769-88C1-0D80C3ACE6F0}"/>
              </a:ext>
            </a:extLst>
          </p:cNvPr>
          <p:cNvSpPr/>
          <p:nvPr/>
        </p:nvSpPr>
        <p:spPr bwMode="ltGray">
          <a:xfrm>
            <a:off x="2117709" y="5241439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감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경험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9F946A5-44D4-45CF-8948-E478386F2395}"/>
              </a:ext>
            </a:extLst>
          </p:cNvPr>
          <p:cNvGrpSpPr/>
          <p:nvPr/>
        </p:nvGrpSpPr>
        <p:grpSpPr>
          <a:xfrm>
            <a:off x="3703971" y="5343230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85" name="화살표: 갈매기형 수장 150">
              <a:extLst>
                <a:ext uri="{FF2B5EF4-FFF2-40B4-BE49-F238E27FC236}">
                  <a16:creationId xmlns:a16="http://schemas.microsoft.com/office/drawing/2014/main" id="{1478D2B4-89AB-41AD-8E32-C4DC6B33C9FE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화살표: 갈매기형 수장 151">
              <a:extLst>
                <a:ext uri="{FF2B5EF4-FFF2-40B4-BE49-F238E27FC236}">
                  <a16:creationId xmlns:a16="http://schemas.microsoft.com/office/drawing/2014/main" id="{7C0FC813-2AF4-46AD-AD72-052E35A55D59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화살표: 갈매기형 수장 152">
              <a:extLst>
                <a:ext uri="{FF2B5EF4-FFF2-40B4-BE49-F238E27FC236}">
                  <a16:creationId xmlns:a16="http://schemas.microsoft.com/office/drawing/2014/main" id="{5C4EC871-2A7B-461A-BC20-0F4F310D8CF6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8" name="모서리가 둥근 직사각형 40">
            <a:extLst>
              <a:ext uri="{FF2B5EF4-FFF2-40B4-BE49-F238E27FC236}">
                <a16:creationId xmlns:a16="http://schemas.microsoft.com/office/drawing/2014/main" id="{A6D76FA3-66CD-4D90-8947-C93E092A6E8D}"/>
              </a:ext>
            </a:extLst>
          </p:cNvPr>
          <p:cNvSpPr/>
          <p:nvPr/>
        </p:nvSpPr>
        <p:spPr bwMode="ltGray">
          <a:xfrm>
            <a:off x="4389060" y="5241439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en-US" altLang="ko-KR" sz="1400" b="1" dirty="0">
                <a:solidFill>
                  <a:schemeClr val="bg1"/>
                </a:solidFill>
                <a:latin typeface="맑은 고딕"/>
                <a:ea typeface="맑은 고딕"/>
              </a:rPr>
              <a:t>Data </a:t>
            </a:r>
            <a:r>
              <a:rPr lang="ko-KR" altLang="en-US" sz="1400" b="1" dirty="0">
                <a:solidFill>
                  <a:schemeClr val="bg1"/>
                </a:solidFill>
                <a:latin typeface="맑은 고딕"/>
                <a:ea typeface="맑은 고딕"/>
              </a:rPr>
              <a:t>기반</a:t>
            </a:r>
          </a:p>
        </p:txBody>
      </p:sp>
      <p:sp>
        <p:nvSpPr>
          <p:cNvPr id="89" name="모서리가 둥근 직사각형 40">
            <a:extLst>
              <a:ext uri="{FF2B5EF4-FFF2-40B4-BE49-F238E27FC236}">
                <a16:creationId xmlns:a16="http://schemas.microsoft.com/office/drawing/2014/main" id="{E96CACFE-8105-44A3-8CE1-1FE1BFD7EC74}"/>
              </a:ext>
            </a:extLst>
          </p:cNvPr>
          <p:cNvSpPr/>
          <p:nvPr/>
        </p:nvSpPr>
        <p:spPr bwMode="ltGray">
          <a:xfrm>
            <a:off x="5909783" y="5239814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인적 역량 외 실 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Data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및 분석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기반의 운영 계획 수립과 플랫폼에 기반한 운영으로 효율성 제고</a:t>
            </a:r>
          </a:p>
        </p:txBody>
      </p:sp>
      <p:sp>
        <p:nvSpPr>
          <p:cNvPr id="90" name="모서리가 둥근 직사각형 40">
            <a:extLst>
              <a:ext uri="{FF2B5EF4-FFF2-40B4-BE49-F238E27FC236}">
                <a16:creationId xmlns:a16="http://schemas.microsoft.com/office/drawing/2014/main" id="{EEC7C36C-829B-4FA3-AF41-D5354C279343}"/>
              </a:ext>
            </a:extLst>
          </p:cNvPr>
          <p:cNvSpPr/>
          <p:nvPr/>
        </p:nvSpPr>
        <p:spPr bwMode="ltGray">
          <a:xfrm>
            <a:off x="8717691" y="5239814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/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전 업무 영역</a:t>
            </a:r>
          </a:p>
        </p:txBody>
      </p:sp>
      <p:sp>
        <p:nvSpPr>
          <p:cNvPr id="91" name="모서리가 둥근 직사각형 36">
            <a:extLst>
              <a:ext uri="{FF2B5EF4-FFF2-40B4-BE49-F238E27FC236}">
                <a16:creationId xmlns:a16="http://schemas.microsoft.com/office/drawing/2014/main" id="{514B15EB-226F-499B-9245-C15C3419B810}"/>
              </a:ext>
            </a:extLst>
          </p:cNvPr>
          <p:cNvSpPr/>
          <p:nvPr/>
        </p:nvSpPr>
        <p:spPr bwMode="ltGray">
          <a:xfrm>
            <a:off x="2117709" y="4101768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>
              <a:lnSpc>
                <a:spcPct val="90000"/>
              </a:lnSpc>
            </a:pPr>
            <a:r>
              <a:rPr lang="ko-KR" altLang="en-US" sz="1400" b="1" dirty="0">
                <a:solidFill>
                  <a:srgbClr val="000000"/>
                </a:solidFill>
                <a:ea typeface="맑은 고딕"/>
              </a:rPr>
              <a:t>사후 관리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CF4BBC5C-B46A-4290-B0DF-775CC833E649}"/>
              </a:ext>
            </a:extLst>
          </p:cNvPr>
          <p:cNvGrpSpPr/>
          <p:nvPr/>
        </p:nvGrpSpPr>
        <p:grpSpPr>
          <a:xfrm>
            <a:off x="3703971" y="4222753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93" name="화살표: 갈매기형 수장 138">
              <a:extLst>
                <a:ext uri="{FF2B5EF4-FFF2-40B4-BE49-F238E27FC236}">
                  <a16:creationId xmlns:a16="http://schemas.microsoft.com/office/drawing/2014/main" id="{80EE1A21-F2FD-42D4-9B60-7776DBA50DC9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화살표: 갈매기형 수장 139">
              <a:extLst>
                <a:ext uri="{FF2B5EF4-FFF2-40B4-BE49-F238E27FC236}">
                  <a16:creationId xmlns:a16="http://schemas.microsoft.com/office/drawing/2014/main" id="{0A9D4754-9B36-4FED-A3E0-ADA829991327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화살표: 갈매기형 수장 140">
              <a:extLst>
                <a:ext uri="{FF2B5EF4-FFF2-40B4-BE49-F238E27FC236}">
                  <a16:creationId xmlns:a16="http://schemas.microsoft.com/office/drawing/2014/main" id="{FF364548-A427-4F8C-9077-3597A1FC70A1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6" name="모서리가 둥근 직사각형 36">
            <a:extLst>
              <a:ext uri="{FF2B5EF4-FFF2-40B4-BE49-F238E27FC236}">
                <a16:creationId xmlns:a16="http://schemas.microsoft.com/office/drawing/2014/main" id="{A881C30F-6985-4107-864D-E766A09D1CC6}"/>
              </a:ext>
            </a:extLst>
          </p:cNvPr>
          <p:cNvSpPr/>
          <p:nvPr/>
        </p:nvSpPr>
        <p:spPr bwMode="ltGray">
          <a:xfrm>
            <a:off x="4389060" y="4101768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>
              <a:lnSpc>
                <a:spcPct val="90000"/>
              </a:lnSpc>
            </a:pPr>
            <a:r>
              <a:rPr lang="ko-KR" altLang="en-US" sz="1400" b="1">
                <a:solidFill>
                  <a:schemeClr val="bg1"/>
                </a:solidFill>
                <a:ea typeface="맑은 고딕"/>
              </a:rPr>
              <a:t>선제적 대응</a:t>
            </a:r>
            <a:endParaRPr lang="ko-KR" altLang="en-US" sz="14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7" name="모서리가 둥근 직사각형 36">
            <a:extLst>
              <a:ext uri="{FF2B5EF4-FFF2-40B4-BE49-F238E27FC236}">
                <a16:creationId xmlns:a16="http://schemas.microsoft.com/office/drawing/2014/main" id="{D2675CEB-971F-4E55-9C50-261ECA952A7C}"/>
              </a:ext>
            </a:extLst>
          </p:cNvPr>
          <p:cNvSpPr/>
          <p:nvPr/>
        </p:nvSpPr>
        <p:spPr bwMode="ltGray">
          <a:xfrm>
            <a:off x="5909783" y="4100143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사업 계획 및 예산 관리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강화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내부통제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요소를 감안한 업무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시스템 통해 선제적인 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Risk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대응 가능</a:t>
            </a:r>
          </a:p>
        </p:txBody>
      </p:sp>
      <p:sp>
        <p:nvSpPr>
          <p:cNvPr id="98" name="모서리가 둥근 직사각형 36">
            <a:extLst>
              <a:ext uri="{FF2B5EF4-FFF2-40B4-BE49-F238E27FC236}">
                <a16:creationId xmlns:a16="http://schemas.microsoft.com/office/drawing/2014/main" id="{1DEBBDBC-385F-49A2-99D2-527D4BC890CE}"/>
              </a:ext>
            </a:extLst>
          </p:cNvPr>
          <p:cNvSpPr/>
          <p:nvPr/>
        </p:nvSpPr>
        <p:spPr bwMode="ltGray">
          <a:xfrm>
            <a:off x="8717691" y="4100143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/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전 업무 영역</a:t>
            </a:r>
          </a:p>
        </p:txBody>
      </p:sp>
      <p:sp>
        <p:nvSpPr>
          <p:cNvPr id="99" name="모서리가 둥근 직사각형 40">
            <a:extLst>
              <a:ext uri="{FF2B5EF4-FFF2-40B4-BE49-F238E27FC236}">
                <a16:creationId xmlns:a16="http://schemas.microsoft.com/office/drawing/2014/main" id="{74574305-C8F9-4759-8D32-F8EE04A4630C}"/>
              </a:ext>
            </a:extLst>
          </p:cNvPr>
          <p:cNvSpPr/>
          <p:nvPr/>
        </p:nvSpPr>
        <p:spPr bwMode="ltGray">
          <a:xfrm>
            <a:off x="2117709" y="5811274"/>
            <a:ext cx="1429521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Manual</a:t>
            </a: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12FBBA5-6F31-475D-A02E-5ABBD025D0BD}"/>
              </a:ext>
            </a:extLst>
          </p:cNvPr>
          <p:cNvGrpSpPr/>
          <p:nvPr/>
        </p:nvGrpSpPr>
        <p:grpSpPr>
          <a:xfrm>
            <a:off x="3703971" y="5906667"/>
            <a:ext cx="528348" cy="298140"/>
            <a:chOff x="3851920" y="2492896"/>
            <a:chExt cx="1153002" cy="484632"/>
          </a:xfrm>
          <a:solidFill>
            <a:schemeClr val="bg1">
              <a:lumMod val="95000"/>
            </a:schemeClr>
          </a:solidFill>
        </p:grpSpPr>
        <p:sp>
          <p:nvSpPr>
            <p:cNvPr id="101" name="화살표: 갈매기형 수장 154">
              <a:extLst>
                <a:ext uri="{FF2B5EF4-FFF2-40B4-BE49-F238E27FC236}">
                  <a16:creationId xmlns:a16="http://schemas.microsoft.com/office/drawing/2014/main" id="{27A96D79-40BA-49BF-8369-0C34BCDAB5B5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화살표: 갈매기형 수장 155">
              <a:extLst>
                <a:ext uri="{FF2B5EF4-FFF2-40B4-BE49-F238E27FC236}">
                  <a16:creationId xmlns:a16="http://schemas.microsoft.com/office/drawing/2014/main" id="{3CA04C1A-2D17-4D1B-812B-C291EE9A1691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화살표: 갈매기형 수장 156">
              <a:extLst>
                <a:ext uri="{FF2B5EF4-FFF2-40B4-BE49-F238E27FC236}">
                  <a16:creationId xmlns:a16="http://schemas.microsoft.com/office/drawing/2014/main" id="{7D095509-94C9-4350-96B5-48804FACFE09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4" name="모서리가 둥근 직사각형 40">
            <a:extLst>
              <a:ext uri="{FF2B5EF4-FFF2-40B4-BE49-F238E27FC236}">
                <a16:creationId xmlns:a16="http://schemas.microsoft.com/office/drawing/2014/main" id="{D23F2D74-854E-4082-9592-36067296E102}"/>
              </a:ext>
            </a:extLst>
          </p:cNvPr>
          <p:cNvSpPr/>
          <p:nvPr/>
        </p:nvSpPr>
        <p:spPr bwMode="ltGray">
          <a:xfrm>
            <a:off x="4389060" y="5811274"/>
            <a:ext cx="1429521" cy="51570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 latinLnBrk="0">
              <a:lnSpc>
                <a:spcPct val="9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맑은 고딕"/>
                <a:ea typeface="맑은 고딕"/>
              </a:rPr>
              <a:t>시스템</a:t>
            </a:r>
          </a:p>
        </p:txBody>
      </p:sp>
      <p:sp>
        <p:nvSpPr>
          <p:cNvPr id="105" name="모서리가 둥근 직사각형 40">
            <a:extLst>
              <a:ext uri="{FF2B5EF4-FFF2-40B4-BE49-F238E27FC236}">
                <a16:creationId xmlns:a16="http://schemas.microsoft.com/office/drawing/2014/main" id="{28A6779A-F077-4F20-8657-6BB104017B7C}"/>
              </a:ext>
            </a:extLst>
          </p:cNvPr>
          <p:cNvSpPr/>
          <p:nvPr/>
        </p:nvSpPr>
        <p:spPr bwMode="ltGray">
          <a:xfrm>
            <a:off x="5909783" y="5809649"/>
            <a:ext cx="274729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88900" indent="-88900" defTabSz="977172" latinLnBrk="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각종 업무의 수기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작업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최소화 통해</a:t>
            </a:r>
            <a: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105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050" dirty="0">
                <a:solidFill>
                  <a:srgbClr val="000000"/>
                </a:solidFill>
                <a:latin typeface="맑은 고딕"/>
                <a:ea typeface="맑은 고딕"/>
              </a:rPr>
              <a:t>고부가가치 업무에 집중하는 환경 조성</a:t>
            </a:r>
          </a:p>
        </p:txBody>
      </p:sp>
      <p:sp>
        <p:nvSpPr>
          <p:cNvPr id="106" name="모서리가 둥근 직사각형 40">
            <a:extLst>
              <a:ext uri="{FF2B5EF4-FFF2-40B4-BE49-F238E27FC236}">
                <a16:creationId xmlns:a16="http://schemas.microsoft.com/office/drawing/2014/main" id="{35A0E0E4-A96C-40E1-B909-B44E8057071C}"/>
              </a:ext>
            </a:extLst>
          </p:cNvPr>
          <p:cNvSpPr/>
          <p:nvPr/>
        </p:nvSpPr>
        <p:spPr bwMode="ltGray">
          <a:xfrm>
            <a:off x="8717691" y="5809649"/>
            <a:ext cx="807687" cy="51570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77172"/>
            <a:r>
              <a:rPr lang="ko-KR" altLang="en-US" sz="900" b="1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/>
              </a:rPr>
              <a:t>전 업무 영역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762E5728-56CF-4C3A-A42F-08D3DCABF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ko-KR" altLang="en-US" spc="-150" dirty="0"/>
              <a:t>영원의 업무</a:t>
            </a:r>
            <a:r>
              <a:rPr lang="en-US" altLang="ko-KR" spc="-150" dirty="0"/>
              <a:t>/</a:t>
            </a:r>
            <a:r>
              <a:rPr lang="ko-KR" altLang="en-US" spc="-150" dirty="0"/>
              <a:t>시스템의 혁신 방향은 고객</a:t>
            </a:r>
            <a:r>
              <a:rPr lang="en-US" altLang="ko-KR" spc="-150" dirty="0"/>
              <a:t>/</a:t>
            </a:r>
            <a:r>
              <a:rPr lang="ko-KR" altLang="en-US" spc="-150" dirty="0"/>
              <a:t>시장 대응 역량을 제고하고</a:t>
            </a:r>
            <a:r>
              <a:rPr lang="en-US" altLang="ko-KR" spc="-150" dirty="0"/>
              <a:t>, </a:t>
            </a:r>
            <a:r>
              <a:rPr lang="ko-KR" altLang="en-US" spc="-150" dirty="0"/>
              <a:t>전사의 사업 관리 수준을 </a:t>
            </a:r>
            <a:r>
              <a:rPr lang="ko-KR" altLang="en-US" spc="-150" dirty="0" err="1"/>
              <a:t>고도화하며</a:t>
            </a:r>
            <a:r>
              <a:rPr lang="en-US" altLang="ko-KR" spc="-150" dirty="0"/>
              <a:t>,</a:t>
            </a:r>
            <a:br>
              <a:rPr lang="en-US" altLang="ko-KR" spc="-150" dirty="0"/>
            </a:br>
            <a:r>
              <a:rPr lang="ko-KR" altLang="en-US" spc="-150" dirty="0"/>
              <a:t>차세대 통합 시스템 도입 효과를 극대화하는 방향으로 이루어져야 함</a:t>
            </a:r>
          </a:p>
        </p:txBody>
      </p:sp>
      <p:sp>
        <p:nvSpPr>
          <p:cNvPr id="33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10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[ Reminder ] </a:t>
            </a:r>
            <a:r>
              <a:rPr lang="ko-KR" altLang="en-US" sz="2000" b="1" kern="0" spc="-138" dirty="0">
                <a:ln w="1905"/>
                <a:ea typeface="맑은 고딕"/>
              </a:rPr>
              <a:t>영원의 혁신 방향 </a:t>
            </a:r>
            <a:r>
              <a:rPr lang="en-US" altLang="ko-KR" sz="1400" b="1" kern="0" spc="-138" dirty="0">
                <a:ln w="1905"/>
                <a:ea typeface="맑은 고딕"/>
              </a:rPr>
              <a:t>(</a:t>
            </a:r>
            <a:r>
              <a:rPr lang="ko-KR" altLang="en-US" sz="1400" b="1" kern="0" spc="-138" dirty="0">
                <a:ln w="1905"/>
                <a:ea typeface="맑은 고딕"/>
              </a:rPr>
              <a:t>지향점</a:t>
            </a:r>
            <a:r>
              <a:rPr lang="en-US" altLang="ko-KR" sz="1400" b="1" kern="0" spc="-138" dirty="0">
                <a:ln w="1905"/>
                <a:ea typeface="맑은 고딕"/>
              </a:rPr>
              <a:t>)</a:t>
            </a:r>
            <a:endParaRPr lang="ko-KR" altLang="en-US" sz="2000" b="1" kern="0" spc="-138" dirty="0">
              <a:ln w="1905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1915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CD0F5CEF-C6AC-37B2-08C2-425D20BEF525}"/>
              </a:ext>
            </a:extLst>
          </p:cNvPr>
          <p:cNvSpPr/>
          <p:nvPr/>
        </p:nvSpPr>
        <p:spPr>
          <a:xfrm>
            <a:off x="4219344" y="1617660"/>
            <a:ext cx="1265539" cy="3003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A22C0C5-C0E8-5401-E35E-B98291BC0AB2}"/>
              </a:ext>
            </a:extLst>
          </p:cNvPr>
          <p:cNvSpPr/>
          <p:nvPr/>
        </p:nvSpPr>
        <p:spPr>
          <a:xfrm>
            <a:off x="5638052" y="1617660"/>
            <a:ext cx="1265539" cy="3003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CCA2EFB-C1D6-BDED-1563-8E11C993AC55}"/>
              </a:ext>
            </a:extLst>
          </p:cNvPr>
          <p:cNvSpPr/>
          <p:nvPr/>
        </p:nvSpPr>
        <p:spPr>
          <a:xfrm>
            <a:off x="7034662" y="1617660"/>
            <a:ext cx="1265539" cy="3003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83DC316-C2A0-8847-C84E-2883485DC9F7}"/>
              </a:ext>
            </a:extLst>
          </p:cNvPr>
          <p:cNvSpPr/>
          <p:nvPr/>
        </p:nvSpPr>
        <p:spPr>
          <a:xfrm>
            <a:off x="2806168" y="1617660"/>
            <a:ext cx="1265539" cy="3003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29DECE9-D186-C561-F425-E2885867EBC0}"/>
              </a:ext>
            </a:extLst>
          </p:cNvPr>
          <p:cNvSpPr/>
          <p:nvPr/>
        </p:nvSpPr>
        <p:spPr>
          <a:xfrm>
            <a:off x="1386840" y="1617660"/>
            <a:ext cx="1271691" cy="3003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7441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영원의</a:t>
            </a: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혁신 </a:t>
            </a: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Big </a:t>
            </a:r>
            <a:r>
              <a:rPr kumimoji="0" lang="en-US" altLang="ko-KR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Picture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2A6F7E-735F-3333-E43B-8570F7D10488}"/>
              </a:ext>
            </a:extLst>
          </p:cNvPr>
          <p:cNvSpPr/>
          <p:nvPr/>
        </p:nvSpPr>
        <p:spPr>
          <a:xfrm>
            <a:off x="439729" y="1998803"/>
            <a:ext cx="848167" cy="111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7221F0-BC83-BE05-9570-55EE2748C3BB}"/>
              </a:ext>
            </a:extLst>
          </p:cNvPr>
          <p:cNvSpPr/>
          <p:nvPr/>
        </p:nvSpPr>
        <p:spPr>
          <a:xfrm>
            <a:off x="439729" y="3225800"/>
            <a:ext cx="848167" cy="14630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90953B-0ADB-2D11-941C-55E5A52C4DBC}"/>
              </a:ext>
            </a:extLst>
          </p:cNvPr>
          <p:cNvSpPr/>
          <p:nvPr/>
        </p:nvSpPr>
        <p:spPr>
          <a:xfrm>
            <a:off x="439729" y="4803140"/>
            <a:ext cx="848167" cy="7543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Business Unit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80888-64B3-7A31-1BBE-45E6785E9E67}"/>
              </a:ext>
            </a:extLst>
          </p:cNvPr>
          <p:cNvSpPr/>
          <p:nvPr/>
        </p:nvSpPr>
        <p:spPr>
          <a:xfrm>
            <a:off x="8422227" y="1371601"/>
            <a:ext cx="1041813" cy="41859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Plan Vs Act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8D1B41-F875-CB92-13E5-6E43C30B4DF0}"/>
              </a:ext>
            </a:extLst>
          </p:cNvPr>
          <p:cNvSpPr/>
          <p:nvPr/>
        </p:nvSpPr>
        <p:spPr>
          <a:xfrm>
            <a:off x="1386840" y="1998804"/>
            <a:ext cx="6887829" cy="111269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02E041-6A89-973B-C757-5F4AD3CF6841}"/>
              </a:ext>
            </a:extLst>
          </p:cNvPr>
          <p:cNvSpPr/>
          <p:nvPr/>
        </p:nvSpPr>
        <p:spPr>
          <a:xfrm>
            <a:off x="1386840" y="3241040"/>
            <a:ext cx="6887829" cy="146304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4C2A99-9E21-7B5A-4AF5-0DDA7D643766}"/>
              </a:ext>
            </a:extLst>
          </p:cNvPr>
          <p:cNvSpPr/>
          <p:nvPr/>
        </p:nvSpPr>
        <p:spPr>
          <a:xfrm>
            <a:off x="1386840" y="4803140"/>
            <a:ext cx="6887829" cy="75438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F571DD-75F2-4F78-4FD3-7BFAFF0807E8}"/>
              </a:ext>
            </a:extLst>
          </p:cNvPr>
          <p:cNvSpPr/>
          <p:nvPr/>
        </p:nvSpPr>
        <p:spPr>
          <a:xfrm>
            <a:off x="1391353" y="1371601"/>
            <a:ext cx="1264919" cy="244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Master Data</a:t>
            </a:r>
            <a:endParaRPr kumimoji="0" lang="en-US" sz="10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EEC7EB-B24F-8CFC-CDF7-145701B8B02C}"/>
              </a:ext>
            </a:extLst>
          </p:cNvPr>
          <p:cNvSpPr/>
          <p:nvPr/>
        </p:nvSpPr>
        <p:spPr>
          <a:xfrm>
            <a:off x="2806168" y="1371601"/>
            <a:ext cx="1264919" cy="244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Sales</a:t>
            </a:r>
            <a:endParaRPr kumimoji="0" lang="en-US" sz="10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665476-D819-A10A-3047-9F18457588AA}"/>
              </a:ext>
            </a:extLst>
          </p:cNvPr>
          <p:cNvSpPr/>
          <p:nvPr/>
        </p:nvSpPr>
        <p:spPr>
          <a:xfrm>
            <a:off x="4219344" y="1371601"/>
            <a:ext cx="1264919" cy="244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Production</a:t>
            </a:r>
            <a:endParaRPr kumimoji="0" lang="en-US" sz="10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7FDEDF-73F6-F7B8-950F-0D493E2A1FE4}"/>
              </a:ext>
            </a:extLst>
          </p:cNvPr>
          <p:cNvSpPr/>
          <p:nvPr/>
        </p:nvSpPr>
        <p:spPr>
          <a:xfrm>
            <a:off x="5638052" y="1371601"/>
            <a:ext cx="1264919" cy="244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Purchase &amp; Inventory</a:t>
            </a:r>
            <a:endParaRPr kumimoji="0" lang="en-US" sz="10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3B5184-8C5C-D07B-7897-987D080D7A43}"/>
              </a:ext>
            </a:extLst>
          </p:cNvPr>
          <p:cNvSpPr/>
          <p:nvPr/>
        </p:nvSpPr>
        <p:spPr>
          <a:xfrm>
            <a:off x="7034662" y="1371601"/>
            <a:ext cx="1264919" cy="244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Closing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59E2C8-33D2-47EC-9805-8EA8658F5912}"/>
              </a:ext>
            </a:extLst>
          </p:cNvPr>
          <p:cNvGrpSpPr/>
          <p:nvPr/>
        </p:nvGrpSpPr>
        <p:grpSpPr>
          <a:xfrm flipV="1">
            <a:off x="423929" y="1047808"/>
            <a:ext cx="9004300" cy="233405"/>
            <a:chOff x="495300" y="5629998"/>
            <a:chExt cx="9004300" cy="23340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3AB6D-0EF3-E243-B7FB-C4349A8713D0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" y="5633720"/>
              <a:ext cx="2240279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96284C2-7769-E4E3-4111-AAD081CD7F26}"/>
                </a:ext>
              </a:extLst>
            </p:cNvPr>
            <p:cNvSpPr/>
            <p:nvPr/>
          </p:nvSpPr>
          <p:spPr>
            <a:xfrm flipV="1">
              <a:off x="955039" y="5629998"/>
              <a:ext cx="1264919" cy="23340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One Code</a:t>
              </a:r>
              <a:endPara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817CD00-7AF6-1F37-4DBE-D64F03D6176B}"/>
                </a:ext>
              </a:extLst>
            </p:cNvPr>
            <p:cNvCxnSpPr>
              <a:cxnSpLocks/>
            </p:cNvCxnSpPr>
            <p:nvPr/>
          </p:nvCxnSpPr>
          <p:spPr>
            <a:xfrm>
              <a:off x="2910048" y="5633720"/>
              <a:ext cx="4128452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3DAE125-3875-DA7E-35A7-B77A48927F65}"/>
                </a:ext>
              </a:extLst>
            </p:cNvPr>
            <p:cNvSpPr/>
            <p:nvPr/>
          </p:nvSpPr>
          <p:spPr>
            <a:xfrm flipV="1">
              <a:off x="2902427" y="5629998"/>
              <a:ext cx="4128452" cy="23340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On Time Data Collecting</a:t>
              </a:r>
              <a:endPara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DDED117-9D33-A505-6352-A8709C9872B0}"/>
                </a:ext>
              </a:extLst>
            </p:cNvPr>
            <p:cNvCxnSpPr>
              <a:cxnSpLocks/>
            </p:cNvCxnSpPr>
            <p:nvPr/>
          </p:nvCxnSpPr>
          <p:spPr>
            <a:xfrm>
              <a:off x="7185247" y="5633720"/>
              <a:ext cx="227879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C8E3B95-4BAB-7B6B-2B73-C364148C4EC1}"/>
                </a:ext>
              </a:extLst>
            </p:cNvPr>
            <p:cNvSpPr/>
            <p:nvPr/>
          </p:nvSpPr>
          <p:spPr>
            <a:xfrm flipV="1">
              <a:off x="7177626" y="5629998"/>
              <a:ext cx="2321974" cy="23340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Right Time Reporting</a:t>
              </a: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46A930-E98D-2B8B-ABD4-D750505E8C3F}"/>
              </a:ext>
            </a:extLst>
          </p:cNvPr>
          <p:cNvSpPr/>
          <p:nvPr/>
        </p:nvSpPr>
        <p:spPr>
          <a:xfrm>
            <a:off x="358140" y="6051784"/>
            <a:ext cx="9235440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으로 계획하고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실행하며 분석하는 기반을 구축하여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영원무역 최적의 관리 및 의사결정 지원</a:t>
            </a:r>
            <a:endParaRPr kumimoji="0" lang="en-US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D92C85-9729-6DB7-2F32-C9BBFA9DFC95}"/>
              </a:ext>
            </a:extLst>
          </p:cNvPr>
          <p:cNvSpPr/>
          <p:nvPr/>
        </p:nvSpPr>
        <p:spPr>
          <a:xfrm>
            <a:off x="358140" y="922021"/>
            <a:ext cx="9235440" cy="501386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231A1D9-C884-527E-E1C9-2CCFC804232B}"/>
              </a:ext>
            </a:extLst>
          </p:cNvPr>
          <p:cNvSpPr/>
          <p:nvPr/>
        </p:nvSpPr>
        <p:spPr>
          <a:xfrm>
            <a:off x="2831659" y="5676683"/>
            <a:ext cx="4288402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Cloud Based Single Instance System Environment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93E4865-0E0C-031D-F03D-492BCEB81B75}"/>
              </a:ext>
            </a:extLst>
          </p:cNvPr>
          <p:cNvSpPr/>
          <p:nvPr/>
        </p:nvSpPr>
        <p:spPr>
          <a:xfrm>
            <a:off x="1483773" y="20858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공급업체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통합관리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2E14F77-7032-4B5C-1963-A88E283A8C76}"/>
              </a:ext>
            </a:extLst>
          </p:cNvPr>
          <p:cNvSpPr/>
          <p:nvPr/>
        </p:nvSpPr>
        <p:spPr>
          <a:xfrm>
            <a:off x="1483773" y="260401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대표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Code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97ABBA8-5FCA-7378-C096-75289B3652A9}"/>
              </a:ext>
            </a:extLst>
          </p:cNvPr>
          <p:cNvSpPr/>
          <p:nvPr/>
        </p:nvSpPr>
        <p:spPr>
          <a:xfrm>
            <a:off x="1483773" y="4985091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Profit Center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9DFB7C4-0FF2-2D03-A03C-F2BF05769865}"/>
              </a:ext>
            </a:extLst>
          </p:cNvPr>
          <p:cNvSpPr/>
          <p:nvPr/>
        </p:nvSpPr>
        <p:spPr>
          <a:xfrm>
            <a:off x="2900147" y="42532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Sales Order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표준화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ABA45B5-3D49-79EF-E8C8-ADA977FBB90E}"/>
              </a:ext>
            </a:extLst>
          </p:cNvPr>
          <p:cNvSpPr/>
          <p:nvPr/>
        </p:nvSpPr>
        <p:spPr>
          <a:xfrm>
            <a:off x="7018434" y="4253255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공통비용 배부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7BD8F08-8EE8-416C-A7BF-78B912B196A9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2560732" y="2791979"/>
            <a:ext cx="585281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87B796E-3883-1273-290A-B139F549E77C}"/>
              </a:ext>
            </a:extLst>
          </p:cNvPr>
          <p:cNvSpPr/>
          <p:nvPr/>
        </p:nvSpPr>
        <p:spPr>
          <a:xfrm>
            <a:off x="2900147" y="260401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주문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 추적관리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5B19756-1B3D-A547-538F-3F7208130D99}"/>
              </a:ext>
            </a:extLst>
          </p:cNvPr>
          <p:cNvSpPr/>
          <p:nvPr/>
        </p:nvSpPr>
        <p:spPr>
          <a:xfrm>
            <a:off x="4292600" y="260401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주문기반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88AF05F-2F49-47E4-EE16-1DC489993CF0}"/>
              </a:ext>
            </a:extLst>
          </p:cNvPr>
          <p:cNvSpPr/>
          <p:nvPr/>
        </p:nvSpPr>
        <p:spPr>
          <a:xfrm>
            <a:off x="5734399" y="260401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구분 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A74C63B5-5A83-7935-5126-2A1EBBD4E5AB}"/>
              </a:ext>
            </a:extLst>
          </p:cNvPr>
          <p:cNvSpPr/>
          <p:nvPr/>
        </p:nvSpPr>
        <p:spPr>
          <a:xfrm>
            <a:off x="7018434" y="260401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계획 대비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실적 분석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0242C18-4FA0-614F-0498-F8146179F6B7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1486744" y="3515448"/>
            <a:ext cx="1075360" cy="4342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143B9EA-EC56-FE36-1F51-ADD7C729CF54}"/>
              </a:ext>
            </a:extLst>
          </p:cNvPr>
          <p:cNvSpPr/>
          <p:nvPr/>
        </p:nvSpPr>
        <p:spPr>
          <a:xfrm>
            <a:off x="1483773" y="3339402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 Code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324AE52-A8DC-722E-6248-930A7F22DF10}"/>
              </a:ext>
            </a:extLst>
          </p:cNvPr>
          <p:cNvSpPr/>
          <p:nvPr/>
        </p:nvSpPr>
        <p:spPr>
          <a:xfrm>
            <a:off x="1483773" y="37960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Material Master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2D59646-DC5B-FD44-0BD3-FE7CDE048A63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560732" y="2273848"/>
            <a:ext cx="586149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F99454F-C8B0-2BC3-383C-35D7642606FD}"/>
              </a:ext>
            </a:extLst>
          </p:cNvPr>
          <p:cNvSpPr/>
          <p:nvPr/>
        </p:nvSpPr>
        <p:spPr>
          <a:xfrm>
            <a:off x="7018434" y="20858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BP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AR/AP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DAFABD2-A10D-B483-E9DA-4E59740AB790}"/>
              </a:ext>
            </a:extLst>
          </p:cNvPr>
          <p:cNvSpPr/>
          <p:nvPr/>
        </p:nvSpPr>
        <p:spPr>
          <a:xfrm>
            <a:off x="2900147" y="20858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판매계획 및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사전영업 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119E42C-C5B9-E508-9DEC-848C2B64F9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83782" y="2160894"/>
            <a:ext cx="548640" cy="217044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A18D79E-D8BF-A9EF-F662-DC1A3CDDB838}"/>
              </a:ext>
            </a:extLst>
          </p:cNvPr>
          <p:cNvSpPr/>
          <p:nvPr/>
        </p:nvSpPr>
        <p:spPr>
          <a:xfrm>
            <a:off x="5734399" y="3345030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 조달관리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7A8B90D-0FBA-CF2A-A06A-EF80EB9BE0B4}"/>
              </a:ext>
            </a:extLst>
          </p:cNvPr>
          <p:cNvSpPr/>
          <p:nvPr/>
        </p:nvSpPr>
        <p:spPr>
          <a:xfrm>
            <a:off x="7018434" y="3345030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부대비용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직접귀속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6" name="직선 화살표 연결선 71">
            <a:extLst>
              <a:ext uri="{FF2B5EF4-FFF2-40B4-BE49-F238E27FC236}">
                <a16:creationId xmlns:a16="http://schemas.microsoft.com/office/drawing/2014/main" id="{67A31521-7CF3-4D9B-C02F-FE96A0C0E8F4}"/>
              </a:ext>
            </a:extLst>
          </p:cNvPr>
          <p:cNvCxnSpPr>
            <a:cxnSpLocks/>
            <a:stCxn id="49" idx="2"/>
          </p:cNvCxnSpPr>
          <p:nvPr/>
        </p:nvCxnSpPr>
        <p:spPr>
          <a:xfrm rot="16200000" flipH="1">
            <a:off x="6114596" y="1696422"/>
            <a:ext cx="1043634" cy="361066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8F989E6-C85E-656E-59F1-B43F4B85784E}"/>
              </a:ext>
            </a:extLst>
          </p:cNvPr>
          <p:cNvSpPr/>
          <p:nvPr/>
        </p:nvSpPr>
        <p:spPr>
          <a:xfrm>
            <a:off x="4292599" y="3336199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생산계획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8C9CF3B-C3B5-74F7-BD0F-A844FC119FA4}"/>
              </a:ext>
            </a:extLst>
          </p:cNvPr>
          <p:cNvSpPr/>
          <p:nvPr/>
        </p:nvSpPr>
        <p:spPr>
          <a:xfrm>
            <a:off x="4292598" y="37960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일별 생산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실적 수집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4" name="직선 화살표 연결선 65">
            <a:extLst>
              <a:ext uri="{FF2B5EF4-FFF2-40B4-BE49-F238E27FC236}">
                <a16:creationId xmlns:a16="http://schemas.microsoft.com/office/drawing/2014/main" id="{2914C300-E1DD-7DDE-4A92-FFC0B28E9C42}"/>
              </a:ext>
            </a:extLst>
          </p:cNvPr>
          <p:cNvCxnSpPr>
            <a:cxnSpLocks/>
            <a:stCxn id="44" idx="3"/>
            <a:endCxn id="50" idx="1"/>
          </p:cNvCxnSpPr>
          <p:nvPr/>
        </p:nvCxnSpPr>
        <p:spPr>
          <a:xfrm flipV="1">
            <a:off x="2560732" y="3524159"/>
            <a:ext cx="1731867" cy="459889"/>
          </a:xfrm>
          <a:prstGeom prst="bentConnector3">
            <a:avLst>
              <a:gd name="adj1" fmla="val 121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65">
            <a:extLst>
              <a:ext uri="{FF2B5EF4-FFF2-40B4-BE49-F238E27FC236}">
                <a16:creationId xmlns:a16="http://schemas.microsoft.com/office/drawing/2014/main" id="{A05E9BF2-637B-CA1E-2FB4-1724AB411DFB}"/>
              </a:ext>
            </a:extLst>
          </p:cNvPr>
          <p:cNvCxnSpPr>
            <a:cxnSpLocks/>
            <a:stCxn id="47" idx="0"/>
            <a:endCxn id="46" idx="2"/>
          </p:cNvCxnSpPr>
          <p:nvPr/>
        </p:nvCxnSpPr>
        <p:spPr>
          <a:xfrm flipV="1">
            <a:off x="3438627" y="3715322"/>
            <a:ext cx="0" cy="5379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65">
            <a:extLst>
              <a:ext uri="{FF2B5EF4-FFF2-40B4-BE49-F238E27FC236}">
                <a16:creationId xmlns:a16="http://schemas.microsoft.com/office/drawing/2014/main" id="{6A2A02FC-3812-CE17-3BE4-06DDB40AAD90}"/>
              </a:ext>
            </a:extLst>
          </p:cNvPr>
          <p:cNvCxnSpPr>
            <a:cxnSpLocks/>
            <a:stCxn id="45" idx="0"/>
            <a:endCxn id="44" idx="2"/>
          </p:cNvCxnSpPr>
          <p:nvPr/>
        </p:nvCxnSpPr>
        <p:spPr>
          <a:xfrm flipV="1">
            <a:off x="2022253" y="4172008"/>
            <a:ext cx="0" cy="8130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BAD3D7F-DF4E-EB8A-5901-CD0C86D874A6}"/>
              </a:ext>
            </a:extLst>
          </p:cNvPr>
          <p:cNvSpPr txBox="1"/>
          <p:nvPr/>
        </p:nvSpPr>
        <p:spPr>
          <a:xfrm>
            <a:off x="1568559" y="1639444"/>
            <a:ext cx="910506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기준정보 즉시생성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 및 관리 항목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5D8EEC7-459C-025A-AED8-6880BAC0675F}"/>
              </a:ext>
            </a:extLst>
          </p:cNvPr>
          <p:cNvSpPr txBox="1"/>
          <p:nvPr/>
        </p:nvSpPr>
        <p:spPr>
          <a:xfrm>
            <a:off x="2924143" y="1639444"/>
            <a:ext cx="1025922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</a:t>
            </a: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주문 사전정보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실행정보 상세관리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559A64B-E514-04F4-9065-1E0643C2C092}"/>
              </a:ext>
            </a:extLst>
          </p:cNvPr>
          <p:cNvSpPr txBox="1"/>
          <p:nvPr/>
        </p:nvSpPr>
        <p:spPr>
          <a:xfrm>
            <a:off x="4299648" y="1639444"/>
            <a:ext cx="1101263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실적수집 표준화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 </a:t>
            </a: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 계획관리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5B016C-E6C2-F6FA-9A38-5E12F9B2F005}"/>
              </a:ext>
            </a:extLst>
          </p:cNvPr>
          <p:cNvSpPr txBox="1"/>
          <p:nvPr/>
        </p:nvSpPr>
        <p:spPr>
          <a:xfrm>
            <a:off x="5667782" y="1639444"/>
            <a:ext cx="1205458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재고관리 기준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발주 소요량 관리 고도화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79E119F-74C6-98CD-8C55-1303A586418A}"/>
              </a:ext>
            </a:extLst>
          </p:cNvPr>
          <p:cNvSpPr txBox="1"/>
          <p:nvPr/>
        </p:nvSpPr>
        <p:spPr>
          <a:xfrm>
            <a:off x="7083628" y="1639444"/>
            <a:ext cx="1166986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 재무기준</a:t>
            </a:r>
            <a:r>
              <a:rPr kumimoji="0" lang="en-US" altLang="ko-KR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결산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목표원가 대비 실적분석</a:t>
            </a:r>
            <a:endParaRPr kumimoji="0" lang="en-US" altLang="ko-KR" sz="85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3305D68-49E2-0E9F-80A3-436772A5FD81}"/>
              </a:ext>
            </a:extLst>
          </p:cNvPr>
          <p:cNvSpPr/>
          <p:nvPr/>
        </p:nvSpPr>
        <p:spPr>
          <a:xfrm>
            <a:off x="7018434" y="3796088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단위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제조원가 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261D9C7-96C3-50C4-BB8B-6BA814154D0B}"/>
              </a:ext>
            </a:extLst>
          </p:cNvPr>
          <p:cNvSpPr/>
          <p:nvPr/>
        </p:nvSpPr>
        <p:spPr>
          <a:xfrm>
            <a:off x="2900147" y="3339402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E2E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추적 기반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항목 세분화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7" name="직선 화살표 연결선 65">
            <a:extLst>
              <a:ext uri="{FF2B5EF4-FFF2-40B4-BE49-F238E27FC236}">
                <a16:creationId xmlns:a16="http://schemas.microsoft.com/office/drawing/2014/main" id="{9C244428-283B-49CE-AEA7-2045C14A42F4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>
            <a:off x="3438627" y="4629208"/>
            <a:ext cx="0" cy="3558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65">
            <a:extLst>
              <a:ext uri="{FF2B5EF4-FFF2-40B4-BE49-F238E27FC236}">
                <a16:creationId xmlns:a16="http://schemas.microsoft.com/office/drawing/2014/main" id="{19E3B74F-5891-7CFA-5931-4ED18E847F3F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4831077" y="4172008"/>
            <a:ext cx="1" cy="8130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65">
            <a:extLst>
              <a:ext uri="{FF2B5EF4-FFF2-40B4-BE49-F238E27FC236}">
                <a16:creationId xmlns:a16="http://schemas.microsoft.com/office/drawing/2014/main" id="{214E995B-FBAC-4B5B-FE90-B489BAB68CF6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2560732" y="5168900"/>
            <a:ext cx="5881015" cy="415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C49F041-3401-CBD8-4382-6E9278F81899}"/>
              </a:ext>
            </a:extLst>
          </p:cNvPr>
          <p:cNvSpPr/>
          <p:nvPr/>
        </p:nvSpPr>
        <p:spPr>
          <a:xfrm>
            <a:off x="2900147" y="4985091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판매계획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0BF482E-BA7A-EEEF-A013-BEBE831BDA37}"/>
              </a:ext>
            </a:extLst>
          </p:cNvPr>
          <p:cNvSpPr/>
          <p:nvPr/>
        </p:nvSpPr>
        <p:spPr>
          <a:xfrm>
            <a:off x="4292597" y="4985091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사업부간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실적관리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9195EC4-9A20-32F1-5B43-985F954BD8ED}"/>
              </a:ext>
            </a:extLst>
          </p:cNvPr>
          <p:cNvSpPr/>
          <p:nvPr/>
        </p:nvSpPr>
        <p:spPr>
          <a:xfrm>
            <a:off x="5734399" y="4985091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사업부 재고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 Over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AABDE99-DBE4-94A7-12A8-5F3D7FF234B6}"/>
              </a:ext>
            </a:extLst>
          </p:cNvPr>
          <p:cNvSpPr/>
          <p:nvPr/>
        </p:nvSpPr>
        <p:spPr>
          <a:xfrm>
            <a:off x="7018434" y="4980940"/>
            <a:ext cx="1076959" cy="37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손익계산서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469E452-40EB-9ED3-6014-322461145384}"/>
              </a:ext>
            </a:extLst>
          </p:cNvPr>
          <p:cNvSpPr/>
          <p:nvPr/>
        </p:nvSpPr>
        <p:spPr>
          <a:xfrm>
            <a:off x="8595718" y="1767840"/>
            <a:ext cx="734267" cy="170820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Profitability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Analysis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8C5FE0D-B1B8-5434-1878-FDD0BF3EA8F6}"/>
              </a:ext>
            </a:extLst>
          </p:cNvPr>
          <p:cNvSpPr/>
          <p:nvPr/>
        </p:nvSpPr>
        <p:spPr>
          <a:xfrm>
            <a:off x="8593572" y="3680893"/>
            <a:ext cx="734267" cy="167596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Cost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Analysis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C6A1944-4770-5FBC-8A79-C888D0840C70}"/>
              </a:ext>
            </a:extLst>
          </p:cNvPr>
          <p:cNvSpPr/>
          <p:nvPr/>
        </p:nvSpPr>
        <p:spPr>
          <a:xfrm>
            <a:off x="441960" y="1371601"/>
            <a:ext cx="847148" cy="5468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Global Template</a:t>
            </a:r>
          </a:p>
        </p:txBody>
      </p:sp>
    </p:spTree>
    <p:extLst>
      <p:ext uri="{BB962C8B-B14F-4D97-AF65-F5344CB8AC3E}">
        <p14:creationId xmlns:p14="http://schemas.microsoft.com/office/powerpoint/2010/main" val="338171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기준정보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24" name="Text Box 15">
            <a:extLst>
              <a:ext uri="{FF2B5EF4-FFF2-40B4-BE49-F238E27FC236}">
                <a16:creationId xmlns:a16="http://schemas.microsoft.com/office/drawing/2014/main" id="{762E5728-56CF-4C3A-A42F-08D3DCABF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Buyer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수주 주요 정보를 인지 즉시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Code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화 하고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이를 제품코드에 활용하여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Buyer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수주관리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생산 실적 연계 및  </a:t>
            </a:r>
            <a:r>
              <a:rPr kumimoji="0" lang="ko-KR" altLang="en-US" sz="1600" b="1" i="0" u="none" strike="noStrike" kern="1200" cap="none" spc="-15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현황 관리와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수익성 분석으로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Code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기반 업무 체계 구축을 목표로 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B8B71B-401C-32AC-2EA4-CA0C23BFF67F}"/>
              </a:ext>
            </a:extLst>
          </p:cNvPr>
          <p:cNvSpPr/>
          <p:nvPr/>
        </p:nvSpPr>
        <p:spPr>
          <a:xfrm>
            <a:off x="614113" y="1732554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Code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D84ABB-70BE-7B1B-F326-C38C44257C27}"/>
              </a:ext>
            </a:extLst>
          </p:cNvPr>
          <p:cNvSpPr/>
          <p:nvPr/>
        </p:nvSpPr>
        <p:spPr>
          <a:xfrm>
            <a:off x="614112" y="3870959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Spec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A287FC-73F7-6248-5C7D-3B9334E9B584}"/>
              </a:ext>
            </a:extLst>
          </p:cNvPr>
          <p:cNvSpPr/>
          <p:nvPr/>
        </p:nvSpPr>
        <p:spPr>
          <a:xfrm>
            <a:off x="1577340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14D2EA5-082B-8197-39EF-3D1771F15220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Text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 데이터를 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Code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 하고 항목별 의미를 표준화 하여 수주에서 생산까지 연계 관리 체계 수립</a:t>
            </a:r>
            <a:endParaRPr kumimoji="0" lang="en-US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E9DE7C4-9313-E011-84DB-9090EF12583B}"/>
              </a:ext>
            </a:extLst>
          </p:cNvPr>
          <p:cNvSpPr/>
          <p:nvPr/>
        </p:nvSpPr>
        <p:spPr>
          <a:xfrm>
            <a:off x="4822986" y="3870959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분류기반 속성 및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Spec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→ 생산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&amp;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조달 계획 및 실행 연계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B2D61E-ED2E-A3C7-7CFE-551807259537}"/>
              </a:ext>
            </a:extLst>
          </p:cNvPr>
          <p:cNvSpPr/>
          <p:nvPr/>
        </p:nvSpPr>
        <p:spPr>
          <a:xfrm>
            <a:off x="1609419" y="1732554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무의미 일련번호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870EE9-839B-A8E9-4D6D-CA3D2E03CF98}"/>
              </a:ext>
            </a:extLst>
          </p:cNvPr>
          <p:cNvSpPr/>
          <p:nvPr/>
        </p:nvSpPr>
        <p:spPr>
          <a:xfrm>
            <a:off x="1601392" y="3870959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Text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E1BA8-2841-6DE8-CC6D-10BC4F5CD830}"/>
              </a:ext>
            </a:extLst>
          </p:cNvPr>
          <p:cNvSpPr/>
          <p:nvPr/>
        </p:nvSpPr>
        <p:spPr>
          <a:xfrm>
            <a:off x="1800977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7A8C25-071D-5226-0EE4-C7EAF46FE3E6}"/>
              </a:ext>
            </a:extLst>
          </p:cNvPr>
          <p:cNvSpPr/>
          <p:nvPr/>
        </p:nvSpPr>
        <p:spPr>
          <a:xfrm>
            <a:off x="2100334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2AFFAF-CAFE-CC85-9B7B-356622501C17}"/>
              </a:ext>
            </a:extLst>
          </p:cNvPr>
          <p:cNvSpPr/>
          <p:nvPr/>
        </p:nvSpPr>
        <p:spPr>
          <a:xfrm>
            <a:off x="2399691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835D07-F8F0-1B5E-5C94-A30F9820FDEB}"/>
              </a:ext>
            </a:extLst>
          </p:cNvPr>
          <p:cNvSpPr/>
          <p:nvPr/>
        </p:nvSpPr>
        <p:spPr>
          <a:xfrm>
            <a:off x="2699048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113541-CDCF-55FC-096F-6C17CAC6C13B}"/>
              </a:ext>
            </a:extLst>
          </p:cNvPr>
          <p:cNvSpPr/>
          <p:nvPr/>
        </p:nvSpPr>
        <p:spPr>
          <a:xfrm>
            <a:off x="2998405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173191F-7C94-3A3D-DA80-92C89BCE7C29}"/>
              </a:ext>
            </a:extLst>
          </p:cNvPr>
          <p:cNvSpPr/>
          <p:nvPr/>
        </p:nvSpPr>
        <p:spPr>
          <a:xfrm>
            <a:off x="3297762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47FD834-9162-8D86-418D-084FE915A702}"/>
              </a:ext>
            </a:extLst>
          </p:cNvPr>
          <p:cNvSpPr/>
          <p:nvPr/>
        </p:nvSpPr>
        <p:spPr>
          <a:xfrm>
            <a:off x="3597119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25A0EC-63AF-7A9F-35C6-F8E690A785F2}"/>
              </a:ext>
            </a:extLst>
          </p:cNvPr>
          <p:cNvSpPr/>
          <p:nvPr/>
        </p:nvSpPr>
        <p:spPr>
          <a:xfrm>
            <a:off x="1833581" y="2915134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8 Serial Digits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1802434-A5F3-24B4-AF6F-F23B89D432D3}"/>
              </a:ext>
            </a:extLst>
          </p:cNvPr>
          <p:cNvSpPr/>
          <p:nvPr/>
        </p:nvSpPr>
        <p:spPr>
          <a:xfrm>
            <a:off x="3896478" y="241198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74B78B-86B2-1B04-62CB-17CC0F4AF407}"/>
              </a:ext>
            </a:extLst>
          </p:cNvPr>
          <p:cNvSpPr/>
          <p:nvPr/>
        </p:nvSpPr>
        <p:spPr>
          <a:xfrm>
            <a:off x="1609419" y="3200918"/>
            <a:ext cx="2711121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단일 번호범위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무의미 일련번호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Code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인식 및 활용도 낮음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0AF4391-00EB-8699-D86E-9A9754F83C6A}"/>
              </a:ext>
            </a:extLst>
          </p:cNvPr>
          <p:cNvSpPr/>
          <p:nvPr/>
        </p:nvSpPr>
        <p:spPr>
          <a:xfrm>
            <a:off x="1609419" y="2142523"/>
            <a:ext cx="2660624" cy="100601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47C7D13-2615-B277-839D-D3F696A8CF30}"/>
              </a:ext>
            </a:extLst>
          </p:cNvPr>
          <p:cNvSpPr/>
          <p:nvPr/>
        </p:nvSpPr>
        <p:spPr>
          <a:xfrm>
            <a:off x="1664601" y="4393181"/>
            <a:ext cx="2473060" cy="32153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# 82691 LB REVERSIBLE TRACK SHORT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CB45F27-63F6-EADB-471C-0B3059EDD292}"/>
              </a:ext>
            </a:extLst>
          </p:cNvPr>
          <p:cNvSpPr/>
          <p:nvPr/>
        </p:nvSpPr>
        <p:spPr>
          <a:xfrm>
            <a:off x="1676644" y="4710266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Text Description 40 Characters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97F3201-C15D-735D-B1AA-C24F30DB1E65}"/>
              </a:ext>
            </a:extLst>
          </p:cNvPr>
          <p:cNvSpPr/>
          <p:nvPr/>
        </p:nvSpPr>
        <p:spPr>
          <a:xfrm>
            <a:off x="1664601" y="5252955"/>
            <a:ext cx="2473060" cy="32153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0004 - LANDSEND(BRIGHT_GOLD(1936))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FA54EC5-6646-FA40-281D-F5590F2A45B3}"/>
              </a:ext>
            </a:extLst>
          </p:cNvPr>
          <p:cNvSpPr/>
          <p:nvPr/>
        </p:nvSpPr>
        <p:spPr>
          <a:xfrm>
            <a:off x="1676644" y="4194673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Material Master ]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E5D230A-FFAE-A4D5-A7F5-B0E421107209}"/>
              </a:ext>
            </a:extLst>
          </p:cNvPr>
          <p:cNvSpPr/>
          <p:nvPr/>
        </p:nvSpPr>
        <p:spPr>
          <a:xfrm>
            <a:off x="1664601" y="5023998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Sales Order ]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3B526FE-71C3-1215-B5A2-5DB91634EAED}"/>
              </a:ext>
            </a:extLst>
          </p:cNvPr>
          <p:cNvSpPr/>
          <p:nvPr/>
        </p:nvSpPr>
        <p:spPr>
          <a:xfrm>
            <a:off x="1692365" y="5570040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Dependency Code 4 Digits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D87FC50-D1B3-EAFD-4624-4FB4B8ADDF85}"/>
              </a:ext>
            </a:extLst>
          </p:cNvPr>
          <p:cNvSpPr/>
          <p:nvPr/>
        </p:nvSpPr>
        <p:spPr>
          <a:xfrm>
            <a:off x="4823898" y="4386563"/>
            <a:ext cx="1942662" cy="118347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D029D5A-F82D-E871-24C5-02AA2E455707}"/>
              </a:ext>
            </a:extLst>
          </p:cNvPr>
          <p:cNvSpPr/>
          <p:nvPr/>
        </p:nvSpPr>
        <p:spPr>
          <a:xfrm>
            <a:off x="4835941" y="4172071"/>
            <a:ext cx="1930619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Classification ]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8D6BE49-E101-C264-3FB8-B999A80225D2}"/>
              </a:ext>
            </a:extLst>
          </p:cNvPr>
          <p:cNvSpPr/>
          <p:nvPr/>
        </p:nvSpPr>
        <p:spPr>
          <a:xfrm>
            <a:off x="6874862" y="4386563"/>
            <a:ext cx="2260172" cy="118347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7F131EF-8401-114E-16CA-62708C7DCCBE}"/>
              </a:ext>
            </a:extLst>
          </p:cNvPr>
          <p:cNvSpPr/>
          <p:nvPr/>
        </p:nvSpPr>
        <p:spPr>
          <a:xfrm>
            <a:off x="6872748" y="4172071"/>
            <a:ext cx="1930619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Characteristic ]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52A8BAD-9E54-380D-A53C-317B643DDB8D}"/>
              </a:ext>
            </a:extLst>
          </p:cNvPr>
          <p:cNvSpPr/>
          <p:nvPr/>
        </p:nvSpPr>
        <p:spPr>
          <a:xfrm>
            <a:off x="4942332" y="4651551"/>
            <a:ext cx="505022" cy="14282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Garment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954854B-9EC4-D5F1-2D05-5950203A1F2E}"/>
              </a:ext>
            </a:extLst>
          </p:cNvPr>
          <p:cNvSpPr/>
          <p:nvPr/>
        </p:nvSpPr>
        <p:spPr>
          <a:xfrm>
            <a:off x="4942332" y="4878868"/>
            <a:ext cx="505022" cy="142829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Shoe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D9DB5F9-251A-EDDD-24F1-6D047BADF59B}"/>
              </a:ext>
            </a:extLst>
          </p:cNvPr>
          <p:cNvSpPr/>
          <p:nvPr/>
        </p:nvSpPr>
        <p:spPr>
          <a:xfrm>
            <a:off x="4953000" y="4453748"/>
            <a:ext cx="485359" cy="16469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대분류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E5DB23E-194B-8631-2C29-C82DA1D83319}"/>
              </a:ext>
            </a:extLst>
          </p:cNvPr>
          <p:cNvSpPr/>
          <p:nvPr/>
        </p:nvSpPr>
        <p:spPr>
          <a:xfrm>
            <a:off x="5565222" y="4453748"/>
            <a:ext cx="485359" cy="16469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중분류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9B9FFDF1-CC7A-3278-4DF1-00C910158BE9}"/>
              </a:ext>
            </a:extLst>
          </p:cNvPr>
          <p:cNvSpPr/>
          <p:nvPr/>
        </p:nvSpPr>
        <p:spPr>
          <a:xfrm>
            <a:off x="6177444" y="4453748"/>
            <a:ext cx="485359" cy="16469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세분류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FB21A8F-7912-8D8B-89B7-399EDE4B747C}"/>
              </a:ext>
            </a:extLst>
          </p:cNvPr>
          <p:cNvSpPr/>
          <p:nvPr/>
        </p:nvSpPr>
        <p:spPr>
          <a:xfrm>
            <a:off x="5564120" y="4651551"/>
            <a:ext cx="505022" cy="14282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Jacket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A9D2461C-DDD3-7717-2344-24CC9F4CD57E}"/>
              </a:ext>
            </a:extLst>
          </p:cNvPr>
          <p:cNvSpPr/>
          <p:nvPr/>
        </p:nvSpPr>
        <p:spPr>
          <a:xfrm>
            <a:off x="5564120" y="4880672"/>
            <a:ext cx="505022" cy="142829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Vest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396243C-43AC-8BF5-13F8-29A39B83C05F}"/>
              </a:ext>
            </a:extLst>
          </p:cNvPr>
          <p:cNvSpPr/>
          <p:nvPr/>
        </p:nvSpPr>
        <p:spPr>
          <a:xfrm>
            <a:off x="5564120" y="5107088"/>
            <a:ext cx="505022" cy="142829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Top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068664A-89A3-F806-AA28-771943F31299}"/>
              </a:ext>
            </a:extLst>
          </p:cNvPr>
          <p:cNvSpPr/>
          <p:nvPr/>
        </p:nvSpPr>
        <p:spPr>
          <a:xfrm>
            <a:off x="6177444" y="4651551"/>
            <a:ext cx="50502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Down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D12ECD5-796F-04D8-1058-E23279CB3A85}"/>
              </a:ext>
            </a:extLst>
          </p:cNvPr>
          <p:cNvSpPr/>
          <p:nvPr/>
        </p:nvSpPr>
        <p:spPr>
          <a:xfrm>
            <a:off x="6177444" y="4878868"/>
            <a:ext cx="50502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Blended Insu.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CD8B98C-B840-F3BF-3323-DDD57DF03F4E}"/>
              </a:ext>
            </a:extLst>
          </p:cNvPr>
          <p:cNvSpPr/>
          <p:nvPr/>
        </p:nvSpPr>
        <p:spPr>
          <a:xfrm>
            <a:off x="6177444" y="5106185"/>
            <a:ext cx="50502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Padding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9EFD91B-E229-3AED-BBC3-453581A1F2EC}"/>
              </a:ext>
            </a:extLst>
          </p:cNvPr>
          <p:cNvSpPr/>
          <p:nvPr/>
        </p:nvSpPr>
        <p:spPr>
          <a:xfrm>
            <a:off x="6177444" y="5333503"/>
            <a:ext cx="50502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Fleece</a:t>
            </a:r>
          </a:p>
        </p:txBody>
      </p: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2363A62D-A678-F89E-AF47-3B41D5ABDAEB}"/>
              </a:ext>
            </a:extLst>
          </p:cNvPr>
          <p:cNvCxnSpPr>
            <a:cxnSpLocks/>
            <a:stCxn id="126" idx="3"/>
            <a:endCxn id="136" idx="1"/>
          </p:cNvCxnSpPr>
          <p:nvPr/>
        </p:nvCxnSpPr>
        <p:spPr>
          <a:xfrm>
            <a:off x="5447354" y="4722966"/>
            <a:ext cx="116766" cy="455537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31E33B3F-C41A-57E7-98C3-87168CCA286A}"/>
              </a:ext>
            </a:extLst>
          </p:cNvPr>
          <p:cNvCxnSpPr>
            <a:cxnSpLocks/>
            <a:stCxn id="126" idx="3"/>
            <a:endCxn id="134" idx="1"/>
          </p:cNvCxnSpPr>
          <p:nvPr/>
        </p:nvCxnSpPr>
        <p:spPr>
          <a:xfrm>
            <a:off x="5447354" y="4722966"/>
            <a:ext cx="116766" cy="22912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C11E52FD-239D-1862-BC18-EF9F24F309B7}"/>
              </a:ext>
            </a:extLst>
          </p:cNvPr>
          <p:cNvCxnSpPr>
            <a:cxnSpLocks/>
            <a:stCxn id="133" idx="3"/>
            <a:endCxn id="139" idx="1"/>
          </p:cNvCxnSpPr>
          <p:nvPr/>
        </p:nvCxnSpPr>
        <p:spPr>
          <a:xfrm>
            <a:off x="6069142" y="4722966"/>
            <a:ext cx="108302" cy="22731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594E198D-5EE8-D4EC-7DD1-253EC7EF669D}"/>
              </a:ext>
            </a:extLst>
          </p:cNvPr>
          <p:cNvCxnSpPr>
            <a:cxnSpLocks/>
            <a:stCxn id="133" idx="3"/>
            <a:endCxn id="140" idx="1"/>
          </p:cNvCxnSpPr>
          <p:nvPr/>
        </p:nvCxnSpPr>
        <p:spPr>
          <a:xfrm>
            <a:off x="6069142" y="4722966"/>
            <a:ext cx="108302" cy="45463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5B62D0D5-579C-FBB5-B612-BC78B62948E1}"/>
              </a:ext>
            </a:extLst>
          </p:cNvPr>
          <p:cNvCxnSpPr>
            <a:cxnSpLocks/>
            <a:stCxn id="133" idx="3"/>
            <a:endCxn id="141" idx="1"/>
          </p:cNvCxnSpPr>
          <p:nvPr/>
        </p:nvCxnSpPr>
        <p:spPr>
          <a:xfrm>
            <a:off x="6069142" y="4722966"/>
            <a:ext cx="108302" cy="68195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연결선: 꺾임 137">
            <a:extLst>
              <a:ext uri="{FF2B5EF4-FFF2-40B4-BE49-F238E27FC236}">
                <a16:creationId xmlns:a16="http://schemas.microsoft.com/office/drawing/2014/main" id="{6A702733-E12F-2001-7330-C199D6E66AAA}"/>
              </a:ext>
            </a:extLst>
          </p:cNvPr>
          <p:cNvCxnSpPr>
            <a:cxnSpLocks/>
            <a:stCxn id="126" idx="3"/>
            <a:endCxn id="133" idx="1"/>
          </p:cNvCxnSpPr>
          <p:nvPr/>
        </p:nvCxnSpPr>
        <p:spPr>
          <a:xfrm>
            <a:off x="5447354" y="4722966"/>
            <a:ext cx="116766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37">
            <a:extLst>
              <a:ext uri="{FF2B5EF4-FFF2-40B4-BE49-F238E27FC236}">
                <a16:creationId xmlns:a16="http://schemas.microsoft.com/office/drawing/2014/main" id="{BDE37039-B2D9-77D6-458D-BA985B3708E8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6069142" y="4722966"/>
            <a:ext cx="108302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2A04EC6C-91AA-CC93-5896-4ABE1DCA8378}"/>
              </a:ext>
            </a:extLst>
          </p:cNvPr>
          <p:cNvSpPr/>
          <p:nvPr/>
        </p:nvSpPr>
        <p:spPr>
          <a:xfrm>
            <a:off x="6949266" y="4646032"/>
            <a:ext cx="36576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Fabric Cat.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FDDEB49-07F4-4CE0-4B14-9D8C7C240202}"/>
              </a:ext>
            </a:extLst>
          </p:cNvPr>
          <p:cNvSpPr/>
          <p:nvPr/>
        </p:nvSpPr>
        <p:spPr>
          <a:xfrm>
            <a:off x="7389621" y="4646032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Subtype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ED87504E-F4FF-F1FA-63C5-B76C38614AF5}"/>
              </a:ext>
            </a:extLst>
          </p:cNvPr>
          <p:cNvSpPr/>
          <p:nvPr/>
        </p:nvSpPr>
        <p:spPr>
          <a:xfrm>
            <a:off x="7738536" y="4646032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Weave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AF5F1394-90B5-9EB3-53A6-E3F3050DBBB3}"/>
              </a:ext>
            </a:extLst>
          </p:cNvPr>
          <p:cNvSpPr/>
          <p:nvPr/>
        </p:nvSpPr>
        <p:spPr>
          <a:xfrm>
            <a:off x="8087451" y="4646032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Comp.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C59CBE9A-6585-072E-7987-4C2A5C41AFB3}"/>
              </a:ext>
            </a:extLst>
          </p:cNvPr>
          <p:cNvSpPr/>
          <p:nvPr/>
        </p:nvSpPr>
        <p:spPr>
          <a:xfrm>
            <a:off x="8436366" y="4646032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Density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78F45FF-A075-0E88-A296-9531D4C82985}"/>
              </a:ext>
            </a:extLst>
          </p:cNvPr>
          <p:cNvSpPr/>
          <p:nvPr/>
        </p:nvSpPr>
        <p:spPr>
          <a:xfrm>
            <a:off x="8785282" y="4646032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Weight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E599302-BCC4-25E5-52C0-33112E19F438}"/>
              </a:ext>
            </a:extLst>
          </p:cNvPr>
          <p:cNvSpPr/>
          <p:nvPr/>
        </p:nvSpPr>
        <p:spPr>
          <a:xfrm>
            <a:off x="4841400" y="5580910"/>
            <a:ext cx="2536489" cy="3185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Text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정보 배제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Code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Spec 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A057BB32-2C5F-7713-AAE9-33A0327B5128}"/>
              </a:ext>
            </a:extLst>
          </p:cNvPr>
          <p:cNvSpPr/>
          <p:nvPr/>
        </p:nvSpPr>
        <p:spPr>
          <a:xfrm>
            <a:off x="6949266" y="4463152"/>
            <a:ext cx="36576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Char1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CF872CF-61F9-4AB9-ADA1-2CFC553CCEA1}"/>
              </a:ext>
            </a:extLst>
          </p:cNvPr>
          <p:cNvSpPr/>
          <p:nvPr/>
        </p:nvSpPr>
        <p:spPr>
          <a:xfrm>
            <a:off x="7389621" y="4463152"/>
            <a:ext cx="27432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Char2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CF8A3FB6-62ED-EA70-88A2-1931166BA1A0}"/>
              </a:ext>
            </a:extLst>
          </p:cNvPr>
          <p:cNvSpPr/>
          <p:nvPr/>
        </p:nvSpPr>
        <p:spPr>
          <a:xfrm>
            <a:off x="7738536" y="4463152"/>
            <a:ext cx="27432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Char3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3BC8527-1025-F432-5566-FF132069BE84}"/>
              </a:ext>
            </a:extLst>
          </p:cNvPr>
          <p:cNvSpPr/>
          <p:nvPr/>
        </p:nvSpPr>
        <p:spPr>
          <a:xfrm>
            <a:off x="8087451" y="4463152"/>
            <a:ext cx="27432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Char4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C04D42F-86EB-12C1-D700-DA43E770E9A8}"/>
              </a:ext>
            </a:extLst>
          </p:cNvPr>
          <p:cNvSpPr/>
          <p:nvPr/>
        </p:nvSpPr>
        <p:spPr>
          <a:xfrm>
            <a:off x="8436366" y="4463152"/>
            <a:ext cx="27432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Char5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EF6BA87-89C5-843C-7FEF-07D3D8630297}"/>
              </a:ext>
            </a:extLst>
          </p:cNvPr>
          <p:cNvSpPr/>
          <p:nvPr/>
        </p:nvSpPr>
        <p:spPr>
          <a:xfrm>
            <a:off x="8785282" y="4463152"/>
            <a:ext cx="274320" cy="1428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Char6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12269E01-CF75-FDB0-BDF0-D8F7B9CD9C74}"/>
              </a:ext>
            </a:extLst>
          </p:cNvPr>
          <p:cNvSpPr/>
          <p:nvPr/>
        </p:nvSpPr>
        <p:spPr>
          <a:xfrm>
            <a:off x="6949266" y="4878868"/>
            <a:ext cx="36576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Fabric Cat.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7876E4E7-D7C0-F791-6E44-0AB26B9F1FF0}"/>
              </a:ext>
            </a:extLst>
          </p:cNvPr>
          <p:cNvSpPr/>
          <p:nvPr/>
        </p:nvSpPr>
        <p:spPr>
          <a:xfrm>
            <a:off x="7389621" y="4878868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Subtype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4529E7B2-E1FF-0196-0D65-060461C5F4D9}"/>
              </a:ext>
            </a:extLst>
          </p:cNvPr>
          <p:cNvSpPr/>
          <p:nvPr/>
        </p:nvSpPr>
        <p:spPr>
          <a:xfrm>
            <a:off x="7738536" y="4878868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O/S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2BFEB2AB-D69E-94AE-E0CE-EDDEEB9FC974}"/>
              </a:ext>
            </a:extLst>
          </p:cNvPr>
          <p:cNvSpPr/>
          <p:nvPr/>
        </p:nvSpPr>
        <p:spPr>
          <a:xfrm>
            <a:off x="6949266" y="5106186"/>
            <a:ext cx="36576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Fabric Cat.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5D0A0DD1-3B08-094D-9272-9D7D34F51EF6}"/>
              </a:ext>
            </a:extLst>
          </p:cNvPr>
          <p:cNvSpPr/>
          <p:nvPr/>
        </p:nvSpPr>
        <p:spPr>
          <a:xfrm>
            <a:off x="7389621" y="5106186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Subtype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83142FF-423E-9134-D0E5-C39693412FED}"/>
              </a:ext>
            </a:extLst>
          </p:cNvPr>
          <p:cNvSpPr/>
          <p:nvPr/>
        </p:nvSpPr>
        <p:spPr>
          <a:xfrm>
            <a:off x="7738536" y="5106186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Weight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390B771-27D9-4552-D37D-63E7FC98520A}"/>
              </a:ext>
            </a:extLst>
          </p:cNvPr>
          <p:cNvSpPr/>
          <p:nvPr/>
        </p:nvSpPr>
        <p:spPr>
          <a:xfrm>
            <a:off x="6949266" y="5333503"/>
            <a:ext cx="36576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Subtype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2A45C28-29D6-5B07-0718-244C417FE876}"/>
              </a:ext>
            </a:extLst>
          </p:cNvPr>
          <p:cNvSpPr/>
          <p:nvPr/>
        </p:nvSpPr>
        <p:spPr>
          <a:xfrm>
            <a:off x="7389621" y="5333503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Length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A3383CD8-0017-0CBD-FB0F-3644DD9E6A12}"/>
              </a:ext>
            </a:extLst>
          </p:cNvPr>
          <p:cNvSpPr/>
          <p:nvPr/>
        </p:nvSpPr>
        <p:spPr>
          <a:xfrm>
            <a:off x="7738536" y="5333503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Shape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C669392B-EC40-2E93-E317-ECD7BA222639}"/>
              </a:ext>
            </a:extLst>
          </p:cNvPr>
          <p:cNvSpPr/>
          <p:nvPr/>
        </p:nvSpPr>
        <p:spPr>
          <a:xfrm>
            <a:off x="8087451" y="5333503"/>
            <a:ext cx="274320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Dimm</a:t>
            </a: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28C292E-9E96-D551-241A-620CCADC9730}"/>
              </a:ext>
            </a:extLst>
          </p:cNvPr>
          <p:cNvSpPr/>
          <p:nvPr/>
        </p:nvSpPr>
        <p:spPr>
          <a:xfrm>
            <a:off x="5288043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</a:rPr>
              <a:t>To-Be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B52AD5C-9729-D0A4-3403-DAD11E4CEA52}"/>
              </a:ext>
            </a:extLst>
          </p:cNvPr>
          <p:cNvSpPr/>
          <p:nvPr/>
        </p:nvSpPr>
        <p:spPr>
          <a:xfrm>
            <a:off x="4822986" y="1732554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[ Buyer </a:t>
            </a:r>
            <a:r>
              <a:rPr lang="ko-KR" altLang="en-US" sz="1100" b="1" dirty="0">
                <a:solidFill>
                  <a:schemeClr val="bg1"/>
                </a:solidFill>
              </a:rPr>
              <a:t>정보 </a:t>
            </a:r>
            <a:r>
              <a:rPr lang="en-US" altLang="ko-KR" sz="1100" b="1" dirty="0">
                <a:solidFill>
                  <a:schemeClr val="bg1"/>
                </a:solidFill>
              </a:rPr>
              <a:t>Code</a:t>
            </a:r>
            <a:r>
              <a:rPr lang="ko-KR" altLang="en-US" sz="1100" b="1" dirty="0">
                <a:solidFill>
                  <a:schemeClr val="bg1"/>
                </a:solidFill>
              </a:rPr>
              <a:t>化 → 계획 및 분석 연계 </a:t>
            </a:r>
            <a:r>
              <a:rPr lang="en-US" altLang="ko-KR" sz="1100" b="1" dirty="0">
                <a:solidFill>
                  <a:schemeClr val="bg1"/>
                </a:solidFill>
              </a:rPr>
              <a:t>]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45CB703-5339-1E1F-6170-D6F9C370B6FD}"/>
              </a:ext>
            </a:extLst>
          </p:cNvPr>
          <p:cNvSpPr/>
          <p:nvPr/>
        </p:nvSpPr>
        <p:spPr>
          <a:xfrm>
            <a:off x="5866511" y="2915134"/>
            <a:ext cx="2196246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14 Characters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0CED56C-E9B4-4A2B-75F3-A795F8024803}"/>
              </a:ext>
            </a:extLst>
          </p:cNvPr>
          <p:cNvSpPr/>
          <p:nvPr/>
        </p:nvSpPr>
        <p:spPr>
          <a:xfrm>
            <a:off x="4962433" y="3200918"/>
            <a:ext cx="2889330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Buyer / Style Code</a:t>
            </a:r>
            <a:r>
              <a:rPr lang="ko-KR" altLang="en-US" sz="1000" b="1" dirty="0">
                <a:solidFill>
                  <a:schemeClr val="tx1"/>
                </a:solidFill>
              </a:rPr>
              <a:t> 포함 </a:t>
            </a:r>
            <a:r>
              <a:rPr lang="ko-KR" altLang="en-US" sz="1000" b="1" dirty="0" err="1">
                <a:solidFill>
                  <a:schemeClr val="tx1"/>
                </a:solidFill>
              </a:rPr>
              <a:t>유의미</a:t>
            </a:r>
            <a:r>
              <a:rPr lang="ko-KR" altLang="en-US" sz="1000" b="1" dirty="0">
                <a:solidFill>
                  <a:schemeClr val="tx1"/>
                </a:solidFill>
              </a:rPr>
              <a:t> 번호체계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</a:rPr>
              <a:t>Code </a:t>
            </a:r>
            <a:r>
              <a:rPr lang="ko-KR" altLang="en-US" sz="1000" b="1" dirty="0">
                <a:solidFill>
                  <a:schemeClr val="tx1"/>
                </a:solidFill>
              </a:rPr>
              <a:t>별 의미 파생 활용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실적분석</a:t>
            </a:r>
            <a:r>
              <a:rPr lang="en-US" altLang="ko-KR" sz="1000" b="1" dirty="0">
                <a:solidFill>
                  <a:schemeClr val="tx1"/>
                </a:solidFill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</a:rPr>
              <a:t>계획관리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1E8BF70-7166-6B45-75CC-054CBA0CB2AA}"/>
              </a:ext>
            </a:extLst>
          </p:cNvPr>
          <p:cNvSpPr/>
          <p:nvPr/>
        </p:nvSpPr>
        <p:spPr>
          <a:xfrm>
            <a:off x="4823460" y="2142523"/>
            <a:ext cx="4276344" cy="100601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spc="-100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A944AEC-9773-8F30-4EA9-085B44F4A475}"/>
              </a:ext>
            </a:extLst>
          </p:cNvPr>
          <p:cNvSpPr/>
          <p:nvPr/>
        </p:nvSpPr>
        <p:spPr>
          <a:xfrm>
            <a:off x="5138592" y="2216911"/>
            <a:ext cx="182880" cy="3657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85473686-0849-BB16-3ADE-2A86DD14188E}"/>
              </a:ext>
            </a:extLst>
          </p:cNvPr>
          <p:cNvSpPr/>
          <p:nvPr/>
        </p:nvSpPr>
        <p:spPr>
          <a:xfrm>
            <a:off x="5628968" y="2216911"/>
            <a:ext cx="182880" cy="3657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9CAE577-BFD5-DD25-822F-9F1306196D06}"/>
              </a:ext>
            </a:extLst>
          </p:cNvPr>
          <p:cNvSpPr/>
          <p:nvPr/>
        </p:nvSpPr>
        <p:spPr>
          <a:xfrm>
            <a:off x="5891252" y="2216911"/>
            <a:ext cx="182880" cy="3657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EFDD2C1-D9B7-10AF-5594-0D72EE6DD499}"/>
              </a:ext>
            </a:extLst>
          </p:cNvPr>
          <p:cNvSpPr/>
          <p:nvPr/>
        </p:nvSpPr>
        <p:spPr>
          <a:xfrm>
            <a:off x="6415820" y="2216911"/>
            <a:ext cx="182880" cy="3657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7CF6C90-97E8-496F-6071-29CDBDE56E8E}"/>
              </a:ext>
            </a:extLst>
          </p:cNvPr>
          <p:cNvSpPr/>
          <p:nvPr/>
        </p:nvSpPr>
        <p:spPr>
          <a:xfrm>
            <a:off x="7464956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870362A7-BC1C-82F0-CA74-EC0AC1B6CD51}"/>
              </a:ext>
            </a:extLst>
          </p:cNvPr>
          <p:cNvSpPr/>
          <p:nvPr/>
        </p:nvSpPr>
        <p:spPr>
          <a:xfrm>
            <a:off x="7731430" y="2216911"/>
            <a:ext cx="18288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4317BAC-6A69-6754-7E2A-D749BEDF2FDD}"/>
              </a:ext>
            </a:extLst>
          </p:cNvPr>
          <p:cNvSpPr/>
          <p:nvPr/>
        </p:nvSpPr>
        <p:spPr>
          <a:xfrm>
            <a:off x="8514092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4B6FD536-A508-49A3-962E-C52445C7E638}"/>
              </a:ext>
            </a:extLst>
          </p:cNvPr>
          <p:cNvSpPr/>
          <p:nvPr/>
        </p:nvSpPr>
        <p:spPr>
          <a:xfrm>
            <a:off x="6153536" y="2216911"/>
            <a:ext cx="182880" cy="3657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6D9C6C9-06D4-A4A4-BF28-740F0C2A6DDB}"/>
              </a:ext>
            </a:extLst>
          </p:cNvPr>
          <p:cNvSpPr/>
          <p:nvPr/>
        </p:nvSpPr>
        <p:spPr>
          <a:xfrm>
            <a:off x="6678104" y="2216911"/>
            <a:ext cx="182880" cy="3657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S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5A024424-0294-DAAB-CC27-21D36C548EFC}"/>
              </a:ext>
            </a:extLst>
          </p:cNvPr>
          <p:cNvSpPr/>
          <p:nvPr/>
        </p:nvSpPr>
        <p:spPr>
          <a:xfrm>
            <a:off x="7202672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1DDFCE6-9B83-30E7-A478-29F063B5F57C}"/>
              </a:ext>
            </a:extLst>
          </p:cNvPr>
          <p:cNvSpPr/>
          <p:nvPr/>
        </p:nvSpPr>
        <p:spPr>
          <a:xfrm>
            <a:off x="8251808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AAC05423-2399-AFEC-EE74-4B52B9CE0124}"/>
              </a:ext>
            </a:extLst>
          </p:cNvPr>
          <p:cNvSpPr/>
          <p:nvPr/>
        </p:nvSpPr>
        <p:spPr>
          <a:xfrm>
            <a:off x="8776381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9D7D7059-127F-C93D-1613-B5DA2634AA7A}"/>
              </a:ext>
            </a:extLst>
          </p:cNvPr>
          <p:cNvCxnSpPr>
            <a:cxnSpLocks/>
          </p:cNvCxnSpPr>
          <p:nvPr/>
        </p:nvCxnSpPr>
        <p:spPr>
          <a:xfrm>
            <a:off x="4942332" y="2634251"/>
            <a:ext cx="587911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2FCB29D4-74E4-A378-14ED-CF5F29F5AEFF}"/>
              </a:ext>
            </a:extLst>
          </p:cNvPr>
          <p:cNvCxnSpPr>
            <a:cxnSpLocks/>
          </p:cNvCxnSpPr>
          <p:nvPr/>
        </p:nvCxnSpPr>
        <p:spPr>
          <a:xfrm>
            <a:off x="5628968" y="2634251"/>
            <a:ext cx="445164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B2381D19-3936-7FD2-84C7-8519BD1A7225}"/>
              </a:ext>
            </a:extLst>
          </p:cNvPr>
          <p:cNvCxnSpPr>
            <a:cxnSpLocks/>
          </p:cNvCxnSpPr>
          <p:nvPr/>
        </p:nvCxnSpPr>
        <p:spPr>
          <a:xfrm>
            <a:off x="6153536" y="2634251"/>
            <a:ext cx="707448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8737DE39-73BF-FF64-D299-B5F50DEAA36B}"/>
              </a:ext>
            </a:extLst>
          </p:cNvPr>
          <p:cNvCxnSpPr>
            <a:cxnSpLocks/>
          </p:cNvCxnSpPr>
          <p:nvPr/>
        </p:nvCxnSpPr>
        <p:spPr>
          <a:xfrm>
            <a:off x="6951289" y="2634251"/>
            <a:ext cx="723174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9803A9DF-8E96-973D-4C87-6B26836BC9A1}"/>
              </a:ext>
            </a:extLst>
          </p:cNvPr>
          <p:cNvCxnSpPr>
            <a:cxnSpLocks/>
          </p:cNvCxnSpPr>
          <p:nvPr/>
        </p:nvCxnSpPr>
        <p:spPr>
          <a:xfrm flipV="1">
            <a:off x="8012856" y="2634251"/>
            <a:ext cx="960075" cy="1128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AB5779BF-E80C-9B42-6924-25FDAE836564}"/>
              </a:ext>
            </a:extLst>
          </p:cNvPr>
          <p:cNvSpPr/>
          <p:nvPr/>
        </p:nvSpPr>
        <p:spPr>
          <a:xfrm>
            <a:off x="8005561" y="2660161"/>
            <a:ext cx="932745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Color Code(4)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B9A12678-E8B6-D3BC-32E6-1B8FCC631FF5}"/>
              </a:ext>
            </a:extLst>
          </p:cNvPr>
          <p:cNvSpPr/>
          <p:nvPr/>
        </p:nvSpPr>
        <p:spPr>
          <a:xfrm>
            <a:off x="6966761" y="2660161"/>
            <a:ext cx="669198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Style(3)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4EBBBC04-5A0C-6DEF-BED4-DDC965F860D8}"/>
              </a:ext>
            </a:extLst>
          </p:cNvPr>
          <p:cNvSpPr/>
          <p:nvPr/>
        </p:nvSpPr>
        <p:spPr>
          <a:xfrm>
            <a:off x="6177753" y="2660161"/>
            <a:ext cx="669198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Season(3)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4C58C14-3243-D861-390D-0F5F09C20620}"/>
              </a:ext>
            </a:extLst>
          </p:cNvPr>
          <p:cNvSpPr/>
          <p:nvPr/>
        </p:nvSpPr>
        <p:spPr>
          <a:xfrm>
            <a:off x="5553200" y="2660161"/>
            <a:ext cx="669198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Buyer(2)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FCE815FC-7B2E-8CAB-77C9-5AD50625117E}"/>
              </a:ext>
            </a:extLst>
          </p:cNvPr>
          <p:cNvSpPr/>
          <p:nvPr/>
        </p:nvSpPr>
        <p:spPr>
          <a:xfrm>
            <a:off x="4889919" y="2660161"/>
            <a:ext cx="669198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Business</a:t>
            </a: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Unit (1)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7BE698A-C2B7-1ED8-F604-6976FEB73043}"/>
              </a:ext>
            </a:extLst>
          </p:cNvPr>
          <p:cNvSpPr/>
          <p:nvPr/>
        </p:nvSpPr>
        <p:spPr>
          <a:xfrm>
            <a:off x="6957968" y="2216112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213308DC-1D3B-4F01-8DDD-2839B4B55BE3}"/>
              </a:ext>
            </a:extLst>
          </p:cNvPr>
          <p:cNvSpPr/>
          <p:nvPr/>
        </p:nvSpPr>
        <p:spPr>
          <a:xfrm>
            <a:off x="8005561" y="2216911"/>
            <a:ext cx="182880" cy="365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5605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영업관리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24" name="Text Box 15">
            <a:extLst>
              <a:ext uri="{FF2B5EF4-FFF2-40B4-BE49-F238E27FC236}">
                <a16:creationId xmlns:a16="http://schemas.microsoft.com/office/drawing/2014/main" id="{762E5728-56CF-4C3A-A42F-08D3DCABF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법인간 거래구조의 단순화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및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영업정보 추적가능성 확보를 통해 관리 용이성을 확보하고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생산 및 구매조달 관리에 필요한 세부정보를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Sales Order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에 조기 입력관리 하여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System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기반 업무 체계 구축을 목표로 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D553C2-A473-4284-9B86-A57F7B9576D7}"/>
              </a:ext>
            </a:extLst>
          </p:cNvPr>
          <p:cNvSpPr/>
          <p:nvPr/>
        </p:nvSpPr>
        <p:spPr>
          <a:xfrm>
            <a:off x="614113" y="1732554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Transaction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22B024-92B5-D0C9-0737-4F01BFE3AE6D}"/>
              </a:ext>
            </a:extLst>
          </p:cNvPr>
          <p:cNvSpPr/>
          <p:nvPr/>
        </p:nvSpPr>
        <p:spPr>
          <a:xfrm>
            <a:off x="614112" y="3870959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Sales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Order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8FF3A7-6BE4-53C4-D265-F30539C8AC2F}"/>
              </a:ext>
            </a:extLst>
          </p:cNvPr>
          <p:cNvSpPr/>
          <p:nvPr/>
        </p:nvSpPr>
        <p:spPr>
          <a:xfrm>
            <a:off x="1571244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529165-3195-2382-31AD-59F3DF49DE68}"/>
              </a:ext>
            </a:extLst>
          </p:cNvPr>
          <p:cNvSpPr/>
          <p:nvPr/>
        </p:nvSpPr>
        <p:spPr>
          <a:xfrm>
            <a:off x="5288043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To-Be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ADC1AA2-5A7A-932B-6691-5AB883B4B3C4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영업 업무 표준화 단순화를 통해 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 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 후속업무 수행 체계 수립</a:t>
            </a:r>
            <a:endParaRPr kumimoji="0" lang="en-US" altLang="ko-KR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A110600-5A98-8B16-9673-007DBC8CF750}"/>
              </a:ext>
            </a:extLst>
          </p:cNvPr>
          <p:cNvSpPr/>
          <p:nvPr/>
        </p:nvSpPr>
        <p:spPr>
          <a:xfrm>
            <a:off x="4822986" y="1732554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관계사 거래 단순화 및 추적용이성 확보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F9A5376-DEDF-1612-934A-D30BEADBF5F6}"/>
              </a:ext>
            </a:extLst>
          </p:cNvPr>
          <p:cNvSpPr/>
          <p:nvPr/>
        </p:nvSpPr>
        <p:spPr>
          <a:xfrm>
            <a:off x="4822986" y="3870959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Sales Order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체계 수립 및 후속업무 연계 기반 확보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95FDDC1-02A4-CF2E-D1B1-F0F166DB57D0}"/>
              </a:ext>
            </a:extLst>
          </p:cNvPr>
          <p:cNvSpPr/>
          <p:nvPr/>
        </p:nvSpPr>
        <p:spPr>
          <a:xfrm>
            <a:off x="1612532" y="1732554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법인간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법인내 매출 거래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907C05E-486C-CC84-0AD3-D58F8D073C53}"/>
              </a:ext>
            </a:extLst>
          </p:cNvPr>
          <p:cNvSpPr/>
          <p:nvPr/>
        </p:nvSpPr>
        <p:spPr>
          <a:xfrm>
            <a:off x="1610704" y="3870959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Buyer PO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정보 누락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7A0778-31E1-CB50-8567-08BE6E0A7F43}"/>
              </a:ext>
            </a:extLst>
          </p:cNvPr>
          <p:cNvSpPr/>
          <p:nvPr/>
        </p:nvSpPr>
        <p:spPr>
          <a:xfrm>
            <a:off x="1609419" y="2026919"/>
            <a:ext cx="1027101" cy="11216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HQ ]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4D1E34-7D17-3BEE-D13B-9512D264E987}"/>
              </a:ext>
            </a:extLst>
          </p:cNvPr>
          <p:cNvSpPr/>
          <p:nvPr/>
        </p:nvSpPr>
        <p:spPr>
          <a:xfrm>
            <a:off x="6465043" y="2036073"/>
            <a:ext cx="2671337" cy="11216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생산법인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D3F92C-FED9-6A40-61AB-3CECF88E8253}"/>
              </a:ext>
            </a:extLst>
          </p:cNvPr>
          <p:cNvSpPr/>
          <p:nvPr/>
        </p:nvSpPr>
        <p:spPr>
          <a:xfrm>
            <a:off x="1609419" y="3200918"/>
            <a:ext cx="2711122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관계사 거래 추적을 위한 관리 필요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(PO-SO)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법인내 불필요 거래 발생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0F6507-0641-9E48-29E7-CBF0FAE4D879}"/>
              </a:ext>
            </a:extLst>
          </p:cNvPr>
          <p:cNvSpPr/>
          <p:nvPr/>
        </p:nvSpPr>
        <p:spPr>
          <a:xfrm>
            <a:off x="1682441" y="2306305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SO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C3C4BD-B518-A874-D673-87A1D3934FF9}"/>
              </a:ext>
            </a:extLst>
          </p:cNvPr>
          <p:cNvSpPr/>
          <p:nvPr/>
        </p:nvSpPr>
        <p:spPr>
          <a:xfrm>
            <a:off x="2787341" y="2306305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SO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015E7E0-C696-0D55-6E16-805FA3E5715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048201" y="2380428"/>
            <a:ext cx="73914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82DBA8-D98C-D746-294D-194426F1DA61}"/>
              </a:ext>
            </a:extLst>
          </p:cNvPr>
          <p:cNvSpPr/>
          <p:nvPr/>
        </p:nvSpPr>
        <p:spPr>
          <a:xfrm>
            <a:off x="2182340" y="2306305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PO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D72F61-2CB8-1ED9-D068-E18260EEF003}"/>
              </a:ext>
            </a:extLst>
          </p:cNvPr>
          <p:cNvSpPr/>
          <p:nvPr/>
        </p:nvSpPr>
        <p:spPr>
          <a:xfrm>
            <a:off x="2787341" y="2522761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GI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8BE59F-186F-940B-0930-4402E9AFC240}"/>
              </a:ext>
            </a:extLst>
          </p:cNvPr>
          <p:cNvSpPr/>
          <p:nvPr/>
        </p:nvSpPr>
        <p:spPr>
          <a:xfrm>
            <a:off x="2182340" y="2522761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GR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88F930-10FA-899E-208A-1BFA4894A35C}"/>
              </a:ext>
            </a:extLst>
          </p:cNvPr>
          <p:cNvSpPr/>
          <p:nvPr/>
        </p:nvSpPr>
        <p:spPr>
          <a:xfrm>
            <a:off x="1682441" y="2884983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Billing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357CBAC-E494-7596-F4FD-CE1F79C7B3DC}"/>
              </a:ext>
            </a:extLst>
          </p:cNvPr>
          <p:cNvSpPr/>
          <p:nvPr/>
        </p:nvSpPr>
        <p:spPr>
          <a:xfrm>
            <a:off x="2182340" y="2884983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I/V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4D6644-3F7F-54C0-B795-29AFB0EEA4C5}"/>
              </a:ext>
            </a:extLst>
          </p:cNvPr>
          <p:cNvSpPr/>
          <p:nvPr/>
        </p:nvSpPr>
        <p:spPr>
          <a:xfrm>
            <a:off x="2787341" y="2884982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Billing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BA7BF5A-975E-77BE-259D-828E721E65FA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>
            <a:off x="2970221" y="2454550"/>
            <a:ext cx="0" cy="6821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7807FC4-FE92-470F-AC30-6FFDA613F5B9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2548100" y="2959105"/>
            <a:ext cx="239241" cy="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6B07B67-C98E-F76A-A440-3A3CF0B194E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>
            <a:off x="2548100" y="2596884"/>
            <a:ext cx="239241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F845E17-AC5F-F250-70B2-1576FAD8C90E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1865321" y="2454550"/>
            <a:ext cx="0" cy="43043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3923AE-E9F4-59A5-62FB-4932387D4881}"/>
              </a:ext>
            </a:extLst>
          </p:cNvPr>
          <p:cNvSpPr/>
          <p:nvPr/>
        </p:nvSpPr>
        <p:spPr>
          <a:xfrm>
            <a:off x="1682441" y="2695071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GI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708D88-1EC7-CFB0-0D1B-C8101F56CF50}"/>
              </a:ext>
            </a:extLst>
          </p:cNvPr>
          <p:cNvSpPr/>
          <p:nvPr/>
        </p:nvSpPr>
        <p:spPr>
          <a:xfrm>
            <a:off x="3231513" y="2380429"/>
            <a:ext cx="460377" cy="66100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[Garment]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9787ECA-20BD-8A32-C091-217C9C893007}"/>
              </a:ext>
            </a:extLst>
          </p:cNvPr>
          <p:cNvSpPr/>
          <p:nvPr/>
        </p:nvSpPr>
        <p:spPr>
          <a:xfrm>
            <a:off x="3758834" y="2380429"/>
            <a:ext cx="460377" cy="66100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[Padding]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714306F-363C-4C59-8C7C-B45A1466F7F1}"/>
              </a:ext>
            </a:extLst>
          </p:cNvPr>
          <p:cNvSpPr/>
          <p:nvPr/>
        </p:nvSpPr>
        <p:spPr>
          <a:xfrm>
            <a:off x="3806142" y="2595257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SO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F2037E7-3159-7F32-3517-23AC4829E3C5}"/>
              </a:ext>
            </a:extLst>
          </p:cNvPr>
          <p:cNvSpPr/>
          <p:nvPr/>
        </p:nvSpPr>
        <p:spPr>
          <a:xfrm>
            <a:off x="3278821" y="2595257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PO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A5A3989-0FD0-E8C5-B428-A30A31645581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3644581" y="2669380"/>
            <a:ext cx="161561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FF403FD-9C7F-4D5A-5CB5-CE51BA68CD33}"/>
              </a:ext>
            </a:extLst>
          </p:cNvPr>
          <p:cNvSpPr/>
          <p:nvPr/>
        </p:nvSpPr>
        <p:spPr>
          <a:xfrm>
            <a:off x="4835941" y="2029966"/>
            <a:ext cx="1440117" cy="11216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HQ ]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045E071-1FC2-A530-D5A6-2A35252307B6}"/>
              </a:ext>
            </a:extLst>
          </p:cNvPr>
          <p:cNvSpPr/>
          <p:nvPr/>
        </p:nvSpPr>
        <p:spPr>
          <a:xfrm>
            <a:off x="2709542" y="2026919"/>
            <a:ext cx="1560501" cy="11216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생산법인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FF147FF-D0A2-3D47-0C79-7AC72A845C95}"/>
              </a:ext>
            </a:extLst>
          </p:cNvPr>
          <p:cNvSpPr/>
          <p:nvPr/>
        </p:nvSpPr>
        <p:spPr>
          <a:xfrm>
            <a:off x="5185159" y="2289056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SO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DBAF4C9-CB38-1E3B-D25E-52675D8186D0}"/>
              </a:ext>
            </a:extLst>
          </p:cNvPr>
          <p:cNvSpPr/>
          <p:nvPr/>
        </p:nvSpPr>
        <p:spPr>
          <a:xfrm>
            <a:off x="5185159" y="2867734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Billing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687E6DA-166C-6B42-F77A-2F77C86C6720}"/>
              </a:ext>
            </a:extLst>
          </p:cNvPr>
          <p:cNvSpPr/>
          <p:nvPr/>
        </p:nvSpPr>
        <p:spPr>
          <a:xfrm>
            <a:off x="6587903" y="2578395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GI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259E687-5A06-19C6-C092-48BC2A239AAB}"/>
              </a:ext>
            </a:extLst>
          </p:cNvPr>
          <p:cNvSpPr/>
          <p:nvPr/>
        </p:nvSpPr>
        <p:spPr>
          <a:xfrm>
            <a:off x="5697210" y="2865703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I/V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01F3C34-057B-2C17-4DAE-6C3225E2C95F}"/>
              </a:ext>
            </a:extLst>
          </p:cNvPr>
          <p:cNvSpPr/>
          <p:nvPr/>
        </p:nvSpPr>
        <p:spPr>
          <a:xfrm>
            <a:off x="6587903" y="2865702"/>
            <a:ext cx="365760" cy="1482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Billing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A2BEEC7-F5AA-EF6F-4EB0-BA90E76EA587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>
            <a:off x="5550919" y="2363179"/>
            <a:ext cx="1219864" cy="21521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58">
            <a:extLst>
              <a:ext uri="{FF2B5EF4-FFF2-40B4-BE49-F238E27FC236}">
                <a16:creationId xmlns:a16="http://schemas.microsoft.com/office/drawing/2014/main" id="{22639D42-9DFB-7E40-B1B3-BFA9FD4AC072}"/>
              </a:ext>
            </a:extLst>
          </p:cNvPr>
          <p:cNvCxnSpPr>
            <a:cxnSpLocks/>
            <a:stCxn id="56" idx="1"/>
            <a:endCxn id="55" idx="0"/>
          </p:cNvCxnSpPr>
          <p:nvPr/>
        </p:nvCxnSpPr>
        <p:spPr>
          <a:xfrm rot="10800000" flipV="1">
            <a:off x="5368039" y="2652518"/>
            <a:ext cx="1219864" cy="21521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58">
            <a:extLst>
              <a:ext uri="{FF2B5EF4-FFF2-40B4-BE49-F238E27FC236}">
                <a16:creationId xmlns:a16="http://schemas.microsoft.com/office/drawing/2014/main" id="{B3D4B51C-C52A-5117-C7EB-AA045CEE76E7}"/>
              </a:ext>
            </a:extLst>
          </p:cNvPr>
          <p:cNvCxnSpPr>
            <a:cxnSpLocks/>
            <a:stCxn id="56" idx="1"/>
            <a:endCxn id="57" idx="0"/>
          </p:cNvCxnSpPr>
          <p:nvPr/>
        </p:nvCxnSpPr>
        <p:spPr>
          <a:xfrm rot="10800000" flipV="1">
            <a:off x="5880091" y="2652517"/>
            <a:ext cx="707813" cy="213185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713EE979-6F3B-8982-DEBA-BDEFDBA82EA3}"/>
              </a:ext>
            </a:extLst>
          </p:cNvPr>
          <p:cNvCxnSpPr>
            <a:cxnSpLocks/>
            <a:stCxn id="58" idx="0"/>
            <a:endCxn id="56" idx="2"/>
          </p:cNvCxnSpPr>
          <p:nvPr/>
        </p:nvCxnSpPr>
        <p:spPr>
          <a:xfrm flipV="1">
            <a:off x="6770783" y="2726640"/>
            <a:ext cx="0" cy="139062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D9F11AD-F1B4-FD11-628F-DED219F51009}"/>
              </a:ext>
            </a:extLst>
          </p:cNvPr>
          <p:cNvSpPr/>
          <p:nvPr/>
        </p:nvSpPr>
        <p:spPr>
          <a:xfrm>
            <a:off x="7308883" y="2249424"/>
            <a:ext cx="743147" cy="83515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[Garment]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6D0235C-0A00-15C5-2D43-65372AFCC8E1}"/>
              </a:ext>
            </a:extLst>
          </p:cNvPr>
          <p:cNvSpPr/>
          <p:nvPr/>
        </p:nvSpPr>
        <p:spPr>
          <a:xfrm>
            <a:off x="8222631" y="2249424"/>
            <a:ext cx="743147" cy="83515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[Padding]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0CBC1D2-3040-9EDD-5439-F29E219BFF36}"/>
              </a:ext>
            </a:extLst>
          </p:cNvPr>
          <p:cNvSpPr/>
          <p:nvPr/>
        </p:nvSpPr>
        <p:spPr>
          <a:xfrm>
            <a:off x="8313537" y="2454035"/>
            <a:ext cx="578885" cy="2894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Material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Move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B511765-A2BD-1C4D-4FCE-61255DCAD3B2}"/>
              </a:ext>
            </a:extLst>
          </p:cNvPr>
          <p:cNvSpPr/>
          <p:nvPr/>
        </p:nvSpPr>
        <p:spPr>
          <a:xfrm>
            <a:off x="3806142" y="2833001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Billing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AAD6251-7071-A3CC-1083-EAA184BEB706}"/>
              </a:ext>
            </a:extLst>
          </p:cNvPr>
          <p:cNvSpPr/>
          <p:nvPr/>
        </p:nvSpPr>
        <p:spPr>
          <a:xfrm>
            <a:off x="3278821" y="2833001"/>
            <a:ext cx="365760" cy="1482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I/V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7D188234-9CA6-64B9-C4AD-174E5404EE0E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>
          <a:xfrm>
            <a:off x="3644581" y="2907124"/>
            <a:ext cx="161561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3679374-1C44-C7FA-C580-3FC1CB08EDDA}"/>
              </a:ext>
            </a:extLst>
          </p:cNvPr>
          <p:cNvSpPr/>
          <p:nvPr/>
        </p:nvSpPr>
        <p:spPr>
          <a:xfrm>
            <a:off x="7399757" y="2858569"/>
            <a:ext cx="578885" cy="1643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Qty, Amt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71B2619-61C5-5B64-D003-17EDF46588EB}"/>
              </a:ext>
            </a:extLst>
          </p:cNvPr>
          <p:cNvSpPr/>
          <p:nvPr/>
        </p:nvSpPr>
        <p:spPr>
          <a:xfrm>
            <a:off x="8313537" y="2852980"/>
            <a:ext cx="578885" cy="1643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Profit</a:t>
            </a:r>
          </a:p>
        </p:txBody>
      </p:sp>
      <p:cxnSp>
        <p:nvCxnSpPr>
          <p:cNvPr id="88" name="직선 연결선 58">
            <a:extLst>
              <a:ext uri="{FF2B5EF4-FFF2-40B4-BE49-F238E27FC236}">
                <a16:creationId xmlns:a16="http://schemas.microsoft.com/office/drawing/2014/main" id="{C717E5EC-03EC-924D-5489-AD54B6A0FE2C}"/>
              </a:ext>
            </a:extLst>
          </p:cNvPr>
          <p:cNvCxnSpPr>
            <a:cxnSpLocks/>
            <a:stCxn id="75" idx="2"/>
            <a:endCxn id="83" idx="0"/>
          </p:cNvCxnSpPr>
          <p:nvPr/>
        </p:nvCxnSpPr>
        <p:spPr>
          <a:xfrm rot="5400000">
            <a:off x="8088557" y="2344146"/>
            <a:ext cx="115066" cy="9137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9CA67AE-DC31-1692-41CC-BCF7DE2D2E81}"/>
              </a:ext>
            </a:extLst>
          </p:cNvPr>
          <p:cNvCxnSpPr>
            <a:cxnSpLocks/>
            <a:stCxn id="84" idx="0"/>
            <a:endCxn id="75" idx="2"/>
          </p:cNvCxnSpPr>
          <p:nvPr/>
        </p:nvCxnSpPr>
        <p:spPr>
          <a:xfrm flipV="1">
            <a:off x="8602980" y="2743503"/>
            <a:ext cx="0" cy="10947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C634647-D8EE-3D62-172C-17AB0D8FC8C5}"/>
              </a:ext>
            </a:extLst>
          </p:cNvPr>
          <p:cNvSpPr/>
          <p:nvPr/>
        </p:nvSpPr>
        <p:spPr>
          <a:xfrm>
            <a:off x="4835940" y="3200918"/>
            <a:ext cx="4300439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HQ Sales Order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기준으로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Global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O2C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추적 관리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법인내 거래를 재고이동으로 대체하고 사업부간 사내손익 처리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EF3A052-8A97-AF6D-F4AC-FB87751A57FC}"/>
              </a:ext>
            </a:extLst>
          </p:cNvPr>
          <p:cNvSpPr/>
          <p:nvPr/>
        </p:nvSpPr>
        <p:spPr>
          <a:xfrm>
            <a:off x="1609420" y="4177375"/>
            <a:ext cx="822960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Buyer’s PO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70065CA-B062-3B3E-5138-DABE736F11D7}"/>
              </a:ext>
            </a:extLst>
          </p:cNvPr>
          <p:cNvSpPr/>
          <p:nvPr/>
        </p:nvSpPr>
        <p:spPr>
          <a:xfrm>
            <a:off x="2830830" y="4178243"/>
            <a:ext cx="648627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Sales Order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6AA85D-D0AE-990B-1414-2E8DDD1781D6}"/>
              </a:ext>
            </a:extLst>
          </p:cNvPr>
          <p:cNvSpPr/>
          <p:nvPr/>
        </p:nvSpPr>
        <p:spPr>
          <a:xfrm>
            <a:off x="1840726" y="5003477"/>
            <a:ext cx="821950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 “23.04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3AB4BF-6A4A-1913-26D2-CB312188814E}"/>
              </a:ext>
            </a:extLst>
          </p:cNvPr>
          <p:cNvSpPr/>
          <p:nvPr/>
        </p:nvSpPr>
        <p:spPr>
          <a:xfrm>
            <a:off x="1794510" y="4383730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5A4F46-04DC-C689-5548-9B6892C0A55E}"/>
              </a:ext>
            </a:extLst>
          </p:cNvPr>
          <p:cNvSpPr/>
          <p:nvPr/>
        </p:nvSpPr>
        <p:spPr>
          <a:xfrm>
            <a:off x="1793225" y="4586824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Color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F0B426-D59E-C8ED-A244-48A1B431B51E}"/>
              </a:ext>
            </a:extLst>
          </p:cNvPr>
          <p:cNvSpPr/>
          <p:nvPr/>
        </p:nvSpPr>
        <p:spPr>
          <a:xfrm>
            <a:off x="1794510" y="4789919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Qty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53625F-9C78-C388-6B4D-68091A8AB8AE}"/>
              </a:ext>
            </a:extLst>
          </p:cNvPr>
          <p:cNvSpPr/>
          <p:nvPr/>
        </p:nvSpPr>
        <p:spPr>
          <a:xfrm>
            <a:off x="1840726" y="5218391"/>
            <a:ext cx="821950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 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“23.05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6A423-9103-FA8B-3132-3AEEDF11378A}"/>
              </a:ext>
            </a:extLst>
          </p:cNvPr>
          <p:cNvSpPr/>
          <p:nvPr/>
        </p:nvSpPr>
        <p:spPr>
          <a:xfrm>
            <a:off x="1840726" y="5428991"/>
            <a:ext cx="821950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“23.06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008CC3-4B24-FCDB-81FA-702AA967A873}"/>
              </a:ext>
            </a:extLst>
          </p:cNvPr>
          <p:cNvSpPr/>
          <p:nvPr/>
        </p:nvSpPr>
        <p:spPr>
          <a:xfrm>
            <a:off x="3015489" y="4383730"/>
            <a:ext cx="465253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47404D-EFEC-A98D-06AA-60AAE0777F2D}"/>
              </a:ext>
            </a:extLst>
          </p:cNvPr>
          <p:cNvSpPr/>
          <p:nvPr/>
        </p:nvSpPr>
        <p:spPr>
          <a:xfrm>
            <a:off x="3014204" y="4586824"/>
            <a:ext cx="465253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Color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5D1EBC-3C59-35B8-BFEE-84E514E60D93}"/>
              </a:ext>
            </a:extLst>
          </p:cNvPr>
          <p:cNvSpPr/>
          <p:nvPr/>
        </p:nvSpPr>
        <p:spPr>
          <a:xfrm>
            <a:off x="3015489" y="4789919"/>
            <a:ext cx="465253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Qty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DBE5F9D-0531-2CBB-B2F8-4EF03E871989}"/>
              </a:ext>
            </a:extLst>
          </p:cNvPr>
          <p:cNvSpPr/>
          <p:nvPr/>
        </p:nvSpPr>
        <p:spPr>
          <a:xfrm>
            <a:off x="3047735" y="5218391"/>
            <a:ext cx="727007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“23.06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E28C50-5F21-5FA5-6793-986768A9E379}"/>
              </a:ext>
            </a:extLst>
          </p:cNvPr>
          <p:cNvSpPr/>
          <p:nvPr/>
        </p:nvSpPr>
        <p:spPr>
          <a:xfrm>
            <a:off x="1609419" y="4383730"/>
            <a:ext cx="146991" cy="5808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B3FAD0-235F-AD82-8A92-9E83ED7B0E75}"/>
              </a:ext>
            </a:extLst>
          </p:cNvPr>
          <p:cNvSpPr/>
          <p:nvPr/>
        </p:nvSpPr>
        <p:spPr>
          <a:xfrm>
            <a:off x="2830830" y="4383730"/>
            <a:ext cx="146991" cy="5808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1EBA5B4-FCE9-3B65-D148-A56B60AB6076}"/>
              </a:ext>
            </a:extLst>
          </p:cNvPr>
          <p:cNvCxnSpPr>
            <a:cxnSpLocks/>
            <a:stCxn id="37" idx="2"/>
            <a:endCxn id="7" idx="1"/>
          </p:cNvCxnSpPr>
          <p:nvPr/>
        </p:nvCxnSpPr>
        <p:spPr>
          <a:xfrm rot="16200000" flipH="1">
            <a:off x="1699052" y="4948485"/>
            <a:ext cx="125537" cy="157811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39">
            <a:extLst>
              <a:ext uri="{FF2B5EF4-FFF2-40B4-BE49-F238E27FC236}">
                <a16:creationId xmlns:a16="http://schemas.microsoft.com/office/drawing/2014/main" id="{E24586E2-70E0-C439-2CC4-FFD59F9B0F45}"/>
              </a:ext>
            </a:extLst>
          </p:cNvPr>
          <p:cNvCxnSpPr>
            <a:cxnSpLocks/>
            <a:stCxn id="37" idx="2"/>
            <a:endCxn id="19" idx="1"/>
          </p:cNvCxnSpPr>
          <p:nvPr/>
        </p:nvCxnSpPr>
        <p:spPr>
          <a:xfrm rot="16200000" flipH="1">
            <a:off x="1591595" y="5055942"/>
            <a:ext cx="340451" cy="157811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39">
            <a:extLst>
              <a:ext uri="{FF2B5EF4-FFF2-40B4-BE49-F238E27FC236}">
                <a16:creationId xmlns:a16="http://schemas.microsoft.com/office/drawing/2014/main" id="{07E9132F-E463-DFAB-2586-9498453E46E6}"/>
              </a:ext>
            </a:extLst>
          </p:cNvPr>
          <p:cNvCxnSpPr>
            <a:cxnSpLocks/>
            <a:stCxn id="37" idx="2"/>
            <a:endCxn id="20" idx="1"/>
          </p:cNvCxnSpPr>
          <p:nvPr/>
        </p:nvCxnSpPr>
        <p:spPr>
          <a:xfrm rot="16200000" flipH="1">
            <a:off x="1486295" y="5161242"/>
            <a:ext cx="551051" cy="157811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39">
            <a:extLst>
              <a:ext uri="{FF2B5EF4-FFF2-40B4-BE49-F238E27FC236}">
                <a16:creationId xmlns:a16="http://schemas.microsoft.com/office/drawing/2014/main" id="{68455C3B-80AF-40EC-8A8D-09B9EE545871}"/>
              </a:ext>
            </a:extLst>
          </p:cNvPr>
          <p:cNvCxnSpPr>
            <a:cxnSpLocks/>
            <a:stCxn id="7" idx="3"/>
            <a:endCxn id="35" idx="1"/>
          </p:cNvCxnSpPr>
          <p:nvPr/>
        </p:nvCxnSpPr>
        <p:spPr>
          <a:xfrm>
            <a:off x="2662676" y="5090160"/>
            <a:ext cx="385059" cy="21491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39">
            <a:extLst>
              <a:ext uri="{FF2B5EF4-FFF2-40B4-BE49-F238E27FC236}">
                <a16:creationId xmlns:a16="http://schemas.microsoft.com/office/drawing/2014/main" id="{C720E1CA-BAB6-05AD-9494-939B65C77F20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662676" y="5305073"/>
            <a:ext cx="348893" cy="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39">
            <a:extLst>
              <a:ext uri="{FF2B5EF4-FFF2-40B4-BE49-F238E27FC236}">
                <a16:creationId xmlns:a16="http://schemas.microsoft.com/office/drawing/2014/main" id="{60D6944B-C012-0416-ACE2-99CB53E6E38C}"/>
              </a:ext>
            </a:extLst>
          </p:cNvPr>
          <p:cNvCxnSpPr>
            <a:cxnSpLocks/>
            <a:stCxn id="20" idx="3"/>
            <a:endCxn id="35" idx="1"/>
          </p:cNvCxnSpPr>
          <p:nvPr/>
        </p:nvCxnSpPr>
        <p:spPr>
          <a:xfrm flipV="1">
            <a:off x="2662676" y="5305074"/>
            <a:ext cx="385059" cy="2106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82C8480-CFFD-39D0-6082-6CA52A84FBDE}"/>
              </a:ext>
            </a:extLst>
          </p:cNvPr>
          <p:cNvSpPr/>
          <p:nvPr/>
        </p:nvSpPr>
        <p:spPr>
          <a:xfrm>
            <a:off x="1575383" y="5605127"/>
            <a:ext cx="2711122" cy="2425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관리조직별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납기정보 입력기준 상이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주문 진행정보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Feed Back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9AE5ED3-F268-8054-924B-30EA4579A2E9}"/>
              </a:ext>
            </a:extLst>
          </p:cNvPr>
          <p:cNvSpPr/>
          <p:nvPr/>
        </p:nvSpPr>
        <p:spPr>
          <a:xfrm>
            <a:off x="4998111" y="4140689"/>
            <a:ext cx="822960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Buyer’s PO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D3D1ECA-13F7-22BD-DBA0-FA52ACEC1DBB}"/>
              </a:ext>
            </a:extLst>
          </p:cNvPr>
          <p:cNvSpPr/>
          <p:nvPr/>
        </p:nvSpPr>
        <p:spPr>
          <a:xfrm>
            <a:off x="6609411" y="4141557"/>
            <a:ext cx="823454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Sales Order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F219EBD-1C3F-31CA-526C-9EA2D644427E}"/>
              </a:ext>
            </a:extLst>
          </p:cNvPr>
          <p:cNvSpPr/>
          <p:nvPr/>
        </p:nvSpPr>
        <p:spPr>
          <a:xfrm>
            <a:off x="5255715" y="4966791"/>
            <a:ext cx="85242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 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 “23.04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18E8FEC-65F6-3944-A72D-C4AC297740BD}"/>
              </a:ext>
            </a:extLst>
          </p:cNvPr>
          <p:cNvSpPr/>
          <p:nvPr/>
        </p:nvSpPr>
        <p:spPr>
          <a:xfrm>
            <a:off x="5183201" y="4347044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0696D4E-1295-81C5-7499-1A6017F0E278}"/>
              </a:ext>
            </a:extLst>
          </p:cNvPr>
          <p:cNvSpPr/>
          <p:nvPr/>
        </p:nvSpPr>
        <p:spPr>
          <a:xfrm>
            <a:off x="5181916" y="4550138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Color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567E1B3-3EB6-A885-DC06-11D6689027A7}"/>
              </a:ext>
            </a:extLst>
          </p:cNvPr>
          <p:cNvSpPr/>
          <p:nvPr/>
        </p:nvSpPr>
        <p:spPr>
          <a:xfrm>
            <a:off x="5183201" y="4753233"/>
            <a:ext cx="639154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Qty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401ABF6-3BA5-9DA2-AB13-D14426C98564}"/>
              </a:ext>
            </a:extLst>
          </p:cNvPr>
          <p:cNvSpPr/>
          <p:nvPr/>
        </p:nvSpPr>
        <p:spPr>
          <a:xfrm>
            <a:off x="5255715" y="5181705"/>
            <a:ext cx="85242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“23.05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3E3C67E-6112-7F2A-B319-4F3D085D0DDF}"/>
              </a:ext>
            </a:extLst>
          </p:cNvPr>
          <p:cNvSpPr/>
          <p:nvPr/>
        </p:nvSpPr>
        <p:spPr>
          <a:xfrm>
            <a:off x="5255715" y="5392305"/>
            <a:ext cx="85242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“23.06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36A9FF3-EB67-0120-86DE-18F60FBEC29B}"/>
              </a:ext>
            </a:extLst>
          </p:cNvPr>
          <p:cNvSpPr/>
          <p:nvPr/>
        </p:nvSpPr>
        <p:spPr>
          <a:xfrm>
            <a:off x="6794070" y="4347044"/>
            <a:ext cx="64008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Style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918898D-7F30-0D8B-AEBE-601DCA029944}"/>
              </a:ext>
            </a:extLst>
          </p:cNvPr>
          <p:cNvSpPr/>
          <p:nvPr/>
        </p:nvSpPr>
        <p:spPr>
          <a:xfrm>
            <a:off x="6792785" y="4550138"/>
            <a:ext cx="64008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Color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39A26BA-8665-398D-E1F0-7D260010B442}"/>
              </a:ext>
            </a:extLst>
          </p:cNvPr>
          <p:cNvSpPr/>
          <p:nvPr/>
        </p:nvSpPr>
        <p:spPr>
          <a:xfrm>
            <a:off x="6794070" y="4753233"/>
            <a:ext cx="64008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Qty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ECEE2DF-CD9A-8954-6C15-AB8952694C7F}"/>
              </a:ext>
            </a:extLst>
          </p:cNvPr>
          <p:cNvSpPr/>
          <p:nvPr/>
        </p:nvSpPr>
        <p:spPr>
          <a:xfrm>
            <a:off x="4998110" y="4347044"/>
            <a:ext cx="146991" cy="5808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0748277-1C4F-3D01-B0C2-8261A3F8108D}"/>
              </a:ext>
            </a:extLst>
          </p:cNvPr>
          <p:cNvSpPr/>
          <p:nvPr/>
        </p:nvSpPr>
        <p:spPr>
          <a:xfrm>
            <a:off x="6609411" y="4347044"/>
            <a:ext cx="146991" cy="5808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</a:t>
            </a:r>
          </a:p>
        </p:txBody>
      </p:sp>
      <p:cxnSp>
        <p:nvCxnSpPr>
          <p:cNvPr id="115" name="직선 연결선 39">
            <a:extLst>
              <a:ext uri="{FF2B5EF4-FFF2-40B4-BE49-F238E27FC236}">
                <a16:creationId xmlns:a16="http://schemas.microsoft.com/office/drawing/2014/main" id="{8E186A4C-E445-D6DA-3336-8CE69C3F8B50}"/>
              </a:ext>
            </a:extLst>
          </p:cNvPr>
          <p:cNvCxnSpPr>
            <a:cxnSpLocks/>
            <a:stCxn id="113" idx="2"/>
            <a:endCxn id="100" idx="1"/>
          </p:cNvCxnSpPr>
          <p:nvPr/>
        </p:nvCxnSpPr>
        <p:spPr>
          <a:xfrm rot="16200000" flipH="1">
            <a:off x="5100892" y="4898650"/>
            <a:ext cx="125537" cy="184109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39">
            <a:extLst>
              <a:ext uri="{FF2B5EF4-FFF2-40B4-BE49-F238E27FC236}">
                <a16:creationId xmlns:a16="http://schemas.microsoft.com/office/drawing/2014/main" id="{5983DFF4-E183-98C6-2A68-508ED6A683AF}"/>
              </a:ext>
            </a:extLst>
          </p:cNvPr>
          <p:cNvCxnSpPr>
            <a:cxnSpLocks/>
            <a:stCxn id="113" idx="2"/>
            <a:endCxn id="106" idx="1"/>
          </p:cNvCxnSpPr>
          <p:nvPr/>
        </p:nvCxnSpPr>
        <p:spPr>
          <a:xfrm rot="16200000" flipH="1">
            <a:off x="4993435" y="5006107"/>
            <a:ext cx="340451" cy="184109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39">
            <a:extLst>
              <a:ext uri="{FF2B5EF4-FFF2-40B4-BE49-F238E27FC236}">
                <a16:creationId xmlns:a16="http://schemas.microsoft.com/office/drawing/2014/main" id="{947A344F-BB25-ADE3-B758-0B6CACA4379F}"/>
              </a:ext>
            </a:extLst>
          </p:cNvPr>
          <p:cNvCxnSpPr>
            <a:cxnSpLocks/>
            <a:stCxn id="113" idx="2"/>
            <a:endCxn id="107" idx="1"/>
          </p:cNvCxnSpPr>
          <p:nvPr/>
        </p:nvCxnSpPr>
        <p:spPr>
          <a:xfrm rot="16200000" flipH="1">
            <a:off x="4888135" y="5111407"/>
            <a:ext cx="551051" cy="184109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39">
            <a:extLst>
              <a:ext uri="{FF2B5EF4-FFF2-40B4-BE49-F238E27FC236}">
                <a16:creationId xmlns:a16="http://schemas.microsoft.com/office/drawing/2014/main" id="{CDE5DE98-8854-7D77-6B03-31D24E818397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5821071" y="4227372"/>
            <a:ext cx="788340" cy="43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ED08E024-9C52-0871-E5AB-1E667C132F82}"/>
              </a:ext>
            </a:extLst>
          </p:cNvPr>
          <p:cNvSpPr/>
          <p:nvPr/>
        </p:nvSpPr>
        <p:spPr>
          <a:xfrm>
            <a:off x="6893791" y="4966791"/>
            <a:ext cx="72700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“23.04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FF25FEB3-1B42-B29E-1D3E-6225C1118210}"/>
              </a:ext>
            </a:extLst>
          </p:cNvPr>
          <p:cNvSpPr/>
          <p:nvPr/>
        </p:nvSpPr>
        <p:spPr>
          <a:xfrm>
            <a:off x="6893791" y="5181705"/>
            <a:ext cx="72700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“23.05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4EE24932-7C4F-93F3-4315-F8A98CDDB439}"/>
              </a:ext>
            </a:extLst>
          </p:cNvPr>
          <p:cNvSpPr/>
          <p:nvPr/>
        </p:nvSpPr>
        <p:spPr>
          <a:xfrm>
            <a:off x="6893791" y="5392305"/>
            <a:ext cx="727007" cy="1733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 “23.06</a:t>
            </a:r>
          </a:p>
        </p:txBody>
      </p:sp>
      <p:cxnSp>
        <p:nvCxnSpPr>
          <p:cNvPr id="127" name="직선 연결선 39">
            <a:extLst>
              <a:ext uri="{FF2B5EF4-FFF2-40B4-BE49-F238E27FC236}">
                <a16:creationId xmlns:a16="http://schemas.microsoft.com/office/drawing/2014/main" id="{CD343BDE-7A43-B0EA-1552-49E0EDC7AA7B}"/>
              </a:ext>
            </a:extLst>
          </p:cNvPr>
          <p:cNvCxnSpPr>
            <a:cxnSpLocks/>
            <a:stCxn id="100" idx="3"/>
            <a:endCxn id="123" idx="1"/>
          </p:cNvCxnSpPr>
          <p:nvPr/>
        </p:nvCxnSpPr>
        <p:spPr>
          <a:xfrm>
            <a:off x="6108142" y="5053474"/>
            <a:ext cx="785649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39">
            <a:extLst>
              <a:ext uri="{FF2B5EF4-FFF2-40B4-BE49-F238E27FC236}">
                <a16:creationId xmlns:a16="http://schemas.microsoft.com/office/drawing/2014/main" id="{6B635926-74BC-B403-C1D3-E2DA6B2F2F07}"/>
              </a:ext>
            </a:extLst>
          </p:cNvPr>
          <p:cNvCxnSpPr>
            <a:cxnSpLocks/>
            <a:stCxn id="106" idx="3"/>
            <a:endCxn id="125" idx="1"/>
          </p:cNvCxnSpPr>
          <p:nvPr/>
        </p:nvCxnSpPr>
        <p:spPr>
          <a:xfrm>
            <a:off x="6108142" y="5268388"/>
            <a:ext cx="785649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39">
            <a:extLst>
              <a:ext uri="{FF2B5EF4-FFF2-40B4-BE49-F238E27FC236}">
                <a16:creationId xmlns:a16="http://schemas.microsoft.com/office/drawing/2014/main" id="{B99AFB87-123B-392E-F843-6786661472C3}"/>
              </a:ext>
            </a:extLst>
          </p:cNvPr>
          <p:cNvCxnSpPr>
            <a:cxnSpLocks/>
            <a:stCxn id="107" idx="3"/>
            <a:endCxn id="126" idx="1"/>
          </p:cNvCxnSpPr>
          <p:nvPr/>
        </p:nvCxnSpPr>
        <p:spPr>
          <a:xfrm>
            <a:off x="6108142" y="5478988"/>
            <a:ext cx="785649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83DC4A1-5C3B-7DCE-D9FC-FF1713232A49}"/>
              </a:ext>
            </a:extLst>
          </p:cNvPr>
          <p:cNvSpPr/>
          <p:nvPr/>
        </p:nvSpPr>
        <p:spPr>
          <a:xfrm>
            <a:off x="4952999" y="5605127"/>
            <a:ext cx="4183379" cy="2425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요청 납기 기준 업무 수행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납기기준 주문정보의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Tracking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정보 적시 제공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41" name="직선 연결선 39">
            <a:extLst>
              <a:ext uri="{FF2B5EF4-FFF2-40B4-BE49-F238E27FC236}">
                <a16:creationId xmlns:a16="http://schemas.microsoft.com/office/drawing/2014/main" id="{D2E3B87E-42AA-B3B8-E057-1C5C8F951659}"/>
              </a:ext>
            </a:extLst>
          </p:cNvPr>
          <p:cNvCxnSpPr>
            <a:cxnSpLocks/>
          </p:cNvCxnSpPr>
          <p:nvPr/>
        </p:nvCxnSpPr>
        <p:spPr>
          <a:xfrm>
            <a:off x="7613281" y="5053473"/>
            <a:ext cx="1203057" cy="42342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39">
            <a:extLst>
              <a:ext uri="{FF2B5EF4-FFF2-40B4-BE49-F238E27FC236}">
                <a16:creationId xmlns:a16="http://schemas.microsoft.com/office/drawing/2014/main" id="{DF0507EF-92B2-2CF4-9CF4-AE6411AED243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7620798" y="5268388"/>
            <a:ext cx="1184112" cy="2065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39">
            <a:extLst>
              <a:ext uri="{FF2B5EF4-FFF2-40B4-BE49-F238E27FC236}">
                <a16:creationId xmlns:a16="http://schemas.microsoft.com/office/drawing/2014/main" id="{E6F940EC-0D5A-A618-762D-EFB5E28DD489}"/>
              </a:ext>
            </a:extLst>
          </p:cNvPr>
          <p:cNvCxnSpPr>
            <a:cxnSpLocks/>
            <a:stCxn id="126" idx="3"/>
            <a:endCxn id="151" idx="2"/>
          </p:cNvCxnSpPr>
          <p:nvPr/>
        </p:nvCxnSpPr>
        <p:spPr>
          <a:xfrm flipV="1">
            <a:off x="7620798" y="5181705"/>
            <a:ext cx="1195540" cy="297283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B59CCF1-44C0-7335-D585-2A222D3A5E07}"/>
              </a:ext>
            </a:extLst>
          </p:cNvPr>
          <p:cNvSpPr/>
          <p:nvPr/>
        </p:nvSpPr>
        <p:spPr>
          <a:xfrm>
            <a:off x="8496298" y="4557096"/>
            <a:ext cx="640080" cy="62460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생산법인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57" name="연결선: 구부러짐 156">
            <a:extLst>
              <a:ext uri="{FF2B5EF4-FFF2-40B4-BE49-F238E27FC236}">
                <a16:creationId xmlns:a16="http://schemas.microsoft.com/office/drawing/2014/main" id="{06920DC2-67AF-865A-9AD7-EC0075070298}"/>
              </a:ext>
            </a:extLst>
          </p:cNvPr>
          <p:cNvCxnSpPr>
            <a:cxnSpLocks/>
            <a:stCxn id="151" idx="0"/>
            <a:endCxn id="99" idx="3"/>
          </p:cNvCxnSpPr>
          <p:nvPr/>
        </p:nvCxnSpPr>
        <p:spPr>
          <a:xfrm rot="16200000" flipV="1">
            <a:off x="7959957" y="3700714"/>
            <a:ext cx="329290" cy="1383473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41DCF52-9042-6665-BB3B-5EC4A6FC5A10}"/>
              </a:ext>
            </a:extLst>
          </p:cNvPr>
          <p:cNvSpPr/>
          <p:nvPr/>
        </p:nvSpPr>
        <p:spPr>
          <a:xfrm>
            <a:off x="7522899" y="4253400"/>
            <a:ext cx="940381" cy="2425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주문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진행정보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9C22427-D67F-842B-1E14-EC09EE76E36A}"/>
              </a:ext>
            </a:extLst>
          </p:cNvPr>
          <p:cNvSpPr/>
          <p:nvPr/>
        </p:nvSpPr>
        <p:spPr>
          <a:xfrm>
            <a:off x="5978579" y="4243240"/>
            <a:ext cx="588189" cy="3009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납기단위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Feed Back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61" name="직선 연결선 39">
            <a:extLst>
              <a:ext uri="{FF2B5EF4-FFF2-40B4-BE49-F238E27FC236}">
                <a16:creationId xmlns:a16="http://schemas.microsoft.com/office/drawing/2014/main" id="{13F887B0-4FE4-D445-6632-385934DF0DF7}"/>
              </a:ext>
            </a:extLst>
          </p:cNvPr>
          <p:cNvCxnSpPr>
            <a:cxnSpLocks/>
            <a:stCxn id="98" idx="3"/>
            <a:endCxn id="110" idx="1"/>
          </p:cNvCxnSpPr>
          <p:nvPr/>
        </p:nvCxnSpPr>
        <p:spPr>
          <a:xfrm>
            <a:off x="2432380" y="4264058"/>
            <a:ext cx="398450" cy="434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4520BAA9-D8EC-5DBC-0542-E3F27C7AFB55}"/>
              </a:ext>
            </a:extLst>
          </p:cNvPr>
          <p:cNvSpPr/>
          <p:nvPr/>
        </p:nvSpPr>
        <p:spPr>
          <a:xfrm>
            <a:off x="3652689" y="4477046"/>
            <a:ext cx="613702" cy="63010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생산법인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79" name="직선 연결선 39">
            <a:extLst>
              <a:ext uri="{FF2B5EF4-FFF2-40B4-BE49-F238E27FC236}">
                <a16:creationId xmlns:a16="http://schemas.microsoft.com/office/drawing/2014/main" id="{4E34F7F6-3C02-CE08-AD69-DB3F142DFD78}"/>
              </a:ext>
            </a:extLst>
          </p:cNvPr>
          <p:cNvCxnSpPr>
            <a:cxnSpLocks/>
            <a:stCxn id="35" idx="3"/>
            <a:endCxn id="177" idx="2"/>
          </p:cNvCxnSpPr>
          <p:nvPr/>
        </p:nvCxnSpPr>
        <p:spPr>
          <a:xfrm flipV="1">
            <a:off x="3774742" y="5107151"/>
            <a:ext cx="184798" cy="197923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39">
            <a:extLst>
              <a:ext uri="{FF2B5EF4-FFF2-40B4-BE49-F238E27FC236}">
                <a16:creationId xmlns:a16="http://schemas.microsoft.com/office/drawing/2014/main" id="{FCE50CC2-1819-F0FE-EF59-0A923DE93C6B}"/>
              </a:ext>
            </a:extLst>
          </p:cNvPr>
          <p:cNvCxnSpPr>
            <a:cxnSpLocks/>
            <a:stCxn id="110" idx="3"/>
            <a:endCxn id="177" idx="0"/>
          </p:cNvCxnSpPr>
          <p:nvPr/>
        </p:nvCxnSpPr>
        <p:spPr>
          <a:xfrm>
            <a:off x="3479457" y="4264492"/>
            <a:ext cx="480083" cy="212554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DC963F-36C1-20CE-9DF0-54EA81A3F8C6}"/>
              </a:ext>
            </a:extLst>
          </p:cNvPr>
          <p:cNvSpPr/>
          <p:nvPr/>
        </p:nvSpPr>
        <p:spPr>
          <a:xfrm>
            <a:off x="3706330" y="4684256"/>
            <a:ext cx="512881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생산계획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4BCFB8-A50B-34BB-607B-4B39CCD62F74}"/>
              </a:ext>
            </a:extLst>
          </p:cNvPr>
          <p:cNvSpPr/>
          <p:nvPr/>
        </p:nvSpPr>
        <p:spPr>
          <a:xfrm>
            <a:off x="3704495" y="4894767"/>
            <a:ext cx="512881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생산수행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10D08EE-E4F0-D045-3F09-DE40D0C7B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7059" y="5195495"/>
            <a:ext cx="204961" cy="20496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9AA42C9-9930-5E48-6A00-255D3C227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7059" y="4192021"/>
            <a:ext cx="204961" cy="204961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8588A696-523F-70D1-0724-CF8084BAE1C4}"/>
              </a:ext>
            </a:extLst>
          </p:cNvPr>
          <p:cNvSpPr/>
          <p:nvPr/>
        </p:nvSpPr>
        <p:spPr>
          <a:xfrm>
            <a:off x="4073845" y="4232541"/>
            <a:ext cx="387361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Manual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DB813A6-FC4B-22AB-35E5-A27F6918C297}"/>
              </a:ext>
            </a:extLst>
          </p:cNvPr>
          <p:cNvSpPr/>
          <p:nvPr/>
        </p:nvSpPr>
        <p:spPr>
          <a:xfrm>
            <a:off x="4073845" y="5239837"/>
            <a:ext cx="387361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Manual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D47F796-55DD-FD27-57F2-05BE3E88DFFB}"/>
              </a:ext>
            </a:extLst>
          </p:cNvPr>
          <p:cNvSpPr/>
          <p:nvPr/>
        </p:nvSpPr>
        <p:spPr>
          <a:xfrm>
            <a:off x="8558980" y="4749861"/>
            <a:ext cx="512881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생산계획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2EE3254-D8BA-E6D3-9186-A1EBAA70E7A9}"/>
              </a:ext>
            </a:extLst>
          </p:cNvPr>
          <p:cNvSpPr/>
          <p:nvPr/>
        </p:nvSpPr>
        <p:spPr>
          <a:xfrm>
            <a:off x="8557145" y="4960372"/>
            <a:ext cx="512881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생산수행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5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직선 연결선 39">
            <a:extLst>
              <a:ext uri="{FF2B5EF4-FFF2-40B4-BE49-F238E27FC236}">
                <a16:creationId xmlns:a16="http://schemas.microsoft.com/office/drawing/2014/main" id="{95E39A5B-CA6B-92DB-5513-7E498A64F7E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84595" y="4521905"/>
            <a:ext cx="125537" cy="91440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39">
            <a:extLst>
              <a:ext uri="{FF2B5EF4-FFF2-40B4-BE49-F238E27FC236}">
                <a16:creationId xmlns:a16="http://schemas.microsoft.com/office/drawing/2014/main" id="{4F0B193A-E9AB-D948-72F6-A1C79F4F47C8}"/>
              </a:ext>
            </a:extLst>
          </p:cNvPr>
          <p:cNvCxnSpPr>
            <a:cxnSpLocks/>
            <a:stCxn id="59" idx="3"/>
            <a:endCxn id="79" idx="1"/>
          </p:cNvCxnSpPr>
          <p:nvPr/>
        </p:nvCxnSpPr>
        <p:spPr>
          <a:xfrm flipV="1">
            <a:off x="5659737" y="2482814"/>
            <a:ext cx="1463652" cy="35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생산관리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24" name="Text Box 15">
            <a:extLst>
              <a:ext uri="{FF2B5EF4-FFF2-40B4-BE49-F238E27FC236}">
                <a16:creationId xmlns:a16="http://schemas.microsoft.com/office/drawing/2014/main" id="{762E5728-56CF-4C3A-A42F-08D3DCABF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Buyer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납기 기준 세분화된 영업정보를 기반 생산계획을 수립하고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원재료 생산투입 및 현황을 적시에 확인하여 고객 대응 및 생산관리 수준 향상을 목표로 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D7211F-7FAE-91DD-EA43-C496A3534667}"/>
              </a:ext>
            </a:extLst>
          </p:cNvPr>
          <p:cNvSpPr/>
          <p:nvPr/>
        </p:nvSpPr>
        <p:spPr>
          <a:xfrm>
            <a:off x="614113" y="1732554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Planning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F78DA3-5936-B6D7-A35A-2114F7CDF0FB}"/>
              </a:ext>
            </a:extLst>
          </p:cNvPr>
          <p:cNvSpPr/>
          <p:nvPr/>
        </p:nvSpPr>
        <p:spPr>
          <a:xfrm>
            <a:off x="614112" y="3870959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Monitoring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15E013-ACD4-31B1-9CC3-18B67374CA62}"/>
              </a:ext>
            </a:extLst>
          </p:cNvPr>
          <p:cNvSpPr/>
          <p:nvPr/>
        </p:nvSpPr>
        <p:spPr>
          <a:xfrm>
            <a:off x="1577340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7B3EAD-F338-0993-AC38-1AC73AB175F9}"/>
              </a:ext>
            </a:extLst>
          </p:cNvPr>
          <p:cNvSpPr/>
          <p:nvPr/>
        </p:nvSpPr>
        <p:spPr>
          <a:xfrm>
            <a:off x="5219700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To-Be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A557D5-53F1-9F9F-A8CF-169BB93B1668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Buyer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납기별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생산계획 수립 및 생산현황의 적시 확인을 통한 생산관리 능력 및 고객 대응력 강화</a:t>
            </a:r>
            <a:endParaRPr kumimoji="0" lang="en-US" altLang="ko-KR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60A00C-4E4F-199C-ED3B-63C173F80F51}"/>
              </a:ext>
            </a:extLst>
          </p:cNvPr>
          <p:cNvSpPr/>
          <p:nvPr/>
        </p:nvSpPr>
        <p:spPr>
          <a:xfrm>
            <a:off x="4822986" y="1732554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lang="en-US" sz="1100" b="1" dirty="0" smtClean="0">
                <a:solidFill>
                  <a:prstClr val="white"/>
                </a:solidFill>
                <a:latin typeface="맑은 고딕" panose="020F0502020204030204"/>
              </a:rPr>
              <a:t>SAP</a:t>
            </a:r>
            <a:r>
              <a:rPr lang="ko-KR" altLang="en-US" sz="1100" b="1" dirty="0">
                <a:solidFill>
                  <a:prstClr val="white"/>
                </a:solidFill>
                <a:latin typeface="맑은 고딕" panose="020F0502020204030204"/>
              </a:rPr>
              <a:t> </a:t>
            </a:r>
            <a:r>
              <a:rPr lang="en-US" altLang="ko-KR" sz="1100" b="1" dirty="0" smtClean="0">
                <a:solidFill>
                  <a:prstClr val="white"/>
                </a:solidFill>
                <a:latin typeface="맑은 고딕" panose="020F0502020204030204"/>
              </a:rPr>
              <a:t>SO</a:t>
            </a:r>
            <a:r>
              <a:rPr lang="ko-KR" altLang="en-US" sz="1100" b="1" dirty="0" smtClean="0">
                <a:solidFill>
                  <a:prstClr val="white"/>
                </a:solidFill>
                <a:latin typeface="맑은 고딕" panose="020F0502020204030204"/>
              </a:rPr>
              <a:t>내</a:t>
            </a:r>
            <a:r>
              <a:rPr kumimoji="0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납기별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생산계획 수립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2E44BA-9476-8D4B-34E8-707D7708B209}"/>
              </a:ext>
            </a:extLst>
          </p:cNvPr>
          <p:cNvSpPr/>
          <p:nvPr/>
        </p:nvSpPr>
        <p:spPr>
          <a:xfrm>
            <a:off x="4822986" y="3870959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 기준 표준화 및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Monitoring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체계 구축 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FF8C1-A434-1851-C908-F863B773E335}"/>
              </a:ext>
            </a:extLst>
          </p:cNvPr>
          <p:cNvSpPr/>
          <p:nvPr/>
        </p:nvSpPr>
        <p:spPr>
          <a:xfrm>
            <a:off x="1609419" y="1732554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영업정보 기반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수작업 계획수립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EED7EF-9458-E4C0-4CCD-F979AFF324C3}"/>
              </a:ext>
            </a:extLst>
          </p:cNvPr>
          <p:cNvSpPr/>
          <p:nvPr/>
        </p:nvSpPr>
        <p:spPr>
          <a:xfrm>
            <a:off x="1601392" y="3870959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실적 관리기준 상이 및 투입관리 미흡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C0AB77-7F10-77C9-F777-3F393874228F}"/>
              </a:ext>
            </a:extLst>
          </p:cNvPr>
          <p:cNvSpPr/>
          <p:nvPr/>
        </p:nvSpPr>
        <p:spPr>
          <a:xfrm>
            <a:off x="2577159" y="2131427"/>
            <a:ext cx="727007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Sales Order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57E46F-592E-B521-3D49-31A0B5A56B45}"/>
              </a:ext>
            </a:extLst>
          </p:cNvPr>
          <p:cNvSpPr/>
          <p:nvPr/>
        </p:nvSpPr>
        <p:spPr>
          <a:xfrm>
            <a:off x="2569132" y="2603651"/>
            <a:ext cx="727007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100" dirty="0">
                <a:solidFill>
                  <a:prstClr val="white">
                    <a:lumMod val="65000"/>
                  </a:prstClr>
                </a:solidFill>
                <a:latin typeface="맑은 고딕" panose="020F0502020204030204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 ~`23.06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611140-1778-E665-2DF1-417764D79D4E}"/>
              </a:ext>
            </a:extLst>
          </p:cNvPr>
          <p:cNvSpPr/>
          <p:nvPr/>
        </p:nvSpPr>
        <p:spPr>
          <a:xfrm>
            <a:off x="1650059" y="2383578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07958A-8EF9-A7F6-9311-BDC6556ABCF5}"/>
              </a:ext>
            </a:extLst>
          </p:cNvPr>
          <p:cNvSpPr/>
          <p:nvPr/>
        </p:nvSpPr>
        <p:spPr>
          <a:xfrm>
            <a:off x="1650059" y="2603651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Delivery`23.05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42250C-3D19-D5C6-E117-8D7376EEBD45}"/>
              </a:ext>
            </a:extLst>
          </p:cNvPr>
          <p:cNvSpPr/>
          <p:nvPr/>
        </p:nvSpPr>
        <p:spPr>
          <a:xfrm>
            <a:off x="1650059" y="2823724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20" name="직선 연결선 39">
            <a:extLst>
              <a:ext uri="{FF2B5EF4-FFF2-40B4-BE49-F238E27FC236}">
                <a16:creationId xmlns:a16="http://schemas.microsoft.com/office/drawing/2014/main" id="{9E64B58B-9C63-A092-BEE0-6B745CEDA77C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>
            <a:off x="2473019" y="2470261"/>
            <a:ext cx="96113" cy="22007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39">
            <a:extLst>
              <a:ext uri="{FF2B5EF4-FFF2-40B4-BE49-F238E27FC236}">
                <a16:creationId xmlns:a16="http://schemas.microsoft.com/office/drawing/2014/main" id="{78435B38-4661-AA28-3C49-697D2F929FE0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2473019" y="2690334"/>
            <a:ext cx="96113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39">
            <a:extLst>
              <a:ext uri="{FF2B5EF4-FFF2-40B4-BE49-F238E27FC236}">
                <a16:creationId xmlns:a16="http://schemas.microsoft.com/office/drawing/2014/main" id="{A2D3E4F3-E974-1271-1205-F8619777B8D8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 flipV="1">
            <a:off x="2473019" y="2690334"/>
            <a:ext cx="96113" cy="22007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BF0B2D-B20F-E378-990F-04B45D70120B}"/>
              </a:ext>
            </a:extLst>
          </p:cNvPr>
          <p:cNvSpPr/>
          <p:nvPr/>
        </p:nvSpPr>
        <p:spPr>
          <a:xfrm>
            <a:off x="1650059" y="2130559"/>
            <a:ext cx="822960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Buyer’s PO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5C1F855-FF75-DF0A-3E5F-11DCD16DB492}"/>
              </a:ext>
            </a:extLst>
          </p:cNvPr>
          <p:cNvSpPr/>
          <p:nvPr/>
        </p:nvSpPr>
        <p:spPr>
          <a:xfrm>
            <a:off x="3427438" y="2131427"/>
            <a:ext cx="817205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Production Plan</a:t>
            </a:r>
          </a:p>
        </p:txBody>
      </p:sp>
      <p:cxnSp>
        <p:nvCxnSpPr>
          <p:cNvPr id="31" name="직선 연결선 39">
            <a:extLst>
              <a:ext uri="{FF2B5EF4-FFF2-40B4-BE49-F238E27FC236}">
                <a16:creationId xmlns:a16="http://schemas.microsoft.com/office/drawing/2014/main" id="{DCD93628-709A-E5F2-A8A4-EB57FEA6D4F7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3304166" y="2217676"/>
            <a:ext cx="123272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CF2C3DB-BAFA-109F-E189-D7D09E68B0E6}"/>
              </a:ext>
            </a:extLst>
          </p:cNvPr>
          <p:cNvSpPr/>
          <p:nvPr/>
        </p:nvSpPr>
        <p:spPr>
          <a:xfrm>
            <a:off x="3427438" y="2379558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900" b="1" spc="-1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F0502020204030204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EB51D3A-20AA-A84F-D12F-F381E93CDAE9}"/>
              </a:ext>
            </a:extLst>
          </p:cNvPr>
          <p:cNvSpPr/>
          <p:nvPr/>
        </p:nvSpPr>
        <p:spPr>
          <a:xfrm>
            <a:off x="3427438" y="2599631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Delivery`23.05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46F962-DC28-6BE8-2B45-EA699E848AC0}"/>
              </a:ext>
            </a:extLst>
          </p:cNvPr>
          <p:cNvSpPr/>
          <p:nvPr/>
        </p:nvSpPr>
        <p:spPr>
          <a:xfrm>
            <a:off x="3427438" y="2819704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DDE7E79-2EB4-DAC9-06DC-52113616F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64" y="2892950"/>
            <a:ext cx="173389" cy="190505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B86D012A-766C-0273-4CF4-DB3DA51AA439}"/>
              </a:ext>
            </a:extLst>
          </p:cNvPr>
          <p:cNvSpPr/>
          <p:nvPr/>
        </p:nvSpPr>
        <p:spPr>
          <a:xfrm>
            <a:off x="1610360" y="2354580"/>
            <a:ext cx="895350" cy="68961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46" name="직선 연결선 39">
            <a:extLst>
              <a:ext uri="{FF2B5EF4-FFF2-40B4-BE49-F238E27FC236}">
                <a16:creationId xmlns:a16="http://schemas.microsoft.com/office/drawing/2014/main" id="{ECFDE0BC-E06B-52B1-E83E-89857DD2C375}"/>
              </a:ext>
            </a:extLst>
          </p:cNvPr>
          <p:cNvCxnSpPr>
            <a:cxnSpLocks/>
            <a:stCxn id="43" idx="2"/>
            <a:endCxn id="52" idx="2"/>
          </p:cNvCxnSpPr>
          <p:nvPr/>
        </p:nvCxnSpPr>
        <p:spPr>
          <a:xfrm rot="5400000" flipH="1" flipV="1">
            <a:off x="2941683" y="2152777"/>
            <a:ext cx="7764" cy="1775061"/>
          </a:xfrm>
          <a:prstGeom prst="bentConnector3">
            <a:avLst>
              <a:gd name="adj1" fmla="val -654302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DB3031-EE55-4BFB-0B20-4831F123903D}"/>
              </a:ext>
            </a:extLst>
          </p:cNvPr>
          <p:cNvSpPr/>
          <p:nvPr/>
        </p:nvSpPr>
        <p:spPr>
          <a:xfrm>
            <a:off x="3385421" y="2346816"/>
            <a:ext cx="895350" cy="68961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F958AA5-680F-D74A-9926-A0F056CD215E}"/>
              </a:ext>
            </a:extLst>
          </p:cNvPr>
          <p:cNvSpPr/>
          <p:nvPr/>
        </p:nvSpPr>
        <p:spPr>
          <a:xfrm>
            <a:off x="2768679" y="3087856"/>
            <a:ext cx="387361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E-Mail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304C3DB-9E30-8C9F-D38F-E9DAB6F406CD}"/>
              </a:ext>
            </a:extLst>
          </p:cNvPr>
          <p:cNvSpPr/>
          <p:nvPr/>
        </p:nvSpPr>
        <p:spPr>
          <a:xfrm>
            <a:off x="1609419" y="3200918"/>
            <a:ext cx="2711122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 상세 정보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E-mail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수주정보와 생산계획 수작업 연결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CD721B2-8CB3-A679-665B-A6A33293F87F}"/>
              </a:ext>
            </a:extLst>
          </p:cNvPr>
          <p:cNvSpPr/>
          <p:nvPr/>
        </p:nvSpPr>
        <p:spPr>
          <a:xfrm>
            <a:off x="5980083" y="2147566"/>
            <a:ext cx="817205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Sales Order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B81F70E-73A4-3648-04D0-1E4E400FF7C2}"/>
              </a:ext>
            </a:extLst>
          </p:cNvPr>
          <p:cNvSpPr/>
          <p:nvPr/>
        </p:nvSpPr>
        <p:spPr>
          <a:xfrm>
            <a:off x="4836777" y="2399717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900" b="1" spc="-100" dirty="0">
                <a:solidFill>
                  <a:prstClr val="black"/>
                </a:solidFill>
                <a:latin typeface="맑은 고딕" panose="020F0502020204030204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F844BD-7631-2FFA-97F6-60E7AEA1C99E}"/>
              </a:ext>
            </a:extLst>
          </p:cNvPr>
          <p:cNvSpPr/>
          <p:nvPr/>
        </p:nvSpPr>
        <p:spPr>
          <a:xfrm>
            <a:off x="4836777" y="2619790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Delivery`23.05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E8D0B0-6D5D-A309-F7F7-55183D7BC91C}"/>
              </a:ext>
            </a:extLst>
          </p:cNvPr>
          <p:cNvSpPr/>
          <p:nvPr/>
        </p:nvSpPr>
        <p:spPr>
          <a:xfrm>
            <a:off x="4836777" y="2839863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651E1D-0845-ED95-A900-D954FDB6C6E3}"/>
              </a:ext>
            </a:extLst>
          </p:cNvPr>
          <p:cNvSpPr/>
          <p:nvPr/>
        </p:nvSpPr>
        <p:spPr>
          <a:xfrm>
            <a:off x="4836777" y="2146698"/>
            <a:ext cx="822960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Buyer’s PO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E127D73-0566-5F32-9A6A-045406D27041}"/>
              </a:ext>
            </a:extLst>
          </p:cNvPr>
          <p:cNvSpPr/>
          <p:nvPr/>
        </p:nvSpPr>
        <p:spPr>
          <a:xfrm>
            <a:off x="7126324" y="2147566"/>
            <a:ext cx="2010056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Production Plan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2E059BA-6BA3-3180-F2F2-0A6B6E9D0D43}"/>
              </a:ext>
            </a:extLst>
          </p:cNvPr>
          <p:cNvSpPr/>
          <p:nvPr/>
        </p:nvSpPr>
        <p:spPr>
          <a:xfrm>
            <a:off x="5980083" y="2393022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900" b="1" spc="-100" dirty="0">
                <a:solidFill>
                  <a:prstClr val="black"/>
                </a:solidFill>
                <a:latin typeface="맑은 고딕" panose="020F0502020204030204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0ED549F-3443-583F-3CCC-0E17220E6DC5}"/>
              </a:ext>
            </a:extLst>
          </p:cNvPr>
          <p:cNvSpPr/>
          <p:nvPr/>
        </p:nvSpPr>
        <p:spPr>
          <a:xfrm>
            <a:off x="7123389" y="2396131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`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23.04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30EF53D-564B-8DFE-9644-B02C9C61E70F}"/>
              </a:ext>
            </a:extLst>
          </p:cNvPr>
          <p:cNvSpPr/>
          <p:nvPr/>
        </p:nvSpPr>
        <p:spPr>
          <a:xfrm>
            <a:off x="7123389" y="2616204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Delivery`23.05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BDCB296-68CE-2D54-E3A8-5E2646F90D32}"/>
              </a:ext>
            </a:extLst>
          </p:cNvPr>
          <p:cNvSpPr/>
          <p:nvPr/>
        </p:nvSpPr>
        <p:spPr>
          <a:xfrm>
            <a:off x="7123389" y="2836277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480AC7C8-1F68-D110-C16B-1E63C02BBB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22" y="2605177"/>
            <a:ext cx="271515" cy="162273"/>
          </a:xfrm>
          <a:prstGeom prst="rect">
            <a:avLst/>
          </a:prstGeom>
        </p:spPr>
      </p:pic>
      <p:cxnSp>
        <p:nvCxnSpPr>
          <p:cNvPr id="86" name="직선 연결선 39">
            <a:extLst>
              <a:ext uri="{FF2B5EF4-FFF2-40B4-BE49-F238E27FC236}">
                <a16:creationId xmlns:a16="http://schemas.microsoft.com/office/drawing/2014/main" id="{2E14FB47-9EF2-8748-8039-99C0BC570C8C}"/>
              </a:ext>
            </a:extLst>
          </p:cNvPr>
          <p:cNvCxnSpPr>
            <a:cxnSpLocks/>
            <a:stCxn id="60" idx="3"/>
            <a:endCxn id="80" idx="1"/>
          </p:cNvCxnSpPr>
          <p:nvPr/>
        </p:nvCxnSpPr>
        <p:spPr>
          <a:xfrm flipV="1">
            <a:off x="5659737" y="2702887"/>
            <a:ext cx="1463652" cy="35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39">
            <a:extLst>
              <a:ext uri="{FF2B5EF4-FFF2-40B4-BE49-F238E27FC236}">
                <a16:creationId xmlns:a16="http://schemas.microsoft.com/office/drawing/2014/main" id="{29A69F27-C3C5-D8C1-1ED2-AE979DDC8D5A}"/>
              </a:ext>
            </a:extLst>
          </p:cNvPr>
          <p:cNvCxnSpPr>
            <a:cxnSpLocks/>
            <a:stCxn id="61" idx="3"/>
            <a:endCxn id="81" idx="1"/>
          </p:cNvCxnSpPr>
          <p:nvPr/>
        </p:nvCxnSpPr>
        <p:spPr>
          <a:xfrm flipV="1">
            <a:off x="5659737" y="2922960"/>
            <a:ext cx="1463652" cy="35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9BCBD55-7D57-6284-E663-DEC196498272}"/>
              </a:ext>
            </a:extLst>
          </p:cNvPr>
          <p:cNvSpPr/>
          <p:nvPr/>
        </p:nvSpPr>
        <p:spPr>
          <a:xfrm>
            <a:off x="5980083" y="2613095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Delivery`23.05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E0FE2FD-F107-90E4-2808-91CF611A3EB1}"/>
              </a:ext>
            </a:extLst>
          </p:cNvPr>
          <p:cNvSpPr/>
          <p:nvPr/>
        </p:nvSpPr>
        <p:spPr>
          <a:xfrm>
            <a:off x="5980083" y="2833168"/>
            <a:ext cx="822960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3</a:t>
            </a:r>
            <a:r>
              <a:rPr kumimoji="0" lang="en-US" sz="900" b="1" i="0" u="none" strike="noStrike" kern="1200" cap="none" spc="-10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rd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Delivery </a:t>
            </a: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`23.06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92" name="직선 연결선 39">
            <a:extLst>
              <a:ext uri="{FF2B5EF4-FFF2-40B4-BE49-F238E27FC236}">
                <a16:creationId xmlns:a16="http://schemas.microsoft.com/office/drawing/2014/main" id="{D68F1211-82D2-F813-872A-9E3F654E68FB}"/>
              </a:ext>
            </a:extLst>
          </p:cNvPr>
          <p:cNvCxnSpPr>
            <a:cxnSpLocks/>
            <a:stCxn id="79" idx="3"/>
            <a:endCxn id="82" idx="1"/>
          </p:cNvCxnSpPr>
          <p:nvPr/>
        </p:nvCxnSpPr>
        <p:spPr>
          <a:xfrm>
            <a:off x="7946349" y="2482814"/>
            <a:ext cx="520873" cy="20350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39">
            <a:extLst>
              <a:ext uri="{FF2B5EF4-FFF2-40B4-BE49-F238E27FC236}">
                <a16:creationId xmlns:a16="http://schemas.microsoft.com/office/drawing/2014/main" id="{AA51E386-299C-13C2-848F-EEF34BB1947C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V="1">
            <a:off x="7946349" y="2686314"/>
            <a:ext cx="520873" cy="16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39">
            <a:extLst>
              <a:ext uri="{FF2B5EF4-FFF2-40B4-BE49-F238E27FC236}">
                <a16:creationId xmlns:a16="http://schemas.microsoft.com/office/drawing/2014/main" id="{B6D2E60D-4578-B339-4111-EE64A87C3AEF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 flipV="1">
            <a:off x="7946349" y="2686314"/>
            <a:ext cx="520873" cy="23664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2B9ECDB-6133-804A-73E7-984BC757E561}"/>
              </a:ext>
            </a:extLst>
          </p:cNvPr>
          <p:cNvSpPr/>
          <p:nvPr/>
        </p:nvSpPr>
        <p:spPr>
          <a:xfrm>
            <a:off x="8358499" y="2421322"/>
            <a:ext cx="520873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Fast React Planning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E20FEF6-0C48-0626-7527-6B28F320F7C2}"/>
              </a:ext>
            </a:extLst>
          </p:cNvPr>
          <p:cNvSpPr/>
          <p:nvPr/>
        </p:nvSpPr>
        <p:spPr>
          <a:xfrm>
            <a:off x="4822986" y="3200918"/>
            <a:ext cx="4313394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Buyer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납기별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 생산계획 수립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Sales Order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와 생산계획 및 실행 연계 강화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C131B42-1BFF-5116-0996-5A614206DF05}"/>
              </a:ext>
            </a:extLst>
          </p:cNvPr>
          <p:cNvSpPr/>
          <p:nvPr/>
        </p:nvSpPr>
        <p:spPr>
          <a:xfrm>
            <a:off x="1601392" y="5339323"/>
            <a:ext cx="2711122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법인별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생산관리 방식 상이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 과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 투입 분석 관리 미흡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004F526-55C7-0703-FA5F-141C230B6EFC}"/>
              </a:ext>
            </a:extLst>
          </p:cNvPr>
          <p:cNvSpPr/>
          <p:nvPr/>
        </p:nvSpPr>
        <p:spPr>
          <a:xfrm>
            <a:off x="2985532" y="4331491"/>
            <a:ext cx="822960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8992E4C-7AB8-EFDE-0B34-7614860AA510}"/>
              </a:ext>
            </a:extLst>
          </p:cNvPr>
          <p:cNvSpPr/>
          <p:nvPr/>
        </p:nvSpPr>
        <p:spPr>
          <a:xfrm>
            <a:off x="3195954" y="4555650"/>
            <a:ext cx="69654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Component A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BF5A918-0886-2529-17A4-A702236E3773}"/>
              </a:ext>
            </a:extLst>
          </p:cNvPr>
          <p:cNvSpPr/>
          <p:nvPr/>
        </p:nvSpPr>
        <p:spPr>
          <a:xfrm>
            <a:off x="3195954" y="4725830"/>
            <a:ext cx="696542" cy="1428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Component B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B056951C-AD8C-F506-789A-D6FEFED89A34}"/>
              </a:ext>
            </a:extLst>
          </p:cNvPr>
          <p:cNvSpPr/>
          <p:nvPr/>
        </p:nvSpPr>
        <p:spPr>
          <a:xfrm>
            <a:off x="3195954" y="4929030"/>
            <a:ext cx="696542" cy="142829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Component Z</a:t>
            </a:r>
          </a:p>
        </p:txBody>
      </p:sp>
      <p:cxnSp>
        <p:nvCxnSpPr>
          <p:cNvPr id="115" name="직선 연결선 39">
            <a:extLst>
              <a:ext uri="{FF2B5EF4-FFF2-40B4-BE49-F238E27FC236}">
                <a16:creationId xmlns:a16="http://schemas.microsoft.com/office/drawing/2014/main" id="{F306BC6A-945C-0ADE-2E18-0A4C6A8A8E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0203" y="4617160"/>
            <a:ext cx="274320" cy="91440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39">
            <a:extLst>
              <a:ext uri="{FF2B5EF4-FFF2-40B4-BE49-F238E27FC236}">
                <a16:creationId xmlns:a16="http://schemas.microsoft.com/office/drawing/2014/main" id="{32F33A3D-FFA2-8FF4-5CDE-360757A3A1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0203" y="4827302"/>
            <a:ext cx="274320" cy="91440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0D30F8C-F647-DC7A-409C-5306E04347D4}"/>
              </a:ext>
            </a:extLst>
          </p:cNvPr>
          <p:cNvSpPr/>
          <p:nvPr/>
        </p:nvSpPr>
        <p:spPr>
          <a:xfrm>
            <a:off x="2887039" y="4103164"/>
            <a:ext cx="1491921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단위 소요량 계산 제한 원재료 누락 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EC53E8B-986B-4C95-B5BB-B2A07CE4D66C}"/>
              </a:ext>
            </a:extLst>
          </p:cNvPr>
          <p:cNvSpPr/>
          <p:nvPr/>
        </p:nvSpPr>
        <p:spPr>
          <a:xfrm>
            <a:off x="3193083" y="5072630"/>
            <a:ext cx="799162" cy="25574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Ink / Chemical,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Tape / Sticker..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FFC19CA-B80A-3A16-6B3D-B3F7E8E56A2F}"/>
              </a:ext>
            </a:extLst>
          </p:cNvPr>
          <p:cNvSpPr/>
          <p:nvPr/>
        </p:nvSpPr>
        <p:spPr>
          <a:xfrm>
            <a:off x="1601392" y="4099873"/>
            <a:ext cx="1062183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 기준 상이 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E429CBD3-C164-0ABE-36EC-37F9C3A35364}"/>
              </a:ext>
            </a:extLst>
          </p:cNvPr>
          <p:cNvSpPr/>
          <p:nvPr/>
        </p:nvSpPr>
        <p:spPr>
          <a:xfrm>
            <a:off x="1601393" y="4331491"/>
            <a:ext cx="387428" cy="2313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Dhaka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4486243-F263-509F-159B-3DFE203DE368}"/>
              </a:ext>
            </a:extLst>
          </p:cNvPr>
          <p:cNvSpPr/>
          <p:nvPr/>
        </p:nvSpPr>
        <p:spPr>
          <a:xfrm>
            <a:off x="2027636" y="4331491"/>
            <a:ext cx="387428" cy="23340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Chittagong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E7B70803-2E43-2E37-5592-F8FE26911449}"/>
              </a:ext>
            </a:extLst>
          </p:cNvPr>
          <p:cNvSpPr/>
          <p:nvPr/>
        </p:nvSpPr>
        <p:spPr>
          <a:xfrm>
            <a:off x="2448529" y="4331491"/>
            <a:ext cx="387428" cy="23340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Vietnam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E0DEF59-3D04-0A19-0BA9-C140AC7D2E59}"/>
              </a:ext>
            </a:extLst>
          </p:cNvPr>
          <p:cNvSpPr/>
          <p:nvPr/>
        </p:nvSpPr>
        <p:spPr>
          <a:xfrm>
            <a:off x="1601392" y="4588665"/>
            <a:ext cx="387428" cy="2998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생산완료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3631887-E1FE-AE62-76A6-1C087E3B3D2C}"/>
              </a:ext>
            </a:extLst>
          </p:cNvPr>
          <p:cNvSpPr/>
          <p:nvPr/>
        </p:nvSpPr>
        <p:spPr>
          <a:xfrm>
            <a:off x="2448529" y="4588665"/>
            <a:ext cx="387428" cy="2998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생산완료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F507EFA-C358-3B46-519E-F32935EDE316}"/>
              </a:ext>
            </a:extLst>
          </p:cNvPr>
          <p:cNvSpPr/>
          <p:nvPr/>
        </p:nvSpPr>
        <p:spPr>
          <a:xfrm>
            <a:off x="2027636" y="4588665"/>
            <a:ext cx="387428" cy="2998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제품입고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4C6EEF7C-7576-9612-20B4-0527CE38BD5C}"/>
              </a:ext>
            </a:extLst>
          </p:cNvPr>
          <p:cNvSpPr/>
          <p:nvPr/>
        </p:nvSpPr>
        <p:spPr>
          <a:xfrm>
            <a:off x="1602991" y="4922392"/>
            <a:ext cx="387428" cy="2998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</a:t>
            </a:r>
            <a:endParaRPr kumimoji="0" lang="en-US" altLang="ko-KR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작업시간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D187530D-EDE3-D036-1764-D0A578DDBE60}"/>
              </a:ext>
            </a:extLst>
          </p:cNvPr>
          <p:cNvSpPr/>
          <p:nvPr/>
        </p:nvSpPr>
        <p:spPr>
          <a:xfrm>
            <a:off x="2450128" y="4922392"/>
            <a:ext cx="387428" cy="2998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</a:t>
            </a:r>
            <a:r>
              <a:rPr kumimoji="0" lang="en-US" altLang="ko-KR" sz="700" b="1" i="0" u="none" strike="noStrike" kern="1200" cap="none" spc="-10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&amp;</a:t>
            </a: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표준작업시간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418F573-0F9D-792B-83EA-56CF3B5B4F52}"/>
              </a:ext>
            </a:extLst>
          </p:cNvPr>
          <p:cNvSpPr/>
          <p:nvPr/>
        </p:nvSpPr>
        <p:spPr>
          <a:xfrm>
            <a:off x="2029235" y="4922392"/>
            <a:ext cx="387428" cy="2998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</a:t>
            </a:r>
            <a:r>
              <a:rPr kumimoji="0" lang="en-US" altLang="ko-KR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&amp;</a:t>
            </a: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표준작업시간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BBC798B3-6A22-BB41-8FF4-F816F09DD882}"/>
              </a:ext>
            </a:extLst>
          </p:cNvPr>
          <p:cNvSpPr/>
          <p:nvPr/>
        </p:nvSpPr>
        <p:spPr>
          <a:xfrm>
            <a:off x="4842676" y="4099873"/>
            <a:ext cx="1062183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 기준 표준화 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5902EA73-8F4C-3906-81A3-9B1461980F48}"/>
              </a:ext>
            </a:extLst>
          </p:cNvPr>
          <p:cNvSpPr/>
          <p:nvPr/>
        </p:nvSpPr>
        <p:spPr>
          <a:xfrm>
            <a:off x="4839564" y="4326960"/>
            <a:ext cx="387428" cy="2313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Dhaka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CDC7CB03-65F6-1AE7-68DB-AE8B0AC588BD}"/>
              </a:ext>
            </a:extLst>
          </p:cNvPr>
          <p:cNvSpPr/>
          <p:nvPr/>
        </p:nvSpPr>
        <p:spPr>
          <a:xfrm>
            <a:off x="5270355" y="4326960"/>
            <a:ext cx="387428" cy="23340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BD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Chittagong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B01D11B-A879-5E5C-D568-617BFAF10BD8}"/>
              </a:ext>
            </a:extLst>
          </p:cNvPr>
          <p:cNvSpPr/>
          <p:nvPr/>
        </p:nvSpPr>
        <p:spPr>
          <a:xfrm>
            <a:off x="5701146" y="4326960"/>
            <a:ext cx="387428" cy="23340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Vietnam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E8C3DC9-3C8C-E11E-10FD-53535BAD7624}"/>
              </a:ext>
            </a:extLst>
          </p:cNvPr>
          <p:cNvSpPr/>
          <p:nvPr/>
        </p:nvSpPr>
        <p:spPr>
          <a:xfrm>
            <a:off x="4839564" y="4627005"/>
            <a:ext cx="1249008" cy="2998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생산완료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CF3E4F-38DB-BC36-18DA-64C67CFB0936}"/>
              </a:ext>
            </a:extLst>
          </p:cNvPr>
          <p:cNvSpPr/>
          <p:nvPr/>
        </p:nvSpPr>
        <p:spPr>
          <a:xfrm>
            <a:off x="4839565" y="4980142"/>
            <a:ext cx="1249008" cy="2998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</a:t>
            </a:r>
            <a:endParaRPr kumimoji="0" lang="en-US" altLang="ko-KR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작업시간</a:t>
            </a:r>
            <a:endParaRPr kumimoji="0" lang="en-US" sz="7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ACF5A7DE-7479-AF5E-B2E9-4B55CEACD0B6}"/>
              </a:ext>
            </a:extLst>
          </p:cNvPr>
          <p:cNvSpPr/>
          <p:nvPr/>
        </p:nvSpPr>
        <p:spPr>
          <a:xfrm>
            <a:off x="4822986" y="5339323"/>
            <a:ext cx="4381974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 기준 표준화로 생산실적 집계 항목의 명확성 증가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 투입 이력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Monitoring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통한 과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 투입 처리체계 수립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4D0611B-757E-299A-3446-63ED906D2D1F}"/>
              </a:ext>
            </a:extLst>
          </p:cNvPr>
          <p:cNvSpPr/>
          <p:nvPr/>
        </p:nvSpPr>
        <p:spPr>
          <a:xfrm>
            <a:off x="6242205" y="4099873"/>
            <a:ext cx="2480155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소요량 기준 원재료 투입 실적 및 생산 실적 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Monitoring ]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8BB2413-DDC2-3C91-4141-044AE0B6E3AA}"/>
              </a:ext>
            </a:extLst>
          </p:cNvPr>
          <p:cNvSpPr/>
          <p:nvPr/>
        </p:nvSpPr>
        <p:spPr>
          <a:xfrm>
            <a:off x="6258450" y="4713549"/>
            <a:ext cx="548749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Comp.A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FA893724-9230-55BF-BCA7-914308950192}"/>
              </a:ext>
            </a:extLst>
          </p:cNvPr>
          <p:cNvSpPr/>
          <p:nvPr/>
        </p:nvSpPr>
        <p:spPr>
          <a:xfrm>
            <a:off x="6258450" y="4910086"/>
            <a:ext cx="548749" cy="1733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Comp.B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2C97392-B118-ECEF-B6A9-C456ACACE750}"/>
              </a:ext>
            </a:extLst>
          </p:cNvPr>
          <p:cNvSpPr/>
          <p:nvPr/>
        </p:nvSpPr>
        <p:spPr>
          <a:xfrm>
            <a:off x="6258450" y="5106623"/>
            <a:ext cx="548749" cy="173366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Comp.Z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5315EC3-B309-5718-D375-CE2F48D97BC7}"/>
              </a:ext>
            </a:extLst>
          </p:cNvPr>
          <p:cNvSpPr/>
          <p:nvPr/>
        </p:nvSpPr>
        <p:spPr>
          <a:xfrm>
            <a:off x="6864077" y="4517012"/>
            <a:ext cx="365760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소요량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7CDB5C0E-9F42-9590-73B6-446368761EC5}"/>
              </a:ext>
            </a:extLst>
          </p:cNvPr>
          <p:cNvSpPr/>
          <p:nvPr/>
        </p:nvSpPr>
        <p:spPr>
          <a:xfrm>
            <a:off x="7271304" y="4517012"/>
            <a:ext cx="365760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투입량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3F66E66-6859-C256-25DC-9C1A5FA9E467}"/>
              </a:ext>
            </a:extLst>
          </p:cNvPr>
          <p:cNvSpPr/>
          <p:nvPr/>
        </p:nvSpPr>
        <p:spPr>
          <a:xfrm>
            <a:off x="7681047" y="4517012"/>
            <a:ext cx="365760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오차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C153350-5AF4-3BA9-B8B6-37FFF4A68213}"/>
              </a:ext>
            </a:extLst>
          </p:cNvPr>
          <p:cNvSpPr/>
          <p:nvPr/>
        </p:nvSpPr>
        <p:spPr>
          <a:xfrm>
            <a:off x="6864077" y="4713549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530E321A-310B-1E15-3FCF-F35D19C12A6E}"/>
              </a:ext>
            </a:extLst>
          </p:cNvPr>
          <p:cNvSpPr/>
          <p:nvPr/>
        </p:nvSpPr>
        <p:spPr>
          <a:xfrm>
            <a:off x="7271304" y="4713549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88C6D47-37B1-9C95-66DF-03EF13EADD9F}"/>
              </a:ext>
            </a:extLst>
          </p:cNvPr>
          <p:cNvSpPr/>
          <p:nvPr/>
        </p:nvSpPr>
        <p:spPr>
          <a:xfrm>
            <a:off x="7681047" y="4713549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06FDBF00-F374-6841-B36B-F8EFFAB7427D}"/>
              </a:ext>
            </a:extLst>
          </p:cNvPr>
          <p:cNvSpPr/>
          <p:nvPr/>
        </p:nvSpPr>
        <p:spPr>
          <a:xfrm>
            <a:off x="6864077" y="4910086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04892028-6C86-E894-65F0-F142F4A77BD1}"/>
              </a:ext>
            </a:extLst>
          </p:cNvPr>
          <p:cNvSpPr/>
          <p:nvPr/>
        </p:nvSpPr>
        <p:spPr>
          <a:xfrm>
            <a:off x="7271304" y="4910086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374348A-37D7-A392-E932-BAC4159767B7}"/>
              </a:ext>
            </a:extLst>
          </p:cNvPr>
          <p:cNvSpPr/>
          <p:nvPr/>
        </p:nvSpPr>
        <p:spPr>
          <a:xfrm>
            <a:off x="7681047" y="4910086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C03E09E-C1C0-08EF-3E80-BA20F7667D62}"/>
              </a:ext>
            </a:extLst>
          </p:cNvPr>
          <p:cNvSpPr/>
          <p:nvPr/>
        </p:nvSpPr>
        <p:spPr>
          <a:xfrm>
            <a:off x="6864077" y="5106623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6FD14E5-7739-0BDC-E353-F9D5952F901A}"/>
              </a:ext>
            </a:extLst>
          </p:cNvPr>
          <p:cNvSpPr/>
          <p:nvPr/>
        </p:nvSpPr>
        <p:spPr>
          <a:xfrm>
            <a:off x="7271304" y="5106623"/>
            <a:ext cx="365760" cy="17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CCE4D729-1630-A034-FF31-97FC6474CA8F}"/>
              </a:ext>
            </a:extLst>
          </p:cNvPr>
          <p:cNvSpPr/>
          <p:nvPr/>
        </p:nvSpPr>
        <p:spPr>
          <a:xfrm>
            <a:off x="7681047" y="5106623"/>
            <a:ext cx="365760" cy="1724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C104992-AD26-67C1-903C-C4129660EE5A}"/>
              </a:ext>
            </a:extLst>
          </p:cNvPr>
          <p:cNvSpPr/>
          <p:nvPr/>
        </p:nvSpPr>
        <p:spPr>
          <a:xfrm>
            <a:off x="6255911" y="4517012"/>
            <a:ext cx="548749" cy="17336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Product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E08A617C-E35F-12B0-9F53-20D46C34117D}"/>
              </a:ext>
            </a:extLst>
          </p:cNvPr>
          <p:cNvSpPr/>
          <p:nvPr/>
        </p:nvSpPr>
        <p:spPr>
          <a:xfrm>
            <a:off x="8452300" y="4736597"/>
            <a:ext cx="512881" cy="1371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자동투입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7D6983F1-9D0F-F48D-5114-97EC195D4267}"/>
              </a:ext>
            </a:extLst>
          </p:cNvPr>
          <p:cNvSpPr/>
          <p:nvPr/>
        </p:nvSpPr>
        <p:spPr>
          <a:xfrm>
            <a:off x="8452299" y="4907025"/>
            <a:ext cx="512881" cy="1371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비율배부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A1AFB95-C4D0-CD90-96A3-BB9D0749FE48}"/>
              </a:ext>
            </a:extLst>
          </p:cNvPr>
          <p:cNvSpPr/>
          <p:nvPr/>
        </p:nvSpPr>
        <p:spPr>
          <a:xfrm>
            <a:off x="8388699" y="4549334"/>
            <a:ext cx="640080" cy="52068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누락보완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67" name="직선 연결선 39">
            <a:extLst>
              <a:ext uri="{FF2B5EF4-FFF2-40B4-BE49-F238E27FC236}">
                <a16:creationId xmlns:a16="http://schemas.microsoft.com/office/drawing/2014/main" id="{A0EE3DF5-320A-C6CF-F7A2-1E6AA39DC1EA}"/>
              </a:ext>
            </a:extLst>
          </p:cNvPr>
          <p:cNvCxnSpPr>
            <a:cxnSpLocks/>
            <a:stCxn id="166" idx="2"/>
            <a:endCxn id="162" idx="3"/>
          </p:cNvCxnSpPr>
          <p:nvPr/>
        </p:nvCxnSpPr>
        <p:spPr>
          <a:xfrm rot="5400000">
            <a:off x="8316349" y="4800481"/>
            <a:ext cx="122849" cy="661932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39">
            <a:extLst>
              <a:ext uri="{FF2B5EF4-FFF2-40B4-BE49-F238E27FC236}">
                <a16:creationId xmlns:a16="http://schemas.microsoft.com/office/drawing/2014/main" id="{2C30B0C5-670B-48E3-90E5-C2E216AE6351}"/>
              </a:ext>
            </a:extLst>
          </p:cNvPr>
          <p:cNvCxnSpPr>
            <a:cxnSpLocks/>
            <a:stCxn id="163" idx="0"/>
            <a:endCxn id="166" idx="0"/>
          </p:cNvCxnSpPr>
          <p:nvPr/>
        </p:nvCxnSpPr>
        <p:spPr>
          <a:xfrm rot="16200000" flipH="1">
            <a:off x="7603351" y="3443947"/>
            <a:ext cx="32322" cy="2178453"/>
          </a:xfrm>
          <a:prstGeom prst="bentConnector3">
            <a:avLst>
              <a:gd name="adj1" fmla="val -359517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32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 smtClean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관리회계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9461F236-0ED6-FD1A-A0AF-930711B83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System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기반 적시 정보 수집</a:t>
            </a:r>
            <a:r>
              <a:rPr lang="ko-KR" altLang="en-US" dirty="0"/>
              <a:t>과 월 단위 원가 인식 체계 구축을 통해 원가 왜곡을 최소화 하고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목표대비 실제 원가 분석이 가능한 환경을 조성하고 다차원 손익 분석 체계를 고도화 함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1427E9-6384-3483-048F-672E57320977}"/>
              </a:ext>
            </a:extLst>
          </p:cNvPr>
          <p:cNvSpPr/>
          <p:nvPr/>
        </p:nvSpPr>
        <p:spPr>
          <a:xfrm>
            <a:off x="1577340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2963718-220A-A5AD-F338-65010D98A629}"/>
              </a:ext>
            </a:extLst>
          </p:cNvPr>
          <p:cNvSpPr/>
          <p:nvPr/>
        </p:nvSpPr>
        <p:spPr>
          <a:xfrm>
            <a:off x="5288043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To-Be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26A072F-83AC-AF64-9146-7D2EA54EB49A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원가계산 정확도 확보와 분석 역량 강화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다차원 손익분석 체계 및 분석항목 표준화</a:t>
            </a:r>
            <a:endParaRPr kumimoji="0" lang="en-US" altLang="ko-KR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080B30A-59CA-4440-BDCE-DCF95A4F5FA6}"/>
              </a:ext>
            </a:extLst>
          </p:cNvPr>
          <p:cNvGrpSpPr/>
          <p:nvPr/>
        </p:nvGrpSpPr>
        <p:grpSpPr>
          <a:xfrm>
            <a:off x="614113" y="3870959"/>
            <a:ext cx="8686589" cy="1954753"/>
            <a:chOff x="614113" y="1732554"/>
            <a:chExt cx="8686589" cy="1954753"/>
          </a:xfrm>
        </p:grpSpPr>
        <p:cxnSp>
          <p:nvCxnSpPr>
            <p:cNvPr id="78" name="직선 연결선 39">
              <a:extLst>
                <a:ext uri="{FF2B5EF4-FFF2-40B4-BE49-F238E27FC236}">
                  <a16:creationId xmlns:a16="http://schemas.microsoft.com/office/drawing/2014/main" id="{A8D5CFAF-0762-7E4F-CE5B-CC4965F16CE4}"/>
                </a:ext>
              </a:extLst>
            </p:cNvPr>
            <p:cNvCxnSpPr>
              <a:cxnSpLocks/>
              <a:stCxn id="41" idx="2"/>
              <a:endCxn id="34" idx="0"/>
            </p:cNvCxnSpPr>
            <p:nvPr/>
          </p:nvCxnSpPr>
          <p:spPr>
            <a:xfrm>
              <a:off x="5166532" y="2638904"/>
              <a:ext cx="792383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39">
              <a:extLst>
                <a:ext uri="{FF2B5EF4-FFF2-40B4-BE49-F238E27FC236}">
                  <a16:creationId xmlns:a16="http://schemas.microsoft.com/office/drawing/2014/main" id="{3C277431-D8BD-60E4-15FF-7B0D6A80F518}"/>
                </a:ext>
              </a:extLst>
            </p:cNvPr>
            <p:cNvCxnSpPr>
              <a:cxnSpLocks/>
              <a:stCxn id="42" idx="2"/>
              <a:endCxn id="34" idx="0"/>
            </p:cNvCxnSpPr>
            <p:nvPr/>
          </p:nvCxnSpPr>
          <p:spPr>
            <a:xfrm>
              <a:off x="5634425" y="2638904"/>
              <a:ext cx="324490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39">
              <a:extLst>
                <a:ext uri="{FF2B5EF4-FFF2-40B4-BE49-F238E27FC236}">
                  <a16:creationId xmlns:a16="http://schemas.microsoft.com/office/drawing/2014/main" id="{A8129904-3340-613D-8C65-02B0E9E6E083}"/>
                </a:ext>
              </a:extLst>
            </p:cNvPr>
            <p:cNvCxnSpPr>
              <a:cxnSpLocks/>
              <a:stCxn id="53" idx="2"/>
              <a:endCxn id="34" idx="0"/>
            </p:cNvCxnSpPr>
            <p:nvPr/>
          </p:nvCxnSpPr>
          <p:spPr>
            <a:xfrm flipH="1">
              <a:off x="5958915" y="2638904"/>
              <a:ext cx="760590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39">
              <a:extLst>
                <a:ext uri="{FF2B5EF4-FFF2-40B4-BE49-F238E27FC236}">
                  <a16:creationId xmlns:a16="http://schemas.microsoft.com/office/drawing/2014/main" id="{5D348AD0-4598-6B9B-F689-F1D0F4E140AA}"/>
                </a:ext>
              </a:extLst>
            </p:cNvPr>
            <p:cNvCxnSpPr>
              <a:cxnSpLocks/>
              <a:stCxn id="57" idx="2"/>
              <a:endCxn id="34" idx="0"/>
            </p:cNvCxnSpPr>
            <p:nvPr/>
          </p:nvCxnSpPr>
          <p:spPr>
            <a:xfrm flipH="1">
              <a:off x="5958915" y="2638904"/>
              <a:ext cx="1720147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39">
              <a:extLst>
                <a:ext uri="{FF2B5EF4-FFF2-40B4-BE49-F238E27FC236}">
                  <a16:creationId xmlns:a16="http://schemas.microsoft.com/office/drawing/2014/main" id="{D9749B56-41A9-23BA-3DBF-57892A5CF2F6}"/>
                </a:ext>
              </a:extLst>
            </p:cNvPr>
            <p:cNvCxnSpPr>
              <a:cxnSpLocks/>
              <a:stCxn id="49" idx="2"/>
              <a:endCxn id="33" idx="0"/>
            </p:cNvCxnSpPr>
            <p:nvPr/>
          </p:nvCxnSpPr>
          <p:spPr>
            <a:xfrm>
              <a:off x="6102317" y="2638904"/>
              <a:ext cx="1006906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39">
              <a:extLst>
                <a:ext uri="{FF2B5EF4-FFF2-40B4-BE49-F238E27FC236}">
                  <a16:creationId xmlns:a16="http://schemas.microsoft.com/office/drawing/2014/main" id="{84A819CB-7A5F-9CB1-0E7B-9ECDEE3CE706}"/>
                </a:ext>
              </a:extLst>
            </p:cNvPr>
            <p:cNvCxnSpPr>
              <a:cxnSpLocks/>
              <a:stCxn id="56" idx="2"/>
              <a:endCxn id="33" idx="0"/>
            </p:cNvCxnSpPr>
            <p:nvPr/>
          </p:nvCxnSpPr>
          <p:spPr>
            <a:xfrm flipH="1">
              <a:off x="7109223" y="2638904"/>
              <a:ext cx="90061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39">
              <a:extLst>
                <a:ext uri="{FF2B5EF4-FFF2-40B4-BE49-F238E27FC236}">
                  <a16:creationId xmlns:a16="http://schemas.microsoft.com/office/drawing/2014/main" id="{B9B66B08-2580-41CD-3F99-02495B62D762}"/>
                </a:ext>
              </a:extLst>
            </p:cNvPr>
            <p:cNvCxnSpPr>
              <a:cxnSpLocks/>
              <a:stCxn id="58" idx="2"/>
              <a:endCxn id="33" idx="0"/>
            </p:cNvCxnSpPr>
            <p:nvPr/>
          </p:nvCxnSpPr>
          <p:spPr>
            <a:xfrm flipH="1">
              <a:off x="7109223" y="2638904"/>
              <a:ext cx="1230147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39">
              <a:extLst>
                <a:ext uri="{FF2B5EF4-FFF2-40B4-BE49-F238E27FC236}">
                  <a16:creationId xmlns:a16="http://schemas.microsoft.com/office/drawing/2014/main" id="{2FCB4934-78BF-D941-D81E-4D314CF60DFF}"/>
                </a:ext>
              </a:extLst>
            </p:cNvPr>
            <p:cNvCxnSpPr>
              <a:cxnSpLocks/>
              <a:stCxn id="42" idx="2"/>
              <a:endCxn id="35" idx="0"/>
            </p:cNvCxnSpPr>
            <p:nvPr/>
          </p:nvCxnSpPr>
          <p:spPr>
            <a:xfrm>
              <a:off x="5634425" y="2638904"/>
              <a:ext cx="2607924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39">
              <a:extLst>
                <a:ext uri="{FF2B5EF4-FFF2-40B4-BE49-F238E27FC236}">
                  <a16:creationId xmlns:a16="http://schemas.microsoft.com/office/drawing/2014/main" id="{4BDECBD7-47EF-DC69-DC84-2105983C6B1B}"/>
                </a:ext>
              </a:extLst>
            </p:cNvPr>
            <p:cNvCxnSpPr>
              <a:cxnSpLocks/>
              <a:stCxn id="59" idx="2"/>
              <a:endCxn id="34" idx="0"/>
            </p:cNvCxnSpPr>
            <p:nvPr/>
          </p:nvCxnSpPr>
          <p:spPr>
            <a:xfrm flipH="1">
              <a:off x="5958915" y="2638904"/>
              <a:ext cx="2855331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39">
              <a:extLst>
                <a:ext uri="{FF2B5EF4-FFF2-40B4-BE49-F238E27FC236}">
                  <a16:creationId xmlns:a16="http://schemas.microsoft.com/office/drawing/2014/main" id="{061DEA3B-A49B-DB61-EAEC-8824CB14BA9B}"/>
                </a:ext>
              </a:extLst>
            </p:cNvPr>
            <p:cNvCxnSpPr>
              <a:cxnSpLocks/>
              <a:stCxn id="59" idx="2"/>
              <a:endCxn id="35" idx="0"/>
            </p:cNvCxnSpPr>
            <p:nvPr/>
          </p:nvCxnSpPr>
          <p:spPr>
            <a:xfrm flipH="1">
              <a:off x="8242349" y="2638904"/>
              <a:ext cx="571897" cy="28042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0C38175-F813-7D7C-1DE7-DEB843BBEAA6}"/>
                </a:ext>
              </a:extLst>
            </p:cNvPr>
            <p:cNvSpPr/>
            <p:nvPr/>
          </p:nvSpPr>
          <p:spPr>
            <a:xfrm>
              <a:off x="614113" y="1732554"/>
              <a:ext cx="727007" cy="195475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Profit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Analysis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93796BD-8CE7-E6BF-CBF7-03116BFA0D8E}"/>
                </a:ext>
              </a:extLst>
            </p:cNvPr>
            <p:cNvSpPr/>
            <p:nvPr/>
          </p:nvSpPr>
          <p:spPr>
            <a:xfrm>
              <a:off x="4822986" y="1732554"/>
              <a:ext cx="4313394" cy="23340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[ System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기반 통합 수익분석 구조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다차원 분석 체계 구축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369B0C8-AE84-8F07-D84C-86B801FB16A7}"/>
                </a:ext>
              </a:extLst>
            </p:cNvPr>
            <p:cNvSpPr/>
            <p:nvPr/>
          </p:nvSpPr>
          <p:spPr>
            <a:xfrm>
              <a:off x="1609419" y="1732554"/>
              <a:ext cx="2660624" cy="23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[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수작업 손익분석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분석 기준 부재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A7DE4D-BE9E-0C5E-3033-B129FB235145}"/>
                </a:ext>
              </a:extLst>
            </p:cNvPr>
            <p:cNvSpPr/>
            <p:nvPr/>
          </p:nvSpPr>
          <p:spPr>
            <a:xfrm>
              <a:off x="2521430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Business Unit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64B2733-1E48-21CC-5C43-A58472354598}"/>
                </a:ext>
              </a:extLst>
            </p:cNvPr>
            <p:cNvSpPr/>
            <p:nvPr/>
          </p:nvSpPr>
          <p:spPr>
            <a:xfrm>
              <a:off x="1609419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49E1514-35C7-534D-5639-5F91F62C25A9}"/>
                </a:ext>
              </a:extLst>
            </p:cNvPr>
            <p:cNvSpPr/>
            <p:nvPr/>
          </p:nvSpPr>
          <p:spPr>
            <a:xfrm>
              <a:off x="3447083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C136465-65A5-EB78-C9C4-AABC853FC8D0}"/>
                </a:ext>
              </a:extLst>
            </p:cNvPr>
            <p:cNvSpPr/>
            <p:nvPr/>
          </p:nvSpPr>
          <p:spPr>
            <a:xfrm>
              <a:off x="1609419" y="3200918"/>
              <a:ext cx="2711122" cy="48638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손익산출을 위한 전사관점 관리 항목 부재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수작업 손익 산출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1CE98D5-6BC6-B2CA-A3A7-A288900F3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30430" y="2508279"/>
              <a:ext cx="204961" cy="20496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CA679-74AE-0B74-74D9-263FA64928D1}"/>
                </a:ext>
              </a:extLst>
            </p:cNvPr>
            <p:cNvSpPr/>
            <p:nvPr/>
          </p:nvSpPr>
          <p:spPr>
            <a:xfrm>
              <a:off x="3063869" y="2546472"/>
              <a:ext cx="1086491" cy="12484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Manual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손익산출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39">
              <a:extLst>
                <a:ext uri="{FF2B5EF4-FFF2-40B4-BE49-F238E27FC236}">
                  <a16:creationId xmlns:a16="http://schemas.microsoft.com/office/drawing/2014/main" id="{5FE0174F-7500-25C8-82EB-52B588522E37}"/>
                </a:ext>
              </a:extLst>
            </p:cNvPr>
            <p:cNvCxnSpPr>
              <a:cxnSpLocks/>
              <a:stCxn id="10" idx="2"/>
              <a:endCxn id="6" idx="0"/>
            </p:cNvCxnSpPr>
            <p:nvPr/>
          </p:nvCxnSpPr>
          <p:spPr>
            <a:xfrm rot="5400000">
              <a:off x="2373863" y="2360276"/>
              <a:ext cx="206085" cy="91201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39">
              <a:extLst>
                <a:ext uri="{FF2B5EF4-FFF2-40B4-BE49-F238E27FC236}">
                  <a16:creationId xmlns:a16="http://schemas.microsoft.com/office/drawing/2014/main" id="{C5D159D0-7D1E-FC24-69CC-2125B7691838}"/>
                </a:ext>
              </a:extLst>
            </p:cNvPr>
            <p:cNvCxnSpPr>
              <a:cxnSpLocks/>
              <a:stCxn id="10" idx="2"/>
              <a:endCxn id="8" idx="0"/>
            </p:cNvCxnSpPr>
            <p:nvPr/>
          </p:nvCxnSpPr>
          <p:spPr>
            <a:xfrm rot="16200000" flipH="1">
              <a:off x="3292695" y="2353456"/>
              <a:ext cx="206085" cy="92565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39">
              <a:extLst>
                <a:ext uri="{FF2B5EF4-FFF2-40B4-BE49-F238E27FC236}">
                  <a16:creationId xmlns:a16="http://schemas.microsoft.com/office/drawing/2014/main" id="{DFF4CC83-5338-DF73-A1A3-7B3F5A9D6CB7}"/>
                </a:ext>
              </a:extLst>
            </p:cNvPr>
            <p:cNvCxnSpPr>
              <a:cxnSpLocks/>
              <a:stCxn id="10" idx="2"/>
              <a:endCxn id="3" idx="0"/>
            </p:cNvCxnSpPr>
            <p:nvPr/>
          </p:nvCxnSpPr>
          <p:spPr>
            <a:xfrm flipH="1">
              <a:off x="2932910" y="2713240"/>
              <a:ext cx="1" cy="20608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D9B18DD-62E5-6204-7FC3-D3946F0A3A36}"/>
                </a:ext>
              </a:extLst>
            </p:cNvPr>
            <p:cNvSpPr/>
            <p:nvPr/>
          </p:nvSpPr>
          <p:spPr>
            <a:xfrm>
              <a:off x="1609419" y="2076876"/>
              <a:ext cx="822960" cy="1733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계약서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E12880E-BF10-B069-4972-0E7ED00D5E6A}"/>
                </a:ext>
              </a:extLst>
            </p:cNvPr>
            <p:cNvSpPr/>
            <p:nvPr/>
          </p:nvSpPr>
          <p:spPr>
            <a:xfrm>
              <a:off x="2521430" y="2073213"/>
              <a:ext cx="822960" cy="1733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매출정보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084CDD8-4EE1-2484-7BF0-57993D254E87}"/>
                </a:ext>
              </a:extLst>
            </p:cNvPr>
            <p:cNvSpPr/>
            <p:nvPr/>
          </p:nvSpPr>
          <p:spPr>
            <a:xfrm>
              <a:off x="3445805" y="2073213"/>
              <a:ext cx="822960" cy="1733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제조원가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직선 연결선 39">
              <a:extLst>
                <a:ext uri="{FF2B5EF4-FFF2-40B4-BE49-F238E27FC236}">
                  <a16:creationId xmlns:a16="http://schemas.microsoft.com/office/drawing/2014/main" id="{58FFC99E-9E5C-9F3E-B8CD-51C61E643059}"/>
                </a:ext>
              </a:extLst>
            </p:cNvPr>
            <p:cNvCxnSpPr>
              <a:cxnSpLocks/>
              <a:stCxn id="23" idx="2"/>
              <a:endCxn id="10" idx="0"/>
            </p:cNvCxnSpPr>
            <p:nvPr/>
          </p:nvCxnSpPr>
          <p:spPr>
            <a:xfrm rot="5400000">
              <a:off x="3264248" y="1915242"/>
              <a:ext cx="261700" cy="9243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39">
              <a:extLst>
                <a:ext uri="{FF2B5EF4-FFF2-40B4-BE49-F238E27FC236}">
                  <a16:creationId xmlns:a16="http://schemas.microsoft.com/office/drawing/2014/main" id="{5BB25298-3FCD-AA9B-E74E-EB7BDA0FF57B}"/>
                </a:ext>
              </a:extLst>
            </p:cNvPr>
            <p:cNvCxnSpPr>
              <a:cxnSpLocks/>
              <a:stCxn id="21" idx="2"/>
              <a:endCxn id="10" idx="0"/>
            </p:cNvCxnSpPr>
            <p:nvPr/>
          </p:nvCxnSpPr>
          <p:spPr>
            <a:xfrm rot="16200000" flipH="1">
              <a:off x="2347887" y="1923254"/>
              <a:ext cx="258037" cy="91201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39">
              <a:extLst>
                <a:ext uri="{FF2B5EF4-FFF2-40B4-BE49-F238E27FC236}">
                  <a16:creationId xmlns:a16="http://schemas.microsoft.com/office/drawing/2014/main" id="{3B7E528C-4704-BBAA-77D7-4C566D27F79B}"/>
                </a:ext>
              </a:extLst>
            </p:cNvPr>
            <p:cNvCxnSpPr>
              <a:cxnSpLocks/>
              <a:stCxn id="22" idx="2"/>
              <a:endCxn id="10" idx="0"/>
            </p:cNvCxnSpPr>
            <p:nvPr/>
          </p:nvCxnSpPr>
          <p:spPr>
            <a:xfrm>
              <a:off x="2932910" y="2246579"/>
              <a:ext cx="1" cy="26170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1FCFA5C-8F93-04BF-DA36-CCC65587FA08}"/>
                </a:ext>
              </a:extLst>
            </p:cNvPr>
            <p:cNvSpPr/>
            <p:nvPr/>
          </p:nvSpPr>
          <p:spPr>
            <a:xfrm>
              <a:off x="6697743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Business Unit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81ED45F-E4D7-6F33-834F-245019EE03D5}"/>
                </a:ext>
              </a:extLst>
            </p:cNvPr>
            <p:cNvSpPr/>
            <p:nvPr/>
          </p:nvSpPr>
          <p:spPr>
            <a:xfrm>
              <a:off x="5547435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E1EC265-C199-3654-D3A8-42FB4EABA576}"/>
                </a:ext>
              </a:extLst>
            </p:cNvPr>
            <p:cNvSpPr/>
            <p:nvPr/>
          </p:nvSpPr>
          <p:spPr>
            <a:xfrm>
              <a:off x="7830869" y="2919325"/>
              <a:ext cx="82296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3409FCA-D3E3-13D6-DAB9-E4ED82EFC0E4}"/>
                </a:ext>
              </a:extLst>
            </p:cNvPr>
            <p:cNvSpPr/>
            <p:nvPr/>
          </p:nvSpPr>
          <p:spPr>
            <a:xfrm>
              <a:off x="5023178" y="3200918"/>
              <a:ext cx="4113201" cy="48638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표준 분석항목 설계 및 세분화를 기반한 다차원 분석환경 구축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선행업무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Data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를 활용한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System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기반 분석정보 산출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7D90338-92F9-4435-1BAA-5D8AB8967ACE}"/>
                </a:ext>
              </a:extLst>
            </p:cNvPr>
            <p:cNvSpPr/>
            <p:nvPr/>
          </p:nvSpPr>
          <p:spPr>
            <a:xfrm>
              <a:off x="5210319" y="2054925"/>
              <a:ext cx="817205" cy="172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Sales Order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085C50A-E8AE-FBAC-E1B8-1F5F34C3709C}"/>
                </a:ext>
              </a:extLst>
            </p:cNvPr>
            <p:cNvSpPr/>
            <p:nvPr/>
          </p:nvSpPr>
          <p:spPr>
            <a:xfrm>
              <a:off x="6774555" y="2054925"/>
              <a:ext cx="817205" cy="172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Production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09D07C4-A6B0-1116-7EB0-1DDBDBBB15F4}"/>
                </a:ext>
              </a:extLst>
            </p:cNvPr>
            <p:cNvSpPr/>
            <p:nvPr/>
          </p:nvSpPr>
          <p:spPr>
            <a:xfrm>
              <a:off x="8155911" y="2054925"/>
              <a:ext cx="817205" cy="172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Cost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D375F13-533F-C8D7-479F-64D8514B2501}"/>
                </a:ext>
              </a:extLst>
            </p:cNvPr>
            <p:cNvSpPr/>
            <p:nvPr/>
          </p:nvSpPr>
          <p:spPr>
            <a:xfrm>
              <a:off x="4954887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7A5E7B7-4154-2429-7529-B6C99E4B7DD7}"/>
                </a:ext>
              </a:extLst>
            </p:cNvPr>
            <p:cNvSpPr/>
            <p:nvPr/>
          </p:nvSpPr>
          <p:spPr>
            <a:xfrm>
              <a:off x="5422780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398E15F-E3CB-1AB7-CE50-C1E1A8792A23}"/>
                </a:ext>
              </a:extLst>
            </p:cNvPr>
            <p:cNvSpPr/>
            <p:nvPr/>
          </p:nvSpPr>
          <p:spPr>
            <a:xfrm>
              <a:off x="5890672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Org.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0F78E9F-9089-7B66-3C44-34506F41218C}"/>
                </a:ext>
              </a:extLst>
            </p:cNvPr>
            <p:cNvSpPr/>
            <p:nvPr/>
          </p:nvSpPr>
          <p:spPr>
            <a:xfrm>
              <a:off x="6507860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16FCEA4-4F51-AE87-ECB8-4778E0BD96F2}"/>
                </a:ext>
              </a:extLst>
            </p:cNvPr>
            <p:cNvSpPr/>
            <p:nvPr/>
          </p:nvSpPr>
          <p:spPr>
            <a:xfrm>
              <a:off x="6987639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3B84B84-EB9D-02DF-93FE-1C90892002EA}"/>
                </a:ext>
              </a:extLst>
            </p:cNvPr>
            <p:cNvSpPr/>
            <p:nvPr/>
          </p:nvSpPr>
          <p:spPr>
            <a:xfrm>
              <a:off x="7467417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Stock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AAD06DD-7BEA-CE92-90DC-320CB0B2C215}"/>
                </a:ext>
              </a:extLst>
            </p:cNvPr>
            <p:cNvSpPr/>
            <p:nvPr/>
          </p:nvSpPr>
          <p:spPr>
            <a:xfrm>
              <a:off x="8127725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Org.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E02C13C-ED58-F606-946B-AB77F4A886B5}"/>
                </a:ext>
              </a:extLst>
            </p:cNvPr>
            <p:cNvSpPr/>
            <p:nvPr/>
          </p:nvSpPr>
          <p:spPr>
            <a:xfrm>
              <a:off x="8602601" y="2380760"/>
              <a:ext cx="423289" cy="2581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Cost Element</a:t>
              </a:r>
            </a:p>
          </p:txBody>
        </p:sp>
        <p:cxnSp>
          <p:nvCxnSpPr>
            <p:cNvPr id="60" name="직선 연결선 39">
              <a:extLst>
                <a:ext uri="{FF2B5EF4-FFF2-40B4-BE49-F238E27FC236}">
                  <a16:creationId xmlns:a16="http://schemas.microsoft.com/office/drawing/2014/main" id="{838113BC-BD13-B9B3-C36C-D41D41495816}"/>
                </a:ext>
              </a:extLst>
            </p:cNvPr>
            <p:cNvCxnSpPr>
              <a:cxnSpLocks/>
              <a:stCxn id="37" idx="2"/>
              <a:endCxn id="41" idx="0"/>
            </p:cNvCxnSpPr>
            <p:nvPr/>
          </p:nvCxnSpPr>
          <p:spPr>
            <a:xfrm rot="5400000">
              <a:off x="5316059" y="2077896"/>
              <a:ext cx="153337" cy="4523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39">
              <a:extLst>
                <a:ext uri="{FF2B5EF4-FFF2-40B4-BE49-F238E27FC236}">
                  <a16:creationId xmlns:a16="http://schemas.microsoft.com/office/drawing/2014/main" id="{382FD389-2FF5-9AF4-C532-002293348F04}"/>
                </a:ext>
              </a:extLst>
            </p:cNvPr>
            <p:cNvCxnSpPr>
              <a:cxnSpLocks/>
              <a:stCxn id="37" idx="2"/>
              <a:endCxn id="49" idx="0"/>
            </p:cNvCxnSpPr>
            <p:nvPr/>
          </p:nvCxnSpPr>
          <p:spPr>
            <a:xfrm rot="16200000" flipH="1">
              <a:off x="5783951" y="2062393"/>
              <a:ext cx="153337" cy="48339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39">
              <a:extLst>
                <a:ext uri="{FF2B5EF4-FFF2-40B4-BE49-F238E27FC236}">
                  <a16:creationId xmlns:a16="http://schemas.microsoft.com/office/drawing/2014/main" id="{E721104D-36DA-4BF2-946D-DBDC30A4FFE1}"/>
                </a:ext>
              </a:extLst>
            </p:cNvPr>
            <p:cNvCxnSpPr>
              <a:cxnSpLocks/>
              <a:stCxn id="38" idx="2"/>
              <a:endCxn id="53" idx="0"/>
            </p:cNvCxnSpPr>
            <p:nvPr/>
          </p:nvCxnSpPr>
          <p:spPr>
            <a:xfrm rot="5400000">
              <a:off x="6874664" y="2072265"/>
              <a:ext cx="153337" cy="46365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39">
              <a:extLst>
                <a:ext uri="{FF2B5EF4-FFF2-40B4-BE49-F238E27FC236}">
                  <a16:creationId xmlns:a16="http://schemas.microsoft.com/office/drawing/2014/main" id="{865322A6-DBB3-BA9F-CC99-B1B2ABE49F3B}"/>
                </a:ext>
              </a:extLst>
            </p:cNvPr>
            <p:cNvCxnSpPr>
              <a:cxnSpLocks/>
              <a:stCxn id="38" idx="2"/>
              <a:endCxn id="57" idx="0"/>
            </p:cNvCxnSpPr>
            <p:nvPr/>
          </p:nvCxnSpPr>
          <p:spPr>
            <a:xfrm rot="16200000" flipH="1">
              <a:off x="7354442" y="2056139"/>
              <a:ext cx="153337" cy="49590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39">
              <a:extLst>
                <a:ext uri="{FF2B5EF4-FFF2-40B4-BE49-F238E27FC236}">
                  <a16:creationId xmlns:a16="http://schemas.microsoft.com/office/drawing/2014/main" id="{5F941BB0-8374-7223-0751-D81705DECEF4}"/>
                </a:ext>
              </a:extLst>
            </p:cNvPr>
            <p:cNvCxnSpPr>
              <a:cxnSpLocks/>
              <a:stCxn id="40" idx="2"/>
              <a:endCxn id="58" idx="0"/>
            </p:cNvCxnSpPr>
            <p:nvPr/>
          </p:nvCxnSpPr>
          <p:spPr>
            <a:xfrm rot="5400000">
              <a:off x="8375274" y="2191519"/>
              <a:ext cx="153337" cy="22514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39">
              <a:extLst>
                <a:ext uri="{FF2B5EF4-FFF2-40B4-BE49-F238E27FC236}">
                  <a16:creationId xmlns:a16="http://schemas.microsoft.com/office/drawing/2014/main" id="{416F2821-D970-2610-40D4-CD6CC55CECEE}"/>
                </a:ext>
              </a:extLst>
            </p:cNvPr>
            <p:cNvCxnSpPr>
              <a:cxnSpLocks/>
              <a:stCxn id="40" idx="2"/>
              <a:endCxn id="59" idx="0"/>
            </p:cNvCxnSpPr>
            <p:nvPr/>
          </p:nvCxnSpPr>
          <p:spPr>
            <a:xfrm rot="16200000" flipH="1">
              <a:off x="8612712" y="2179225"/>
              <a:ext cx="153337" cy="24973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6ABC390F-4A2D-C7C2-34BF-9426D029CC68}"/>
                </a:ext>
              </a:extLst>
            </p:cNvPr>
            <p:cNvSpPr/>
            <p:nvPr/>
          </p:nvSpPr>
          <p:spPr>
            <a:xfrm>
              <a:off x="8807569" y="2681418"/>
              <a:ext cx="493133" cy="25814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System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자동집계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089E3A-27B8-41E5-8A25-61831A4D4E5A}"/>
              </a:ext>
            </a:extLst>
          </p:cNvPr>
          <p:cNvGrpSpPr/>
          <p:nvPr/>
        </p:nvGrpSpPr>
        <p:grpSpPr>
          <a:xfrm>
            <a:off x="614112" y="1775459"/>
            <a:ext cx="8522268" cy="1954753"/>
            <a:chOff x="614112" y="3870959"/>
            <a:chExt cx="8522268" cy="1954753"/>
          </a:xfrm>
        </p:grpSpPr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CDB22FF-B595-670C-C83B-DA4C62F1F4AF}"/>
                </a:ext>
              </a:extLst>
            </p:cNvPr>
            <p:cNvSpPr/>
            <p:nvPr/>
          </p:nvSpPr>
          <p:spPr>
            <a:xfrm>
              <a:off x="5395035" y="4864979"/>
              <a:ext cx="3118104" cy="13956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가격차이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8236ADFF-212E-B4E7-81F5-76B909EA336E}"/>
                </a:ext>
              </a:extLst>
            </p:cNvPr>
            <p:cNvSpPr/>
            <p:nvPr/>
          </p:nvSpPr>
          <p:spPr>
            <a:xfrm>
              <a:off x="5395035" y="4683715"/>
              <a:ext cx="3120315" cy="13956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목표가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059FB28-83A8-5502-E92D-0516F1722E8E}"/>
                </a:ext>
              </a:extLst>
            </p:cNvPr>
            <p:cNvSpPr/>
            <p:nvPr/>
          </p:nvSpPr>
          <p:spPr>
            <a:xfrm>
              <a:off x="2024380" y="4711700"/>
              <a:ext cx="1903730" cy="1778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288" rIns="0" bIns="0" rtlCol="0" anchor="t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303F62A-2C98-90F2-4C14-00211F22F91B}"/>
                </a:ext>
              </a:extLst>
            </p:cNvPr>
            <p:cNvSpPr/>
            <p:nvPr/>
          </p:nvSpPr>
          <p:spPr>
            <a:xfrm>
              <a:off x="614112" y="3870959"/>
              <a:ext cx="727007" cy="195475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Product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7B1CC04-1BD8-AD69-9CD8-72BB5077FF5C}"/>
                </a:ext>
              </a:extLst>
            </p:cNvPr>
            <p:cNvSpPr/>
            <p:nvPr/>
          </p:nvSpPr>
          <p:spPr>
            <a:xfrm>
              <a:off x="4822986" y="3870959"/>
              <a:ext cx="4313394" cy="23340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[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 단위 원가인식 및 목표원가 도입을 통한 원가분석 고도화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B2F674E-86C1-ED54-13B1-4FC43006614E}"/>
                </a:ext>
              </a:extLst>
            </p:cNvPr>
            <p:cNvSpPr/>
            <p:nvPr/>
          </p:nvSpPr>
          <p:spPr>
            <a:xfrm>
              <a:off x="1601392" y="3870959"/>
              <a:ext cx="2660624" cy="23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[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기간단위 원가인식에 의한 왜곡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B1F8B92-7FA4-A988-9026-68E0A94F4771}"/>
                </a:ext>
              </a:extLst>
            </p:cNvPr>
            <p:cNvSpPr/>
            <p:nvPr/>
          </p:nvSpPr>
          <p:spPr>
            <a:xfrm>
              <a:off x="2053411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E1A323D9-A4A9-E438-F0E1-1578D40AE6CC}"/>
                </a:ext>
              </a:extLst>
            </p:cNvPr>
            <p:cNvSpPr/>
            <p:nvPr/>
          </p:nvSpPr>
          <p:spPr>
            <a:xfrm>
              <a:off x="2441618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215EC91-6418-FCA2-5F15-4ACF30BA9857}"/>
                </a:ext>
              </a:extLst>
            </p:cNvPr>
            <p:cNvSpPr/>
            <p:nvPr/>
          </p:nvSpPr>
          <p:spPr>
            <a:xfrm>
              <a:off x="2829825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AC499510-E77E-12E4-7F88-2B15A5E6BAAE}"/>
                </a:ext>
              </a:extLst>
            </p:cNvPr>
            <p:cNvSpPr/>
            <p:nvPr/>
          </p:nvSpPr>
          <p:spPr>
            <a:xfrm>
              <a:off x="3218032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BB5E4F25-A61D-7CA2-CA01-1779D3A1CACA}"/>
                </a:ext>
              </a:extLst>
            </p:cNvPr>
            <p:cNvSpPr/>
            <p:nvPr/>
          </p:nvSpPr>
          <p:spPr>
            <a:xfrm>
              <a:off x="3606239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D49F0011-482B-D01A-485C-1A8DA2B264CA}"/>
                </a:ext>
              </a:extLst>
            </p:cNvPr>
            <p:cNvSpPr/>
            <p:nvPr/>
          </p:nvSpPr>
          <p:spPr>
            <a:xfrm>
              <a:off x="3994445" y="4370288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B1F2B9FD-732D-BCE3-3351-37AD7331292F}"/>
                </a:ext>
              </a:extLst>
            </p:cNvPr>
            <p:cNvSpPr/>
            <p:nvPr/>
          </p:nvSpPr>
          <p:spPr>
            <a:xfrm>
              <a:off x="1609419" y="4163253"/>
              <a:ext cx="2659346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Sales Order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B2D5684A-84CE-90EB-2EF8-FE700F4546B5}"/>
                </a:ext>
              </a:extLst>
            </p:cNvPr>
            <p:cNvSpPr/>
            <p:nvPr/>
          </p:nvSpPr>
          <p:spPr>
            <a:xfrm>
              <a:off x="2053411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03FA6B1B-6860-7BF8-7E9B-D70C969A8E1D}"/>
                </a:ext>
              </a:extLst>
            </p:cNvPr>
            <p:cNvSpPr/>
            <p:nvPr/>
          </p:nvSpPr>
          <p:spPr>
            <a:xfrm>
              <a:off x="2441618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A1631D6C-402D-9F44-DD1B-7B23D5038606}"/>
                </a:ext>
              </a:extLst>
            </p:cNvPr>
            <p:cNvSpPr/>
            <p:nvPr/>
          </p:nvSpPr>
          <p:spPr>
            <a:xfrm>
              <a:off x="2829825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8F821006-F256-2EAC-DD7C-D3841FD8DEDE}"/>
                </a:ext>
              </a:extLst>
            </p:cNvPr>
            <p:cNvSpPr/>
            <p:nvPr/>
          </p:nvSpPr>
          <p:spPr>
            <a:xfrm>
              <a:off x="3218032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74EFF9CA-8502-D5B3-7861-27B9B2C3E001}"/>
                </a:ext>
              </a:extLst>
            </p:cNvPr>
            <p:cNvSpPr/>
            <p:nvPr/>
          </p:nvSpPr>
          <p:spPr>
            <a:xfrm>
              <a:off x="3606239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F621C59E-2F7D-EB52-DB51-01687AB01886}"/>
                </a:ext>
              </a:extLst>
            </p:cNvPr>
            <p:cNvSpPr/>
            <p:nvPr/>
          </p:nvSpPr>
          <p:spPr>
            <a:xfrm>
              <a:off x="3994445" y="4540731"/>
              <a:ext cx="274320" cy="1371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7C226EC-8C06-B347-78EE-63A7A1BA9009}"/>
                </a:ext>
              </a:extLst>
            </p:cNvPr>
            <p:cNvSpPr/>
            <p:nvPr/>
          </p:nvSpPr>
          <p:spPr>
            <a:xfrm>
              <a:off x="2053411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6C81A038-98F1-F742-9293-AB4B5143B6F5}"/>
                </a:ext>
              </a:extLst>
            </p:cNvPr>
            <p:cNvSpPr/>
            <p:nvPr/>
          </p:nvSpPr>
          <p:spPr>
            <a:xfrm>
              <a:off x="2441618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F52D9375-FE1A-7E12-69FC-F01782167E40}"/>
                </a:ext>
              </a:extLst>
            </p:cNvPr>
            <p:cNvSpPr/>
            <p:nvPr/>
          </p:nvSpPr>
          <p:spPr>
            <a:xfrm>
              <a:off x="2829825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005E5FA-D4C3-8516-5DD4-07A892391223}"/>
                </a:ext>
              </a:extLst>
            </p:cNvPr>
            <p:cNvSpPr/>
            <p:nvPr/>
          </p:nvSpPr>
          <p:spPr>
            <a:xfrm>
              <a:off x="3218032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A485DC42-41AF-8E33-A001-4CA04D523F81}"/>
                </a:ext>
              </a:extLst>
            </p:cNvPr>
            <p:cNvSpPr/>
            <p:nvPr/>
          </p:nvSpPr>
          <p:spPr>
            <a:xfrm>
              <a:off x="3606239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D4E2DAC4-E834-92BC-ECEE-1F336A398CCD}"/>
                </a:ext>
              </a:extLst>
            </p:cNvPr>
            <p:cNvSpPr/>
            <p:nvPr/>
          </p:nvSpPr>
          <p:spPr>
            <a:xfrm>
              <a:off x="3994445" y="4731705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3EF29642-5516-3849-AB83-6A661C0AEF92}"/>
                </a:ext>
              </a:extLst>
            </p:cNvPr>
            <p:cNvSpPr/>
            <p:nvPr/>
          </p:nvSpPr>
          <p:spPr>
            <a:xfrm>
              <a:off x="3994445" y="4892311"/>
              <a:ext cx="274320" cy="14941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288" rIns="0" bIns="0" rtlCol="0" anchor="t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+3</a:t>
              </a:r>
            </a:p>
          </p:txBody>
        </p:sp>
        <p:cxnSp>
          <p:nvCxnSpPr>
            <p:cNvPr id="131" name="직선 연결선 39">
              <a:extLst>
                <a:ext uri="{FF2B5EF4-FFF2-40B4-BE49-F238E27FC236}">
                  <a16:creationId xmlns:a16="http://schemas.microsoft.com/office/drawing/2014/main" id="{FA26BD99-B6D9-1017-F219-A6C530F335DB}"/>
                </a:ext>
              </a:extLst>
            </p:cNvPr>
            <p:cNvCxnSpPr>
              <a:cxnSpLocks/>
              <a:stCxn id="130" idx="1"/>
              <a:endCxn id="129" idx="2"/>
            </p:cNvCxnSpPr>
            <p:nvPr/>
          </p:nvCxnSpPr>
          <p:spPr>
            <a:xfrm rot="10800000">
              <a:off x="2976245" y="4889500"/>
              <a:ext cx="1018200" cy="77518"/>
            </a:xfrm>
            <a:prstGeom prst="bentConnector2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D87F513-98E8-5A97-6093-E4E6761B5BAC}"/>
                </a:ext>
              </a:extLst>
            </p:cNvPr>
            <p:cNvSpPr/>
            <p:nvPr/>
          </p:nvSpPr>
          <p:spPr>
            <a:xfrm>
              <a:off x="1601392" y="5339323"/>
              <a:ext cx="2823288" cy="48638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SO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기간 중 표준원가로만 인식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SO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종료 시 실제원가 정산으로 인한 원가 왜곡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9EFAEBD-60A9-A4F3-986D-DB947FB64B1D}"/>
                </a:ext>
              </a:extLst>
            </p:cNvPr>
            <p:cNvSpPr/>
            <p:nvPr/>
          </p:nvSpPr>
          <p:spPr>
            <a:xfrm>
              <a:off x="5842446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st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kumimoji="0" lang="en-US" sz="900" b="1" i="0" u="none" strike="noStrike" kern="1200" cap="none" spc="-100" normalizeH="0" baseline="0" noProof="0" dirty="0" smtClean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6455C221-E537-F1F4-ED3C-DF05DA85C9A0}"/>
                </a:ext>
              </a:extLst>
            </p:cNvPr>
            <p:cNvSpPr/>
            <p:nvPr/>
          </p:nvSpPr>
          <p:spPr>
            <a:xfrm>
              <a:off x="6335243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/>
            <a:lstStyle/>
            <a:p>
              <a:pPr lvl="0" algn="ctr"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2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nd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lang="en-US" altLang="ko-KR" sz="900" b="1" spc="-100" dirty="0">
                  <a:solidFill>
                    <a:prstClr val="white">
                      <a:lumMod val="95000"/>
                    </a:prstClr>
                  </a:solidFill>
                </a:rPr>
                <a:t>PRO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DFE44114-343C-DAB4-B6AD-CF4EFFC57796}"/>
                </a:ext>
              </a:extLst>
            </p:cNvPr>
            <p:cNvSpPr/>
            <p:nvPr/>
          </p:nvSpPr>
          <p:spPr>
            <a:xfrm>
              <a:off x="6797560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3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rd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lang="en-US" altLang="ko-KR" sz="900" b="1" spc="-100" dirty="0">
                  <a:solidFill>
                    <a:prstClr val="white">
                      <a:lumMod val="95000"/>
                    </a:prstClr>
                  </a:solidFill>
                </a:rPr>
                <a:t>PRO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087B1EAE-F07D-CCBD-90A3-54091DD0F035}"/>
                </a:ext>
              </a:extLst>
            </p:cNvPr>
            <p:cNvSpPr/>
            <p:nvPr/>
          </p:nvSpPr>
          <p:spPr>
            <a:xfrm>
              <a:off x="7242726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4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th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lang="en-US" altLang="ko-KR" sz="900" b="1" spc="-100" dirty="0">
                  <a:solidFill>
                    <a:prstClr val="white">
                      <a:lumMod val="95000"/>
                    </a:prstClr>
                  </a:solidFill>
                </a:rPr>
                <a:t>PRO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8F0ED5AC-957A-4069-0193-71ABCF6F96C8}"/>
                </a:ext>
              </a:extLst>
            </p:cNvPr>
            <p:cNvSpPr/>
            <p:nvPr/>
          </p:nvSpPr>
          <p:spPr>
            <a:xfrm>
              <a:off x="7695919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5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th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lang="en-US" altLang="ko-KR" sz="900" b="1" spc="-100" dirty="0">
                  <a:solidFill>
                    <a:prstClr val="white">
                      <a:lumMod val="95000"/>
                    </a:prstClr>
                  </a:solidFill>
                </a:rPr>
                <a:t>PRO</a:t>
              </a: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F98EBB3F-9932-DDB9-41E3-F6C23332EB31}"/>
                </a:ext>
              </a:extLst>
            </p:cNvPr>
            <p:cNvSpPr/>
            <p:nvPr/>
          </p:nvSpPr>
          <p:spPr>
            <a:xfrm>
              <a:off x="8143071" y="4249836"/>
              <a:ext cx="351461" cy="1733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6</a:t>
              </a:r>
              <a:r>
                <a:rPr kumimoji="0" lang="en-US" sz="900" b="1" i="0" u="none" strike="noStrike" kern="1200" cap="none" spc="-100" normalizeH="0" baseline="3000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th</a:t>
              </a: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 </a:t>
              </a:r>
              <a:r>
                <a:rPr lang="en-US" altLang="ko-KR" sz="900" b="1" spc="-100" dirty="0">
                  <a:solidFill>
                    <a:prstClr val="white">
                      <a:lumMod val="95000"/>
                    </a:prstClr>
                  </a:solidFill>
                </a:rPr>
                <a:t>PRO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6F4BB28-AF3A-DF68-BCBA-3CC2EFE3DDAF}"/>
                </a:ext>
              </a:extLst>
            </p:cNvPr>
            <p:cNvSpPr/>
            <p:nvPr/>
          </p:nvSpPr>
          <p:spPr>
            <a:xfrm>
              <a:off x="2052661" y="5081722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0D038B10-672B-CA6F-E3B0-87145E818DC8}"/>
                </a:ext>
              </a:extLst>
            </p:cNvPr>
            <p:cNvSpPr/>
            <p:nvPr/>
          </p:nvSpPr>
          <p:spPr>
            <a:xfrm>
              <a:off x="2441018" y="5081722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D77039A7-11B7-B0DB-FB6A-336B5CB2B5D0}"/>
                </a:ext>
              </a:extLst>
            </p:cNvPr>
            <p:cNvSpPr/>
            <p:nvPr/>
          </p:nvSpPr>
          <p:spPr>
            <a:xfrm>
              <a:off x="2829375" y="5081722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24AC9C64-2FE1-0E27-5678-5F008AF7112B}"/>
                </a:ext>
              </a:extLst>
            </p:cNvPr>
            <p:cNvSpPr/>
            <p:nvPr/>
          </p:nvSpPr>
          <p:spPr>
            <a:xfrm>
              <a:off x="3217732" y="5081722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8342F2B9-DDBA-CFD9-F8ED-0D17369473F2}"/>
                </a:ext>
              </a:extLst>
            </p:cNvPr>
            <p:cNvSpPr/>
            <p:nvPr/>
          </p:nvSpPr>
          <p:spPr>
            <a:xfrm>
              <a:off x="3606089" y="5081722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09A32C75-1C36-D089-4F87-E5E4DF63BF52}"/>
                </a:ext>
              </a:extLst>
            </p:cNvPr>
            <p:cNvSpPr/>
            <p:nvPr/>
          </p:nvSpPr>
          <p:spPr>
            <a:xfrm>
              <a:off x="3994445" y="5081722"/>
              <a:ext cx="274320" cy="13716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EE3E8B6-8851-E21D-ACEE-C62D47FBAEDF}"/>
                </a:ext>
              </a:extLst>
            </p:cNvPr>
            <p:cNvSpPr/>
            <p:nvPr/>
          </p:nvSpPr>
          <p:spPr>
            <a:xfrm>
              <a:off x="1609419" y="4370287"/>
              <a:ext cx="351462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납    기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2925FCB2-4330-AEF3-F78E-9DAC42466F61}"/>
                </a:ext>
              </a:extLst>
            </p:cNvPr>
            <p:cNvSpPr/>
            <p:nvPr/>
          </p:nvSpPr>
          <p:spPr>
            <a:xfrm>
              <a:off x="1609419" y="4539529"/>
              <a:ext cx="351462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표준가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289D9E1-7188-11A2-6A6D-271ECFBE3EDF}"/>
                </a:ext>
              </a:extLst>
            </p:cNvPr>
            <p:cNvSpPr/>
            <p:nvPr/>
          </p:nvSpPr>
          <p:spPr>
            <a:xfrm>
              <a:off x="1609419" y="4715919"/>
              <a:ext cx="330105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실제가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77651D12-5876-50A8-ED79-FDEC8CE8B5DF}"/>
                </a:ext>
              </a:extLst>
            </p:cNvPr>
            <p:cNvSpPr/>
            <p:nvPr/>
          </p:nvSpPr>
          <p:spPr>
            <a:xfrm>
              <a:off x="1609419" y="5086498"/>
              <a:ext cx="351462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원   가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3950CF83-366F-A66D-F88A-61A8579B7401}"/>
                </a:ext>
              </a:extLst>
            </p:cNvPr>
            <p:cNvCxnSpPr>
              <a:cxnSpLocks/>
            </p:cNvCxnSpPr>
            <p:nvPr/>
          </p:nvCxnSpPr>
          <p:spPr>
            <a:xfrm>
              <a:off x="1609419" y="4522951"/>
              <a:ext cx="265934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D68F6788-7CD1-7B39-C622-FA703D250EE3}"/>
                </a:ext>
              </a:extLst>
            </p:cNvPr>
            <p:cNvCxnSpPr>
              <a:cxnSpLocks/>
            </p:cNvCxnSpPr>
            <p:nvPr/>
          </p:nvCxnSpPr>
          <p:spPr>
            <a:xfrm>
              <a:off x="1609419" y="4693131"/>
              <a:ext cx="265934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3D0E4BC8-65D2-A439-049A-1AC18848B852}"/>
                </a:ext>
              </a:extLst>
            </p:cNvPr>
            <p:cNvCxnSpPr>
              <a:cxnSpLocks/>
            </p:cNvCxnSpPr>
            <p:nvPr/>
          </p:nvCxnSpPr>
          <p:spPr>
            <a:xfrm>
              <a:off x="1609419" y="5061431"/>
              <a:ext cx="265934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CC160CA2-D87C-15BB-2273-9EB483DBC535}"/>
                </a:ext>
              </a:extLst>
            </p:cNvPr>
            <p:cNvSpPr/>
            <p:nvPr/>
          </p:nvSpPr>
          <p:spPr>
            <a:xfrm>
              <a:off x="5881016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A67ECA1-D55F-5379-CCA5-A5C8296DB2D9}"/>
                </a:ext>
              </a:extLst>
            </p:cNvPr>
            <p:cNvSpPr/>
            <p:nvPr/>
          </p:nvSpPr>
          <p:spPr>
            <a:xfrm>
              <a:off x="6373813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5C9DC19F-25FD-C47C-A2E1-B7163E03FDD0}"/>
                </a:ext>
              </a:extLst>
            </p:cNvPr>
            <p:cNvSpPr/>
            <p:nvPr/>
          </p:nvSpPr>
          <p:spPr>
            <a:xfrm>
              <a:off x="6836130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B4834704-171E-D44D-1B7A-E41BD00A0F03}"/>
                </a:ext>
              </a:extLst>
            </p:cNvPr>
            <p:cNvSpPr/>
            <p:nvPr/>
          </p:nvSpPr>
          <p:spPr>
            <a:xfrm>
              <a:off x="7281296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002FA590-B7E7-DA37-232F-7F7CCD2E3E37}"/>
                </a:ext>
              </a:extLst>
            </p:cNvPr>
            <p:cNvSpPr/>
            <p:nvPr/>
          </p:nvSpPr>
          <p:spPr>
            <a:xfrm>
              <a:off x="7734489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898E97C4-D330-6CEE-02DC-EC14119799A3}"/>
                </a:ext>
              </a:extLst>
            </p:cNvPr>
            <p:cNvSpPr/>
            <p:nvPr/>
          </p:nvSpPr>
          <p:spPr>
            <a:xfrm>
              <a:off x="8181641" y="4504854"/>
              <a:ext cx="274320" cy="1371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63D8C218-F9D7-B11D-BCAD-B30E79F8777A}"/>
                </a:ext>
              </a:extLst>
            </p:cNvPr>
            <p:cNvSpPr/>
            <p:nvPr/>
          </p:nvSpPr>
          <p:spPr>
            <a:xfrm>
              <a:off x="5881016" y="4686118"/>
              <a:ext cx="261639" cy="13614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ED059703-E6DB-570A-02BB-E0D500791792}"/>
                </a:ext>
              </a:extLst>
            </p:cNvPr>
            <p:cNvSpPr/>
            <p:nvPr/>
          </p:nvSpPr>
          <p:spPr>
            <a:xfrm>
              <a:off x="6373813" y="4686118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B56B4957-5661-A42F-9290-9F72B7024CA0}"/>
                </a:ext>
              </a:extLst>
            </p:cNvPr>
            <p:cNvSpPr/>
            <p:nvPr/>
          </p:nvSpPr>
          <p:spPr>
            <a:xfrm>
              <a:off x="6836130" y="4686118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CA8DC295-1AB7-9959-9361-FB0D0693B980}"/>
                </a:ext>
              </a:extLst>
            </p:cNvPr>
            <p:cNvSpPr/>
            <p:nvPr/>
          </p:nvSpPr>
          <p:spPr>
            <a:xfrm>
              <a:off x="7281296" y="4686118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BEEF3C09-2DCE-36F5-EC6E-A126DE11EB61}"/>
                </a:ext>
              </a:extLst>
            </p:cNvPr>
            <p:cNvSpPr/>
            <p:nvPr/>
          </p:nvSpPr>
          <p:spPr>
            <a:xfrm>
              <a:off x="7734489" y="4686118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0D47AEFC-E4FC-19B7-903D-2442E6A1F7A6}"/>
                </a:ext>
              </a:extLst>
            </p:cNvPr>
            <p:cNvSpPr/>
            <p:nvPr/>
          </p:nvSpPr>
          <p:spPr>
            <a:xfrm>
              <a:off x="8181641" y="4686118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2E018D26-A44A-8220-F964-3F1D1A3EB656}"/>
                </a:ext>
              </a:extLst>
            </p:cNvPr>
            <p:cNvSpPr/>
            <p:nvPr/>
          </p:nvSpPr>
          <p:spPr>
            <a:xfrm>
              <a:off x="5881016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+1</a:t>
              </a: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911EC699-101C-148E-49CC-F7AF1C26F295}"/>
                </a:ext>
              </a:extLst>
            </p:cNvPr>
            <p:cNvSpPr/>
            <p:nvPr/>
          </p:nvSpPr>
          <p:spPr>
            <a:xfrm>
              <a:off x="6373813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+3</a:t>
              </a: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4D89AD40-1D4A-E587-8EA7-AD321E053A6A}"/>
                </a:ext>
              </a:extLst>
            </p:cNvPr>
            <p:cNvSpPr/>
            <p:nvPr/>
          </p:nvSpPr>
          <p:spPr>
            <a:xfrm>
              <a:off x="6836130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62F692D8-DFE4-B5AB-C322-92E4911D80F6}"/>
                </a:ext>
              </a:extLst>
            </p:cNvPr>
            <p:cNvSpPr/>
            <p:nvPr/>
          </p:nvSpPr>
          <p:spPr>
            <a:xfrm>
              <a:off x="7281296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3954C251-4659-27F3-526B-3AB10E929220}"/>
                </a:ext>
              </a:extLst>
            </p:cNvPr>
            <p:cNvSpPr/>
            <p:nvPr/>
          </p:nvSpPr>
          <p:spPr>
            <a:xfrm>
              <a:off x="7734489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E61BFB25-6DDE-8846-CA04-50A101B260DA}"/>
                </a:ext>
              </a:extLst>
            </p:cNvPr>
            <p:cNvSpPr/>
            <p:nvPr/>
          </p:nvSpPr>
          <p:spPr>
            <a:xfrm>
              <a:off x="8181641" y="4867382"/>
              <a:ext cx="274320" cy="13716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6B31CF29-CDEC-7742-3A08-A4958D343A95}"/>
                </a:ext>
              </a:extLst>
            </p:cNvPr>
            <p:cNvSpPr/>
            <p:nvPr/>
          </p:nvSpPr>
          <p:spPr>
            <a:xfrm>
              <a:off x="5881016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8B4A1BE7-875A-C832-5106-49CB84BF493C}"/>
                </a:ext>
              </a:extLst>
            </p:cNvPr>
            <p:cNvSpPr/>
            <p:nvPr/>
          </p:nvSpPr>
          <p:spPr>
            <a:xfrm>
              <a:off x="6373813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4BEA2A05-E5AC-1883-7108-6AF67491B31B}"/>
                </a:ext>
              </a:extLst>
            </p:cNvPr>
            <p:cNvSpPr/>
            <p:nvPr/>
          </p:nvSpPr>
          <p:spPr>
            <a:xfrm>
              <a:off x="6836130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CC6B2F3A-39C2-58CB-EA4E-895FF41E8081}"/>
                </a:ext>
              </a:extLst>
            </p:cNvPr>
            <p:cNvSpPr/>
            <p:nvPr/>
          </p:nvSpPr>
          <p:spPr>
            <a:xfrm>
              <a:off x="7281296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26F857D9-DC27-208A-5CE5-D702F6F3002F}"/>
                </a:ext>
              </a:extLst>
            </p:cNvPr>
            <p:cNvSpPr/>
            <p:nvPr/>
          </p:nvSpPr>
          <p:spPr>
            <a:xfrm>
              <a:off x="7734489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9</a:t>
              </a:r>
              <a:endPara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C02507D8-725B-9502-3ED3-0E489A05D3D5}"/>
                </a:ext>
              </a:extLst>
            </p:cNvPr>
            <p:cNvSpPr/>
            <p:nvPr/>
          </p:nvSpPr>
          <p:spPr>
            <a:xfrm>
              <a:off x="8181641" y="5048648"/>
              <a:ext cx="274320" cy="137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0C608D97-364E-4D96-7EE2-56E2997FBC93}"/>
                </a:ext>
              </a:extLst>
            </p:cNvPr>
            <p:cNvSpPr/>
            <p:nvPr/>
          </p:nvSpPr>
          <p:spPr>
            <a:xfrm>
              <a:off x="5395035" y="4504853"/>
              <a:ext cx="351462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납    기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BE454EC9-5624-1083-6D0A-59E25393E762}"/>
                </a:ext>
              </a:extLst>
            </p:cNvPr>
            <p:cNvSpPr/>
            <p:nvPr/>
          </p:nvSpPr>
          <p:spPr>
            <a:xfrm>
              <a:off x="5395035" y="5053424"/>
              <a:ext cx="351462" cy="13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원   가</a:t>
              </a:r>
              <a:endParaRPr kumimoji="0" 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7BFA6022-AC94-FA5C-A148-68D06BACD4C3}"/>
                </a:ext>
              </a:extLst>
            </p:cNvPr>
            <p:cNvCxnSpPr>
              <a:cxnSpLocks/>
            </p:cNvCxnSpPr>
            <p:nvPr/>
          </p:nvCxnSpPr>
          <p:spPr>
            <a:xfrm>
              <a:off x="5395035" y="4664066"/>
              <a:ext cx="310896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10DF4421-31BD-7532-5E72-8989BC6266D7}"/>
                </a:ext>
              </a:extLst>
            </p:cNvPr>
            <p:cNvCxnSpPr>
              <a:cxnSpLocks/>
            </p:cNvCxnSpPr>
            <p:nvPr/>
          </p:nvCxnSpPr>
          <p:spPr>
            <a:xfrm>
              <a:off x="5395035" y="4845330"/>
              <a:ext cx="310896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18202C4B-AC78-0897-364D-B7788DDA24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5035" y="5026594"/>
              <a:ext cx="310896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8F380EE9-1B72-BBD9-9D87-C669D1A7DD38}"/>
                </a:ext>
              </a:extLst>
            </p:cNvPr>
            <p:cNvSpPr/>
            <p:nvPr/>
          </p:nvSpPr>
          <p:spPr>
            <a:xfrm>
              <a:off x="4912689" y="5339323"/>
              <a:ext cx="4113201" cy="48638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월단위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제조원가 인식으로 원가 왜곡 최소화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목표원가 기준 가격차이 분석을 통한 원가 분석 강화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7" name="직사각형 136"/>
          <p:cNvSpPr/>
          <p:nvPr/>
        </p:nvSpPr>
        <p:spPr>
          <a:xfrm>
            <a:off x="8280185" y="3176304"/>
            <a:ext cx="12872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latin typeface="+mn-ea"/>
                <a:cs typeface="Arial" pitchFamily="34" charset="0"/>
              </a:rPr>
              <a:t>PRO : Production Order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75752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구매자재 관리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8A4118E6-E052-9905-E875-396D8D685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재고이동유형의 표준화 및 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Global Template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기준의 회계인식 기준 적용을 통해 수량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/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금액 재고정보의 통합관리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ko-KR" altLang="en-US" sz="1600" b="1" i="0" u="none" strike="noStrike" kern="120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생산자재와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 </a:t>
            </a:r>
            <a:r>
              <a:rPr kumimoji="0" lang="en-US" altLang="ko-KR" sz="1600" b="1" i="0" u="none" strike="noStrike" kern="1200" cap="none" spc="-15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Leftover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자재의 관리 구분 등을 통해 재고 정보의 정확성을 제고함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31E4B1-FF30-F795-F301-36817556C2D6}"/>
              </a:ext>
            </a:extLst>
          </p:cNvPr>
          <p:cNvSpPr/>
          <p:nvPr/>
        </p:nvSpPr>
        <p:spPr>
          <a:xfrm>
            <a:off x="614113" y="1732554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Stock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Reporting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D4A5A7-D67C-23B4-7F07-9661C6D5EE1A}"/>
              </a:ext>
            </a:extLst>
          </p:cNvPr>
          <p:cNvSpPr/>
          <p:nvPr/>
        </p:nvSpPr>
        <p:spPr>
          <a:xfrm>
            <a:off x="614112" y="3873720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Left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white"/>
                </a:solidFill>
                <a:latin typeface="맑은 고딕" panose="020F0502020204030204"/>
              </a:rPr>
              <a:t>o</a:t>
            </a:r>
            <a:r>
              <a:rPr kumimoji="0" 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57EED9-7F4F-41E3-5479-C33D649B0F49}"/>
              </a:ext>
            </a:extLst>
          </p:cNvPr>
          <p:cNvSpPr/>
          <p:nvPr/>
        </p:nvSpPr>
        <p:spPr>
          <a:xfrm>
            <a:off x="1577340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F7F9E5-14C4-000F-7669-63299F8720E6}"/>
              </a:ext>
            </a:extLst>
          </p:cNvPr>
          <p:cNvSpPr/>
          <p:nvPr/>
        </p:nvSpPr>
        <p:spPr>
          <a:xfrm>
            <a:off x="5219700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To-Be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B67456-0410-B60A-DC52-FE65A582508B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재고이동 및 회계인식의 표준화 기반 물류 및 재무정보의 통합인식 체계 수립 </a:t>
            </a:r>
            <a:endParaRPr kumimoji="0" lang="en-US" altLang="ko-KR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30E28D-51BB-F74E-D643-04FA377DEDB8}"/>
              </a:ext>
            </a:extLst>
          </p:cNvPr>
          <p:cNvSpPr/>
          <p:nvPr/>
        </p:nvSpPr>
        <p:spPr>
          <a:xfrm>
            <a:off x="4822986" y="1732554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재고이동 및 회계인식 표준화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463A87-050A-E39F-9842-A7B7FA2A6C65}"/>
              </a:ext>
            </a:extLst>
          </p:cNvPr>
          <p:cNvSpPr/>
          <p:nvPr/>
        </p:nvSpPr>
        <p:spPr>
          <a:xfrm>
            <a:off x="4822986" y="3870959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Leftover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재고관리 표준화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8C832B-C570-59C0-419D-153FEB5CC83E}"/>
              </a:ext>
            </a:extLst>
          </p:cNvPr>
          <p:cNvSpPr/>
          <p:nvPr/>
        </p:nvSpPr>
        <p:spPr>
          <a:xfrm>
            <a:off x="1609419" y="1732554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지역별 재고 이동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소비 기준 상이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BC8A50-1F45-1174-E4DD-13C7C02AD648}"/>
              </a:ext>
            </a:extLst>
          </p:cNvPr>
          <p:cNvSpPr/>
          <p:nvPr/>
        </p:nvSpPr>
        <p:spPr>
          <a:xfrm>
            <a:off x="1601392" y="3870959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지역별 </a:t>
            </a:r>
            <a:r>
              <a:rPr kumimoji="0" lang="en-US" altLang="ko-KR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방안 상이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826C5D-4C59-0FC0-98D0-865EA0D570AF}"/>
              </a:ext>
            </a:extLst>
          </p:cNvPr>
          <p:cNvSpPr/>
          <p:nvPr/>
        </p:nvSpPr>
        <p:spPr>
          <a:xfrm>
            <a:off x="1609418" y="2019468"/>
            <a:ext cx="1280160" cy="142731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이동유형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]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99D3DA-F69A-164E-3BF1-8FEB0D19F2FE}"/>
              </a:ext>
            </a:extLst>
          </p:cNvPr>
          <p:cNvSpPr/>
          <p:nvPr/>
        </p:nvSpPr>
        <p:spPr>
          <a:xfrm>
            <a:off x="2989883" y="2019468"/>
            <a:ext cx="1280160" cy="142731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회계인식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]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A933EE-DEBF-CC1D-53F6-C2784A983940}"/>
              </a:ext>
            </a:extLst>
          </p:cNvPr>
          <p:cNvSpPr/>
          <p:nvPr/>
        </p:nvSpPr>
        <p:spPr>
          <a:xfrm>
            <a:off x="1609419" y="3414613"/>
            <a:ext cx="2711122" cy="2726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지역별 재고이동 관리방법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회계인식 상이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519B83-0753-70C6-F6C6-2814A2440A8D}"/>
              </a:ext>
            </a:extLst>
          </p:cNvPr>
          <p:cNvSpPr/>
          <p:nvPr/>
        </p:nvSpPr>
        <p:spPr>
          <a:xfrm>
            <a:off x="1687511" y="2202810"/>
            <a:ext cx="11484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BD ]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8C1C88-6D63-CF91-1E34-232C34AEB6FC}"/>
              </a:ext>
            </a:extLst>
          </p:cNvPr>
          <p:cNvSpPr/>
          <p:nvPr/>
        </p:nvSpPr>
        <p:spPr>
          <a:xfrm>
            <a:off x="1687511" y="2820742"/>
            <a:ext cx="1148401" cy="5738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VN ]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F1EEF2-526E-7441-FE06-9CAAE883D006}"/>
              </a:ext>
            </a:extLst>
          </p:cNvPr>
          <p:cNvSpPr/>
          <p:nvPr/>
        </p:nvSpPr>
        <p:spPr>
          <a:xfrm>
            <a:off x="2076609" y="2220618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101 / 102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E9C888-D8C4-CE15-DD5D-E6E3F247BA0B}"/>
              </a:ext>
            </a:extLst>
          </p:cNvPr>
          <p:cNvSpPr/>
          <p:nvPr/>
        </p:nvSpPr>
        <p:spPr>
          <a:xfrm>
            <a:off x="2076609" y="2325465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261 / 262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44BD7E-7732-7143-0608-7BF14B4E6BA1}"/>
              </a:ext>
            </a:extLst>
          </p:cNvPr>
          <p:cNvSpPr/>
          <p:nvPr/>
        </p:nvSpPr>
        <p:spPr>
          <a:xfrm>
            <a:off x="2076610" y="3170070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901 / 902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BB1AC1-0FC0-0847-064D-FFB38B09B31F}"/>
              </a:ext>
            </a:extLst>
          </p:cNvPr>
          <p:cNvSpPr/>
          <p:nvPr/>
        </p:nvSpPr>
        <p:spPr>
          <a:xfrm>
            <a:off x="2076610" y="3277766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960 / 961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E495A05-8993-F79D-D820-5A8115AF006F}"/>
              </a:ext>
            </a:extLst>
          </p:cNvPr>
          <p:cNvSpPr/>
          <p:nvPr/>
        </p:nvSpPr>
        <p:spPr>
          <a:xfrm>
            <a:off x="2076610" y="2535935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944 / 945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3DEF03-035C-6D10-6F0E-ADCF698EE304}"/>
              </a:ext>
            </a:extLst>
          </p:cNvPr>
          <p:cNvSpPr/>
          <p:nvPr/>
        </p:nvSpPr>
        <p:spPr>
          <a:xfrm>
            <a:off x="2076610" y="2642615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948 / 949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181B00-F563-BA22-BFD7-DBFB65FA2993}"/>
              </a:ext>
            </a:extLst>
          </p:cNvPr>
          <p:cNvSpPr/>
          <p:nvPr/>
        </p:nvSpPr>
        <p:spPr>
          <a:xfrm>
            <a:off x="2076609" y="2430312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601 / 602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8121DD-03B7-4D1F-C3B4-71B765676199}"/>
              </a:ext>
            </a:extLst>
          </p:cNvPr>
          <p:cNvSpPr/>
          <p:nvPr/>
        </p:nvSpPr>
        <p:spPr>
          <a:xfrm>
            <a:off x="3055763" y="2228210"/>
            <a:ext cx="11484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" bIns="0" rtlCol="0" anchor="t" anchorCtr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BD 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E37B4CC-E5EE-4B08-CA34-738BC659CA0F}"/>
              </a:ext>
            </a:extLst>
          </p:cNvPr>
          <p:cNvSpPr/>
          <p:nvPr/>
        </p:nvSpPr>
        <p:spPr>
          <a:xfrm>
            <a:off x="3055763" y="2876336"/>
            <a:ext cx="11484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" bIns="0" rtlCol="0" anchor="t" anchorCtr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VN ]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0EE19DE-62BA-D21C-EAF4-6AD562431F50}"/>
              </a:ext>
            </a:extLst>
          </p:cNvPr>
          <p:cNvSpPr/>
          <p:nvPr/>
        </p:nvSpPr>
        <p:spPr>
          <a:xfrm>
            <a:off x="3157876" y="2255477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F9C90E-41F3-D290-7CDA-3A79BB0476E7}"/>
              </a:ext>
            </a:extLst>
          </p:cNvPr>
          <p:cNvSpPr/>
          <p:nvPr/>
        </p:nvSpPr>
        <p:spPr>
          <a:xfrm>
            <a:off x="3157876" y="2361020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제조원가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2EA26A-05F4-F4BB-5F3E-37A37653E315}"/>
              </a:ext>
            </a:extLst>
          </p:cNvPr>
          <p:cNvSpPr/>
          <p:nvPr/>
        </p:nvSpPr>
        <p:spPr>
          <a:xfrm>
            <a:off x="3157876" y="2466563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85D9-2804-98EA-6430-486D8D82CA0D}"/>
              </a:ext>
            </a:extLst>
          </p:cNvPr>
          <p:cNvSpPr/>
          <p:nvPr/>
        </p:nvSpPr>
        <p:spPr>
          <a:xfrm>
            <a:off x="3157876" y="2572107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비용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2C171B3-E24C-270F-72DF-6575BCDEF395}"/>
              </a:ext>
            </a:extLst>
          </p:cNvPr>
          <p:cNvSpPr/>
          <p:nvPr/>
        </p:nvSpPr>
        <p:spPr>
          <a:xfrm>
            <a:off x="3157876" y="2898871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743DAA-0214-7326-D548-917B505706DA}"/>
              </a:ext>
            </a:extLst>
          </p:cNvPr>
          <p:cNvSpPr/>
          <p:nvPr/>
        </p:nvSpPr>
        <p:spPr>
          <a:xfrm>
            <a:off x="3157876" y="3004414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제조원가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DD0951F-6584-A74D-664A-E212134C0941}"/>
              </a:ext>
            </a:extLst>
          </p:cNvPr>
          <p:cNvSpPr/>
          <p:nvPr/>
        </p:nvSpPr>
        <p:spPr>
          <a:xfrm>
            <a:off x="3157876" y="3109957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D3EBCD-B5DF-FE34-C042-048431A177E3}"/>
              </a:ext>
            </a:extLst>
          </p:cNvPr>
          <p:cNvSpPr/>
          <p:nvPr/>
        </p:nvSpPr>
        <p:spPr>
          <a:xfrm>
            <a:off x="3157876" y="3215501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비용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8" name="직선 연결선 39">
            <a:extLst>
              <a:ext uri="{FF2B5EF4-FFF2-40B4-BE49-F238E27FC236}">
                <a16:creationId xmlns:a16="http://schemas.microsoft.com/office/drawing/2014/main" id="{4EE258C9-B7E0-2BDB-F166-AC03CD6BACB8}"/>
              </a:ext>
            </a:extLst>
          </p:cNvPr>
          <p:cNvCxnSpPr>
            <a:cxnSpLocks/>
            <a:stCxn id="20" idx="3"/>
            <a:endCxn id="31" idx="1"/>
          </p:cNvCxnSpPr>
          <p:nvPr/>
        </p:nvCxnSpPr>
        <p:spPr>
          <a:xfrm>
            <a:off x="2773151" y="2266338"/>
            <a:ext cx="384725" cy="34859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39">
            <a:extLst>
              <a:ext uri="{FF2B5EF4-FFF2-40B4-BE49-F238E27FC236}">
                <a16:creationId xmlns:a16="http://schemas.microsoft.com/office/drawing/2014/main" id="{C891F899-81CA-F104-453C-8ECE30726AED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>
            <a:off x="2773151" y="2371185"/>
            <a:ext cx="384725" cy="3555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39">
            <a:extLst>
              <a:ext uri="{FF2B5EF4-FFF2-40B4-BE49-F238E27FC236}">
                <a16:creationId xmlns:a16="http://schemas.microsoft.com/office/drawing/2014/main" id="{D0B6EE36-E59F-A2F2-5A01-719ED40CF1FA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2773151" y="2476032"/>
            <a:ext cx="384725" cy="36251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39">
            <a:extLst>
              <a:ext uri="{FF2B5EF4-FFF2-40B4-BE49-F238E27FC236}">
                <a16:creationId xmlns:a16="http://schemas.microsoft.com/office/drawing/2014/main" id="{A1142C6A-D5FE-143B-56DE-DC150552D5CC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2773152" y="2581655"/>
            <a:ext cx="384724" cy="361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39">
            <a:extLst>
              <a:ext uri="{FF2B5EF4-FFF2-40B4-BE49-F238E27FC236}">
                <a16:creationId xmlns:a16="http://schemas.microsoft.com/office/drawing/2014/main" id="{13715207-BDC5-8D75-DA11-7B28FEB92D01}"/>
              </a:ext>
            </a:extLst>
          </p:cNvPr>
          <p:cNvCxnSpPr>
            <a:cxnSpLocks/>
            <a:stCxn id="26" idx="3"/>
            <a:endCxn id="34" idx="1"/>
          </p:cNvCxnSpPr>
          <p:nvPr/>
        </p:nvCxnSpPr>
        <p:spPr>
          <a:xfrm flipV="1">
            <a:off x="2773152" y="2617827"/>
            <a:ext cx="384724" cy="7050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39">
            <a:extLst>
              <a:ext uri="{FF2B5EF4-FFF2-40B4-BE49-F238E27FC236}">
                <a16:creationId xmlns:a16="http://schemas.microsoft.com/office/drawing/2014/main" id="{1408BA53-688B-8FD9-3A85-1CFD0C4618B2}"/>
              </a:ext>
            </a:extLst>
          </p:cNvPr>
          <p:cNvCxnSpPr>
            <a:cxnSpLocks/>
            <a:stCxn id="22" idx="3"/>
            <a:endCxn id="38" idx="1"/>
          </p:cNvCxnSpPr>
          <p:nvPr/>
        </p:nvCxnSpPr>
        <p:spPr>
          <a:xfrm>
            <a:off x="2773152" y="3215790"/>
            <a:ext cx="384724" cy="454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39">
            <a:extLst>
              <a:ext uri="{FF2B5EF4-FFF2-40B4-BE49-F238E27FC236}">
                <a16:creationId xmlns:a16="http://schemas.microsoft.com/office/drawing/2014/main" id="{18F661E2-5C8C-D481-38E1-42FF773BFF42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 flipV="1">
            <a:off x="2773152" y="3261221"/>
            <a:ext cx="384724" cy="622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A778305-F269-D7C1-938D-0C780EADEEE0}"/>
              </a:ext>
            </a:extLst>
          </p:cNvPr>
          <p:cNvSpPr/>
          <p:nvPr/>
        </p:nvSpPr>
        <p:spPr>
          <a:xfrm>
            <a:off x="2073438" y="2850413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101 / 102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ADED1E7-DF0E-CD2D-A72C-56C8CF6078B4}"/>
              </a:ext>
            </a:extLst>
          </p:cNvPr>
          <p:cNvSpPr/>
          <p:nvPr/>
        </p:nvSpPr>
        <p:spPr>
          <a:xfrm>
            <a:off x="2073438" y="2955260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261 / 262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DC91A34-9B8D-9DC4-713D-EF7826C7B76E}"/>
              </a:ext>
            </a:extLst>
          </p:cNvPr>
          <p:cNvSpPr/>
          <p:nvPr/>
        </p:nvSpPr>
        <p:spPr>
          <a:xfrm>
            <a:off x="2073438" y="3060107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601 / 602</a:t>
            </a:r>
          </a:p>
        </p:txBody>
      </p:sp>
      <p:cxnSp>
        <p:nvCxnSpPr>
          <p:cNvPr id="76" name="직선 연결선 39">
            <a:extLst>
              <a:ext uri="{FF2B5EF4-FFF2-40B4-BE49-F238E27FC236}">
                <a16:creationId xmlns:a16="http://schemas.microsoft.com/office/drawing/2014/main" id="{4851D995-E511-699E-B99F-BA7B5AAC40A4}"/>
              </a:ext>
            </a:extLst>
          </p:cNvPr>
          <p:cNvCxnSpPr>
            <a:cxnSpLocks/>
            <a:stCxn id="73" idx="3"/>
            <a:endCxn id="35" idx="1"/>
          </p:cNvCxnSpPr>
          <p:nvPr/>
        </p:nvCxnSpPr>
        <p:spPr>
          <a:xfrm>
            <a:off x="2769980" y="2896133"/>
            <a:ext cx="387896" cy="4845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39">
            <a:extLst>
              <a:ext uri="{FF2B5EF4-FFF2-40B4-BE49-F238E27FC236}">
                <a16:creationId xmlns:a16="http://schemas.microsoft.com/office/drawing/2014/main" id="{8C22E305-ECFD-BEE7-C9FA-7D6738B6B63F}"/>
              </a:ext>
            </a:extLst>
          </p:cNvPr>
          <p:cNvCxnSpPr>
            <a:cxnSpLocks/>
            <a:stCxn id="74" idx="3"/>
            <a:endCxn id="36" idx="1"/>
          </p:cNvCxnSpPr>
          <p:nvPr/>
        </p:nvCxnSpPr>
        <p:spPr>
          <a:xfrm>
            <a:off x="2769980" y="3000980"/>
            <a:ext cx="387896" cy="49154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39">
            <a:extLst>
              <a:ext uri="{FF2B5EF4-FFF2-40B4-BE49-F238E27FC236}">
                <a16:creationId xmlns:a16="http://schemas.microsoft.com/office/drawing/2014/main" id="{2C03A7ED-B66C-10C8-0634-D70BE17F561F}"/>
              </a:ext>
            </a:extLst>
          </p:cNvPr>
          <p:cNvCxnSpPr>
            <a:cxnSpLocks/>
            <a:stCxn id="75" idx="3"/>
            <a:endCxn id="37" idx="1"/>
          </p:cNvCxnSpPr>
          <p:nvPr/>
        </p:nvCxnSpPr>
        <p:spPr>
          <a:xfrm>
            <a:off x="2769980" y="3105827"/>
            <a:ext cx="387896" cy="4985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9ED142D-8D43-7EA2-70AD-CCB127F48234}"/>
              </a:ext>
            </a:extLst>
          </p:cNvPr>
          <p:cNvSpPr/>
          <p:nvPr/>
        </p:nvSpPr>
        <p:spPr>
          <a:xfrm>
            <a:off x="5246237" y="2037795"/>
            <a:ext cx="1673827" cy="115244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이동유형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]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1E834CE-9EFC-270B-CA80-AA4049994347}"/>
              </a:ext>
            </a:extLst>
          </p:cNvPr>
          <p:cNvSpPr/>
          <p:nvPr/>
        </p:nvSpPr>
        <p:spPr>
          <a:xfrm>
            <a:off x="7037754" y="2037795"/>
            <a:ext cx="1679527" cy="115244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회계인식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]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CABECC0-052D-E00A-84A8-C508847C7AF1}"/>
              </a:ext>
            </a:extLst>
          </p:cNvPr>
          <p:cNvSpPr/>
          <p:nvPr/>
        </p:nvSpPr>
        <p:spPr>
          <a:xfrm>
            <a:off x="5364480" y="2221137"/>
            <a:ext cx="3288029" cy="37719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Global ]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2E29549E-8B48-2FA3-92A5-45635040256B}"/>
              </a:ext>
            </a:extLst>
          </p:cNvPr>
          <p:cNvSpPr/>
          <p:nvPr/>
        </p:nvSpPr>
        <p:spPr>
          <a:xfrm>
            <a:off x="5884323" y="2254184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101 / 102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756B553-C7A0-27A8-0519-8A81C0CB66E1}"/>
              </a:ext>
            </a:extLst>
          </p:cNvPr>
          <p:cNvSpPr/>
          <p:nvPr/>
        </p:nvSpPr>
        <p:spPr>
          <a:xfrm>
            <a:off x="5884323" y="2371731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261 / 262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4A91D56-11AB-AB7E-DAEA-FA2D45E69E9E}"/>
              </a:ext>
            </a:extLst>
          </p:cNvPr>
          <p:cNvSpPr/>
          <p:nvPr/>
        </p:nvSpPr>
        <p:spPr>
          <a:xfrm>
            <a:off x="5884323" y="2488008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601 / 602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BB9AE53E-E73B-D74A-BAC7-B24DB60697EE}"/>
              </a:ext>
            </a:extLst>
          </p:cNvPr>
          <p:cNvSpPr/>
          <p:nvPr/>
        </p:nvSpPr>
        <p:spPr>
          <a:xfrm>
            <a:off x="5363927" y="2629513"/>
            <a:ext cx="3288029" cy="526769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 [ Local ]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1339672-EDA0-E4A5-5614-688826C0675A}"/>
              </a:ext>
            </a:extLst>
          </p:cNvPr>
          <p:cNvSpPr/>
          <p:nvPr/>
        </p:nvSpPr>
        <p:spPr>
          <a:xfrm>
            <a:off x="7376783" y="2254184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원재료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C0102723-7770-2418-E4EA-EF60D4DF83B3}"/>
              </a:ext>
            </a:extLst>
          </p:cNvPr>
          <p:cNvSpPr/>
          <p:nvPr/>
        </p:nvSpPr>
        <p:spPr>
          <a:xfrm>
            <a:off x="7376783" y="2371731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제조원가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8BB351B-C0F1-4AEC-A5EA-27EE2ED9D270}"/>
              </a:ext>
            </a:extLst>
          </p:cNvPr>
          <p:cNvSpPr/>
          <p:nvPr/>
        </p:nvSpPr>
        <p:spPr>
          <a:xfrm>
            <a:off x="7376783" y="2488008"/>
            <a:ext cx="696542" cy="91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판매원가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5CD95E9-604B-0A06-D89F-28DD4AD5EC47}"/>
              </a:ext>
            </a:extLst>
          </p:cNvPr>
          <p:cNvSpPr/>
          <p:nvPr/>
        </p:nvSpPr>
        <p:spPr>
          <a:xfrm>
            <a:off x="7376783" y="2699157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VN Account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40" name="직선 연결선 39">
            <a:extLst>
              <a:ext uri="{FF2B5EF4-FFF2-40B4-BE49-F238E27FC236}">
                <a16:creationId xmlns:a16="http://schemas.microsoft.com/office/drawing/2014/main" id="{8E841091-68B7-C65D-40E6-1137EB0844DA}"/>
              </a:ext>
            </a:extLst>
          </p:cNvPr>
          <p:cNvCxnSpPr>
            <a:cxnSpLocks/>
            <a:stCxn id="123" idx="3"/>
            <a:endCxn id="132" idx="1"/>
          </p:cNvCxnSpPr>
          <p:nvPr/>
        </p:nvCxnSpPr>
        <p:spPr>
          <a:xfrm>
            <a:off x="6580865" y="2299904"/>
            <a:ext cx="79591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39">
            <a:extLst>
              <a:ext uri="{FF2B5EF4-FFF2-40B4-BE49-F238E27FC236}">
                <a16:creationId xmlns:a16="http://schemas.microsoft.com/office/drawing/2014/main" id="{4AA44BDB-9ADA-0284-2384-C9075D91A404}"/>
              </a:ext>
            </a:extLst>
          </p:cNvPr>
          <p:cNvCxnSpPr>
            <a:cxnSpLocks/>
            <a:stCxn id="124" idx="3"/>
            <a:endCxn id="133" idx="1"/>
          </p:cNvCxnSpPr>
          <p:nvPr/>
        </p:nvCxnSpPr>
        <p:spPr>
          <a:xfrm>
            <a:off x="6580865" y="2417451"/>
            <a:ext cx="79591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39">
            <a:extLst>
              <a:ext uri="{FF2B5EF4-FFF2-40B4-BE49-F238E27FC236}">
                <a16:creationId xmlns:a16="http://schemas.microsoft.com/office/drawing/2014/main" id="{69F20783-B98E-F211-5741-7C7E1C2A372B}"/>
              </a:ext>
            </a:extLst>
          </p:cNvPr>
          <p:cNvCxnSpPr>
            <a:cxnSpLocks/>
            <a:stCxn id="129" idx="3"/>
            <a:endCxn id="134" idx="1"/>
          </p:cNvCxnSpPr>
          <p:nvPr/>
        </p:nvCxnSpPr>
        <p:spPr>
          <a:xfrm>
            <a:off x="6580865" y="2533728"/>
            <a:ext cx="79591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39">
            <a:extLst>
              <a:ext uri="{FF2B5EF4-FFF2-40B4-BE49-F238E27FC236}">
                <a16:creationId xmlns:a16="http://schemas.microsoft.com/office/drawing/2014/main" id="{8E28CA03-4912-AC15-7A13-5BAFCD9279F2}"/>
              </a:ext>
            </a:extLst>
          </p:cNvPr>
          <p:cNvCxnSpPr>
            <a:cxnSpLocks/>
            <a:stCxn id="125" idx="3"/>
            <a:endCxn id="139" idx="1"/>
          </p:cNvCxnSpPr>
          <p:nvPr/>
        </p:nvCxnSpPr>
        <p:spPr>
          <a:xfrm>
            <a:off x="6580866" y="2699446"/>
            <a:ext cx="795917" cy="454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39">
            <a:extLst>
              <a:ext uri="{FF2B5EF4-FFF2-40B4-BE49-F238E27FC236}">
                <a16:creationId xmlns:a16="http://schemas.microsoft.com/office/drawing/2014/main" id="{F15458A9-CC48-9851-D834-92209DB6CD7F}"/>
              </a:ext>
            </a:extLst>
          </p:cNvPr>
          <p:cNvCxnSpPr>
            <a:cxnSpLocks/>
            <a:stCxn id="126" idx="3"/>
            <a:endCxn id="139" idx="1"/>
          </p:cNvCxnSpPr>
          <p:nvPr/>
        </p:nvCxnSpPr>
        <p:spPr>
          <a:xfrm flipV="1">
            <a:off x="6580866" y="2744877"/>
            <a:ext cx="795917" cy="622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6A786561-648B-371D-0DC7-3E21C15295F3}"/>
              </a:ext>
            </a:extLst>
          </p:cNvPr>
          <p:cNvSpPr/>
          <p:nvPr/>
        </p:nvSpPr>
        <p:spPr>
          <a:xfrm>
            <a:off x="5884324" y="2653726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901 / 902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B37BC40-52FC-7F42-CD6B-721D437BEF43}"/>
              </a:ext>
            </a:extLst>
          </p:cNvPr>
          <p:cNvSpPr/>
          <p:nvPr/>
        </p:nvSpPr>
        <p:spPr>
          <a:xfrm>
            <a:off x="5884324" y="2761422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960 / 961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B58C743-D898-58CA-B105-67F4FCFE7E47}"/>
              </a:ext>
            </a:extLst>
          </p:cNvPr>
          <p:cNvSpPr/>
          <p:nvPr/>
        </p:nvSpPr>
        <p:spPr>
          <a:xfrm>
            <a:off x="5881152" y="2929945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944 / 945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3EA1F1AD-D0F3-3CE8-ABA6-E5AB1BADC632}"/>
              </a:ext>
            </a:extLst>
          </p:cNvPr>
          <p:cNvSpPr/>
          <p:nvPr/>
        </p:nvSpPr>
        <p:spPr>
          <a:xfrm>
            <a:off x="5881152" y="3036625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948 / 949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AF604CAF-C613-AD1B-0B47-0BDCFE03E38B}"/>
              </a:ext>
            </a:extLst>
          </p:cNvPr>
          <p:cNvSpPr/>
          <p:nvPr/>
        </p:nvSpPr>
        <p:spPr>
          <a:xfrm>
            <a:off x="7373106" y="2975017"/>
            <a:ext cx="696542" cy="9144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BD Account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54" name="직선 연결선 39">
            <a:extLst>
              <a:ext uri="{FF2B5EF4-FFF2-40B4-BE49-F238E27FC236}">
                <a16:creationId xmlns:a16="http://schemas.microsoft.com/office/drawing/2014/main" id="{EE802F0E-C6CC-7302-7383-AAEAAACA6C8E}"/>
              </a:ext>
            </a:extLst>
          </p:cNvPr>
          <p:cNvCxnSpPr>
            <a:cxnSpLocks/>
            <a:stCxn id="127" idx="3"/>
            <a:endCxn id="153" idx="1"/>
          </p:cNvCxnSpPr>
          <p:nvPr/>
        </p:nvCxnSpPr>
        <p:spPr>
          <a:xfrm>
            <a:off x="6577694" y="2975665"/>
            <a:ext cx="795412" cy="450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39">
            <a:extLst>
              <a:ext uri="{FF2B5EF4-FFF2-40B4-BE49-F238E27FC236}">
                <a16:creationId xmlns:a16="http://schemas.microsoft.com/office/drawing/2014/main" id="{41D12DA1-7D0B-13B4-4BA3-06F2D4071714}"/>
              </a:ext>
            </a:extLst>
          </p:cNvPr>
          <p:cNvCxnSpPr>
            <a:cxnSpLocks/>
            <a:stCxn id="128" idx="3"/>
            <a:endCxn id="153" idx="1"/>
          </p:cNvCxnSpPr>
          <p:nvPr/>
        </p:nvCxnSpPr>
        <p:spPr>
          <a:xfrm flipV="1">
            <a:off x="6577694" y="3020737"/>
            <a:ext cx="795412" cy="6160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39">
            <a:extLst>
              <a:ext uri="{FF2B5EF4-FFF2-40B4-BE49-F238E27FC236}">
                <a16:creationId xmlns:a16="http://schemas.microsoft.com/office/drawing/2014/main" id="{5E7FFD3A-0CE1-7900-E016-AFDFFA9D6EC8}"/>
              </a:ext>
            </a:extLst>
          </p:cNvPr>
          <p:cNvCxnSpPr>
            <a:cxnSpLocks/>
          </p:cNvCxnSpPr>
          <p:nvPr/>
        </p:nvCxnSpPr>
        <p:spPr>
          <a:xfrm>
            <a:off x="5881152" y="2892898"/>
            <a:ext cx="230018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28FD207-39A1-9156-FC56-922BCDB19FE9}"/>
              </a:ext>
            </a:extLst>
          </p:cNvPr>
          <p:cNvSpPr/>
          <p:nvPr/>
        </p:nvSpPr>
        <p:spPr>
          <a:xfrm>
            <a:off x="5023178" y="3200918"/>
            <a:ext cx="4113201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Global Template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기준의 이동유형 표준화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COA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 재고이동의 회계인식 및 지역특화 관리 기준 수립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86F51F0E-9292-58F4-6E90-60FEEF87CE71}"/>
              </a:ext>
            </a:extLst>
          </p:cNvPr>
          <p:cNvSpPr/>
          <p:nvPr/>
        </p:nvSpPr>
        <p:spPr>
          <a:xfrm>
            <a:off x="8141248" y="2280663"/>
            <a:ext cx="493133" cy="2581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통합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COA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C0EE5061-B9E1-C2C6-43E2-DFE937B1C3F0}"/>
              </a:ext>
            </a:extLst>
          </p:cNvPr>
          <p:cNvSpPr/>
          <p:nvPr/>
        </p:nvSpPr>
        <p:spPr>
          <a:xfrm>
            <a:off x="8141248" y="2760935"/>
            <a:ext cx="493133" cy="2581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Local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COA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AF32A0-CB40-B163-7DFC-B97F14A3D70C}"/>
              </a:ext>
            </a:extLst>
          </p:cNvPr>
          <p:cNvSpPr/>
          <p:nvPr/>
        </p:nvSpPr>
        <p:spPr>
          <a:xfrm>
            <a:off x="1601391" y="4150881"/>
            <a:ext cx="1280160" cy="142731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BD 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3B059FE7-9FF9-0DB2-6A06-C62A77306131}"/>
              </a:ext>
            </a:extLst>
          </p:cNvPr>
          <p:cNvSpPr/>
          <p:nvPr/>
        </p:nvSpPr>
        <p:spPr>
          <a:xfrm>
            <a:off x="2981856" y="4150881"/>
            <a:ext cx="1280160" cy="142731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en-US" altLang="ko-KR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VN 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]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B91F40DF-28BF-D1CB-2299-B8EB85BED234}"/>
              </a:ext>
            </a:extLst>
          </p:cNvPr>
          <p:cNvGrpSpPr/>
          <p:nvPr/>
        </p:nvGrpSpPr>
        <p:grpSpPr>
          <a:xfrm>
            <a:off x="1723933" y="4476935"/>
            <a:ext cx="1017271" cy="528063"/>
            <a:chOff x="1708693" y="4412165"/>
            <a:chExt cx="1017271" cy="528063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03500801-9E06-79C8-0F89-21B28E011A6D}"/>
                </a:ext>
              </a:extLst>
            </p:cNvPr>
            <p:cNvSpPr/>
            <p:nvPr/>
          </p:nvSpPr>
          <p:spPr>
            <a:xfrm>
              <a:off x="1708693" y="4412165"/>
              <a:ext cx="91440" cy="1828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F88A2E82-E349-9B48-08FF-1942A351A739}"/>
                </a:ext>
              </a:extLst>
            </p:cNvPr>
            <p:cNvSpPr/>
            <p:nvPr/>
          </p:nvSpPr>
          <p:spPr>
            <a:xfrm>
              <a:off x="1973217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F286F64E-6D0E-DFD5-F41E-8312F9368E2C}"/>
                </a:ext>
              </a:extLst>
            </p:cNvPr>
            <p:cNvSpPr/>
            <p:nvPr/>
          </p:nvSpPr>
          <p:spPr>
            <a:xfrm>
              <a:off x="2237741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AECBCCC4-FFF9-A31D-D60A-372FAE2426A2}"/>
                </a:ext>
              </a:extLst>
            </p:cNvPr>
            <p:cNvSpPr/>
            <p:nvPr/>
          </p:nvSpPr>
          <p:spPr>
            <a:xfrm>
              <a:off x="2502265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50EDD22-1CBC-592A-BBA0-91F8D3A1C813}"/>
                </a:ext>
              </a:extLst>
            </p:cNvPr>
            <p:cNvSpPr/>
            <p:nvPr/>
          </p:nvSpPr>
          <p:spPr>
            <a:xfrm>
              <a:off x="1840955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A72EA141-08F2-64E1-BC2A-9F6AF99DF930}"/>
                </a:ext>
              </a:extLst>
            </p:cNvPr>
            <p:cNvSpPr/>
            <p:nvPr/>
          </p:nvSpPr>
          <p:spPr>
            <a:xfrm>
              <a:off x="2105479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27D83E3B-D9F2-705E-C902-EFA144D84DCB}"/>
                </a:ext>
              </a:extLst>
            </p:cNvPr>
            <p:cNvSpPr/>
            <p:nvPr/>
          </p:nvSpPr>
          <p:spPr>
            <a:xfrm>
              <a:off x="2370003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FDD03083-8473-A0F7-1E49-8F0D04347CC0}"/>
                </a:ext>
              </a:extLst>
            </p:cNvPr>
            <p:cNvSpPr/>
            <p:nvPr/>
          </p:nvSpPr>
          <p:spPr>
            <a:xfrm>
              <a:off x="2634524" y="4412165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E1FA6460-0808-D7FF-7AAC-0B8860577E55}"/>
                </a:ext>
              </a:extLst>
            </p:cNvPr>
            <p:cNvSpPr/>
            <p:nvPr/>
          </p:nvSpPr>
          <p:spPr>
            <a:xfrm>
              <a:off x="1708693" y="4757348"/>
              <a:ext cx="91440" cy="1828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L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5D7103A6-FE01-BD61-0B71-51CF7513AFD5}"/>
                </a:ext>
              </a:extLst>
            </p:cNvPr>
            <p:cNvSpPr/>
            <p:nvPr/>
          </p:nvSpPr>
          <p:spPr>
            <a:xfrm>
              <a:off x="1973217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739BE429-42CB-BEF2-0F88-1EF1D9104E55}"/>
                </a:ext>
              </a:extLst>
            </p:cNvPr>
            <p:cNvSpPr/>
            <p:nvPr/>
          </p:nvSpPr>
          <p:spPr>
            <a:xfrm>
              <a:off x="2237741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D22EFFCD-57BF-508F-7805-3D9DE058FA3C}"/>
                </a:ext>
              </a:extLst>
            </p:cNvPr>
            <p:cNvSpPr/>
            <p:nvPr/>
          </p:nvSpPr>
          <p:spPr>
            <a:xfrm>
              <a:off x="2502265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C4C35066-951C-83F5-F667-B9A20FA39443}"/>
                </a:ext>
              </a:extLst>
            </p:cNvPr>
            <p:cNvSpPr/>
            <p:nvPr/>
          </p:nvSpPr>
          <p:spPr>
            <a:xfrm>
              <a:off x="1840955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C4471E03-5D62-D630-071C-7898C44320AE}"/>
                </a:ext>
              </a:extLst>
            </p:cNvPr>
            <p:cNvSpPr/>
            <p:nvPr/>
          </p:nvSpPr>
          <p:spPr>
            <a:xfrm>
              <a:off x="2105479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FBCAB7F-50EF-4E23-03C9-0C449F23D5F6}"/>
                </a:ext>
              </a:extLst>
            </p:cNvPr>
            <p:cNvSpPr/>
            <p:nvPr/>
          </p:nvSpPr>
          <p:spPr>
            <a:xfrm>
              <a:off x="2370003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2262E14B-6C38-6C3A-E76E-28CD8F1D689E}"/>
                </a:ext>
              </a:extLst>
            </p:cNvPr>
            <p:cNvSpPr/>
            <p:nvPr/>
          </p:nvSpPr>
          <p:spPr>
            <a:xfrm>
              <a:off x="2634524" y="4757348"/>
              <a:ext cx="91440" cy="18288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079CD938-D3CE-12C8-1E2B-988FC447FE0E}"/>
              </a:ext>
            </a:extLst>
          </p:cNvPr>
          <p:cNvSpPr/>
          <p:nvPr/>
        </p:nvSpPr>
        <p:spPr>
          <a:xfrm>
            <a:off x="1716313" y="4327090"/>
            <a:ext cx="1086491" cy="1248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Material Code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변경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13282AB0-94C8-D105-3B48-DD59278DC284}"/>
              </a:ext>
            </a:extLst>
          </p:cNvPr>
          <p:cNvSpPr/>
          <p:nvPr/>
        </p:nvSpPr>
        <p:spPr>
          <a:xfrm>
            <a:off x="1717014" y="5210103"/>
            <a:ext cx="1086491" cy="1248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단위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자재가격 변경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</p:txBody>
      </p:sp>
      <p:sp>
        <p:nvSpPr>
          <p:cNvPr id="200" name="화살표: 아래쪽 199">
            <a:extLst>
              <a:ext uri="{FF2B5EF4-FFF2-40B4-BE49-F238E27FC236}">
                <a16:creationId xmlns:a16="http://schemas.microsoft.com/office/drawing/2014/main" id="{F0B1F18C-158A-9029-E182-56EFF1DF636C}"/>
              </a:ext>
            </a:extLst>
          </p:cNvPr>
          <p:cNvSpPr/>
          <p:nvPr/>
        </p:nvSpPr>
        <p:spPr>
          <a:xfrm>
            <a:off x="2091873" y="4702637"/>
            <a:ext cx="293370" cy="9100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7A7DD52E-B2A4-F882-552D-FAC9227B7813}"/>
              </a:ext>
            </a:extLst>
          </p:cNvPr>
          <p:cNvSpPr/>
          <p:nvPr/>
        </p:nvSpPr>
        <p:spPr>
          <a:xfrm>
            <a:off x="1717014" y="5365371"/>
            <a:ext cx="1086491" cy="1248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BDT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120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BDT 50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1DE17B6-AACA-D410-E17F-5197F2D0FA73}"/>
              </a:ext>
            </a:extLst>
          </p:cNvPr>
          <p:cNvSpPr/>
          <p:nvPr/>
        </p:nvSpPr>
        <p:spPr>
          <a:xfrm>
            <a:off x="3055763" y="4573493"/>
            <a:ext cx="537067" cy="4994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Running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창고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8D19B6C-AAC8-631D-9429-441A2D49A5B8}"/>
              </a:ext>
            </a:extLst>
          </p:cNvPr>
          <p:cNvSpPr/>
          <p:nvPr/>
        </p:nvSpPr>
        <p:spPr>
          <a:xfrm>
            <a:off x="3658889" y="4573493"/>
            <a:ext cx="537067" cy="4994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</a:t>
            </a:r>
            <a:endParaRPr kumimoji="0" lang="en-US" altLang="ko-KR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창고</a:t>
            </a:r>
            <a:endParaRPr kumimoji="0" lang="en-US" altLang="ko-KR" sz="900" b="1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VND 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1,200</a:t>
            </a:r>
          </a:p>
        </p:txBody>
      </p:sp>
      <p:sp>
        <p:nvSpPr>
          <p:cNvPr id="208" name="화살표: 아래쪽 207">
            <a:extLst>
              <a:ext uri="{FF2B5EF4-FFF2-40B4-BE49-F238E27FC236}">
                <a16:creationId xmlns:a16="http://schemas.microsoft.com/office/drawing/2014/main" id="{E8120520-9969-5E60-332C-E8F2DE51B4C4}"/>
              </a:ext>
            </a:extLst>
          </p:cNvPr>
          <p:cNvSpPr/>
          <p:nvPr/>
        </p:nvSpPr>
        <p:spPr>
          <a:xfrm rot="16200000">
            <a:off x="3479175" y="4783609"/>
            <a:ext cx="293370" cy="9100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7E683D9-03F6-7692-1C5A-0ED13FBC1C5F}"/>
              </a:ext>
            </a:extLst>
          </p:cNvPr>
          <p:cNvSpPr/>
          <p:nvPr/>
        </p:nvSpPr>
        <p:spPr>
          <a:xfrm>
            <a:off x="3043678" y="4365190"/>
            <a:ext cx="1086491" cy="1248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자재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위치 변경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D5FF990-32CF-3168-C762-C87DEC43225C}"/>
              </a:ext>
            </a:extLst>
          </p:cNvPr>
          <p:cNvSpPr/>
          <p:nvPr/>
        </p:nvSpPr>
        <p:spPr>
          <a:xfrm>
            <a:off x="3043678" y="5205116"/>
            <a:ext cx="1086491" cy="1248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ko-KR" altLang="en-US" sz="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재고평가</a:t>
            </a:r>
            <a:r>
              <a:rPr lang="ko-KR" altLang="en-US" sz="800" b="1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800" b="1" dirty="0" smtClean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감액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93DB463B-AF66-3909-EF65-443905B86018}"/>
              </a:ext>
            </a:extLst>
          </p:cNvPr>
          <p:cNvSpPr/>
          <p:nvPr/>
        </p:nvSpPr>
        <p:spPr>
          <a:xfrm>
            <a:off x="3052314" y="5360384"/>
            <a:ext cx="1351467" cy="1552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VND</a:t>
            </a: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1,200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VND 500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2ED8E449-6223-80BD-89A3-34139598593D}"/>
              </a:ext>
            </a:extLst>
          </p:cNvPr>
          <p:cNvSpPr/>
          <p:nvPr/>
        </p:nvSpPr>
        <p:spPr>
          <a:xfrm>
            <a:off x="1609418" y="5555779"/>
            <a:ext cx="2711122" cy="2726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기준 및 방법 상이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0D692264-3B83-28FA-221C-70E0A13FEF39}"/>
              </a:ext>
            </a:extLst>
          </p:cNvPr>
          <p:cNvSpPr/>
          <p:nvPr/>
        </p:nvSpPr>
        <p:spPr>
          <a:xfrm>
            <a:off x="5429429" y="4440579"/>
            <a:ext cx="918031" cy="76540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Running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창고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3C3D3013-7E6D-DC6A-BF6A-F5A27FE1055D}"/>
              </a:ext>
            </a:extLst>
          </p:cNvPr>
          <p:cNvSpPr/>
          <p:nvPr/>
        </p:nvSpPr>
        <p:spPr>
          <a:xfrm>
            <a:off x="6593257" y="4445495"/>
            <a:ext cx="918031" cy="4963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창고</a:t>
            </a:r>
            <a:endParaRPr kumimoji="0" lang="en-US" sz="9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69277CA9-7187-F5AD-DB7F-644B5B3166EC}"/>
              </a:ext>
            </a:extLst>
          </p:cNvPr>
          <p:cNvSpPr/>
          <p:nvPr/>
        </p:nvSpPr>
        <p:spPr>
          <a:xfrm>
            <a:off x="4912689" y="5342084"/>
            <a:ext cx="4113201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</a:t>
            </a:r>
            <a:r>
              <a:rPr kumimoji="0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절차 표준화를 통한 </a:t>
            </a:r>
            <a:r>
              <a:rPr kumimoji="0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관리영역 구분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물류관리와 재무관리 영역의 분리를 통한 물류표준화 재무 특화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4168C353-F984-2B1A-2113-3493051D3439}"/>
              </a:ext>
            </a:extLst>
          </p:cNvPr>
          <p:cNvSpPr/>
          <p:nvPr/>
        </p:nvSpPr>
        <p:spPr>
          <a:xfrm>
            <a:off x="7708686" y="4204310"/>
            <a:ext cx="1020786" cy="103470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국가별 회계인식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217" name="화살표: 아래쪽 216">
            <a:extLst>
              <a:ext uri="{FF2B5EF4-FFF2-40B4-BE49-F238E27FC236}">
                <a16:creationId xmlns:a16="http://schemas.microsoft.com/office/drawing/2014/main" id="{FC237CC7-496C-D70D-99B4-875E425C97F2}"/>
              </a:ext>
            </a:extLst>
          </p:cNvPr>
          <p:cNvSpPr/>
          <p:nvPr/>
        </p:nvSpPr>
        <p:spPr>
          <a:xfrm rot="16200000">
            <a:off x="6329262" y="4568535"/>
            <a:ext cx="293370" cy="19634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2B659C3E-A3DE-1E63-900C-1A113CE56725}"/>
              </a:ext>
            </a:extLst>
          </p:cNvPr>
          <p:cNvCxnSpPr>
            <a:cxnSpLocks/>
          </p:cNvCxnSpPr>
          <p:nvPr/>
        </p:nvCxnSpPr>
        <p:spPr>
          <a:xfrm>
            <a:off x="7821243" y="4838067"/>
            <a:ext cx="7985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4385AA06-0146-AF3F-2759-7F435414D507}"/>
              </a:ext>
            </a:extLst>
          </p:cNvPr>
          <p:cNvSpPr/>
          <p:nvPr/>
        </p:nvSpPr>
        <p:spPr>
          <a:xfrm>
            <a:off x="5290216" y="4204310"/>
            <a:ext cx="2308741" cy="105567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en-US" altLang="ko-KR" sz="9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Leftover </a:t>
            </a: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절차 표준화</a:t>
            </a: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]</a:t>
            </a:r>
          </a:p>
        </p:txBody>
      </p:sp>
      <p:pic>
        <p:nvPicPr>
          <p:cNvPr id="222" name="그림 221">
            <a:extLst>
              <a:ext uri="{FF2B5EF4-FFF2-40B4-BE49-F238E27FC236}">
                <a16:creationId xmlns:a16="http://schemas.microsoft.com/office/drawing/2014/main" id="{ACED0647-9B2E-E3CA-11E2-AAC5C3CDA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366" y="5024285"/>
            <a:ext cx="271515" cy="162273"/>
          </a:xfrm>
          <a:prstGeom prst="rect">
            <a:avLst/>
          </a:prstGeom>
        </p:spPr>
      </p:pic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85D72F8-D413-D99B-04F9-7688E3472F0C}"/>
              </a:ext>
            </a:extLst>
          </p:cNvPr>
          <p:cNvSpPr/>
          <p:nvPr/>
        </p:nvSpPr>
        <p:spPr>
          <a:xfrm>
            <a:off x="6927546" y="5030215"/>
            <a:ext cx="520873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GLOSTOM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화살표: 아래쪽 223">
            <a:extLst>
              <a:ext uri="{FF2B5EF4-FFF2-40B4-BE49-F238E27FC236}">
                <a16:creationId xmlns:a16="http://schemas.microsoft.com/office/drawing/2014/main" id="{A3DE7337-489C-B44F-16F2-749E081F7384}"/>
              </a:ext>
            </a:extLst>
          </p:cNvPr>
          <p:cNvSpPr/>
          <p:nvPr/>
        </p:nvSpPr>
        <p:spPr>
          <a:xfrm>
            <a:off x="6920403" y="4876982"/>
            <a:ext cx="293370" cy="13201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37EBDA96-384D-5E4A-27D4-FAC697062113}"/>
              </a:ext>
            </a:extLst>
          </p:cNvPr>
          <p:cNvSpPr/>
          <p:nvPr/>
        </p:nvSpPr>
        <p:spPr>
          <a:xfrm>
            <a:off x="5522970" y="4620783"/>
            <a:ext cx="730948" cy="14630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대상 선정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99750FA7-3445-1773-B3DC-49770726F4B0}"/>
              </a:ext>
            </a:extLst>
          </p:cNvPr>
          <p:cNvSpPr/>
          <p:nvPr/>
        </p:nvSpPr>
        <p:spPr>
          <a:xfrm>
            <a:off x="5522970" y="4811463"/>
            <a:ext cx="730948" cy="14630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확정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A9D8B07E-7FDF-05C5-8DAC-2EEE47BEDE70}"/>
              </a:ext>
            </a:extLst>
          </p:cNvPr>
          <p:cNvSpPr/>
          <p:nvPr/>
        </p:nvSpPr>
        <p:spPr>
          <a:xfrm>
            <a:off x="5522970" y="5002143"/>
            <a:ext cx="730948" cy="14630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이전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81FE0A80-C58A-AA9E-F2FC-36EEE5EF954A}"/>
              </a:ext>
            </a:extLst>
          </p:cNvPr>
          <p:cNvSpPr/>
          <p:nvPr/>
        </p:nvSpPr>
        <p:spPr>
          <a:xfrm>
            <a:off x="6695068" y="4625824"/>
            <a:ext cx="730948" cy="14630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Spec /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수량 관리</a:t>
            </a:r>
            <a:endParaRPr kumimoji="0" lang="en-US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30" name="화살표: 아래쪽 229">
            <a:extLst>
              <a:ext uri="{FF2B5EF4-FFF2-40B4-BE49-F238E27FC236}">
                <a16:creationId xmlns:a16="http://schemas.microsoft.com/office/drawing/2014/main" id="{3AFFE0CA-65E2-6554-7313-9FF5C9A3E4A6}"/>
              </a:ext>
            </a:extLst>
          </p:cNvPr>
          <p:cNvSpPr/>
          <p:nvPr/>
        </p:nvSpPr>
        <p:spPr>
          <a:xfrm rot="16200000">
            <a:off x="7458624" y="4573120"/>
            <a:ext cx="293370" cy="19634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85E3C12A-B367-CC74-718C-60B6A9460621}"/>
              </a:ext>
            </a:extLst>
          </p:cNvPr>
          <p:cNvSpPr/>
          <p:nvPr/>
        </p:nvSpPr>
        <p:spPr>
          <a:xfrm>
            <a:off x="7860017" y="4458315"/>
            <a:ext cx="730948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[ BD 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800" b="1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자재별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가격조정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B951E082-9439-B804-622B-52376E18F7F2}"/>
              </a:ext>
            </a:extLst>
          </p:cNvPr>
          <p:cNvSpPr/>
          <p:nvPr/>
        </p:nvSpPr>
        <p:spPr>
          <a:xfrm>
            <a:off x="7860017" y="4896393"/>
            <a:ext cx="730948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[ VN 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총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-10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재고평가</a:t>
            </a:r>
            <a:r>
              <a:rPr kumimoji="0" lang="ko-KR" altLang="en-US" sz="8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감액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65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24">
            <a:extLst>
              <a:ext uri="{FF2B5EF4-FFF2-40B4-BE49-F238E27FC236}">
                <a16:creationId xmlns:a16="http://schemas.microsoft.com/office/drawing/2014/main" id="{DAB62553-A4CA-4771-430D-31B253F0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381" y="4173179"/>
            <a:ext cx="911684" cy="953535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시스템 지원영역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26CC1EF-F50E-4ED0-8016-F12CD109C67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900" b="0" i="0" u="none" strike="noStrike" kern="1200" cap="none" spc="-70" normalizeH="0" baseline="0" noProof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4F01298-FE06-4538-8767-0C2BD05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재무회계 주요 변화 사항</a:t>
            </a:r>
            <a:endParaRPr kumimoji="0" lang="en-US" altLang="ko-KR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AB1687B6-71CD-F9FF-7EF2-144926BE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 spc="-1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영원 전체 연결 및 지역 특화 항목을 포함한 표준 총계정원장의 도입으로 재무관리 용이성을 향상하고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모니터링 및 회계인식 방식 변경을 통해 조기 재무결산 체계 구축을 목표로 함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7E6882-9593-D509-37CC-307DB6CCC220}"/>
              </a:ext>
            </a:extLst>
          </p:cNvPr>
          <p:cNvSpPr/>
          <p:nvPr/>
        </p:nvSpPr>
        <p:spPr>
          <a:xfrm>
            <a:off x="614113" y="1732554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Chart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Of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Account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9FE73E-E7DA-904A-FFAA-EF7CEEE46B2C}"/>
              </a:ext>
            </a:extLst>
          </p:cNvPr>
          <p:cNvSpPr/>
          <p:nvPr/>
        </p:nvSpPr>
        <p:spPr>
          <a:xfrm>
            <a:off x="614112" y="3870959"/>
            <a:ext cx="727007" cy="1954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Monthly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Closing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2315EB-6E1B-E7D7-E6B4-242322348F71}"/>
              </a:ext>
            </a:extLst>
          </p:cNvPr>
          <p:cNvSpPr/>
          <p:nvPr/>
        </p:nvSpPr>
        <p:spPr>
          <a:xfrm>
            <a:off x="1577340" y="1499148"/>
            <a:ext cx="274320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As-Is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B555483-59B8-D62A-B175-9A214F936086}"/>
              </a:ext>
            </a:extLst>
          </p:cNvPr>
          <p:cNvSpPr/>
          <p:nvPr/>
        </p:nvSpPr>
        <p:spPr>
          <a:xfrm>
            <a:off x="5219700" y="1506725"/>
            <a:ext cx="3383280" cy="23340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To-Be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8576A2-BA00-52A4-4421-E564299DC1D8}"/>
              </a:ext>
            </a:extLst>
          </p:cNvPr>
          <p:cNvSpPr/>
          <p:nvPr/>
        </p:nvSpPr>
        <p:spPr>
          <a:xfrm>
            <a:off x="614112" y="5975944"/>
            <a:ext cx="8590848" cy="3591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재무정보 통합을 위한 표준 재무인식 기준 수립과 결산소요 시간 최소화</a:t>
            </a:r>
            <a:endParaRPr kumimoji="0" lang="en-US" altLang="ko-KR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5018CD4-B0A7-B27C-98AB-8D14959DCEB4}"/>
              </a:ext>
            </a:extLst>
          </p:cNvPr>
          <p:cNvSpPr/>
          <p:nvPr/>
        </p:nvSpPr>
        <p:spPr>
          <a:xfrm>
            <a:off x="4822986" y="1732554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국가특화 재무요구사항 반영 통합 총계정원장 운용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3E9006-A4EC-D21A-15C4-5337C4BA155B}"/>
              </a:ext>
            </a:extLst>
          </p:cNvPr>
          <p:cNvSpPr/>
          <p:nvPr/>
        </p:nvSpPr>
        <p:spPr>
          <a:xfrm>
            <a:off x="4822986" y="3870959"/>
            <a:ext cx="4313394" cy="2334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결산 프로세스 표준화 및 결산업무 전산화 범위 확대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9A160A-3F6B-F2F6-A3C8-ECE457933E62}"/>
              </a:ext>
            </a:extLst>
          </p:cNvPr>
          <p:cNvSpPr/>
          <p:nvPr/>
        </p:nvSpPr>
        <p:spPr>
          <a:xfrm>
            <a:off x="1609419" y="1732554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지역별 총계정원장 운용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CED2E47-F5C0-4D69-2302-A89018D56EED}"/>
              </a:ext>
            </a:extLst>
          </p:cNvPr>
          <p:cNvSpPr/>
          <p:nvPr/>
        </p:nvSpPr>
        <p:spPr>
          <a:xfrm>
            <a:off x="1601392" y="3870959"/>
            <a:ext cx="2660624" cy="2334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프로세스 이원화 및 전산지원 부족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" name="Rectangle 53">
            <a:extLst>
              <a:ext uri="{FF2B5EF4-FFF2-40B4-BE49-F238E27FC236}">
                <a16:creationId xmlns:a16="http://schemas.microsoft.com/office/drawing/2014/main" id="{5366B6AC-B814-E909-51EC-4EAB2B8A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9980" y="1984944"/>
            <a:ext cx="243961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KR</a:t>
            </a:r>
          </a:p>
        </p:txBody>
      </p:sp>
      <p:sp>
        <p:nvSpPr>
          <p:cNvPr id="3" name="TextBox 124">
            <a:extLst>
              <a:ext uri="{FF2B5EF4-FFF2-40B4-BE49-F238E27FC236}">
                <a16:creationId xmlns:a16="http://schemas.microsoft.com/office/drawing/2014/main" id="{EB4953DB-A8BB-B0CF-FBD9-27885AECD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223" y="2141198"/>
            <a:ext cx="759474" cy="1060999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(YOK,YOH)</a:t>
            </a:r>
          </a:p>
        </p:txBody>
      </p:sp>
      <p:sp>
        <p:nvSpPr>
          <p:cNvPr id="6" name="TextBox 124">
            <a:extLst>
              <a:ext uri="{FF2B5EF4-FFF2-40B4-BE49-F238E27FC236}">
                <a16:creationId xmlns:a16="http://schemas.microsoft.com/office/drawing/2014/main" id="{7231086C-ADB0-B255-79B5-7C63900D4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149" y="2347234"/>
            <a:ext cx="581623" cy="1074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Box 124">
            <a:extLst>
              <a:ext uri="{FF2B5EF4-FFF2-40B4-BE49-F238E27FC236}">
                <a16:creationId xmlns:a16="http://schemas.microsoft.com/office/drawing/2014/main" id="{BCC3CAC4-6A75-75A5-2DC1-3E92516C9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149" y="2514297"/>
            <a:ext cx="581623" cy="1074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AutoShape 18">
            <a:extLst>
              <a:ext uri="{FF2B5EF4-FFF2-40B4-BE49-F238E27FC236}">
                <a16:creationId xmlns:a16="http://schemas.microsoft.com/office/drawing/2014/main" id="{D1A3F0A1-14C5-8AD3-9195-A088762DFC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1960" y="2454696"/>
            <a:ext cx="0" cy="59601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124">
            <a:extLst>
              <a:ext uri="{FF2B5EF4-FFF2-40B4-BE49-F238E27FC236}">
                <a16:creationId xmlns:a16="http://schemas.microsoft.com/office/drawing/2014/main" id="{72839899-AB0F-48C5-71E8-740CE8D93703}"/>
              </a:ext>
            </a:extLst>
          </p:cNvPr>
          <p:cNvSpPr txBox="1"/>
          <p:nvPr/>
        </p:nvSpPr>
        <p:spPr>
          <a:xfrm>
            <a:off x="1701149" y="2686780"/>
            <a:ext cx="581622" cy="107462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124">
            <a:extLst>
              <a:ext uri="{FF2B5EF4-FFF2-40B4-BE49-F238E27FC236}">
                <a16:creationId xmlns:a16="http://schemas.microsoft.com/office/drawing/2014/main" id="{630CF4F0-2A0B-A193-7557-EC6167D7C5A5}"/>
              </a:ext>
            </a:extLst>
          </p:cNvPr>
          <p:cNvSpPr txBox="1"/>
          <p:nvPr/>
        </p:nvSpPr>
        <p:spPr>
          <a:xfrm>
            <a:off x="1701149" y="2846618"/>
            <a:ext cx="581622" cy="1074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AutoShape 21">
            <a:extLst>
              <a:ext uri="{FF2B5EF4-FFF2-40B4-BE49-F238E27FC236}">
                <a16:creationId xmlns:a16="http://schemas.microsoft.com/office/drawing/2014/main" id="{69DAAB58-028B-D14E-D994-FC075DB0AD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1960" y="2794241"/>
            <a:ext cx="0" cy="52376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22">
            <a:extLst>
              <a:ext uri="{FF2B5EF4-FFF2-40B4-BE49-F238E27FC236}">
                <a16:creationId xmlns:a16="http://schemas.microsoft.com/office/drawing/2014/main" id="{1631A1FA-18AF-A5CC-9A1F-0A282B2A5D1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91159" y="2621759"/>
            <a:ext cx="1602" cy="65019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4">
            <a:extLst>
              <a:ext uri="{FF2B5EF4-FFF2-40B4-BE49-F238E27FC236}">
                <a16:creationId xmlns:a16="http://schemas.microsoft.com/office/drawing/2014/main" id="{E4256722-FD0A-F31E-F6BE-CD070054AC21}"/>
              </a:ext>
            </a:extLst>
          </p:cNvPr>
          <p:cNvSpPr txBox="1"/>
          <p:nvPr/>
        </p:nvSpPr>
        <p:spPr>
          <a:xfrm>
            <a:off x="1701149" y="3005720"/>
            <a:ext cx="581623" cy="10746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 Level</a:t>
            </a:r>
            <a:endParaRPr kumimoji="0" lang="ko-KR" altLang="en-US" sz="6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Rectangle 53">
            <a:extLst>
              <a:ext uri="{FF2B5EF4-FFF2-40B4-BE49-F238E27FC236}">
                <a16:creationId xmlns:a16="http://schemas.microsoft.com/office/drawing/2014/main" id="{586B71CE-B512-1392-7EFB-58B7A68D7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90" y="1984944"/>
            <a:ext cx="256303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BD</a:t>
            </a:r>
          </a:p>
        </p:txBody>
      </p:sp>
      <p:sp>
        <p:nvSpPr>
          <p:cNvPr id="15" name="TextBox 124">
            <a:extLst>
              <a:ext uri="{FF2B5EF4-FFF2-40B4-BE49-F238E27FC236}">
                <a16:creationId xmlns:a16="http://schemas.microsoft.com/office/drawing/2014/main" id="{7BA34272-3C71-5C17-386F-24AF8545A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004" y="2141198"/>
            <a:ext cx="759474" cy="1060999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 YCL,KSL..)</a:t>
            </a:r>
          </a:p>
        </p:txBody>
      </p:sp>
      <p:sp>
        <p:nvSpPr>
          <p:cNvPr id="16" name="TextBox 124">
            <a:extLst>
              <a:ext uri="{FF2B5EF4-FFF2-40B4-BE49-F238E27FC236}">
                <a16:creationId xmlns:a16="http://schemas.microsoft.com/office/drawing/2014/main" id="{19933BE8-DDBC-3A4E-1683-D441D23C1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930" y="2347234"/>
            <a:ext cx="581623" cy="1074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24">
            <a:extLst>
              <a:ext uri="{FF2B5EF4-FFF2-40B4-BE49-F238E27FC236}">
                <a16:creationId xmlns:a16="http://schemas.microsoft.com/office/drawing/2014/main" id="{C1A7EDE4-1E73-7CEF-275E-B6FC01427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930" y="2514297"/>
            <a:ext cx="581623" cy="107463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2977753E-2BDA-FFC1-56D2-EF7C7CF63D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50741" y="2454696"/>
            <a:ext cx="0" cy="59601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24">
            <a:extLst>
              <a:ext uri="{FF2B5EF4-FFF2-40B4-BE49-F238E27FC236}">
                <a16:creationId xmlns:a16="http://schemas.microsoft.com/office/drawing/2014/main" id="{B0E93A01-4F41-AEDC-BF38-D98BF753BBFE}"/>
              </a:ext>
            </a:extLst>
          </p:cNvPr>
          <p:cNvSpPr txBox="1"/>
          <p:nvPr/>
        </p:nvSpPr>
        <p:spPr>
          <a:xfrm>
            <a:off x="2659930" y="2686780"/>
            <a:ext cx="581622" cy="107462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24">
            <a:extLst>
              <a:ext uri="{FF2B5EF4-FFF2-40B4-BE49-F238E27FC236}">
                <a16:creationId xmlns:a16="http://schemas.microsoft.com/office/drawing/2014/main" id="{BD55A169-96F6-A1B3-B426-784F0BD89688}"/>
              </a:ext>
            </a:extLst>
          </p:cNvPr>
          <p:cNvSpPr txBox="1"/>
          <p:nvPr/>
        </p:nvSpPr>
        <p:spPr>
          <a:xfrm>
            <a:off x="2659930" y="2846618"/>
            <a:ext cx="581622" cy="107463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A082AE47-2802-2A6F-429C-725EAC7ED9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50741" y="2794241"/>
            <a:ext cx="0" cy="52376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22">
            <a:extLst>
              <a:ext uri="{FF2B5EF4-FFF2-40B4-BE49-F238E27FC236}">
                <a16:creationId xmlns:a16="http://schemas.microsoft.com/office/drawing/2014/main" id="{F18DB5E0-C67F-F165-2A00-26880BE1DBD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49940" y="2621759"/>
            <a:ext cx="1602" cy="65019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124">
            <a:extLst>
              <a:ext uri="{FF2B5EF4-FFF2-40B4-BE49-F238E27FC236}">
                <a16:creationId xmlns:a16="http://schemas.microsoft.com/office/drawing/2014/main" id="{A6EC4C0C-88E6-C025-8839-029871E8FBA9}"/>
              </a:ext>
            </a:extLst>
          </p:cNvPr>
          <p:cNvSpPr txBox="1"/>
          <p:nvPr/>
        </p:nvSpPr>
        <p:spPr>
          <a:xfrm>
            <a:off x="2659930" y="3005720"/>
            <a:ext cx="581623" cy="107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 Level</a:t>
            </a:r>
            <a:endParaRPr kumimoji="0" lang="ko-KR" altLang="en-US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Rectangle 53">
            <a:extLst>
              <a:ext uri="{FF2B5EF4-FFF2-40B4-BE49-F238E27FC236}">
                <a16:creationId xmlns:a16="http://schemas.microsoft.com/office/drawing/2014/main" id="{C2BAC49F-31BD-8377-4A65-8B22274E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481" y="1984944"/>
            <a:ext cx="265121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VN</a:t>
            </a:r>
          </a:p>
        </p:txBody>
      </p:sp>
      <p:sp>
        <p:nvSpPr>
          <p:cNvPr id="25" name="TextBox 124">
            <a:extLst>
              <a:ext uri="{FF2B5EF4-FFF2-40B4-BE49-F238E27FC236}">
                <a16:creationId xmlns:a16="http://schemas.microsoft.com/office/drawing/2014/main" id="{653BB6E7-62F9-C416-828C-DEC719449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9304" y="2141198"/>
            <a:ext cx="759474" cy="1060999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 YNL,YBL..)</a:t>
            </a:r>
          </a:p>
        </p:txBody>
      </p:sp>
      <p:sp>
        <p:nvSpPr>
          <p:cNvPr id="26" name="TextBox 124">
            <a:extLst>
              <a:ext uri="{FF2B5EF4-FFF2-40B4-BE49-F238E27FC236}">
                <a16:creationId xmlns:a16="http://schemas.microsoft.com/office/drawing/2014/main" id="{15924A15-B532-380C-EF47-BBDD0CC7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230" y="2347234"/>
            <a:ext cx="581623" cy="1074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 Level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TextBox 124">
            <a:extLst>
              <a:ext uri="{FF2B5EF4-FFF2-40B4-BE49-F238E27FC236}">
                <a16:creationId xmlns:a16="http://schemas.microsoft.com/office/drawing/2014/main" id="{42CECBC4-148C-E93C-6DB4-F508F57B0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230" y="2514297"/>
            <a:ext cx="581623" cy="1074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8" name="AutoShape 18">
            <a:extLst>
              <a:ext uri="{FF2B5EF4-FFF2-40B4-BE49-F238E27FC236}">
                <a16:creationId xmlns:a16="http://schemas.microsoft.com/office/drawing/2014/main" id="{71AE85BB-3861-10D5-5837-983306B237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79041" y="2454696"/>
            <a:ext cx="0" cy="59601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Box 124">
            <a:extLst>
              <a:ext uri="{FF2B5EF4-FFF2-40B4-BE49-F238E27FC236}">
                <a16:creationId xmlns:a16="http://schemas.microsoft.com/office/drawing/2014/main" id="{8457DBD4-255B-D789-E19F-724434C4CF62}"/>
              </a:ext>
            </a:extLst>
          </p:cNvPr>
          <p:cNvSpPr txBox="1"/>
          <p:nvPr/>
        </p:nvSpPr>
        <p:spPr>
          <a:xfrm>
            <a:off x="3588230" y="2686780"/>
            <a:ext cx="581622" cy="107462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124">
            <a:extLst>
              <a:ext uri="{FF2B5EF4-FFF2-40B4-BE49-F238E27FC236}">
                <a16:creationId xmlns:a16="http://schemas.microsoft.com/office/drawing/2014/main" id="{D15631C7-4314-16D4-4FE9-66ACD8A50B3F}"/>
              </a:ext>
            </a:extLst>
          </p:cNvPr>
          <p:cNvSpPr txBox="1"/>
          <p:nvPr/>
        </p:nvSpPr>
        <p:spPr>
          <a:xfrm>
            <a:off x="3588230" y="2846618"/>
            <a:ext cx="581622" cy="1074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 Level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6" name="AutoShape 21">
            <a:extLst>
              <a:ext uri="{FF2B5EF4-FFF2-40B4-BE49-F238E27FC236}">
                <a16:creationId xmlns:a16="http://schemas.microsoft.com/office/drawing/2014/main" id="{4429692D-EF8D-AF19-5453-C9A1161173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79041" y="2794241"/>
            <a:ext cx="0" cy="52376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22">
            <a:extLst>
              <a:ext uri="{FF2B5EF4-FFF2-40B4-BE49-F238E27FC236}">
                <a16:creationId xmlns:a16="http://schemas.microsoft.com/office/drawing/2014/main" id="{965E69BC-82FD-1766-DC1E-43973D7934D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78240" y="2621760"/>
            <a:ext cx="1602" cy="65019"/>
          </a:xfrm>
          <a:prstGeom prst="straightConnector1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124">
            <a:extLst>
              <a:ext uri="{FF2B5EF4-FFF2-40B4-BE49-F238E27FC236}">
                <a16:creationId xmlns:a16="http://schemas.microsoft.com/office/drawing/2014/main" id="{1A0EB6C9-D1B6-02E4-185A-5CD6440E816A}"/>
              </a:ext>
            </a:extLst>
          </p:cNvPr>
          <p:cNvSpPr txBox="1"/>
          <p:nvPr/>
        </p:nvSpPr>
        <p:spPr>
          <a:xfrm>
            <a:off x="3588230" y="3005722"/>
            <a:ext cx="581623" cy="10746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 Level</a:t>
            </a:r>
            <a:endParaRPr kumimoji="0" lang="ko-KR" altLang="en-US" sz="6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1BA0803-2FC7-CF53-50B7-3B979474D9C9}"/>
              </a:ext>
            </a:extLst>
          </p:cNvPr>
          <p:cNvSpPr/>
          <p:nvPr/>
        </p:nvSpPr>
        <p:spPr>
          <a:xfrm>
            <a:off x="1609419" y="3168162"/>
            <a:ext cx="2711122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동일거래 시 국가별 회계처리 방법 상이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법인별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재무기준 정보 별도 운용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Rectangle 114">
            <a:extLst>
              <a:ext uri="{FF2B5EF4-FFF2-40B4-BE49-F238E27FC236}">
                <a16:creationId xmlns:a16="http://schemas.microsoft.com/office/drawing/2014/main" id="{8F00573E-1D84-6E42-7EA1-80471882F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808" y="2007303"/>
            <a:ext cx="2825750" cy="777807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ap="rnd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Rectangle 115">
            <a:extLst>
              <a:ext uri="{FF2B5EF4-FFF2-40B4-BE49-F238E27FC236}">
                <a16:creationId xmlns:a16="http://schemas.microsoft.com/office/drawing/2014/main" id="{297CC2F5-7079-B2DC-D208-77ACFA77D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808" y="2822641"/>
            <a:ext cx="2825750" cy="34552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rnd" algn="ctr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Rectangle 116">
            <a:extLst>
              <a:ext uri="{FF2B5EF4-FFF2-40B4-BE49-F238E27FC236}">
                <a16:creationId xmlns:a16="http://schemas.microsoft.com/office/drawing/2014/main" id="{8589CC93-8372-42FA-6B4A-CB9E477BB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548" y="2051753"/>
            <a:ext cx="2693036" cy="356167"/>
          </a:xfrm>
          <a:prstGeom prst="rect">
            <a:avLst/>
          </a:prstGeom>
          <a:solidFill>
            <a:schemeClr val="tx1"/>
          </a:solidFill>
          <a:ln w="28575" cap="rnd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7" name="Rectangle 117">
            <a:extLst>
              <a:ext uri="{FF2B5EF4-FFF2-40B4-BE49-F238E27FC236}">
                <a16:creationId xmlns:a16="http://schemas.microsoft.com/office/drawing/2014/main" id="{32305D87-5CC6-D721-A19E-8EAD48AA0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538" y="2445452"/>
            <a:ext cx="3542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Global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</a:t>
            </a:r>
          </a:p>
        </p:txBody>
      </p:sp>
      <p:sp>
        <p:nvSpPr>
          <p:cNvPr id="128" name="Rectangle 118">
            <a:extLst>
              <a:ext uri="{FF2B5EF4-FFF2-40B4-BE49-F238E27FC236}">
                <a16:creationId xmlns:a16="http://schemas.microsoft.com/office/drawing/2014/main" id="{7E6DEECB-13B9-2B1A-92BD-93AE17997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606" y="2877044"/>
            <a:ext cx="28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Local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</a:t>
            </a:r>
          </a:p>
        </p:txBody>
      </p:sp>
      <p:sp>
        <p:nvSpPr>
          <p:cNvPr id="129" name="Rectangle 119">
            <a:extLst>
              <a:ext uri="{FF2B5EF4-FFF2-40B4-BE49-F238E27FC236}">
                <a16:creationId xmlns:a16="http://schemas.microsoft.com/office/drawing/2014/main" id="{8686C80D-FED6-9BBC-1722-A31B9BEFA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254" y="2091337"/>
            <a:ext cx="2308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</a:t>
            </a:r>
          </a:p>
        </p:txBody>
      </p:sp>
      <p:sp>
        <p:nvSpPr>
          <p:cNvPr id="143" name="TextBox 124">
            <a:extLst>
              <a:ext uri="{FF2B5EF4-FFF2-40B4-BE49-F238E27FC236}">
                <a16:creationId xmlns:a16="http://schemas.microsoft.com/office/drawing/2014/main" id="{264039F4-F843-76A7-1202-C5C0E1C67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984" y="2079692"/>
            <a:ext cx="576263" cy="1280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1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TextBox 124">
            <a:extLst>
              <a:ext uri="{FF2B5EF4-FFF2-40B4-BE49-F238E27FC236}">
                <a16:creationId xmlns:a16="http://schemas.microsoft.com/office/drawing/2014/main" id="{8CD79E99-015A-9EF9-2678-9992CD411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984" y="2247649"/>
            <a:ext cx="576263" cy="1280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2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TextBox 124">
            <a:extLst>
              <a:ext uri="{FF2B5EF4-FFF2-40B4-BE49-F238E27FC236}">
                <a16:creationId xmlns:a16="http://schemas.microsoft.com/office/drawing/2014/main" id="{4C6B0CB0-F0BE-B343-DF87-0FDB6E86159C}"/>
              </a:ext>
            </a:extLst>
          </p:cNvPr>
          <p:cNvSpPr txBox="1"/>
          <p:nvPr/>
        </p:nvSpPr>
        <p:spPr>
          <a:xfrm>
            <a:off x="6982984" y="2445452"/>
            <a:ext cx="576262" cy="128016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3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6" name="TextBox 124">
            <a:extLst>
              <a:ext uri="{FF2B5EF4-FFF2-40B4-BE49-F238E27FC236}">
                <a16:creationId xmlns:a16="http://schemas.microsoft.com/office/drawing/2014/main" id="{0CD76311-1954-E1B5-840A-20777D0202C8}"/>
              </a:ext>
            </a:extLst>
          </p:cNvPr>
          <p:cNvSpPr txBox="1"/>
          <p:nvPr/>
        </p:nvSpPr>
        <p:spPr>
          <a:xfrm>
            <a:off x="6982984" y="2612139"/>
            <a:ext cx="576262" cy="1280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4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7" name="TextBox 124">
            <a:extLst>
              <a:ext uri="{FF2B5EF4-FFF2-40B4-BE49-F238E27FC236}">
                <a16:creationId xmlns:a16="http://schemas.microsoft.com/office/drawing/2014/main" id="{540BE5AA-F24D-DD30-6727-A3563490825E}"/>
              </a:ext>
            </a:extLst>
          </p:cNvPr>
          <p:cNvSpPr txBox="1"/>
          <p:nvPr/>
        </p:nvSpPr>
        <p:spPr>
          <a:xfrm>
            <a:off x="6307944" y="2998964"/>
            <a:ext cx="576262" cy="128016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5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TextBox 124">
            <a:extLst>
              <a:ext uri="{FF2B5EF4-FFF2-40B4-BE49-F238E27FC236}">
                <a16:creationId xmlns:a16="http://schemas.microsoft.com/office/drawing/2014/main" id="{47529926-DAFE-DC2F-FB5D-4F6535C1829C}"/>
              </a:ext>
            </a:extLst>
          </p:cNvPr>
          <p:cNvSpPr txBox="1"/>
          <p:nvPr/>
        </p:nvSpPr>
        <p:spPr>
          <a:xfrm>
            <a:off x="6982984" y="2998964"/>
            <a:ext cx="576262" cy="128016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5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TextBox 124">
            <a:extLst>
              <a:ext uri="{FF2B5EF4-FFF2-40B4-BE49-F238E27FC236}">
                <a16:creationId xmlns:a16="http://schemas.microsoft.com/office/drawing/2014/main" id="{85677C5C-197E-579E-1B2C-71410452E8CA}"/>
              </a:ext>
            </a:extLst>
          </p:cNvPr>
          <p:cNvSpPr txBox="1"/>
          <p:nvPr/>
        </p:nvSpPr>
        <p:spPr>
          <a:xfrm>
            <a:off x="7666801" y="2998964"/>
            <a:ext cx="576262" cy="128016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Level 5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Rectangle 53">
            <a:extLst>
              <a:ext uri="{FF2B5EF4-FFF2-40B4-BE49-F238E27FC236}">
                <a16:creationId xmlns:a16="http://schemas.microsoft.com/office/drawing/2014/main" id="{F8E8042C-B76B-BBF4-991B-E8FAE2292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4095" y="2840267"/>
            <a:ext cx="243961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KR</a:t>
            </a:r>
          </a:p>
        </p:txBody>
      </p:sp>
      <p:sp>
        <p:nvSpPr>
          <p:cNvPr id="151" name="Rectangle 53">
            <a:extLst>
              <a:ext uri="{FF2B5EF4-FFF2-40B4-BE49-F238E27FC236}">
                <a16:creationId xmlns:a16="http://schemas.microsoft.com/office/drawing/2014/main" id="{9523C4B3-1E13-B64D-FF0D-6E3ADF239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964" y="2840267"/>
            <a:ext cx="256303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BD</a:t>
            </a:r>
          </a:p>
        </p:txBody>
      </p:sp>
      <p:sp>
        <p:nvSpPr>
          <p:cNvPr id="152" name="Rectangle 53">
            <a:extLst>
              <a:ext uri="{FF2B5EF4-FFF2-40B4-BE49-F238E27FC236}">
                <a16:creationId xmlns:a16="http://schemas.microsoft.com/office/drawing/2014/main" id="{F8FD9C7E-1963-468A-8F0B-751F02013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2372" y="2840267"/>
            <a:ext cx="265121" cy="12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VN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EA5B9FCC-6B07-C5FC-E92E-254401FEEB93}"/>
              </a:ext>
            </a:extLst>
          </p:cNvPr>
          <p:cNvSpPr/>
          <p:nvPr/>
        </p:nvSpPr>
        <p:spPr>
          <a:xfrm>
            <a:off x="5023178" y="3168162"/>
            <a:ext cx="4113201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 및 통합 표준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COA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 영역의 선정 및 표준화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지역특화 회계인식의 임의 관리 통제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E081D8DF-11EF-98C0-7F15-5B8BFDD0CB9A}"/>
              </a:ext>
            </a:extLst>
          </p:cNvPr>
          <p:cNvSpPr/>
          <p:nvPr/>
        </p:nvSpPr>
        <p:spPr>
          <a:xfrm>
            <a:off x="3377123" y="4362260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회계기준정보 관리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BC03AA46-4515-8B70-26D4-E1CD2D07087F}"/>
              </a:ext>
            </a:extLst>
          </p:cNvPr>
          <p:cNvSpPr/>
          <p:nvPr/>
        </p:nvSpPr>
        <p:spPr>
          <a:xfrm>
            <a:off x="3377123" y="4628890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연계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69DD196-DF88-3FBF-0289-5B2BEFEAF202}"/>
              </a:ext>
            </a:extLst>
          </p:cNvPr>
          <p:cNvSpPr/>
          <p:nvPr/>
        </p:nvSpPr>
        <p:spPr>
          <a:xfrm>
            <a:off x="3377123" y="4900599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전산 지원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1" name="TextBox 124">
            <a:extLst>
              <a:ext uri="{FF2B5EF4-FFF2-40B4-BE49-F238E27FC236}">
                <a16:creationId xmlns:a16="http://schemas.microsoft.com/office/drawing/2014/main" id="{0FD3B897-E196-180A-A72B-DB69FDBA8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2" y="4169357"/>
            <a:ext cx="831408" cy="953535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프로세스 영역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3F330FB-AF0B-57D7-56BE-A2968177B968}"/>
              </a:ext>
            </a:extLst>
          </p:cNvPr>
          <p:cNvSpPr/>
          <p:nvPr/>
        </p:nvSpPr>
        <p:spPr>
          <a:xfrm>
            <a:off x="1655772" y="4358438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자산처리 방법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4190FE0-C55C-0971-37CA-D59C9C1C35B0}"/>
              </a:ext>
            </a:extLst>
          </p:cNvPr>
          <p:cNvSpPr/>
          <p:nvPr/>
        </p:nvSpPr>
        <p:spPr>
          <a:xfrm>
            <a:off x="1655772" y="4627607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매입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매출관리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AAE5C2D-E596-04FF-9291-E3D211A57E2E}"/>
              </a:ext>
            </a:extLst>
          </p:cNvPr>
          <p:cNvSpPr/>
          <p:nvPr/>
        </p:nvSpPr>
        <p:spPr>
          <a:xfrm>
            <a:off x="1655772" y="4896777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비용인식 기준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5" name="화살표: 아래쪽 164">
            <a:extLst>
              <a:ext uri="{FF2B5EF4-FFF2-40B4-BE49-F238E27FC236}">
                <a16:creationId xmlns:a16="http://schemas.microsoft.com/office/drawing/2014/main" id="{3FEB7452-4EB6-291F-3A6A-5D1872955C52}"/>
              </a:ext>
            </a:extLst>
          </p:cNvPr>
          <p:cNvSpPr/>
          <p:nvPr/>
        </p:nvSpPr>
        <p:spPr>
          <a:xfrm rot="16200000">
            <a:off x="2392638" y="4592753"/>
            <a:ext cx="293370" cy="1461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E0DEFAE0-EE49-5005-D0BA-C0E20AC7EAB9}"/>
              </a:ext>
            </a:extLst>
          </p:cNvPr>
          <p:cNvSpPr/>
          <p:nvPr/>
        </p:nvSpPr>
        <p:spPr>
          <a:xfrm rot="5400000">
            <a:off x="3073277" y="4589603"/>
            <a:ext cx="293370" cy="1461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8008F716-4D22-7D1B-3515-9975BC18470E}"/>
              </a:ext>
            </a:extLst>
          </p:cNvPr>
          <p:cNvSpPr/>
          <p:nvPr/>
        </p:nvSpPr>
        <p:spPr>
          <a:xfrm>
            <a:off x="3235652" y="5110496"/>
            <a:ext cx="1226613" cy="2581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전산지원</a:t>
            </a:r>
            <a:r>
              <a:rPr kumimoji="0" lang="ko-KR" altLang="en-US" sz="800" b="1" i="0" u="none" strike="noStrike" kern="1200" cap="none" spc="-10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미흡에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따른 수작업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78C2009-64E4-C479-B103-1CDFD8BE3D79}"/>
              </a:ext>
            </a:extLst>
          </p:cNvPr>
          <p:cNvSpPr/>
          <p:nvPr/>
        </p:nvSpPr>
        <p:spPr>
          <a:xfrm>
            <a:off x="1540004" y="5110496"/>
            <a:ext cx="954183" cy="2581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이원화 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비표준화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D2B4752-0BD7-B670-7514-7446D6484E05}"/>
              </a:ext>
            </a:extLst>
          </p:cNvPr>
          <p:cNvSpPr/>
          <p:nvPr/>
        </p:nvSpPr>
        <p:spPr>
          <a:xfrm>
            <a:off x="2666774" y="4359200"/>
            <a:ext cx="418731" cy="5937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개별결산</a:t>
            </a:r>
            <a:endParaRPr kumimoji="0" lang="en-US" altLang="ko-KR" sz="900" b="1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D+15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9DC8D26B-F82E-B897-BC55-690ACBA9EC31}"/>
              </a:ext>
            </a:extLst>
          </p:cNvPr>
          <p:cNvSpPr/>
          <p:nvPr/>
        </p:nvSpPr>
        <p:spPr>
          <a:xfrm>
            <a:off x="1601392" y="5331940"/>
            <a:ext cx="2823288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프로세스 이원화 및 현금기준 회계처리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수작업 기반 데이터 취합 및 결산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1" name="TextBox 124">
            <a:extLst>
              <a:ext uri="{FF2B5EF4-FFF2-40B4-BE49-F238E27FC236}">
                <a16:creationId xmlns:a16="http://schemas.microsoft.com/office/drawing/2014/main" id="{EA77FA7D-05C8-A95A-905D-5EEA383FD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87" y="4233983"/>
            <a:ext cx="911684" cy="953535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시스템 지원영역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3F9A0A19-79C1-B184-1957-0EF66DBA23F8}"/>
              </a:ext>
            </a:extLst>
          </p:cNvPr>
          <p:cNvSpPr/>
          <p:nvPr/>
        </p:nvSpPr>
        <p:spPr>
          <a:xfrm>
            <a:off x="7405529" y="4423064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회계기준정보 관리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722B7F49-6FA0-1E76-7BC0-4D72080852DB}"/>
              </a:ext>
            </a:extLst>
          </p:cNvPr>
          <p:cNvSpPr/>
          <p:nvPr/>
        </p:nvSpPr>
        <p:spPr>
          <a:xfrm>
            <a:off x="7405529" y="4689694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연계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9A50D22-A56A-1C19-72D7-EEDC2C85177F}"/>
              </a:ext>
            </a:extLst>
          </p:cNvPr>
          <p:cNvSpPr/>
          <p:nvPr/>
        </p:nvSpPr>
        <p:spPr>
          <a:xfrm>
            <a:off x="7405529" y="4961403"/>
            <a:ext cx="838200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전산 지원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TextBox 124">
            <a:extLst>
              <a:ext uri="{FF2B5EF4-FFF2-40B4-BE49-F238E27FC236}">
                <a16:creationId xmlns:a16="http://schemas.microsoft.com/office/drawing/2014/main" id="{9F62A075-9AD7-C5B0-F96B-B2B4F1A3F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278" y="4230161"/>
            <a:ext cx="831408" cy="953535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Clr>
                <a:srgbClr val="000000"/>
              </a:buClr>
              <a:buSzTx/>
              <a:buFont typeface="Times" panose="02020603050405020304" pitchFamily="18" charset="0"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프로세스 영역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B96D02BD-AB30-80EC-5C6B-F5F447F1500D}"/>
              </a:ext>
            </a:extLst>
          </p:cNvPr>
          <p:cNvSpPr/>
          <p:nvPr/>
        </p:nvSpPr>
        <p:spPr>
          <a:xfrm>
            <a:off x="5714658" y="4685836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매입</a:t>
            </a: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매출 관리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F3BBDEDA-95BF-0EF6-D34F-014BFFC507EF}"/>
              </a:ext>
            </a:extLst>
          </p:cNvPr>
          <p:cNvSpPr/>
          <p:nvPr/>
        </p:nvSpPr>
        <p:spPr>
          <a:xfrm>
            <a:off x="5714658" y="4414091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자산처리 방법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6C1B2D54-8E89-D32A-8B36-A97E23ED45FF}"/>
              </a:ext>
            </a:extLst>
          </p:cNvPr>
          <p:cNvSpPr/>
          <p:nvPr/>
        </p:nvSpPr>
        <p:spPr>
          <a:xfrm>
            <a:off x="5714658" y="4957581"/>
            <a:ext cx="722649" cy="1828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비용인식 기준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9" name="화살표: 아래쪽 178">
            <a:extLst>
              <a:ext uri="{FF2B5EF4-FFF2-40B4-BE49-F238E27FC236}">
                <a16:creationId xmlns:a16="http://schemas.microsoft.com/office/drawing/2014/main" id="{2F72B954-A919-FEDE-29E7-B6EE5FEF1B6F}"/>
              </a:ext>
            </a:extLst>
          </p:cNvPr>
          <p:cNvSpPr/>
          <p:nvPr/>
        </p:nvSpPr>
        <p:spPr>
          <a:xfrm rot="16200000">
            <a:off x="6451524" y="4653557"/>
            <a:ext cx="293370" cy="1461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80" name="화살표: 아래쪽 179">
            <a:extLst>
              <a:ext uri="{FF2B5EF4-FFF2-40B4-BE49-F238E27FC236}">
                <a16:creationId xmlns:a16="http://schemas.microsoft.com/office/drawing/2014/main" id="{C4D05772-6766-9C44-B74B-AF726B84A001}"/>
              </a:ext>
            </a:extLst>
          </p:cNvPr>
          <p:cNvSpPr/>
          <p:nvPr/>
        </p:nvSpPr>
        <p:spPr>
          <a:xfrm rot="5400000">
            <a:off x="7113113" y="4650407"/>
            <a:ext cx="293370" cy="1461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77207B5-CC85-DF7F-1CA5-85F3EC058E80}"/>
              </a:ext>
            </a:extLst>
          </p:cNvPr>
          <p:cNvSpPr/>
          <p:nvPr/>
        </p:nvSpPr>
        <p:spPr>
          <a:xfrm>
            <a:off x="6725660" y="4420004"/>
            <a:ext cx="418731" cy="59375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개별결산</a:t>
            </a:r>
            <a:endParaRPr kumimoji="0" lang="en-US" altLang="ko-KR" sz="9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D+4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8D02046B-00F1-5EC6-5474-5632C440227E}"/>
              </a:ext>
            </a:extLst>
          </p:cNvPr>
          <p:cNvSpPr/>
          <p:nvPr/>
        </p:nvSpPr>
        <p:spPr>
          <a:xfrm>
            <a:off x="4835940" y="4857274"/>
            <a:ext cx="722649" cy="1828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발생회계 원칙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2246817-E7AB-DCA3-0EA1-C894DD93F5B9}"/>
              </a:ext>
            </a:extLst>
          </p:cNvPr>
          <p:cNvSpPr/>
          <p:nvPr/>
        </p:nvSpPr>
        <p:spPr>
          <a:xfrm>
            <a:off x="4835941" y="4536643"/>
            <a:ext cx="722649" cy="1828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결산업무 표준화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87" name="직선 연결선 39">
            <a:extLst>
              <a:ext uri="{FF2B5EF4-FFF2-40B4-BE49-F238E27FC236}">
                <a16:creationId xmlns:a16="http://schemas.microsoft.com/office/drawing/2014/main" id="{DC00A462-0917-986D-806C-2E758E66A3FA}"/>
              </a:ext>
            </a:extLst>
          </p:cNvPr>
          <p:cNvCxnSpPr>
            <a:cxnSpLocks/>
            <a:stCxn id="186" idx="3"/>
            <a:endCxn id="177" idx="1"/>
          </p:cNvCxnSpPr>
          <p:nvPr/>
        </p:nvCxnSpPr>
        <p:spPr>
          <a:xfrm flipV="1">
            <a:off x="5558590" y="4505531"/>
            <a:ext cx="156068" cy="12255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39">
            <a:extLst>
              <a:ext uri="{FF2B5EF4-FFF2-40B4-BE49-F238E27FC236}">
                <a16:creationId xmlns:a16="http://schemas.microsoft.com/office/drawing/2014/main" id="{97B37B49-43B1-2253-C65A-593D04A58659}"/>
              </a:ext>
            </a:extLst>
          </p:cNvPr>
          <p:cNvCxnSpPr>
            <a:cxnSpLocks/>
            <a:stCxn id="184" idx="3"/>
            <a:endCxn id="176" idx="1"/>
          </p:cNvCxnSpPr>
          <p:nvPr/>
        </p:nvCxnSpPr>
        <p:spPr>
          <a:xfrm flipV="1">
            <a:off x="5558589" y="4777276"/>
            <a:ext cx="156069" cy="17143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39">
            <a:extLst>
              <a:ext uri="{FF2B5EF4-FFF2-40B4-BE49-F238E27FC236}">
                <a16:creationId xmlns:a16="http://schemas.microsoft.com/office/drawing/2014/main" id="{B93557E5-7EB9-C041-91DD-E67F14330564}"/>
              </a:ext>
            </a:extLst>
          </p:cNvPr>
          <p:cNvCxnSpPr>
            <a:cxnSpLocks/>
            <a:stCxn id="184" idx="3"/>
            <a:endCxn id="178" idx="1"/>
          </p:cNvCxnSpPr>
          <p:nvPr/>
        </p:nvCxnSpPr>
        <p:spPr>
          <a:xfrm>
            <a:off x="5558589" y="4948714"/>
            <a:ext cx="156069" cy="100307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39">
            <a:extLst>
              <a:ext uri="{FF2B5EF4-FFF2-40B4-BE49-F238E27FC236}">
                <a16:creationId xmlns:a16="http://schemas.microsoft.com/office/drawing/2014/main" id="{AAB121D6-8BB9-5E84-33F4-3A51358DB5E5}"/>
              </a:ext>
            </a:extLst>
          </p:cNvPr>
          <p:cNvCxnSpPr>
            <a:cxnSpLocks/>
            <a:stCxn id="186" idx="3"/>
            <a:endCxn id="176" idx="1"/>
          </p:cNvCxnSpPr>
          <p:nvPr/>
        </p:nvCxnSpPr>
        <p:spPr>
          <a:xfrm>
            <a:off x="5558590" y="4628083"/>
            <a:ext cx="156068" cy="14919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그림 199">
            <a:extLst>
              <a:ext uri="{FF2B5EF4-FFF2-40B4-BE49-F238E27FC236}">
                <a16:creationId xmlns:a16="http://schemas.microsoft.com/office/drawing/2014/main" id="{965E0FED-9BFF-DB39-1632-6621A6AC15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558" y="4683599"/>
            <a:ext cx="271515" cy="162273"/>
          </a:xfrm>
          <a:prstGeom prst="rect">
            <a:avLst/>
          </a:prstGeom>
        </p:spPr>
      </p:pic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24638D25-F0BF-3EFD-8DF2-B3494A98B503}"/>
              </a:ext>
            </a:extLst>
          </p:cNvPr>
          <p:cNvSpPr/>
          <p:nvPr/>
        </p:nvSpPr>
        <p:spPr>
          <a:xfrm>
            <a:off x="8644738" y="4689529"/>
            <a:ext cx="520873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E-Accounting</a:t>
            </a:r>
          </a:p>
        </p:txBody>
      </p:sp>
      <p:pic>
        <p:nvPicPr>
          <p:cNvPr id="202" name="그림 201">
            <a:extLst>
              <a:ext uri="{FF2B5EF4-FFF2-40B4-BE49-F238E27FC236}">
                <a16:creationId xmlns:a16="http://schemas.microsoft.com/office/drawing/2014/main" id="{0CA74818-C294-CF07-45C4-B7E4A2FD43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558" y="5017140"/>
            <a:ext cx="271515" cy="162273"/>
          </a:xfrm>
          <a:prstGeom prst="rect">
            <a:avLst/>
          </a:prstGeom>
        </p:spPr>
      </p:pic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35B11CAD-4165-1E1E-EE5F-B586E2DEB6D3}"/>
              </a:ext>
            </a:extLst>
          </p:cNvPr>
          <p:cNvSpPr/>
          <p:nvPr/>
        </p:nvSpPr>
        <p:spPr>
          <a:xfrm>
            <a:off x="8644738" y="5023070"/>
            <a:ext cx="520873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Firm-Baking</a:t>
            </a:r>
          </a:p>
        </p:txBody>
      </p:sp>
      <p:pic>
        <p:nvPicPr>
          <p:cNvPr id="204" name="그림 203">
            <a:extLst>
              <a:ext uri="{FF2B5EF4-FFF2-40B4-BE49-F238E27FC236}">
                <a16:creationId xmlns:a16="http://schemas.microsoft.com/office/drawing/2014/main" id="{A33FA737-DE28-DE4A-CE1D-2ACA393723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0423" b="21340"/>
          <a:stretch/>
        </p:blipFill>
        <p:spPr>
          <a:xfrm>
            <a:off x="8392558" y="4328564"/>
            <a:ext cx="314024" cy="182880"/>
          </a:xfrm>
          <a:prstGeom prst="rect">
            <a:avLst/>
          </a:prstGeom>
        </p:spPr>
      </p:pic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38202C6-10A4-1541-CFF7-CDAF61D8B44F}"/>
              </a:ext>
            </a:extLst>
          </p:cNvPr>
          <p:cNvSpPr/>
          <p:nvPr/>
        </p:nvSpPr>
        <p:spPr>
          <a:xfrm>
            <a:off x="8644738" y="4373933"/>
            <a:ext cx="520873" cy="12039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편의성강화</a:t>
            </a:r>
            <a:endParaRPr kumimoji="0" lang="en-US" altLang="ko-KR" sz="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6" name="직선 연결선 39">
            <a:extLst>
              <a:ext uri="{FF2B5EF4-FFF2-40B4-BE49-F238E27FC236}">
                <a16:creationId xmlns:a16="http://schemas.microsoft.com/office/drawing/2014/main" id="{E571C73C-C53C-09E8-7528-50154B3F2995}"/>
              </a:ext>
            </a:extLst>
          </p:cNvPr>
          <p:cNvCxnSpPr>
            <a:cxnSpLocks/>
            <a:stCxn id="172" idx="3"/>
            <a:endCxn id="204" idx="1"/>
          </p:cNvCxnSpPr>
          <p:nvPr/>
        </p:nvCxnSpPr>
        <p:spPr>
          <a:xfrm flipV="1">
            <a:off x="8243729" y="4420004"/>
            <a:ext cx="148829" cy="9450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39">
            <a:extLst>
              <a:ext uri="{FF2B5EF4-FFF2-40B4-BE49-F238E27FC236}">
                <a16:creationId xmlns:a16="http://schemas.microsoft.com/office/drawing/2014/main" id="{5EE804C2-507E-ABC3-AFBB-F32FED813320}"/>
              </a:ext>
            </a:extLst>
          </p:cNvPr>
          <p:cNvCxnSpPr>
            <a:cxnSpLocks/>
            <a:stCxn id="173" idx="3"/>
            <a:endCxn id="204" idx="1"/>
          </p:cNvCxnSpPr>
          <p:nvPr/>
        </p:nvCxnSpPr>
        <p:spPr>
          <a:xfrm flipV="1">
            <a:off x="8243729" y="4420004"/>
            <a:ext cx="148829" cy="36113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39">
            <a:extLst>
              <a:ext uri="{FF2B5EF4-FFF2-40B4-BE49-F238E27FC236}">
                <a16:creationId xmlns:a16="http://schemas.microsoft.com/office/drawing/2014/main" id="{7B329C25-F639-67CF-6BB5-A1449AD6304D}"/>
              </a:ext>
            </a:extLst>
          </p:cNvPr>
          <p:cNvCxnSpPr>
            <a:cxnSpLocks/>
            <a:stCxn id="174" idx="3"/>
            <a:endCxn id="204" idx="1"/>
          </p:cNvCxnSpPr>
          <p:nvPr/>
        </p:nvCxnSpPr>
        <p:spPr>
          <a:xfrm flipV="1">
            <a:off x="8243729" y="4420004"/>
            <a:ext cx="148829" cy="632839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39">
            <a:extLst>
              <a:ext uri="{FF2B5EF4-FFF2-40B4-BE49-F238E27FC236}">
                <a16:creationId xmlns:a16="http://schemas.microsoft.com/office/drawing/2014/main" id="{2C00C818-636F-A6C0-20CB-61F21D271673}"/>
              </a:ext>
            </a:extLst>
          </p:cNvPr>
          <p:cNvCxnSpPr>
            <a:cxnSpLocks/>
            <a:stCxn id="174" idx="3"/>
            <a:endCxn id="202" idx="1"/>
          </p:cNvCxnSpPr>
          <p:nvPr/>
        </p:nvCxnSpPr>
        <p:spPr>
          <a:xfrm>
            <a:off x="8243729" y="5052843"/>
            <a:ext cx="148829" cy="45434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39">
            <a:extLst>
              <a:ext uri="{FF2B5EF4-FFF2-40B4-BE49-F238E27FC236}">
                <a16:creationId xmlns:a16="http://schemas.microsoft.com/office/drawing/2014/main" id="{63A6B15A-2432-F7CD-5CCA-48E83F911D10}"/>
              </a:ext>
            </a:extLst>
          </p:cNvPr>
          <p:cNvCxnSpPr>
            <a:cxnSpLocks/>
            <a:stCxn id="174" idx="3"/>
            <a:endCxn id="200" idx="1"/>
          </p:cNvCxnSpPr>
          <p:nvPr/>
        </p:nvCxnSpPr>
        <p:spPr>
          <a:xfrm flipV="1">
            <a:off x="8243729" y="4764736"/>
            <a:ext cx="148829" cy="288107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39">
            <a:extLst>
              <a:ext uri="{FF2B5EF4-FFF2-40B4-BE49-F238E27FC236}">
                <a16:creationId xmlns:a16="http://schemas.microsoft.com/office/drawing/2014/main" id="{5DFE8FC6-EF4E-105E-A438-7F5BECA5A2EC}"/>
              </a:ext>
            </a:extLst>
          </p:cNvPr>
          <p:cNvCxnSpPr>
            <a:cxnSpLocks/>
            <a:stCxn id="173" idx="3"/>
            <a:endCxn id="200" idx="1"/>
          </p:cNvCxnSpPr>
          <p:nvPr/>
        </p:nvCxnSpPr>
        <p:spPr>
          <a:xfrm flipV="1">
            <a:off x="8243729" y="4764736"/>
            <a:ext cx="148829" cy="1639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94851318-BA74-317D-22C6-D4D4CFBBC9D6}"/>
              </a:ext>
            </a:extLst>
          </p:cNvPr>
          <p:cNvSpPr/>
          <p:nvPr/>
        </p:nvSpPr>
        <p:spPr>
          <a:xfrm>
            <a:off x="4912689" y="5342084"/>
            <a:ext cx="4113201" cy="4863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결산 프로세스 표준화 및 회계 처리기준 변경을 통한 결산 </a:t>
            </a:r>
            <a:r>
              <a:rPr kumimoji="0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단축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전산지원 영역 확대로 </a:t>
            </a:r>
            <a:r>
              <a:rPr kumimoji="0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 효율화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61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C4F5677-B1F2-43DD-A896-FA41953FD544}"/>
              </a:ext>
            </a:extLst>
          </p:cNvPr>
          <p:cNvSpPr/>
          <p:nvPr/>
        </p:nvSpPr>
        <p:spPr>
          <a:xfrm>
            <a:off x="645044" y="3438214"/>
            <a:ext cx="5391962" cy="54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271463" y="291426"/>
            <a:ext cx="5242104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latinLnBrk="0">
              <a:defRPr/>
            </a:pPr>
            <a:r>
              <a:rPr lang="ko-KR" altLang="en-US" sz="2000" b="1" kern="0" spc="-150">
                <a:ln w="1905"/>
                <a:solidFill>
                  <a:prstClr val="black"/>
                </a:solidFill>
              </a:rPr>
              <a:t>금일</a:t>
            </a:r>
            <a:r>
              <a:rPr lang="en-US" altLang="ko-KR" sz="2000" b="1" kern="0" spc="-150">
                <a:ln w="1905"/>
                <a:solidFill>
                  <a:prstClr val="black"/>
                </a:solidFill>
              </a:rPr>
              <a:t> Agenda</a:t>
            </a:r>
            <a:endParaRPr lang="ko-KR" altLang="en-US" sz="2000" b="1" kern="0" spc="-150">
              <a:ln w="1905"/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27E4-C30D-4BED-ADBB-FA1E1B82D042}"/>
              </a:ext>
            </a:extLst>
          </p:cNvPr>
          <p:cNvSpPr txBox="1"/>
          <p:nvPr/>
        </p:nvSpPr>
        <p:spPr>
          <a:xfrm>
            <a:off x="645044" y="1052736"/>
            <a:ext cx="6540204" cy="3918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PI 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단계 추진 경과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영원의 주요 변화 사항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혁신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(PI)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의 이행 계획 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성공적 혁신 이행을 위한 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PwC </a:t>
            </a:r>
            <a:r>
              <a:rPr lang="ko-KR" altLang="en-US" sz="2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제언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91275" y="3443118"/>
            <a:ext cx="2952750" cy="17670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단계별 혁신 이행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로드맵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 smtClean="0">
                <a:solidFill>
                  <a:schemeClr val="tx1"/>
                </a:solidFill>
              </a:rPr>
              <a:t>S/4HANA </a:t>
            </a:r>
            <a:r>
              <a:rPr lang="ko-KR" altLang="en-US" sz="1400" dirty="0" smtClean="0">
                <a:solidFill>
                  <a:schemeClr val="tx1"/>
                </a:solidFill>
              </a:rPr>
              <a:t>구축 이행 계획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혁신의 지속 확대 및 고도화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 smtClean="0">
                <a:solidFill>
                  <a:schemeClr val="tx1"/>
                </a:solidFill>
              </a:rPr>
              <a:t>Material Group </a:t>
            </a:r>
            <a:r>
              <a:rPr lang="ko-KR" altLang="en-US" sz="1400" dirty="0" smtClean="0">
                <a:solidFill>
                  <a:schemeClr val="tx1"/>
                </a:solidFill>
              </a:rPr>
              <a:t>추진 방안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영원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아웃도어 추진 방안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037006" y="3705225"/>
            <a:ext cx="354269" cy="0"/>
          </a:xfrm>
          <a:prstGeom prst="lin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4945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CC19875A-5C11-44A6-9180-859992690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/>
              <a:t>PI </a:t>
            </a:r>
            <a:r>
              <a:rPr lang="ko-KR" altLang="en-US" spc="-150" dirty="0"/>
              <a:t>단계에서 도출된 업무 프로세스</a:t>
            </a:r>
            <a:r>
              <a:rPr lang="en-US" altLang="ko-KR" spc="-150" dirty="0"/>
              <a:t>/</a:t>
            </a:r>
            <a:r>
              <a:rPr lang="ko-KR" altLang="en-US" spc="-150" dirty="0"/>
              <a:t>기능 설계를 기반으로 홀딩스</a:t>
            </a:r>
            <a:r>
              <a:rPr lang="en-US" altLang="ko-KR" spc="-150" dirty="0"/>
              <a:t>, </a:t>
            </a:r>
            <a:r>
              <a:rPr lang="ko-KR" altLang="en-US" spc="-150" dirty="0"/>
              <a:t>영원무역 대상의 </a:t>
            </a:r>
            <a:r>
              <a:rPr lang="en-US" altLang="ko-KR" spc="-150" dirty="0"/>
              <a:t>S/4HANA</a:t>
            </a:r>
            <a:r>
              <a:rPr lang="ko-KR" altLang="en-US" spc="-150" dirty="0"/>
              <a:t>를 우선 구축하고 단계별로 대상 사업 영역 확대와 업무 영역 관련 시스템 고도화를 추진함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6E25F7D4-D839-4759-B9FD-36BEE37FE00E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19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6AF2C2A-FF87-40FF-8546-8124DD0FA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ko-KR" altLang="en-US" sz="2000" b="1" kern="0" spc="-138" dirty="0">
                <a:ln w="1905"/>
                <a:ea typeface="맑은 고딕"/>
              </a:rPr>
              <a:t>영원의 단계별 혁신 이행 로드맵 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973E02AC-BE23-4574-A9D8-DAA38DB9B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195760"/>
              </p:ext>
            </p:extLst>
          </p:nvPr>
        </p:nvGraphicFramePr>
        <p:xfrm>
          <a:off x="288109" y="1807032"/>
          <a:ext cx="9381360" cy="4608529"/>
        </p:xfrm>
        <a:graphic>
          <a:graphicData uri="http://schemas.openxmlformats.org/drawingml/2006/table">
            <a:tbl>
              <a:tblPr firstRow="1" bandRow="1"/>
              <a:tblGrid>
                <a:gridCol w="781780">
                  <a:extLst>
                    <a:ext uri="{9D8B030D-6E8A-4147-A177-3AD203B41FA5}">
                      <a16:colId xmlns:a16="http://schemas.microsoft.com/office/drawing/2014/main" val="1911517047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260431479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1143950781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1841824797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879499133"/>
                    </a:ext>
                  </a:extLst>
                </a:gridCol>
                <a:gridCol w="781780">
                  <a:extLst>
                    <a:ext uri="{9D8B030D-6E8A-4147-A177-3AD203B41FA5}">
                      <a16:colId xmlns:a16="http://schemas.microsoft.com/office/drawing/2014/main" val="3195450002"/>
                    </a:ext>
                  </a:extLst>
                </a:gridCol>
              </a:tblGrid>
              <a:tr h="305998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r>
                        <a:rPr lang="ko-KR" alt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auto" latinLnBrk="0"/>
                      <a:r>
                        <a:rPr lang="en-US" altLang="ko-KR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6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6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auto" latinLnBrk="0"/>
                      <a:endParaRPr lang="en-US" altLang="ko-KR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6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auto" latinLnBrk="0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" name="화살표: 오른쪽 16">
            <a:extLst>
              <a:ext uri="{FF2B5EF4-FFF2-40B4-BE49-F238E27FC236}">
                <a16:creationId xmlns:a16="http://schemas.microsoft.com/office/drawing/2014/main" id="{1CE6BB03-908A-489B-A8B9-FD4A7669C7C8}"/>
              </a:ext>
            </a:extLst>
          </p:cNvPr>
          <p:cNvSpPr/>
          <p:nvPr/>
        </p:nvSpPr>
        <p:spPr bwMode="auto">
          <a:xfrm>
            <a:off x="317832" y="2434127"/>
            <a:ext cx="1196337" cy="547509"/>
          </a:xfrm>
          <a:prstGeom prst="rightArrow">
            <a:avLst>
              <a:gd name="adj1" fmla="val 53340"/>
              <a:gd name="adj2" fmla="val 50000"/>
            </a:avLst>
          </a:prstGeom>
          <a:solidFill>
            <a:srgbClr val="D78985"/>
          </a:solidFill>
          <a:ln w="6350" algn="ctr">
            <a:noFill/>
            <a:round/>
            <a:headEnd/>
            <a:tailEnd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050" b="1" i="1" kern="0" dirty="0">
                <a:latin typeface="+mj-lt"/>
                <a:cs typeface="Arial"/>
              </a:rPr>
              <a:t>혁신 기반 조성</a:t>
            </a:r>
          </a:p>
        </p:txBody>
      </p:sp>
      <p:sp>
        <p:nvSpPr>
          <p:cNvPr id="63" name="AutoShape 36">
            <a:extLst>
              <a:ext uri="{FF2B5EF4-FFF2-40B4-BE49-F238E27FC236}">
                <a16:creationId xmlns:a16="http://schemas.microsoft.com/office/drawing/2014/main" id="{692256E9-2851-47EB-86F4-4A380B57D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32" y="2965251"/>
            <a:ext cx="1196337" cy="1665997"/>
          </a:xfrm>
          <a:prstGeom prst="homePlate">
            <a:avLst>
              <a:gd name="adj" fmla="val 12068"/>
            </a:avLst>
          </a:prstGeom>
          <a:solidFill>
            <a:schemeClr val="bg1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lIns="0" tIns="324000" rIns="0" bIns="0" rtlCol="0" anchor="t">
            <a:normAutofit/>
          </a:bodyPr>
          <a:lstStyle/>
          <a:p>
            <a:pPr marL="95250" marR="0" lvl="0" indent="0" algn="ctr" defTabSz="9577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PI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단계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</a:br>
            <a:r>
              <a:rPr lang="en-US" altLang="ko-KR" sz="1400" b="1" kern="0" dirty="0">
                <a:latin typeface="+mj-lt"/>
                <a:ea typeface="맑은 고딕" panose="020B0503020000020004" pitchFamily="50" charset="-127"/>
              </a:rPr>
              <a:t>Global Template </a:t>
            </a:r>
            <a:r>
              <a:rPr lang="ko-KR" altLang="en-US" sz="1400" b="1" kern="0" dirty="0">
                <a:latin typeface="+mj-lt"/>
                <a:ea typeface="맑은 고딕" panose="020B0503020000020004" pitchFamily="50" charset="-127"/>
              </a:rPr>
              <a:t>설계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4" name="화살표: 오른쪽 16">
            <a:extLst>
              <a:ext uri="{FF2B5EF4-FFF2-40B4-BE49-F238E27FC236}">
                <a16:creationId xmlns:a16="http://schemas.microsoft.com/office/drawing/2014/main" id="{8EAF1098-D223-46EA-A626-D29C832CFA61}"/>
              </a:ext>
            </a:extLst>
          </p:cNvPr>
          <p:cNvSpPr/>
          <p:nvPr/>
        </p:nvSpPr>
        <p:spPr bwMode="auto">
          <a:xfrm>
            <a:off x="1514169" y="2434127"/>
            <a:ext cx="3028108" cy="547509"/>
          </a:xfrm>
          <a:prstGeom prst="rightArrow">
            <a:avLst>
              <a:gd name="adj1" fmla="val 53340"/>
              <a:gd name="adj2" fmla="val 50000"/>
            </a:avLst>
          </a:prstGeom>
          <a:solidFill>
            <a:srgbClr val="D78985"/>
          </a:solidFill>
          <a:ln w="6350" algn="ctr">
            <a:noFill/>
            <a:round/>
            <a:headEnd/>
            <a:tailEnd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ko-KR" sz="1050" b="1" i="1" kern="0" dirty="0">
                <a:latin typeface="+mj-lt"/>
                <a:cs typeface="Arial"/>
              </a:rPr>
              <a:t>1</a:t>
            </a:r>
            <a:r>
              <a:rPr lang="ko-KR" altLang="en-US" sz="1050" b="1" i="1" kern="0" dirty="0">
                <a:latin typeface="+mj-lt"/>
                <a:cs typeface="Arial"/>
              </a:rPr>
              <a:t>차  </a:t>
            </a:r>
            <a:r>
              <a:rPr lang="en-US" altLang="ko-KR" sz="1050" b="1" i="1" kern="0" dirty="0">
                <a:latin typeface="+mj-lt"/>
                <a:cs typeface="Arial"/>
              </a:rPr>
              <a:t>S/4HANA </a:t>
            </a:r>
            <a:r>
              <a:rPr lang="ko-KR" altLang="en-US" sz="1050" b="1" i="1" kern="0" dirty="0">
                <a:latin typeface="+mj-lt"/>
                <a:cs typeface="Arial"/>
              </a:rPr>
              <a:t>기반의 혁신 구현</a:t>
            </a:r>
          </a:p>
        </p:txBody>
      </p:sp>
      <p:sp>
        <p:nvSpPr>
          <p:cNvPr id="65" name="AutoShape 36">
            <a:extLst>
              <a:ext uri="{FF2B5EF4-FFF2-40B4-BE49-F238E27FC236}">
                <a16:creationId xmlns:a16="http://schemas.microsoft.com/office/drawing/2014/main" id="{BC45033D-9C4F-4920-9C74-FACCA257E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892" y="2965251"/>
            <a:ext cx="3028108" cy="1665997"/>
          </a:xfrm>
          <a:prstGeom prst="homePlate">
            <a:avLst>
              <a:gd name="adj" fmla="val 12068"/>
            </a:avLst>
          </a:prstGeom>
          <a:solidFill>
            <a:schemeClr val="bg1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lIns="0" tIns="324000" rIns="0" bIns="0" rtlCol="0" anchor="t">
            <a:normAutofit/>
          </a:bodyPr>
          <a:lstStyle/>
          <a:p>
            <a:pPr marL="95250" marR="0" lvl="0" indent="0" algn="ctr" defTabSz="9577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구축 단계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</a:br>
            <a:r>
              <a:rPr lang="ko-KR" altLang="en-US" sz="1400" b="1" kern="0" dirty="0" err="1" smtClean="0">
                <a:latin typeface="+mj-lt"/>
                <a:ea typeface="맑은 고딕" panose="020B0503020000020004" pitchFamily="50" charset="-127"/>
              </a:rPr>
              <a:t>홀딩스</a:t>
            </a:r>
            <a:r>
              <a:rPr lang="en-US" altLang="ko-KR" sz="1400" b="1" kern="0" dirty="0" smtClean="0">
                <a:latin typeface="+mj-lt"/>
                <a:ea typeface="맑은 고딕" panose="020B0503020000020004" pitchFamily="50" charset="-127"/>
              </a:rPr>
              <a:t>/</a:t>
            </a:r>
            <a:r>
              <a:rPr lang="ko-KR" altLang="en-US" sz="1400" b="1" kern="0" dirty="0" smtClean="0">
                <a:latin typeface="+mj-lt"/>
                <a:ea typeface="맑은 고딕" panose="020B0503020000020004" pitchFamily="50" charset="-127"/>
              </a:rPr>
              <a:t>영원무역</a:t>
            </a:r>
            <a:r>
              <a:rPr lang="en-US" altLang="ko-KR" sz="1400" b="1" kern="0" dirty="0" smtClean="0">
                <a:latin typeface="+mj-lt"/>
                <a:ea typeface="맑은 고딕" panose="020B0503020000020004" pitchFamily="50" charset="-127"/>
              </a:rPr>
              <a:t> </a:t>
            </a:r>
          </a:p>
          <a:p>
            <a:pPr marL="95250" marR="0" lvl="0" indent="0" algn="ctr" defTabSz="9577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 smtClean="0">
                <a:latin typeface="+mj-lt"/>
                <a:ea typeface="맑은 고딕" panose="020B0503020000020004" pitchFamily="50" charset="-127"/>
              </a:rPr>
              <a:t>+ </a:t>
            </a:r>
            <a:r>
              <a:rPr lang="en-US" altLang="ko-KR" sz="1400" b="1" kern="0" dirty="0">
                <a:latin typeface="+mj-lt"/>
                <a:ea typeface="맑은 고딕" panose="020B0503020000020004" pitchFamily="50" charset="-127"/>
              </a:rPr>
              <a:t>10</a:t>
            </a:r>
            <a:r>
              <a:rPr lang="ko-KR" altLang="en-US" sz="1400" b="1" kern="0" dirty="0">
                <a:latin typeface="+mj-lt"/>
                <a:ea typeface="맑은 고딕" panose="020B0503020000020004" pitchFamily="50" charset="-127"/>
              </a:rPr>
              <a:t>개 </a:t>
            </a:r>
            <a:r>
              <a:rPr lang="ko-KR" altLang="en-US" sz="1400" b="1" kern="0" dirty="0" smtClean="0">
                <a:latin typeface="+mj-lt"/>
                <a:ea typeface="맑은 고딕" panose="020B0503020000020004" pitchFamily="50" charset="-127"/>
              </a:rPr>
              <a:t>현지법인 대상 </a:t>
            </a:r>
            <a:r>
              <a:rPr lang="en-US" altLang="ko-KR" sz="1400" b="1" kern="0" dirty="0">
                <a:latin typeface="+mj-lt"/>
                <a:ea typeface="맑은 고딕" panose="020B0503020000020004" pitchFamily="50" charset="-127"/>
              </a:rPr>
              <a:t/>
            </a:r>
            <a:br>
              <a:rPr lang="en-US" altLang="ko-KR" sz="1400" b="1" kern="0" dirty="0">
                <a:latin typeface="+mj-lt"/>
                <a:ea typeface="맑은 고딕" panose="020B0503020000020004" pitchFamily="50" charset="-127"/>
              </a:rPr>
            </a:br>
            <a:r>
              <a:rPr lang="en-US" altLang="ko-KR" sz="1400" b="1" kern="0" dirty="0">
                <a:latin typeface="+mj-lt"/>
                <a:ea typeface="맑은 고딕" panose="020B0503020000020004" pitchFamily="50" charset="-127"/>
              </a:rPr>
              <a:t>S/4HANA </a:t>
            </a:r>
            <a:r>
              <a:rPr lang="ko-KR" altLang="en-US" sz="1400" b="1" kern="0" dirty="0">
                <a:latin typeface="+mj-lt"/>
                <a:ea typeface="맑은 고딕" panose="020B0503020000020004" pitchFamily="50" charset="-127"/>
              </a:rPr>
              <a:t>구현 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맑은 고딕" panose="020B0503020000020004" pitchFamily="50" charset="-127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A186FA4-D758-48C1-AB8A-8BA7E1F7DD2B}"/>
              </a:ext>
            </a:extLst>
          </p:cNvPr>
          <p:cNvGrpSpPr/>
          <p:nvPr/>
        </p:nvGrpSpPr>
        <p:grpSpPr>
          <a:xfrm>
            <a:off x="4709136" y="3083281"/>
            <a:ext cx="3760385" cy="897671"/>
            <a:chOff x="4572000" y="2976239"/>
            <a:chExt cx="3760385" cy="897671"/>
          </a:xfrm>
          <a:solidFill>
            <a:schemeClr val="bg1"/>
          </a:solidFill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6AC2D138-2E63-493B-9C15-A8030C7D582B}"/>
                </a:ext>
              </a:extLst>
            </p:cNvPr>
            <p:cNvGrpSpPr/>
            <p:nvPr/>
          </p:nvGrpSpPr>
          <p:grpSpPr>
            <a:xfrm>
              <a:off x="4572000" y="2976239"/>
              <a:ext cx="3760385" cy="897671"/>
              <a:chOff x="4601723" y="2976239"/>
              <a:chExt cx="3507296" cy="897671"/>
            </a:xfrm>
            <a:grpFill/>
          </p:grpSpPr>
          <p:sp>
            <p:nvSpPr>
              <p:cNvPr id="66" name="AutoShape 36">
                <a:extLst>
                  <a:ext uri="{FF2B5EF4-FFF2-40B4-BE49-F238E27FC236}">
                    <a16:creationId xmlns:a16="http://schemas.microsoft.com/office/drawing/2014/main" id="{72AFF445-5E48-461A-9B0A-D31CA158D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1723" y="2976240"/>
                <a:ext cx="3028108" cy="897670"/>
              </a:xfrm>
              <a:prstGeom prst="homePlate">
                <a:avLst>
                  <a:gd name="adj" fmla="val 14258"/>
                </a:avLst>
              </a:prstGeom>
              <a:grpFill/>
              <a:ln w="3175" cap="flat" cmpd="sng" algn="ctr">
                <a:solidFill>
                  <a:srgbClr val="FFFFFF">
                    <a:lumMod val="65000"/>
                  </a:srgb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95250" marR="0" lvl="0" indent="0" algn="ctr" defTabSz="957769" eaLnBrk="1" fontAlgn="auto" latinLnBrk="0" hangingPunct="1">
                  <a:lnSpc>
                    <a:spcPct val="150000"/>
                  </a:lnSpc>
                  <a:spcBef>
                    <a:spcPts val="180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600" b="1" kern="0" dirty="0">
                    <a:solidFill>
                      <a:srgbClr val="000000"/>
                    </a:solidFill>
                    <a:latin typeface="+mj-lt"/>
                    <a:ea typeface="맑은 고딕" panose="020B0503020000020004" pitchFamily="50" charset="-127"/>
                  </a:rPr>
                  <a:t>S/4HANA </a:t>
                </a:r>
                <a:r>
                  <a:rPr lang="ko-KR" altLang="en-US" sz="1600" b="1" kern="0" dirty="0">
                    <a:solidFill>
                      <a:srgbClr val="000000"/>
                    </a:solidFill>
                    <a:latin typeface="+mj-lt"/>
                    <a:ea typeface="맑은 고딕" panose="020B0503020000020004" pitchFamily="50" charset="-127"/>
                  </a:rPr>
                  <a:t>지속 </a:t>
                </a:r>
                <a:r>
                  <a:rPr kumimoji="0" lang="ko-K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맑은 고딕" panose="020B0503020000020004" pitchFamily="50" charset="-127"/>
                    <a:cs typeface="+mn-cs"/>
                  </a:rPr>
                  <a:t>고도화</a:t>
                </a:r>
                <a:endPara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맑은 고딕" panose="020B0503020000020004" pitchFamily="50" charset="-127"/>
                  <a:cs typeface="+mn-cs"/>
                </a:endParaRPr>
              </a:p>
              <a:p>
                <a:pPr marL="95250" marR="0" lvl="0" indent="0" algn="ctr" defTabSz="957769" eaLnBrk="1" fontAlgn="auto" latinLnBrk="0" hangingPunct="1">
                  <a:lnSpc>
                    <a:spcPct val="150000"/>
                  </a:lnSpc>
                  <a:spcBef>
                    <a:spcPts val="1800"/>
                  </a:spcBef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54D98635-617E-44F4-9D1B-0DB27CBFECFD}"/>
                  </a:ext>
                </a:extLst>
              </p:cNvPr>
              <p:cNvGrpSpPr/>
              <p:nvPr/>
            </p:nvGrpSpPr>
            <p:grpSpPr>
              <a:xfrm>
                <a:off x="7580671" y="2976239"/>
                <a:ext cx="528348" cy="897669"/>
                <a:chOff x="3851920" y="2492896"/>
                <a:chExt cx="1153002" cy="484632"/>
              </a:xfrm>
              <a:grpFill/>
            </p:grpSpPr>
            <p:sp>
              <p:nvSpPr>
                <p:cNvPr id="68" name="화살표: 갈매기형 수장 125">
                  <a:extLst>
                    <a:ext uri="{FF2B5EF4-FFF2-40B4-BE49-F238E27FC236}">
                      <a16:creationId xmlns:a16="http://schemas.microsoft.com/office/drawing/2014/main" id="{AA967911-7B65-41F8-9F73-F94596711D5F}"/>
                    </a:ext>
                  </a:extLst>
                </p:cNvPr>
                <p:cNvSpPr/>
                <p:nvPr/>
              </p:nvSpPr>
              <p:spPr>
                <a:xfrm>
                  <a:off x="3851920" y="2492896"/>
                  <a:ext cx="484632" cy="484632"/>
                </a:xfrm>
                <a:prstGeom prst="chevron">
                  <a:avLst/>
                </a:prstGeom>
                <a:grpFill/>
                <a:ln>
                  <a:solidFill>
                    <a:schemeClr val="bg2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화살표: 갈매기형 수장 126">
                  <a:extLst>
                    <a:ext uri="{FF2B5EF4-FFF2-40B4-BE49-F238E27FC236}">
                      <a16:creationId xmlns:a16="http://schemas.microsoft.com/office/drawing/2014/main" id="{379A7563-58D8-42B9-A4DC-46540735A1EC}"/>
                    </a:ext>
                  </a:extLst>
                </p:cNvPr>
                <p:cNvSpPr/>
                <p:nvPr/>
              </p:nvSpPr>
              <p:spPr>
                <a:xfrm>
                  <a:off x="4186105" y="2492896"/>
                  <a:ext cx="484632" cy="484632"/>
                </a:xfrm>
                <a:prstGeom prst="chevron">
                  <a:avLst/>
                </a:prstGeom>
                <a:grpFill/>
                <a:ln>
                  <a:solidFill>
                    <a:schemeClr val="bg2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화살표: 갈매기형 수장 127">
                  <a:extLst>
                    <a:ext uri="{FF2B5EF4-FFF2-40B4-BE49-F238E27FC236}">
                      <a16:creationId xmlns:a16="http://schemas.microsoft.com/office/drawing/2014/main" id="{2E8441F0-AEDC-4096-907C-7370E3CB22EF}"/>
                    </a:ext>
                  </a:extLst>
                </p:cNvPr>
                <p:cNvSpPr/>
                <p:nvPr/>
              </p:nvSpPr>
              <p:spPr>
                <a:xfrm>
                  <a:off x="4520290" y="2492896"/>
                  <a:ext cx="484632" cy="484632"/>
                </a:xfrm>
                <a:prstGeom prst="chevron">
                  <a:avLst/>
                </a:prstGeom>
                <a:grpFill/>
                <a:ln>
                  <a:solidFill>
                    <a:schemeClr val="bg2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F788B2-2091-48CE-9499-D6AEDF15F335}"/>
                </a:ext>
              </a:extLst>
            </p:cNvPr>
            <p:cNvSpPr txBox="1"/>
            <p:nvPr/>
          </p:nvSpPr>
          <p:spPr>
            <a:xfrm>
              <a:off x="4707702" y="3481755"/>
              <a:ext cx="2872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lang="ko-KR" altLang="en-US" sz="1400" b="1" kern="0" dirty="0" smtClean="0">
                  <a:solidFill>
                    <a:srgbClr val="000000"/>
                  </a:solidFill>
                  <a:latin typeface="맑은 고딕" panose="020F0302020204030204"/>
                </a:rPr>
                <a:t>사업계획</a:t>
              </a:r>
              <a:r>
                <a:rPr lang="en-US" altLang="ko-KR" sz="1400" b="1" kern="0" dirty="0" smtClean="0">
                  <a:solidFill>
                    <a:srgbClr val="000000"/>
                  </a:solidFill>
                  <a:latin typeface="맑은 고딕" panose="020F0302020204030204"/>
                </a:rPr>
                <a:t>, </a:t>
              </a:r>
              <a:r>
                <a:rPr lang="ko-KR" altLang="en-US" sz="1400" b="1" kern="0" dirty="0" smtClean="0">
                  <a:solidFill>
                    <a:srgbClr val="000000"/>
                  </a:solidFill>
                  <a:latin typeface="맑은 고딕" panose="020F0302020204030204"/>
                </a:rPr>
                <a:t>설비관리</a:t>
              </a:r>
              <a:r>
                <a:rPr kumimoji="0" lang="en-US" altLang="ko-KR" sz="11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(PM</a:t>
              </a:r>
              <a:r>
                <a:rPr kumimoji="0" lang="en-US" altLang="ko-KR" sz="11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)</a:t>
              </a:r>
              <a:r>
                <a:rPr kumimoji="0" lang="en-US" altLang="ko-KR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등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F0302020204030204"/>
                  <a:ea typeface="맑은 고딕" panose="020B0503020000020004" pitchFamily="50" charset="-127"/>
                  <a:cs typeface="+mn-cs"/>
                </a:rPr>
                <a:t>)</a:t>
              </a:r>
              <a:endParaRPr lang="ko-KR" altLang="en-US" dirty="0"/>
            </a:p>
          </p:txBody>
        </p:sp>
      </p:grpSp>
      <p:sp>
        <p:nvSpPr>
          <p:cNvPr id="84" name="AutoShape 36">
            <a:extLst>
              <a:ext uri="{FF2B5EF4-FFF2-40B4-BE49-F238E27FC236}">
                <a16:creationId xmlns:a16="http://schemas.microsoft.com/office/drawing/2014/main" id="{E5B8BEFD-E83B-4148-ADFD-64A4DD713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9256" y="5276499"/>
            <a:ext cx="5453694" cy="457552"/>
          </a:xfrm>
          <a:prstGeom prst="homePlate">
            <a:avLst>
              <a:gd name="adj" fmla="val 20955"/>
            </a:avLst>
          </a:prstGeom>
          <a:solidFill>
            <a:schemeClr val="bg1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0" algn="ctr" defTabSz="957769">
              <a:lnSpc>
                <a:spcPct val="90000"/>
              </a:lnSpc>
              <a:spcBef>
                <a:spcPts val="1800"/>
              </a:spcBef>
            </a:pPr>
            <a:r>
              <a:rPr lang="en-US" altLang="ko-KR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Material Group </a:t>
            </a:r>
            <a:r>
              <a:rPr lang="ko-KR" altLang="en-US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업무 설계 및 차세대 </a:t>
            </a:r>
            <a:r>
              <a:rPr lang="en-US" altLang="ko-KR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ERP </a:t>
            </a:r>
            <a:r>
              <a:rPr lang="ko-KR" altLang="en-US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구축 </a:t>
            </a:r>
            <a:r>
              <a:rPr lang="en-US" altLang="ko-KR" sz="14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/>
            </a:r>
            <a:br>
              <a:rPr lang="en-US" altLang="ko-KR" sz="14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</a:b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(1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차 구축 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11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개월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, 2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차 </a:t>
            </a:r>
            <a:r>
              <a:rPr lang="ko-KR" altLang="en-US" sz="1200" kern="0" dirty="0" err="1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확산시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6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개월 추가 소요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)</a:t>
            </a:r>
            <a:endParaRPr lang="en-US" altLang="ko-KR" sz="1400" kern="0" dirty="0">
              <a:solidFill>
                <a:srgbClr val="000000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85" name="화살표: 오른쪽 16">
            <a:extLst>
              <a:ext uri="{FF2B5EF4-FFF2-40B4-BE49-F238E27FC236}">
                <a16:creationId xmlns:a16="http://schemas.microsoft.com/office/drawing/2014/main" id="{0B3CAE1E-6A42-44EF-8BFB-7169E28AEBDF}"/>
              </a:ext>
            </a:extLst>
          </p:cNvPr>
          <p:cNvSpPr/>
          <p:nvPr/>
        </p:nvSpPr>
        <p:spPr bwMode="auto">
          <a:xfrm>
            <a:off x="4217176" y="4793838"/>
            <a:ext cx="5232845" cy="547509"/>
          </a:xfrm>
          <a:prstGeom prst="rightArrow">
            <a:avLst>
              <a:gd name="adj1" fmla="val 53340"/>
              <a:gd name="adj2" fmla="val 50000"/>
            </a:avLst>
          </a:prstGeom>
          <a:solidFill>
            <a:srgbClr val="602320"/>
          </a:solidFill>
          <a:ln w="6350" algn="ctr">
            <a:noFill/>
            <a:round/>
            <a:headEnd/>
            <a:tailEnd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/>
              </a:rPr>
              <a:t>대상</a:t>
            </a:r>
            <a:r>
              <a:rPr kumimoji="0" lang="en-US" altLang="ko-KR" sz="105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/>
              </a:rPr>
              <a:t> </a:t>
            </a:r>
            <a:r>
              <a:rPr kumimoji="0" lang="ko-KR" altLang="en-US" sz="105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/>
              </a:rPr>
              <a:t>사업 영역의 확대 </a:t>
            </a:r>
          </a:p>
        </p:txBody>
      </p:sp>
      <p:sp>
        <p:nvSpPr>
          <p:cNvPr id="86" name="AutoShape 36">
            <a:extLst>
              <a:ext uri="{FF2B5EF4-FFF2-40B4-BE49-F238E27FC236}">
                <a16:creationId xmlns:a16="http://schemas.microsoft.com/office/drawing/2014/main" id="{E24617B5-4BC3-4ECA-B3D4-AB4B4D97D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565" y="4952083"/>
            <a:ext cx="1388764" cy="1334959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28575" cap="flat" cmpd="sng" algn="ctr">
            <a:solidFill>
              <a:srgbClr val="FFFFFF">
                <a:lumMod val="65000"/>
              </a:srgbClr>
            </a:solidFill>
            <a:prstDash val="dash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0" algn="ctr" defTabSz="957769">
              <a:spcBef>
                <a:spcPts val="1800"/>
              </a:spcBef>
            </a:pPr>
            <a:r>
              <a:rPr lang="ko-KR" altLang="en-US" sz="1600" b="1" kern="0" dirty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  <a:t>사업 영역별</a:t>
            </a:r>
            <a:r>
              <a:rPr lang="en-US" altLang="ko-KR" sz="1600" b="1" kern="0" dirty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  <a:t/>
            </a:r>
            <a:br>
              <a:rPr lang="en-US" altLang="ko-KR" sz="1600" b="1" kern="0" dirty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</a:br>
            <a:r>
              <a:rPr lang="ko-KR" altLang="en-US" sz="1600" b="1" kern="0" dirty="0" smtClean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  <a:t>구축 상세</a:t>
            </a:r>
            <a:r>
              <a:rPr lang="en-US" altLang="ko-KR" sz="1600" b="1" kern="0" dirty="0" smtClean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  <a:t/>
            </a:r>
            <a:br>
              <a:rPr lang="en-US" altLang="ko-KR" sz="1600" b="1" kern="0" dirty="0" smtClean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</a:br>
            <a:r>
              <a:rPr lang="ko-KR" altLang="en-US" sz="1600" b="1" kern="0" dirty="0" smtClean="0">
                <a:solidFill>
                  <a:schemeClr val="bg2">
                    <a:lumMod val="75000"/>
                  </a:schemeClr>
                </a:solidFill>
                <a:latin typeface="+mj-lt"/>
                <a:ea typeface="맑은 고딕" panose="020B0503020000020004" pitchFamily="50" charset="-127"/>
              </a:rPr>
              <a:t>계획 수립</a:t>
            </a:r>
            <a:endParaRPr lang="en-US" altLang="ko-KR" sz="1600" b="1" kern="0" dirty="0">
              <a:solidFill>
                <a:schemeClr val="bg2">
                  <a:lumMod val="75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87" name="화살표: 오른쪽 16">
            <a:extLst>
              <a:ext uri="{FF2B5EF4-FFF2-40B4-BE49-F238E27FC236}">
                <a16:creationId xmlns:a16="http://schemas.microsoft.com/office/drawing/2014/main" id="{BBF30C27-3F5D-49C0-9340-51297E71AA1D}"/>
              </a:ext>
            </a:extLst>
          </p:cNvPr>
          <p:cNvSpPr/>
          <p:nvPr/>
        </p:nvSpPr>
        <p:spPr bwMode="auto">
          <a:xfrm>
            <a:off x="4567242" y="2434127"/>
            <a:ext cx="4184692" cy="547509"/>
          </a:xfrm>
          <a:prstGeom prst="rightArrow">
            <a:avLst>
              <a:gd name="adj1" fmla="val 53340"/>
              <a:gd name="adj2" fmla="val 50000"/>
            </a:avLst>
          </a:prstGeom>
          <a:solidFill>
            <a:srgbClr val="602320"/>
          </a:solidFill>
          <a:ln w="6350" algn="ctr">
            <a:noFill/>
            <a:round/>
            <a:headEnd/>
            <a:tailEnd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i="1" kern="0" dirty="0">
                <a:solidFill>
                  <a:srgbClr val="FFFFFF"/>
                </a:solidFill>
                <a:latin typeface="+mj-lt"/>
                <a:cs typeface="Arial"/>
              </a:rPr>
              <a:t>혁신의</a:t>
            </a:r>
            <a:r>
              <a:rPr lang="en-US" altLang="ko-KR" sz="1050" b="1" i="1" kern="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lang="ko-KR" altLang="en-US" sz="1050" b="1" i="1" kern="0" dirty="0">
                <a:solidFill>
                  <a:srgbClr val="FFFFFF"/>
                </a:solidFill>
                <a:latin typeface="+mj-lt"/>
                <a:cs typeface="Arial"/>
              </a:rPr>
              <a:t>지속 및 고도화</a:t>
            </a:r>
            <a:endParaRPr kumimoji="0" lang="ko-KR" altLang="en-US" sz="105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BD284B4-CCBC-41E7-8D1C-2A78EDA28CED}"/>
              </a:ext>
            </a:extLst>
          </p:cNvPr>
          <p:cNvSpPr>
            <a:spLocks/>
          </p:cNvSpPr>
          <p:nvPr/>
        </p:nvSpPr>
        <p:spPr bwMode="auto">
          <a:xfrm>
            <a:off x="1505834" y="2900931"/>
            <a:ext cx="324000" cy="324001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18B86AF-22EA-474C-A3ED-CEF3A24D5C55}"/>
              </a:ext>
            </a:extLst>
          </p:cNvPr>
          <p:cNvSpPr>
            <a:spLocks/>
          </p:cNvSpPr>
          <p:nvPr/>
        </p:nvSpPr>
        <p:spPr bwMode="auto">
          <a:xfrm>
            <a:off x="4018893" y="4901727"/>
            <a:ext cx="324000" cy="324001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1" name="AutoShape 36">
            <a:extLst>
              <a:ext uri="{FF2B5EF4-FFF2-40B4-BE49-F238E27FC236}">
                <a16:creationId xmlns:a16="http://schemas.microsoft.com/office/drawing/2014/main" id="{C56327DD-540A-47BB-9590-DC0F64D58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314" y="5773299"/>
            <a:ext cx="4111020" cy="457551"/>
          </a:xfrm>
          <a:prstGeom prst="homePlate">
            <a:avLst>
              <a:gd name="adj" fmla="val 20955"/>
            </a:avLst>
          </a:prstGeom>
          <a:solidFill>
            <a:schemeClr val="bg1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0" algn="ctr" defTabSz="957769">
              <a:lnSpc>
                <a:spcPct val="90000"/>
              </a:lnSpc>
              <a:spcBef>
                <a:spcPts val="1800"/>
              </a:spcBef>
            </a:pPr>
            <a:r>
              <a:rPr lang="ko-KR" altLang="en-US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아웃도어 업무 설계 및 차세대 </a:t>
            </a:r>
            <a:r>
              <a:rPr lang="en-US" altLang="ko-KR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ERP </a:t>
            </a:r>
            <a:r>
              <a:rPr lang="ko-KR" altLang="en-US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구축</a:t>
            </a:r>
            <a:r>
              <a:rPr lang="en-US" altLang="ko-KR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/>
            </a:r>
            <a:br>
              <a:rPr lang="en-US" altLang="ko-KR" sz="16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</a:br>
            <a:r>
              <a:rPr lang="en-US" altLang="ko-KR" sz="1200" kern="0" dirty="0">
                <a:solidFill>
                  <a:srgbClr val="000000"/>
                </a:solidFill>
              </a:rPr>
              <a:t>(15</a:t>
            </a:r>
            <a:r>
              <a:rPr lang="ko-KR" altLang="en-US" sz="1200" kern="0" dirty="0">
                <a:solidFill>
                  <a:srgbClr val="000000"/>
                </a:solidFill>
              </a:rPr>
              <a:t>개월 </a:t>
            </a:r>
            <a:r>
              <a:rPr lang="ko-KR" altLang="en-US" sz="1200" kern="0" dirty="0" smtClean="0">
                <a:solidFill>
                  <a:srgbClr val="000000"/>
                </a:solidFill>
              </a:rPr>
              <a:t>예상</a:t>
            </a:r>
            <a:r>
              <a:rPr lang="en-US" altLang="ko-KR" sz="1200" kern="0" dirty="0" smtClean="0">
                <a:solidFill>
                  <a:srgbClr val="000000"/>
                </a:solidFill>
              </a:rPr>
              <a:t>)</a:t>
            </a:r>
            <a:endParaRPr lang="en-US" altLang="ko-KR" sz="1400" kern="0" dirty="0">
              <a:solidFill>
                <a:srgbClr val="000000"/>
              </a:solidFill>
            </a:endParaRPr>
          </a:p>
        </p:txBody>
      </p:sp>
      <p:sp>
        <p:nvSpPr>
          <p:cNvPr id="95" name="AutoShape 36">
            <a:extLst>
              <a:ext uri="{FF2B5EF4-FFF2-40B4-BE49-F238E27FC236}">
                <a16:creationId xmlns:a16="http://schemas.microsoft.com/office/drawing/2014/main" id="{C2AE8B9F-6F90-4A35-8CBA-29E0FCAB8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050" y="4166671"/>
            <a:ext cx="3646435" cy="589215"/>
          </a:xfrm>
          <a:prstGeom prst="homePlate">
            <a:avLst>
              <a:gd name="adj" fmla="val 23311"/>
            </a:avLst>
          </a:prstGeom>
          <a:solidFill>
            <a:schemeClr val="bg1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wrap="none" lIns="0" tIns="0" rIns="0" bIns="0" rtlCol="0" anchor="t">
            <a:noAutofit/>
          </a:bodyPr>
          <a:lstStyle/>
          <a:p>
            <a:pPr marL="95250" algn="ctr" defTabSz="957769">
              <a:lnSpc>
                <a:spcPct val="150000"/>
              </a:lnSpc>
              <a:spcBef>
                <a:spcPts val="1800"/>
              </a:spcBef>
            </a:pP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AF7B67A-80FE-4E23-85F1-9EFFF21CE80F}"/>
              </a:ext>
            </a:extLst>
          </p:cNvPr>
          <p:cNvGrpSpPr/>
          <p:nvPr/>
        </p:nvGrpSpPr>
        <p:grpSpPr>
          <a:xfrm>
            <a:off x="7833287" y="4166671"/>
            <a:ext cx="636234" cy="589215"/>
            <a:chOff x="3851920" y="2492896"/>
            <a:chExt cx="1153002" cy="484632"/>
          </a:xfrm>
          <a:solidFill>
            <a:schemeClr val="bg1"/>
          </a:solidFill>
        </p:grpSpPr>
        <p:sp>
          <p:nvSpPr>
            <p:cNvPr id="97" name="화살표: 갈매기형 수장 125">
              <a:extLst>
                <a:ext uri="{FF2B5EF4-FFF2-40B4-BE49-F238E27FC236}">
                  <a16:creationId xmlns:a16="http://schemas.microsoft.com/office/drawing/2014/main" id="{F71D462A-0DD4-49CC-97B9-D38D00E2035A}"/>
                </a:ext>
              </a:extLst>
            </p:cNvPr>
            <p:cNvSpPr/>
            <p:nvPr/>
          </p:nvSpPr>
          <p:spPr>
            <a:xfrm>
              <a:off x="385192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8" name="화살표: 갈매기형 수장 126">
              <a:extLst>
                <a:ext uri="{FF2B5EF4-FFF2-40B4-BE49-F238E27FC236}">
                  <a16:creationId xmlns:a16="http://schemas.microsoft.com/office/drawing/2014/main" id="{AA4A88A6-924B-4343-BF1A-3737278CF241}"/>
                </a:ext>
              </a:extLst>
            </p:cNvPr>
            <p:cNvSpPr/>
            <p:nvPr/>
          </p:nvSpPr>
          <p:spPr>
            <a:xfrm>
              <a:off x="4186105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화살표: 갈매기형 수장 127">
              <a:extLst>
                <a:ext uri="{FF2B5EF4-FFF2-40B4-BE49-F238E27FC236}">
                  <a16:creationId xmlns:a16="http://schemas.microsoft.com/office/drawing/2014/main" id="{188342CF-AAE7-4A37-9A21-F86533078240}"/>
                </a:ext>
              </a:extLst>
            </p:cNvPr>
            <p:cNvSpPr/>
            <p:nvPr/>
          </p:nvSpPr>
          <p:spPr>
            <a:xfrm>
              <a:off x="4520290" y="2492896"/>
              <a:ext cx="484632" cy="484632"/>
            </a:xfrm>
            <a:prstGeom prst="chevron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E6224EA2-1BEC-4FF0-93A8-82F1C646188D}"/>
              </a:ext>
            </a:extLst>
          </p:cNvPr>
          <p:cNvSpPr txBox="1"/>
          <p:nvPr/>
        </p:nvSpPr>
        <p:spPr>
          <a:xfrm>
            <a:off x="3725696" y="4254266"/>
            <a:ext cx="4953896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marR="0" lvl="0" indent="0" algn="ctr" defTabSz="957769" rtl="0" eaLnBrk="1" fontAlgn="auto" latinLnBrk="0" hangingPunct="1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연관 업무 시스템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(MES, APM)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도입 확대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2BDF3D5D-2842-46AF-A18D-86686A84FFFA}"/>
              </a:ext>
            </a:extLst>
          </p:cNvPr>
          <p:cNvGrpSpPr/>
          <p:nvPr/>
        </p:nvGrpSpPr>
        <p:grpSpPr>
          <a:xfrm>
            <a:off x="5431166" y="3890662"/>
            <a:ext cx="343906" cy="438206"/>
            <a:chOff x="7718934" y="3865658"/>
            <a:chExt cx="879050" cy="1120086"/>
          </a:xfrm>
          <a:solidFill>
            <a:schemeClr val="bg1">
              <a:lumMod val="75000"/>
            </a:schemeClr>
          </a:solidFill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0E233504-BE22-4ED4-93A6-C9CB68D2821B}"/>
                </a:ext>
              </a:extLst>
            </p:cNvPr>
            <p:cNvGrpSpPr/>
            <p:nvPr/>
          </p:nvGrpSpPr>
          <p:grpSpPr>
            <a:xfrm>
              <a:off x="7718934" y="3865658"/>
              <a:ext cx="765009" cy="746197"/>
              <a:chOff x="3826685" y="2215443"/>
              <a:chExt cx="765009" cy="746197"/>
            </a:xfrm>
            <a:grpFill/>
          </p:grpSpPr>
          <p:sp>
            <p:nvSpPr>
              <p:cNvPr id="115" name="Freeform 181">
                <a:extLst>
                  <a:ext uri="{FF2B5EF4-FFF2-40B4-BE49-F238E27FC236}">
                    <a16:creationId xmlns:a16="http://schemas.microsoft.com/office/drawing/2014/main" id="{BA158369-F81B-4C68-8C9A-438862653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685" y="2288600"/>
                <a:ext cx="716935" cy="673040"/>
              </a:xfrm>
              <a:custGeom>
                <a:avLst/>
                <a:gdLst>
                  <a:gd name="T0" fmla="*/ 46 w 686"/>
                  <a:gd name="T1" fmla="*/ 644 h 644"/>
                  <a:gd name="T2" fmla="*/ 19 w 686"/>
                  <a:gd name="T3" fmla="*/ 577 h 644"/>
                  <a:gd name="T4" fmla="*/ 3 w 686"/>
                  <a:gd name="T5" fmla="*/ 505 h 644"/>
                  <a:gd name="T6" fmla="*/ 0 w 686"/>
                  <a:gd name="T7" fmla="*/ 431 h 644"/>
                  <a:gd name="T8" fmla="*/ 9 w 686"/>
                  <a:gd name="T9" fmla="*/ 358 h 644"/>
                  <a:gd name="T10" fmla="*/ 29 w 686"/>
                  <a:gd name="T11" fmla="*/ 288 h 644"/>
                  <a:gd name="T12" fmla="*/ 61 w 686"/>
                  <a:gd name="T13" fmla="*/ 220 h 644"/>
                  <a:gd name="T14" fmla="*/ 102 w 686"/>
                  <a:gd name="T15" fmla="*/ 158 h 644"/>
                  <a:gd name="T16" fmla="*/ 155 w 686"/>
                  <a:gd name="T17" fmla="*/ 102 h 644"/>
                  <a:gd name="T18" fmla="*/ 184 w 686"/>
                  <a:gd name="T19" fmla="*/ 79 h 644"/>
                  <a:gd name="T20" fmla="*/ 244 w 686"/>
                  <a:gd name="T21" fmla="*/ 42 h 644"/>
                  <a:gd name="T22" fmla="*/ 308 w 686"/>
                  <a:gd name="T23" fmla="*/ 16 h 644"/>
                  <a:gd name="T24" fmla="*/ 375 w 686"/>
                  <a:gd name="T25" fmla="*/ 3 h 644"/>
                  <a:gd name="T26" fmla="*/ 443 w 686"/>
                  <a:gd name="T27" fmla="*/ 2 h 644"/>
                  <a:gd name="T28" fmla="*/ 512 w 686"/>
                  <a:gd name="T29" fmla="*/ 12 h 644"/>
                  <a:gd name="T30" fmla="*/ 582 w 686"/>
                  <a:gd name="T31" fmla="*/ 35 h 644"/>
                  <a:gd name="T32" fmla="*/ 651 w 686"/>
                  <a:gd name="T33" fmla="*/ 69 h 644"/>
                  <a:gd name="T34" fmla="*/ 643 w 686"/>
                  <a:gd name="T35" fmla="*/ 153 h 644"/>
                  <a:gd name="T36" fmla="*/ 614 w 686"/>
                  <a:gd name="T37" fmla="*/ 134 h 644"/>
                  <a:gd name="T38" fmla="*/ 556 w 686"/>
                  <a:gd name="T39" fmla="*/ 105 h 644"/>
                  <a:gd name="T40" fmla="*/ 499 w 686"/>
                  <a:gd name="T41" fmla="*/ 87 h 644"/>
                  <a:gd name="T42" fmla="*/ 441 w 686"/>
                  <a:gd name="T43" fmla="*/ 78 h 644"/>
                  <a:gd name="T44" fmla="*/ 385 w 686"/>
                  <a:gd name="T45" fmla="*/ 78 h 644"/>
                  <a:gd name="T46" fmla="*/ 331 w 686"/>
                  <a:gd name="T47" fmla="*/ 89 h 644"/>
                  <a:gd name="T48" fmla="*/ 278 w 686"/>
                  <a:gd name="T49" fmla="*/ 110 h 644"/>
                  <a:gd name="T50" fmla="*/ 229 w 686"/>
                  <a:gd name="T51" fmla="*/ 140 h 644"/>
                  <a:gd name="T52" fmla="*/ 206 w 686"/>
                  <a:gd name="T53" fmla="*/ 160 h 644"/>
                  <a:gd name="T54" fmla="*/ 165 w 686"/>
                  <a:gd name="T55" fmla="*/ 200 h 644"/>
                  <a:gd name="T56" fmla="*/ 132 w 686"/>
                  <a:gd name="T57" fmla="*/ 248 h 644"/>
                  <a:gd name="T58" fmla="*/ 105 w 686"/>
                  <a:gd name="T59" fmla="*/ 301 h 644"/>
                  <a:gd name="T60" fmla="*/ 85 w 686"/>
                  <a:gd name="T61" fmla="*/ 358 h 644"/>
                  <a:gd name="T62" fmla="*/ 75 w 686"/>
                  <a:gd name="T63" fmla="*/ 420 h 644"/>
                  <a:gd name="T64" fmla="*/ 76 w 686"/>
                  <a:gd name="T65" fmla="*/ 483 h 644"/>
                  <a:gd name="T66" fmla="*/ 88 w 686"/>
                  <a:gd name="T67" fmla="*/ 546 h 644"/>
                  <a:gd name="T68" fmla="*/ 114 w 686"/>
                  <a:gd name="T69" fmla="*/ 61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86" h="644">
                    <a:moveTo>
                      <a:pt x="46" y="644"/>
                    </a:moveTo>
                    <a:lnTo>
                      <a:pt x="46" y="644"/>
                    </a:lnTo>
                    <a:lnTo>
                      <a:pt x="30" y="611"/>
                    </a:lnTo>
                    <a:lnTo>
                      <a:pt x="19" y="577"/>
                    </a:lnTo>
                    <a:lnTo>
                      <a:pt x="9" y="541"/>
                    </a:lnTo>
                    <a:lnTo>
                      <a:pt x="3" y="505"/>
                    </a:lnTo>
                    <a:lnTo>
                      <a:pt x="0" y="467"/>
                    </a:lnTo>
                    <a:lnTo>
                      <a:pt x="0" y="431"/>
                    </a:lnTo>
                    <a:lnTo>
                      <a:pt x="3" y="394"/>
                    </a:lnTo>
                    <a:lnTo>
                      <a:pt x="9" y="358"/>
                    </a:lnTo>
                    <a:lnTo>
                      <a:pt x="17" y="322"/>
                    </a:lnTo>
                    <a:lnTo>
                      <a:pt x="29" y="288"/>
                    </a:lnTo>
                    <a:lnTo>
                      <a:pt x="43" y="253"/>
                    </a:lnTo>
                    <a:lnTo>
                      <a:pt x="61" y="220"/>
                    </a:lnTo>
                    <a:lnTo>
                      <a:pt x="81" y="189"/>
                    </a:lnTo>
                    <a:lnTo>
                      <a:pt x="102" y="158"/>
                    </a:lnTo>
                    <a:lnTo>
                      <a:pt x="128" y="130"/>
                    </a:lnTo>
                    <a:lnTo>
                      <a:pt x="155" y="102"/>
                    </a:lnTo>
                    <a:lnTo>
                      <a:pt x="155" y="102"/>
                    </a:lnTo>
                    <a:lnTo>
                      <a:pt x="184" y="79"/>
                    </a:lnTo>
                    <a:lnTo>
                      <a:pt x="214" y="59"/>
                    </a:lnTo>
                    <a:lnTo>
                      <a:pt x="244" y="42"/>
                    </a:lnTo>
                    <a:lnTo>
                      <a:pt x="276" y="28"/>
                    </a:lnTo>
                    <a:lnTo>
                      <a:pt x="308" y="16"/>
                    </a:lnTo>
                    <a:lnTo>
                      <a:pt x="341" y="9"/>
                    </a:lnTo>
                    <a:lnTo>
                      <a:pt x="375" y="3"/>
                    </a:lnTo>
                    <a:lnTo>
                      <a:pt x="408" y="0"/>
                    </a:lnTo>
                    <a:lnTo>
                      <a:pt x="443" y="2"/>
                    </a:lnTo>
                    <a:lnTo>
                      <a:pt x="477" y="5"/>
                    </a:lnTo>
                    <a:lnTo>
                      <a:pt x="512" y="12"/>
                    </a:lnTo>
                    <a:lnTo>
                      <a:pt x="546" y="22"/>
                    </a:lnTo>
                    <a:lnTo>
                      <a:pt x="582" y="35"/>
                    </a:lnTo>
                    <a:lnTo>
                      <a:pt x="617" y="51"/>
                    </a:lnTo>
                    <a:lnTo>
                      <a:pt x="651" y="69"/>
                    </a:lnTo>
                    <a:lnTo>
                      <a:pt x="686" y="91"/>
                    </a:lnTo>
                    <a:lnTo>
                      <a:pt x="643" y="153"/>
                    </a:lnTo>
                    <a:lnTo>
                      <a:pt x="643" y="153"/>
                    </a:lnTo>
                    <a:lnTo>
                      <a:pt x="614" y="134"/>
                    </a:lnTo>
                    <a:lnTo>
                      <a:pt x="585" y="118"/>
                    </a:lnTo>
                    <a:lnTo>
                      <a:pt x="556" y="105"/>
                    </a:lnTo>
                    <a:lnTo>
                      <a:pt x="528" y="95"/>
                    </a:lnTo>
                    <a:lnTo>
                      <a:pt x="499" y="87"/>
                    </a:lnTo>
                    <a:lnTo>
                      <a:pt x="470" y="81"/>
                    </a:lnTo>
                    <a:lnTo>
                      <a:pt x="441" y="78"/>
                    </a:lnTo>
                    <a:lnTo>
                      <a:pt x="413" y="77"/>
                    </a:lnTo>
                    <a:lnTo>
                      <a:pt x="385" y="78"/>
                    </a:lnTo>
                    <a:lnTo>
                      <a:pt x="358" y="82"/>
                    </a:lnTo>
                    <a:lnTo>
                      <a:pt x="331" y="89"/>
                    </a:lnTo>
                    <a:lnTo>
                      <a:pt x="303" y="98"/>
                    </a:lnTo>
                    <a:lnTo>
                      <a:pt x="278" y="110"/>
                    </a:lnTo>
                    <a:lnTo>
                      <a:pt x="253" y="124"/>
                    </a:lnTo>
                    <a:lnTo>
                      <a:pt x="229" y="140"/>
                    </a:lnTo>
                    <a:lnTo>
                      <a:pt x="206" y="160"/>
                    </a:lnTo>
                    <a:lnTo>
                      <a:pt x="206" y="160"/>
                    </a:lnTo>
                    <a:lnTo>
                      <a:pt x="186" y="179"/>
                    </a:lnTo>
                    <a:lnTo>
                      <a:pt x="165" y="200"/>
                    </a:lnTo>
                    <a:lnTo>
                      <a:pt x="148" y="223"/>
                    </a:lnTo>
                    <a:lnTo>
                      <a:pt x="132" y="248"/>
                    </a:lnTo>
                    <a:lnTo>
                      <a:pt x="118" y="273"/>
                    </a:lnTo>
                    <a:lnTo>
                      <a:pt x="105" y="301"/>
                    </a:lnTo>
                    <a:lnTo>
                      <a:pt x="94" y="329"/>
                    </a:lnTo>
                    <a:lnTo>
                      <a:pt x="85" y="358"/>
                    </a:lnTo>
                    <a:lnTo>
                      <a:pt x="79" y="390"/>
                    </a:lnTo>
                    <a:lnTo>
                      <a:pt x="75" y="420"/>
                    </a:lnTo>
                    <a:lnTo>
                      <a:pt x="73" y="452"/>
                    </a:lnTo>
                    <a:lnTo>
                      <a:pt x="76" y="483"/>
                    </a:lnTo>
                    <a:lnTo>
                      <a:pt x="81" y="515"/>
                    </a:lnTo>
                    <a:lnTo>
                      <a:pt x="88" y="546"/>
                    </a:lnTo>
                    <a:lnTo>
                      <a:pt x="99" y="578"/>
                    </a:lnTo>
                    <a:lnTo>
                      <a:pt x="114" y="610"/>
                    </a:lnTo>
                    <a:lnTo>
                      <a:pt x="46" y="64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16" name="Freeform 182">
                <a:extLst>
                  <a:ext uri="{FF2B5EF4-FFF2-40B4-BE49-F238E27FC236}">
                    <a16:creationId xmlns:a16="http://schemas.microsoft.com/office/drawing/2014/main" id="{CCF1BC7C-5F79-4ECA-B6F3-2D817CD37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744" y="2215443"/>
                <a:ext cx="276950" cy="279040"/>
              </a:xfrm>
              <a:custGeom>
                <a:avLst/>
                <a:gdLst>
                  <a:gd name="T0" fmla="*/ 0 w 265"/>
                  <a:gd name="T1" fmla="*/ 201 h 267"/>
                  <a:gd name="T2" fmla="*/ 178 w 265"/>
                  <a:gd name="T3" fmla="*/ 178 h 267"/>
                  <a:gd name="T4" fmla="*/ 157 w 265"/>
                  <a:gd name="T5" fmla="*/ 0 h 267"/>
                  <a:gd name="T6" fmla="*/ 242 w 265"/>
                  <a:gd name="T7" fmla="*/ 66 h 267"/>
                  <a:gd name="T8" fmla="*/ 265 w 265"/>
                  <a:gd name="T9" fmla="*/ 246 h 267"/>
                  <a:gd name="T10" fmla="*/ 86 w 265"/>
                  <a:gd name="T11" fmla="*/ 267 h 267"/>
                  <a:gd name="T12" fmla="*/ 0 w 265"/>
                  <a:gd name="T13" fmla="*/ 20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267">
                    <a:moveTo>
                      <a:pt x="0" y="201"/>
                    </a:moveTo>
                    <a:lnTo>
                      <a:pt x="178" y="178"/>
                    </a:lnTo>
                    <a:lnTo>
                      <a:pt x="157" y="0"/>
                    </a:lnTo>
                    <a:lnTo>
                      <a:pt x="242" y="66"/>
                    </a:lnTo>
                    <a:lnTo>
                      <a:pt x="265" y="246"/>
                    </a:lnTo>
                    <a:lnTo>
                      <a:pt x="86" y="267"/>
                    </a:lnTo>
                    <a:lnTo>
                      <a:pt x="0" y="20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AD97DE71-5D57-44A2-AD8F-DD4E1EF05F29}"/>
                </a:ext>
              </a:extLst>
            </p:cNvPr>
            <p:cNvGrpSpPr/>
            <p:nvPr/>
          </p:nvGrpSpPr>
          <p:grpSpPr>
            <a:xfrm rot="11783301" flipH="1" flipV="1">
              <a:off x="7946890" y="4078603"/>
              <a:ext cx="651094" cy="907141"/>
              <a:chOff x="5416272" y="4047493"/>
              <a:chExt cx="651094" cy="907141"/>
            </a:xfrm>
            <a:grpFill/>
          </p:grpSpPr>
          <p:sp>
            <p:nvSpPr>
              <p:cNvPr id="113" name="Freeform 178">
                <a:extLst>
                  <a:ext uri="{FF2B5EF4-FFF2-40B4-BE49-F238E27FC236}">
                    <a16:creationId xmlns:a16="http://schemas.microsoft.com/office/drawing/2014/main" id="{68CD5009-B61E-4256-BB87-F187150D6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1519" y="4047493"/>
                <a:ext cx="575847" cy="790091"/>
              </a:xfrm>
              <a:custGeom>
                <a:avLst/>
                <a:gdLst>
                  <a:gd name="T0" fmla="*/ 413 w 551"/>
                  <a:gd name="T1" fmla="*/ 0 h 756"/>
                  <a:gd name="T2" fmla="*/ 462 w 551"/>
                  <a:gd name="T3" fmla="*/ 55 h 756"/>
                  <a:gd name="T4" fmla="*/ 501 w 551"/>
                  <a:gd name="T5" fmla="*/ 118 h 756"/>
                  <a:gd name="T6" fmla="*/ 530 w 551"/>
                  <a:gd name="T7" fmla="*/ 186 h 756"/>
                  <a:gd name="T8" fmla="*/ 546 w 551"/>
                  <a:gd name="T9" fmla="*/ 257 h 756"/>
                  <a:gd name="T10" fmla="*/ 551 w 551"/>
                  <a:gd name="T11" fmla="*/ 331 h 756"/>
                  <a:gd name="T12" fmla="*/ 544 w 551"/>
                  <a:gd name="T13" fmla="*/ 404 h 756"/>
                  <a:gd name="T14" fmla="*/ 526 w 551"/>
                  <a:gd name="T15" fmla="*/ 477 h 756"/>
                  <a:gd name="T16" fmla="*/ 494 w 551"/>
                  <a:gd name="T17" fmla="*/ 546 h 756"/>
                  <a:gd name="T18" fmla="*/ 475 w 551"/>
                  <a:gd name="T19" fmla="*/ 578 h 756"/>
                  <a:gd name="T20" fmla="*/ 431 w 551"/>
                  <a:gd name="T21" fmla="*/ 634 h 756"/>
                  <a:gd name="T22" fmla="*/ 380 w 551"/>
                  <a:gd name="T23" fmla="*/ 680 h 756"/>
                  <a:gd name="T24" fmla="*/ 322 w 551"/>
                  <a:gd name="T25" fmla="*/ 714 h 756"/>
                  <a:gd name="T26" fmla="*/ 258 w 551"/>
                  <a:gd name="T27" fmla="*/ 740 h 756"/>
                  <a:gd name="T28" fmla="*/ 189 w 551"/>
                  <a:gd name="T29" fmla="*/ 753 h 756"/>
                  <a:gd name="T30" fmla="*/ 116 w 551"/>
                  <a:gd name="T31" fmla="*/ 756 h 756"/>
                  <a:gd name="T32" fmla="*/ 40 w 551"/>
                  <a:gd name="T33" fmla="*/ 746 h 756"/>
                  <a:gd name="T34" fmla="*/ 20 w 551"/>
                  <a:gd name="T35" fmla="*/ 666 h 756"/>
                  <a:gd name="T36" fmla="*/ 51 w 551"/>
                  <a:gd name="T37" fmla="*/ 673 h 756"/>
                  <a:gd name="T38" fmla="*/ 116 w 551"/>
                  <a:gd name="T39" fmla="*/ 680 h 756"/>
                  <a:gd name="T40" fmla="*/ 176 w 551"/>
                  <a:gd name="T41" fmla="*/ 679 h 756"/>
                  <a:gd name="T42" fmla="*/ 234 w 551"/>
                  <a:gd name="T43" fmla="*/ 667 h 756"/>
                  <a:gd name="T44" fmla="*/ 287 w 551"/>
                  <a:gd name="T45" fmla="*/ 648 h 756"/>
                  <a:gd name="T46" fmla="*/ 334 w 551"/>
                  <a:gd name="T47" fmla="*/ 620 h 756"/>
                  <a:gd name="T48" fmla="*/ 376 w 551"/>
                  <a:gd name="T49" fmla="*/ 582 h 756"/>
                  <a:gd name="T50" fmla="*/ 413 w 551"/>
                  <a:gd name="T51" fmla="*/ 536 h 756"/>
                  <a:gd name="T52" fmla="*/ 428 w 551"/>
                  <a:gd name="T53" fmla="*/ 510 h 756"/>
                  <a:gd name="T54" fmla="*/ 452 w 551"/>
                  <a:gd name="T55" fmla="*/ 459 h 756"/>
                  <a:gd name="T56" fmla="*/ 468 w 551"/>
                  <a:gd name="T57" fmla="*/ 403 h 756"/>
                  <a:gd name="T58" fmla="*/ 475 w 551"/>
                  <a:gd name="T59" fmla="*/ 344 h 756"/>
                  <a:gd name="T60" fmla="*/ 474 w 551"/>
                  <a:gd name="T61" fmla="*/ 282 h 756"/>
                  <a:gd name="T62" fmla="*/ 462 w 551"/>
                  <a:gd name="T63" fmla="*/ 222 h 756"/>
                  <a:gd name="T64" fmla="*/ 441 w 551"/>
                  <a:gd name="T65" fmla="*/ 163 h 756"/>
                  <a:gd name="T66" fmla="*/ 408 w 551"/>
                  <a:gd name="T67" fmla="*/ 107 h 756"/>
                  <a:gd name="T68" fmla="*/ 362 w 551"/>
                  <a:gd name="T69" fmla="*/ 55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" h="756">
                    <a:moveTo>
                      <a:pt x="413" y="0"/>
                    </a:moveTo>
                    <a:lnTo>
                      <a:pt x="413" y="0"/>
                    </a:lnTo>
                    <a:lnTo>
                      <a:pt x="439" y="28"/>
                    </a:lnTo>
                    <a:lnTo>
                      <a:pt x="462" y="55"/>
                    </a:lnTo>
                    <a:lnTo>
                      <a:pt x="484" y="86"/>
                    </a:lnTo>
                    <a:lnTo>
                      <a:pt x="501" y="118"/>
                    </a:lnTo>
                    <a:lnTo>
                      <a:pt x="517" y="151"/>
                    </a:lnTo>
                    <a:lnTo>
                      <a:pt x="530" y="186"/>
                    </a:lnTo>
                    <a:lnTo>
                      <a:pt x="539" y="220"/>
                    </a:lnTo>
                    <a:lnTo>
                      <a:pt x="546" y="257"/>
                    </a:lnTo>
                    <a:lnTo>
                      <a:pt x="550" y="293"/>
                    </a:lnTo>
                    <a:lnTo>
                      <a:pt x="551" y="331"/>
                    </a:lnTo>
                    <a:lnTo>
                      <a:pt x="549" y="367"/>
                    </a:lnTo>
                    <a:lnTo>
                      <a:pt x="544" y="404"/>
                    </a:lnTo>
                    <a:lnTo>
                      <a:pt x="536" y="441"/>
                    </a:lnTo>
                    <a:lnTo>
                      <a:pt x="526" y="477"/>
                    </a:lnTo>
                    <a:lnTo>
                      <a:pt x="511" y="512"/>
                    </a:lnTo>
                    <a:lnTo>
                      <a:pt x="494" y="546"/>
                    </a:lnTo>
                    <a:lnTo>
                      <a:pt x="494" y="546"/>
                    </a:lnTo>
                    <a:lnTo>
                      <a:pt x="475" y="578"/>
                    </a:lnTo>
                    <a:lnTo>
                      <a:pt x="454" y="608"/>
                    </a:lnTo>
                    <a:lnTo>
                      <a:pt x="431" y="634"/>
                    </a:lnTo>
                    <a:lnTo>
                      <a:pt x="406" y="658"/>
                    </a:lnTo>
                    <a:lnTo>
                      <a:pt x="380" y="680"/>
                    </a:lnTo>
                    <a:lnTo>
                      <a:pt x="352" y="699"/>
                    </a:lnTo>
                    <a:lnTo>
                      <a:pt x="322" y="714"/>
                    </a:lnTo>
                    <a:lnTo>
                      <a:pt x="291" y="729"/>
                    </a:lnTo>
                    <a:lnTo>
                      <a:pt x="258" y="740"/>
                    </a:lnTo>
                    <a:lnTo>
                      <a:pt x="225" y="748"/>
                    </a:lnTo>
                    <a:lnTo>
                      <a:pt x="189" y="753"/>
                    </a:lnTo>
                    <a:lnTo>
                      <a:pt x="153" y="756"/>
                    </a:lnTo>
                    <a:lnTo>
                      <a:pt x="116" y="756"/>
                    </a:lnTo>
                    <a:lnTo>
                      <a:pt x="79" y="752"/>
                    </a:lnTo>
                    <a:lnTo>
                      <a:pt x="40" y="746"/>
                    </a:lnTo>
                    <a:lnTo>
                      <a:pt x="0" y="737"/>
                    </a:lnTo>
                    <a:lnTo>
                      <a:pt x="20" y="666"/>
                    </a:lnTo>
                    <a:lnTo>
                      <a:pt x="20" y="666"/>
                    </a:lnTo>
                    <a:lnTo>
                      <a:pt x="51" y="673"/>
                    </a:lnTo>
                    <a:lnTo>
                      <a:pt x="84" y="677"/>
                    </a:lnTo>
                    <a:lnTo>
                      <a:pt x="116" y="680"/>
                    </a:lnTo>
                    <a:lnTo>
                      <a:pt x="146" y="680"/>
                    </a:lnTo>
                    <a:lnTo>
                      <a:pt x="176" y="679"/>
                    </a:lnTo>
                    <a:lnTo>
                      <a:pt x="207" y="674"/>
                    </a:lnTo>
                    <a:lnTo>
                      <a:pt x="234" y="667"/>
                    </a:lnTo>
                    <a:lnTo>
                      <a:pt x="261" y="658"/>
                    </a:lnTo>
                    <a:lnTo>
                      <a:pt x="287" y="648"/>
                    </a:lnTo>
                    <a:lnTo>
                      <a:pt x="311" y="634"/>
                    </a:lnTo>
                    <a:lnTo>
                      <a:pt x="334" y="620"/>
                    </a:lnTo>
                    <a:lnTo>
                      <a:pt x="356" y="602"/>
                    </a:lnTo>
                    <a:lnTo>
                      <a:pt x="376" y="582"/>
                    </a:lnTo>
                    <a:lnTo>
                      <a:pt x="395" y="561"/>
                    </a:lnTo>
                    <a:lnTo>
                      <a:pt x="413" y="536"/>
                    </a:lnTo>
                    <a:lnTo>
                      <a:pt x="428" y="510"/>
                    </a:lnTo>
                    <a:lnTo>
                      <a:pt x="428" y="510"/>
                    </a:lnTo>
                    <a:lnTo>
                      <a:pt x="441" y="486"/>
                    </a:lnTo>
                    <a:lnTo>
                      <a:pt x="452" y="459"/>
                    </a:lnTo>
                    <a:lnTo>
                      <a:pt x="461" y="431"/>
                    </a:lnTo>
                    <a:lnTo>
                      <a:pt x="468" y="403"/>
                    </a:lnTo>
                    <a:lnTo>
                      <a:pt x="472" y="374"/>
                    </a:lnTo>
                    <a:lnTo>
                      <a:pt x="475" y="344"/>
                    </a:lnTo>
                    <a:lnTo>
                      <a:pt x="475" y="314"/>
                    </a:lnTo>
                    <a:lnTo>
                      <a:pt x="474" y="282"/>
                    </a:lnTo>
                    <a:lnTo>
                      <a:pt x="470" y="252"/>
                    </a:lnTo>
                    <a:lnTo>
                      <a:pt x="462" y="222"/>
                    </a:lnTo>
                    <a:lnTo>
                      <a:pt x="452" y="191"/>
                    </a:lnTo>
                    <a:lnTo>
                      <a:pt x="441" y="163"/>
                    </a:lnTo>
                    <a:lnTo>
                      <a:pt x="425" y="134"/>
                    </a:lnTo>
                    <a:lnTo>
                      <a:pt x="408" y="107"/>
                    </a:lnTo>
                    <a:lnTo>
                      <a:pt x="386" y="81"/>
                    </a:lnTo>
                    <a:lnTo>
                      <a:pt x="362" y="55"/>
                    </a:lnTo>
                    <a:lnTo>
                      <a:pt x="41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14" name="Freeform 179">
                <a:extLst>
                  <a:ext uri="{FF2B5EF4-FFF2-40B4-BE49-F238E27FC236}">
                    <a16:creationId xmlns:a16="http://schemas.microsoft.com/office/drawing/2014/main" id="{0DBAB220-66C2-4098-9754-F352F4F82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272" y="4666188"/>
                <a:ext cx="274860" cy="288446"/>
              </a:xfrm>
              <a:custGeom>
                <a:avLst/>
                <a:gdLst>
                  <a:gd name="T0" fmla="*/ 263 w 263"/>
                  <a:gd name="T1" fmla="*/ 35 h 276"/>
                  <a:gd name="T2" fmla="*/ 103 w 263"/>
                  <a:gd name="T3" fmla="*/ 115 h 276"/>
                  <a:gd name="T4" fmla="*/ 184 w 263"/>
                  <a:gd name="T5" fmla="*/ 276 h 276"/>
                  <a:gd name="T6" fmla="*/ 82 w 263"/>
                  <a:gd name="T7" fmla="*/ 242 h 276"/>
                  <a:gd name="T8" fmla="*/ 0 w 263"/>
                  <a:gd name="T9" fmla="*/ 82 h 276"/>
                  <a:gd name="T10" fmla="*/ 161 w 263"/>
                  <a:gd name="T11" fmla="*/ 0 h 276"/>
                  <a:gd name="T12" fmla="*/ 263 w 263"/>
                  <a:gd name="T13" fmla="*/ 35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3" h="276">
                    <a:moveTo>
                      <a:pt x="263" y="35"/>
                    </a:moveTo>
                    <a:lnTo>
                      <a:pt x="103" y="115"/>
                    </a:lnTo>
                    <a:lnTo>
                      <a:pt x="184" y="276"/>
                    </a:lnTo>
                    <a:lnTo>
                      <a:pt x="82" y="242"/>
                    </a:lnTo>
                    <a:lnTo>
                      <a:pt x="0" y="82"/>
                    </a:lnTo>
                    <a:lnTo>
                      <a:pt x="161" y="0"/>
                    </a:lnTo>
                    <a:lnTo>
                      <a:pt x="263" y="35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B6E44FA-65BB-45F3-8E59-09AF320BEE88}"/>
              </a:ext>
            </a:extLst>
          </p:cNvPr>
          <p:cNvGrpSpPr/>
          <p:nvPr/>
        </p:nvGrpSpPr>
        <p:grpSpPr>
          <a:xfrm>
            <a:off x="7181920" y="3887397"/>
            <a:ext cx="343906" cy="438206"/>
            <a:chOff x="7718934" y="3865658"/>
            <a:chExt cx="879050" cy="1120086"/>
          </a:xfrm>
          <a:solidFill>
            <a:schemeClr val="bg1">
              <a:lumMod val="75000"/>
            </a:schemeClr>
          </a:solidFill>
        </p:grpSpPr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5E728CB5-2AC5-483F-93AD-D76632940A30}"/>
                </a:ext>
              </a:extLst>
            </p:cNvPr>
            <p:cNvGrpSpPr/>
            <p:nvPr/>
          </p:nvGrpSpPr>
          <p:grpSpPr>
            <a:xfrm>
              <a:off x="7718934" y="3865658"/>
              <a:ext cx="765009" cy="746197"/>
              <a:chOff x="3826685" y="2215443"/>
              <a:chExt cx="765009" cy="746197"/>
            </a:xfrm>
            <a:grpFill/>
          </p:grpSpPr>
          <p:sp>
            <p:nvSpPr>
              <p:cNvPr id="122" name="Freeform 181">
                <a:extLst>
                  <a:ext uri="{FF2B5EF4-FFF2-40B4-BE49-F238E27FC236}">
                    <a16:creationId xmlns:a16="http://schemas.microsoft.com/office/drawing/2014/main" id="{FED2572C-294E-4737-A33A-079B5718F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685" y="2288600"/>
                <a:ext cx="716935" cy="673040"/>
              </a:xfrm>
              <a:custGeom>
                <a:avLst/>
                <a:gdLst>
                  <a:gd name="T0" fmla="*/ 46 w 686"/>
                  <a:gd name="T1" fmla="*/ 644 h 644"/>
                  <a:gd name="T2" fmla="*/ 19 w 686"/>
                  <a:gd name="T3" fmla="*/ 577 h 644"/>
                  <a:gd name="T4" fmla="*/ 3 w 686"/>
                  <a:gd name="T5" fmla="*/ 505 h 644"/>
                  <a:gd name="T6" fmla="*/ 0 w 686"/>
                  <a:gd name="T7" fmla="*/ 431 h 644"/>
                  <a:gd name="T8" fmla="*/ 9 w 686"/>
                  <a:gd name="T9" fmla="*/ 358 h 644"/>
                  <a:gd name="T10" fmla="*/ 29 w 686"/>
                  <a:gd name="T11" fmla="*/ 288 h 644"/>
                  <a:gd name="T12" fmla="*/ 61 w 686"/>
                  <a:gd name="T13" fmla="*/ 220 h 644"/>
                  <a:gd name="T14" fmla="*/ 102 w 686"/>
                  <a:gd name="T15" fmla="*/ 158 h 644"/>
                  <a:gd name="T16" fmla="*/ 155 w 686"/>
                  <a:gd name="T17" fmla="*/ 102 h 644"/>
                  <a:gd name="T18" fmla="*/ 184 w 686"/>
                  <a:gd name="T19" fmla="*/ 79 h 644"/>
                  <a:gd name="T20" fmla="*/ 244 w 686"/>
                  <a:gd name="T21" fmla="*/ 42 h 644"/>
                  <a:gd name="T22" fmla="*/ 308 w 686"/>
                  <a:gd name="T23" fmla="*/ 16 h 644"/>
                  <a:gd name="T24" fmla="*/ 375 w 686"/>
                  <a:gd name="T25" fmla="*/ 3 h 644"/>
                  <a:gd name="T26" fmla="*/ 443 w 686"/>
                  <a:gd name="T27" fmla="*/ 2 h 644"/>
                  <a:gd name="T28" fmla="*/ 512 w 686"/>
                  <a:gd name="T29" fmla="*/ 12 h 644"/>
                  <a:gd name="T30" fmla="*/ 582 w 686"/>
                  <a:gd name="T31" fmla="*/ 35 h 644"/>
                  <a:gd name="T32" fmla="*/ 651 w 686"/>
                  <a:gd name="T33" fmla="*/ 69 h 644"/>
                  <a:gd name="T34" fmla="*/ 643 w 686"/>
                  <a:gd name="T35" fmla="*/ 153 h 644"/>
                  <a:gd name="T36" fmla="*/ 614 w 686"/>
                  <a:gd name="T37" fmla="*/ 134 h 644"/>
                  <a:gd name="T38" fmla="*/ 556 w 686"/>
                  <a:gd name="T39" fmla="*/ 105 h 644"/>
                  <a:gd name="T40" fmla="*/ 499 w 686"/>
                  <a:gd name="T41" fmla="*/ 87 h 644"/>
                  <a:gd name="T42" fmla="*/ 441 w 686"/>
                  <a:gd name="T43" fmla="*/ 78 h 644"/>
                  <a:gd name="T44" fmla="*/ 385 w 686"/>
                  <a:gd name="T45" fmla="*/ 78 h 644"/>
                  <a:gd name="T46" fmla="*/ 331 w 686"/>
                  <a:gd name="T47" fmla="*/ 89 h 644"/>
                  <a:gd name="T48" fmla="*/ 278 w 686"/>
                  <a:gd name="T49" fmla="*/ 110 h 644"/>
                  <a:gd name="T50" fmla="*/ 229 w 686"/>
                  <a:gd name="T51" fmla="*/ 140 h 644"/>
                  <a:gd name="T52" fmla="*/ 206 w 686"/>
                  <a:gd name="T53" fmla="*/ 160 h 644"/>
                  <a:gd name="T54" fmla="*/ 165 w 686"/>
                  <a:gd name="T55" fmla="*/ 200 h 644"/>
                  <a:gd name="T56" fmla="*/ 132 w 686"/>
                  <a:gd name="T57" fmla="*/ 248 h 644"/>
                  <a:gd name="T58" fmla="*/ 105 w 686"/>
                  <a:gd name="T59" fmla="*/ 301 h 644"/>
                  <a:gd name="T60" fmla="*/ 85 w 686"/>
                  <a:gd name="T61" fmla="*/ 358 h 644"/>
                  <a:gd name="T62" fmla="*/ 75 w 686"/>
                  <a:gd name="T63" fmla="*/ 420 h 644"/>
                  <a:gd name="T64" fmla="*/ 76 w 686"/>
                  <a:gd name="T65" fmla="*/ 483 h 644"/>
                  <a:gd name="T66" fmla="*/ 88 w 686"/>
                  <a:gd name="T67" fmla="*/ 546 h 644"/>
                  <a:gd name="T68" fmla="*/ 114 w 686"/>
                  <a:gd name="T69" fmla="*/ 61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86" h="644">
                    <a:moveTo>
                      <a:pt x="46" y="644"/>
                    </a:moveTo>
                    <a:lnTo>
                      <a:pt x="46" y="644"/>
                    </a:lnTo>
                    <a:lnTo>
                      <a:pt x="30" y="611"/>
                    </a:lnTo>
                    <a:lnTo>
                      <a:pt x="19" y="577"/>
                    </a:lnTo>
                    <a:lnTo>
                      <a:pt x="9" y="541"/>
                    </a:lnTo>
                    <a:lnTo>
                      <a:pt x="3" y="505"/>
                    </a:lnTo>
                    <a:lnTo>
                      <a:pt x="0" y="467"/>
                    </a:lnTo>
                    <a:lnTo>
                      <a:pt x="0" y="431"/>
                    </a:lnTo>
                    <a:lnTo>
                      <a:pt x="3" y="394"/>
                    </a:lnTo>
                    <a:lnTo>
                      <a:pt x="9" y="358"/>
                    </a:lnTo>
                    <a:lnTo>
                      <a:pt x="17" y="322"/>
                    </a:lnTo>
                    <a:lnTo>
                      <a:pt x="29" y="288"/>
                    </a:lnTo>
                    <a:lnTo>
                      <a:pt x="43" y="253"/>
                    </a:lnTo>
                    <a:lnTo>
                      <a:pt x="61" y="220"/>
                    </a:lnTo>
                    <a:lnTo>
                      <a:pt x="81" y="189"/>
                    </a:lnTo>
                    <a:lnTo>
                      <a:pt x="102" y="158"/>
                    </a:lnTo>
                    <a:lnTo>
                      <a:pt x="128" y="130"/>
                    </a:lnTo>
                    <a:lnTo>
                      <a:pt x="155" y="102"/>
                    </a:lnTo>
                    <a:lnTo>
                      <a:pt x="155" y="102"/>
                    </a:lnTo>
                    <a:lnTo>
                      <a:pt x="184" y="79"/>
                    </a:lnTo>
                    <a:lnTo>
                      <a:pt x="214" y="59"/>
                    </a:lnTo>
                    <a:lnTo>
                      <a:pt x="244" y="42"/>
                    </a:lnTo>
                    <a:lnTo>
                      <a:pt x="276" y="28"/>
                    </a:lnTo>
                    <a:lnTo>
                      <a:pt x="308" y="16"/>
                    </a:lnTo>
                    <a:lnTo>
                      <a:pt x="341" y="9"/>
                    </a:lnTo>
                    <a:lnTo>
                      <a:pt x="375" y="3"/>
                    </a:lnTo>
                    <a:lnTo>
                      <a:pt x="408" y="0"/>
                    </a:lnTo>
                    <a:lnTo>
                      <a:pt x="443" y="2"/>
                    </a:lnTo>
                    <a:lnTo>
                      <a:pt x="477" y="5"/>
                    </a:lnTo>
                    <a:lnTo>
                      <a:pt x="512" y="12"/>
                    </a:lnTo>
                    <a:lnTo>
                      <a:pt x="546" y="22"/>
                    </a:lnTo>
                    <a:lnTo>
                      <a:pt x="582" y="35"/>
                    </a:lnTo>
                    <a:lnTo>
                      <a:pt x="617" y="51"/>
                    </a:lnTo>
                    <a:lnTo>
                      <a:pt x="651" y="69"/>
                    </a:lnTo>
                    <a:lnTo>
                      <a:pt x="686" y="91"/>
                    </a:lnTo>
                    <a:lnTo>
                      <a:pt x="643" y="153"/>
                    </a:lnTo>
                    <a:lnTo>
                      <a:pt x="643" y="153"/>
                    </a:lnTo>
                    <a:lnTo>
                      <a:pt x="614" y="134"/>
                    </a:lnTo>
                    <a:lnTo>
                      <a:pt x="585" y="118"/>
                    </a:lnTo>
                    <a:lnTo>
                      <a:pt x="556" y="105"/>
                    </a:lnTo>
                    <a:lnTo>
                      <a:pt x="528" y="95"/>
                    </a:lnTo>
                    <a:lnTo>
                      <a:pt x="499" y="87"/>
                    </a:lnTo>
                    <a:lnTo>
                      <a:pt x="470" y="81"/>
                    </a:lnTo>
                    <a:lnTo>
                      <a:pt x="441" y="78"/>
                    </a:lnTo>
                    <a:lnTo>
                      <a:pt x="413" y="77"/>
                    </a:lnTo>
                    <a:lnTo>
                      <a:pt x="385" y="78"/>
                    </a:lnTo>
                    <a:lnTo>
                      <a:pt x="358" y="82"/>
                    </a:lnTo>
                    <a:lnTo>
                      <a:pt x="331" y="89"/>
                    </a:lnTo>
                    <a:lnTo>
                      <a:pt x="303" y="98"/>
                    </a:lnTo>
                    <a:lnTo>
                      <a:pt x="278" y="110"/>
                    </a:lnTo>
                    <a:lnTo>
                      <a:pt x="253" y="124"/>
                    </a:lnTo>
                    <a:lnTo>
                      <a:pt x="229" y="140"/>
                    </a:lnTo>
                    <a:lnTo>
                      <a:pt x="206" y="160"/>
                    </a:lnTo>
                    <a:lnTo>
                      <a:pt x="206" y="160"/>
                    </a:lnTo>
                    <a:lnTo>
                      <a:pt x="186" y="179"/>
                    </a:lnTo>
                    <a:lnTo>
                      <a:pt x="165" y="200"/>
                    </a:lnTo>
                    <a:lnTo>
                      <a:pt x="148" y="223"/>
                    </a:lnTo>
                    <a:lnTo>
                      <a:pt x="132" y="248"/>
                    </a:lnTo>
                    <a:lnTo>
                      <a:pt x="118" y="273"/>
                    </a:lnTo>
                    <a:lnTo>
                      <a:pt x="105" y="301"/>
                    </a:lnTo>
                    <a:lnTo>
                      <a:pt x="94" y="329"/>
                    </a:lnTo>
                    <a:lnTo>
                      <a:pt x="85" y="358"/>
                    </a:lnTo>
                    <a:lnTo>
                      <a:pt x="79" y="390"/>
                    </a:lnTo>
                    <a:lnTo>
                      <a:pt x="75" y="420"/>
                    </a:lnTo>
                    <a:lnTo>
                      <a:pt x="73" y="452"/>
                    </a:lnTo>
                    <a:lnTo>
                      <a:pt x="76" y="483"/>
                    </a:lnTo>
                    <a:lnTo>
                      <a:pt x="81" y="515"/>
                    </a:lnTo>
                    <a:lnTo>
                      <a:pt x="88" y="546"/>
                    </a:lnTo>
                    <a:lnTo>
                      <a:pt x="99" y="578"/>
                    </a:lnTo>
                    <a:lnTo>
                      <a:pt x="114" y="610"/>
                    </a:lnTo>
                    <a:lnTo>
                      <a:pt x="46" y="64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23" name="Freeform 182">
                <a:extLst>
                  <a:ext uri="{FF2B5EF4-FFF2-40B4-BE49-F238E27FC236}">
                    <a16:creationId xmlns:a16="http://schemas.microsoft.com/office/drawing/2014/main" id="{11FA21BB-F68B-4D8D-8F74-8239F6FC7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744" y="2215443"/>
                <a:ext cx="276950" cy="279040"/>
              </a:xfrm>
              <a:custGeom>
                <a:avLst/>
                <a:gdLst>
                  <a:gd name="T0" fmla="*/ 0 w 265"/>
                  <a:gd name="T1" fmla="*/ 201 h 267"/>
                  <a:gd name="T2" fmla="*/ 178 w 265"/>
                  <a:gd name="T3" fmla="*/ 178 h 267"/>
                  <a:gd name="T4" fmla="*/ 157 w 265"/>
                  <a:gd name="T5" fmla="*/ 0 h 267"/>
                  <a:gd name="T6" fmla="*/ 242 w 265"/>
                  <a:gd name="T7" fmla="*/ 66 h 267"/>
                  <a:gd name="T8" fmla="*/ 265 w 265"/>
                  <a:gd name="T9" fmla="*/ 246 h 267"/>
                  <a:gd name="T10" fmla="*/ 86 w 265"/>
                  <a:gd name="T11" fmla="*/ 267 h 267"/>
                  <a:gd name="T12" fmla="*/ 0 w 265"/>
                  <a:gd name="T13" fmla="*/ 20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267">
                    <a:moveTo>
                      <a:pt x="0" y="201"/>
                    </a:moveTo>
                    <a:lnTo>
                      <a:pt x="178" y="178"/>
                    </a:lnTo>
                    <a:lnTo>
                      <a:pt x="157" y="0"/>
                    </a:lnTo>
                    <a:lnTo>
                      <a:pt x="242" y="66"/>
                    </a:lnTo>
                    <a:lnTo>
                      <a:pt x="265" y="246"/>
                    </a:lnTo>
                    <a:lnTo>
                      <a:pt x="86" y="267"/>
                    </a:lnTo>
                    <a:lnTo>
                      <a:pt x="0" y="20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30AD8FB9-E2C5-4BE7-A6CE-8F474796AB00}"/>
                </a:ext>
              </a:extLst>
            </p:cNvPr>
            <p:cNvGrpSpPr/>
            <p:nvPr/>
          </p:nvGrpSpPr>
          <p:grpSpPr>
            <a:xfrm rot="11783301" flipH="1" flipV="1">
              <a:off x="7946890" y="4078603"/>
              <a:ext cx="651094" cy="907141"/>
              <a:chOff x="5416272" y="4047493"/>
              <a:chExt cx="651094" cy="907141"/>
            </a:xfrm>
            <a:grpFill/>
          </p:grpSpPr>
          <p:sp>
            <p:nvSpPr>
              <p:cNvPr id="120" name="Freeform 178">
                <a:extLst>
                  <a:ext uri="{FF2B5EF4-FFF2-40B4-BE49-F238E27FC236}">
                    <a16:creationId xmlns:a16="http://schemas.microsoft.com/office/drawing/2014/main" id="{FEF5C544-ED66-4258-90F8-66D837F62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1519" y="4047493"/>
                <a:ext cx="575847" cy="790091"/>
              </a:xfrm>
              <a:custGeom>
                <a:avLst/>
                <a:gdLst>
                  <a:gd name="T0" fmla="*/ 413 w 551"/>
                  <a:gd name="T1" fmla="*/ 0 h 756"/>
                  <a:gd name="T2" fmla="*/ 462 w 551"/>
                  <a:gd name="T3" fmla="*/ 55 h 756"/>
                  <a:gd name="T4" fmla="*/ 501 w 551"/>
                  <a:gd name="T5" fmla="*/ 118 h 756"/>
                  <a:gd name="T6" fmla="*/ 530 w 551"/>
                  <a:gd name="T7" fmla="*/ 186 h 756"/>
                  <a:gd name="T8" fmla="*/ 546 w 551"/>
                  <a:gd name="T9" fmla="*/ 257 h 756"/>
                  <a:gd name="T10" fmla="*/ 551 w 551"/>
                  <a:gd name="T11" fmla="*/ 331 h 756"/>
                  <a:gd name="T12" fmla="*/ 544 w 551"/>
                  <a:gd name="T13" fmla="*/ 404 h 756"/>
                  <a:gd name="T14" fmla="*/ 526 w 551"/>
                  <a:gd name="T15" fmla="*/ 477 h 756"/>
                  <a:gd name="T16" fmla="*/ 494 w 551"/>
                  <a:gd name="T17" fmla="*/ 546 h 756"/>
                  <a:gd name="T18" fmla="*/ 475 w 551"/>
                  <a:gd name="T19" fmla="*/ 578 h 756"/>
                  <a:gd name="T20" fmla="*/ 431 w 551"/>
                  <a:gd name="T21" fmla="*/ 634 h 756"/>
                  <a:gd name="T22" fmla="*/ 380 w 551"/>
                  <a:gd name="T23" fmla="*/ 680 h 756"/>
                  <a:gd name="T24" fmla="*/ 322 w 551"/>
                  <a:gd name="T25" fmla="*/ 714 h 756"/>
                  <a:gd name="T26" fmla="*/ 258 w 551"/>
                  <a:gd name="T27" fmla="*/ 740 h 756"/>
                  <a:gd name="T28" fmla="*/ 189 w 551"/>
                  <a:gd name="T29" fmla="*/ 753 h 756"/>
                  <a:gd name="T30" fmla="*/ 116 w 551"/>
                  <a:gd name="T31" fmla="*/ 756 h 756"/>
                  <a:gd name="T32" fmla="*/ 40 w 551"/>
                  <a:gd name="T33" fmla="*/ 746 h 756"/>
                  <a:gd name="T34" fmla="*/ 20 w 551"/>
                  <a:gd name="T35" fmla="*/ 666 h 756"/>
                  <a:gd name="T36" fmla="*/ 51 w 551"/>
                  <a:gd name="T37" fmla="*/ 673 h 756"/>
                  <a:gd name="T38" fmla="*/ 116 w 551"/>
                  <a:gd name="T39" fmla="*/ 680 h 756"/>
                  <a:gd name="T40" fmla="*/ 176 w 551"/>
                  <a:gd name="T41" fmla="*/ 679 h 756"/>
                  <a:gd name="T42" fmla="*/ 234 w 551"/>
                  <a:gd name="T43" fmla="*/ 667 h 756"/>
                  <a:gd name="T44" fmla="*/ 287 w 551"/>
                  <a:gd name="T45" fmla="*/ 648 h 756"/>
                  <a:gd name="T46" fmla="*/ 334 w 551"/>
                  <a:gd name="T47" fmla="*/ 620 h 756"/>
                  <a:gd name="T48" fmla="*/ 376 w 551"/>
                  <a:gd name="T49" fmla="*/ 582 h 756"/>
                  <a:gd name="T50" fmla="*/ 413 w 551"/>
                  <a:gd name="T51" fmla="*/ 536 h 756"/>
                  <a:gd name="T52" fmla="*/ 428 w 551"/>
                  <a:gd name="T53" fmla="*/ 510 h 756"/>
                  <a:gd name="T54" fmla="*/ 452 w 551"/>
                  <a:gd name="T55" fmla="*/ 459 h 756"/>
                  <a:gd name="T56" fmla="*/ 468 w 551"/>
                  <a:gd name="T57" fmla="*/ 403 h 756"/>
                  <a:gd name="T58" fmla="*/ 475 w 551"/>
                  <a:gd name="T59" fmla="*/ 344 h 756"/>
                  <a:gd name="T60" fmla="*/ 474 w 551"/>
                  <a:gd name="T61" fmla="*/ 282 h 756"/>
                  <a:gd name="T62" fmla="*/ 462 w 551"/>
                  <a:gd name="T63" fmla="*/ 222 h 756"/>
                  <a:gd name="T64" fmla="*/ 441 w 551"/>
                  <a:gd name="T65" fmla="*/ 163 h 756"/>
                  <a:gd name="T66" fmla="*/ 408 w 551"/>
                  <a:gd name="T67" fmla="*/ 107 h 756"/>
                  <a:gd name="T68" fmla="*/ 362 w 551"/>
                  <a:gd name="T69" fmla="*/ 55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" h="756">
                    <a:moveTo>
                      <a:pt x="413" y="0"/>
                    </a:moveTo>
                    <a:lnTo>
                      <a:pt x="413" y="0"/>
                    </a:lnTo>
                    <a:lnTo>
                      <a:pt x="439" y="28"/>
                    </a:lnTo>
                    <a:lnTo>
                      <a:pt x="462" y="55"/>
                    </a:lnTo>
                    <a:lnTo>
                      <a:pt x="484" y="86"/>
                    </a:lnTo>
                    <a:lnTo>
                      <a:pt x="501" y="118"/>
                    </a:lnTo>
                    <a:lnTo>
                      <a:pt x="517" y="151"/>
                    </a:lnTo>
                    <a:lnTo>
                      <a:pt x="530" y="186"/>
                    </a:lnTo>
                    <a:lnTo>
                      <a:pt x="539" y="220"/>
                    </a:lnTo>
                    <a:lnTo>
                      <a:pt x="546" y="257"/>
                    </a:lnTo>
                    <a:lnTo>
                      <a:pt x="550" y="293"/>
                    </a:lnTo>
                    <a:lnTo>
                      <a:pt x="551" y="331"/>
                    </a:lnTo>
                    <a:lnTo>
                      <a:pt x="549" y="367"/>
                    </a:lnTo>
                    <a:lnTo>
                      <a:pt x="544" y="404"/>
                    </a:lnTo>
                    <a:lnTo>
                      <a:pt x="536" y="441"/>
                    </a:lnTo>
                    <a:lnTo>
                      <a:pt x="526" y="477"/>
                    </a:lnTo>
                    <a:lnTo>
                      <a:pt x="511" y="512"/>
                    </a:lnTo>
                    <a:lnTo>
                      <a:pt x="494" y="546"/>
                    </a:lnTo>
                    <a:lnTo>
                      <a:pt x="494" y="546"/>
                    </a:lnTo>
                    <a:lnTo>
                      <a:pt x="475" y="578"/>
                    </a:lnTo>
                    <a:lnTo>
                      <a:pt x="454" y="608"/>
                    </a:lnTo>
                    <a:lnTo>
                      <a:pt x="431" y="634"/>
                    </a:lnTo>
                    <a:lnTo>
                      <a:pt x="406" y="658"/>
                    </a:lnTo>
                    <a:lnTo>
                      <a:pt x="380" y="680"/>
                    </a:lnTo>
                    <a:lnTo>
                      <a:pt x="352" y="699"/>
                    </a:lnTo>
                    <a:lnTo>
                      <a:pt x="322" y="714"/>
                    </a:lnTo>
                    <a:lnTo>
                      <a:pt x="291" y="729"/>
                    </a:lnTo>
                    <a:lnTo>
                      <a:pt x="258" y="740"/>
                    </a:lnTo>
                    <a:lnTo>
                      <a:pt x="225" y="748"/>
                    </a:lnTo>
                    <a:lnTo>
                      <a:pt x="189" y="753"/>
                    </a:lnTo>
                    <a:lnTo>
                      <a:pt x="153" y="756"/>
                    </a:lnTo>
                    <a:lnTo>
                      <a:pt x="116" y="756"/>
                    </a:lnTo>
                    <a:lnTo>
                      <a:pt x="79" y="752"/>
                    </a:lnTo>
                    <a:lnTo>
                      <a:pt x="40" y="746"/>
                    </a:lnTo>
                    <a:lnTo>
                      <a:pt x="0" y="737"/>
                    </a:lnTo>
                    <a:lnTo>
                      <a:pt x="20" y="666"/>
                    </a:lnTo>
                    <a:lnTo>
                      <a:pt x="20" y="666"/>
                    </a:lnTo>
                    <a:lnTo>
                      <a:pt x="51" y="673"/>
                    </a:lnTo>
                    <a:lnTo>
                      <a:pt x="84" y="677"/>
                    </a:lnTo>
                    <a:lnTo>
                      <a:pt x="116" y="680"/>
                    </a:lnTo>
                    <a:lnTo>
                      <a:pt x="146" y="680"/>
                    </a:lnTo>
                    <a:lnTo>
                      <a:pt x="176" y="679"/>
                    </a:lnTo>
                    <a:lnTo>
                      <a:pt x="207" y="674"/>
                    </a:lnTo>
                    <a:lnTo>
                      <a:pt x="234" y="667"/>
                    </a:lnTo>
                    <a:lnTo>
                      <a:pt x="261" y="658"/>
                    </a:lnTo>
                    <a:lnTo>
                      <a:pt x="287" y="648"/>
                    </a:lnTo>
                    <a:lnTo>
                      <a:pt x="311" y="634"/>
                    </a:lnTo>
                    <a:lnTo>
                      <a:pt x="334" y="620"/>
                    </a:lnTo>
                    <a:lnTo>
                      <a:pt x="356" y="602"/>
                    </a:lnTo>
                    <a:lnTo>
                      <a:pt x="376" y="582"/>
                    </a:lnTo>
                    <a:lnTo>
                      <a:pt x="395" y="561"/>
                    </a:lnTo>
                    <a:lnTo>
                      <a:pt x="413" y="536"/>
                    </a:lnTo>
                    <a:lnTo>
                      <a:pt x="428" y="510"/>
                    </a:lnTo>
                    <a:lnTo>
                      <a:pt x="428" y="510"/>
                    </a:lnTo>
                    <a:lnTo>
                      <a:pt x="441" y="486"/>
                    </a:lnTo>
                    <a:lnTo>
                      <a:pt x="452" y="459"/>
                    </a:lnTo>
                    <a:lnTo>
                      <a:pt x="461" y="431"/>
                    </a:lnTo>
                    <a:lnTo>
                      <a:pt x="468" y="403"/>
                    </a:lnTo>
                    <a:lnTo>
                      <a:pt x="472" y="374"/>
                    </a:lnTo>
                    <a:lnTo>
                      <a:pt x="475" y="344"/>
                    </a:lnTo>
                    <a:lnTo>
                      <a:pt x="475" y="314"/>
                    </a:lnTo>
                    <a:lnTo>
                      <a:pt x="474" y="282"/>
                    </a:lnTo>
                    <a:lnTo>
                      <a:pt x="470" y="252"/>
                    </a:lnTo>
                    <a:lnTo>
                      <a:pt x="462" y="222"/>
                    </a:lnTo>
                    <a:lnTo>
                      <a:pt x="452" y="191"/>
                    </a:lnTo>
                    <a:lnTo>
                      <a:pt x="441" y="163"/>
                    </a:lnTo>
                    <a:lnTo>
                      <a:pt x="425" y="134"/>
                    </a:lnTo>
                    <a:lnTo>
                      <a:pt x="408" y="107"/>
                    </a:lnTo>
                    <a:lnTo>
                      <a:pt x="386" y="81"/>
                    </a:lnTo>
                    <a:lnTo>
                      <a:pt x="362" y="55"/>
                    </a:lnTo>
                    <a:lnTo>
                      <a:pt x="41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21" name="Freeform 179">
                <a:extLst>
                  <a:ext uri="{FF2B5EF4-FFF2-40B4-BE49-F238E27FC236}">
                    <a16:creationId xmlns:a16="http://schemas.microsoft.com/office/drawing/2014/main" id="{8F855DCF-7C3F-40A9-9C1F-3FEE3A307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272" y="4666188"/>
                <a:ext cx="274860" cy="288446"/>
              </a:xfrm>
              <a:custGeom>
                <a:avLst/>
                <a:gdLst>
                  <a:gd name="T0" fmla="*/ 263 w 263"/>
                  <a:gd name="T1" fmla="*/ 35 h 276"/>
                  <a:gd name="T2" fmla="*/ 103 w 263"/>
                  <a:gd name="T3" fmla="*/ 115 h 276"/>
                  <a:gd name="T4" fmla="*/ 184 w 263"/>
                  <a:gd name="T5" fmla="*/ 276 h 276"/>
                  <a:gd name="T6" fmla="*/ 82 w 263"/>
                  <a:gd name="T7" fmla="*/ 242 h 276"/>
                  <a:gd name="T8" fmla="*/ 0 w 263"/>
                  <a:gd name="T9" fmla="*/ 82 h 276"/>
                  <a:gd name="T10" fmla="*/ 161 w 263"/>
                  <a:gd name="T11" fmla="*/ 0 h 276"/>
                  <a:gd name="T12" fmla="*/ 263 w 263"/>
                  <a:gd name="T13" fmla="*/ 35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3" h="276">
                    <a:moveTo>
                      <a:pt x="263" y="35"/>
                    </a:moveTo>
                    <a:lnTo>
                      <a:pt x="103" y="115"/>
                    </a:lnTo>
                    <a:lnTo>
                      <a:pt x="184" y="276"/>
                    </a:lnTo>
                    <a:lnTo>
                      <a:pt x="82" y="242"/>
                    </a:lnTo>
                    <a:lnTo>
                      <a:pt x="0" y="82"/>
                    </a:lnTo>
                    <a:lnTo>
                      <a:pt x="161" y="0"/>
                    </a:lnTo>
                    <a:lnTo>
                      <a:pt x="263" y="35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5A28610D-63CD-4D9C-A065-EA036B5F97D3}"/>
              </a:ext>
            </a:extLst>
          </p:cNvPr>
          <p:cNvGrpSpPr/>
          <p:nvPr/>
        </p:nvGrpSpPr>
        <p:grpSpPr>
          <a:xfrm>
            <a:off x="4555789" y="4617646"/>
            <a:ext cx="343906" cy="438206"/>
            <a:chOff x="7718934" y="3865658"/>
            <a:chExt cx="879050" cy="1120086"/>
          </a:xfrm>
          <a:solidFill>
            <a:schemeClr val="bg1">
              <a:lumMod val="75000"/>
            </a:schemeClr>
          </a:solidFill>
        </p:grpSpPr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4FA161CE-ECBA-463A-A52A-F24786C8E608}"/>
                </a:ext>
              </a:extLst>
            </p:cNvPr>
            <p:cNvGrpSpPr/>
            <p:nvPr/>
          </p:nvGrpSpPr>
          <p:grpSpPr>
            <a:xfrm>
              <a:off x="7718934" y="3865658"/>
              <a:ext cx="765009" cy="746197"/>
              <a:chOff x="3826685" y="2215443"/>
              <a:chExt cx="765009" cy="746197"/>
            </a:xfrm>
            <a:grpFill/>
          </p:grpSpPr>
          <p:sp>
            <p:nvSpPr>
              <p:cNvPr id="129" name="Freeform 181">
                <a:extLst>
                  <a:ext uri="{FF2B5EF4-FFF2-40B4-BE49-F238E27FC236}">
                    <a16:creationId xmlns:a16="http://schemas.microsoft.com/office/drawing/2014/main" id="{55F8C158-DA87-4E97-B11D-C853B3021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685" y="2288600"/>
                <a:ext cx="716935" cy="673040"/>
              </a:xfrm>
              <a:custGeom>
                <a:avLst/>
                <a:gdLst>
                  <a:gd name="T0" fmla="*/ 46 w 686"/>
                  <a:gd name="T1" fmla="*/ 644 h 644"/>
                  <a:gd name="T2" fmla="*/ 19 w 686"/>
                  <a:gd name="T3" fmla="*/ 577 h 644"/>
                  <a:gd name="T4" fmla="*/ 3 w 686"/>
                  <a:gd name="T5" fmla="*/ 505 h 644"/>
                  <a:gd name="T6" fmla="*/ 0 w 686"/>
                  <a:gd name="T7" fmla="*/ 431 h 644"/>
                  <a:gd name="T8" fmla="*/ 9 w 686"/>
                  <a:gd name="T9" fmla="*/ 358 h 644"/>
                  <a:gd name="T10" fmla="*/ 29 w 686"/>
                  <a:gd name="T11" fmla="*/ 288 h 644"/>
                  <a:gd name="T12" fmla="*/ 61 w 686"/>
                  <a:gd name="T13" fmla="*/ 220 h 644"/>
                  <a:gd name="T14" fmla="*/ 102 w 686"/>
                  <a:gd name="T15" fmla="*/ 158 h 644"/>
                  <a:gd name="T16" fmla="*/ 155 w 686"/>
                  <a:gd name="T17" fmla="*/ 102 h 644"/>
                  <a:gd name="T18" fmla="*/ 184 w 686"/>
                  <a:gd name="T19" fmla="*/ 79 h 644"/>
                  <a:gd name="T20" fmla="*/ 244 w 686"/>
                  <a:gd name="T21" fmla="*/ 42 h 644"/>
                  <a:gd name="T22" fmla="*/ 308 w 686"/>
                  <a:gd name="T23" fmla="*/ 16 h 644"/>
                  <a:gd name="T24" fmla="*/ 375 w 686"/>
                  <a:gd name="T25" fmla="*/ 3 h 644"/>
                  <a:gd name="T26" fmla="*/ 443 w 686"/>
                  <a:gd name="T27" fmla="*/ 2 h 644"/>
                  <a:gd name="T28" fmla="*/ 512 w 686"/>
                  <a:gd name="T29" fmla="*/ 12 h 644"/>
                  <a:gd name="T30" fmla="*/ 582 w 686"/>
                  <a:gd name="T31" fmla="*/ 35 h 644"/>
                  <a:gd name="T32" fmla="*/ 651 w 686"/>
                  <a:gd name="T33" fmla="*/ 69 h 644"/>
                  <a:gd name="T34" fmla="*/ 643 w 686"/>
                  <a:gd name="T35" fmla="*/ 153 h 644"/>
                  <a:gd name="T36" fmla="*/ 614 w 686"/>
                  <a:gd name="T37" fmla="*/ 134 h 644"/>
                  <a:gd name="T38" fmla="*/ 556 w 686"/>
                  <a:gd name="T39" fmla="*/ 105 h 644"/>
                  <a:gd name="T40" fmla="*/ 499 w 686"/>
                  <a:gd name="T41" fmla="*/ 87 h 644"/>
                  <a:gd name="T42" fmla="*/ 441 w 686"/>
                  <a:gd name="T43" fmla="*/ 78 h 644"/>
                  <a:gd name="T44" fmla="*/ 385 w 686"/>
                  <a:gd name="T45" fmla="*/ 78 h 644"/>
                  <a:gd name="T46" fmla="*/ 331 w 686"/>
                  <a:gd name="T47" fmla="*/ 89 h 644"/>
                  <a:gd name="T48" fmla="*/ 278 w 686"/>
                  <a:gd name="T49" fmla="*/ 110 h 644"/>
                  <a:gd name="T50" fmla="*/ 229 w 686"/>
                  <a:gd name="T51" fmla="*/ 140 h 644"/>
                  <a:gd name="T52" fmla="*/ 206 w 686"/>
                  <a:gd name="T53" fmla="*/ 160 h 644"/>
                  <a:gd name="T54" fmla="*/ 165 w 686"/>
                  <a:gd name="T55" fmla="*/ 200 h 644"/>
                  <a:gd name="T56" fmla="*/ 132 w 686"/>
                  <a:gd name="T57" fmla="*/ 248 h 644"/>
                  <a:gd name="T58" fmla="*/ 105 w 686"/>
                  <a:gd name="T59" fmla="*/ 301 h 644"/>
                  <a:gd name="T60" fmla="*/ 85 w 686"/>
                  <a:gd name="T61" fmla="*/ 358 h 644"/>
                  <a:gd name="T62" fmla="*/ 75 w 686"/>
                  <a:gd name="T63" fmla="*/ 420 h 644"/>
                  <a:gd name="T64" fmla="*/ 76 w 686"/>
                  <a:gd name="T65" fmla="*/ 483 h 644"/>
                  <a:gd name="T66" fmla="*/ 88 w 686"/>
                  <a:gd name="T67" fmla="*/ 546 h 644"/>
                  <a:gd name="T68" fmla="*/ 114 w 686"/>
                  <a:gd name="T69" fmla="*/ 61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86" h="644">
                    <a:moveTo>
                      <a:pt x="46" y="644"/>
                    </a:moveTo>
                    <a:lnTo>
                      <a:pt x="46" y="644"/>
                    </a:lnTo>
                    <a:lnTo>
                      <a:pt x="30" y="611"/>
                    </a:lnTo>
                    <a:lnTo>
                      <a:pt x="19" y="577"/>
                    </a:lnTo>
                    <a:lnTo>
                      <a:pt x="9" y="541"/>
                    </a:lnTo>
                    <a:lnTo>
                      <a:pt x="3" y="505"/>
                    </a:lnTo>
                    <a:lnTo>
                      <a:pt x="0" y="467"/>
                    </a:lnTo>
                    <a:lnTo>
                      <a:pt x="0" y="431"/>
                    </a:lnTo>
                    <a:lnTo>
                      <a:pt x="3" y="394"/>
                    </a:lnTo>
                    <a:lnTo>
                      <a:pt x="9" y="358"/>
                    </a:lnTo>
                    <a:lnTo>
                      <a:pt x="17" y="322"/>
                    </a:lnTo>
                    <a:lnTo>
                      <a:pt x="29" y="288"/>
                    </a:lnTo>
                    <a:lnTo>
                      <a:pt x="43" y="253"/>
                    </a:lnTo>
                    <a:lnTo>
                      <a:pt x="61" y="220"/>
                    </a:lnTo>
                    <a:lnTo>
                      <a:pt x="81" y="189"/>
                    </a:lnTo>
                    <a:lnTo>
                      <a:pt x="102" y="158"/>
                    </a:lnTo>
                    <a:lnTo>
                      <a:pt x="128" y="130"/>
                    </a:lnTo>
                    <a:lnTo>
                      <a:pt x="155" y="102"/>
                    </a:lnTo>
                    <a:lnTo>
                      <a:pt x="155" y="102"/>
                    </a:lnTo>
                    <a:lnTo>
                      <a:pt x="184" y="79"/>
                    </a:lnTo>
                    <a:lnTo>
                      <a:pt x="214" y="59"/>
                    </a:lnTo>
                    <a:lnTo>
                      <a:pt x="244" y="42"/>
                    </a:lnTo>
                    <a:lnTo>
                      <a:pt x="276" y="28"/>
                    </a:lnTo>
                    <a:lnTo>
                      <a:pt x="308" y="16"/>
                    </a:lnTo>
                    <a:lnTo>
                      <a:pt x="341" y="9"/>
                    </a:lnTo>
                    <a:lnTo>
                      <a:pt x="375" y="3"/>
                    </a:lnTo>
                    <a:lnTo>
                      <a:pt x="408" y="0"/>
                    </a:lnTo>
                    <a:lnTo>
                      <a:pt x="443" y="2"/>
                    </a:lnTo>
                    <a:lnTo>
                      <a:pt x="477" y="5"/>
                    </a:lnTo>
                    <a:lnTo>
                      <a:pt x="512" y="12"/>
                    </a:lnTo>
                    <a:lnTo>
                      <a:pt x="546" y="22"/>
                    </a:lnTo>
                    <a:lnTo>
                      <a:pt x="582" y="35"/>
                    </a:lnTo>
                    <a:lnTo>
                      <a:pt x="617" y="51"/>
                    </a:lnTo>
                    <a:lnTo>
                      <a:pt x="651" y="69"/>
                    </a:lnTo>
                    <a:lnTo>
                      <a:pt x="686" y="91"/>
                    </a:lnTo>
                    <a:lnTo>
                      <a:pt x="643" y="153"/>
                    </a:lnTo>
                    <a:lnTo>
                      <a:pt x="643" y="153"/>
                    </a:lnTo>
                    <a:lnTo>
                      <a:pt x="614" y="134"/>
                    </a:lnTo>
                    <a:lnTo>
                      <a:pt x="585" y="118"/>
                    </a:lnTo>
                    <a:lnTo>
                      <a:pt x="556" y="105"/>
                    </a:lnTo>
                    <a:lnTo>
                      <a:pt x="528" y="95"/>
                    </a:lnTo>
                    <a:lnTo>
                      <a:pt x="499" y="87"/>
                    </a:lnTo>
                    <a:lnTo>
                      <a:pt x="470" y="81"/>
                    </a:lnTo>
                    <a:lnTo>
                      <a:pt x="441" y="78"/>
                    </a:lnTo>
                    <a:lnTo>
                      <a:pt x="413" y="77"/>
                    </a:lnTo>
                    <a:lnTo>
                      <a:pt x="385" y="78"/>
                    </a:lnTo>
                    <a:lnTo>
                      <a:pt x="358" y="82"/>
                    </a:lnTo>
                    <a:lnTo>
                      <a:pt x="331" y="89"/>
                    </a:lnTo>
                    <a:lnTo>
                      <a:pt x="303" y="98"/>
                    </a:lnTo>
                    <a:lnTo>
                      <a:pt x="278" y="110"/>
                    </a:lnTo>
                    <a:lnTo>
                      <a:pt x="253" y="124"/>
                    </a:lnTo>
                    <a:lnTo>
                      <a:pt x="229" y="140"/>
                    </a:lnTo>
                    <a:lnTo>
                      <a:pt x="206" y="160"/>
                    </a:lnTo>
                    <a:lnTo>
                      <a:pt x="206" y="160"/>
                    </a:lnTo>
                    <a:lnTo>
                      <a:pt x="186" y="179"/>
                    </a:lnTo>
                    <a:lnTo>
                      <a:pt x="165" y="200"/>
                    </a:lnTo>
                    <a:lnTo>
                      <a:pt x="148" y="223"/>
                    </a:lnTo>
                    <a:lnTo>
                      <a:pt x="132" y="248"/>
                    </a:lnTo>
                    <a:lnTo>
                      <a:pt x="118" y="273"/>
                    </a:lnTo>
                    <a:lnTo>
                      <a:pt x="105" y="301"/>
                    </a:lnTo>
                    <a:lnTo>
                      <a:pt x="94" y="329"/>
                    </a:lnTo>
                    <a:lnTo>
                      <a:pt x="85" y="358"/>
                    </a:lnTo>
                    <a:lnTo>
                      <a:pt x="79" y="390"/>
                    </a:lnTo>
                    <a:lnTo>
                      <a:pt x="75" y="420"/>
                    </a:lnTo>
                    <a:lnTo>
                      <a:pt x="73" y="452"/>
                    </a:lnTo>
                    <a:lnTo>
                      <a:pt x="76" y="483"/>
                    </a:lnTo>
                    <a:lnTo>
                      <a:pt x="81" y="515"/>
                    </a:lnTo>
                    <a:lnTo>
                      <a:pt x="88" y="546"/>
                    </a:lnTo>
                    <a:lnTo>
                      <a:pt x="99" y="578"/>
                    </a:lnTo>
                    <a:lnTo>
                      <a:pt x="114" y="610"/>
                    </a:lnTo>
                    <a:lnTo>
                      <a:pt x="46" y="64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30" name="Freeform 182">
                <a:extLst>
                  <a:ext uri="{FF2B5EF4-FFF2-40B4-BE49-F238E27FC236}">
                    <a16:creationId xmlns:a16="http://schemas.microsoft.com/office/drawing/2014/main" id="{A8A36300-28A7-4E50-ABB3-9D0941D9F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744" y="2215443"/>
                <a:ext cx="276950" cy="279040"/>
              </a:xfrm>
              <a:custGeom>
                <a:avLst/>
                <a:gdLst>
                  <a:gd name="T0" fmla="*/ 0 w 265"/>
                  <a:gd name="T1" fmla="*/ 201 h 267"/>
                  <a:gd name="T2" fmla="*/ 178 w 265"/>
                  <a:gd name="T3" fmla="*/ 178 h 267"/>
                  <a:gd name="T4" fmla="*/ 157 w 265"/>
                  <a:gd name="T5" fmla="*/ 0 h 267"/>
                  <a:gd name="T6" fmla="*/ 242 w 265"/>
                  <a:gd name="T7" fmla="*/ 66 h 267"/>
                  <a:gd name="T8" fmla="*/ 265 w 265"/>
                  <a:gd name="T9" fmla="*/ 246 h 267"/>
                  <a:gd name="T10" fmla="*/ 86 w 265"/>
                  <a:gd name="T11" fmla="*/ 267 h 267"/>
                  <a:gd name="T12" fmla="*/ 0 w 265"/>
                  <a:gd name="T13" fmla="*/ 20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267">
                    <a:moveTo>
                      <a:pt x="0" y="201"/>
                    </a:moveTo>
                    <a:lnTo>
                      <a:pt x="178" y="178"/>
                    </a:lnTo>
                    <a:lnTo>
                      <a:pt x="157" y="0"/>
                    </a:lnTo>
                    <a:lnTo>
                      <a:pt x="242" y="66"/>
                    </a:lnTo>
                    <a:lnTo>
                      <a:pt x="265" y="246"/>
                    </a:lnTo>
                    <a:lnTo>
                      <a:pt x="86" y="267"/>
                    </a:lnTo>
                    <a:lnTo>
                      <a:pt x="0" y="20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15381B73-77C4-4B74-AAEA-1F5AA50D0FC8}"/>
                </a:ext>
              </a:extLst>
            </p:cNvPr>
            <p:cNvGrpSpPr/>
            <p:nvPr/>
          </p:nvGrpSpPr>
          <p:grpSpPr>
            <a:xfrm rot="11783301" flipH="1" flipV="1">
              <a:off x="7946890" y="4078603"/>
              <a:ext cx="651094" cy="907141"/>
              <a:chOff x="5416272" y="4047493"/>
              <a:chExt cx="651094" cy="907141"/>
            </a:xfrm>
            <a:grpFill/>
          </p:grpSpPr>
          <p:sp>
            <p:nvSpPr>
              <p:cNvPr id="127" name="Freeform 178">
                <a:extLst>
                  <a:ext uri="{FF2B5EF4-FFF2-40B4-BE49-F238E27FC236}">
                    <a16:creationId xmlns:a16="http://schemas.microsoft.com/office/drawing/2014/main" id="{F8020A49-0CA3-4896-A597-7F03A3CE6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1519" y="4047493"/>
                <a:ext cx="575847" cy="790091"/>
              </a:xfrm>
              <a:custGeom>
                <a:avLst/>
                <a:gdLst>
                  <a:gd name="T0" fmla="*/ 413 w 551"/>
                  <a:gd name="T1" fmla="*/ 0 h 756"/>
                  <a:gd name="T2" fmla="*/ 462 w 551"/>
                  <a:gd name="T3" fmla="*/ 55 h 756"/>
                  <a:gd name="T4" fmla="*/ 501 w 551"/>
                  <a:gd name="T5" fmla="*/ 118 h 756"/>
                  <a:gd name="T6" fmla="*/ 530 w 551"/>
                  <a:gd name="T7" fmla="*/ 186 h 756"/>
                  <a:gd name="T8" fmla="*/ 546 w 551"/>
                  <a:gd name="T9" fmla="*/ 257 h 756"/>
                  <a:gd name="T10" fmla="*/ 551 w 551"/>
                  <a:gd name="T11" fmla="*/ 331 h 756"/>
                  <a:gd name="T12" fmla="*/ 544 w 551"/>
                  <a:gd name="T13" fmla="*/ 404 h 756"/>
                  <a:gd name="T14" fmla="*/ 526 w 551"/>
                  <a:gd name="T15" fmla="*/ 477 h 756"/>
                  <a:gd name="T16" fmla="*/ 494 w 551"/>
                  <a:gd name="T17" fmla="*/ 546 h 756"/>
                  <a:gd name="T18" fmla="*/ 475 w 551"/>
                  <a:gd name="T19" fmla="*/ 578 h 756"/>
                  <a:gd name="T20" fmla="*/ 431 w 551"/>
                  <a:gd name="T21" fmla="*/ 634 h 756"/>
                  <a:gd name="T22" fmla="*/ 380 w 551"/>
                  <a:gd name="T23" fmla="*/ 680 h 756"/>
                  <a:gd name="T24" fmla="*/ 322 w 551"/>
                  <a:gd name="T25" fmla="*/ 714 h 756"/>
                  <a:gd name="T26" fmla="*/ 258 w 551"/>
                  <a:gd name="T27" fmla="*/ 740 h 756"/>
                  <a:gd name="T28" fmla="*/ 189 w 551"/>
                  <a:gd name="T29" fmla="*/ 753 h 756"/>
                  <a:gd name="T30" fmla="*/ 116 w 551"/>
                  <a:gd name="T31" fmla="*/ 756 h 756"/>
                  <a:gd name="T32" fmla="*/ 40 w 551"/>
                  <a:gd name="T33" fmla="*/ 746 h 756"/>
                  <a:gd name="T34" fmla="*/ 20 w 551"/>
                  <a:gd name="T35" fmla="*/ 666 h 756"/>
                  <a:gd name="T36" fmla="*/ 51 w 551"/>
                  <a:gd name="T37" fmla="*/ 673 h 756"/>
                  <a:gd name="T38" fmla="*/ 116 w 551"/>
                  <a:gd name="T39" fmla="*/ 680 h 756"/>
                  <a:gd name="T40" fmla="*/ 176 w 551"/>
                  <a:gd name="T41" fmla="*/ 679 h 756"/>
                  <a:gd name="T42" fmla="*/ 234 w 551"/>
                  <a:gd name="T43" fmla="*/ 667 h 756"/>
                  <a:gd name="T44" fmla="*/ 287 w 551"/>
                  <a:gd name="T45" fmla="*/ 648 h 756"/>
                  <a:gd name="T46" fmla="*/ 334 w 551"/>
                  <a:gd name="T47" fmla="*/ 620 h 756"/>
                  <a:gd name="T48" fmla="*/ 376 w 551"/>
                  <a:gd name="T49" fmla="*/ 582 h 756"/>
                  <a:gd name="T50" fmla="*/ 413 w 551"/>
                  <a:gd name="T51" fmla="*/ 536 h 756"/>
                  <a:gd name="T52" fmla="*/ 428 w 551"/>
                  <a:gd name="T53" fmla="*/ 510 h 756"/>
                  <a:gd name="T54" fmla="*/ 452 w 551"/>
                  <a:gd name="T55" fmla="*/ 459 h 756"/>
                  <a:gd name="T56" fmla="*/ 468 w 551"/>
                  <a:gd name="T57" fmla="*/ 403 h 756"/>
                  <a:gd name="T58" fmla="*/ 475 w 551"/>
                  <a:gd name="T59" fmla="*/ 344 h 756"/>
                  <a:gd name="T60" fmla="*/ 474 w 551"/>
                  <a:gd name="T61" fmla="*/ 282 h 756"/>
                  <a:gd name="T62" fmla="*/ 462 w 551"/>
                  <a:gd name="T63" fmla="*/ 222 h 756"/>
                  <a:gd name="T64" fmla="*/ 441 w 551"/>
                  <a:gd name="T65" fmla="*/ 163 h 756"/>
                  <a:gd name="T66" fmla="*/ 408 w 551"/>
                  <a:gd name="T67" fmla="*/ 107 h 756"/>
                  <a:gd name="T68" fmla="*/ 362 w 551"/>
                  <a:gd name="T69" fmla="*/ 55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" h="756">
                    <a:moveTo>
                      <a:pt x="413" y="0"/>
                    </a:moveTo>
                    <a:lnTo>
                      <a:pt x="413" y="0"/>
                    </a:lnTo>
                    <a:lnTo>
                      <a:pt x="439" y="28"/>
                    </a:lnTo>
                    <a:lnTo>
                      <a:pt x="462" y="55"/>
                    </a:lnTo>
                    <a:lnTo>
                      <a:pt x="484" y="86"/>
                    </a:lnTo>
                    <a:lnTo>
                      <a:pt x="501" y="118"/>
                    </a:lnTo>
                    <a:lnTo>
                      <a:pt x="517" y="151"/>
                    </a:lnTo>
                    <a:lnTo>
                      <a:pt x="530" y="186"/>
                    </a:lnTo>
                    <a:lnTo>
                      <a:pt x="539" y="220"/>
                    </a:lnTo>
                    <a:lnTo>
                      <a:pt x="546" y="257"/>
                    </a:lnTo>
                    <a:lnTo>
                      <a:pt x="550" y="293"/>
                    </a:lnTo>
                    <a:lnTo>
                      <a:pt x="551" y="331"/>
                    </a:lnTo>
                    <a:lnTo>
                      <a:pt x="549" y="367"/>
                    </a:lnTo>
                    <a:lnTo>
                      <a:pt x="544" y="404"/>
                    </a:lnTo>
                    <a:lnTo>
                      <a:pt x="536" y="441"/>
                    </a:lnTo>
                    <a:lnTo>
                      <a:pt x="526" y="477"/>
                    </a:lnTo>
                    <a:lnTo>
                      <a:pt x="511" y="512"/>
                    </a:lnTo>
                    <a:lnTo>
                      <a:pt x="494" y="546"/>
                    </a:lnTo>
                    <a:lnTo>
                      <a:pt x="494" y="546"/>
                    </a:lnTo>
                    <a:lnTo>
                      <a:pt x="475" y="578"/>
                    </a:lnTo>
                    <a:lnTo>
                      <a:pt x="454" y="608"/>
                    </a:lnTo>
                    <a:lnTo>
                      <a:pt x="431" y="634"/>
                    </a:lnTo>
                    <a:lnTo>
                      <a:pt x="406" y="658"/>
                    </a:lnTo>
                    <a:lnTo>
                      <a:pt x="380" y="680"/>
                    </a:lnTo>
                    <a:lnTo>
                      <a:pt x="352" y="699"/>
                    </a:lnTo>
                    <a:lnTo>
                      <a:pt x="322" y="714"/>
                    </a:lnTo>
                    <a:lnTo>
                      <a:pt x="291" y="729"/>
                    </a:lnTo>
                    <a:lnTo>
                      <a:pt x="258" y="740"/>
                    </a:lnTo>
                    <a:lnTo>
                      <a:pt x="225" y="748"/>
                    </a:lnTo>
                    <a:lnTo>
                      <a:pt x="189" y="753"/>
                    </a:lnTo>
                    <a:lnTo>
                      <a:pt x="153" y="756"/>
                    </a:lnTo>
                    <a:lnTo>
                      <a:pt x="116" y="756"/>
                    </a:lnTo>
                    <a:lnTo>
                      <a:pt x="79" y="752"/>
                    </a:lnTo>
                    <a:lnTo>
                      <a:pt x="40" y="746"/>
                    </a:lnTo>
                    <a:lnTo>
                      <a:pt x="0" y="737"/>
                    </a:lnTo>
                    <a:lnTo>
                      <a:pt x="20" y="666"/>
                    </a:lnTo>
                    <a:lnTo>
                      <a:pt x="20" y="666"/>
                    </a:lnTo>
                    <a:lnTo>
                      <a:pt x="51" y="673"/>
                    </a:lnTo>
                    <a:lnTo>
                      <a:pt x="84" y="677"/>
                    </a:lnTo>
                    <a:lnTo>
                      <a:pt x="116" y="680"/>
                    </a:lnTo>
                    <a:lnTo>
                      <a:pt x="146" y="680"/>
                    </a:lnTo>
                    <a:lnTo>
                      <a:pt x="176" y="679"/>
                    </a:lnTo>
                    <a:lnTo>
                      <a:pt x="207" y="674"/>
                    </a:lnTo>
                    <a:lnTo>
                      <a:pt x="234" y="667"/>
                    </a:lnTo>
                    <a:lnTo>
                      <a:pt x="261" y="658"/>
                    </a:lnTo>
                    <a:lnTo>
                      <a:pt x="287" y="648"/>
                    </a:lnTo>
                    <a:lnTo>
                      <a:pt x="311" y="634"/>
                    </a:lnTo>
                    <a:lnTo>
                      <a:pt x="334" y="620"/>
                    </a:lnTo>
                    <a:lnTo>
                      <a:pt x="356" y="602"/>
                    </a:lnTo>
                    <a:lnTo>
                      <a:pt x="376" y="582"/>
                    </a:lnTo>
                    <a:lnTo>
                      <a:pt x="395" y="561"/>
                    </a:lnTo>
                    <a:lnTo>
                      <a:pt x="413" y="536"/>
                    </a:lnTo>
                    <a:lnTo>
                      <a:pt x="428" y="510"/>
                    </a:lnTo>
                    <a:lnTo>
                      <a:pt x="428" y="510"/>
                    </a:lnTo>
                    <a:lnTo>
                      <a:pt x="441" y="486"/>
                    </a:lnTo>
                    <a:lnTo>
                      <a:pt x="452" y="459"/>
                    </a:lnTo>
                    <a:lnTo>
                      <a:pt x="461" y="431"/>
                    </a:lnTo>
                    <a:lnTo>
                      <a:pt x="468" y="403"/>
                    </a:lnTo>
                    <a:lnTo>
                      <a:pt x="472" y="374"/>
                    </a:lnTo>
                    <a:lnTo>
                      <a:pt x="475" y="344"/>
                    </a:lnTo>
                    <a:lnTo>
                      <a:pt x="475" y="314"/>
                    </a:lnTo>
                    <a:lnTo>
                      <a:pt x="474" y="282"/>
                    </a:lnTo>
                    <a:lnTo>
                      <a:pt x="470" y="252"/>
                    </a:lnTo>
                    <a:lnTo>
                      <a:pt x="462" y="222"/>
                    </a:lnTo>
                    <a:lnTo>
                      <a:pt x="452" y="191"/>
                    </a:lnTo>
                    <a:lnTo>
                      <a:pt x="441" y="163"/>
                    </a:lnTo>
                    <a:lnTo>
                      <a:pt x="425" y="134"/>
                    </a:lnTo>
                    <a:lnTo>
                      <a:pt x="408" y="107"/>
                    </a:lnTo>
                    <a:lnTo>
                      <a:pt x="386" y="81"/>
                    </a:lnTo>
                    <a:lnTo>
                      <a:pt x="362" y="55"/>
                    </a:lnTo>
                    <a:lnTo>
                      <a:pt x="41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28" name="Freeform 179">
                <a:extLst>
                  <a:ext uri="{FF2B5EF4-FFF2-40B4-BE49-F238E27FC236}">
                    <a16:creationId xmlns:a16="http://schemas.microsoft.com/office/drawing/2014/main" id="{AD4203E3-EE42-4F4F-86C4-09FE9821A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272" y="4666188"/>
                <a:ext cx="274860" cy="288446"/>
              </a:xfrm>
              <a:custGeom>
                <a:avLst/>
                <a:gdLst>
                  <a:gd name="T0" fmla="*/ 263 w 263"/>
                  <a:gd name="T1" fmla="*/ 35 h 276"/>
                  <a:gd name="T2" fmla="*/ 103 w 263"/>
                  <a:gd name="T3" fmla="*/ 115 h 276"/>
                  <a:gd name="T4" fmla="*/ 184 w 263"/>
                  <a:gd name="T5" fmla="*/ 276 h 276"/>
                  <a:gd name="T6" fmla="*/ 82 w 263"/>
                  <a:gd name="T7" fmla="*/ 242 h 276"/>
                  <a:gd name="T8" fmla="*/ 0 w 263"/>
                  <a:gd name="T9" fmla="*/ 82 h 276"/>
                  <a:gd name="T10" fmla="*/ 161 w 263"/>
                  <a:gd name="T11" fmla="*/ 0 h 276"/>
                  <a:gd name="T12" fmla="*/ 263 w 263"/>
                  <a:gd name="T13" fmla="*/ 35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3" h="276">
                    <a:moveTo>
                      <a:pt x="263" y="35"/>
                    </a:moveTo>
                    <a:lnTo>
                      <a:pt x="103" y="115"/>
                    </a:lnTo>
                    <a:lnTo>
                      <a:pt x="184" y="276"/>
                    </a:lnTo>
                    <a:lnTo>
                      <a:pt x="82" y="242"/>
                    </a:lnTo>
                    <a:lnTo>
                      <a:pt x="0" y="82"/>
                    </a:lnTo>
                    <a:lnTo>
                      <a:pt x="161" y="0"/>
                    </a:lnTo>
                    <a:lnTo>
                      <a:pt x="263" y="35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C8BE31BF-1C89-453A-B88C-2DA1E93D3F79}"/>
              </a:ext>
            </a:extLst>
          </p:cNvPr>
          <p:cNvGrpSpPr/>
          <p:nvPr/>
        </p:nvGrpSpPr>
        <p:grpSpPr>
          <a:xfrm>
            <a:off x="6306543" y="4593805"/>
            <a:ext cx="343906" cy="438206"/>
            <a:chOff x="7718934" y="3865658"/>
            <a:chExt cx="879050" cy="1120086"/>
          </a:xfrm>
          <a:solidFill>
            <a:schemeClr val="bg1">
              <a:lumMod val="75000"/>
            </a:schemeClr>
          </a:solidFill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AF0B6E5-AD68-4997-B9BB-AFA9DA07985A}"/>
                </a:ext>
              </a:extLst>
            </p:cNvPr>
            <p:cNvGrpSpPr/>
            <p:nvPr/>
          </p:nvGrpSpPr>
          <p:grpSpPr>
            <a:xfrm>
              <a:off x="7718934" y="3865658"/>
              <a:ext cx="765009" cy="746197"/>
              <a:chOff x="3826685" y="2215443"/>
              <a:chExt cx="765009" cy="746197"/>
            </a:xfrm>
            <a:grpFill/>
          </p:grpSpPr>
          <p:sp>
            <p:nvSpPr>
              <p:cNvPr id="136" name="Freeform 181">
                <a:extLst>
                  <a:ext uri="{FF2B5EF4-FFF2-40B4-BE49-F238E27FC236}">
                    <a16:creationId xmlns:a16="http://schemas.microsoft.com/office/drawing/2014/main" id="{46ABF48B-82BA-41D7-AB69-29B04E267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685" y="2288600"/>
                <a:ext cx="716935" cy="673040"/>
              </a:xfrm>
              <a:custGeom>
                <a:avLst/>
                <a:gdLst>
                  <a:gd name="T0" fmla="*/ 46 w 686"/>
                  <a:gd name="T1" fmla="*/ 644 h 644"/>
                  <a:gd name="T2" fmla="*/ 19 w 686"/>
                  <a:gd name="T3" fmla="*/ 577 h 644"/>
                  <a:gd name="T4" fmla="*/ 3 w 686"/>
                  <a:gd name="T5" fmla="*/ 505 h 644"/>
                  <a:gd name="T6" fmla="*/ 0 w 686"/>
                  <a:gd name="T7" fmla="*/ 431 h 644"/>
                  <a:gd name="T8" fmla="*/ 9 w 686"/>
                  <a:gd name="T9" fmla="*/ 358 h 644"/>
                  <a:gd name="T10" fmla="*/ 29 w 686"/>
                  <a:gd name="T11" fmla="*/ 288 h 644"/>
                  <a:gd name="T12" fmla="*/ 61 w 686"/>
                  <a:gd name="T13" fmla="*/ 220 h 644"/>
                  <a:gd name="T14" fmla="*/ 102 w 686"/>
                  <a:gd name="T15" fmla="*/ 158 h 644"/>
                  <a:gd name="T16" fmla="*/ 155 w 686"/>
                  <a:gd name="T17" fmla="*/ 102 h 644"/>
                  <a:gd name="T18" fmla="*/ 184 w 686"/>
                  <a:gd name="T19" fmla="*/ 79 h 644"/>
                  <a:gd name="T20" fmla="*/ 244 w 686"/>
                  <a:gd name="T21" fmla="*/ 42 h 644"/>
                  <a:gd name="T22" fmla="*/ 308 w 686"/>
                  <a:gd name="T23" fmla="*/ 16 h 644"/>
                  <a:gd name="T24" fmla="*/ 375 w 686"/>
                  <a:gd name="T25" fmla="*/ 3 h 644"/>
                  <a:gd name="T26" fmla="*/ 443 w 686"/>
                  <a:gd name="T27" fmla="*/ 2 h 644"/>
                  <a:gd name="T28" fmla="*/ 512 w 686"/>
                  <a:gd name="T29" fmla="*/ 12 h 644"/>
                  <a:gd name="T30" fmla="*/ 582 w 686"/>
                  <a:gd name="T31" fmla="*/ 35 h 644"/>
                  <a:gd name="T32" fmla="*/ 651 w 686"/>
                  <a:gd name="T33" fmla="*/ 69 h 644"/>
                  <a:gd name="T34" fmla="*/ 643 w 686"/>
                  <a:gd name="T35" fmla="*/ 153 h 644"/>
                  <a:gd name="T36" fmla="*/ 614 w 686"/>
                  <a:gd name="T37" fmla="*/ 134 h 644"/>
                  <a:gd name="T38" fmla="*/ 556 w 686"/>
                  <a:gd name="T39" fmla="*/ 105 h 644"/>
                  <a:gd name="T40" fmla="*/ 499 w 686"/>
                  <a:gd name="T41" fmla="*/ 87 h 644"/>
                  <a:gd name="T42" fmla="*/ 441 w 686"/>
                  <a:gd name="T43" fmla="*/ 78 h 644"/>
                  <a:gd name="T44" fmla="*/ 385 w 686"/>
                  <a:gd name="T45" fmla="*/ 78 h 644"/>
                  <a:gd name="T46" fmla="*/ 331 w 686"/>
                  <a:gd name="T47" fmla="*/ 89 h 644"/>
                  <a:gd name="T48" fmla="*/ 278 w 686"/>
                  <a:gd name="T49" fmla="*/ 110 h 644"/>
                  <a:gd name="T50" fmla="*/ 229 w 686"/>
                  <a:gd name="T51" fmla="*/ 140 h 644"/>
                  <a:gd name="T52" fmla="*/ 206 w 686"/>
                  <a:gd name="T53" fmla="*/ 160 h 644"/>
                  <a:gd name="T54" fmla="*/ 165 w 686"/>
                  <a:gd name="T55" fmla="*/ 200 h 644"/>
                  <a:gd name="T56" fmla="*/ 132 w 686"/>
                  <a:gd name="T57" fmla="*/ 248 h 644"/>
                  <a:gd name="T58" fmla="*/ 105 w 686"/>
                  <a:gd name="T59" fmla="*/ 301 h 644"/>
                  <a:gd name="T60" fmla="*/ 85 w 686"/>
                  <a:gd name="T61" fmla="*/ 358 h 644"/>
                  <a:gd name="T62" fmla="*/ 75 w 686"/>
                  <a:gd name="T63" fmla="*/ 420 h 644"/>
                  <a:gd name="T64" fmla="*/ 76 w 686"/>
                  <a:gd name="T65" fmla="*/ 483 h 644"/>
                  <a:gd name="T66" fmla="*/ 88 w 686"/>
                  <a:gd name="T67" fmla="*/ 546 h 644"/>
                  <a:gd name="T68" fmla="*/ 114 w 686"/>
                  <a:gd name="T69" fmla="*/ 61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86" h="644">
                    <a:moveTo>
                      <a:pt x="46" y="644"/>
                    </a:moveTo>
                    <a:lnTo>
                      <a:pt x="46" y="644"/>
                    </a:lnTo>
                    <a:lnTo>
                      <a:pt x="30" y="611"/>
                    </a:lnTo>
                    <a:lnTo>
                      <a:pt x="19" y="577"/>
                    </a:lnTo>
                    <a:lnTo>
                      <a:pt x="9" y="541"/>
                    </a:lnTo>
                    <a:lnTo>
                      <a:pt x="3" y="505"/>
                    </a:lnTo>
                    <a:lnTo>
                      <a:pt x="0" y="467"/>
                    </a:lnTo>
                    <a:lnTo>
                      <a:pt x="0" y="431"/>
                    </a:lnTo>
                    <a:lnTo>
                      <a:pt x="3" y="394"/>
                    </a:lnTo>
                    <a:lnTo>
                      <a:pt x="9" y="358"/>
                    </a:lnTo>
                    <a:lnTo>
                      <a:pt x="17" y="322"/>
                    </a:lnTo>
                    <a:lnTo>
                      <a:pt x="29" y="288"/>
                    </a:lnTo>
                    <a:lnTo>
                      <a:pt x="43" y="253"/>
                    </a:lnTo>
                    <a:lnTo>
                      <a:pt x="61" y="220"/>
                    </a:lnTo>
                    <a:lnTo>
                      <a:pt x="81" y="189"/>
                    </a:lnTo>
                    <a:lnTo>
                      <a:pt x="102" y="158"/>
                    </a:lnTo>
                    <a:lnTo>
                      <a:pt x="128" y="130"/>
                    </a:lnTo>
                    <a:lnTo>
                      <a:pt x="155" y="102"/>
                    </a:lnTo>
                    <a:lnTo>
                      <a:pt x="155" y="102"/>
                    </a:lnTo>
                    <a:lnTo>
                      <a:pt x="184" y="79"/>
                    </a:lnTo>
                    <a:lnTo>
                      <a:pt x="214" y="59"/>
                    </a:lnTo>
                    <a:lnTo>
                      <a:pt x="244" y="42"/>
                    </a:lnTo>
                    <a:lnTo>
                      <a:pt x="276" y="28"/>
                    </a:lnTo>
                    <a:lnTo>
                      <a:pt x="308" y="16"/>
                    </a:lnTo>
                    <a:lnTo>
                      <a:pt x="341" y="9"/>
                    </a:lnTo>
                    <a:lnTo>
                      <a:pt x="375" y="3"/>
                    </a:lnTo>
                    <a:lnTo>
                      <a:pt x="408" y="0"/>
                    </a:lnTo>
                    <a:lnTo>
                      <a:pt x="443" y="2"/>
                    </a:lnTo>
                    <a:lnTo>
                      <a:pt x="477" y="5"/>
                    </a:lnTo>
                    <a:lnTo>
                      <a:pt x="512" y="12"/>
                    </a:lnTo>
                    <a:lnTo>
                      <a:pt x="546" y="22"/>
                    </a:lnTo>
                    <a:lnTo>
                      <a:pt x="582" y="35"/>
                    </a:lnTo>
                    <a:lnTo>
                      <a:pt x="617" y="51"/>
                    </a:lnTo>
                    <a:lnTo>
                      <a:pt x="651" y="69"/>
                    </a:lnTo>
                    <a:lnTo>
                      <a:pt x="686" y="91"/>
                    </a:lnTo>
                    <a:lnTo>
                      <a:pt x="643" y="153"/>
                    </a:lnTo>
                    <a:lnTo>
                      <a:pt x="643" y="153"/>
                    </a:lnTo>
                    <a:lnTo>
                      <a:pt x="614" y="134"/>
                    </a:lnTo>
                    <a:lnTo>
                      <a:pt x="585" y="118"/>
                    </a:lnTo>
                    <a:lnTo>
                      <a:pt x="556" y="105"/>
                    </a:lnTo>
                    <a:lnTo>
                      <a:pt x="528" y="95"/>
                    </a:lnTo>
                    <a:lnTo>
                      <a:pt x="499" y="87"/>
                    </a:lnTo>
                    <a:lnTo>
                      <a:pt x="470" y="81"/>
                    </a:lnTo>
                    <a:lnTo>
                      <a:pt x="441" y="78"/>
                    </a:lnTo>
                    <a:lnTo>
                      <a:pt x="413" y="77"/>
                    </a:lnTo>
                    <a:lnTo>
                      <a:pt x="385" y="78"/>
                    </a:lnTo>
                    <a:lnTo>
                      <a:pt x="358" y="82"/>
                    </a:lnTo>
                    <a:lnTo>
                      <a:pt x="331" y="89"/>
                    </a:lnTo>
                    <a:lnTo>
                      <a:pt x="303" y="98"/>
                    </a:lnTo>
                    <a:lnTo>
                      <a:pt x="278" y="110"/>
                    </a:lnTo>
                    <a:lnTo>
                      <a:pt x="253" y="124"/>
                    </a:lnTo>
                    <a:lnTo>
                      <a:pt x="229" y="140"/>
                    </a:lnTo>
                    <a:lnTo>
                      <a:pt x="206" y="160"/>
                    </a:lnTo>
                    <a:lnTo>
                      <a:pt x="206" y="160"/>
                    </a:lnTo>
                    <a:lnTo>
                      <a:pt x="186" y="179"/>
                    </a:lnTo>
                    <a:lnTo>
                      <a:pt x="165" y="200"/>
                    </a:lnTo>
                    <a:lnTo>
                      <a:pt x="148" y="223"/>
                    </a:lnTo>
                    <a:lnTo>
                      <a:pt x="132" y="248"/>
                    </a:lnTo>
                    <a:lnTo>
                      <a:pt x="118" y="273"/>
                    </a:lnTo>
                    <a:lnTo>
                      <a:pt x="105" y="301"/>
                    </a:lnTo>
                    <a:lnTo>
                      <a:pt x="94" y="329"/>
                    </a:lnTo>
                    <a:lnTo>
                      <a:pt x="85" y="358"/>
                    </a:lnTo>
                    <a:lnTo>
                      <a:pt x="79" y="390"/>
                    </a:lnTo>
                    <a:lnTo>
                      <a:pt x="75" y="420"/>
                    </a:lnTo>
                    <a:lnTo>
                      <a:pt x="73" y="452"/>
                    </a:lnTo>
                    <a:lnTo>
                      <a:pt x="76" y="483"/>
                    </a:lnTo>
                    <a:lnTo>
                      <a:pt x="81" y="515"/>
                    </a:lnTo>
                    <a:lnTo>
                      <a:pt x="88" y="546"/>
                    </a:lnTo>
                    <a:lnTo>
                      <a:pt x="99" y="578"/>
                    </a:lnTo>
                    <a:lnTo>
                      <a:pt x="114" y="610"/>
                    </a:lnTo>
                    <a:lnTo>
                      <a:pt x="46" y="64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37" name="Freeform 182">
                <a:extLst>
                  <a:ext uri="{FF2B5EF4-FFF2-40B4-BE49-F238E27FC236}">
                    <a16:creationId xmlns:a16="http://schemas.microsoft.com/office/drawing/2014/main" id="{94B6770D-3C99-4A2B-8C72-BBD599A10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744" y="2215443"/>
                <a:ext cx="276950" cy="279040"/>
              </a:xfrm>
              <a:custGeom>
                <a:avLst/>
                <a:gdLst>
                  <a:gd name="T0" fmla="*/ 0 w 265"/>
                  <a:gd name="T1" fmla="*/ 201 h 267"/>
                  <a:gd name="T2" fmla="*/ 178 w 265"/>
                  <a:gd name="T3" fmla="*/ 178 h 267"/>
                  <a:gd name="T4" fmla="*/ 157 w 265"/>
                  <a:gd name="T5" fmla="*/ 0 h 267"/>
                  <a:gd name="T6" fmla="*/ 242 w 265"/>
                  <a:gd name="T7" fmla="*/ 66 h 267"/>
                  <a:gd name="T8" fmla="*/ 265 w 265"/>
                  <a:gd name="T9" fmla="*/ 246 h 267"/>
                  <a:gd name="T10" fmla="*/ 86 w 265"/>
                  <a:gd name="T11" fmla="*/ 267 h 267"/>
                  <a:gd name="T12" fmla="*/ 0 w 265"/>
                  <a:gd name="T13" fmla="*/ 20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267">
                    <a:moveTo>
                      <a:pt x="0" y="201"/>
                    </a:moveTo>
                    <a:lnTo>
                      <a:pt x="178" y="178"/>
                    </a:lnTo>
                    <a:lnTo>
                      <a:pt x="157" y="0"/>
                    </a:lnTo>
                    <a:lnTo>
                      <a:pt x="242" y="66"/>
                    </a:lnTo>
                    <a:lnTo>
                      <a:pt x="265" y="246"/>
                    </a:lnTo>
                    <a:lnTo>
                      <a:pt x="86" y="267"/>
                    </a:lnTo>
                    <a:lnTo>
                      <a:pt x="0" y="20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895A2126-0A2D-49C1-9920-556B3582A09D}"/>
                </a:ext>
              </a:extLst>
            </p:cNvPr>
            <p:cNvGrpSpPr/>
            <p:nvPr/>
          </p:nvGrpSpPr>
          <p:grpSpPr>
            <a:xfrm rot="11783301" flipH="1" flipV="1">
              <a:off x="7946890" y="4078603"/>
              <a:ext cx="651094" cy="907141"/>
              <a:chOff x="5416272" y="4047493"/>
              <a:chExt cx="651094" cy="907141"/>
            </a:xfrm>
            <a:grpFill/>
          </p:grpSpPr>
          <p:sp>
            <p:nvSpPr>
              <p:cNvPr id="134" name="Freeform 178">
                <a:extLst>
                  <a:ext uri="{FF2B5EF4-FFF2-40B4-BE49-F238E27FC236}">
                    <a16:creationId xmlns:a16="http://schemas.microsoft.com/office/drawing/2014/main" id="{9CF87CD6-4FA2-4F0F-B476-198E2EBA8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1519" y="4047493"/>
                <a:ext cx="575847" cy="790091"/>
              </a:xfrm>
              <a:custGeom>
                <a:avLst/>
                <a:gdLst>
                  <a:gd name="T0" fmla="*/ 413 w 551"/>
                  <a:gd name="T1" fmla="*/ 0 h 756"/>
                  <a:gd name="T2" fmla="*/ 462 w 551"/>
                  <a:gd name="T3" fmla="*/ 55 h 756"/>
                  <a:gd name="T4" fmla="*/ 501 w 551"/>
                  <a:gd name="T5" fmla="*/ 118 h 756"/>
                  <a:gd name="T6" fmla="*/ 530 w 551"/>
                  <a:gd name="T7" fmla="*/ 186 h 756"/>
                  <a:gd name="T8" fmla="*/ 546 w 551"/>
                  <a:gd name="T9" fmla="*/ 257 h 756"/>
                  <a:gd name="T10" fmla="*/ 551 w 551"/>
                  <a:gd name="T11" fmla="*/ 331 h 756"/>
                  <a:gd name="T12" fmla="*/ 544 w 551"/>
                  <a:gd name="T13" fmla="*/ 404 h 756"/>
                  <a:gd name="T14" fmla="*/ 526 w 551"/>
                  <a:gd name="T15" fmla="*/ 477 h 756"/>
                  <a:gd name="T16" fmla="*/ 494 w 551"/>
                  <a:gd name="T17" fmla="*/ 546 h 756"/>
                  <a:gd name="T18" fmla="*/ 475 w 551"/>
                  <a:gd name="T19" fmla="*/ 578 h 756"/>
                  <a:gd name="T20" fmla="*/ 431 w 551"/>
                  <a:gd name="T21" fmla="*/ 634 h 756"/>
                  <a:gd name="T22" fmla="*/ 380 w 551"/>
                  <a:gd name="T23" fmla="*/ 680 h 756"/>
                  <a:gd name="T24" fmla="*/ 322 w 551"/>
                  <a:gd name="T25" fmla="*/ 714 h 756"/>
                  <a:gd name="T26" fmla="*/ 258 w 551"/>
                  <a:gd name="T27" fmla="*/ 740 h 756"/>
                  <a:gd name="T28" fmla="*/ 189 w 551"/>
                  <a:gd name="T29" fmla="*/ 753 h 756"/>
                  <a:gd name="T30" fmla="*/ 116 w 551"/>
                  <a:gd name="T31" fmla="*/ 756 h 756"/>
                  <a:gd name="T32" fmla="*/ 40 w 551"/>
                  <a:gd name="T33" fmla="*/ 746 h 756"/>
                  <a:gd name="T34" fmla="*/ 20 w 551"/>
                  <a:gd name="T35" fmla="*/ 666 h 756"/>
                  <a:gd name="T36" fmla="*/ 51 w 551"/>
                  <a:gd name="T37" fmla="*/ 673 h 756"/>
                  <a:gd name="T38" fmla="*/ 116 w 551"/>
                  <a:gd name="T39" fmla="*/ 680 h 756"/>
                  <a:gd name="T40" fmla="*/ 176 w 551"/>
                  <a:gd name="T41" fmla="*/ 679 h 756"/>
                  <a:gd name="T42" fmla="*/ 234 w 551"/>
                  <a:gd name="T43" fmla="*/ 667 h 756"/>
                  <a:gd name="T44" fmla="*/ 287 w 551"/>
                  <a:gd name="T45" fmla="*/ 648 h 756"/>
                  <a:gd name="T46" fmla="*/ 334 w 551"/>
                  <a:gd name="T47" fmla="*/ 620 h 756"/>
                  <a:gd name="T48" fmla="*/ 376 w 551"/>
                  <a:gd name="T49" fmla="*/ 582 h 756"/>
                  <a:gd name="T50" fmla="*/ 413 w 551"/>
                  <a:gd name="T51" fmla="*/ 536 h 756"/>
                  <a:gd name="T52" fmla="*/ 428 w 551"/>
                  <a:gd name="T53" fmla="*/ 510 h 756"/>
                  <a:gd name="T54" fmla="*/ 452 w 551"/>
                  <a:gd name="T55" fmla="*/ 459 h 756"/>
                  <a:gd name="T56" fmla="*/ 468 w 551"/>
                  <a:gd name="T57" fmla="*/ 403 h 756"/>
                  <a:gd name="T58" fmla="*/ 475 w 551"/>
                  <a:gd name="T59" fmla="*/ 344 h 756"/>
                  <a:gd name="T60" fmla="*/ 474 w 551"/>
                  <a:gd name="T61" fmla="*/ 282 h 756"/>
                  <a:gd name="T62" fmla="*/ 462 w 551"/>
                  <a:gd name="T63" fmla="*/ 222 h 756"/>
                  <a:gd name="T64" fmla="*/ 441 w 551"/>
                  <a:gd name="T65" fmla="*/ 163 h 756"/>
                  <a:gd name="T66" fmla="*/ 408 w 551"/>
                  <a:gd name="T67" fmla="*/ 107 h 756"/>
                  <a:gd name="T68" fmla="*/ 362 w 551"/>
                  <a:gd name="T69" fmla="*/ 55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" h="756">
                    <a:moveTo>
                      <a:pt x="413" y="0"/>
                    </a:moveTo>
                    <a:lnTo>
                      <a:pt x="413" y="0"/>
                    </a:lnTo>
                    <a:lnTo>
                      <a:pt x="439" y="28"/>
                    </a:lnTo>
                    <a:lnTo>
                      <a:pt x="462" y="55"/>
                    </a:lnTo>
                    <a:lnTo>
                      <a:pt x="484" y="86"/>
                    </a:lnTo>
                    <a:lnTo>
                      <a:pt x="501" y="118"/>
                    </a:lnTo>
                    <a:lnTo>
                      <a:pt x="517" y="151"/>
                    </a:lnTo>
                    <a:lnTo>
                      <a:pt x="530" y="186"/>
                    </a:lnTo>
                    <a:lnTo>
                      <a:pt x="539" y="220"/>
                    </a:lnTo>
                    <a:lnTo>
                      <a:pt x="546" y="257"/>
                    </a:lnTo>
                    <a:lnTo>
                      <a:pt x="550" y="293"/>
                    </a:lnTo>
                    <a:lnTo>
                      <a:pt x="551" y="331"/>
                    </a:lnTo>
                    <a:lnTo>
                      <a:pt x="549" y="367"/>
                    </a:lnTo>
                    <a:lnTo>
                      <a:pt x="544" y="404"/>
                    </a:lnTo>
                    <a:lnTo>
                      <a:pt x="536" y="441"/>
                    </a:lnTo>
                    <a:lnTo>
                      <a:pt x="526" y="477"/>
                    </a:lnTo>
                    <a:lnTo>
                      <a:pt x="511" y="512"/>
                    </a:lnTo>
                    <a:lnTo>
                      <a:pt x="494" y="546"/>
                    </a:lnTo>
                    <a:lnTo>
                      <a:pt x="494" y="546"/>
                    </a:lnTo>
                    <a:lnTo>
                      <a:pt x="475" y="578"/>
                    </a:lnTo>
                    <a:lnTo>
                      <a:pt x="454" y="608"/>
                    </a:lnTo>
                    <a:lnTo>
                      <a:pt x="431" y="634"/>
                    </a:lnTo>
                    <a:lnTo>
                      <a:pt x="406" y="658"/>
                    </a:lnTo>
                    <a:lnTo>
                      <a:pt x="380" y="680"/>
                    </a:lnTo>
                    <a:lnTo>
                      <a:pt x="352" y="699"/>
                    </a:lnTo>
                    <a:lnTo>
                      <a:pt x="322" y="714"/>
                    </a:lnTo>
                    <a:lnTo>
                      <a:pt x="291" y="729"/>
                    </a:lnTo>
                    <a:lnTo>
                      <a:pt x="258" y="740"/>
                    </a:lnTo>
                    <a:lnTo>
                      <a:pt x="225" y="748"/>
                    </a:lnTo>
                    <a:lnTo>
                      <a:pt x="189" y="753"/>
                    </a:lnTo>
                    <a:lnTo>
                      <a:pt x="153" y="756"/>
                    </a:lnTo>
                    <a:lnTo>
                      <a:pt x="116" y="756"/>
                    </a:lnTo>
                    <a:lnTo>
                      <a:pt x="79" y="752"/>
                    </a:lnTo>
                    <a:lnTo>
                      <a:pt x="40" y="746"/>
                    </a:lnTo>
                    <a:lnTo>
                      <a:pt x="0" y="737"/>
                    </a:lnTo>
                    <a:lnTo>
                      <a:pt x="20" y="666"/>
                    </a:lnTo>
                    <a:lnTo>
                      <a:pt x="20" y="666"/>
                    </a:lnTo>
                    <a:lnTo>
                      <a:pt x="51" y="673"/>
                    </a:lnTo>
                    <a:lnTo>
                      <a:pt x="84" y="677"/>
                    </a:lnTo>
                    <a:lnTo>
                      <a:pt x="116" y="680"/>
                    </a:lnTo>
                    <a:lnTo>
                      <a:pt x="146" y="680"/>
                    </a:lnTo>
                    <a:lnTo>
                      <a:pt x="176" y="679"/>
                    </a:lnTo>
                    <a:lnTo>
                      <a:pt x="207" y="674"/>
                    </a:lnTo>
                    <a:lnTo>
                      <a:pt x="234" y="667"/>
                    </a:lnTo>
                    <a:lnTo>
                      <a:pt x="261" y="658"/>
                    </a:lnTo>
                    <a:lnTo>
                      <a:pt x="287" y="648"/>
                    </a:lnTo>
                    <a:lnTo>
                      <a:pt x="311" y="634"/>
                    </a:lnTo>
                    <a:lnTo>
                      <a:pt x="334" y="620"/>
                    </a:lnTo>
                    <a:lnTo>
                      <a:pt x="356" y="602"/>
                    </a:lnTo>
                    <a:lnTo>
                      <a:pt x="376" y="582"/>
                    </a:lnTo>
                    <a:lnTo>
                      <a:pt x="395" y="561"/>
                    </a:lnTo>
                    <a:lnTo>
                      <a:pt x="413" y="536"/>
                    </a:lnTo>
                    <a:lnTo>
                      <a:pt x="428" y="510"/>
                    </a:lnTo>
                    <a:lnTo>
                      <a:pt x="428" y="510"/>
                    </a:lnTo>
                    <a:lnTo>
                      <a:pt x="441" y="486"/>
                    </a:lnTo>
                    <a:lnTo>
                      <a:pt x="452" y="459"/>
                    </a:lnTo>
                    <a:lnTo>
                      <a:pt x="461" y="431"/>
                    </a:lnTo>
                    <a:lnTo>
                      <a:pt x="468" y="403"/>
                    </a:lnTo>
                    <a:lnTo>
                      <a:pt x="472" y="374"/>
                    </a:lnTo>
                    <a:lnTo>
                      <a:pt x="475" y="344"/>
                    </a:lnTo>
                    <a:lnTo>
                      <a:pt x="475" y="314"/>
                    </a:lnTo>
                    <a:lnTo>
                      <a:pt x="474" y="282"/>
                    </a:lnTo>
                    <a:lnTo>
                      <a:pt x="470" y="252"/>
                    </a:lnTo>
                    <a:lnTo>
                      <a:pt x="462" y="222"/>
                    </a:lnTo>
                    <a:lnTo>
                      <a:pt x="452" y="191"/>
                    </a:lnTo>
                    <a:lnTo>
                      <a:pt x="441" y="163"/>
                    </a:lnTo>
                    <a:lnTo>
                      <a:pt x="425" y="134"/>
                    </a:lnTo>
                    <a:lnTo>
                      <a:pt x="408" y="107"/>
                    </a:lnTo>
                    <a:lnTo>
                      <a:pt x="386" y="81"/>
                    </a:lnTo>
                    <a:lnTo>
                      <a:pt x="362" y="55"/>
                    </a:lnTo>
                    <a:lnTo>
                      <a:pt x="41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35" name="Freeform 179">
                <a:extLst>
                  <a:ext uri="{FF2B5EF4-FFF2-40B4-BE49-F238E27FC236}">
                    <a16:creationId xmlns:a16="http://schemas.microsoft.com/office/drawing/2014/main" id="{44C6BF18-B1BC-40E4-9868-FE00FB6A8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272" y="4666188"/>
                <a:ext cx="274860" cy="288446"/>
              </a:xfrm>
              <a:custGeom>
                <a:avLst/>
                <a:gdLst>
                  <a:gd name="T0" fmla="*/ 263 w 263"/>
                  <a:gd name="T1" fmla="*/ 35 h 276"/>
                  <a:gd name="T2" fmla="*/ 103 w 263"/>
                  <a:gd name="T3" fmla="*/ 115 h 276"/>
                  <a:gd name="T4" fmla="*/ 184 w 263"/>
                  <a:gd name="T5" fmla="*/ 276 h 276"/>
                  <a:gd name="T6" fmla="*/ 82 w 263"/>
                  <a:gd name="T7" fmla="*/ 242 h 276"/>
                  <a:gd name="T8" fmla="*/ 0 w 263"/>
                  <a:gd name="T9" fmla="*/ 82 h 276"/>
                  <a:gd name="T10" fmla="*/ 161 w 263"/>
                  <a:gd name="T11" fmla="*/ 0 h 276"/>
                  <a:gd name="T12" fmla="*/ 263 w 263"/>
                  <a:gd name="T13" fmla="*/ 35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3" h="276">
                    <a:moveTo>
                      <a:pt x="263" y="35"/>
                    </a:moveTo>
                    <a:lnTo>
                      <a:pt x="103" y="115"/>
                    </a:lnTo>
                    <a:lnTo>
                      <a:pt x="184" y="276"/>
                    </a:lnTo>
                    <a:lnTo>
                      <a:pt x="82" y="242"/>
                    </a:lnTo>
                    <a:lnTo>
                      <a:pt x="0" y="82"/>
                    </a:lnTo>
                    <a:lnTo>
                      <a:pt x="161" y="0"/>
                    </a:lnTo>
                    <a:lnTo>
                      <a:pt x="263" y="35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1D366B51-CAFE-4950-9A2C-9E46BCE851B9}"/>
              </a:ext>
            </a:extLst>
          </p:cNvPr>
          <p:cNvGrpSpPr/>
          <p:nvPr/>
        </p:nvGrpSpPr>
        <p:grpSpPr>
          <a:xfrm>
            <a:off x="8057298" y="4597128"/>
            <a:ext cx="343906" cy="438206"/>
            <a:chOff x="7718934" y="3865658"/>
            <a:chExt cx="879050" cy="1120086"/>
          </a:xfrm>
          <a:solidFill>
            <a:schemeClr val="bg1">
              <a:lumMod val="75000"/>
            </a:schemeClr>
          </a:solidFill>
        </p:grpSpPr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40D5BFF7-4ED9-4FD4-A14B-4D1C5A068EC8}"/>
                </a:ext>
              </a:extLst>
            </p:cNvPr>
            <p:cNvGrpSpPr/>
            <p:nvPr/>
          </p:nvGrpSpPr>
          <p:grpSpPr>
            <a:xfrm>
              <a:off x="7718934" y="3865658"/>
              <a:ext cx="765009" cy="746197"/>
              <a:chOff x="3826685" y="2215443"/>
              <a:chExt cx="765009" cy="746197"/>
            </a:xfrm>
            <a:grpFill/>
          </p:grpSpPr>
          <p:sp>
            <p:nvSpPr>
              <p:cNvPr id="143" name="Freeform 181">
                <a:extLst>
                  <a:ext uri="{FF2B5EF4-FFF2-40B4-BE49-F238E27FC236}">
                    <a16:creationId xmlns:a16="http://schemas.microsoft.com/office/drawing/2014/main" id="{7064DE8A-D579-45FE-A83F-2CD4855A5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685" y="2288600"/>
                <a:ext cx="716935" cy="673040"/>
              </a:xfrm>
              <a:custGeom>
                <a:avLst/>
                <a:gdLst>
                  <a:gd name="T0" fmla="*/ 46 w 686"/>
                  <a:gd name="T1" fmla="*/ 644 h 644"/>
                  <a:gd name="T2" fmla="*/ 19 w 686"/>
                  <a:gd name="T3" fmla="*/ 577 h 644"/>
                  <a:gd name="T4" fmla="*/ 3 w 686"/>
                  <a:gd name="T5" fmla="*/ 505 h 644"/>
                  <a:gd name="T6" fmla="*/ 0 w 686"/>
                  <a:gd name="T7" fmla="*/ 431 h 644"/>
                  <a:gd name="T8" fmla="*/ 9 w 686"/>
                  <a:gd name="T9" fmla="*/ 358 h 644"/>
                  <a:gd name="T10" fmla="*/ 29 w 686"/>
                  <a:gd name="T11" fmla="*/ 288 h 644"/>
                  <a:gd name="T12" fmla="*/ 61 w 686"/>
                  <a:gd name="T13" fmla="*/ 220 h 644"/>
                  <a:gd name="T14" fmla="*/ 102 w 686"/>
                  <a:gd name="T15" fmla="*/ 158 h 644"/>
                  <a:gd name="T16" fmla="*/ 155 w 686"/>
                  <a:gd name="T17" fmla="*/ 102 h 644"/>
                  <a:gd name="T18" fmla="*/ 184 w 686"/>
                  <a:gd name="T19" fmla="*/ 79 h 644"/>
                  <a:gd name="T20" fmla="*/ 244 w 686"/>
                  <a:gd name="T21" fmla="*/ 42 h 644"/>
                  <a:gd name="T22" fmla="*/ 308 w 686"/>
                  <a:gd name="T23" fmla="*/ 16 h 644"/>
                  <a:gd name="T24" fmla="*/ 375 w 686"/>
                  <a:gd name="T25" fmla="*/ 3 h 644"/>
                  <a:gd name="T26" fmla="*/ 443 w 686"/>
                  <a:gd name="T27" fmla="*/ 2 h 644"/>
                  <a:gd name="T28" fmla="*/ 512 w 686"/>
                  <a:gd name="T29" fmla="*/ 12 h 644"/>
                  <a:gd name="T30" fmla="*/ 582 w 686"/>
                  <a:gd name="T31" fmla="*/ 35 h 644"/>
                  <a:gd name="T32" fmla="*/ 651 w 686"/>
                  <a:gd name="T33" fmla="*/ 69 h 644"/>
                  <a:gd name="T34" fmla="*/ 643 w 686"/>
                  <a:gd name="T35" fmla="*/ 153 h 644"/>
                  <a:gd name="T36" fmla="*/ 614 w 686"/>
                  <a:gd name="T37" fmla="*/ 134 h 644"/>
                  <a:gd name="T38" fmla="*/ 556 w 686"/>
                  <a:gd name="T39" fmla="*/ 105 h 644"/>
                  <a:gd name="T40" fmla="*/ 499 w 686"/>
                  <a:gd name="T41" fmla="*/ 87 h 644"/>
                  <a:gd name="T42" fmla="*/ 441 w 686"/>
                  <a:gd name="T43" fmla="*/ 78 h 644"/>
                  <a:gd name="T44" fmla="*/ 385 w 686"/>
                  <a:gd name="T45" fmla="*/ 78 h 644"/>
                  <a:gd name="T46" fmla="*/ 331 w 686"/>
                  <a:gd name="T47" fmla="*/ 89 h 644"/>
                  <a:gd name="T48" fmla="*/ 278 w 686"/>
                  <a:gd name="T49" fmla="*/ 110 h 644"/>
                  <a:gd name="T50" fmla="*/ 229 w 686"/>
                  <a:gd name="T51" fmla="*/ 140 h 644"/>
                  <a:gd name="T52" fmla="*/ 206 w 686"/>
                  <a:gd name="T53" fmla="*/ 160 h 644"/>
                  <a:gd name="T54" fmla="*/ 165 w 686"/>
                  <a:gd name="T55" fmla="*/ 200 h 644"/>
                  <a:gd name="T56" fmla="*/ 132 w 686"/>
                  <a:gd name="T57" fmla="*/ 248 h 644"/>
                  <a:gd name="T58" fmla="*/ 105 w 686"/>
                  <a:gd name="T59" fmla="*/ 301 h 644"/>
                  <a:gd name="T60" fmla="*/ 85 w 686"/>
                  <a:gd name="T61" fmla="*/ 358 h 644"/>
                  <a:gd name="T62" fmla="*/ 75 w 686"/>
                  <a:gd name="T63" fmla="*/ 420 h 644"/>
                  <a:gd name="T64" fmla="*/ 76 w 686"/>
                  <a:gd name="T65" fmla="*/ 483 h 644"/>
                  <a:gd name="T66" fmla="*/ 88 w 686"/>
                  <a:gd name="T67" fmla="*/ 546 h 644"/>
                  <a:gd name="T68" fmla="*/ 114 w 686"/>
                  <a:gd name="T69" fmla="*/ 61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86" h="644">
                    <a:moveTo>
                      <a:pt x="46" y="644"/>
                    </a:moveTo>
                    <a:lnTo>
                      <a:pt x="46" y="644"/>
                    </a:lnTo>
                    <a:lnTo>
                      <a:pt x="30" y="611"/>
                    </a:lnTo>
                    <a:lnTo>
                      <a:pt x="19" y="577"/>
                    </a:lnTo>
                    <a:lnTo>
                      <a:pt x="9" y="541"/>
                    </a:lnTo>
                    <a:lnTo>
                      <a:pt x="3" y="505"/>
                    </a:lnTo>
                    <a:lnTo>
                      <a:pt x="0" y="467"/>
                    </a:lnTo>
                    <a:lnTo>
                      <a:pt x="0" y="431"/>
                    </a:lnTo>
                    <a:lnTo>
                      <a:pt x="3" y="394"/>
                    </a:lnTo>
                    <a:lnTo>
                      <a:pt x="9" y="358"/>
                    </a:lnTo>
                    <a:lnTo>
                      <a:pt x="17" y="322"/>
                    </a:lnTo>
                    <a:lnTo>
                      <a:pt x="29" y="288"/>
                    </a:lnTo>
                    <a:lnTo>
                      <a:pt x="43" y="253"/>
                    </a:lnTo>
                    <a:lnTo>
                      <a:pt x="61" y="220"/>
                    </a:lnTo>
                    <a:lnTo>
                      <a:pt x="81" y="189"/>
                    </a:lnTo>
                    <a:lnTo>
                      <a:pt x="102" y="158"/>
                    </a:lnTo>
                    <a:lnTo>
                      <a:pt x="128" y="130"/>
                    </a:lnTo>
                    <a:lnTo>
                      <a:pt x="155" y="102"/>
                    </a:lnTo>
                    <a:lnTo>
                      <a:pt x="155" y="102"/>
                    </a:lnTo>
                    <a:lnTo>
                      <a:pt x="184" y="79"/>
                    </a:lnTo>
                    <a:lnTo>
                      <a:pt x="214" y="59"/>
                    </a:lnTo>
                    <a:lnTo>
                      <a:pt x="244" y="42"/>
                    </a:lnTo>
                    <a:lnTo>
                      <a:pt x="276" y="28"/>
                    </a:lnTo>
                    <a:lnTo>
                      <a:pt x="308" y="16"/>
                    </a:lnTo>
                    <a:lnTo>
                      <a:pt x="341" y="9"/>
                    </a:lnTo>
                    <a:lnTo>
                      <a:pt x="375" y="3"/>
                    </a:lnTo>
                    <a:lnTo>
                      <a:pt x="408" y="0"/>
                    </a:lnTo>
                    <a:lnTo>
                      <a:pt x="443" y="2"/>
                    </a:lnTo>
                    <a:lnTo>
                      <a:pt x="477" y="5"/>
                    </a:lnTo>
                    <a:lnTo>
                      <a:pt x="512" y="12"/>
                    </a:lnTo>
                    <a:lnTo>
                      <a:pt x="546" y="22"/>
                    </a:lnTo>
                    <a:lnTo>
                      <a:pt x="582" y="35"/>
                    </a:lnTo>
                    <a:lnTo>
                      <a:pt x="617" y="51"/>
                    </a:lnTo>
                    <a:lnTo>
                      <a:pt x="651" y="69"/>
                    </a:lnTo>
                    <a:lnTo>
                      <a:pt x="686" y="91"/>
                    </a:lnTo>
                    <a:lnTo>
                      <a:pt x="643" y="153"/>
                    </a:lnTo>
                    <a:lnTo>
                      <a:pt x="643" y="153"/>
                    </a:lnTo>
                    <a:lnTo>
                      <a:pt x="614" y="134"/>
                    </a:lnTo>
                    <a:lnTo>
                      <a:pt x="585" y="118"/>
                    </a:lnTo>
                    <a:lnTo>
                      <a:pt x="556" y="105"/>
                    </a:lnTo>
                    <a:lnTo>
                      <a:pt x="528" y="95"/>
                    </a:lnTo>
                    <a:lnTo>
                      <a:pt x="499" y="87"/>
                    </a:lnTo>
                    <a:lnTo>
                      <a:pt x="470" y="81"/>
                    </a:lnTo>
                    <a:lnTo>
                      <a:pt x="441" y="78"/>
                    </a:lnTo>
                    <a:lnTo>
                      <a:pt x="413" y="77"/>
                    </a:lnTo>
                    <a:lnTo>
                      <a:pt x="385" y="78"/>
                    </a:lnTo>
                    <a:lnTo>
                      <a:pt x="358" y="82"/>
                    </a:lnTo>
                    <a:lnTo>
                      <a:pt x="331" y="89"/>
                    </a:lnTo>
                    <a:lnTo>
                      <a:pt x="303" y="98"/>
                    </a:lnTo>
                    <a:lnTo>
                      <a:pt x="278" y="110"/>
                    </a:lnTo>
                    <a:lnTo>
                      <a:pt x="253" y="124"/>
                    </a:lnTo>
                    <a:lnTo>
                      <a:pt x="229" y="140"/>
                    </a:lnTo>
                    <a:lnTo>
                      <a:pt x="206" y="160"/>
                    </a:lnTo>
                    <a:lnTo>
                      <a:pt x="206" y="160"/>
                    </a:lnTo>
                    <a:lnTo>
                      <a:pt x="186" y="179"/>
                    </a:lnTo>
                    <a:lnTo>
                      <a:pt x="165" y="200"/>
                    </a:lnTo>
                    <a:lnTo>
                      <a:pt x="148" y="223"/>
                    </a:lnTo>
                    <a:lnTo>
                      <a:pt x="132" y="248"/>
                    </a:lnTo>
                    <a:lnTo>
                      <a:pt x="118" y="273"/>
                    </a:lnTo>
                    <a:lnTo>
                      <a:pt x="105" y="301"/>
                    </a:lnTo>
                    <a:lnTo>
                      <a:pt x="94" y="329"/>
                    </a:lnTo>
                    <a:lnTo>
                      <a:pt x="85" y="358"/>
                    </a:lnTo>
                    <a:lnTo>
                      <a:pt x="79" y="390"/>
                    </a:lnTo>
                    <a:lnTo>
                      <a:pt x="75" y="420"/>
                    </a:lnTo>
                    <a:lnTo>
                      <a:pt x="73" y="452"/>
                    </a:lnTo>
                    <a:lnTo>
                      <a:pt x="76" y="483"/>
                    </a:lnTo>
                    <a:lnTo>
                      <a:pt x="81" y="515"/>
                    </a:lnTo>
                    <a:lnTo>
                      <a:pt x="88" y="546"/>
                    </a:lnTo>
                    <a:lnTo>
                      <a:pt x="99" y="578"/>
                    </a:lnTo>
                    <a:lnTo>
                      <a:pt x="114" y="610"/>
                    </a:lnTo>
                    <a:lnTo>
                      <a:pt x="46" y="64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44" name="Freeform 182">
                <a:extLst>
                  <a:ext uri="{FF2B5EF4-FFF2-40B4-BE49-F238E27FC236}">
                    <a16:creationId xmlns:a16="http://schemas.microsoft.com/office/drawing/2014/main" id="{B493C12D-2F31-424E-BE5D-F1C369D29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744" y="2215443"/>
                <a:ext cx="276950" cy="279040"/>
              </a:xfrm>
              <a:custGeom>
                <a:avLst/>
                <a:gdLst>
                  <a:gd name="T0" fmla="*/ 0 w 265"/>
                  <a:gd name="T1" fmla="*/ 201 h 267"/>
                  <a:gd name="T2" fmla="*/ 178 w 265"/>
                  <a:gd name="T3" fmla="*/ 178 h 267"/>
                  <a:gd name="T4" fmla="*/ 157 w 265"/>
                  <a:gd name="T5" fmla="*/ 0 h 267"/>
                  <a:gd name="T6" fmla="*/ 242 w 265"/>
                  <a:gd name="T7" fmla="*/ 66 h 267"/>
                  <a:gd name="T8" fmla="*/ 265 w 265"/>
                  <a:gd name="T9" fmla="*/ 246 h 267"/>
                  <a:gd name="T10" fmla="*/ 86 w 265"/>
                  <a:gd name="T11" fmla="*/ 267 h 267"/>
                  <a:gd name="T12" fmla="*/ 0 w 265"/>
                  <a:gd name="T13" fmla="*/ 20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267">
                    <a:moveTo>
                      <a:pt x="0" y="201"/>
                    </a:moveTo>
                    <a:lnTo>
                      <a:pt x="178" y="178"/>
                    </a:lnTo>
                    <a:lnTo>
                      <a:pt x="157" y="0"/>
                    </a:lnTo>
                    <a:lnTo>
                      <a:pt x="242" y="66"/>
                    </a:lnTo>
                    <a:lnTo>
                      <a:pt x="265" y="246"/>
                    </a:lnTo>
                    <a:lnTo>
                      <a:pt x="86" y="267"/>
                    </a:lnTo>
                    <a:lnTo>
                      <a:pt x="0" y="20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306C4FDF-CE70-4E26-8180-CD02646663D0}"/>
                </a:ext>
              </a:extLst>
            </p:cNvPr>
            <p:cNvGrpSpPr/>
            <p:nvPr/>
          </p:nvGrpSpPr>
          <p:grpSpPr>
            <a:xfrm rot="11783301" flipH="1" flipV="1">
              <a:off x="7946890" y="4078603"/>
              <a:ext cx="651094" cy="907141"/>
              <a:chOff x="5416272" y="4047493"/>
              <a:chExt cx="651094" cy="907141"/>
            </a:xfrm>
            <a:grpFill/>
          </p:grpSpPr>
          <p:sp>
            <p:nvSpPr>
              <p:cNvPr id="141" name="Freeform 178">
                <a:extLst>
                  <a:ext uri="{FF2B5EF4-FFF2-40B4-BE49-F238E27FC236}">
                    <a16:creationId xmlns:a16="http://schemas.microsoft.com/office/drawing/2014/main" id="{4C414F29-C29C-4462-A919-7E95A12C3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1519" y="4047493"/>
                <a:ext cx="575847" cy="790091"/>
              </a:xfrm>
              <a:custGeom>
                <a:avLst/>
                <a:gdLst>
                  <a:gd name="T0" fmla="*/ 413 w 551"/>
                  <a:gd name="T1" fmla="*/ 0 h 756"/>
                  <a:gd name="T2" fmla="*/ 462 w 551"/>
                  <a:gd name="T3" fmla="*/ 55 h 756"/>
                  <a:gd name="T4" fmla="*/ 501 w 551"/>
                  <a:gd name="T5" fmla="*/ 118 h 756"/>
                  <a:gd name="T6" fmla="*/ 530 w 551"/>
                  <a:gd name="T7" fmla="*/ 186 h 756"/>
                  <a:gd name="T8" fmla="*/ 546 w 551"/>
                  <a:gd name="T9" fmla="*/ 257 h 756"/>
                  <a:gd name="T10" fmla="*/ 551 w 551"/>
                  <a:gd name="T11" fmla="*/ 331 h 756"/>
                  <a:gd name="T12" fmla="*/ 544 w 551"/>
                  <a:gd name="T13" fmla="*/ 404 h 756"/>
                  <a:gd name="T14" fmla="*/ 526 w 551"/>
                  <a:gd name="T15" fmla="*/ 477 h 756"/>
                  <a:gd name="T16" fmla="*/ 494 w 551"/>
                  <a:gd name="T17" fmla="*/ 546 h 756"/>
                  <a:gd name="T18" fmla="*/ 475 w 551"/>
                  <a:gd name="T19" fmla="*/ 578 h 756"/>
                  <a:gd name="T20" fmla="*/ 431 w 551"/>
                  <a:gd name="T21" fmla="*/ 634 h 756"/>
                  <a:gd name="T22" fmla="*/ 380 w 551"/>
                  <a:gd name="T23" fmla="*/ 680 h 756"/>
                  <a:gd name="T24" fmla="*/ 322 w 551"/>
                  <a:gd name="T25" fmla="*/ 714 h 756"/>
                  <a:gd name="T26" fmla="*/ 258 w 551"/>
                  <a:gd name="T27" fmla="*/ 740 h 756"/>
                  <a:gd name="T28" fmla="*/ 189 w 551"/>
                  <a:gd name="T29" fmla="*/ 753 h 756"/>
                  <a:gd name="T30" fmla="*/ 116 w 551"/>
                  <a:gd name="T31" fmla="*/ 756 h 756"/>
                  <a:gd name="T32" fmla="*/ 40 w 551"/>
                  <a:gd name="T33" fmla="*/ 746 h 756"/>
                  <a:gd name="T34" fmla="*/ 20 w 551"/>
                  <a:gd name="T35" fmla="*/ 666 h 756"/>
                  <a:gd name="T36" fmla="*/ 51 w 551"/>
                  <a:gd name="T37" fmla="*/ 673 h 756"/>
                  <a:gd name="T38" fmla="*/ 116 w 551"/>
                  <a:gd name="T39" fmla="*/ 680 h 756"/>
                  <a:gd name="T40" fmla="*/ 176 w 551"/>
                  <a:gd name="T41" fmla="*/ 679 h 756"/>
                  <a:gd name="T42" fmla="*/ 234 w 551"/>
                  <a:gd name="T43" fmla="*/ 667 h 756"/>
                  <a:gd name="T44" fmla="*/ 287 w 551"/>
                  <a:gd name="T45" fmla="*/ 648 h 756"/>
                  <a:gd name="T46" fmla="*/ 334 w 551"/>
                  <a:gd name="T47" fmla="*/ 620 h 756"/>
                  <a:gd name="T48" fmla="*/ 376 w 551"/>
                  <a:gd name="T49" fmla="*/ 582 h 756"/>
                  <a:gd name="T50" fmla="*/ 413 w 551"/>
                  <a:gd name="T51" fmla="*/ 536 h 756"/>
                  <a:gd name="T52" fmla="*/ 428 w 551"/>
                  <a:gd name="T53" fmla="*/ 510 h 756"/>
                  <a:gd name="T54" fmla="*/ 452 w 551"/>
                  <a:gd name="T55" fmla="*/ 459 h 756"/>
                  <a:gd name="T56" fmla="*/ 468 w 551"/>
                  <a:gd name="T57" fmla="*/ 403 h 756"/>
                  <a:gd name="T58" fmla="*/ 475 w 551"/>
                  <a:gd name="T59" fmla="*/ 344 h 756"/>
                  <a:gd name="T60" fmla="*/ 474 w 551"/>
                  <a:gd name="T61" fmla="*/ 282 h 756"/>
                  <a:gd name="T62" fmla="*/ 462 w 551"/>
                  <a:gd name="T63" fmla="*/ 222 h 756"/>
                  <a:gd name="T64" fmla="*/ 441 w 551"/>
                  <a:gd name="T65" fmla="*/ 163 h 756"/>
                  <a:gd name="T66" fmla="*/ 408 w 551"/>
                  <a:gd name="T67" fmla="*/ 107 h 756"/>
                  <a:gd name="T68" fmla="*/ 362 w 551"/>
                  <a:gd name="T69" fmla="*/ 55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" h="756">
                    <a:moveTo>
                      <a:pt x="413" y="0"/>
                    </a:moveTo>
                    <a:lnTo>
                      <a:pt x="413" y="0"/>
                    </a:lnTo>
                    <a:lnTo>
                      <a:pt x="439" y="28"/>
                    </a:lnTo>
                    <a:lnTo>
                      <a:pt x="462" y="55"/>
                    </a:lnTo>
                    <a:lnTo>
                      <a:pt x="484" y="86"/>
                    </a:lnTo>
                    <a:lnTo>
                      <a:pt x="501" y="118"/>
                    </a:lnTo>
                    <a:lnTo>
                      <a:pt x="517" y="151"/>
                    </a:lnTo>
                    <a:lnTo>
                      <a:pt x="530" y="186"/>
                    </a:lnTo>
                    <a:lnTo>
                      <a:pt x="539" y="220"/>
                    </a:lnTo>
                    <a:lnTo>
                      <a:pt x="546" y="257"/>
                    </a:lnTo>
                    <a:lnTo>
                      <a:pt x="550" y="293"/>
                    </a:lnTo>
                    <a:lnTo>
                      <a:pt x="551" y="331"/>
                    </a:lnTo>
                    <a:lnTo>
                      <a:pt x="549" y="367"/>
                    </a:lnTo>
                    <a:lnTo>
                      <a:pt x="544" y="404"/>
                    </a:lnTo>
                    <a:lnTo>
                      <a:pt x="536" y="441"/>
                    </a:lnTo>
                    <a:lnTo>
                      <a:pt x="526" y="477"/>
                    </a:lnTo>
                    <a:lnTo>
                      <a:pt x="511" y="512"/>
                    </a:lnTo>
                    <a:lnTo>
                      <a:pt x="494" y="546"/>
                    </a:lnTo>
                    <a:lnTo>
                      <a:pt x="494" y="546"/>
                    </a:lnTo>
                    <a:lnTo>
                      <a:pt x="475" y="578"/>
                    </a:lnTo>
                    <a:lnTo>
                      <a:pt x="454" y="608"/>
                    </a:lnTo>
                    <a:lnTo>
                      <a:pt x="431" y="634"/>
                    </a:lnTo>
                    <a:lnTo>
                      <a:pt x="406" y="658"/>
                    </a:lnTo>
                    <a:lnTo>
                      <a:pt x="380" y="680"/>
                    </a:lnTo>
                    <a:lnTo>
                      <a:pt x="352" y="699"/>
                    </a:lnTo>
                    <a:lnTo>
                      <a:pt x="322" y="714"/>
                    </a:lnTo>
                    <a:lnTo>
                      <a:pt x="291" y="729"/>
                    </a:lnTo>
                    <a:lnTo>
                      <a:pt x="258" y="740"/>
                    </a:lnTo>
                    <a:lnTo>
                      <a:pt x="225" y="748"/>
                    </a:lnTo>
                    <a:lnTo>
                      <a:pt x="189" y="753"/>
                    </a:lnTo>
                    <a:lnTo>
                      <a:pt x="153" y="756"/>
                    </a:lnTo>
                    <a:lnTo>
                      <a:pt x="116" y="756"/>
                    </a:lnTo>
                    <a:lnTo>
                      <a:pt x="79" y="752"/>
                    </a:lnTo>
                    <a:lnTo>
                      <a:pt x="40" y="746"/>
                    </a:lnTo>
                    <a:lnTo>
                      <a:pt x="0" y="737"/>
                    </a:lnTo>
                    <a:lnTo>
                      <a:pt x="20" y="666"/>
                    </a:lnTo>
                    <a:lnTo>
                      <a:pt x="20" y="666"/>
                    </a:lnTo>
                    <a:lnTo>
                      <a:pt x="51" y="673"/>
                    </a:lnTo>
                    <a:lnTo>
                      <a:pt x="84" y="677"/>
                    </a:lnTo>
                    <a:lnTo>
                      <a:pt x="116" y="680"/>
                    </a:lnTo>
                    <a:lnTo>
                      <a:pt x="146" y="680"/>
                    </a:lnTo>
                    <a:lnTo>
                      <a:pt x="176" y="679"/>
                    </a:lnTo>
                    <a:lnTo>
                      <a:pt x="207" y="674"/>
                    </a:lnTo>
                    <a:lnTo>
                      <a:pt x="234" y="667"/>
                    </a:lnTo>
                    <a:lnTo>
                      <a:pt x="261" y="658"/>
                    </a:lnTo>
                    <a:lnTo>
                      <a:pt x="287" y="648"/>
                    </a:lnTo>
                    <a:lnTo>
                      <a:pt x="311" y="634"/>
                    </a:lnTo>
                    <a:lnTo>
                      <a:pt x="334" y="620"/>
                    </a:lnTo>
                    <a:lnTo>
                      <a:pt x="356" y="602"/>
                    </a:lnTo>
                    <a:lnTo>
                      <a:pt x="376" y="582"/>
                    </a:lnTo>
                    <a:lnTo>
                      <a:pt x="395" y="561"/>
                    </a:lnTo>
                    <a:lnTo>
                      <a:pt x="413" y="536"/>
                    </a:lnTo>
                    <a:lnTo>
                      <a:pt x="428" y="510"/>
                    </a:lnTo>
                    <a:lnTo>
                      <a:pt x="428" y="510"/>
                    </a:lnTo>
                    <a:lnTo>
                      <a:pt x="441" y="486"/>
                    </a:lnTo>
                    <a:lnTo>
                      <a:pt x="452" y="459"/>
                    </a:lnTo>
                    <a:lnTo>
                      <a:pt x="461" y="431"/>
                    </a:lnTo>
                    <a:lnTo>
                      <a:pt x="468" y="403"/>
                    </a:lnTo>
                    <a:lnTo>
                      <a:pt x="472" y="374"/>
                    </a:lnTo>
                    <a:lnTo>
                      <a:pt x="475" y="344"/>
                    </a:lnTo>
                    <a:lnTo>
                      <a:pt x="475" y="314"/>
                    </a:lnTo>
                    <a:lnTo>
                      <a:pt x="474" y="282"/>
                    </a:lnTo>
                    <a:lnTo>
                      <a:pt x="470" y="252"/>
                    </a:lnTo>
                    <a:lnTo>
                      <a:pt x="462" y="222"/>
                    </a:lnTo>
                    <a:lnTo>
                      <a:pt x="452" y="191"/>
                    </a:lnTo>
                    <a:lnTo>
                      <a:pt x="441" y="163"/>
                    </a:lnTo>
                    <a:lnTo>
                      <a:pt x="425" y="134"/>
                    </a:lnTo>
                    <a:lnTo>
                      <a:pt x="408" y="107"/>
                    </a:lnTo>
                    <a:lnTo>
                      <a:pt x="386" y="81"/>
                    </a:lnTo>
                    <a:lnTo>
                      <a:pt x="362" y="55"/>
                    </a:lnTo>
                    <a:lnTo>
                      <a:pt x="41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  <p:sp>
            <p:nvSpPr>
              <p:cNvPr id="142" name="Freeform 179">
                <a:extLst>
                  <a:ext uri="{FF2B5EF4-FFF2-40B4-BE49-F238E27FC236}">
                    <a16:creationId xmlns:a16="http://schemas.microsoft.com/office/drawing/2014/main" id="{95A0FB54-1309-4CB0-BAAD-6E333FD4D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272" y="4666188"/>
                <a:ext cx="274860" cy="288446"/>
              </a:xfrm>
              <a:custGeom>
                <a:avLst/>
                <a:gdLst>
                  <a:gd name="T0" fmla="*/ 263 w 263"/>
                  <a:gd name="T1" fmla="*/ 35 h 276"/>
                  <a:gd name="T2" fmla="*/ 103 w 263"/>
                  <a:gd name="T3" fmla="*/ 115 h 276"/>
                  <a:gd name="T4" fmla="*/ 184 w 263"/>
                  <a:gd name="T5" fmla="*/ 276 h 276"/>
                  <a:gd name="T6" fmla="*/ 82 w 263"/>
                  <a:gd name="T7" fmla="*/ 242 h 276"/>
                  <a:gd name="T8" fmla="*/ 0 w 263"/>
                  <a:gd name="T9" fmla="*/ 82 h 276"/>
                  <a:gd name="T10" fmla="*/ 161 w 263"/>
                  <a:gd name="T11" fmla="*/ 0 h 276"/>
                  <a:gd name="T12" fmla="*/ 263 w 263"/>
                  <a:gd name="T13" fmla="*/ 35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3" h="276">
                    <a:moveTo>
                      <a:pt x="263" y="35"/>
                    </a:moveTo>
                    <a:lnTo>
                      <a:pt x="103" y="115"/>
                    </a:lnTo>
                    <a:lnTo>
                      <a:pt x="184" y="276"/>
                    </a:lnTo>
                    <a:lnTo>
                      <a:pt x="82" y="242"/>
                    </a:lnTo>
                    <a:lnTo>
                      <a:pt x="0" y="82"/>
                    </a:lnTo>
                    <a:lnTo>
                      <a:pt x="161" y="0"/>
                    </a:lnTo>
                    <a:lnTo>
                      <a:pt x="263" y="35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771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92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/>
                  <a:ea typeface="맑은 고딕"/>
                </a:endParaRPr>
              </a:p>
            </p:txBody>
          </p:sp>
        </p:grp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BD284B4-CCBC-41E7-8D1C-2A78EDA28CED}"/>
              </a:ext>
            </a:extLst>
          </p:cNvPr>
          <p:cNvSpPr>
            <a:spLocks/>
          </p:cNvSpPr>
          <p:nvPr/>
        </p:nvSpPr>
        <p:spPr bwMode="auto">
          <a:xfrm>
            <a:off x="4612596" y="3029946"/>
            <a:ext cx="324000" cy="324001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71462" y="6002074"/>
            <a:ext cx="2101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  <a:cs typeface="Arial" pitchFamily="34" charset="0"/>
              </a:rPr>
              <a:t>MES : Manufacturing Execution System</a:t>
            </a:r>
          </a:p>
          <a:p>
            <a:r>
              <a:rPr lang="en-US" altLang="ko-KR" sz="800" dirty="0">
                <a:latin typeface="+mn-ea"/>
                <a:cs typeface="Arial" pitchFamily="34" charset="0"/>
              </a:rPr>
              <a:t>APM : AREL Process Management </a:t>
            </a:r>
            <a:endParaRPr lang="ko-KR" altLang="en-US" sz="8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A678A3C-B306-4E89-A9C7-DED2E4BF9288}"/>
              </a:ext>
            </a:extLst>
          </p:cNvPr>
          <p:cNvSpPr/>
          <p:nvPr/>
        </p:nvSpPr>
        <p:spPr>
          <a:xfrm>
            <a:off x="8382885" y="5773299"/>
            <a:ext cx="12090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cs typeface="Arial" pitchFamily="34" charset="0"/>
              </a:rPr>
              <a:t>소요 기간 및 시기는 상세 계획 수립 </a:t>
            </a:r>
            <a:r>
              <a:rPr lang="ko-KR" altLang="en-US" sz="800" dirty="0">
                <a:latin typeface="+mn-ea"/>
                <a:cs typeface="Arial" pitchFamily="34" charset="0"/>
              </a:rPr>
              <a:t>이후 변경될 수 있음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80646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06967C81-D670-411D-84D2-18A268DE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/>
              <a:t>1 </a:t>
            </a:r>
            <a:r>
              <a:rPr lang="ko-KR" altLang="en-US" spc="-150" dirty="0"/>
              <a:t>단계 차세대 </a:t>
            </a:r>
            <a:r>
              <a:rPr lang="en-US" altLang="ko-KR" spc="-150" dirty="0"/>
              <a:t>ERP</a:t>
            </a:r>
            <a:r>
              <a:rPr lang="ko-KR" altLang="en-US" spc="-150" dirty="0"/>
              <a:t>는 기존의 국내 </a:t>
            </a:r>
            <a:r>
              <a:rPr lang="en-US" altLang="ko-KR" spc="-150" dirty="0"/>
              <a:t>+ </a:t>
            </a:r>
            <a:r>
              <a:rPr lang="ko-KR" altLang="en-US" spc="-150" dirty="0"/>
              <a:t>방글라데시 구축 후 베트남 확대 안</a:t>
            </a:r>
            <a:r>
              <a:rPr lang="en-US" altLang="ko-KR" sz="1100" spc="-150" dirty="0"/>
              <a:t>(Phased Approach)</a:t>
            </a:r>
            <a:r>
              <a:rPr lang="ko-KR" altLang="en-US" spc="-150" dirty="0"/>
              <a:t>에서 전체 구축 대상 범위를 </a:t>
            </a:r>
            <a:r>
              <a:rPr lang="en-US" altLang="ko-KR" spc="-150" dirty="0"/>
              <a:t>Big Bang </a:t>
            </a:r>
            <a:r>
              <a:rPr lang="ko-KR" altLang="en-US" spc="-150" dirty="0"/>
              <a:t>으로 구축하는 방안으로 수정</a:t>
            </a:r>
            <a:r>
              <a:rPr lang="en-US" altLang="ko-KR" spc="-150" dirty="0"/>
              <a:t>, ’24</a:t>
            </a:r>
            <a:r>
              <a:rPr lang="ko-KR" altLang="en-US" spc="-150" dirty="0"/>
              <a:t>년 </a:t>
            </a:r>
            <a:r>
              <a:rPr lang="en-US" altLang="ko-KR" spc="-150" dirty="0"/>
              <a:t>4</a:t>
            </a:r>
            <a:r>
              <a:rPr lang="ko-KR" altLang="en-US" spc="-150" dirty="0"/>
              <a:t>월 </a:t>
            </a:r>
            <a:r>
              <a:rPr lang="en-US" altLang="ko-KR" spc="-150" dirty="0"/>
              <a:t>Grand Open</a:t>
            </a:r>
            <a:r>
              <a:rPr lang="ko-KR" altLang="en-US" spc="-150" dirty="0"/>
              <a:t>을 목표로 함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CCEF467-7138-4006-A2AF-892236B4C612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20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0ABE10F-A7F2-4983-8BCC-EBAE032D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ko-KR" altLang="en-US" sz="2000" b="1" kern="0" spc="-138" dirty="0">
                <a:ln w="1905"/>
                <a:ea typeface="맑은 고딕"/>
              </a:rPr>
              <a:t>    </a:t>
            </a:r>
            <a:r>
              <a:rPr lang="en-US" altLang="ko-KR" sz="2000" b="1" kern="0" spc="-138" dirty="0">
                <a:ln w="1905"/>
                <a:ea typeface="맑은 고딕"/>
              </a:rPr>
              <a:t>S/4HANA </a:t>
            </a:r>
            <a:r>
              <a:rPr lang="ko-KR" altLang="en-US" sz="2000" b="1" kern="0" spc="-138" dirty="0">
                <a:ln w="1905"/>
                <a:ea typeface="맑은 고딕"/>
              </a:rPr>
              <a:t>기반의 </a:t>
            </a:r>
            <a:r>
              <a:rPr lang="en-US" altLang="ko-KR" sz="2000" b="1" kern="0" spc="-138" dirty="0">
                <a:ln w="1905"/>
                <a:ea typeface="맑은 고딕"/>
              </a:rPr>
              <a:t>1</a:t>
            </a:r>
            <a:r>
              <a:rPr lang="ko-KR" altLang="en-US" sz="2000" b="1" kern="0" spc="-138" dirty="0">
                <a:ln w="1905"/>
                <a:ea typeface="맑은 고딕"/>
              </a:rPr>
              <a:t>단계 구축 이행 계획 </a:t>
            </a:r>
            <a:r>
              <a:rPr lang="en-US" altLang="ko-KR" sz="2000" b="1" kern="0" spc="-138" dirty="0">
                <a:ln w="1905"/>
                <a:ea typeface="맑은 고딕"/>
              </a:rPr>
              <a:t>– </a:t>
            </a:r>
            <a:r>
              <a:rPr lang="ko-KR" altLang="en-US" sz="2000" b="1" kern="0" spc="-138" dirty="0">
                <a:ln w="1905"/>
                <a:ea typeface="맑은 고딕"/>
              </a:rPr>
              <a:t>기간</a:t>
            </a:r>
            <a:r>
              <a:rPr lang="en-US" altLang="ko-KR" sz="2000" b="1" kern="0" spc="-138" dirty="0">
                <a:ln w="1905"/>
                <a:ea typeface="맑은 고딕"/>
              </a:rPr>
              <a:t>/</a:t>
            </a:r>
            <a:r>
              <a:rPr lang="ko-KR" altLang="en-US" sz="2000" b="1" kern="0" spc="-138" dirty="0">
                <a:ln w="1905"/>
                <a:ea typeface="맑은 고딕"/>
              </a:rPr>
              <a:t>대상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650B4E-AEE6-4D6F-B820-1715CB67B226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오각형 18">
            <a:extLst>
              <a:ext uri="{FF2B5EF4-FFF2-40B4-BE49-F238E27FC236}">
                <a16:creationId xmlns:a16="http://schemas.microsoft.com/office/drawing/2014/main" id="{DBA146AA-5861-43F2-8811-38F641427BE6}"/>
              </a:ext>
            </a:extLst>
          </p:cNvPr>
          <p:cNvSpPr/>
          <p:nvPr/>
        </p:nvSpPr>
        <p:spPr bwMode="auto">
          <a:xfrm>
            <a:off x="294782" y="2057400"/>
            <a:ext cx="3412649" cy="4252001"/>
          </a:xfrm>
          <a:prstGeom prst="homePlate">
            <a:avLst>
              <a:gd name="adj" fmla="val 9109"/>
            </a:avLst>
          </a:prstGeom>
          <a:noFill/>
          <a:ln w="285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2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511286" y="1888123"/>
            <a:ext cx="267573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r>
              <a:rPr lang="en-US" altLang="ko-KR" dirty="0"/>
              <a:t>【 </a:t>
            </a:r>
            <a:r>
              <a:rPr lang="ko-KR" altLang="en-US" dirty="0"/>
              <a:t>구축 방안 재검토 사유 </a:t>
            </a:r>
            <a:r>
              <a:rPr lang="en-US" altLang="ko-KR" dirty="0"/>
              <a:t>】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856693" y="2898844"/>
            <a:ext cx="857328" cy="15087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기존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계획</a:t>
            </a:r>
            <a:r>
              <a:rPr lang="en-US" altLang="ko-KR" sz="1600" b="1" dirty="0"/>
              <a:t/>
            </a:r>
            <a:br>
              <a:rPr lang="en-US" altLang="ko-KR" sz="1600" b="1" dirty="0"/>
            </a:br>
            <a:r>
              <a:rPr lang="en-US" altLang="ko-KR" sz="1600" b="1" dirty="0"/>
              <a:t/>
            </a:r>
            <a:br>
              <a:rPr lang="en-US" altLang="ko-KR" sz="1600" b="1" dirty="0"/>
            </a:br>
            <a:r>
              <a:rPr lang="en-US" altLang="ko-KR" sz="1100" b="1" dirty="0"/>
              <a:t>Phased Approach</a:t>
            </a:r>
            <a:endParaRPr lang="ko-KR" altLang="en-US" sz="1100" b="1" dirty="0"/>
          </a:p>
        </p:txBody>
      </p:sp>
      <p:sp>
        <p:nvSpPr>
          <p:cNvPr id="13" name="직사각형 12"/>
          <p:cNvSpPr/>
          <p:nvPr/>
        </p:nvSpPr>
        <p:spPr>
          <a:xfrm>
            <a:off x="3856693" y="4854107"/>
            <a:ext cx="857328" cy="14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변경</a:t>
            </a:r>
            <a:r>
              <a:rPr lang="en-US" altLang="ko-KR" sz="1600" b="1" dirty="0"/>
              <a:t/>
            </a:r>
            <a:br>
              <a:rPr lang="en-US" altLang="ko-KR" sz="1600" b="1" dirty="0"/>
            </a:br>
            <a:r>
              <a:rPr lang="ko-KR" altLang="en-US" sz="1600" b="1" dirty="0"/>
              <a:t>계획</a:t>
            </a:r>
            <a:r>
              <a:rPr lang="en-US" altLang="ko-KR" sz="1600" b="1" dirty="0"/>
              <a:t/>
            </a:r>
            <a:br>
              <a:rPr lang="en-US" altLang="ko-KR" sz="1600" b="1" dirty="0"/>
            </a:br>
            <a:endParaRPr lang="en-US" altLang="ko-KR" sz="1600" b="1" dirty="0"/>
          </a:p>
          <a:p>
            <a:pPr algn="ctr"/>
            <a:r>
              <a:rPr lang="en-US" altLang="ko-KR" sz="1100" b="1" dirty="0">
                <a:solidFill>
                  <a:schemeClr val="accent4"/>
                </a:solidFill>
              </a:rPr>
              <a:t>Big Bang</a:t>
            </a:r>
            <a:br>
              <a:rPr lang="en-US" altLang="ko-KR" sz="1100" b="1" dirty="0">
                <a:solidFill>
                  <a:schemeClr val="accent4"/>
                </a:solidFill>
              </a:rPr>
            </a:br>
            <a:r>
              <a:rPr lang="en-US" altLang="ko-KR" sz="1100" b="1" dirty="0">
                <a:solidFill>
                  <a:schemeClr val="accent4"/>
                </a:solidFill>
              </a:rPr>
              <a:t>Approach</a:t>
            </a:r>
            <a:endParaRPr lang="ko-KR" altLang="en-US" sz="1100" b="1" dirty="0">
              <a:solidFill>
                <a:schemeClr val="accent4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691977" y="1885998"/>
            <a:ext cx="6192002" cy="329220"/>
            <a:chOff x="4233322" y="2024604"/>
            <a:chExt cx="1535356" cy="329220"/>
          </a:xfrm>
        </p:grpSpPr>
        <p:sp>
          <p:nvSpPr>
            <p:cNvPr id="14" name="Google Shape;5231;p64">
              <a:extLst>
                <a:ext uri="{FF2B5EF4-FFF2-40B4-BE49-F238E27FC236}">
                  <a16:creationId xmlns:a16="http://schemas.microsoft.com/office/drawing/2014/main" id="{B8384A86-BA39-4633-9774-2541CEEB6F2F}"/>
                </a:ext>
              </a:extLst>
            </p:cNvPr>
            <p:cNvSpPr txBox="1"/>
            <p:nvPr/>
          </p:nvSpPr>
          <p:spPr>
            <a:xfrm>
              <a:off x="4233322" y="2024604"/>
              <a:ext cx="1535356" cy="318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600" b="1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구축 기간</a:t>
              </a:r>
              <a:r>
                <a:rPr lang="en-US" altLang="ko-KR" sz="1600" b="1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/</a:t>
              </a:r>
              <a:r>
                <a:rPr lang="ko-KR" altLang="en-US" sz="1600" b="1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대상 변경 안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Google Shape;5232;p64">
              <a:extLst>
                <a:ext uri="{FF2B5EF4-FFF2-40B4-BE49-F238E27FC236}">
                  <a16:creationId xmlns:a16="http://schemas.microsoft.com/office/drawing/2014/main" id="{C3472997-BD04-423C-B5F5-07FBAB111A5A}"/>
                </a:ext>
              </a:extLst>
            </p:cNvPr>
            <p:cNvCxnSpPr>
              <a:cxnSpLocks/>
            </p:cNvCxnSpPr>
            <p:nvPr/>
          </p:nvCxnSpPr>
          <p:spPr>
            <a:xfrm>
              <a:off x="4286881" y="2353824"/>
              <a:ext cx="1428238" cy="0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D161C0E-3992-425A-B32C-2FFA23B74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98023"/>
              </p:ext>
            </p:extLst>
          </p:nvPr>
        </p:nvGraphicFramePr>
        <p:xfrm>
          <a:off x="4850093" y="2416718"/>
          <a:ext cx="4641924" cy="3913428"/>
        </p:xfrm>
        <a:graphic>
          <a:graphicData uri="http://schemas.openxmlformats.org/drawingml/2006/table">
            <a:tbl>
              <a:tblPr firstRow="1" firstCol="1" bandRow="1"/>
              <a:tblGrid>
                <a:gridCol w="290723">
                  <a:extLst>
                    <a:ext uri="{9D8B030D-6E8A-4147-A177-3AD203B41FA5}">
                      <a16:colId xmlns:a16="http://schemas.microsoft.com/office/drawing/2014/main" val="2167351920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3748101800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619994896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585932588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2985247508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78556082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825612480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2424883299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562599407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972940684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2118363963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4243779685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845914737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3645352030"/>
                    </a:ext>
                  </a:extLst>
                </a:gridCol>
                <a:gridCol w="290723">
                  <a:extLst>
                    <a:ext uri="{9D8B030D-6E8A-4147-A177-3AD203B41FA5}">
                      <a16:colId xmlns:a16="http://schemas.microsoft.com/office/drawing/2014/main" val="1573681394"/>
                    </a:ext>
                  </a:extLst>
                </a:gridCol>
                <a:gridCol w="281079">
                  <a:extLst>
                    <a:ext uri="{9D8B030D-6E8A-4147-A177-3AD203B41FA5}">
                      <a16:colId xmlns:a16="http://schemas.microsoft.com/office/drawing/2014/main" val="3402907027"/>
                    </a:ext>
                  </a:extLst>
                </a:gridCol>
              </a:tblGrid>
              <a:tr h="276982">
                <a:tc gridSpan="8">
                  <a:txBody>
                    <a:bodyPr/>
                    <a:lstStyle/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‘2023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‘2024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6039"/>
                  </a:ext>
                </a:extLst>
              </a:tr>
              <a:tr h="1622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43478"/>
                  </a:ext>
                </a:extLst>
              </a:tr>
              <a:tr h="162223">
                <a:tc gridSpan="16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83498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23975"/>
                  </a:ext>
                </a:extLst>
              </a:tr>
              <a:tr h="504000">
                <a:tc gridSpan="16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956607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40072"/>
                  </a:ext>
                </a:extLst>
              </a:tr>
            </a:tbl>
          </a:graphicData>
        </a:graphic>
      </p:graphicFrame>
      <p:cxnSp>
        <p:nvCxnSpPr>
          <p:cNvPr id="25" name="직선 연결선 24"/>
          <p:cNvCxnSpPr/>
          <p:nvPr/>
        </p:nvCxnSpPr>
        <p:spPr>
          <a:xfrm>
            <a:off x="7171055" y="2816352"/>
            <a:ext cx="0" cy="17007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961892" y="2816352"/>
            <a:ext cx="0" cy="17007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4844633" y="3008572"/>
            <a:ext cx="3011587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pPr algn="ctr">
              <a:lnSpc>
                <a:spcPct val="90000"/>
              </a:lnSpc>
            </a:pPr>
            <a:r>
              <a:rPr lang="ko-KR" altLang="en-US" sz="1200" dirty="0"/>
              <a:t>국내법인 </a:t>
            </a:r>
            <a:r>
              <a:rPr lang="en-US" altLang="ko-KR" sz="1200" dirty="0"/>
              <a:t>/ </a:t>
            </a:r>
            <a:r>
              <a:rPr lang="ko-KR" altLang="en-US" sz="1200" dirty="0"/>
              <a:t>방글라데시 </a:t>
            </a:r>
            <a:r>
              <a:rPr lang="en-US" altLang="ko-KR" sz="1200" dirty="0"/>
              <a:t>6</a:t>
            </a:r>
            <a:r>
              <a:rPr lang="ko-KR" altLang="en-US" sz="1200" dirty="0"/>
              <a:t>개 법인 구축 → </a:t>
            </a:r>
            <a:r>
              <a:rPr lang="en-US" altLang="ko-KR" sz="1000" dirty="0"/>
              <a:t>(10M)</a:t>
            </a:r>
            <a:endParaRPr lang="ko-KR" altLang="en-US" sz="1000" dirty="0"/>
          </a:p>
        </p:txBody>
      </p:sp>
      <p:sp>
        <p:nvSpPr>
          <p:cNvPr id="32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7761524" y="3008572"/>
            <a:ext cx="1730493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pPr algn="ctr">
              <a:lnSpc>
                <a:spcPct val="90000"/>
              </a:lnSpc>
            </a:pPr>
            <a:r>
              <a:rPr lang="ko-KR" altLang="en-US" sz="1200" dirty="0"/>
              <a:t>베트남 </a:t>
            </a:r>
            <a:r>
              <a:rPr lang="en-US" altLang="ko-KR" sz="1200" dirty="0"/>
              <a:t>4</a:t>
            </a:r>
            <a:r>
              <a:rPr lang="ko-KR" altLang="en-US" sz="1200" dirty="0"/>
              <a:t>개 법인 구축 </a:t>
            </a:r>
            <a:r>
              <a:rPr lang="en-US" altLang="ko-KR" sz="1000" dirty="0"/>
              <a:t>(6M)</a:t>
            </a:r>
            <a:endParaRPr lang="ko-KR" altLang="en-US" sz="1000" dirty="0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23F34CD5-BAE9-46AE-9834-FC3D8090C598}"/>
              </a:ext>
            </a:extLst>
          </p:cNvPr>
          <p:cNvSpPr/>
          <p:nvPr/>
        </p:nvSpPr>
        <p:spPr>
          <a:xfrm flipV="1">
            <a:off x="7096523" y="3264873"/>
            <a:ext cx="152979" cy="12639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4941990" y="3375660"/>
            <a:ext cx="1024773" cy="971905"/>
          </a:xfrm>
          <a:prstGeom prst="homePlate">
            <a:avLst>
              <a:gd name="adj" fmla="val 10114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구축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6008578" y="3375660"/>
            <a:ext cx="837734" cy="971905"/>
          </a:xfrm>
          <a:prstGeom prst="homePlate">
            <a:avLst>
              <a:gd name="adj" fmla="val 10114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 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(3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회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)</a:t>
            </a:r>
          </a:p>
        </p:txBody>
      </p:sp>
      <p:sp>
        <p:nvSpPr>
          <p:cNvPr id="21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6876289" y="3375660"/>
            <a:ext cx="294766" cy="971905"/>
          </a:xfrm>
          <a:prstGeom prst="homePlate">
            <a:avLst>
              <a:gd name="adj" fmla="val 22523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교육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7208710" y="3375660"/>
            <a:ext cx="490537" cy="971905"/>
          </a:xfrm>
          <a:prstGeom prst="homePlate">
            <a:avLst>
              <a:gd name="adj" fmla="val 11339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7761525" y="3375659"/>
            <a:ext cx="407116" cy="971905"/>
          </a:xfrm>
          <a:prstGeom prst="homePlate">
            <a:avLst>
              <a:gd name="adj" fmla="val 11339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특화</a:t>
            </a:r>
            <a:r>
              <a:rPr lang="en-US" altLang="ko-KR" sz="1050" b="1" kern="0" dirty="0">
                <a:latin typeface="+mn-ea"/>
              </a:rPr>
              <a:t/>
            </a:r>
            <a:br>
              <a:rPr lang="en-US" altLang="ko-KR" sz="1050" b="1" kern="0" dirty="0">
                <a:latin typeface="+mn-ea"/>
              </a:rPr>
            </a:br>
            <a:r>
              <a:rPr lang="ko-KR" altLang="en-US" sz="1050" b="1" kern="0" dirty="0">
                <a:latin typeface="+mn-ea"/>
              </a:rPr>
              <a:t>반영</a:t>
            </a:r>
            <a:r>
              <a:rPr lang="en-US" altLang="ko-KR" sz="1050" b="1" kern="0" dirty="0">
                <a:latin typeface="+mn-ea"/>
              </a:rPr>
              <a:t/>
            </a:r>
            <a:br>
              <a:rPr lang="en-US" altLang="ko-KR" sz="1050" b="1" kern="0" dirty="0">
                <a:latin typeface="+mn-ea"/>
              </a:rPr>
            </a:br>
            <a:r>
              <a:rPr lang="ko-KR" altLang="en-US" sz="1050" b="1" kern="0" dirty="0">
                <a:latin typeface="+mn-ea"/>
              </a:rPr>
              <a:t>개발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8205216" y="3375659"/>
            <a:ext cx="432816" cy="971905"/>
          </a:xfrm>
          <a:prstGeom prst="homePlate">
            <a:avLst>
              <a:gd name="adj" fmla="val 10114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 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(2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회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)</a:t>
            </a:r>
          </a:p>
        </p:txBody>
      </p:sp>
      <p:sp>
        <p:nvSpPr>
          <p:cNvPr id="29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8667126" y="3375659"/>
            <a:ext cx="294766" cy="971905"/>
          </a:xfrm>
          <a:prstGeom prst="homePlate">
            <a:avLst>
              <a:gd name="adj" fmla="val 22523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교육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9011389" y="3375659"/>
            <a:ext cx="490537" cy="971905"/>
          </a:xfrm>
          <a:prstGeom prst="homePlate">
            <a:avLst>
              <a:gd name="adj" fmla="val 11339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23F34CD5-BAE9-46AE-9834-FC3D8090C598}"/>
              </a:ext>
            </a:extLst>
          </p:cNvPr>
          <p:cNvSpPr/>
          <p:nvPr/>
        </p:nvSpPr>
        <p:spPr>
          <a:xfrm flipV="1">
            <a:off x="8885403" y="3264873"/>
            <a:ext cx="152979" cy="12639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5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4941990" y="5278601"/>
            <a:ext cx="1611210" cy="971905"/>
          </a:xfrm>
          <a:prstGeom prst="homePlate">
            <a:avLst>
              <a:gd name="adj" fmla="val 10114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구축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6604805" y="5278601"/>
            <a:ext cx="837734" cy="971905"/>
          </a:xfrm>
          <a:prstGeom prst="homePlate">
            <a:avLst>
              <a:gd name="adj" fmla="val 10114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 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(3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회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)</a:t>
            </a:r>
          </a:p>
        </p:txBody>
      </p:sp>
      <p:sp>
        <p:nvSpPr>
          <p:cNvPr id="37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7466758" y="5278601"/>
            <a:ext cx="564722" cy="971905"/>
          </a:xfrm>
          <a:prstGeom prst="homePlate">
            <a:avLst>
              <a:gd name="adj" fmla="val 22523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교육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8031480" y="5157216"/>
            <a:ext cx="0" cy="12594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23F34CD5-BAE9-46AE-9834-FC3D8090C598}"/>
              </a:ext>
            </a:extLst>
          </p:cNvPr>
          <p:cNvSpPr/>
          <p:nvPr/>
        </p:nvSpPr>
        <p:spPr>
          <a:xfrm flipV="1">
            <a:off x="7958987" y="5135761"/>
            <a:ext cx="152979" cy="12639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2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8062643" y="5278601"/>
            <a:ext cx="533559" cy="971905"/>
          </a:xfrm>
          <a:prstGeom prst="homePlate">
            <a:avLst>
              <a:gd name="adj" fmla="val 11339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 flipH="1">
            <a:off x="8596202" y="4407632"/>
            <a:ext cx="895816" cy="87096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4944670" y="4848450"/>
            <a:ext cx="3693362" cy="4039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pPr algn="ctr">
              <a:lnSpc>
                <a:spcPct val="90000"/>
              </a:lnSpc>
            </a:pPr>
            <a:r>
              <a:rPr lang="ko-KR" altLang="en-US" sz="1200" dirty="0"/>
              <a:t>국내법인 </a:t>
            </a:r>
            <a:r>
              <a:rPr lang="en-US" altLang="ko-KR" sz="1200" dirty="0"/>
              <a:t>/ </a:t>
            </a:r>
            <a:r>
              <a:rPr lang="ko-KR" altLang="en-US" sz="1200" dirty="0"/>
              <a:t>방글라데시 </a:t>
            </a:r>
            <a:r>
              <a:rPr lang="en-US" altLang="ko-KR" sz="1200" dirty="0"/>
              <a:t>+ </a:t>
            </a:r>
            <a:r>
              <a:rPr lang="ko-KR" altLang="en-US" sz="1200" dirty="0"/>
              <a:t>베트남</a:t>
            </a:r>
            <a:r>
              <a:rPr lang="en-US" altLang="ko-KR" sz="1200" dirty="0"/>
              <a:t> 10</a:t>
            </a:r>
            <a:r>
              <a:rPr lang="ko-KR" altLang="en-US" sz="1200" dirty="0"/>
              <a:t>개 법인 구축 </a:t>
            </a:r>
            <a:r>
              <a:rPr lang="en-US" altLang="ko-KR" sz="1050" dirty="0"/>
              <a:t>(</a:t>
            </a:r>
            <a:r>
              <a:rPr lang="en-US" altLang="ko-KR" sz="1000" dirty="0"/>
              <a:t>13M)</a:t>
            </a:r>
            <a:endParaRPr lang="ko-KR" altLang="en-US" sz="1000" dirty="0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23F34CD5-BAE9-46AE-9834-FC3D8090C598}"/>
              </a:ext>
            </a:extLst>
          </p:cNvPr>
          <p:cNvSpPr/>
          <p:nvPr/>
        </p:nvSpPr>
        <p:spPr>
          <a:xfrm flipV="1">
            <a:off x="7956698" y="5153317"/>
            <a:ext cx="152979" cy="12639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37427" y="5298128"/>
            <a:ext cx="1257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프로젝트 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Risk 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최소화 하며 기간 </a:t>
            </a:r>
            <a:r>
              <a:rPr lang="ko-KR" altLang="en-US" sz="1400" b="1" dirty="0" smtClean="0">
                <a:solidFill>
                  <a:schemeClr val="accent1">
                    <a:lumMod val="75000"/>
                  </a:schemeClr>
                </a:solidFill>
              </a:rPr>
              <a:t>단축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(3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개월</a:t>
            </a:r>
            <a:r>
              <a:rPr lang="en-US" altLang="ko-KR" sz="14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39867" y="2518419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Timeline</a:t>
            </a:r>
            <a:endParaRPr lang="ko-KR" altLang="en-US" sz="1050" dirty="0"/>
          </a:p>
        </p:txBody>
      </p:sp>
      <p:sp>
        <p:nvSpPr>
          <p:cNvPr id="52" name="아래쪽 화살표 51"/>
          <p:cNvSpPr/>
          <p:nvPr/>
        </p:nvSpPr>
        <p:spPr>
          <a:xfrm>
            <a:off x="4023737" y="4446925"/>
            <a:ext cx="523241" cy="36789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485255" y="2375624"/>
            <a:ext cx="274318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72494" fontAlgn="base" latinLnBrk="1">
              <a:spcBef>
                <a:spcPts val="300"/>
              </a:spcBef>
              <a:spcAft>
                <a:spcPts val="300"/>
              </a:spcAft>
              <a:tabLst>
                <a:tab pos="447675" algn="l"/>
              </a:tabLst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영원무역 본사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(HQ)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와 베트남 법인간의 업무 및 시스템적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Dependency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존재 상황에서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…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73123" y="5702046"/>
            <a:ext cx="29674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72494" fontAlgn="base">
              <a:spcBef>
                <a:spcPts val="300"/>
              </a:spcBef>
              <a:spcAft>
                <a:spcPts val="300"/>
              </a:spcAft>
              <a:tabLst>
                <a:tab pos="447675" algn="l"/>
              </a:tabLst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각 법인간의 물동 흐름 연계 및 재무 정합도 확보 어려움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F90D71-3F27-4C90-896E-BE8DFC53B2E6}"/>
              </a:ext>
            </a:extLst>
          </p:cNvPr>
          <p:cNvSpPr/>
          <p:nvPr/>
        </p:nvSpPr>
        <p:spPr>
          <a:xfrm>
            <a:off x="1288111" y="3316884"/>
            <a:ext cx="2201720" cy="938719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36000" tIns="0" rIns="36000" bIns="0" rtlCol="0" anchor="t">
            <a:spAutoFit/>
          </a:bodyPr>
          <a:lstStyle/>
          <a:p>
            <a:pPr marL="182563" marR="0" lvl="0" indent="-182563" algn="l" defTabSz="972494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>
                <a:tab pos="182563" algn="l"/>
                <a:tab pos="447675" algn="l"/>
              </a:tabLst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정보 제공자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(HQ)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관리 구조 변환에 따라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VN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법인의 코드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Mapping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7675" lvl="1" indent="-184150" defTabSz="972494" fontAlgn="base">
              <a:spcBef>
                <a:spcPts val="300"/>
              </a:spcBef>
              <a:spcAft>
                <a:spcPts val="300"/>
              </a:spcAft>
              <a:buFont typeface="맑은 고딕" panose="020B0503020000020004" pitchFamily="50" charset="-127"/>
              <a:buChar char="-"/>
              <a:tabLst>
                <a:tab pos="182563" algn="l"/>
                <a:tab pos="447675" algn="l"/>
              </a:tabLst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Material</a:t>
            </a:r>
            <a:r>
              <a:rPr kumimoji="0" lang="en-US" altLang="ko-KR" sz="10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Master, </a:t>
            </a:r>
            <a:r>
              <a:rPr lang="en-US" altLang="ko-KR" sz="1000" baseline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Partner</a:t>
            </a:r>
            <a:endParaRPr kumimoji="0" lang="en-US" altLang="ko-KR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915F3E-D0F8-4232-876F-CED2A4240FD3}"/>
              </a:ext>
            </a:extLst>
          </p:cNvPr>
          <p:cNvSpPr/>
          <p:nvPr/>
        </p:nvSpPr>
        <p:spPr>
          <a:xfrm>
            <a:off x="433462" y="3309203"/>
            <a:ext cx="795898" cy="9540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기준정보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전면 개편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DF90D71-3F27-4C90-896E-BE8DFC53B2E6}"/>
              </a:ext>
            </a:extLst>
          </p:cNvPr>
          <p:cNvSpPr/>
          <p:nvPr/>
        </p:nvSpPr>
        <p:spPr>
          <a:xfrm>
            <a:off x="1288110" y="4479656"/>
            <a:ext cx="2470925" cy="1077218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36000" tIns="0" rIns="36000" bIns="0" rtlCol="0" anchor="t">
            <a:spAutoFit/>
          </a:bodyPr>
          <a:lstStyle/>
          <a:p>
            <a:pPr marL="182563" marR="0" lvl="0" indent="-182563" algn="l" defTabSz="972494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>
                <a:tab pos="182563" algn="l"/>
                <a:tab pos="447675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VN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ko-KR" altLang="en-US" sz="1200" noProof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시스템 유지 </a:t>
            </a:r>
            <a:r>
              <a:rPr lang="en-US" altLang="ko-KR" sz="1200" noProof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HQ </a:t>
            </a:r>
            <a:r>
              <a:rPr lang="ko-KR" altLang="en-US" sz="1200" noProof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중복 작업 필요</a:t>
            </a:r>
            <a:endParaRPr lang="en-US" altLang="ko-KR" sz="1200" noProof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marR="0" lvl="0" indent="-182563" algn="l" defTabSz="972494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>
                <a:tab pos="182563" algn="l"/>
                <a:tab pos="447675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수출 영업의 생산 법인 </a:t>
            </a:r>
            <a:r>
              <a:rPr lang="en-US" altLang="ko-KR" sz="12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의사결정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어려움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marR="0" lvl="0" indent="-182563" algn="l" defTabSz="972494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>
                <a:tab pos="182563" algn="l"/>
                <a:tab pos="447675" algn="l"/>
              </a:tabLst>
              <a:defRPr/>
            </a:pPr>
            <a:r>
              <a:rPr lang="en-US" altLang="ko-KR" sz="12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E2E </a:t>
            </a:r>
            <a:r>
              <a:rPr lang="ko-KR" altLang="en-US" sz="12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가시성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 어려움</a:t>
            </a:r>
            <a:endParaRPr kumimoji="0" lang="en-US" altLang="ko-KR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5915F3E-D0F8-4232-876F-CED2A4240FD3}"/>
              </a:ext>
            </a:extLst>
          </p:cNvPr>
          <p:cNvSpPr/>
          <p:nvPr/>
        </p:nvSpPr>
        <p:spPr>
          <a:xfrm>
            <a:off x="433462" y="4471974"/>
            <a:ext cx="795898" cy="1084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  <a:cs typeface="Arial" pitchFamily="34" charset="0"/>
              </a:rPr>
              <a:t>O2C</a:t>
            </a:r>
            <a:br>
              <a:rPr lang="en-US" altLang="ko-KR" sz="1200" b="1" kern="0" dirty="0">
                <a:solidFill>
                  <a:schemeClr val="bg1"/>
                </a:solidFill>
                <a:latin typeface="+mn-ea"/>
                <a:cs typeface="Arial" pitchFamily="34" charset="0"/>
              </a:rPr>
            </a:br>
            <a:r>
              <a:rPr lang="ko-KR" altLang="en-US" sz="1200" b="1" kern="0" dirty="0">
                <a:solidFill>
                  <a:schemeClr val="bg1"/>
                </a:solidFill>
                <a:latin typeface="+mn-ea"/>
                <a:cs typeface="Arial" pitchFamily="34" charset="0"/>
              </a:rPr>
              <a:t>업무 변경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FC10D6-B82E-47FD-AF4A-8F17454C6555}"/>
              </a:ext>
            </a:extLst>
          </p:cNvPr>
          <p:cNvSpPr/>
          <p:nvPr/>
        </p:nvSpPr>
        <p:spPr>
          <a:xfrm>
            <a:off x="325220" y="6438144"/>
            <a:ext cx="4331898" cy="19884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맑은 고딕"/>
                <a:ea typeface="맑은 고딕"/>
              </a:rPr>
              <a:t>O2C </a:t>
            </a:r>
            <a:r>
              <a:rPr lang="en-US" altLang="ko-KR" sz="800" dirty="0" smtClean="0">
                <a:latin typeface="맑은 고딕"/>
                <a:ea typeface="맑은 고딕"/>
              </a:rPr>
              <a:t>: Order</a:t>
            </a:r>
            <a:r>
              <a:rPr lang="ko-KR" altLang="en-US" sz="800" dirty="0" smtClean="0">
                <a:latin typeface="맑은 고딕"/>
                <a:ea typeface="맑은 고딕"/>
              </a:rPr>
              <a:t> </a:t>
            </a:r>
            <a:r>
              <a:rPr lang="en-US" altLang="ko-KR" sz="800" dirty="0" smtClean="0">
                <a:latin typeface="맑은 고딕"/>
                <a:ea typeface="맑은 고딕"/>
              </a:rPr>
              <a:t>to Cash    </a:t>
            </a:r>
            <a:r>
              <a:rPr lang="en-US" altLang="ko-KR" sz="800" dirty="0" smtClean="0">
                <a:latin typeface="맑은 고딕"/>
                <a:ea typeface="맑은 고딕"/>
              </a:rPr>
              <a:t>E2E : E</a:t>
            </a:r>
            <a:r>
              <a:rPr lang="en-US" altLang="ko-KR" sz="800" dirty="0" smtClean="0">
                <a:latin typeface="맑은 고딕"/>
                <a:ea typeface="맑은 고딕"/>
              </a:rPr>
              <a:t>nd to End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48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06967C81-D670-411D-84D2-18A268DE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ko-KR" altLang="en-US" spc="-150" dirty="0"/>
              <a:t>본 </a:t>
            </a:r>
            <a:r>
              <a:rPr lang="en-US" altLang="ko-KR" spc="-150" dirty="0"/>
              <a:t>PI </a:t>
            </a:r>
            <a:r>
              <a:rPr lang="ko-KR" altLang="en-US" spc="-150" dirty="0"/>
              <a:t>단계 결과물</a:t>
            </a:r>
            <a:r>
              <a:rPr lang="en-US" altLang="ko-KR" sz="1200" spc="-150" dirty="0"/>
              <a:t>(To-Be </a:t>
            </a:r>
            <a:r>
              <a:rPr lang="ko-KR" altLang="en-US" sz="1200" spc="-150" dirty="0"/>
              <a:t>업무 프로세스</a:t>
            </a:r>
            <a:r>
              <a:rPr lang="en-US" altLang="ko-KR" sz="1200" spc="-150" dirty="0"/>
              <a:t>, </a:t>
            </a:r>
            <a:r>
              <a:rPr lang="ko-KR" altLang="en-US" sz="1200" spc="-150" dirty="0"/>
              <a:t>기능요건</a:t>
            </a:r>
            <a:r>
              <a:rPr lang="en-US" altLang="ko-KR" sz="1200" spc="-150" dirty="0"/>
              <a:t>)</a:t>
            </a:r>
            <a:r>
              <a:rPr lang="ko-KR" altLang="en-US" spc="-150" dirty="0"/>
              <a:t>을</a:t>
            </a:r>
            <a:r>
              <a:rPr lang="en-US" altLang="ko-KR" spc="-150" dirty="0"/>
              <a:t> </a:t>
            </a:r>
            <a:r>
              <a:rPr lang="ko-KR" altLang="en-US" spc="-150" dirty="0"/>
              <a:t>반영하여 </a:t>
            </a:r>
            <a:r>
              <a:rPr lang="en-US" altLang="ko-KR" spc="-150" dirty="0"/>
              <a:t>5</a:t>
            </a:r>
            <a:r>
              <a:rPr lang="ko-KR" altLang="en-US" spc="-150" dirty="0"/>
              <a:t>월 중순부터 개발</a:t>
            </a:r>
            <a:r>
              <a:rPr lang="en-US" altLang="ko-KR" spc="-150" dirty="0"/>
              <a:t>/</a:t>
            </a:r>
            <a:r>
              <a:rPr lang="ko-KR" altLang="en-US" spc="-150" dirty="0"/>
              <a:t>구축 단계</a:t>
            </a:r>
            <a:r>
              <a:rPr lang="en-US" altLang="ko-KR" spc="-150" dirty="0"/>
              <a:t>, 3</a:t>
            </a:r>
            <a:r>
              <a:rPr lang="ko-KR" altLang="en-US" spc="-150" dirty="0"/>
              <a:t>차에 걸친 통합테스트 단계</a:t>
            </a:r>
            <a:r>
              <a:rPr lang="en-US" altLang="ko-KR" spc="-150" dirty="0"/>
              <a:t>, </a:t>
            </a:r>
            <a:r>
              <a:rPr lang="ko-KR" altLang="en-US" spc="-150" dirty="0"/>
              <a:t> 교육 및 이관 단계를 거쳐 </a:t>
            </a:r>
            <a:r>
              <a:rPr lang="en-US" altLang="ko-KR" spc="-150" dirty="0"/>
              <a:t>’24</a:t>
            </a:r>
            <a:r>
              <a:rPr lang="ko-KR" altLang="en-US" spc="-150" dirty="0"/>
              <a:t>년 </a:t>
            </a:r>
            <a:r>
              <a:rPr lang="en-US" altLang="ko-KR" spc="-150" dirty="0"/>
              <a:t>4</a:t>
            </a:r>
            <a:r>
              <a:rPr lang="ko-KR" altLang="en-US" spc="-150" dirty="0"/>
              <a:t>월에 오픈하며</a:t>
            </a:r>
            <a:r>
              <a:rPr lang="en-US" altLang="ko-KR" spc="-150" dirty="0"/>
              <a:t>, </a:t>
            </a:r>
            <a:r>
              <a:rPr lang="ko-KR" altLang="en-US" spc="-150" dirty="0"/>
              <a:t>현지 법인의 경우 </a:t>
            </a:r>
            <a:r>
              <a:rPr lang="en-US" altLang="ko-KR" spc="-150" dirty="0"/>
              <a:t>3</a:t>
            </a:r>
            <a:r>
              <a:rPr lang="ko-KR" altLang="en-US" spc="-150" dirty="0"/>
              <a:t>차 통합테스트를 현지 에서 수행할 예정임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CCEF467-7138-4006-A2AF-892236B4C612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21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0ABE10F-A7F2-4983-8BCC-EBAE032D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[</a:t>
            </a:r>
            <a:r>
              <a:rPr lang="ko-KR" altLang="en-US" sz="2000" b="1" kern="0" spc="-138" dirty="0">
                <a:ln w="1905"/>
                <a:ea typeface="맑은 고딕"/>
              </a:rPr>
              <a:t>참고</a:t>
            </a:r>
            <a:r>
              <a:rPr lang="en-US" altLang="ko-KR" sz="2000" b="1" kern="0" spc="-138" dirty="0">
                <a:ln w="1905"/>
                <a:ea typeface="맑은 고딕"/>
              </a:rPr>
              <a:t>] Big Bang Approach </a:t>
            </a:r>
            <a:r>
              <a:rPr lang="ko-KR" altLang="en-US" sz="2000" b="1" kern="0" spc="-138" dirty="0">
                <a:ln w="1905"/>
                <a:ea typeface="맑은 고딕"/>
              </a:rPr>
              <a:t>기준 구축 방법론 및 일정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C2F82F-1717-450B-8C4A-561CE63159AB}"/>
              </a:ext>
            </a:extLst>
          </p:cNvPr>
          <p:cNvSpPr/>
          <p:nvPr/>
        </p:nvSpPr>
        <p:spPr bwMode="ltGray">
          <a:xfrm>
            <a:off x="6676551" y="2646339"/>
            <a:ext cx="1380632" cy="3692245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58A0ABD5-ACD1-45F0-9DAD-1EE2846C3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59" y="2646340"/>
            <a:ext cx="650402" cy="1936695"/>
          </a:xfrm>
          <a:prstGeom prst="homePlate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A5A5A5"/>
            </a:solidFill>
            <a:miter lim="800000"/>
            <a:headEnd/>
            <a:tailEnd/>
          </a:ln>
          <a:effectLst/>
        </p:spPr>
        <p:txBody>
          <a:bodyPr wrap="square" lIns="38301" tIns="48642" rIns="38301" bIns="48642" anchor="ctr"/>
          <a:lstStyle/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Biz</a:t>
            </a:r>
          </a:p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Process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AutoShape 16">
            <a:extLst>
              <a:ext uri="{FF2B5EF4-FFF2-40B4-BE49-F238E27FC236}">
                <a16:creationId xmlns:a16="http://schemas.microsoft.com/office/drawing/2014/main" id="{376562FB-08CC-45C8-AFEA-8AE4554A6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54" y="4674586"/>
            <a:ext cx="649308" cy="618951"/>
          </a:xfrm>
          <a:prstGeom prst="homePlate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A5A5A5"/>
            </a:solidFill>
            <a:miter lim="800000"/>
            <a:headEnd/>
            <a:tailEnd/>
          </a:ln>
          <a:effectLst/>
        </p:spPr>
        <p:txBody>
          <a:bodyPr wrap="square" lIns="38301" tIns="48642" rIns="38301" bIns="48642" anchor="ctr"/>
          <a:lstStyle/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 Data</a:t>
            </a:r>
          </a:p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Management</a:t>
            </a:r>
          </a:p>
        </p:txBody>
      </p:sp>
      <p:sp>
        <p:nvSpPr>
          <p:cNvPr id="10" name="AutoShape 16">
            <a:extLst>
              <a:ext uri="{FF2B5EF4-FFF2-40B4-BE49-F238E27FC236}">
                <a16:creationId xmlns:a16="http://schemas.microsoft.com/office/drawing/2014/main" id="{7E0078F6-BDD1-4C8B-A741-30EAC359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59" y="5372492"/>
            <a:ext cx="640347" cy="381726"/>
          </a:xfrm>
          <a:prstGeom prst="homePlate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A5A5A5"/>
            </a:solidFill>
            <a:miter lim="800000"/>
            <a:headEnd/>
            <a:tailEnd/>
          </a:ln>
          <a:effectLst/>
        </p:spPr>
        <p:txBody>
          <a:bodyPr wrap="square" lIns="38301" tIns="48642" rIns="38301" bIns="48642" anchor="ctr"/>
          <a:lstStyle/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Tech</a:t>
            </a:r>
          </a:p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Infra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오각형 103">
            <a:extLst>
              <a:ext uri="{FF2B5EF4-FFF2-40B4-BE49-F238E27FC236}">
                <a16:creationId xmlns:a16="http://schemas.microsoft.com/office/drawing/2014/main" id="{A5E7B638-2EBF-4BAE-8D74-0EE892A530C9}"/>
              </a:ext>
            </a:extLst>
          </p:cNvPr>
          <p:cNvSpPr/>
          <p:nvPr/>
        </p:nvSpPr>
        <p:spPr bwMode="ltGray">
          <a:xfrm>
            <a:off x="8092234" y="2662066"/>
            <a:ext cx="1394580" cy="3676519"/>
          </a:xfrm>
          <a:prstGeom prst="homePlate">
            <a:avLst>
              <a:gd name="adj" fmla="val 10114"/>
            </a:avLst>
          </a:prstGeom>
          <a:solidFill>
            <a:schemeClr val="bg1">
              <a:lumMod val="6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시스템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오픈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629F72-3F27-4595-9257-EA4AAB212B6E}"/>
              </a:ext>
            </a:extLst>
          </p:cNvPr>
          <p:cNvSpPr/>
          <p:nvPr/>
        </p:nvSpPr>
        <p:spPr bwMode="ltGray">
          <a:xfrm>
            <a:off x="4557469" y="2646340"/>
            <a:ext cx="2084032" cy="3692245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9A6F02-BFBD-420F-ADFC-5C780FE9779F}"/>
              </a:ext>
            </a:extLst>
          </p:cNvPr>
          <p:cNvSpPr/>
          <p:nvPr/>
        </p:nvSpPr>
        <p:spPr>
          <a:xfrm>
            <a:off x="4631727" y="2718023"/>
            <a:ext cx="1294143" cy="29527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 E2E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시나리오 구성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519FDF-8C84-4AD8-8F08-042E4AABC041}"/>
              </a:ext>
            </a:extLst>
          </p:cNvPr>
          <p:cNvSpPr/>
          <p:nvPr/>
        </p:nvSpPr>
        <p:spPr>
          <a:xfrm>
            <a:off x="4583533" y="3082695"/>
            <a:ext cx="648000" cy="74208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1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차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altLang="ko-KR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ERP</a:t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통합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948322-0EA9-469D-8542-3A5C4F026A8B}"/>
              </a:ext>
            </a:extLst>
          </p:cNvPr>
          <p:cNvSpPr/>
          <p:nvPr/>
        </p:nvSpPr>
        <p:spPr>
          <a:xfrm>
            <a:off x="5279970" y="3082695"/>
            <a:ext cx="648000" cy="74208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2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차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altLang="ko-KR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Non-</a:t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ERP</a:t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연계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85C4BE3-AD0D-418A-8B20-563F93016D4A}"/>
              </a:ext>
            </a:extLst>
          </p:cNvPr>
          <p:cNvSpPr/>
          <p:nvPr/>
        </p:nvSpPr>
        <p:spPr>
          <a:xfrm>
            <a:off x="5975541" y="3082695"/>
            <a:ext cx="648000" cy="74208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3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차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altLang="ko-KR" sz="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최종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검증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해외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1DE9E0-E913-43EC-99A0-3743D7B9CC1B}"/>
              </a:ext>
            </a:extLst>
          </p:cNvPr>
          <p:cNvSpPr/>
          <p:nvPr/>
        </p:nvSpPr>
        <p:spPr>
          <a:xfrm>
            <a:off x="6703952" y="2718023"/>
            <a:ext cx="612552" cy="68882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사용자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교육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A50337-F8CE-4D92-80F5-6C88EA5D02E9}"/>
              </a:ext>
            </a:extLst>
          </p:cNvPr>
          <p:cNvSpPr/>
          <p:nvPr/>
        </p:nvSpPr>
        <p:spPr>
          <a:xfrm>
            <a:off x="6703952" y="3472727"/>
            <a:ext cx="612552" cy="36046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결과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정리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반영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527F31-6ABB-42AB-8C13-C7F2374223B7}"/>
              </a:ext>
            </a:extLst>
          </p:cNvPr>
          <p:cNvSpPr/>
          <p:nvPr/>
        </p:nvSpPr>
        <p:spPr>
          <a:xfrm>
            <a:off x="6700189" y="4670146"/>
            <a:ext cx="616734" cy="63059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이관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06127B-80C8-465D-8663-47708DB4F371}"/>
              </a:ext>
            </a:extLst>
          </p:cNvPr>
          <p:cNvSpPr/>
          <p:nvPr/>
        </p:nvSpPr>
        <p:spPr>
          <a:xfrm>
            <a:off x="7386874" y="4662563"/>
            <a:ext cx="616735" cy="63059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이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행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407FFB-AD46-4028-9A43-A84B2079D644}"/>
              </a:ext>
            </a:extLst>
          </p:cNvPr>
          <p:cNvSpPr/>
          <p:nvPr/>
        </p:nvSpPr>
        <p:spPr>
          <a:xfrm>
            <a:off x="5983904" y="5372492"/>
            <a:ext cx="610790" cy="37751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운영 시스템 환경구성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38E08-8AA9-45E6-A514-13501CD313F0}"/>
              </a:ext>
            </a:extLst>
          </p:cNvPr>
          <p:cNvSpPr txBox="1"/>
          <p:nvPr/>
        </p:nvSpPr>
        <p:spPr>
          <a:xfrm>
            <a:off x="7062340" y="6404466"/>
            <a:ext cx="780407" cy="247655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Open ‘24.4.1</a:t>
            </a:r>
            <a:endParaRPr kumimoji="0" lang="ko-KR" altLang="en-US" sz="105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0CF90072-45EE-4E48-B418-60DBB3235DD4}"/>
              </a:ext>
            </a:extLst>
          </p:cNvPr>
          <p:cNvSpPr/>
          <p:nvPr/>
        </p:nvSpPr>
        <p:spPr>
          <a:xfrm>
            <a:off x="7977336" y="6317467"/>
            <a:ext cx="152979" cy="126399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FC13D40-A55C-4DA8-9441-73D6FAA2D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503108"/>
              </p:ext>
            </p:extLst>
          </p:nvPr>
        </p:nvGraphicFramePr>
        <p:xfrm>
          <a:off x="410658" y="1767614"/>
          <a:ext cx="9048750" cy="827806"/>
        </p:xfrm>
        <a:graphic>
          <a:graphicData uri="http://schemas.openxmlformats.org/drawingml/2006/table">
            <a:tbl>
              <a:tblPr firstRow="1" firstCol="1" bandRow="1"/>
              <a:tblGrid>
                <a:gridCol w="653910">
                  <a:extLst>
                    <a:ext uri="{9D8B030D-6E8A-4147-A177-3AD203B41FA5}">
                      <a16:colId xmlns:a16="http://schemas.microsoft.com/office/drawing/2014/main" val="3566830011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2167351920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3748101800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619994896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1585932588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3098954771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2985247508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178556082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2424883299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4243779685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1845914737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1573681394"/>
                    </a:ext>
                  </a:extLst>
                </a:gridCol>
                <a:gridCol w="699570">
                  <a:extLst>
                    <a:ext uri="{9D8B030D-6E8A-4147-A177-3AD203B41FA5}">
                      <a16:colId xmlns:a16="http://schemas.microsoft.com/office/drawing/2014/main" val="340290702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Construct</a:t>
                      </a:r>
                    </a:p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구축</a:t>
                      </a: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endParaRPr lang="en-US" altLang="ko-KR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Implement</a:t>
                      </a:r>
                      <a:b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</a:b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통합테스트</a:t>
                      </a: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 err="1">
                          <a:solidFill>
                            <a:schemeClr val="bg1"/>
                          </a:solidFill>
                          <a:latin typeface="+mn-ea"/>
                        </a:rPr>
                        <a:t>Migration&amp;Cut-Over</a:t>
                      </a: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</a:p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이관</a:t>
                      </a: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9639" marR="0" lvl="0" indent="-99639" algn="ctr" defTabSz="810616" rtl="0" eaLnBrk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Operate &amp; Review</a:t>
                      </a:r>
                    </a:p>
                    <a:p>
                      <a:pPr marL="99639" marR="0" lvl="0" indent="-99639" algn="ctr" defTabSz="810616" rtl="0" eaLnBrk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안정화</a:t>
                      </a: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) </a:t>
                      </a: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6039"/>
                  </a:ext>
                </a:extLst>
              </a:tr>
              <a:tr h="20054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Month</a:t>
                      </a:r>
                      <a:endParaRPr lang="en-GB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M17</a:t>
                      </a:r>
                      <a:endParaRPr lang="en-GB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43478"/>
                  </a:ext>
                </a:extLst>
              </a:tr>
              <a:tr h="200543">
                <a:tc vMerge="1">
                  <a:txBody>
                    <a:bodyPr/>
                    <a:lstStyle/>
                    <a:p>
                      <a:pPr algn="ctr" latinLnBrk="1"/>
                      <a:endParaRPr lang="en-GB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5~6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’24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804539"/>
                  </a:ext>
                </a:extLst>
              </a:tr>
            </a:tbl>
          </a:graphicData>
        </a:graphic>
      </p:graphicFrame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CF0D751-D5B7-4309-A270-9F4E8B820274}"/>
              </a:ext>
            </a:extLst>
          </p:cNvPr>
          <p:cNvCxnSpPr>
            <a:cxnSpLocks/>
          </p:cNvCxnSpPr>
          <p:nvPr/>
        </p:nvCxnSpPr>
        <p:spPr>
          <a:xfrm flipV="1">
            <a:off x="8053826" y="1767614"/>
            <a:ext cx="0" cy="458232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C10A72B-D83D-4215-A75D-DBE22549F9EC}"/>
              </a:ext>
            </a:extLst>
          </p:cNvPr>
          <p:cNvSpPr/>
          <p:nvPr/>
        </p:nvSpPr>
        <p:spPr bwMode="ltGray">
          <a:xfrm>
            <a:off x="1113881" y="2646340"/>
            <a:ext cx="3397884" cy="3692245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E9D453-E076-4AB0-8325-8316782FCF26}"/>
              </a:ext>
            </a:extLst>
          </p:cNvPr>
          <p:cNvSpPr/>
          <p:nvPr/>
        </p:nvSpPr>
        <p:spPr>
          <a:xfrm>
            <a:off x="1227009" y="5382642"/>
            <a:ext cx="995854" cy="36736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개발 시스템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환경구성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6C586A-3F70-431F-AD0D-981AEAE25762}"/>
              </a:ext>
            </a:extLst>
          </p:cNvPr>
          <p:cNvSpPr/>
          <p:nvPr/>
        </p:nvSpPr>
        <p:spPr>
          <a:xfrm>
            <a:off x="1109497" y="3508978"/>
            <a:ext cx="739319" cy="31580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프로그램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기능 설계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915F3E-D0F8-4232-876F-CED2A4240FD3}"/>
              </a:ext>
            </a:extLst>
          </p:cNvPr>
          <p:cNvSpPr/>
          <p:nvPr/>
        </p:nvSpPr>
        <p:spPr>
          <a:xfrm>
            <a:off x="1115965" y="2720356"/>
            <a:ext cx="732852" cy="3664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ERP</a:t>
            </a:r>
            <a:b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Configuration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7EC2C47-0F8A-4908-BCCF-A72A1FAE7FFA}"/>
              </a:ext>
            </a:extLst>
          </p:cNvPr>
          <p:cNvSpPr/>
          <p:nvPr/>
        </p:nvSpPr>
        <p:spPr>
          <a:xfrm>
            <a:off x="1115964" y="3106214"/>
            <a:ext cx="732853" cy="38204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Extended ERP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상세 설계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78080CC-3C31-42A4-8C4C-C20A60244E30}"/>
              </a:ext>
            </a:extLst>
          </p:cNvPr>
          <p:cNvSpPr/>
          <p:nvPr/>
        </p:nvSpPr>
        <p:spPr>
          <a:xfrm>
            <a:off x="1272140" y="4346567"/>
            <a:ext cx="728533" cy="2562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인터페이스 목록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CB1E2D-3F6B-4794-885C-5E4ACA037E2C}"/>
              </a:ext>
            </a:extLst>
          </p:cNvPr>
          <p:cNvSpPr/>
          <p:nvPr/>
        </p:nvSpPr>
        <p:spPr>
          <a:xfrm>
            <a:off x="2419518" y="4345798"/>
            <a:ext cx="2080317" cy="25703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단위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Test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6EBDEB2-8F7E-4CA5-9D09-5CC26861212D}"/>
              </a:ext>
            </a:extLst>
          </p:cNvPr>
          <p:cNvSpPr/>
          <p:nvPr/>
        </p:nvSpPr>
        <p:spPr>
          <a:xfrm>
            <a:off x="1163408" y="4678085"/>
            <a:ext cx="567275" cy="29540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표준체계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/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</a:b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정의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CE7EDF-2CFE-4309-9031-1D4CEEACD0C8}"/>
              </a:ext>
            </a:extLst>
          </p:cNvPr>
          <p:cNvSpPr/>
          <p:nvPr/>
        </p:nvSpPr>
        <p:spPr>
          <a:xfrm>
            <a:off x="1162794" y="5006585"/>
            <a:ext cx="1088629" cy="29488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정비 계획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수립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34A5025-24F2-4A9C-A158-0EC6E279C941}"/>
              </a:ext>
            </a:extLst>
          </p:cNvPr>
          <p:cNvSpPr/>
          <p:nvPr/>
        </p:nvSpPr>
        <p:spPr>
          <a:xfrm>
            <a:off x="3696793" y="5372492"/>
            <a:ext cx="796600" cy="37751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통합 테스트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시스템 환경구성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A5FFA6-8843-54CC-68CE-A9CFD0B607DE}"/>
              </a:ext>
            </a:extLst>
          </p:cNvPr>
          <p:cNvSpPr/>
          <p:nvPr/>
        </p:nvSpPr>
        <p:spPr>
          <a:xfrm>
            <a:off x="6690307" y="3877507"/>
            <a:ext cx="612552" cy="32208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Cut-Over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준비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1BC599-0C10-4556-8640-8427A8299CF0}"/>
              </a:ext>
            </a:extLst>
          </p:cNvPr>
          <p:cNvSpPr/>
          <p:nvPr/>
        </p:nvSpPr>
        <p:spPr>
          <a:xfrm>
            <a:off x="2279822" y="4662563"/>
            <a:ext cx="4336497" cy="63817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데이터 정비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(Data Cleansing)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315CCB-161D-4AE6-A4B7-0250A4394663}"/>
              </a:ext>
            </a:extLst>
          </p:cNvPr>
          <p:cNvSpPr/>
          <p:nvPr/>
        </p:nvSpPr>
        <p:spPr>
          <a:xfrm>
            <a:off x="3989243" y="4668910"/>
            <a:ext cx="583849" cy="25698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차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 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데이터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준비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5A6631A-6B31-BD56-9637-217672A0245F}"/>
              </a:ext>
            </a:extLst>
          </p:cNvPr>
          <p:cNvSpPr/>
          <p:nvPr/>
        </p:nvSpPr>
        <p:spPr>
          <a:xfrm>
            <a:off x="4571545" y="4290055"/>
            <a:ext cx="2066273" cy="31277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프로그램 수정 및 보완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A76C45C-A393-4F3C-96D1-C1A0D686599E}"/>
              </a:ext>
            </a:extLst>
          </p:cNvPr>
          <p:cNvSpPr/>
          <p:nvPr/>
        </p:nvSpPr>
        <p:spPr>
          <a:xfrm>
            <a:off x="5970415" y="2718023"/>
            <a:ext cx="645905" cy="29527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사용자교육준비</a:t>
            </a:r>
          </a:p>
        </p:txBody>
      </p:sp>
      <p:cxnSp>
        <p:nvCxnSpPr>
          <p:cNvPr id="41" name="연결선: 꺾임 33">
            <a:extLst>
              <a:ext uri="{FF2B5EF4-FFF2-40B4-BE49-F238E27FC236}">
                <a16:creationId xmlns:a16="http://schemas.microsoft.com/office/drawing/2014/main" id="{1B7F9459-EF0A-3631-C92B-4A156A54F566}"/>
              </a:ext>
            </a:extLst>
          </p:cNvPr>
          <p:cNvCxnSpPr>
            <a:cxnSpLocks/>
            <a:stCxn id="40" idx="3"/>
            <a:endCxn id="17" idx="1"/>
          </p:cNvCxnSpPr>
          <p:nvPr/>
        </p:nvCxnSpPr>
        <p:spPr>
          <a:xfrm>
            <a:off x="6616320" y="2865660"/>
            <a:ext cx="87632" cy="1967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2">
            <a:extLst>
              <a:ext uri="{FF2B5EF4-FFF2-40B4-BE49-F238E27FC236}">
                <a16:creationId xmlns:a16="http://schemas.microsoft.com/office/drawing/2014/main" id="{119887F0-09B1-48ED-816A-57350DABDBE0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5400000">
            <a:off x="6977287" y="3439786"/>
            <a:ext cx="65882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01811AF-D83D-E913-BB79-CB9160EB944D}"/>
              </a:ext>
            </a:extLst>
          </p:cNvPr>
          <p:cNvSpPr/>
          <p:nvPr/>
        </p:nvSpPr>
        <p:spPr>
          <a:xfrm>
            <a:off x="7422452" y="5372492"/>
            <a:ext cx="610790" cy="37751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운영 시스템 최종점검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65EF6B-1DAD-DD92-443C-9D1E15557992}"/>
              </a:ext>
            </a:extLst>
          </p:cNvPr>
          <p:cNvSpPr/>
          <p:nvPr/>
        </p:nvSpPr>
        <p:spPr>
          <a:xfrm>
            <a:off x="4643768" y="4978144"/>
            <a:ext cx="1944152" cy="22824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 데이터 검증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5FA9C11-FBEE-4210-8C75-3B906178D30B}"/>
              </a:ext>
            </a:extLst>
          </p:cNvPr>
          <p:cNvCxnSpPr>
            <a:cxnSpLocks/>
          </p:cNvCxnSpPr>
          <p:nvPr/>
        </p:nvCxnSpPr>
        <p:spPr>
          <a:xfrm flipV="1">
            <a:off x="461609" y="5329489"/>
            <a:ext cx="7587735" cy="8110"/>
          </a:xfrm>
          <a:prstGeom prst="line">
            <a:avLst/>
          </a:prstGeom>
          <a:noFill/>
          <a:ln w="12700" cap="flat" cmpd="sng" algn="ctr">
            <a:solidFill>
              <a:srgbClr val="44546A">
                <a:lumMod val="65000"/>
              </a:srgbClr>
            </a:solidFill>
            <a:prstDash val="dash"/>
            <a:headEnd type="none" w="med" len="med"/>
            <a:tailEnd type="none" w="med" len="med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CC2136F-ED79-4678-AAA5-F29FA96E09C4}"/>
              </a:ext>
            </a:extLst>
          </p:cNvPr>
          <p:cNvCxnSpPr/>
          <p:nvPr/>
        </p:nvCxnSpPr>
        <p:spPr>
          <a:xfrm flipV="1">
            <a:off x="444260" y="4617529"/>
            <a:ext cx="9015152" cy="9636"/>
          </a:xfrm>
          <a:prstGeom prst="line">
            <a:avLst/>
          </a:prstGeom>
          <a:noFill/>
          <a:ln w="12700" cap="flat" cmpd="sng" algn="ctr">
            <a:solidFill>
              <a:srgbClr val="44546A">
                <a:lumMod val="65000"/>
              </a:srgb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47" name="AutoShape 16">
            <a:extLst>
              <a:ext uri="{FF2B5EF4-FFF2-40B4-BE49-F238E27FC236}">
                <a16:creationId xmlns:a16="http://schemas.microsoft.com/office/drawing/2014/main" id="{F67A1A3D-9B05-E056-7E4C-72D0DE674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59" y="5795788"/>
            <a:ext cx="640347" cy="519621"/>
          </a:xfrm>
          <a:prstGeom prst="homePlate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rgbClr val="A5A5A5"/>
            </a:solidFill>
            <a:miter lim="800000"/>
            <a:headEnd/>
            <a:tailEnd/>
          </a:ln>
          <a:effectLst/>
        </p:spPr>
        <p:txBody>
          <a:bodyPr wrap="square" lIns="0" tIns="48642" rIns="0" bIns="48642" anchor="ctr"/>
          <a:lstStyle/>
          <a:p>
            <a:pPr marL="0" marR="0" lvl="0" indent="0" algn="ctr" defTabSz="9572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>
                <a:solidFill>
                  <a:srgbClr val="FFFFFF"/>
                </a:solidFill>
                <a:latin typeface="+mn-ea"/>
              </a:rPr>
              <a:t>LEGACY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626C00C-3A62-01A2-D108-A49A5837E8C2}"/>
              </a:ext>
            </a:extLst>
          </p:cNvPr>
          <p:cNvSpPr/>
          <p:nvPr/>
        </p:nvSpPr>
        <p:spPr>
          <a:xfrm>
            <a:off x="1127496" y="5796841"/>
            <a:ext cx="593131" cy="5289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분석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42BF9A3-FCF0-8D28-3551-1EC7C7DADCD2}"/>
              </a:ext>
            </a:extLst>
          </p:cNvPr>
          <p:cNvSpPr/>
          <p:nvPr/>
        </p:nvSpPr>
        <p:spPr>
          <a:xfrm>
            <a:off x="1752610" y="5798527"/>
            <a:ext cx="1272086" cy="52710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인터페이스 및 대응 설계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9624349-706C-D269-344A-0DCAF7391769}"/>
              </a:ext>
            </a:extLst>
          </p:cNvPr>
          <p:cNvSpPr/>
          <p:nvPr/>
        </p:nvSpPr>
        <p:spPr>
          <a:xfrm>
            <a:off x="3040484" y="5795399"/>
            <a:ext cx="2205063" cy="52710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       대응 개발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/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단위테스트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928B854-488B-E9D9-B9D9-7CB508EABF30}"/>
              </a:ext>
            </a:extLst>
          </p:cNvPr>
          <p:cNvSpPr/>
          <p:nvPr/>
        </p:nvSpPr>
        <p:spPr>
          <a:xfrm>
            <a:off x="5279970" y="5803409"/>
            <a:ext cx="1336260" cy="2365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통합테스트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23E12A7-D3C0-FAC0-922A-4CF6CFB20905}"/>
              </a:ext>
            </a:extLst>
          </p:cNvPr>
          <p:cNvSpPr/>
          <p:nvPr/>
        </p:nvSpPr>
        <p:spPr>
          <a:xfrm>
            <a:off x="4561982" y="5803409"/>
            <a:ext cx="679107" cy="33867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 </a:t>
            </a: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데이터 준비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8EF170C-919D-51D2-5206-872B45504705}"/>
              </a:ext>
            </a:extLst>
          </p:cNvPr>
          <p:cNvSpPr/>
          <p:nvPr/>
        </p:nvSpPr>
        <p:spPr>
          <a:xfrm>
            <a:off x="5966346" y="6065794"/>
            <a:ext cx="645905" cy="2727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변화 내역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교육 준비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A8742D2-49FA-80D8-3707-804982CB03D9}"/>
              </a:ext>
            </a:extLst>
          </p:cNvPr>
          <p:cNvCxnSpPr>
            <a:cxnSpLocks/>
          </p:cNvCxnSpPr>
          <p:nvPr/>
        </p:nvCxnSpPr>
        <p:spPr>
          <a:xfrm flipV="1">
            <a:off x="463850" y="5765862"/>
            <a:ext cx="7587735" cy="8110"/>
          </a:xfrm>
          <a:prstGeom prst="line">
            <a:avLst/>
          </a:prstGeom>
          <a:noFill/>
          <a:ln w="12700" cap="flat" cmpd="sng" algn="ctr">
            <a:solidFill>
              <a:srgbClr val="44546A">
                <a:lumMod val="65000"/>
              </a:srgb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F94263A-BF6E-5536-4191-608FDEF7C43B}"/>
              </a:ext>
            </a:extLst>
          </p:cNvPr>
          <p:cNvSpPr/>
          <p:nvPr/>
        </p:nvSpPr>
        <p:spPr>
          <a:xfrm>
            <a:off x="6695091" y="6071651"/>
            <a:ext cx="612552" cy="2548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사용자교육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A86E96C-51F3-820E-31C5-8B270FECADA6}"/>
              </a:ext>
            </a:extLst>
          </p:cNvPr>
          <p:cNvSpPr/>
          <p:nvPr/>
        </p:nvSpPr>
        <p:spPr>
          <a:xfrm>
            <a:off x="6695091" y="5795399"/>
            <a:ext cx="619638" cy="24672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Cut-Over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준비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021BBE4-868A-2AFA-6C34-E686DC35CF88}"/>
              </a:ext>
            </a:extLst>
          </p:cNvPr>
          <p:cNvSpPr/>
          <p:nvPr/>
        </p:nvSpPr>
        <p:spPr>
          <a:xfrm>
            <a:off x="7385230" y="5804172"/>
            <a:ext cx="619638" cy="24672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Cut-Over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실행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390242-6667-2252-62A3-0435C34F3EFA}"/>
              </a:ext>
            </a:extLst>
          </p:cNvPr>
          <p:cNvSpPr/>
          <p:nvPr/>
        </p:nvSpPr>
        <p:spPr>
          <a:xfrm>
            <a:off x="7393560" y="6071093"/>
            <a:ext cx="612552" cy="2548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본이행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46E5F49-9FD0-9AC1-30D4-F69C6724B0F1}"/>
              </a:ext>
            </a:extLst>
          </p:cNvPr>
          <p:cNvSpPr/>
          <p:nvPr/>
        </p:nvSpPr>
        <p:spPr>
          <a:xfrm>
            <a:off x="1750394" y="4679573"/>
            <a:ext cx="501030" cy="298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기준정보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세팅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4790D3C-BD2A-D5CF-4A71-71DAD56BBE51}"/>
              </a:ext>
            </a:extLst>
          </p:cNvPr>
          <p:cNvSpPr/>
          <p:nvPr/>
        </p:nvSpPr>
        <p:spPr>
          <a:xfrm>
            <a:off x="6700599" y="4254973"/>
            <a:ext cx="612552" cy="33383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권한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&amp;ROLE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정의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A3B2051-7E70-BEC1-4355-5310AA2CE5B1}"/>
              </a:ext>
            </a:extLst>
          </p:cNvPr>
          <p:cNvSpPr/>
          <p:nvPr/>
        </p:nvSpPr>
        <p:spPr>
          <a:xfrm>
            <a:off x="7735311" y="4670146"/>
            <a:ext cx="264934" cy="342449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Delta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반영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4BB9B68-622B-46DB-5B72-8BC88CCFC028}"/>
              </a:ext>
            </a:extLst>
          </p:cNvPr>
          <p:cNvSpPr/>
          <p:nvPr/>
        </p:nvSpPr>
        <p:spPr>
          <a:xfrm>
            <a:off x="6692290" y="5374007"/>
            <a:ext cx="610790" cy="37751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LEGACY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연동 점검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6AE07FD-AD62-62BE-B626-D636E5B23597}"/>
              </a:ext>
            </a:extLst>
          </p:cNvPr>
          <p:cNvSpPr/>
          <p:nvPr/>
        </p:nvSpPr>
        <p:spPr>
          <a:xfrm>
            <a:off x="7413273" y="3472727"/>
            <a:ext cx="612551" cy="112193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Cut-Over</a:t>
            </a:r>
            <a:endParaRPr lang="en-US" altLang="ko-KR" sz="900" kern="0" dirty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실행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98E9B1-BCB1-5372-EC35-22A5CF0C146C}"/>
              </a:ext>
            </a:extLst>
          </p:cNvPr>
          <p:cNvSpPr/>
          <p:nvPr/>
        </p:nvSpPr>
        <p:spPr>
          <a:xfrm>
            <a:off x="8095590" y="2654462"/>
            <a:ext cx="261519" cy="309554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Help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Desk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운영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1BF4730-C46A-D798-ECDA-50AA64C56F99}"/>
              </a:ext>
            </a:extLst>
          </p:cNvPr>
          <p:cNvSpPr/>
          <p:nvPr/>
        </p:nvSpPr>
        <p:spPr>
          <a:xfrm>
            <a:off x="8625408" y="2654463"/>
            <a:ext cx="289914" cy="118610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결산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지원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E680DF5-780F-D477-DD31-5E48FE9BCA19}"/>
              </a:ext>
            </a:extLst>
          </p:cNvPr>
          <p:cNvSpPr/>
          <p:nvPr/>
        </p:nvSpPr>
        <p:spPr>
          <a:xfrm>
            <a:off x="7836381" y="2718636"/>
            <a:ext cx="179356" cy="68820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상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황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실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운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영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cxnSp>
        <p:nvCxnSpPr>
          <p:cNvPr id="67" name="연결선: 꺾임 138">
            <a:extLst>
              <a:ext uri="{FF2B5EF4-FFF2-40B4-BE49-F238E27FC236}">
                <a16:creationId xmlns:a16="http://schemas.microsoft.com/office/drawing/2014/main" id="{41E6F451-9ED4-8452-A4C0-A0AD1678F266}"/>
              </a:ext>
            </a:extLst>
          </p:cNvPr>
          <p:cNvCxnSpPr>
            <a:cxnSpLocks/>
            <a:stCxn id="36" idx="3"/>
            <a:endCxn id="63" idx="1"/>
          </p:cNvCxnSpPr>
          <p:nvPr/>
        </p:nvCxnSpPr>
        <p:spPr>
          <a:xfrm flipV="1">
            <a:off x="7302859" y="4033694"/>
            <a:ext cx="110414" cy="48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143">
            <a:extLst>
              <a:ext uri="{FF2B5EF4-FFF2-40B4-BE49-F238E27FC236}">
                <a16:creationId xmlns:a16="http://schemas.microsoft.com/office/drawing/2014/main" id="{8D0484C6-B06A-04F9-20C7-5FC1EA74334A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7313151" y="4411276"/>
            <a:ext cx="109301" cy="106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147">
            <a:extLst>
              <a:ext uri="{FF2B5EF4-FFF2-40B4-BE49-F238E27FC236}">
                <a16:creationId xmlns:a16="http://schemas.microsoft.com/office/drawing/2014/main" id="{E9014F58-0B2D-BA8D-D7D8-2A60D3AE59DB}"/>
              </a:ext>
            </a:extLst>
          </p:cNvPr>
          <p:cNvCxnSpPr>
            <a:cxnSpLocks/>
            <a:stCxn id="63" idx="0"/>
            <a:endCxn id="66" idx="1"/>
          </p:cNvCxnSpPr>
          <p:nvPr/>
        </p:nvCxnSpPr>
        <p:spPr>
          <a:xfrm rot="5400000" flipH="1" flipV="1">
            <a:off x="7572972" y="3209318"/>
            <a:ext cx="409986" cy="1168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자유형: 도형 151">
            <a:extLst>
              <a:ext uri="{FF2B5EF4-FFF2-40B4-BE49-F238E27FC236}">
                <a16:creationId xmlns:a16="http://schemas.microsoft.com/office/drawing/2014/main" id="{A17F1A5C-AC2A-86EF-8893-891FDBC0DF1F}"/>
              </a:ext>
            </a:extLst>
          </p:cNvPr>
          <p:cNvSpPr/>
          <p:nvPr/>
        </p:nvSpPr>
        <p:spPr>
          <a:xfrm>
            <a:off x="1131216" y="2725737"/>
            <a:ext cx="3375423" cy="1545939"/>
          </a:xfrm>
          <a:custGeom>
            <a:avLst/>
            <a:gdLst>
              <a:gd name="connsiteX0" fmla="*/ 0 w 3101418"/>
              <a:gd name="connsiteY0" fmla="*/ 1131217 h 1536569"/>
              <a:gd name="connsiteX1" fmla="*/ 754144 w 3101418"/>
              <a:gd name="connsiteY1" fmla="*/ 1131217 h 1536569"/>
              <a:gd name="connsiteX2" fmla="*/ 754144 w 3101418"/>
              <a:gd name="connsiteY2" fmla="*/ 0 h 1536569"/>
              <a:gd name="connsiteX3" fmla="*/ 3101418 w 3101418"/>
              <a:gd name="connsiteY3" fmla="*/ 9427 h 1536569"/>
              <a:gd name="connsiteX4" fmla="*/ 3101418 w 3101418"/>
              <a:gd name="connsiteY4" fmla="*/ 1536569 h 1536569"/>
              <a:gd name="connsiteX5" fmla="*/ 9426 w 3101418"/>
              <a:gd name="connsiteY5" fmla="*/ 1536569 h 1536569"/>
              <a:gd name="connsiteX6" fmla="*/ 0 w 3101418"/>
              <a:gd name="connsiteY6" fmla="*/ 1131217 h 1536569"/>
              <a:gd name="connsiteX0" fmla="*/ 0 w 3091992"/>
              <a:gd name="connsiteY0" fmla="*/ 1121791 h 1536569"/>
              <a:gd name="connsiteX1" fmla="*/ 744718 w 3091992"/>
              <a:gd name="connsiteY1" fmla="*/ 1131217 h 1536569"/>
              <a:gd name="connsiteX2" fmla="*/ 744718 w 3091992"/>
              <a:gd name="connsiteY2" fmla="*/ 0 h 1536569"/>
              <a:gd name="connsiteX3" fmla="*/ 3091992 w 3091992"/>
              <a:gd name="connsiteY3" fmla="*/ 9427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744718 w 3091992"/>
              <a:gd name="connsiteY1" fmla="*/ 1121790 h 1536569"/>
              <a:gd name="connsiteX2" fmla="*/ 744718 w 3091992"/>
              <a:gd name="connsiteY2" fmla="*/ 0 h 1536569"/>
              <a:gd name="connsiteX3" fmla="*/ 3091992 w 3091992"/>
              <a:gd name="connsiteY3" fmla="*/ 9427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744718 w 3091992"/>
              <a:gd name="connsiteY1" fmla="*/ 1121790 h 1536569"/>
              <a:gd name="connsiteX2" fmla="*/ 744718 w 3091992"/>
              <a:gd name="connsiteY2" fmla="*/ 0 h 1536569"/>
              <a:gd name="connsiteX3" fmla="*/ 3091992 w 3091992"/>
              <a:gd name="connsiteY3" fmla="*/ 9427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744718 w 3091992"/>
              <a:gd name="connsiteY1" fmla="*/ 1121790 h 1536569"/>
              <a:gd name="connsiteX2" fmla="*/ 744718 w 3091992"/>
              <a:gd name="connsiteY2" fmla="*/ 0 h 1536569"/>
              <a:gd name="connsiteX3" fmla="*/ 3091992 w 3091992"/>
              <a:gd name="connsiteY3" fmla="*/ 0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692906 w 3091992"/>
              <a:gd name="connsiteY1" fmla="*/ 1121790 h 1536569"/>
              <a:gd name="connsiteX2" fmla="*/ 744718 w 3091992"/>
              <a:gd name="connsiteY2" fmla="*/ 0 h 1536569"/>
              <a:gd name="connsiteX3" fmla="*/ 3091992 w 3091992"/>
              <a:gd name="connsiteY3" fmla="*/ 0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692906 w 3091992"/>
              <a:gd name="connsiteY1" fmla="*/ 1121790 h 1536569"/>
              <a:gd name="connsiteX2" fmla="*/ 701541 w 3091992"/>
              <a:gd name="connsiteY2" fmla="*/ 0 h 1536569"/>
              <a:gd name="connsiteX3" fmla="*/ 3091992 w 3091992"/>
              <a:gd name="connsiteY3" fmla="*/ 0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  <a:gd name="connsiteX0" fmla="*/ 0 w 3091992"/>
              <a:gd name="connsiteY0" fmla="*/ 1121791 h 1536569"/>
              <a:gd name="connsiteX1" fmla="*/ 692906 w 3091992"/>
              <a:gd name="connsiteY1" fmla="*/ 1121790 h 1536569"/>
              <a:gd name="connsiteX2" fmla="*/ 692906 w 3091992"/>
              <a:gd name="connsiteY2" fmla="*/ 0 h 1536569"/>
              <a:gd name="connsiteX3" fmla="*/ 3091992 w 3091992"/>
              <a:gd name="connsiteY3" fmla="*/ 0 h 1536569"/>
              <a:gd name="connsiteX4" fmla="*/ 3091992 w 3091992"/>
              <a:gd name="connsiteY4" fmla="*/ 1536569 h 1536569"/>
              <a:gd name="connsiteX5" fmla="*/ 0 w 3091992"/>
              <a:gd name="connsiteY5" fmla="*/ 1536569 h 1536569"/>
              <a:gd name="connsiteX6" fmla="*/ 0 w 3091992"/>
              <a:gd name="connsiteY6" fmla="*/ 1121791 h 153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1992" h="1536569">
                <a:moveTo>
                  <a:pt x="0" y="1121791"/>
                </a:moveTo>
                <a:lnTo>
                  <a:pt x="692906" y="1121790"/>
                </a:lnTo>
                <a:cubicBezTo>
                  <a:pt x="695784" y="747860"/>
                  <a:pt x="690028" y="373930"/>
                  <a:pt x="692906" y="0"/>
                </a:cubicBezTo>
                <a:lnTo>
                  <a:pt x="3091992" y="0"/>
                </a:lnTo>
                <a:lnTo>
                  <a:pt x="3091992" y="1536569"/>
                </a:lnTo>
                <a:lnTo>
                  <a:pt x="0" y="1536569"/>
                </a:lnTo>
                <a:lnTo>
                  <a:pt x="0" y="1121791"/>
                </a:lnTo>
                <a:close/>
              </a:path>
            </a:pathLst>
          </a:cu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1044000" tIns="72000" rIns="72000" bIns="72000" anchor="ctr"/>
          <a:lstStyle/>
          <a:p>
            <a:pPr defTabSz="914400">
              <a:lnSpc>
                <a:spcPct val="150000"/>
              </a:lnSpc>
              <a:buSzPct val="100000"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프로그램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기술 설계 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defTabSz="914400">
              <a:lnSpc>
                <a:spcPct val="150000"/>
              </a:lnSpc>
              <a:buSzPct val="100000"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 /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기능 구현</a:t>
            </a:r>
          </a:p>
          <a:p>
            <a:pPr defTabSz="914400">
              <a:lnSpc>
                <a:spcPct val="150000"/>
              </a:lnSpc>
              <a:buSzPct val="100000"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/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인터페이스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개발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8DC51E9-D284-A80D-B491-163797ABC688}"/>
              </a:ext>
            </a:extLst>
          </p:cNvPr>
          <p:cNvSpPr/>
          <p:nvPr/>
        </p:nvSpPr>
        <p:spPr>
          <a:xfrm>
            <a:off x="4130741" y="2724239"/>
            <a:ext cx="370687" cy="1414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통합테스트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 준비</a:t>
            </a:r>
          </a:p>
        </p:txBody>
      </p:sp>
      <p:cxnSp>
        <p:nvCxnSpPr>
          <p:cNvPr id="72" name="연결선: 꺾임 153">
            <a:extLst>
              <a:ext uri="{FF2B5EF4-FFF2-40B4-BE49-F238E27FC236}">
                <a16:creationId xmlns:a16="http://schemas.microsoft.com/office/drawing/2014/main" id="{836D4694-5497-4239-01AF-F160A27FB009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2000673" y="4258724"/>
            <a:ext cx="98145" cy="2159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157">
            <a:extLst>
              <a:ext uri="{FF2B5EF4-FFF2-40B4-BE49-F238E27FC236}">
                <a16:creationId xmlns:a16="http://schemas.microsoft.com/office/drawing/2014/main" id="{4DC14A57-6DB3-52AF-9F68-DB7DCDBEB112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2263389" y="4318185"/>
            <a:ext cx="202638" cy="1096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40939C5-8F05-55A0-D0F3-6E5C29733609}"/>
              </a:ext>
            </a:extLst>
          </p:cNvPr>
          <p:cNvCxnSpPr>
            <a:stCxn id="14" idx="2"/>
          </p:cNvCxnSpPr>
          <p:nvPr/>
        </p:nvCxnSpPr>
        <p:spPr>
          <a:xfrm>
            <a:off x="4907533" y="3824780"/>
            <a:ext cx="9431" cy="465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5C35693-49CD-89BA-14AD-EE1213041A48}"/>
              </a:ext>
            </a:extLst>
          </p:cNvPr>
          <p:cNvCxnSpPr/>
          <p:nvPr/>
        </p:nvCxnSpPr>
        <p:spPr>
          <a:xfrm>
            <a:off x="5588303" y="3816850"/>
            <a:ext cx="9431" cy="465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A193A5A-31D8-C2BA-ADDC-41C2140C3E1E}"/>
              </a:ext>
            </a:extLst>
          </p:cNvPr>
          <p:cNvCxnSpPr/>
          <p:nvPr/>
        </p:nvCxnSpPr>
        <p:spPr>
          <a:xfrm>
            <a:off x="6306484" y="3818885"/>
            <a:ext cx="9431" cy="465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6F4443A-4B91-4872-B640-B1F9C8DE190E}"/>
              </a:ext>
            </a:extLst>
          </p:cNvPr>
          <p:cNvSpPr/>
          <p:nvPr/>
        </p:nvSpPr>
        <p:spPr>
          <a:xfrm>
            <a:off x="4584169" y="3863211"/>
            <a:ext cx="2042968" cy="32397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0" tIns="7200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권한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,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보안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,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성능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점검</a:t>
            </a:r>
          </a:p>
        </p:txBody>
      </p:sp>
      <p:cxnSp>
        <p:nvCxnSpPr>
          <p:cNvPr id="78" name="연결선: 꺾임 168">
            <a:extLst>
              <a:ext uri="{FF2B5EF4-FFF2-40B4-BE49-F238E27FC236}">
                <a16:creationId xmlns:a16="http://schemas.microsoft.com/office/drawing/2014/main" id="{104BE41A-C520-BD77-9FCD-205F39F11957}"/>
              </a:ext>
            </a:extLst>
          </p:cNvPr>
          <p:cNvCxnSpPr>
            <a:cxnSpLocks/>
            <a:stCxn id="71" idx="3"/>
            <a:endCxn id="13" idx="1"/>
          </p:cNvCxnSpPr>
          <p:nvPr/>
        </p:nvCxnSpPr>
        <p:spPr>
          <a:xfrm flipV="1">
            <a:off x="4501428" y="2865660"/>
            <a:ext cx="130299" cy="5656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1C24A36-1A99-3BA7-E053-B980133580A5}"/>
              </a:ext>
            </a:extLst>
          </p:cNvPr>
          <p:cNvSpPr/>
          <p:nvPr/>
        </p:nvSpPr>
        <p:spPr>
          <a:xfrm>
            <a:off x="4694949" y="4668910"/>
            <a:ext cx="583849" cy="25698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차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 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데이터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준비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BF526CE-0464-DE2C-61C2-E80B3FFDB3C0}"/>
              </a:ext>
            </a:extLst>
          </p:cNvPr>
          <p:cNvSpPr/>
          <p:nvPr/>
        </p:nvSpPr>
        <p:spPr>
          <a:xfrm>
            <a:off x="5366955" y="4668658"/>
            <a:ext cx="583849" cy="25698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3</a:t>
            </a:r>
            <a:r>
              <a:rPr lang="ko-KR" altLang="en-US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차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테스트 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데이터</a:t>
            </a:r>
            <a:r>
              <a:rPr lang="en-US" altLang="ko-KR" sz="800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itchFamily="34" charset="0"/>
              </a:rPr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296693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CCEF467-7138-4006-A2AF-892236B4C612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22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0ABE10F-A7F2-4983-8BCC-EBAE032D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ko-KR" altLang="en-US" sz="2000" b="1" kern="0" spc="-138" dirty="0">
                <a:ln w="1905"/>
                <a:ea typeface="맑은 고딕"/>
              </a:rPr>
              <a:t>     </a:t>
            </a:r>
            <a:r>
              <a:rPr lang="en-US" altLang="ko-KR" sz="2000" b="1" kern="0" spc="-138" dirty="0">
                <a:ln w="1905"/>
                <a:ea typeface="맑은 고딕"/>
              </a:rPr>
              <a:t>S/4HANA </a:t>
            </a:r>
            <a:r>
              <a:rPr lang="ko-KR" altLang="en-US" sz="2000" b="1" kern="0" spc="-138" dirty="0">
                <a:ln w="1905"/>
                <a:ea typeface="맑은 고딕"/>
              </a:rPr>
              <a:t>기반 혁신의 지속 확대 및 고도화 </a:t>
            </a:r>
            <a:r>
              <a:rPr lang="en-US" altLang="ko-KR" sz="2000" b="1" kern="0" spc="-138" dirty="0">
                <a:ln w="1905"/>
                <a:ea typeface="맑은 고딕"/>
              </a:rPr>
              <a:t>(</a:t>
            </a:r>
            <a:r>
              <a:rPr lang="ko-KR" altLang="en-US" sz="2000" b="1" kern="0" spc="-138" dirty="0">
                <a:ln w="1905"/>
                <a:ea typeface="맑은 고딕"/>
              </a:rPr>
              <a:t>案</a:t>
            </a:r>
            <a:r>
              <a:rPr lang="en-US" altLang="ko-KR" sz="2000" b="1" kern="0" spc="-138" dirty="0">
                <a:ln w="1905"/>
                <a:ea typeface="맑은 고딕"/>
              </a:rPr>
              <a:t>)</a:t>
            </a:r>
            <a:endParaRPr lang="ko-KR" altLang="en-US" sz="2000" b="1" kern="0" spc="-138" dirty="0">
              <a:ln w="1905"/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650B4E-AEE6-4D6F-B820-1715CB67B226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 Box 15">
            <a:extLst>
              <a:ext uri="{FF2B5EF4-FFF2-40B4-BE49-F238E27FC236}">
                <a16:creationId xmlns:a16="http://schemas.microsoft.com/office/drawing/2014/main" id="{E36D1EC7-71C5-4B03-AF3F-87552DF4D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444038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/>
              <a:t>S/4HANA </a:t>
            </a:r>
            <a:r>
              <a:rPr lang="ko-KR" altLang="en-US" spc="-150" dirty="0"/>
              <a:t>기반의 지속적인 혁신을 위하여 기본 </a:t>
            </a:r>
            <a:r>
              <a:rPr lang="en-US" altLang="ko-KR" spc="-150" dirty="0"/>
              <a:t>Function </a:t>
            </a:r>
            <a:r>
              <a:rPr lang="ko-KR" altLang="en-US" spc="-150" dirty="0"/>
              <a:t>외 기능의 고도화 및 추가 도입이 </a:t>
            </a:r>
            <a:r>
              <a:rPr lang="ko-KR" altLang="en-US" spc="-150" dirty="0" smtClean="0"/>
              <a:t>필요하며 </a:t>
            </a:r>
            <a:r>
              <a:rPr lang="en-US" altLang="ko-KR" sz="1200" spc="-150" dirty="0" smtClean="0"/>
              <a:t>(</a:t>
            </a:r>
            <a:r>
              <a:rPr lang="ko-KR" altLang="en-US" sz="1200" spc="-150" dirty="0" smtClean="0"/>
              <a:t>별도 프로젝트</a:t>
            </a:r>
            <a:r>
              <a:rPr lang="en-US" altLang="ko-KR" sz="1200" spc="-150" dirty="0" smtClean="0"/>
              <a:t>)</a:t>
            </a:r>
            <a:r>
              <a:rPr lang="en-US" altLang="ko-KR" spc="-150" dirty="0" smtClean="0"/>
              <a:t>,</a:t>
            </a:r>
            <a:br>
              <a:rPr lang="en-US" altLang="ko-KR" spc="-150" dirty="0" smtClean="0"/>
            </a:br>
            <a:r>
              <a:rPr lang="ko-KR" altLang="en-US" spc="-150" dirty="0" smtClean="0"/>
              <a:t>향후 </a:t>
            </a:r>
            <a:r>
              <a:rPr lang="ko-KR" altLang="en-US" spc="-150" dirty="0"/>
              <a:t>고도화 필요 영역은 </a:t>
            </a:r>
            <a:r>
              <a:rPr lang="ko-KR" altLang="en-US" spc="-150" dirty="0" smtClean="0"/>
              <a:t>사업 계획 업무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설비 관리 </a:t>
            </a:r>
            <a:r>
              <a:rPr lang="ko-KR" altLang="en-US" spc="-150" dirty="0"/>
              <a:t>영역으로 판단됨</a:t>
            </a:r>
          </a:p>
        </p:txBody>
      </p:sp>
      <p:sp>
        <p:nvSpPr>
          <p:cNvPr id="32" name="Google Shape;5231;p64">
            <a:extLst>
              <a:ext uri="{FF2B5EF4-FFF2-40B4-BE49-F238E27FC236}">
                <a16:creationId xmlns:a16="http://schemas.microsoft.com/office/drawing/2014/main" id="{7250802D-BE9B-4554-9590-9A5FDC1B67BA}"/>
              </a:ext>
            </a:extLst>
          </p:cNvPr>
          <p:cNvSpPr txBox="1"/>
          <p:nvPr/>
        </p:nvSpPr>
        <p:spPr>
          <a:xfrm>
            <a:off x="594458" y="1832932"/>
            <a:ext cx="5713682" cy="31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S/4</a:t>
            </a:r>
            <a:r>
              <a:rPr lang="en-US" altLang="ko-KR" sz="1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HANA </a:t>
            </a:r>
            <a:r>
              <a:rPr lang="ko-KR" altLang="en-US" sz="1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기능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고도화 필요 영역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33" name="Google Shape;5232;p64">
            <a:extLst>
              <a:ext uri="{FF2B5EF4-FFF2-40B4-BE49-F238E27FC236}">
                <a16:creationId xmlns:a16="http://schemas.microsoft.com/office/drawing/2014/main" id="{F7BBA364-E319-4D6F-8240-504F981F23F7}"/>
              </a:ext>
            </a:extLst>
          </p:cNvPr>
          <p:cNvCxnSpPr>
            <a:cxnSpLocks/>
          </p:cNvCxnSpPr>
          <p:nvPr/>
        </p:nvCxnSpPr>
        <p:spPr>
          <a:xfrm>
            <a:off x="415632" y="2151856"/>
            <a:ext cx="6192000" cy="10296"/>
          </a:xfrm>
          <a:prstGeom prst="straightConnector1">
            <a:avLst/>
          </a:prstGeom>
          <a:noFill/>
          <a:ln w="12700" cap="sq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5231;p64">
            <a:extLst>
              <a:ext uri="{FF2B5EF4-FFF2-40B4-BE49-F238E27FC236}">
                <a16:creationId xmlns:a16="http://schemas.microsoft.com/office/drawing/2014/main" id="{E00FE476-2749-498C-829A-6A8204751113}"/>
              </a:ext>
            </a:extLst>
          </p:cNvPr>
          <p:cNvSpPr txBox="1"/>
          <p:nvPr/>
        </p:nvSpPr>
        <p:spPr>
          <a:xfrm>
            <a:off x="6845421" y="1832932"/>
            <a:ext cx="2688984" cy="31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도입 예상 시기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전제조건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35" name="Google Shape;5232;p64">
            <a:extLst>
              <a:ext uri="{FF2B5EF4-FFF2-40B4-BE49-F238E27FC236}">
                <a16:creationId xmlns:a16="http://schemas.microsoft.com/office/drawing/2014/main" id="{7F3504CB-38E3-428E-B893-E128D50BBE35}"/>
              </a:ext>
            </a:extLst>
          </p:cNvPr>
          <p:cNvCxnSpPr>
            <a:cxnSpLocks/>
          </p:cNvCxnSpPr>
          <p:nvPr/>
        </p:nvCxnSpPr>
        <p:spPr>
          <a:xfrm>
            <a:off x="6746876" y="2151856"/>
            <a:ext cx="2886074" cy="10296"/>
          </a:xfrm>
          <a:prstGeom prst="straightConnector1">
            <a:avLst/>
          </a:prstGeom>
          <a:noFill/>
          <a:ln w="12700" cap="sq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5AD9FD-7D7E-463C-A8E5-7BCE0130A43F}"/>
              </a:ext>
            </a:extLst>
          </p:cNvPr>
          <p:cNvGrpSpPr/>
          <p:nvPr/>
        </p:nvGrpSpPr>
        <p:grpSpPr>
          <a:xfrm>
            <a:off x="392773" y="4156278"/>
            <a:ext cx="9240177" cy="1711052"/>
            <a:chOff x="392773" y="2103895"/>
            <a:chExt cx="9240177" cy="132510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7DB135F-47CA-40EF-9A25-9AD27C36F507}"/>
                </a:ext>
              </a:extLst>
            </p:cNvPr>
            <p:cNvSpPr/>
            <p:nvPr/>
          </p:nvSpPr>
          <p:spPr>
            <a:xfrm>
              <a:off x="392773" y="2103895"/>
              <a:ext cx="2063662" cy="132510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설비 관리</a:t>
              </a:r>
              <a:r>
                <a:rPr lang="en-US" altLang="ko-KR" dirty="0"/>
                <a:t/>
              </a:r>
              <a:br>
                <a:rPr lang="en-US" altLang="ko-KR" dirty="0"/>
              </a:br>
              <a:r>
                <a:rPr lang="en-US" altLang="ko-KR" sz="1200" dirty="0"/>
                <a:t>(PM : Plant Maintenance)</a:t>
              </a:r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7CA7979-F63E-4F2E-AB1D-986972859584}"/>
                </a:ext>
              </a:extLst>
            </p:cNvPr>
            <p:cNvSpPr/>
            <p:nvPr/>
          </p:nvSpPr>
          <p:spPr>
            <a:xfrm>
              <a:off x="2612561" y="2103895"/>
              <a:ext cx="3978190" cy="1325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36000" rtlCol="0" anchor="ctr"/>
            <a:lstStyle/>
            <a:p>
              <a:pPr marL="174625" indent="-174625"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en-US" altLang="ko-KR" sz="1200" b="1" dirty="0">
                  <a:solidFill>
                    <a:schemeClr val="tx1"/>
                  </a:solidFill>
                </a:rPr>
                <a:t>PM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모듈은 기업의 자산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설비 관리 및 유지보수를 위한 모듈로 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S/4 Hana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내 다음과 같은 기능 수행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r>
                <a:rPr lang="ko-KR" altLang="en-US" sz="1050" dirty="0">
                  <a:solidFill>
                    <a:schemeClr val="tx1"/>
                  </a:solidFill>
                </a:rPr>
                <a:t>기계 및 설비관리</a:t>
              </a:r>
              <a:r>
                <a:rPr lang="en-US" altLang="ko-KR" sz="1050" dirty="0">
                  <a:solidFill>
                    <a:schemeClr val="tx1"/>
                  </a:solidFill>
                </a:rPr>
                <a:t> (Location </a:t>
              </a:r>
              <a:r>
                <a:rPr lang="ko-KR" altLang="en-US" sz="1050" dirty="0">
                  <a:solidFill>
                    <a:schemeClr val="tx1"/>
                  </a:solidFill>
                </a:rPr>
                <a:t>포함</a:t>
              </a:r>
              <a:r>
                <a:rPr lang="en-US" altLang="ko-KR" sz="1050" dirty="0">
                  <a:solidFill>
                    <a:schemeClr val="tx1"/>
                  </a:solidFill>
                </a:rPr>
                <a:t>), </a:t>
              </a:r>
              <a:r>
                <a:rPr lang="ko-KR" altLang="en-US" sz="1050" dirty="0">
                  <a:solidFill>
                    <a:schemeClr val="tx1"/>
                  </a:solidFill>
                </a:rPr>
                <a:t>유지보수 계획 관리</a:t>
              </a:r>
              <a:endParaRPr lang="en-US" altLang="ko-KR" sz="1050" dirty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r>
                <a:rPr lang="ko-KR" altLang="en-US" sz="1050" dirty="0">
                  <a:solidFill>
                    <a:schemeClr val="tx1"/>
                  </a:solidFill>
                </a:rPr>
                <a:t>작업 지시서 및 작업 요청관리</a:t>
              </a:r>
              <a:endParaRPr lang="en-US" altLang="ko-KR" sz="1050" dirty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r>
                <a:rPr lang="ko-KR" altLang="en-US" sz="1050" dirty="0">
                  <a:solidFill>
                    <a:schemeClr val="tx1"/>
                  </a:solidFill>
                </a:rPr>
                <a:t>부품 및 재고 관리</a:t>
              </a:r>
              <a:r>
                <a:rPr lang="en-US" altLang="ko-KR" sz="1050" dirty="0">
                  <a:solidFill>
                    <a:schemeClr val="tx1"/>
                  </a:solidFill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</a:rPr>
                <a:t>계약 및 서비스 </a:t>
              </a:r>
              <a:r>
                <a:rPr lang="ko-KR" altLang="en-US" sz="1050" dirty="0" smtClean="0">
                  <a:solidFill>
                    <a:schemeClr val="tx1"/>
                  </a:solidFill>
                </a:rPr>
                <a:t>관리</a:t>
              </a:r>
              <a:endParaRPr lang="en-US" altLang="ko-KR" sz="1050" dirty="0" smtClean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endParaRPr lang="en-US" altLang="ko-KR" sz="1050" dirty="0">
                <a:solidFill>
                  <a:schemeClr val="tx1"/>
                </a:solidFill>
              </a:endParaRPr>
            </a:p>
            <a:p>
              <a:pPr indent="-192088">
                <a:spcAft>
                  <a:spcPts val="400"/>
                </a:spcAft>
                <a:buFont typeface="Wingdings" panose="05000000000000000000" pitchFamily="2" charset="2"/>
                <a:buChar char="§"/>
                <a:tabLst>
                  <a:tab pos="357188" algn="l"/>
                </a:tabLst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현재 자산 관리 측면의 설비 관리만 구현 예정 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120FB32-4BAC-49E4-9E4A-C934259E200A}"/>
                </a:ext>
              </a:extLst>
            </p:cNvPr>
            <p:cNvSpPr/>
            <p:nvPr/>
          </p:nvSpPr>
          <p:spPr>
            <a:xfrm>
              <a:off x="6746876" y="2103895"/>
              <a:ext cx="2886074" cy="13251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indent="-174625"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</a:rPr>
                <a:t>MES </a:t>
              </a:r>
              <a:r>
                <a:rPr lang="ko-KR" altLang="en-US" sz="1200" dirty="0">
                  <a:solidFill>
                    <a:schemeClr val="tx1"/>
                  </a:solidFill>
                </a:rPr>
                <a:t>도입 시 해당 </a:t>
              </a:r>
              <a:r>
                <a:rPr lang="en-US" altLang="ko-KR" sz="1200" dirty="0">
                  <a:solidFill>
                    <a:schemeClr val="tx1"/>
                  </a:solidFill>
                </a:rPr>
                <a:t>SAP </a:t>
              </a:r>
              <a:r>
                <a:rPr lang="ko-KR" altLang="en-US" sz="1200" dirty="0">
                  <a:solidFill>
                    <a:schemeClr val="tx1"/>
                  </a:solidFill>
                </a:rPr>
                <a:t>내 모듈과의 원활한 연계가 가능함 </a:t>
              </a:r>
              <a:endParaRPr lang="en-US" altLang="ko-KR" sz="1200" dirty="0" smtClean="0">
                <a:solidFill>
                  <a:schemeClr val="tx1"/>
                </a:solidFill>
              </a:endParaRPr>
            </a:p>
            <a:p>
              <a:pPr marL="174625" indent="-174625"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marL="174625" indent="-174625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</a:rPr>
                <a:t>설비 자산에 대한 기준정보 체계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위치정보 등의 정보 체계 정비 및 현황 분석</a:t>
              </a:r>
              <a:r>
                <a:rPr lang="en-US" altLang="ko-KR" sz="1200" dirty="0">
                  <a:solidFill>
                    <a:schemeClr val="tx1"/>
                  </a:solidFill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</a:rPr>
                <a:t>실사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r>
                <a:rPr lang="ko-KR" altLang="en-US" sz="1200" dirty="0">
                  <a:solidFill>
                    <a:schemeClr val="tx1"/>
                  </a:solidFill>
                </a:rPr>
                <a:t> 사전적으로 필요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sym typeface="Wingdings" panose="05000000000000000000" pitchFamily="2" charset="2"/>
                </a:rPr>
                <a:t>  MES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sym typeface="Wingdings" panose="05000000000000000000" pitchFamily="2" charset="2"/>
                </a:rPr>
                <a:t>구축 시점과 연계 진행</a:t>
              </a:r>
              <a:endParaRPr lang="ko-KR" altLang="en-US" sz="1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73D18B-A51F-458F-AD51-875AE6C78603}"/>
              </a:ext>
            </a:extLst>
          </p:cNvPr>
          <p:cNvGrpSpPr/>
          <p:nvPr/>
        </p:nvGrpSpPr>
        <p:grpSpPr>
          <a:xfrm>
            <a:off x="392773" y="2224088"/>
            <a:ext cx="9240177" cy="1711052"/>
            <a:chOff x="392773" y="5090758"/>
            <a:chExt cx="9240177" cy="132510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F93FABF-D6D4-456E-B963-E82B256CCA02}"/>
                </a:ext>
              </a:extLst>
            </p:cNvPr>
            <p:cNvSpPr/>
            <p:nvPr/>
          </p:nvSpPr>
          <p:spPr>
            <a:xfrm>
              <a:off x="392773" y="5090758"/>
              <a:ext cx="2063662" cy="132510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사업 계획</a:t>
              </a:r>
              <a:r>
                <a:rPr lang="en-US" altLang="ko-KR" dirty="0"/>
                <a:t/>
              </a:r>
              <a:br>
                <a:rPr lang="en-US" altLang="ko-KR" dirty="0"/>
              </a:br>
              <a:r>
                <a:rPr lang="en-US" altLang="ko-KR" sz="1200" dirty="0"/>
                <a:t>(Business Planning)</a:t>
              </a:r>
              <a:endParaRPr lang="ko-KR" altLang="en-US" sz="12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B094A88-F402-42D2-8417-558F54A4A7AB}"/>
                </a:ext>
              </a:extLst>
            </p:cNvPr>
            <p:cNvSpPr/>
            <p:nvPr/>
          </p:nvSpPr>
          <p:spPr>
            <a:xfrm>
              <a:off x="2612561" y="5090758"/>
              <a:ext cx="3978190" cy="1325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36000" rtlCol="0" anchor="ctr"/>
            <a:lstStyle/>
            <a:p>
              <a:pPr marL="174625" indent="-174625"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사업계획은 기업의 재무데이터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b="1" dirty="0" err="1">
                  <a:solidFill>
                    <a:schemeClr val="tx1"/>
                  </a:solidFill>
                </a:rPr>
                <a:t>비재무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 데이터를 통합하여 종합적인 손익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예산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및 계획 수립 기능 제공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r>
                <a:rPr lang="ko-KR" altLang="en-US" sz="1050" dirty="0">
                  <a:solidFill>
                    <a:schemeClr val="tx1"/>
                  </a:solidFill>
                </a:rPr>
                <a:t>예산 및 계획 수립</a:t>
              </a:r>
              <a:r>
                <a:rPr lang="en-US" altLang="ko-KR" sz="1050" dirty="0">
                  <a:solidFill>
                    <a:schemeClr val="tx1"/>
                  </a:solidFill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</a:rPr>
                <a:t>실적 분석</a:t>
              </a:r>
              <a:endParaRPr lang="en-US" altLang="ko-KR" sz="1050" dirty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r>
                <a:rPr lang="en-US" altLang="ko-KR" sz="1050" dirty="0">
                  <a:solidFill>
                    <a:schemeClr val="tx1"/>
                  </a:solidFill>
                </a:rPr>
                <a:t>BS(</a:t>
              </a:r>
              <a:r>
                <a:rPr lang="ko-KR" altLang="en-US" sz="1050" dirty="0">
                  <a:solidFill>
                    <a:schemeClr val="tx1"/>
                  </a:solidFill>
                </a:rPr>
                <a:t>재무제표</a:t>
              </a:r>
              <a:r>
                <a:rPr lang="en-US" altLang="ko-KR" sz="1050" dirty="0">
                  <a:solidFill>
                    <a:schemeClr val="tx1"/>
                  </a:solidFill>
                </a:rPr>
                <a:t>), PL(</a:t>
              </a:r>
              <a:r>
                <a:rPr lang="ko-KR" altLang="en-US" sz="1050" dirty="0">
                  <a:solidFill>
                    <a:schemeClr val="tx1"/>
                  </a:solidFill>
                </a:rPr>
                <a:t>손익계산서</a:t>
              </a:r>
              <a:r>
                <a:rPr lang="en-US" altLang="ko-KR" sz="1050" dirty="0">
                  <a:solidFill>
                    <a:schemeClr val="tx1"/>
                  </a:solidFill>
                </a:rPr>
                <a:t>)</a:t>
              </a:r>
              <a:r>
                <a:rPr lang="ko-KR" altLang="en-US" sz="1050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dirty="0" smtClean="0">
                  <a:solidFill>
                    <a:schemeClr val="tx1"/>
                  </a:solidFill>
                </a:rPr>
                <a:t>산출</a:t>
              </a:r>
              <a:endParaRPr lang="en-US" altLang="ko-KR" sz="1050" dirty="0" smtClean="0">
                <a:solidFill>
                  <a:schemeClr val="tx1"/>
                </a:solidFill>
              </a:endParaRPr>
            </a:p>
            <a:p>
              <a:pPr marL="447675" lvl="1" indent="-182563">
                <a:spcAft>
                  <a:spcPts val="400"/>
                </a:spcAft>
                <a:buFont typeface="맑은 고딕" panose="020B0503020000020004" pitchFamily="50" charset="-127"/>
                <a:buChar char="–"/>
                <a:tabLst>
                  <a:tab pos="357188" algn="l"/>
                </a:tabLst>
              </a:pPr>
              <a:endParaRPr lang="en-US" altLang="ko-KR" sz="1050" dirty="0">
                <a:solidFill>
                  <a:schemeClr val="tx1"/>
                </a:solidFill>
              </a:endParaRPr>
            </a:p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Wingdings" panose="05000000000000000000" pitchFamily="2" charset="2"/>
                <a:buChar char="§"/>
                <a:tabLst>
                  <a:tab pos="357188" algn="l"/>
                </a:tabLst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본 구축에서는 판매 계획을 기반으로 사업부별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계획 손익계산서 </a:t>
              </a:r>
              <a:r>
                <a:rPr lang="ko-KR" altLang="en-US" sz="1200" b="1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산출만 구현 예정</a:t>
              </a:r>
              <a:endParaRPr lang="en-US" altLang="ko-KR" sz="105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C2FEF6C-1B6F-4C8F-B267-6991808114D4}"/>
                </a:ext>
              </a:extLst>
            </p:cNvPr>
            <p:cNvSpPr/>
            <p:nvPr/>
          </p:nvSpPr>
          <p:spPr>
            <a:xfrm>
              <a:off x="6746876" y="5090758"/>
              <a:ext cx="2886074" cy="13251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indent="-174625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</a:rPr>
                <a:t>기능 설계는 구현되어 있음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marL="174625" indent="-174625"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marL="174625" indent="-174625"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사업 </a:t>
              </a:r>
              <a:r>
                <a:rPr lang="ko-KR" altLang="en-US" sz="1200" b="1" dirty="0" smtClean="0">
                  <a:solidFill>
                    <a:schemeClr val="accent1">
                      <a:lumMod val="75000"/>
                    </a:schemeClr>
                  </a:solidFill>
                </a:rPr>
                <a:t>계획 업무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프로세스 </a:t>
              </a:r>
              <a:r>
                <a:rPr lang="ko-KR" altLang="en-US" sz="1200" b="1" dirty="0" smtClean="0">
                  <a:solidFill>
                    <a:schemeClr val="accent1">
                      <a:lumMod val="75000"/>
                    </a:schemeClr>
                  </a:solidFill>
                </a:rPr>
                <a:t>상세 설계가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완료</a:t>
              </a:r>
              <a:r>
                <a:rPr lang="ko-KR" altLang="en-US" sz="1200" dirty="0">
                  <a:solidFill>
                    <a:schemeClr val="tx1"/>
                  </a:solidFill>
                </a:rPr>
                <a:t>되어야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완전한 기능 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200" dirty="0" smtClean="0">
                  <a:solidFill>
                    <a:schemeClr val="tx1"/>
                  </a:solidFill>
                </a:rPr>
              </a:br>
              <a:r>
                <a:rPr lang="ko-KR" altLang="en-US" sz="1200" dirty="0" smtClean="0">
                  <a:solidFill>
                    <a:schemeClr val="tx1"/>
                  </a:solidFill>
                </a:rPr>
                <a:t>활용 </a:t>
              </a:r>
              <a:r>
                <a:rPr lang="ko-KR" altLang="en-US" sz="1200" dirty="0">
                  <a:solidFill>
                    <a:schemeClr val="tx1"/>
                  </a:solidFill>
                </a:rPr>
                <a:t>가능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87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06967C81-D670-411D-84D2-18A268DE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/>
              <a:t>Material Group</a:t>
            </a:r>
            <a:r>
              <a:rPr lang="ko-KR" altLang="en-US" spc="-150" dirty="0"/>
              <a:t>의 </a:t>
            </a:r>
            <a:r>
              <a:rPr lang="en-US" altLang="ko-KR" spc="-150" dirty="0"/>
              <a:t>SAP </a:t>
            </a:r>
            <a:r>
              <a:rPr lang="ko-KR" altLang="en-US" spc="-150" dirty="0"/>
              <a:t>도입의 경우 기존 </a:t>
            </a:r>
            <a:r>
              <a:rPr lang="en-US" altLang="ko-KR" spc="-150" dirty="0"/>
              <a:t>APM </a:t>
            </a:r>
            <a:r>
              <a:rPr lang="ko-KR" altLang="en-US" spc="-150" dirty="0"/>
              <a:t>시스템의 활용 방안 및  </a:t>
            </a:r>
            <a:r>
              <a:rPr lang="en-US" altLang="ko-KR" spc="-150" dirty="0"/>
              <a:t>1</a:t>
            </a:r>
            <a:r>
              <a:rPr lang="ko-KR" altLang="en-US" spc="-150" dirty="0"/>
              <a:t>차 구축될 </a:t>
            </a:r>
            <a:r>
              <a:rPr lang="en-US" altLang="ko-KR" spc="-150" dirty="0"/>
              <a:t>Garment </a:t>
            </a:r>
            <a:r>
              <a:rPr lang="ko-KR" altLang="en-US" spc="-150" dirty="0"/>
              <a:t>중심의 </a:t>
            </a:r>
            <a:r>
              <a:rPr lang="en-US" altLang="ko-KR" spc="-150" dirty="0"/>
              <a:t>S/4HANA</a:t>
            </a:r>
            <a:r>
              <a:rPr lang="ko-KR" altLang="en-US" spc="-150" dirty="0"/>
              <a:t>와의 연계 방안에 대한 고민과 다양한 규모의 현지 법인의 구축 방식</a:t>
            </a:r>
            <a:r>
              <a:rPr lang="en-US" altLang="ko-KR" spc="-150" dirty="0"/>
              <a:t> </a:t>
            </a:r>
            <a:r>
              <a:rPr lang="ko-KR" altLang="en-US" spc="-150" dirty="0"/>
              <a:t>등에 대한 상세 계획이 필요함</a:t>
            </a:r>
            <a:r>
              <a:rPr lang="en-US" altLang="ko-KR" spc="-150" dirty="0"/>
              <a:t> </a:t>
            </a:r>
            <a:endParaRPr lang="ko-KR" altLang="en-US" spc="-150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CCEF467-7138-4006-A2AF-892236B4C612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23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0ABE10F-A7F2-4983-8BCC-EBAE032D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ko-KR" altLang="en-US" sz="2000" b="1" kern="0" spc="-138" dirty="0">
                <a:ln w="1905"/>
                <a:ea typeface="맑은 고딕"/>
              </a:rPr>
              <a:t>    </a:t>
            </a:r>
            <a:r>
              <a:rPr lang="en-US" altLang="ko-KR" sz="2000" b="1" kern="0" spc="-138" dirty="0">
                <a:ln w="1905"/>
                <a:ea typeface="맑은 고딕"/>
              </a:rPr>
              <a:t>S/4HANA</a:t>
            </a:r>
            <a:r>
              <a:rPr lang="ko-KR" altLang="en-US" sz="2000" b="1" kern="0" spc="-138" dirty="0">
                <a:ln w="1905"/>
                <a:ea typeface="맑은 고딕"/>
              </a:rPr>
              <a:t> 도입 사업 영역 확대 </a:t>
            </a:r>
            <a:r>
              <a:rPr lang="en-US" altLang="ko-KR" sz="2000" b="1" kern="0" spc="-138" dirty="0">
                <a:ln w="1905"/>
                <a:ea typeface="맑은 고딕"/>
              </a:rPr>
              <a:t>– Material Group </a:t>
            </a:r>
            <a:r>
              <a:rPr lang="ko-KR" altLang="en-US" sz="2000" b="1" kern="0" spc="-138" dirty="0">
                <a:ln w="1905"/>
                <a:ea typeface="맑은 고딕"/>
              </a:rPr>
              <a:t>대상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650B4E-AEE6-4D6F-B820-1715CB67B226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4F7FA-6419-41B2-9BB8-81BB74387CD5}"/>
              </a:ext>
            </a:extLst>
          </p:cNvPr>
          <p:cNvSpPr txBox="1"/>
          <p:nvPr/>
        </p:nvSpPr>
        <p:spPr>
          <a:xfrm>
            <a:off x="410685" y="2239963"/>
            <a:ext cx="1013923" cy="41935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wrap="square" lIns="36000" tIns="0" rIns="0" bIns="0" rtlCol="0" anchor="b"/>
          <a:lstStyle>
            <a:defPPr>
              <a:defRPr lang="en-US"/>
            </a:defPPr>
            <a:lvl1pPr algn="ctr">
              <a:defRPr sz="12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고려 사항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B7C5349-F82F-491A-9B50-99799E8AD66F}"/>
              </a:ext>
            </a:extLst>
          </p:cNvPr>
          <p:cNvGrpSpPr/>
          <p:nvPr/>
        </p:nvGrpSpPr>
        <p:grpSpPr>
          <a:xfrm>
            <a:off x="678333" y="2349862"/>
            <a:ext cx="1841127" cy="3973794"/>
            <a:chOff x="678333" y="2327615"/>
            <a:chExt cx="1841127" cy="305677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B9E646-6B3A-4421-8263-C03B9F662298}"/>
                </a:ext>
              </a:extLst>
            </p:cNvPr>
            <p:cNvSpPr/>
            <p:nvPr/>
          </p:nvSpPr>
          <p:spPr>
            <a:xfrm>
              <a:off x="678333" y="232761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다양한 품목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원단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부자재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생산하는 수직계열 법인들의 </a:t>
              </a: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 smtClean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 </a:t>
              </a:r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ERP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구축 고민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CEE78E-950F-4516-A29F-36BDF8F404F6}"/>
                </a:ext>
              </a:extLst>
            </p:cNvPr>
            <p:cNvSpPr/>
            <p:nvPr/>
          </p:nvSpPr>
          <p:spPr>
            <a:xfrm>
              <a:off x="678333" y="341048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ko-KR" altLang="en-US" sz="1200" b="1" dirty="0" smtClean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현지 법인 상황에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맞는 구축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진행이 </a:t>
              </a:r>
              <a:r>
                <a:rPr lang="ko-KR" altLang="en-US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필요</a:t>
              </a: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규모</a:t>
              </a: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인력 등</a:t>
              </a: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2CAFD13-4858-444C-860E-A3F3C615C0E5}"/>
                </a:ext>
              </a:extLst>
            </p:cNvPr>
            <p:cNvSpPr/>
            <p:nvPr/>
          </p:nvSpPr>
          <p:spPr>
            <a:xfrm>
              <a:off x="678333" y="449335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다양한 </a:t>
              </a:r>
              <a:r>
                <a:rPr lang="en-US" altLang="ko-KR" sz="1200" b="1" dirty="0" smtClean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ERP</a:t>
              </a:r>
              <a:r>
                <a:rPr lang="ko-KR" altLang="en-US" sz="1200" b="1" dirty="0" smtClean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법인에 대한 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통합 구축 고민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84CECC-DF78-4BED-828C-617747AB7460}"/>
              </a:ext>
            </a:extLst>
          </p:cNvPr>
          <p:cNvSpPr/>
          <p:nvPr/>
        </p:nvSpPr>
        <p:spPr>
          <a:xfrm>
            <a:off x="2847584" y="2349863"/>
            <a:ext cx="1841127" cy="397379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defTabSz="977172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전혀 다른 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Industry (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제직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b="1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편직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 등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를 통합 시스템으로 구축 가능한가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?</a:t>
            </a:r>
          </a:p>
          <a:p>
            <a:pPr marL="177800" indent="-177800" defTabSz="977172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다양한 규모 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의 법인을 어떤 방식으로 구축하는 것이 효율적인가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?</a:t>
            </a:r>
          </a:p>
          <a:p>
            <a:pPr marL="177800" marR="0" lvl="0" indent="-177800" algn="l" defTabSz="97717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이미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구축이 진행되고 있는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Garment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부문 프로젝트와 어떤 방식으로 연계할 것인가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177800" marR="0" lvl="0" indent="-177800" algn="l" defTabSz="97717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기존에 도입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확산 예정인 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APM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어떻게 활용할 것인가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1E063251-ED22-4DF7-867B-90677870D221}"/>
              </a:ext>
            </a:extLst>
          </p:cNvPr>
          <p:cNvSpPr/>
          <p:nvPr/>
        </p:nvSpPr>
        <p:spPr>
          <a:xfrm rot="5400000">
            <a:off x="860061" y="4200704"/>
            <a:ext cx="3646921" cy="234935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4A3744-0129-45B8-8B0D-7469D4D453BF}"/>
              </a:ext>
            </a:extLst>
          </p:cNvPr>
          <p:cNvGrpSpPr/>
          <p:nvPr/>
        </p:nvGrpSpPr>
        <p:grpSpPr>
          <a:xfrm>
            <a:off x="399765" y="1764542"/>
            <a:ext cx="4265203" cy="321803"/>
            <a:chOff x="1313578" y="1406437"/>
            <a:chExt cx="2160003" cy="32180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FD7744-17DE-4F62-99F5-3871CABD78BE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Material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법인 구축 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Key Question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22" name="Line 70">
              <a:extLst>
                <a:ext uri="{FF2B5EF4-FFF2-40B4-BE49-F238E27FC236}">
                  <a16:creationId xmlns:a16="http://schemas.microsoft.com/office/drawing/2014/main" id="{462D8E23-9200-4DBD-9B77-B29EE6DB1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DEEB3AB-D475-4FBF-922E-C558584FEC33}"/>
              </a:ext>
            </a:extLst>
          </p:cNvPr>
          <p:cNvGrpSpPr/>
          <p:nvPr/>
        </p:nvGrpSpPr>
        <p:grpSpPr>
          <a:xfrm>
            <a:off x="5673080" y="1772816"/>
            <a:ext cx="3384376" cy="321803"/>
            <a:chOff x="1313578" y="1406437"/>
            <a:chExt cx="2160003" cy="32180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494785-2869-40ED-B75D-8C5073B7D9EF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04A02"/>
                </a:buClr>
                <a:buSzPts val="1600"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추진 방향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Line 70">
              <a:extLst>
                <a:ext uri="{FF2B5EF4-FFF2-40B4-BE49-F238E27FC236}">
                  <a16:creationId xmlns:a16="http://schemas.microsoft.com/office/drawing/2014/main" id="{C19107FD-E1CA-4FCF-A165-EA91839AD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419144-520C-42C3-BF34-36DF7596E4C9}"/>
              </a:ext>
            </a:extLst>
          </p:cNvPr>
          <p:cNvGrpSpPr/>
          <p:nvPr/>
        </p:nvGrpSpPr>
        <p:grpSpPr>
          <a:xfrm>
            <a:off x="5102136" y="3817103"/>
            <a:ext cx="4381677" cy="864358"/>
            <a:chOff x="5096946" y="4217422"/>
            <a:chExt cx="4381677" cy="86435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97199A7-2514-4578-B792-C67946839D0C}"/>
                </a:ext>
              </a:extLst>
            </p:cNvPr>
            <p:cNvSpPr/>
            <p:nvPr/>
          </p:nvSpPr>
          <p:spPr>
            <a:xfrm>
              <a:off x="5230623" y="4289780"/>
              <a:ext cx="4248000" cy="79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108000" rtlCol="0" anchor="ctr"/>
            <a:lstStyle/>
            <a:p>
              <a:pPr algn="ctr" defTabSz="914400">
                <a:spcAft>
                  <a:spcPts val="400"/>
                </a:spcAft>
              </a:pPr>
              <a:r>
                <a:rPr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Material</a:t>
              </a: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법인 단계적 구축 통한 오픈 리스크 축소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</a:endParaRPr>
            </a:p>
            <a:p>
              <a:pPr algn="ctr" defTabSz="914400">
                <a:spcAft>
                  <a:spcPts val="400"/>
                </a:spcAft>
              </a:pPr>
              <a:r>
                <a:rPr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(</a:t>
              </a: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대표 법인 → 확산</a:t>
              </a:r>
              <a:r>
                <a:rPr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)</a:t>
              </a:r>
              <a:endPara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31EC6AF-182B-4993-B9D0-1E6F18254DAE}"/>
                </a:ext>
              </a:extLst>
            </p:cNvPr>
            <p:cNvSpPr/>
            <p:nvPr/>
          </p:nvSpPr>
          <p:spPr>
            <a:xfrm>
              <a:off x="5096946" y="4217422"/>
              <a:ext cx="288032" cy="288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/>
                  <a:cs typeface="+mn-cs"/>
                </a:rPr>
                <a:t>2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/>
                <a:cs typeface="+mn-cs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2D0A644-ABAA-4525-BA66-246DE312CFA8}"/>
              </a:ext>
            </a:extLst>
          </p:cNvPr>
          <p:cNvGrpSpPr/>
          <p:nvPr/>
        </p:nvGrpSpPr>
        <p:grpSpPr>
          <a:xfrm>
            <a:off x="5102136" y="5110233"/>
            <a:ext cx="4381677" cy="893620"/>
            <a:chOff x="5096946" y="2321362"/>
            <a:chExt cx="4381677" cy="893620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83A0A5E-8009-4799-B4FE-E915245B8052}"/>
                </a:ext>
              </a:extLst>
            </p:cNvPr>
            <p:cNvSpPr/>
            <p:nvPr/>
          </p:nvSpPr>
          <p:spPr bwMode="auto">
            <a:xfrm>
              <a:off x="5230623" y="2422982"/>
              <a:ext cx="4248000" cy="79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108000" rtlCol="0" anchor="ctr"/>
            <a:lstStyle/>
            <a:p>
              <a:pPr algn="ctr" defTabSz="914400">
                <a:spcAft>
                  <a:spcPts val="400"/>
                </a:spcAft>
              </a:pPr>
              <a:r>
                <a:rPr lang="ko-KR" altLang="en-US" sz="1400" b="1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사전</a:t>
              </a:r>
              <a:r>
                <a:rPr lang="en-US" altLang="ko-KR" sz="1400" b="1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 </a:t>
              </a:r>
              <a:r>
                <a:rPr lang="ko-KR" altLang="en-US" sz="1400" b="1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상세 </a:t>
              </a:r>
              <a:r>
                <a:rPr lang="ko-KR" altLang="en-US" sz="1400" b="1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로드맵</a:t>
              </a:r>
              <a:r>
                <a:rPr lang="ko-KR" altLang="en-US" sz="1400" b="1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 수립으로 구축 </a:t>
              </a: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/>
                </a:rPr>
                <a:t>리스크 축소 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3463A52-441F-47AD-95FB-248B77D30FFB}"/>
                </a:ext>
              </a:extLst>
            </p:cNvPr>
            <p:cNvSpPr/>
            <p:nvPr/>
          </p:nvSpPr>
          <p:spPr>
            <a:xfrm>
              <a:off x="5096946" y="2321362"/>
              <a:ext cx="288032" cy="288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ko-KR" sz="1400" b="1" kern="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/>
                </a:rPr>
                <a:t>3</a:t>
              </a:r>
              <a:endParaRPr lang="ko-KR" altLang="en-US" sz="14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02DECB5-0047-41F7-92D0-8CDE036B1A1C}"/>
              </a:ext>
            </a:extLst>
          </p:cNvPr>
          <p:cNvGrpSpPr/>
          <p:nvPr/>
        </p:nvGrpSpPr>
        <p:grpSpPr>
          <a:xfrm>
            <a:off x="5125770" y="2494711"/>
            <a:ext cx="4381677" cy="893620"/>
            <a:chOff x="5096946" y="2321362"/>
            <a:chExt cx="4381677" cy="89362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9258B9E-DC06-485D-A9CF-0439E632322A}"/>
                </a:ext>
              </a:extLst>
            </p:cNvPr>
            <p:cNvSpPr/>
            <p:nvPr/>
          </p:nvSpPr>
          <p:spPr bwMode="auto">
            <a:xfrm>
              <a:off x="5230623" y="2422982"/>
              <a:ext cx="4248000" cy="79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108000" rtlCol="0" anchor="ctr"/>
            <a:lstStyle/>
            <a:p>
              <a:pPr algn="ctr" defTabSz="914400">
                <a:spcAft>
                  <a:spcPts val="400"/>
                </a:spcAft>
              </a:pPr>
              <a:r>
                <a:rPr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 APM</a:t>
              </a: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</a:rPr>
                <a:t>의 업무 적용 범위 재검토</a:t>
              </a: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4CB432C-71E4-4F01-A898-4B1BA3DC5ADD}"/>
                </a:ext>
              </a:extLst>
            </p:cNvPr>
            <p:cNvSpPr/>
            <p:nvPr/>
          </p:nvSpPr>
          <p:spPr>
            <a:xfrm>
              <a:off x="5096946" y="2321362"/>
              <a:ext cx="288032" cy="288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ko-KR" sz="1400" b="1" kern="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/>
                </a:rPr>
                <a:t>1</a:t>
              </a:r>
              <a:endParaRPr lang="ko-KR" altLang="en-US" sz="14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5269786" y="3388331"/>
            <a:ext cx="417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800" dirty="0">
                <a:latin typeface="+mn-ea"/>
                <a:cs typeface="Arial" pitchFamily="34" charset="0"/>
              </a:rPr>
              <a:t>APM (AREL Process Management)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29959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2682F4A2-69F8-42B7-B32A-D3EAEECE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824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/>
              <a:t>Material Group</a:t>
            </a:r>
            <a:r>
              <a:rPr lang="ko-KR" altLang="en-US" spc="-150" dirty="0"/>
              <a:t>의 </a:t>
            </a:r>
            <a:r>
              <a:rPr lang="en-US" altLang="ko-KR" spc="-150" dirty="0"/>
              <a:t>SAP </a:t>
            </a:r>
            <a:r>
              <a:rPr lang="ko-KR" altLang="en-US" spc="-150" dirty="0"/>
              <a:t>도입의 경우 현재 사용</a:t>
            </a:r>
            <a:r>
              <a:rPr lang="en-US" altLang="ko-KR" spc="-150" dirty="0"/>
              <a:t>/</a:t>
            </a:r>
            <a:r>
              <a:rPr lang="ko-KR" altLang="en-US" spc="-150" dirty="0"/>
              <a:t>확산 예정인 </a:t>
            </a:r>
            <a:r>
              <a:rPr lang="en-US" altLang="ko-KR" spc="-150" dirty="0"/>
              <a:t>A</a:t>
            </a:r>
            <a:r>
              <a:rPr kumimoji="0" lang="en-US" altLang="ko-KR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PM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의 상세 분석 이후</a:t>
            </a:r>
            <a:r>
              <a:rPr kumimoji="0" lang="en-US" altLang="ko-KR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,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장기적 관점에서 </a:t>
            </a:r>
            <a:r>
              <a:rPr kumimoji="0" lang="en-US" altLang="ko-KR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SAP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와 </a:t>
            </a:r>
            <a:r>
              <a:rPr kumimoji="0" lang="en-US" altLang="ko-KR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APM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의 프로세스 및 활용 방안에 대한 상세</a:t>
            </a:r>
            <a:r>
              <a:rPr kumimoji="0" lang="en-US" altLang="ko-KR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설계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  <a:cs typeface="+mn-cs"/>
              </a:rPr>
              <a:t>에 기반한 </a:t>
            </a:r>
            <a:r>
              <a:rPr kumimoji="0" lang="ko-KR" altLang="en-US" sz="1600" b="1" i="0" u="none" strike="noStrike" kern="0" cap="none" spc="-150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구축이 필요함  </a:t>
            </a:r>
          </a:p>
          <a:p>
            <a:endParaRPr lang="ko-KR" altLang="en-US" spc="-150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67CEA8AB-371A-4B6C-80D5-8E10BB01D00E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24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9A35A23-48E7-4013-82AC-58FEC6E9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    Material Group </a:t>
            </a:r>
            <a:r>
              <a:rPr lang="ko-KR" altLang="en-US" sz="2000" b="1" kern="0" spc="-138" dirty="0">
                <a:ln w="1905"/>
                <a:ea typeface="맑은 고딕"/>
              </a:rPr>
              <a:t>대상 </a:t>
            </a:r>
            <a:r>
              <a:rPr lang="en-US" altLang="ko-KR" sz="2000" b="1" kern="0" spc="-138" dirty="0">
                <a:ln w="1905"/>
                <a:ea typeface="맑은 고딕"/>
              </a:rPr>
              <a:t>-       APM </a:t>
            </a:r>
            <a:r>
              <a:rPr lang="ko-KR" altLang="en-US" sz="2000" b="1" kern="0" spc="-138" dirty="0">
                <a:ln w="1905"/>
                <a:ea typeface="맑은 고딕"/>
              </a:rPr>
              <a:t>시스템의 활용 방안 </a:t>
            </a:r>
            <a:r>
              <a:rPr lang="en-US" altLang="ko-KR" sz="2000" b="1" kern="0" spc="-138" dirty="0">
                <a:ln w="1905"/>
                <a:ea typeface="맑은 고딕"/>
              </a:rPr>
              <a:t>(</a:t>
            </a:r>
            <a:r>
              <a:rPr lang="ko-KR" altLang="en-US" sz="2000" b="1" kern="0" spc="-138" dirty="0">
                <a:ln w="1905"/>
                <a:ea typeface="맑은 고딕"/>
              </a:rPr>
              <a:t>案</a:t>
            </a:r>
            <a:r>
              <a:rPr lang="en-US" altLang="ko-KR" sz="2000" b="1" kern="0" spc="-138" dirty="0">
                <a:ln w="1905"/>
                <a:ea typeface="맑은 고딕"/>
              </a:rPr>
              <a:t>)</a:t>
            </a:r>
            <a:r>
              <a:rPr lang="ko-KR" altLang="en-US" sz="2000" b="1" kern="0" spc="-138" dirty="0">
                <a:ln w="1905"/>
                <a:ea typeface="맑은 고딕"/>
              </a:rPr>
              <a:t> </a:t>
            </a:r>
            <a:r>
              <a:rPr lang="en-US" altLang="ko-KR" sz="2000" b="1" kern="0" spc="-138" dirty="0">
                <a:ln w="1905"/>
                <a:ea typeface="맑은 고딕"/>
              </a:rPr>
              <a:t> </a:t>
            </a:r>
            <a:r>
              <a:rPr lang="ko-KR" altLang="en-US" sz="2000" b="1" kern="0" spc="-138" dirty="0">
                <a:ln w="1905"/>
                <a:ea typeface="맑은 고딕"/>
              </a:rPr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127472-3DE4-4694-A237-860BF9EF53C0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253A2F0-4B48-4889-BC9D-F1BA7B065C44}"/>
              </a:ext>
            </a:extLst>
          </p:cNvPr>
          <p:cNvSpPr/>
          <p:nvPr/>
        </p:nvSpPr>
        <p:spPr>
          <a:xfrm>
            <a:off x="3019812" y="334656"/>
            <a:ext cx="288032" cy="288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4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/>
              </a:rPr>
              <a:t>1</a:t>
            </a:r>
            <a:endParaRPr lang="ko-KR" altLang="en-US" sz="1400" b="1" kern="0" dirty="0">
              <a:solidFill>
                <a:srgbClr val="FFFFFF"/>
              </a:solidFill>
              <a:latin typeface="맑은 고딕" panose="020B0503020000020004" pitchFamily="50" charset="-127"/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C131FD-35FA-4F30-8F69-20E9B468F99A}"/>
              </a:ext>
            </a:extLst>
          </p:cNvPr>
          <p:cNvSpPr/>
          <p:nvPr/>
        </p:nvSpPr>
        <p:spPr>
          <a:xfrm>
            <a:off x="1484148" y="2443033"/>
            <a:ext cx="5887852" cy="206393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SAP S/4 HANA (Core)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25097F-E433-4476-A71D-3D49FF82D76F}"/>
              </a:ext>
            </a:extLst>
          </p:cNvPr>
          <p:cNvSpPr/>
          <p:nvPr/>
        </p:nvSpPr>
        <p:spPr>
          <a:xfrm>
            <a:off x="4571115" y="2995845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수요계획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244B6C-6B58-43F7-BF70-C93386C69D6D}"/>
              </a:ext>
            </a:extLst>
          </p:cNvPr>
          <p:cNvSpPr/>
          <p:nvPr/>
        </p:nvSpPr>
        <p:spPr>
          <a:xfrm>
            <a:off x="5518294" y="2991143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판매관리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92EEEC-D80E-4BCA-8A4E-189879EE4DED}"/>
              </a:ext>
            </a:extLst>
          </p:cNvPr>
          <p:cNvSpPr/>
          <p:nvPr/>
        </p:nvSpPr>
        <p:spPr>
          <a:xfrm>
            <a:off x="1651388" y="2965542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제품마스터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33350C-DC8B-40B4-96EC-ED9018567CFD}"/>
              </a:ext>
            </a:extLst>
          </p:cNvPr>
          <p:cNvSpPr/>
          <p:nvPr/>
        </p:nvSpPr>
        <p:spPr>
          <a:xfrm>
            <a:off x="1651388" y="3477170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원부자재 마스터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DB220F-2082-4A17-BE23-CE472D1E6BB7}"/>
              </a:ext>
            </a:extLst>
          </p:cNvPr>
          <p:cNvSpPr/>
          <p:nvPr/>
        </p:nvSpPr>
        <p:spPr>
          <a:xfrm>
            <a:off x="2628132" y="3990982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업체 마스터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D91664-1474-4EFA-838D-AC18FAB277C4}"/>
              </a:ext>
            </a:extLst>
          </p:cNvPr>
          <p:cNvSpPr/>
          <p:nvPr/>
        </p:nvSpPr>
        <p:spPr>
          <a:xfrm>
            <a:off x="1651387" y="3990982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BOM/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Routing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FA37F9-A86A-4CD0-9A9C-C796D333B2AD}"/>
              </a:ext>
            </a:extLst>
          </p:cNvPr>
          <p:cNvSpPr/>
          <p:nvPr/>
        </p:nvSpPr>
        <p:spPr>
          <a:xfrm>
            <a:off x="2641990" y="3470106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 마스터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CEA4FA-B5C4-4A4C-93AA-CAC228D9A125}"/>
              </a:ext>
            </a:extLst>
          </p:cNvPr>
          <p:cNvSpPr/>
          <p:nvPr/>
        </p:nvSpPr>
        <p:spPr>
          <a:xfrm>
            <a:off x="4569752" y="3477170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MRP</a:t>
            </a:r>
            <a:endParaRPr lang="ko-KR" altLang="en-US" sz="1000" dirty="0">
              <a:solidFill>
                <a:schemeClr val="bg1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95E87B-0D54-4768-8A1B-2E002C8B0BE5}"/>
              </a:ext>
            </a:extLst>
          </p:cNvPr>
          <p:cNvSpPr/>
          <p:nvPr/>
        </p:nvSpPr>
        <p:spPr>
          <a:xfrm>
            <a:off x="3602406" y="3990376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구매관리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9D3F89-9D7A-4D04-9D98-104FD595E511}"/>
              </a:ext>
            </a:extLst>
          </p:cNvPr>
          <p:cNvSpPr/>
          <p:nvPr/>
        </p:nvSpPr>
        <p:spPr>
          <a:xfrm>
            <a:off x="4576183" y="3990982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원부자재 재고관리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1C64AF-A482-4C8E-818F-13496192518E}"/>
              </a:ext>
            </a:extLst>
          </p:cNvPr>
          <p:cNvSpPr/>
          <p:nvPr/>
        </p:nvSpPr>
        <p:spPr>
          <a:xfrm>
            <a:off x="5518295" y="3990376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9A1B4D-773E-4209-8F23-D5564760BFF3}"/>
              </a:ext>
            </a:extLst>
          </p:cNvPr>
          <p:cNvSpPr/>
          <p:nvPr/>
        </p:nvSpPr>
        <p:spPr>
          <a:xfrm>
            <a:off x="6523245" y="3989394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 재고관리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3F8B67-CB36-4FC3-86D9-44292BF2C264}"/>
              </a:ext>
            </a:extLst>
          </p:cNvPr>
          <p:cNvSpPr/>
          <p:nvPr/>
        </p:nvSpPr>
        <p:spPr>
          <a:xfrm>
            <a:off x="6523244" y="3452776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원가관리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26556C-6170-4D6B-8EC9-0B9937F1B23D}"/>
              </a:ext>
            </a:extLst>
          </p:cNvPr>
          <p:cNvSpPr/>
          <p:nvPr/>
        </p:nvSpPr>
        <p:spPr>
          <a:xfrm>
            <a:off x="6520772" y="2514612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수익성관리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EBF53A-AF7F-4E0C-904C-62395EB78F30}"/>
              </a:ext>
            </a:extLst>
          </p:cNvPr>
          <p:cNvSpPr/>
          <p:nvPr/>
        </p:nvSpPr>
        <p:spPr>
          <a:xfrm>
            <a:off x="1484148" y="4637593"/>
            <a:ext cx="5887852" cy="170470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APM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원사관리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염색가공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Material Group MES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시스템 역할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DC4604-4BBE-47C1-BA36-5AF0A92CBF82}"/>
              </a:ext>
            </a:extLst>
          </p:cNvPr>
          <p:cNvSpPr/>
          <p:nvPr/>
        </p:nvSpPr>
        <p:spPr>
          <a:xfrm>
            <a:off x="4576183" y="2519780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AR/AP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2856F2-F7B8-4B64-A7D1-7A8FB0E133A8}"/>
              </a:ext>
            </a:extLst>
          </p:cNvPr>
          <p:cNvSpPr/>
          <p:nvPr/>
        </p:nvSpPr>
        <p:spPr>
          <a:xfrm>
            <a:off x="5518294" y="2514612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자산관리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040705E-F006-4FEE-AA8C-107DF4E06F0C}"/>
              </a:ext>
            </a:extLst>
          </p:cNvPr>
          <p:cNvSpPr/>
          <p:nvPr/>
        </p:nvSpPr>
        <p:spPr>
          <a:xfrm>
            <a:off x="3602405" y="2514612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전표관리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62DE97-7D2F-45AE-A542-636F99C8B6B5}"/>
              </a:ext>
            </a:extLst>
          </p:cNvPr>
          <p:cNvSpPr/>
          <p:nvPr/>
        </p:nvSpPr>
        <p:spPr>
          <a:xfrm>
            <a:off x="1573212" y="2730416"/>
            <a:ext cx="957943" cy="16720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마스터데이터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67656B-7FCB-48A0-A1A4-561624C789E2}"/>
              </a:ext>
            </a:extLst>
          </p:cNvPr>
          <p:cNvSpPr/>
          <p:nvPr/>
        </p:nvSpPr>
        <p:spPr>
          <a:xfrm>
            <a:off x="1635554" y="5037104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제품마스터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8E8460-755C-4A06-AF22-6EDF215127FB}"/>
              </a:ext>
            </a:extLst>
          </p:cNvPr>
          <p:cNvSpPr/>
          <p:nvPr/>
        </p:nvSpPr>
        <p:spPr>
          <a:xfrm>
            <a:off x="1635554" y="5505187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원부자재 마스터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829D87-BC18-4E41-A5A7-70F133F6B173}"/>
              </a:ext>
            </a:extLst>
          </p:cNvPr>
          <p:cNvSpPr/>
          <p:nvPr/>
        </p:nvSpPr>
        <p:spPr>
          <a:xfrm>
            <a:off x="2567142" y="5037104"/>
            <a:ext cx="734039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BOM/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Routing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6E7493-483C-401A-9840-3CC7AC827D19}"/>
              </a:ext>
            </a:extLst>
          </p:cNvPr>
          <p:cNvSpPr/>
          <p:nvPr/>
        </p:nvSpPr>
        <p:spPr>
          <a:xfrm>
            <a:off x="1557379" y="4722503"/>
            <a:ext cx="1884218" cy="13334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마스터데이터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E5DCB6-AE21-4266-9B7D-9902AA5DF136}"/>
              </a:ext>
            </a:extLst>
          </p:cNvPr>
          <p:cNvSpPr/>
          <p:nvPr/>
        </p:nvSpPr>
        <p:spPr>
          <a:xfrm>
            <a:off x="2625164" y="2958748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COA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0499A9-4B2D-40DD-A15C-935260B925A0}"/>
              </a:ext>
            </a:extLst>
          </p:cNvPr>
          <p:cNvSpPr/>
          <p:nvPr/>
        </p:nvSpPr>
        <p:spPr>
          <a:xfrm>
            <a:off x="3602404" y="4946574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구매관리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8F2FF93-F837-41E5-9ED3-6A3F6FDB3F57}"/>
              </a:ext>
            </a:extLst>
          </p:cNvPr>
          <p:cNvSpPr/>
          <p:nvPr/>
        </p:nvSpPr>
        <p:spPr>
          <a:xfrm>
            <a:off x="4577229" y="4947367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원부자재 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출고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29BA26-4781-422C-B045-AC4DDAFC6299}"/>
              </a:ext>
            </a:extLst>
          </p:cNvPr>
          <p:cNvSpPr/>
          <p:nvPr/>
        </p:nvSpPr>
        <p:spPr>
          <a:xfrm>
            <a:off x="5519718" y="4944986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생산관리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0B3EA0A-DB94-4752-A641-1A4AAAC29F7C}"/>
              </a:ext>
            </a:extLst>
          </p:cNvPr>
          <p:cNvSpPr/>
          <p:nvPr/>
        </p:nvSpPr>
        <p:spPr>
          <a:xfrm>
            <a:off x="5526212" y="5522600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설비관리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FF4CE2-F5CB-4A25-AA32-D7EFA1F12762}"/>
              </a:ext>
            </a:extLst>
          </p:cNvPr>
          <p:cNvSpPr/>
          <p:nvPr/>
        </p:nvSpPr>
        <p:spPr>
          <a:xfrm>
            <a:off x="6525410" y="4940224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제품입고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71E11EE-6472-4AC5-9346-27087266570E}"/>
              </a:ext>
            </a:extLst>
          </p:cNvPr>
          <p:cNvSpPr/>
          <p:nvPr/>
        </p:nvSpPr>
        <p:spPr>
          <a:xfrm>
            <a:off x="2565503" y="5494306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수율관리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7D4BA1E-1DF9-405A-B0FF-6DEEA699EE10}"/>
              </a:ext>
            </a:extLst>
          </p:cNvPr>
          <p:cNvSpPr/>
          <p:nvPr/>
        </p:nvSpPr>
        <p:spPr>
          <a:xfrm>
            <a:off x="3604013" y="3479551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소요량 관리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DEE9995-22E2-46C9-AAD9-8230A3047336}"/>
              </a:ext>
            </a:extLst>
          </p:cNvPr>
          <p:cNvSpPr/>
          <p:nvPr/>
        </p:nvSpPr>
        <p:spPr>
          <a:xfrm>
            <a:off x="4584103" y="5522600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생산비용</a:t>
            </a: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67029624-72E7-4294-AA14-D308388D63CD}"/>
              </a:ext>
            </a:extLst>
          </p:cNvPr>
          <p:cNvCxnSpPr>
            <a:cxnSpLocks/>
            <a:stCxn id="43" idx="1"/>
            <a:endCxn id="10" idx="3"/>
          </p:cNvCxnSpPr>
          <p:nvPr/>
        </p:nvCxnSpPr>
        <p:spPr>
          <a:xfrm rot="10800000">
            <a:off x="5307385" y="3178725"/>
            <a:ext cx="204482" cy="4675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C5B079F-3775-4971-800A-A09DECB4C161}"/>
              </a:ext>
            </a:extLst>
          </p:cNvPr>
          <p:cNvSpPr/>
          <p:nvPr/>
        </p:nvSpPr>
        <p:spPr>
          <a:xfrm>
            <a:off x="5511867" y="3463345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Forecast</a:t>
            </a:r>
            <a:endParaRPr lang="ko-KR" altLang="en-US" sz="1000" dirty="0">
              <a:solidFill>
                <a:schemeClr val="bg1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E4851E0-2870-435E-8001-5CCFED315B59}"/>
              </a:ext>
            </a:extLst>
          </p:cNvPr>
          <p:cNvCxnSpPr>
            <a:cxnSpLocks/>
            <a:stCxn id="17" idx="1"/>
            <a:endCxn id="40" idx="3"/>
          </p:cNvCxnSpPr>
          <p:nvPr/>
        </p:nvCxnSpPr>
        <p:spPr>
          <a:xfrm rot="10800000" flipV="1">
            <a:off x="4340284" y="3660049"/>
            <a:ext cx="229468" cy="23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B674AF9A-694B-4ABC-9448-9E656F56BF8A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 rot="5400000">
            <a:off x="3898813" y="3917039"/>
            <a:ext cx="145065" cy="160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AB499923-0AA0-47FA-B4EF-39B0E62567AE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4338676" y="4173256"/>
            <a:ext cx="237507" cy="6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C1B5446-D893-44E1-B7E3-8FD71FCFF2D3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5400000">
            <a:off x="4880787" y="3418705"/>
            <a:ext cx="115565" cy="13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ED52329-9936-490F-B44A-DD40F3057FB9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rot="10800000" flipV="1">
            <a:off x="5307385" y="3174023"/>
            <a:ext cx="210909" cy="470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76029FE9-E51F-4E7D-8B04-7C9DD7DFF9F3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5312454" y="4173256"/>
            <a:ext cx="205842" cy="6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18E19F27-2C05-4A2A-BBFB-D01F93F13AD0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6254565" y="4172274"/>
            <a:ext cx="268680" cy="98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93A5F73-B137-4A47-9106-AA96B867089D}"/>
              </a:ext>
            </a:extLst>
          </p:cNvPr>
          <p:cNvCxnSpPr>
            <a:cxnSpLocks/>
            <a:stCxn id="11" idx="3"/>
            <a:endCxn id="78" idx="1"/>
          </p:cNvCxnSpPr>
          <p:nvPr/>
        </p:nvCxnSpPr>
        <p:spPr>
          <a:xfrm flipV="1">
            <a:off x="6254564" y="3172473"/>
            <a:ext cx="270846" cy="15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C828BDC-2DCC-4FB4-A695-DD9705249BE1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6254565" y="3635656"/>
            <a:ext cx="268679" cy="5376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3D58F88E-A90C-431B-B84C-D863EAB19E17}"/>
              </a:ext>
            </a:extLst>
          </p:cNvPr>
          <p:cNvCxnSpPr>
            <a:cxnSpLocks/>
            <a:stCxn id="78" idx="0"/>
            <a:endCxn id="23" idx="2"/>
          </p:cNvCxnSpPr>
          <p:nvPr/>
        </p:nvCxnSpPr>
        <p:spPr>
          <a:xfrm rot="16200000" flipV="1">
            <a:off x="6836616" y="2932664"/>
            <a:ext cx="109221" cy="46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84E3769A-B55C-4002-BA4F-5ADAD00B2920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3364402" y="4173256"/>
            <a:ext cx="238004" cy="6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37BA37C6-4257-4FCA-9792-564F600649C7}"/>
              </a:ext>
            </a:extLst>
          </p:cNvPr>
          <p:cNvCxnSpPr>
            <a:cxnSpLocks/>
            <a:stCxn id="18" idx="2"/>
            <a:endCxn id="34" idx="0"/>
          </p:cNvCxnSpPr>
          <p:nvPr/>
        </p:nvCxnSpPr>
        <p:spPr>
          <a:xfrm rot="5400000">
            <a:off x="3675322" y="4651354"/>
            <a:ext cx="590438" cy="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5CDD459F-B55B-4087-BA6C-32FBF53DDD57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4338674" y="5129454"/>
            <a:ext cx="238555" cy="79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E945B173-E848-4560-9577-1FD777412971}"/>
              </a:ext>
            </a:extLst>
          </p:cNvPr>
          <p:cNvCxnSpPr>
            <a:cxnSpLocks/>
            <a:stCxn id="35" idx="0"/>
            <a:endCxn id="19" idx="2"/>
          </p:cNvCxnSpPr>
          <p:nvPr/>
        </p:nvCxnSpPr>
        <p:spPr>
          <a:xfrm rot="16200000" flipV="1">
            <a:off x="4649530" y="4651532"/>
            <a:ext cx="590625" cy="10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2B824B5D-584A-4E86-9992-0D4B71F0BC9D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5313499" y="5127866"/>
            <a:ext cx="206219" cy="23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515DFBF8-31A2-44F3-80E5-BF22FEFC21CF}"/>
              </a:ext>
            </a:extLst>
          </p:cNvPr>
          <p:cNvCxnSpPr>
            <a:cxnSpLocks/>
            <a:stCxn id="20" idx="2"/>
            <a:endCxn id="36" idx="0"/>
          </p:cNvCxnSpPr>
          <p:nvPr/>
        </p:nvCxnSpPr>
        <p:spPr>
          <a:xfrm rot="16200000" flipH="1">
            <a:off x="5592717" y="4649849"/>
            <a:ext cx="588850" cy="142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5518AF43-B209-48F6-AD8E-E6A70D9ED717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6255988" y="5123104"/>
            <a:ext cx="269422" cy="47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6234CFB4-7CC3-4821-89E3-93AFB4013983}"/>
              </a:ext>
            </a:extLst>
          </p:cNvPr>
          <p:cNvCxnSpPr>
            <a:cxnSpLocks/>
            <a:stCxn id="38" idx="0"/>
            <a:endCxn id="21" idx="2"/>
          </p:cNvCxnSpPr>
          <p:nvPr/>
        </p:nvCxnSpPr>
        <p:spPr>
          <a:xfrm rot="16200000" flipV="1">
            <a:off x="6599929" y="4646606"/>
            <a:ext cx="585070" cy="216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1F405F1-1E38-411B-9145-AF0744C15CDA}"/>
              </a:ext>
            </a:extLst>
          </p:cNvPr>
          <p:cNvCxnSpPr>
            <a:cxnSpLocks/>
            <a:stCxn id="41" idx="0"/>
            <a:endCxn id="36" idx="2"/>
          </p:cNvCxnSpPr>
          <p:nvPr/>
        </p:nvCxnSpPr>
        <p:spPr>
          <a:xfrm rot="5400000" flipH="1" flipV="1">
            <a:off x="5314118" y="4948866"/>
            <a:ext cx="211854" cy="93561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1FBCEE9-3C5B-4CBC-AD27-E66C00656806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>
          <a:xfrm rot="16200000" flipV="1">
            <a:off x="5785174" y="5413426"/>
            <a:ext cx="211854" cy="649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0DE3AEC-AB47-4C42-A062-0922F7D73C83}"/>
              </a:ext>
            </a:extLst>
          </p:cNvPr>
          <p:cNvSpPr/>
          <p:nvPr/>
        </p:nvSpPr>
        <p:spPr>
          <a:xfrm>
            <a:off x="402875" y="2433885"/>
            <a:ext cx="812593" cy="206393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Garment/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고객사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DTI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60127C7-17B3-4756-B8BB-CDC4AEF5ADBC}"/>
              </a:ext>
            </a:extLst>
          </p:cNvPr>
          <p:cNvSpPr/>
          <p:nvPr/>
        </p:nvSpPr>
        <p:spPr>
          <a:xfrm>
            <a:off x="431221" y="3052533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High Level Planning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C323F90-7F16-4BB6-AEA4-473711DBB77C}"/>
              </a:ext>
            </a:extLst>
          </p:cNvPr>
          <p:cNvSpPr/>
          <p:nvPr/>
        </p:nvSpPr>
        <p:spPr>
          <a:xfrm>
            <a:off x="444060" y="3569608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수요계획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5C9F125-A8DD-4A9F-A38B-963C1CC4B2A4}"/>
              </a:ext>
            </a:extLst>
          </p:cNvPr>
          <p:cNvSpPr/>
          <p:nvPr/>
        </p:nvSpPr>
        <p:spPr>
          <a:xfrm>
            <a:off x="6520771" y="5500831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세부공정 관리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B343E68-FCC0-44CA-98AB-BFBE68842FFC}"/>
              </a:ext>
            </a:extLst>
          </p:cNvPr>
          <p:cNvSpPr/>
          <p:nvPr/>
        </p:nvSpPr>
        <p:spPr>
          <a:xfrm>
            <a:off x="1484148" y="1794447"/>
            <a:ext cx="5887852" cy="589801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경영정보시스템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A20E7C3-7AD6-45AB-A2B9-87C8EBD5D018}"/>
              </a:ext>
            </a:extLst>
          </p:cNvPr>
          <p:cNvSpPr/>
          <p:nvPr/>
        </p:nvSpPr>
        <p:spPr>
          <a:xfrm>
            <a:off x="2632586" y="1913301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경영계획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B57A665-3439-4B28-B76B-03A8E9B567C2}"/>
              </a:ext>
            </a:extLst>
          </p:cNvPr>
          <p:cNvSpPr/>
          <p:nvPr/>
        </p:nvSpPr>
        <p:spPr>
          <a:xfrm>
            <a:off x="3602403" y="1912110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매출현황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B6373DF-34ED-4CF3-AC27-E85B433315C8}"/>
              </a:ext>
            </a:extLst>
          </p:cNvPr>
          <p:cNvSpPr/>
          <p:nvPr/>
        </p:nvSpPr>
        <p:spPr>
          <a:xfrm>
            <a:off x="4569751" y="1904767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재고현황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A91E08C-C615-46CE-BD7E-FB15690B4EC6}"/>
              </a:ext>
            </a:extLst>
          </p:cNvPr>
          <p:cNvSpPr/>
          <p:nvPr/>
        </p:nvSpPr>
        <p:spPr>
          <a:xfrm>
            <a:off x="5518294" y="1897065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수익현황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057498A-755E-4F1C-B266-A4AAB73EE0CA}"/>
              </a:ext>
            </a:extLst>
          </p:cNvPr>
          <p:cNvSpPr/>
          <p:nvPr/>
        </p:nvSpPr>
        <p:spPr>
          <a:xfrm>
            <a:off x="448016" y="4056853"/>
            <a:ext cx="736270" cy="365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판매오더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1B222EFC-B35C-4FDB-8BF8-EF0420B8BE2C}"/>
              </a:ext>
            </a:extLst>
          </p:cNvPr>
          <p:cNvSpPr/>
          <p:nvPr/>
        </p:nvSpPr>
        <p:spPr>
          <a:xfrm>
            <a:off x="1228307" y="3235413"/>
            <a:ext cx="247928" cy="36576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97D44986-3C45-472B-9030-E0B7E41276DF}"/>
              </a:ext>
            </a:extLst>
          </p:cNvPr>
          <p:cNvSpPr/>
          <p:nvPr/>
        </p:nvSpPr>
        <p:spPr>
          <a:xfrm rot="5400000">
            <a:off x="1915822" y="4397866"/>
            <a:ext cx="272721" cy="332509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6508E098-5F5B-4AA9-9892-F3BEB64302E3}"/>
              </a:ext>
            </a:extLst>
          </p:cNvPr>
          <p:cNvCxnSpPr>
            <a:cxnSpLocks/>
            <a:stCxn id="67" idx="0"/>
            <a:endCxn id="36" idx="2"/>
          </p:cNvCxnSpPr>
          <p:nvPr/>
        </p:nvCxnSpPr>
        <p:spPr>
          <a:xfrm rot="16200000" flipV="1">
            <a:off x="6293338" y="4905262"/>
            <a:ext cx="190085" cy="100105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Google Shape;2085;p34">
            <a:extLst>
              <a:ext uri="{FF2B5EF4-FFF2-40B4-BE49-F238E27FC236}">
                <a16:creationId xmlns:a16="http://schemas.microsoft.com/office/drawing/2014/main" id="{2A211C06-B500-4916-A318-6CFBD4889143}"/>
              </a:ext>
            </a:extLst>
          </p:cNvPr>
          <p:cNvSpPr txBox="1"/>
          <p:nvPr/>
        </p:nvSpPr>
        <p:spPr>
          <a:xfrm>
            <a:off x="7427779" y="2384248"/>
            <a:ext cx="2118570" cy="404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72000" anchor="t" anchorCtr="0">
            <a:spAutoFit/>
          </a:bodyPr>
          <a:lstStyle/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SAP ERP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의 역할 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/>
            </a:r>
            <a:b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</a:b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=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그룹사 표준 플랫폼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lvl="1" indent="-187325"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그룹 공통 재무관리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lvl="1" indent="-187325"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원가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/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수익성 관리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lvl="1" indent="-187325"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그룹관점에서의 통일된 </a:t>
            </a:r>
            <a:r>
              <a:rPr kumimoji="0" lang="ko-KR" altLang="en-US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제상품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/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원부자재 마스터데이터 관리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lvl="1" indent="-187325"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통일된 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BP(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업체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/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고객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) 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관리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lvl="1" indent="-187325"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계열사간 구매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/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판매 연계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APM</a:t>
            </a:r>
            <a:r>
              <a:rPr lang="ko-KR" altLang="en-US" sz="1200" b="1" kern="0" dirty="0">
                <a:solidFill>
                  <a:schemeClr val="accent1">
                    <a:lumMod val="50000"/>
                  </a:schemeClr>
                </a:solidFill>
                <a:latin typeface="맑은 고딕" panose="020F0502020204030204"/>
                <a:ea typeface="Malgun Gothic"/>
                <a:cs typeface="Malgun Gothic"/>
                <a:sym typeface="Malgun Gothic"/>
              </a:rPr>
              <a:t>의 역할 </a:t>
            </a:r>
            <a:r>
              <a:rPr lang="en-US" altLang="ko-KR" sz="1200" b="1" kern="0" dirty="0">
                <a:solidFill>
                  <a:schemeClr val="accent1">
                    <a:lumMod val="50000"/>
                  </a:schemeClr>
                </a:solidFill>
                <a:latin typeface="맑은 고딕" panose="020F0502020204030204"/>
                <a:ea typeface="Malgun Gothic"/>
                <a:cs typeface="Malgun Gothic"/>
                <a:sym typeface="Malgun Gothic"/>
              </a:rPr>
              <a:t>=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MES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Malgun Gothic"/>
                <a:cs typeface="Malgun Gothic"/>
                <a:sym typeface="Malgun Gothic"/>
              </a:rPr>
              <a:t>역할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맑은 고딕" panose="020F0502020204030204"/>
              <a:ea typeface="Malgun Gothic"/>
              <a:cs typeface="Malgun Gothic"/>
              <a:sym typeface="Malgun Gothic"/>
            </a:endParaRPr>
          </a:p>
          <a:p>
            <a:pPr marL="452438" marR="0" lvl="1" indent="-187325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tabLst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원부자재 재고 관리</a:t>
            </a:r>
            <a:endParaRPr lang="en-US" altLang="ko-KR" sz="1050" kern="0" dirty="0">
              <a:solidFill>
                <a:srgbClr val="000000"/>
              </a:solidFill>
              <a:latin typeface="맑은 고딕" panose="020F0502020204030204"/>
              <a:ea typeface="Malgun Gothic"/>
              <a:sym typeface="Malgun Gothic"/>
            </a:endParaRPr>
          </a:p>
          <a:p>
            <a:pPr marL="452438" marR="0" lvl="1" indent="-187325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Material Manufacturing Industry </a:t>
            </a:r>
            <a:r>
              <a:rPr lang="ko-KR" alt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특성에 맞는 생산 세부 실행 관리</a:t>
            </a:r>
            <a:endParaRPr lang="en-US" altLang="ko-KR" sz="1050" kern="0" dirty="0">
              <a:solidFill>
                <a:srgbClr val="000000"/>
              </a:solidFill>
              <a:latin typeface="맑은 고딕" panose="020F0502020204030204"/>
              <a:ea typeface="Malgun Gothic"/>
              <a:sym typeface="Malgun Gothic"/>
            </a:endParaRPr>
          </a:p>
          <a:p>
            <a:pPr marL="452438" marR="0" lvl="1" indent="-187325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tabLst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설비 특성 및 공정 관리</a:t>
            </a:r>
            <a:endParaRPr lang="en-US" altLang="ko-KR" sz="1050" kern="0" dirty="0">
              <a:solidFill>
                <a:srgbClr val="000000"/>
              </a:solidFill>
              <a:latin typeface="맑은 고딕" panose="020F0502020204030204"/>
              <a:ea typeface="Malgun Gothic"/>
              <a:sym typeface="Malgun Gothic"/>
            </a:endParaRPr>
          </a:p>
          <a:p>
            <a:pPr marL="452438" marR="0" lvl="1" indent="-187325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‒"/>
              <a:tabLst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설비</a:t>
            </a:r>
            <a:r>
              <a:rPr 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 </a:t>
            </a:r>
            <a:r>
              <a:rPr lang="ko-KR" altLang="en-US" sz="1050" kern="0" dirty="0">
                <a:solidFill>
                  <a:srgbClr val="000000"/>
                </a:solidFill>
                <a:latin typeface="맑은 고딕" panose="020F0502020204030204"/>
                <a:ea typeface="Malgun Gothic"/>
                <a:sym typeface="Malgun Gothic"/>
              </a:rPr>
              <a:t>관리</a:t>
            </a:r>
            <a:endParaRPr sz="1050" kern="0" dirty="0">
              <a:solidFill>
                <a:srgbClr val="000000"/>
              </a:solidFill>
              <a:latin typeface="맑은 고딕" panose="020F0502020204030204"/>
              <a:ea typeface="Malgun Gothic"/>
              <a:sym typeface="Malgun Gothic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831CA62-FA0C-4AA4-B4F8-04609356CC55}"/>
              </a:ext>
            </a:extLst>
          </p:cNvPr>
          <p:cNvSpPr/>
          <p:nvPr/>
        </p:nvSpPr>
        <p:spPr>
          <a:xfrm>
            <a:off x="6525410" y="2989593"/>
            <a:ext cx="73627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제품출고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/  Invoice</a:t>
            </a:r>
            <a:endParaRPr lang="ko-KR" altLang="en-US" sz="1000" dirty="0">
              <a:solidFill>
                <a:schemeClr val="bg1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372000" y="4569497"/>
            <a:ext cx="226095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01B15FA-4C23-450E-A2C3-53403845F5B1}"/>
              </a:ext>
            </a:extLst>
          </p:cNvPr>
          <p:cNvGrpSpPr/>
          <p:nvPr/>
        </p:nvGrpSpPr>
        <p:grpSpPr>
          <a:xfrm>
            <a:off x="8425617" y="1575118"/>
            <a:ext cx="1065803" cy="497993"/>
            <a:chOff x="8715892" y="1609301"/>
            <a:chExt cx="761009" cy="287809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C3BA3A-32FA-4B08-8CDC-E65CD2EC63CC}"/>
                </a:ext>
              </a:extLst>
            </p:cNvPr>
            <p:cNvSpPr txBox="1"/>
            <p:nvPr/>
          </p:nvSpPr>
          <p:spPr>
            <a:xfrm>
              <a:off x="8715893" y="1609301"/>
              <a:ext cx="761008" cy="28780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-27432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ko-KR" sz="12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Preliminary</a:t>
              </a: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6D9CED58-BBD8-4D0C-AB60-537DF29B8B3A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658832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5D856DD0-A191-4C50-BB2B-B6577BE35920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841359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83" name="직사각형 82"/>
          <p:cNvSpPr/>
          <p:nvPr/>
        </p:nvSpPr>
        <p:spPr>
          <a:xfrm>
            <a:off x="255144" y="5634410"/>
            <a:ext cx="11993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  <a:cs typeface="Arial" pitchFamily="34" charset="0"/>
              </a:rPr>
              <a:t>MES : Manufacturing Execution </a:t>
            </a:r>
            <a:r>
              <a:rPr lang="en-US" altLang="ko-KR" sz="800" dirty="0" smtClean="0">
                <a:latin typeface="+mn-ea"/>
                <a:cs typeface="Arial" pitchFamily="34" charset="0"/>
              </a:rPr>
              <a:t>System</a:t>
            </a:r>
          </a:p>
          <a:p>
            <a:endParaRPr lang="en-US" altLang="ko-KR" sz="800" dirty="0">
              <a:latin typeface="+mn-ea"/>
              <a:cs typeface="Arial" pitchFamily="34" charset="0"/>
            </a:endParaRPr>
          </a:p>
          <a:p>
            <a:r>
              <a:rPr lang="en-US" altLang="ko-KR" sz="800" dirty="0">
                <a:latin typeface="+mn-ea"/>
                <a:cs typeface="Arial" pitchFamily="34" charset="0"/>
              </a:rPr>
              <a:t>APM : AREL Process Management 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34843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2682F4A2-69F8-42B7-B32A-D3EAEECE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>
              <a:buClrTx/>
              <a:buSzTx/>
              <a:defRPr/>
            </a:pP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Material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법인들의 규모와 기존 </a:t>
            </a: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ERP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 현황</a:t>
            </a: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형태에 따라 </a:t>
            </a: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S/4HANA 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 여부 및 범위를 정의하여</a:t>
            </a: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법인의 동시 구축 리스크를 줄이기 위해 대표 법인 </a:t>
            </a:r>
            <a:r>
              <a:rPr lang="en-US" altLang="ko-KR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kern="0" spc="-150" dirty="0">
                <a:ln w="1905"/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구축 후 확산 하는 형태를 제언함</a:t>
            </a:r>
            <a:endParaRPr lang="ko-KR" altLang="en-US" spc="-150" dirty="0"/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E9A35A23-48E7-4013-82AC-58FEC6E9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8434793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    Material Group </a:t>
            </a:r>
            <a:r>
              <a:rPr lang="ko-KR" altLang="en-US" sz="2000" b="1" kern="0" spc="-138" dirty="0">
                <a:ln w="1905"/>
                <a:ea typeface="맑은 고딕"/>
              </a:rPr>
              <a:t>대상 </a:t>
            </a:r>
            <a:r>
              <a:rPr lang="en-US" altLang="ko-KR" sz="2000" b="1" kern="0" spc="-138" dirty="0">
                <a:ln w="1905"/>
                <a:ea typeface="맑은 고딕"/>
              </a:rPr>
              <a:t>-       </a:t>
            </a:r>
            <a:r>
              <a:rPr lang="ko-KR" altLang="en-US" sz="2000" b="1" kern="0" spc="-138" dirty="0">
                <a:ln w="1905"/>
                <a:ea typeface="맑은 고딕"/>
              </a:rPr>
              <a:t>단계적 구축 통한 오픈 리스크 축소 </a:t>
            </a:r>
            <a:r>
              <a:rPr lang="en-US" altLang="ko-KR" sz="2000" b="1" kern="0" spc="-138" dirty="0">
                <a:ln w="1905"/>
                <a:ea typeface="맑은 고딕"/>
              </a:rPr>
              <a:t>(</a:t>
            </a:r>
            <a:r>
              <a:rPr lang="ko-KR" altLang="en-US" sz="2000" b="1" kern="0" spc="-138" dirty="0">
                <a:ln w="1905"/>
                <a:ea typeface="맑은 고딕"/>
              </a:rPr>
              <a:t>案</a:t>
            </a:r>
            <a:r>
              <a:rPr lang="en-US" altLang="ko-KR" sz="2000" b="1" kern="0" spc="-138" dirty="0">
                <a:ln w="1905"/>
                <a:ea typeface="맑은 고딕"/>
              </a:rPr>
              <a:t>)</a:t>
            </a:r>
            <a:r>
              <a:rPr lang="ko-KR" altLang="en-US" sz="2000" b="1" kern="0" spc="-138" dirty="0">
                <a:ln w="1905"/>
                <a:ea typeface="맑은 고딕"/>
              </a:rPr>
              <a:t> </a:t>
            </a:r>
            <a:r>
              <a:rPr lang="en-US" altLang="ko-KR" sz="2000" b="1" kern="0" spc="-138" dirty="0">
                <a:ln w="1905"/>
                <a:ea typeface="맑은 고딕"/>
              </a:rPr>
              <a:t> </a:t>
            </a:r>
            <a:r>
              <a:rPr lang="ko-KR" altLang="en-US" sz="2000" b="1" kern="0" spc="-138" dirty="0">
                <a:ln w="1905"/>
                <a:ea typeface="맑은 고딕"/>
              </a:rPr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127472-3DE4-4694-A237-860BF9EF53C0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253A2F0-4B48-4889-BC9D-F1BA7B065C44}"/>
              </a:ext>
            </a:extLst>
          </p:cNvPr>
          <p:cNvSpPr/>
          <p:nvPr/>
        </p:nvSpPr>
        <p:spPr>
          <a:xfrm>
            <a:off x="3019812" y="334656"/>
            <a:ext cx="288032" cy="288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4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/>
              </a:rPr>
              <a:t>2</a:t>
            </a:r>
            <a:endParaRPr lang="ko-KR" altLang="en-US" sz="1400" b="1" kern="0" dirty="0">
              <a:solidFill>
                <a:srgbClr val="FFFFFF"/>
              </a:solidFill>
              <a:latin typeface="맑은 고딕" panose="020B0503020000020004" pitchFamily="50" charset="-127"/>
              <a:ea typeface="맑은 고딕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2E93D32-EB2C-458E-A78A-49A945F5B615}"/>
              </a:ext>
            </a:extLst>
          </p:cNvPr>
          <p:cNvSpPr txBox="1"/>
          <p:nvPr/>
        </p:nvSpPr>
        <p:spPr>
          <a:xfrm>
            <a:off x="271462" y="1828483"/>
            <a:ext cx="5298758" cy="9451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0" rIns="72000" bIns="0" rtlCol="0" anchor="ctr"/>
          <a:lstStyle>
            <a:defPPr>
              <a:defRPr lang="en-US"/>
            </a:defPPr>
            <a:lvl1pPr algn="ctr">
              <a:defRPr sz="12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lvl="0" indent="-171450" algn="l" defTabSz="977172"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제직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편직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염색가공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패딩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의류 부자재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포장재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원사 생산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Biz Area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확장 예정 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 defTabSz="977172"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 법인의 규모에 따라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S/4HANA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가능성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상이 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171450" indent="-171450" algn="l" defTabSz="977172"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기존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Material Group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산하 법인은 다양한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ERP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시스템 사용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rPr>
              <a:t>중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슬라이드 번호 개체 틀 1">
            <a:extLst>
              <a:ext uri="{FF2B5EF4-FFF2-40B4-BE49-F238E27FC236}">
                <a16:creationId xmlns:a16="http://schemas.microsoft.com/office/drawing/2014/main" id="{67CEA8AB-371A-4B6C-80D5-8E10BB01D00E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25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404181" y="2982532"/>
            <a:ext cx="812670" cy="271208"/>
            <a:chOff x="385065" y="1673547"/>
            <a:chExt cx="7101815" cy="329220"/>
          </a:xfrm>
        </p:grpSpPr>
        <p:sp>
          <p:nvSpPr>
            <p:cNvPr id="170" name="Google Shape;5231;p64">
              <a:extLst>
                <a:ext uri="{FF2B5EF4-FFF2-40B4-BE49-F238E27FC236}">
                  <a16:creationId xmlns:a16="http://schemas.microsoft.com/office/drawing/2014/main" id="{D2126780-1F85-413F-8318-B2077BCBFBC4}"/>
                </a:ext>
              </a:extLst>
            </p:cNvPr>
            <p:cNvSpPr txBox="1"/>
            <p:nvPr/>
          </p:nvSpPr>
          <p:spPr>
            <a:xfrm>
              <a:off x="627560" y="1673547"/>
              <a:ext cx="6616834" cy="257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200" b="1" noProof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법인명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71" name="Google Shape;5232;p64">
              <a:extLst>
                <a:ext uri="{FF2B5EF4-FFF2-40B4-BE49-F238E27FC236}">
                  <a16:creationId xmlns:a16="http://schemas.microsoft.com/office/drawing/2014/main" id="{8BE59594-E976-4C78-9455-072651F297A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65" y="1992471"/>
              <a:ext cx="7101815" cy="10296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72" name="그룹 171"/>
          <p:cNvGrpSpPr/>
          <p:nvPr/>
        </p:nvGrpSpPr>
        <p:grpSpPr>
          <a:xfrm>
            <a:off x="1295267" y="2982532"/>
            <a:ext cx="812670" cy="271208"/>
            <a:chOff x="385065" y="1673547"/>
            <a:chExt cx="7101815" cy="329220"/>
          </a:xfrm>
        </p:grpSpPr>
        <p:sp>
          <p:nvSpPr>
            <p:cNvPr id="173" name="Google Shape;5231;p64">
              <a:extLst>
                <a:ext uri="{FF2B5EF4-FFF2-40B4-BE49-F238E27FC236}">
                  <a16:creationId xmlns:a16="http://schemas.microsoft.com/office/drawing/2014/main" id="{D2126780-1F85-413F-8318-B2077BCBFBC4}"/>
                </a:ext>
              </a:extLst>
            </p:cNvPr>
            <p:cNvSpPr txBox="1"/>
            <p:nvPr/>
          </p:nvSpPr>
          <p:spPr>
            <a:xfrm>
              <a:off x="627560" y="1673547"/>
              <a:ext cx="6616834" cy="312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200" b="1" noProof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위치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74" name="Google Shape;5232;p64">
              <a:extLst>
                <a:ext uri="{FF2B5EF4-FFF2-40B4-BE49-F238E27FC236}">
                  <a16:creationId xmlns:a16="http://schemas.microsoft.com/office/drawing/2014/main" id="{8BE59594-E976-4C78-9455-072651F297A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65" y="1992471"/>
              <a:ext cx="7101815" cy="10296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75" name="그룹 174"/>
          <p:cNvGrpSpPr/>
          <p:nvPr/>
        </p:nvGrpSpPr>
        <p:grpSpPr>
          <a:xfrm>
            <a:off x="2186353" y="2982532"/>
            <a:ext cx="812670" cy="271208"/>
            <a:chOff x="385065" y="1673547"/>
            <a:chExt cx="7101815" cy="329220"/>
          </a:xfrm>
        </p:grpSpPr>
        <p:sp>
          <p:nvSpPr>
            <p:cNvPr id="176" name="Google Shape;5231;p64">
              <a:extLst>
                <a:ext uri="{FF2B5EF4-FFF2-40B4-BE49-F238E27FC236}">
                  <a16:creationId xmlns:a16="http://schemas.microsoft.com/office/drawing/2014/main" id="{D2126780-1F85-413F-8318-B2077BCBFBC4}"/>
                </a:ext>
              </a:extLst>
            </p:cNvPr>
            <p:cNvSpPr txBox="1"/>
            <p:nvPr/>
          </p:nvSpPr>
          <p:spPr>
            <a:xfrm>
              <a:off x="627560" y="1673547"/>
              <a:ext cx="6616834" cy="312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200" b="1" noProof="0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사업영역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77" name="Google Shape;5232;p64">
              <a:extLst>
                <a:ext uri="{FF2B5EF4-FFF2-40B4-BE49-F238E27FC236}">
                  <a16:creationId xmlns:a16="http://schemas.microsoft.com/office/drawing/2014/main" id="{8BE59594-E976-4C78-9455-072651F297A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65" y="1992471"/>
              <a:ext cx="7101815" cy="10296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78" name="그룹 177"/>
          <p:cNvGrpSpPr/>
          <p:nvPr/>
        </p:nvGrpSpPr>
        <p:grpSpPr>
          <a:xfrm>
            <a:off x="3077439" y="2982532"/>
            <a:ext cx="812670" cy="271208"/>
            <a:chOff x="385065" y="1673547"/>
            <a:chExt cx="7101815" cy="329220"/>
          </a:xfrm>
        </p:grpSpPr>
        <p:sp>
          <p:nvSpPr>
            <p:cNvPr id="179" name="Google Shape;5231;p64">
              <a:extLst>
                <a:ext uri="{FF2B5EF4-FFF2-40B4-BE49-F238E27FC236}">
                  <a16:creationId xmlns:a16="http://schemas.microsoft.com/office/drawing/2014/main" id="{D2126780-1F85-413F-8318-B2077BCBFBC4}"/>
                </a:ext>
              </a:extLst>
            </p:cNvPr>
            <p:cNvSpPr txBox="1"/>
            <p:nvPr/>
          </p:nvSpPr>
          <p:spPr>
            <a:xfrm>
              <a:off x="627560" y="1673547"/>
              <a:ext cx="6616834" cy="312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200" b="1" noProof="0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규모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80" name="Google Shape;5232;p64">
              <a:extLst>
                <a:ext uri="{FF2B5EF4-FFF2-40B4-BE49-F238E27FC236}">
                  <a16:creationId xmlns:a16="http://schemas.microsoft.com/office/drawing/2014/main" id="{8BE59594-E976-4C78-9455-072651F297A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65" y="1992471"/>
              <a:ext cx="7101815" cy="10296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9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6421957" y="2065146"/>
            <a:ext cx="25154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r>
              <a:rPr lang="en-US" altLang="ko-KR" sz="1400" dirty="0"/>
              <a:t>【 </a:t>
            </a:r>
            <a:r>
              <a:rPr lang="ko-KR" altLang="en-US" sz="1400" dirty="0"/>
              <a:t>단계별 </a:t>
            </a:r>
            <a:r>
              <a:rPr lang="en-US" altLang="ko-KR" sz="1400" dirty="0"/>
              <a:t>S/4HANA </a:t>
            </a:r>
            <a:r>
              <a:rPr lang="ko-KR" altLang="en-US" sz="1400" dirty="0"/>
              <a:t>구축 안</a:t>
            </a:r>
            <a:r>
              <a:rPr lang="en-US" altLang="ko-KR" sz="1400" dirty="0"/>
              <a:t>】</a:t>
            </a:r>
            <a:endParaRPr lang="ko-KR" altLang="en-US" sz="1400" dirty="0"/>
          </a:p>
        </p:txBody>
      </p:sp>
      <p:grpSp>
        <p:nvGrpSpPr>
          <p:cNvPr id="246" name="그룹 245"/>
          <p:cNvGrpSpPr/>
          <p:nvPr/>
        </p:nvGrpSpPr>
        <p:grpSpPr>
          <a:xfrm>
            <a:off x="5963885" y="2485826"/>
            <a:ext cx="3431576" cy="1523590"/>
            <a:chOff x="5730240" y="2530249"/>
            <a:chExt cx="3993818" cy="1523590"/>
          </a:xfrm>
        </p:grpSpPr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4FC04BA6-0AAA-409F-A13E-74E38D17A527}"/>
                </a:ext>
              </a:extLst>
            </p:cNvPr>
            <p:cNvSpPr/>
            <p:nvPr/>
          </p:nvSpPr>
          <p:spPr bwMode="gray">
            <a:xfrm>
              <a:off x="5730240" y="2530249"/>
              <a:ext cx="3993818" cy="32725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ts val="300"/>
                </a:spcBef>
                <a:spcAft>
                  <a:spcPts val="300"/>
                </a:spcAft>
                <a:buClr>
                  <a:srgbClr val="F0AB00"/>
                </a:buClr>
                <a:buSzPct val="100000"/>
                <a:defRPr/>
              </a:pPr>
              <a:r>
                <a:rPr lang="en-US" altLang="ko-KR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1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차 구축 대상 </a:t>
              </a:r>
              <a:r>
                <a:rPr lang="en-US" altLang="ko-KR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: BD 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내 </a:t>
              </a:r>
              <a:r>
                <a:rPr lang="en-US" altLang="ko-KR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5 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개 대표 법인</a:t>
              </a:r>
              <a:endParaRPr lang="en-US" altLang="ko-KR" sz="1400" b="1" kern="0" dirty="0">
                <a:solidFill>
                  <a:schemeClr val="bg1"/>
                </a:solidFill>
                <a:cs typeface="Arial Unicode MS" pitchFamily="34" charset="-128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589EA9C7-EF99-47AF-8794-61C51EC8F027}"/>
                </a:ext>
              </a:extLst>
            </p:cNvPr>
            <p:cNvSpPr txBox="1"/>
            <p:nvPr/>
          </p:nvSpPr>
          <p:spPr>
            <a:xfrm>
              <a:off x="5730240" y="2879558"/>
              <a:ext cx="3992880" cy="1174281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72000" rIns="72000" bIns="72000" rtlCol="0" anchor="t" anchorCtr="0">
              <a:noAutofit/>
            </a:bodyPr>
            <a:lstStyle/>
            <a:p>
              <a:pPr marL="171450" indent="-171450">
                <a:spcBef>
                  <a:spcPts val="4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atin typeface="+mn-ea"/>
                  <a:cs typeface="Arial" pitchFamily="34" charset="0"/>
                </a:rPr>
                <a:t>대표 제품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(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염색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패딩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, </a:t>
              </a:r>
              <a:r>
                <a:rPr lang="ko-KR" altLang="en-US" sz="1050" dirty="0" err="1" smtClean="0">
                  <a:latin typeface="+mn-ea"/>
                  <a:cs typeface="Arial" pitchFamily="34" charset="0"/>
                </a:rPr>
                <a:t>제편직</a:t>
              </a:r>
              <a:r>
                <a:rPr lang="en-US" altLang="ko-KR" sz="1050" dirty="0" smtClean="0">
                  <a:latin typeface="+mn-ea"/>
                  <a:cs typeface="Arial" pitchFamily="34" charset="0"/>
                </a:rPr>
                <a:t>)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을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생산하고 있는 중대형 법인 대상 </a:t>
              </a:r>
              <a:r>
                <a:rPr lang="en-US" altLang="ko-KR" sz="1050" dirty="0">
                  <a:latin typeface="+mn-ea"/>
                  <a:cs typeface="Arial" pitchFamily="34" charset="0"/>
                  <a:sym typeface="Wingdings" panose="05000000000000000000" pitchFamily="2" charset="2"/>
                </a:rPr>
                <a:t>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 </a:t>
              </a:r>
              <a:r>
                <a:rPr lang="en-US" altLang="ko-KR" sz="1050" b="1" dirty="0">
                  <a:latin typeface="+mn-ea"/>
                  <a:cs typeface="Arial" pitchFamily="34" charset="0"/>
                </a:rPr>
                <a:t>Material Group</a:t>
              </a:r>
              <a:r>
                <a:rPr lang="ko-KR" altLang="en-US" sz="1050" b="1" dirty="0">
                  <a:latin typeface="+mn-ea"/>
                  <a:cs typeface="Arial" pitchFamily="34" charset="0"/>
                </a:rPr>
                <a:t>의 그룹 표준 업무 설계 및 구축</a:t>
              </a:r>
              <a:r>
                <a:rPr lang="en-US" altLang="ko-KR" sz="1050" b="1" dirty="0">
                  <a:latin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향후 소형 법인 및 원사 생산 법인 까지 확산 기반 </a:t>
              </a:r>
              <a:r>
                <a:rPr lang="ko-KR" altLang="en-US" sz="1050" dirty="0" smtClean="0">
                  <a:latin typeface="+mn-ea"/>
                  <a:cs typeface="Arial" pitchFamily="34" charset="0"/>
                </a:rPr>
                <a:t>조성 </a:t>
              </a:r>
              <a:endParaRPr lang="en-US" altLang="ko-KR" sz="1050" dirty="0" smtClean="0">
                <a:latin typeface="+mn-ea"/>
                <a:cs typeface="Arial" pitchFamily="34" charset="0"/>
              </a:endParaRPr>
            </a:p>
            <a:p>
              <a:pPr marL="171450" indent="-171450">
                <a:spcBef>
                  <a:spcPts val="400"/>
                </a:spcBef>
                <a:buFont typeface="Wingdings" panose="05000000000000000000" pitchFamily="2" charset="2"/>
                <a:buChar char="§"/>
              </a:pPr>
              <a:r>
                <a:rPr lang="en-US" altLang="ko-KR" sz="1050" dirty="0" smtClean="0">
                  <a:latin typeface="+mn-ea"/>
                  <a:cs typeface="Arial" pitchFamily="34" charset="0"/>
                </a:rPr>
                <a:t>YNL </a:t>
              </a:r>
              <a:r>
                <a:rPr lang="ko-KR" altLang="en-US" sz="1050" dirty="0" smtClean="0">
                  <a:latin typeface="+mn-ea"/>
                  <a:cs typeface="Arial" pitchFamily="34" charset="0"/>
                </a:rPr>
                <a:t>내 </a:t>
              </a:r>
              <a:r>
                <a:rPr lang="en-US" altLang="ko-KR" sz="1050" dirty="0" smtClean="0">
                  <a:latin typeface="+mn-ea"/>
                  <a:cs typeface="Arial" pitchFamily="34" charset="0"/>
                </a:rPr>
                <a:t>Material </a:t>
              </a:r>
              <a:r>
                <a:rPr lang="ko-KR" altLang="en-US" sz="1050" dirty="0" smtClean="0">
                  <a:latin typeface="+mn-ea"/>
                  <a:cs typeface="Arial" pitchFamily="34" charset="0"/>
                </a:rPr>
                <a:t>구축 내용 활용 가능</a:t>
              </a:r>
              <a:r>
                <a:rPr lang="en-US" altLang="ko-KR" sz="1050" dirty="0" smtClean="0">
                  <a:latin typeface="+mn-ea"/>
                  <a:cs typeface="Arial" pitchFamily="34" charset="0"/>
                </a:rPr>
                <a:t/>
              </a:r>
              <a:br>
                <a:rPr lang="en-US" altLang="ko-KR" sz="1050" dirty="0" smtClean="0">
                  <a:latin typeface="+mn-ea"/>
                  <a:cs typeface="Arial" pitchFamily="34" charset="0"/>
                </a:rPr>
              </a:br>
              <a:r>
                <a:rPr lang="en-US" altLang="ko-KR" sz="1050" dirty="0" smtClean="0">
                  <a:latin typeface="+mn-ea"/>
                  <a:cs typeface="Arial" pitchFamily="34" charset="0"/>
                </a:rPr>
                <a:t>(APM </a:t>
              </a:r>
              <a:r>
                <a:rPr lang="ko-KR" altLang="en-US" sz="1050" dirty="0" smtClean="0">
                  <a:latin typeface="+mn-ea"/>
                  <a:cs typeface="Arial" pitchFamily="34" charset="0"/>
                </a:rPr>
                <a:t>활용 방향성 등</a:t>
              </a:r>
              <a:r>
                <a:rPr lang="en-US" altLang="ko-KR" sz="1050" dirty="0" smtClean="0">
                  <a:latin typeface="+mn-ea"/>
                  <a:cs typeface="Arial" pitchFamily="34" charset="0"/>
                </a:rPr>
                <a:t>)</a:t>
              </a:r>
              <a:endParaRPr lang="en-US" altLang="ko-KR" sz="1050" dirty="0">
                <a:latin typeface="+mn-ea"/>
                <a:cs typeface="Arial" pitchFamily="34" charset="0"/>
              </a:endParaRPr>
            </a:p>
          </p:txBody>
        </p:sp>
      </p:grpSp>
      <p:sp>
        <p:nvSpPr>
          <p:cNvPr id="261" name="Rectangle 187">
            <a:extLst>
              <a:ext uri="{FF2B5EF4-FFF2-40B4-BE49-F238E27FC236}">
                <a16:creationId xmlns:a16="http://schemas.microsoft.com/office/drawing/2014/main" id="{53888357-B1BB-4404-9F14-3BFB4232C3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3322277"/>
            <a:ext cx="720000" cy="264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SDF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2" name="Rectangle 187">
            <a:extLst>
              <a:ext uri="{FF2B5EF4-FFF2-40B4-BE49-F238E27FC236}">
                <a16:creationId xmlns:a16="http://schemas.microsoft.com/office/drawing/2014/main" id="{53888357-B1BB-4404-9F14-3BFB4232C3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332227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다카</a:t>
            </a:r>
          </a:p>
        </p:txBody>
      </p:sp>
      <p:sp>
        <p:nvSpPr>
          <p:cNvPr id="263" name="Rectangle 187">
            <a:extLst>
              <a:ext uri="{FF2B5EF4-FFF2-40B4-BE49-F238E27FC236}">
                <a16:creationId xmlns:a16="http://schemas.microsoft.com/office/drawing/2014/main" id="{53888357-B1BB-4404-9F14-3BFB4232C3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332227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염색 가공</a:t>
            </a:r>
          </a:p>
        </p:txBody>
      </p:sp>
      <p:sp>
        <p:nvSpPr>
          <p:cNvPr id="264" name="Rectangle 187">
            <a:extLst>
              <a:ext uri="{FF2B5EF4-FFF2-40B4-BE49-F238E27FC236}">
                <a16:creationId xmlns:a16="http://schemas.microsoft.com/office/drawing/2014/main" id="{53888357-B1BB-4404-9F14-3BFB4232C3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332227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대형</a:t>
            </a:r>
          </a:p>
        </p:txBody>
      </p:sp>
      <p:sp>
        <p:nvSpPr>
          <p:cNvPr id="267" name="Rectangle 187">
            <a:extLst>
              <a:ext uri="{FF2B5EF4-FFF2-40B4-BE49-F238E27FC236}">
                <a16:creationId xmlns:a16="http://schemas.microsoft.com/office/drawing/2014/main" id="{3E78FD64-0360-4897-871C-61EF1B4C7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3655067"/>
            <a:ext cx="720000" cy="264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KPP </a:t>
            </a:r>
            <a:r>
              <a:rPr lang="en-US" altLang="ko-KR" sz="1000" b="1" dirty="0" smtClean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1,2,3</a:t>
            </a:r>
            <a:endParaRPr lang="ko-KR" altLang="en-US" sz="10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8" name="Rectangle 187">
            <a:extLst>
              <a:ext uri="{FF2B5EF4-FFF2-40B4-BE49-F238E27FC236}">
                <a16:creationId xmlns:a16="http://schemas.microsoft.com/office/drawing/2014/main" id="{3E78FD64-0360-4897-871C-61EF1B4C7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365506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치타공</a:t>
            </a:r>
          </a:p>
        </p:txBody>
      </p:sp>
      <p:sp>
        <p:nvSpPr>
          <p:cNvPr id="269" name="Rectangle 187">
            <a:extLst>
              <a:ext uri="{FF2B5EF4-FFF2-40B4-BE49-F238E27FC236}">
                <a16:creationId xmlns:a16="http://schemas.microsoft.com/office/drawing/2014/main" id="{3E78FD64-0360-4897-871C-61EF1B4C7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365506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염색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b="1" noProof="0" dirty="0" err="1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kumimoji="0" lang="ko-KR" altLang="en-US" sz="9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편직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0" name="Rectangle 187">
            <a:extLst>
              <a:ext uri="{FF2B5EF4-FFF2-40B4-BE49-F238E27FC236}">
                <a16:creationId xmlns:a16="http://schemas.microsoft.com/office/drawing/2014/main" id="{3E78FD64-0360-4897-871C-61EF1B4C7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365506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대형</a:t>
            </a:r>
          </a:p>
        </p:txBody>
      </p:sp>
      <p:sp>
        <p:nvSpPr>
          <p:cNvPr id="273" name="Rectangle 187">
            <a:extLst>
              <a:ext uri="{FF2B5EF4-FFF2-40B4-BE49-F238E27FC236}">
                <a16:creationId xmlns:a16="http://schemas.microsoft.com/office/drawing/2014/main" id="{45F333B0-AAC2-4386-BE86-DA68B0D104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3987857"/>
            <a:ext cx="720000" cy="264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YSF</a:t>
            </a:r>
            <a:endParaRPr lang="ko-KR" altLang="en-US" sz="10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4" name="Rectangle 187">
            <a:extLst>
              <a:ext uri="{FF2B5EF4-FFF2-40B4-BE49-F238E27FC236}">
                <a16:creationId xmlns:a16="http://schemas.microsoft.com/office/drawing/2014/main" id="{45F333B0-AAC2-4386-BE86-DA68B0D104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398785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다카</a:t>
            </a:r>
          </a:p>
        </p:txBody>
      </p:sp>
      <p:sp>
        <p:nvSpPr>
          <p:cNvPr id="275" name="Rectangle 187">
            <a:extLst>
              <a:ext uri="{FF2B5EF4-FFF2-40B4-BE49-F238E27FC236}">
                <a16:creationId xmlns:a16="http://schemas.microsoft.com/office/drawing/2014/main" id="{45F333B0-AAC2-4386-BE86-DA68B0D104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398785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패딩</a:t>
            </a:r>
          </a:p>
        </p:txBody>
      </p:sp>
      <p:sp>
        <p:nvSpPr>
          <p:cNvPr id="276" name="Rectangle 187">
            <a:extLst>
              <a:ext uri="{FF2B5EF4-FFF2-40B4-BE49-F238E27FC236}">
                <a16:creationId xmlns:a16="http://schemas.microsoft.com/office/drawing/2014/main" id="{45F333B0-AAC2-4386-BE86-DA68B0D104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398785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중형</a:t>
            </a:r>
          </a:p>
        </p:txBody>
      </p:sp>
      <p:sp>
        <p:nvSpPr>
          <p:cNvPr id="279" name="Rectangle 187">
            <a:extLst>
              <a:ext uri="{FF2B5EF4-FFF2-40B4-BE49-F238E27FC236}">
                <a16:creationId xmlns:a16="http://schemas.microsoft.com/office/drawing/2014/main" id="{FD99E3CB-4C1B-4AE7-B0D9-71A1729AE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4320647"/>
            <a:ext cx="720000" cy="264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YPL</a:t>
            </a:r>
            <a:endParaRPr lang="ko-KR" altLang="en-US" sz="10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0" name="Rectangle 187">
            <a:extLst>
              <a:ext uri="{FF2B5EF4-FFF2-40B4-BE49-F238E27FC236}">
                <a16:creationId xmlns:a16="http://schemas.microsoft.com/office/drawing/2014/main" id="{FD99E3CB-4C1B-4AE7-B0D9-71A1729AE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432064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치타공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1" name="Rectangle 187">
            <a:extLst>
              <a:ext uri="{FF2B5EF4-FFF2-40B4-BE49-F238E27FC236}">
                <a16:creationId xmlns:a16="http://schemas.microsoft.com/office/drawing/2014/main" id="{FD99E3CB-4C1B-4AE7-B0D9-71A1729AE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432064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패딩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2" name="Rectangle 187">
            <a:extLst>
              <a:ext uri="{FF2B5EF4-FFF2-40B4-BE49-F238E27FC236}">
                <a16:creationId xmlns:a16="http://schemas.microsoft.com/office/drawing/2014/main" id="{FD99E3CB-4C1B-4AE7-B0D9-71A1729AE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432064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중형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5" name="Rectangle 187">
            <a:extLst>
              <a:ext uri="{FF2B5EF4-FFF2-40B4-BE49-F238E27FC236}">
                <a16:creationId xmlns:a16="http://schemas.microsoft.com/office/drawing/2014/main" id="{8078C31C-9AB2-435C-BF70-E63E023A2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4653437"/>
            <a:ext cx="720000" cy="264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STL</a:t>
            </a:r>
            <a:endParaRPr lang="ko-KR" altLang="en-US" sz="10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6" name="Rectangle 187">
            <a:extLst>
              <a:ext uri="{FF2B5EF4-FFF2-40B4-BE49-F238E27FC236}">
                <a16:creationId xmlns:a16="http://schemas.microsoft.com/office/drawing/2014/main" id="{8078C31C-9AB2-435C-BF70-E63E023A2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465343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다카</a:t>
            </a:r>
          </a:p>
        </p:txBody>
      </p:sp>
      <p:sp>
        <p:nvSpPr>
          <p:cNvPr id="287" name="Rectangle 187">
            <a:extLst>
              <a:ext uri="{FF2B5EF4-FFF2-40B4-BE49-F238E27FC236}">
                <a16:creationId xmlns:a16="http://schemas.microsoft.com/office/drawing/2014/main" id="{8078C31C-9AB2-435C-BF70-E63E023A2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465343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제직</a:t>
            </a:r>
          </a:p>
        </p:txBody>
      </p:sp>
      <p:sp>
        <p:nvSpPr>
          <p:cNvPr id="288" name="Rectangle 187">
            <a:extLst>
              <a:ext uri="{FF2B5EF4-FFF2-40B4-BE49-F238E27FC236}">
                <a16:creationId xmlns:a16="http://schemas.microsoft.com/office/drawing/2014/main" id="{8078C31C-9AB2-435C-BF70-E63E023A2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4653437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중형</a:t>
            </a:r>
          </a:p>
        </p:txBody>
      </p:sp>
      <p:sp>
        <p:nvSpPr>
          <p:cNvPr id="291" name="Rectangle 187">
            <a:extLst>
              <a:ext uri="{FF2B5EF4-FFF2-40B4-BE49-F238E27FC236}">
                <a16:creationId xmlns:a16="http://schemas.microsoft.com/office/drawing/2014/main" id="{14568F0F-D695-4107-A924-2F627851F1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5390693"/>
            <a:ext cx="720000" cy="26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SEL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2" name="Rectangle 187">
            <a:extLst>
              <a:ext uri="{FF2B5EF4-FFF2-40B4-BE49-F238E27FC236}">
                <a16:creationId xmlns:a16="http://schemas.microsoft.com/office/drawing/2014/main" id="{14568F0F-D695-4107-A924-2F627851F1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5390693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lvl="0" algn="ctr" defTabSz="957769">
              <a:lnSpc>
                <a:spcPts val="1000"/>
              </a:lnSpc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치타공</a:t>
            </a:r>
          </a:p>
        </p:txBody>
      </p:sp>
      <p:sp>
        <p:nvSpPr>
          <p:cNvPr id="293" name="Rectangle 187">
            <a:extLst>
              <a:ext uri="{FF2B5EF4-FFF2-40B4-BE49-F238E27FC236}">
                <a16:creationId xmlns:a16="http://schemas.microsoft.com/office/drawing/2014/main" id="{14568F0F-D695-4107-A924-2F627851F1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5390693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Resin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생산</a:t>
            </a:r>
          </a:p>
        </p:txBody>
      </p:sp>
      <p:sp>
        <p:nvSpPr>
          <p:cNvPr id="294" name="Rectangle 187">
            <a:extLst>
              <a:ext uri="{FF2B5EF4-FFF2-40B4-BE49-F238E27FC236}">
                <a16:creationId xmlns:a16="http://schemas.microsoft.com/office/drawing/2014/main" id="{14568F0F-D695-4107-A924-2F627851F1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5390693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소형</a:t>
            </a:r>
          </a:p>
        </p:txBody>
      </p:sp>
      <p:sp>
        <p:nvSpPr>
          <p:cNvPr id="297" name="Rectangle 187">
            <a:extLst>
              <a:ext uri="{FF2B5EF4-FFF2-40B4-BE49-F238E27FC236}">
                <a16:creationId xmlns:a16="http://schemas.microsoft.com/office/drawing/2014/main" id="{FA22404E-B73C-47D6-8DC8-21DF8591D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5723485"/>
            <a:ext cx="720000" cy="26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KPL</a:t>
            </a:r>
            <a:endParaRPr lang="ko-KR" altLang="en-US" sz="1000" b="1" dirty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8" name="Rectangle 187">
            <a:extLst>
              <a:ext uri="{FF2B5EF4-FFF2-40B4-BE49-F238E27FC236}">
                <a16:creationId xmlns:a16="http://schemas.microsoft.com/office/drawing/2014/main" id="{FA22404E-B73C-47D6-8DC8-21DF8591D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5723485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lvl="0" algn="ctr" defTabSz="957769">
              <a:lnSpc>
                <a:spcPts val="1000"/>
              </a:lnSpc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치타공</a:t>
            </a:r>
          </a:p>
        </p:txBody>
      </p:sp>
      <p:sp>
        <p:nvSpPr>
          <p:cNvPr id="299" name="Rectangle 187">
            <a:extLst>
              <a:ext uri="{FF2B5EF4-FFF2-40B4-BE49-F238E27FC236}">
                <a16:creationId xmlns:a16="http://schemas.microsoft.com/office/drawing/2014/main" id="{FA22404E-B73C-47D6-8DC8-21DF8591D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5723485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포장재</a:t>
            </a:r>
          </a:p>
        </p:txBody>
      </p:sp>
      <p:sp>
        <p:nvSpPr>
          <p:cNvPr id="300" name="Rectangle 187">
            <a:extLst>
              <a:ext uri="{FF2B5EF4-FFF2-40B4-BE49-F238E27FC236}">
                <a16:creationId xmlns:a16="http://schemas.microsoft.com/office/drawing/2014/main" id="{FA22404E-B73C-47D6-8DC8-21DF8591D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5723485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소형</a:t>
            </a:r>
          </a:p>
        </p:txBody>
      </p:sp>
      <p:sp>
        <p:nvSpPr>
          <p:cNvPr id="303" name="Rectangle 187">
            <a:extLst>
              <a:ext uri="{FF2B5EF4-FFF2-40B4-BE49-F238E27FC236}">
                <a16:creationId xmlns:a16="http://schemas.microsoft.com/office/drawing/2014/main" id="{95D2EB19-BBDC-4069-8389-17D70DA52B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876" y="5048652"/>
            <a:ext cx="720000" cy="26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YGA</a:t>
            </a:r>
            <a:endParaRPr lang="ko-KR" altLang="en-US" sz="1000" b="1" dirty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4" name="Rectangle 187">
            <a:extLst>
              <a:ext uri="{FF2B5EF4-FFF2-40B4-BE49-F238E27FC236}">
                <a16:creationId xmlns:a16="http://schemas.microsoft.com/office/drawing/2014/main" id="{95D2EB19-BBDC-4069-8389-17D70DA52B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40962" y="5048652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lvl="0" algn="ctr" defTabSz="957769">
              <a:lnSpc>
                <a:spcPts val="1000"/>
              </a:lnSpc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치타공</a:t>
            </a:r>
          </a:p>
        </p:txBody>
      </p:sp>
      <p:sp>
        <p:nvSpPr>
          <p:cNvPr id="305" name="Rectangle 187">
            <a:extLst>
              <a:ext uri="{FF2B5EF4-FFF2-40B4-BE49-F238E27FC236}">
                <a16:creationId xmlns:a16="http://schemas.microsoft.com/office/drawing/2014/main" id="{95D2EB19-BBDC-4069-8389-17D70DA52B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2048" y="5048652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의류부자재</a:t>
            </a:r>
            <a:endParaRPr lang="ko-KR" altLang="en-US" sz="1000" b="1" dirty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6" name="Rectangle 187">
            <a:extLst>
              <a:ext uri="{FF2B5EF4-FFF2-40B4-BE49-F238E27FC236}">
                <a16:creationId xmlns:a16="http://schemas.microsoft.com/office/drawing/2014/main" id="{95D2EB19-BBDC-4069-8389-17D70DA52B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23134" y="5048652"/>
            <a:ext cx="720000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ko-KR" alt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중형</a:t>
            </a:r>
          </a:p>
        </p:txBody>
      </p:sp>
      <p:grpSp>
        <p:nvGrpSpPr>
          <p:cNvPr id="181" name="그룹 180"/>
          <p:cNvGrpSpPr/>
          <p:nvPr/>
        </p:nvGrpSpPr>
        <p:grpSpPr>
          <a:xfrm>
            <a:off x="3968524" y="2982532"/>
            <a:ext cx="1502635" cy="271208"/>
            <a:chOff x="385065" y="1673547"/>
            <a:chExt cx="7101815" cy="329220"/>
          </a:xfrm>
        </p:grpSpPr>
        <p:sp>
          <p:nvSpPr>
            <p:cNvPr id="182" name="Google Shape;5231;p64">
              <a:extLst>
                <a:ext uri="{FF2B5EF4-FFF2-40B4-BE49-F238E27FC236}">
                  <a16:creationId xmlns:a16="http://schemas.microsoft.com/office/drawing/2014/main" id="{D2126780-1F85-413F-8318-B2077BCBFBC4}"/>
                </a:ext>
              </a:extLst>
            </p:cNvPr>
            <p:cNvSpPr txBox="1"/>
            <p:nvPr/>
          </p:nvSpPr>
          <p:spPr>
            <a:xfrm>
              <a:off x="627559" y="1673547"/>
              <a:ext cx="6616832" cy="312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  <a:tabLst/>
                <a:defRPr/>
              </a:pPr>
              <a:r>
                <a:rPr lang="ko-KR" altLang="en-US" sz="1200" b="1" noProof="0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기존 </a:t>
              </a:r>
              <a:r>
                <a:rPr lang="en-US" altLang="ko-KR" sz="1200" b="1" noProof="0" dirty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ERP / </a:t>
              </a:r>
              <a:r>
                <a:rPr lang="en-US" altLang="ko-KR" sz="1200" b="1" noProof="0" dirty="0" smtClean="0">
                  <a:solidFill>
                    <a:srgbClr val="000000"/>
                  </a:solidFill>
                  <a:latin typeface="Malgun Gothic"/>
                  <a:ea typeface="Malgun Gothic"/>
                  <a:sym typeface="Malgun Gothic"/>
                </a:rPr>
                <a:t>MES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cxnSp>
          <p:nvCxnSpPr>
            <p:cNvPr id="183" name="Google Shape;5232;p64">
              <a:extLst>
                <a:ext uri="{FF2B5EF4-FFF2-40B4-BE49-F238E27FC236}">
                  <a16:creationId xmlns:a16="http://schemas.microsoft.com/office/drawing/2014/main" id="{8BE59594-E976-4C78-9455-072651F297A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65" y="1992471"/>
              <a:ext cx="7101815" cy="10296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5" name="Rectangle 187">
            <a:extLst>
              <a:ext uri="{FF2B5EF4-FFF2-40B4-BE49-F238E27FC236}">
                <a16:creationId xmlns:a16="http://schemas.microsoft.com/office/drawing/2014/main" id="{53888357-B1BB-4404-9F14-3BFB4232C3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3327655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Tally </a:t>
            </a: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+ Bespoke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1" name="Rectangle 187">
            <a:extLst>
              <a:ext uri="{FF2B5EF4-FFF2-40B4-BE49-F238E27FC236}">
                <a16:creationId xmlns:a16="http://schemas.microsoft.com/office/drawing/2014/main" id="{3E78FD64-0360-4897-871C-61EF1B4C7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3660445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Tally </a:t>
            </a: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+ APM/Excel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7" name="Rectangle 187">
            <a:extLst>
              <a:ext uri="{FF2B5EF4-FFF2-40B4-BE49-F238E27FC236}">
                <a16:creationId xmlns:a16="http://schemas.microsoft.com/office/drawing/2014/main" id="{45F333B0-AAC2-4386-BE86-DA68B0D104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3993235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Tally + Excel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3" name="Rectangle 187">
            <a:extLst>
              <a:ext uri="{FF2B5EF4-FFF2-40B4-BE49-F238E27FC236}">
                <a16:creationId xmlns:a16="http://schemas.microsoft.com/office/drawing/2014/main" id="{FD99E3CB-4C1B-4AE7-B0D9-71A1729AE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4326025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marL="0" marR="0" lvl="0" indent="0" algn="ctr" defTabSz="95776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Tally + Excel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9" name="Rectangle 187">
            <a:extLst>
              <a:ext uri="{FF2B5EF4-FFF2-40B4-BE49-F238E27FC236}">
                <a16:creationId xmlns:a16="http://schemas.microsoft.com/office/drawing/2014/main" id="{8078C31C-9AB2-435C-BF70-E63E023A2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4658815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Tally </a:t>
            </a: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+ Bespoke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5" name="Rectangle 187">
            <a:extLst>
              <a:ext uri="{FF2B5EF4-FFF2-40B4-BE49-F238E27FC236}">
                <a16:creationId xmlns:a16="http://schemas.microsoft.com/office/drawing/2014/main" id="{14568F0F-D695-4107-A924-2F627851F1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5396071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Tally </a:t>
            </a: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+ Bespoke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1" name="Rectangle 187">
            <a:extLst>
              <a:ext uri="{FF2B5EF4-FFF2-40B4-BE49-F238E27FC236}">
                <a16:creationId xmlns:a16="http://schemas.microsoft.com/office/drawing/2014/main" id="{FA22404E-B73C-47D6-8DC8-21DF8591D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5728863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Tally + Excel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7" name="Rectangle 187">
            <a:extLst>
              <a:ext uri="{FF2B5EF4-FFF2-40B4-BE49-F238E27FC236}">
                <a16:creationId xmlns:a16="http://schemas.microsoft.com/office/drawing/2014/main" id="{95D2EB19-BBDC-4069-8389-17D70DA52B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3542" y="5054030"/>
            <a:ext cx="1471318" cy="264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</p:spPr>
        <p:txBody>
          <a:bodyPr lIns="36000" rIns="36000" anchor="ctr"/>
          <a:lstStyle/>
          <a:p>
            <a:pPr algn="ctr" defTabSz="957769">
              <a:lnSpc>
                <a:spcPts val="1000"/>
              </a:lnSpc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Tally </a:t>
            </a:r>
            <a:r>
              <a:rPr lang="en-US" altLang="ko-KR" sz="1000" b="1" dirty="0">
                <a:solidFill>
                  <a:srgbClr val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+ Bespoke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C4EBA8-A6F1-4130-8326-003546E16E51}"/>
              </a:ext>
            </a:extLst>
          </p:cNvPr>
          <p:cNvGrpSpPr/>
          <p:nvPr/>
        </p:nvGrpSpPr>
        <p:grpSpPr>
          <a:xfrm>
            <a:off x="449876" y="6059868"/>
            <a:ext cx="5004984" cy="281124"/>
            <a:chOff x="449876" y="5381442"/>
            <a:chExt cx="5004984" cy="281124"/>
          </a:xfrm>
        </p:grpSpPr>
        <p:sp>
          <p:nvSpPr>
            <p:cNvPr id="309" name="Rectangle 187">
              <a:extLst>
                <a:ext uri="{FF2B5EF4-FFF2-40B4-BE49-F238E27FC236}">
                  <a16:creationId xmlns:a16="http://schemas.microsoft.com/office/drawing/2014/main" id="{DCAAA763-94E8-43D6-B427-59644CEEE3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9876" y="5381442"/>
              <a:ext cx="720000" cy="2757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 type="none" w="sm" len="sm"/>
            </a:ln>
          </p:spPr>
          <p:txBody>
            <a:bodyPr lIns="36000" rIns="36000" anchor="ctr"/>
            <a:lstStyle/>
            <a:p>
              <a:pPr marL="0" marR="0" lvl="0" indent="0" algn="ctr" defTabSz="957769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KPP4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0" name="Rectangle 187">
              <a:extLst>
                <a:ext uri="{FF2B5EF4-FFF2-40B4-BE49-F238E27FC236}">
                  <a16:creationId xmlns:a16="http://schemas.microsoft.com/office/drawing/2014/main" id="{DCAAA763-94E8-43D6-B427-59644CEEE3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0962" y="5381442"/>
              <a:ext cx="720000" cy="2757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 type="none" w="sm" len="sm"/>
            </a:ln>
          </p:spPr>
          <p:txBody>
            <a:bodyPr lIns="36000" rIns="36000" anchor="ctr"/>
            <a:lstStyle/>
            <a:p>
              <a:pPr marL="0" marR="0" lvl="0" indent="0" algn="ctr" defTabSz="957769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치타공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1" name="Rectangle 187">
              <a:extLst>
                <a:ext uri="{FF2B5EF4-FFF2-40B4-BE49-F238E27FC236}">
                  <a16:creationId xmlns:a16="http://schemas.microsoft.com/office/drawing/2014/main" id="{DCAAA763-94E8-43D6-B427-59644CEEE3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32048" y="5381442"/>
              <a:ext cx="720000" cy="2757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 type="none" w="sm" len="sm"/>
            </a:ln>
          </p:spPr>
          <p:txBody>
            <a:bodyPr lIns="36000" rIns="36000" anchor="ctr"/>
            <a:lstStyle/>
            <a:p>
              <a:pPr marL="0" marR="0" lvl="0" indent="0" algn="ctr" defTabSz="957769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원</a:t>
              </a:r>
              <a:r>
                <a:rPr kumimoji="0" lang="ko-KR" altLang="en-US" sz="1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사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2" name="Rectangle 187">
              <a:extLst>
                <a:ext uri="{FF2B5EF4-FFF2-40B4-BE49-F238E27FC236}">
                  <a16:creationId xmlns:a16="http://schemas.microsoft.com/office/drawing/2014/main" id="{DCAAA763-94E8-43D6-B427-59644CEEE3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23134" y="5381442"/>
              <a:ext cx="720000" cy="2757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 type="none" w="sm" len="sm"/>
            </a:ln>
          </p:spPr>
          <p:txBody>
            <a:bodyPr lIns="36000" rIns="36000" anchor="ctr"/>
            <a:lstStyle/>
            <a:p>
              <a:pPr marL="0" marR="0" lvl="0" indent="0" algn="ctr" defTabSz="957769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중</a:t>
              </a:r>
              <a:r>
                <a:rPr kumimoji="0" lang="ko-KR" altLang="en-US" sz="1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형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3" name="Rectangle 187">
              <a:extLst>
                <a:ext uri="{FF2B5EF4-FFF2-40B4-BE49-F238E27FC236}">
                  <a16:creationId xmlns:a16="http://schemas.microsoft.com/office/drawing/2014/main" id="{DCAAA763-94E8-43D6-B427-59644CEEE3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83542" y="5386820"/>
              <a:ext cx="1471318" cy="2757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  <a:miter lim="800000"/>
              <a:headEnd/>
              <a:tailEnd type="none" w="sm" len="sm"/>
            </a:ln>
          </p:spPr>
          <p:txBody>
            <a:bodyPr lIns="36000" rIns="36000" anchor="ctr"/>
            <a:lstStyle/>
            <a:p>
              <a:pPr marL="0" marR="0" lvl="0" indent="0" algn="ctr" defTabSz="957769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-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314" name="직선 연결선 313"/>
          <p:cNvCxnSpPr/>
          <p:nvPr/>
        </p:nvCxnSpPr>
        <p:spPr>
          <a:xfrm>
            <a:off x="449876" y="4986227"/>
            <a:ext cx="511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화살표: 오른쪽 74">
            <a:extLst>
              <a:ext uri="{FF2B5EF4-FFF2-40B4-BE49-F238E27FC236}">
                <a16:creationId xmlns:a16="http://schemas.microsoft.com/office/drawing/2014/main" id="{97D44986-3C45-472B-9030-E0B7E41276DF}"/>
              </a:ext>
            </a:extLst>
          </p:cNvPr>
          <p:cNvSpPr/>
          <p:nvPr/>
        </p:nvSpPr>
        <p:spPr>
          <a:xfrm rot="5400000">
            <a:off x="7543313" y="2815497"/>
            <a:ext cx="272721" cy="2767240"/>
          </a:xfrm>
          <a:prstGeom prst="rightArrow">
            <a:avLst>
              <a:gd name="adj1" fmla="val 83595"/>
              <a:gd name="adj2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9" name="그룹 318"/>
          <p:cNvGrpSpPr/>
          <p:nvPr/>
        </p:nvGrpSpPr>
        <p:grpSpPr>
          <a:xfrm>
            <a:off x="5963885" y="4301353"/>
            <a:ext cx="3431576" cy="1523590"/>
            <a:chOff x="5730240" y="2530249"/>
            <a:chExt cx="3993818" cy="1523590"/>
          </a:xfrm>
        </p:grpSpPr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4FC04BA6-0AAA-409F-A13E-74E38D17A527}"/>
                </a:ext>
              </a:extLst>
            </p:cNvPr>
            <p:cNvSpPr/>
            <p:nvPr/>
          </p:nvSpPr>
          <p:spPr bwMode="gray">
            <a:xfrm>
              <a:off x="5730240" y="2530249"/>
              <a:ext cx="3993818" cy="32725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ts val="300"/>
                </a:spcBef>
                <a:spcAft>
                  <a:spcPts val="300"/>
                </a:spcAft>
                <a:buClr>
                  <a:srgbClr val="F0AB00"/>
                </a:buClr>
                <a:buSzPct val="100000"/>
                <a:defRPr/>
              </a:pPr>
              <a:r>
                <a:rPr lang="en-US" altLang="ko-KR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2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차 구축 대상 </a:t>
              </a:r>
              <a:r>
                <a:rPr lang="en-US" altLang="ko-KR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: BD 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내 </a:t>
              </a:r>
              <a:r>
                <a:rPr lang="en-US" altLang="ko-KR" sz="1400" b="1" kern="0" dirty="0" smtClean="0">
                  <a:solidFill>
                    <a:schemeClr val="bg1"/>
                  </a:solidFill>
                  <a:cs typeface="Arial Unicode MS" pitchFamily="34" charset="-128"/>
                </a:rPr>
                <a:t>4 </a:t>
              </a:r>
              <a:r>
                <a:rPr lang="ko-KR" altLang="en-US" sz="1400" b="1" kern="0" dirty="0">
                  <a:solidFill>
                    <a:schemeClr val="bg1"/>
                  </a:solidFill>
                  <a:cs typeface="Arial Unicode MS" pitchFamily="34" charset="-128"/>
                </a:rPr>
                <a:t>개 법인</a:t>
              </a:r>
              <a:endParaRPr lang="en-US" altLang="ko-KR" sz="1400" b="1" kern="0" dirty="0">
                <a:solidFill>
                  <a:schemeClr val="bg1"/>
                </a:solidFill>
                <a:cs typeface="Arial Unicode MS" pitchFamily="34" charset="-128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589EA9C7-EF99-47AF-8794-61C51EC8F027}"/>
                </a:ext>
              </a:extLst>
            </p:cNvPr>
            <p:cNvSpPr txBox="1"/>
            <p:nvPr/>
          </p:nvSpPr>
          <p:spPr>
            <a:xfrm>
              <a:off x="5730240" y="2879558"/>
              <a:ext cx="3992880" cy="1174281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72000" rIns="72000" bIns="72000" rtlCol="0" anchor="t" anchorCtr="0">
              <a:noAutofit/>
            </a:bodyPr>
            <a:lstStyle/>
            <a:p>
              <a:pPr marL="144000" indent="-144000"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050" dirty="0">
                  <a:latin typeface="+mn-ea"/>
                  <a:cs typeface="Arial" pitchFamily="34" charset="0"/>
                </a:rPr>
                <a:t>SAP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구축으로 얻는 </a:t>
              </a:r>
              <a:r>
                <a:rPr lang="ko-KR" altLang="en-US" sz="1050" dirty="0" err="1">
                  <a:latin typeface="+mn-ea"/>
                  <a:cs typeface="Arial" pitchFamily="34" charset="0"/>
                </a:rPr>
                <a:t>효익이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 작고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인력 규모가 적은 </a:t>
              </a:r>
              <a:r>
                <a:rPr lang="ko-KR" altLang="en-US" sz="1050" b="1" dirty="0">
                  <a:latin typeface="+mn-ea"/>
                  <a:cs typeface="Arial" pitchFamily="34" charset="0"/>
                </a:rPr>
                <a:t>소규모 법인은 재무 </a:t>
              </a:r>
              <a:r>
                <a:rPr lang="ko-KR" altLang="en-US" sz="1050" b="1" dirty="0" err="1">
                  <a:latin typeface="+mn-ea"/>
                  <a:cs typeface="Arial" pitchFamily="34" charset="0"/>
                </a:rPr>
                <a:t>연계만</a:t>
              </a:r>
              <a:r>
                <a:rPr lang="ko-KR" altLang="en-US" sz="1050" b="1" dirty="0">
                  <a:latin typeface="+mn-ea"/>
                  <a:cs typeface="Arial" pitchFamily="34" charset="0"/>
                </a:rPr>
                <a:t> 수행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하는 방안 고려</a:t>
              </a:r>
              <a:endParaRPr lang="en-US" altLang="ko-KR" sz="1050" dirty="0">
                <a:latin typeface="+mn-ea"/>
                <a:cs typeface="Arial" pitchFamily="34" charset="0"/>
              </a:endParaRPr>
            </a:p>
            <a:p>
              <a:pPr marL="144000" indent="-144000"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+mn-ea"/>
                  <a:cs typeface="Arial" pitchFamily="34" charset="0"/>
                </a:rPr>
                <a:t>향후 법인 규모가 확대될 경우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, SAP ERP 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내 구매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/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생산</a:t>
              </a:r>
              <a:r>
                <a:rPr lang="en-US" altLang="ko-KR" sz="1050" dirty="0">
                  <a:latin typeface="+mn-ea"/>
                  <a:cs typeface="Arial" pitchFamily="34" charset="0"/>
                </a:rPr>
                <a:t>/</a:t>
              </a:r>
              <a:r>
                <a:rPr lang="ko-KR" altLang="en-US" sz="1050" dirty="0">
                  <a:latin typeface="+mn-ea"/>
                  <a:cs typeface="Arial" pitchFamily="34" charset="0"/>
                </a:rPr>
                <a:t>영업 부문도 확대 구축 </a:t>
              </a:r>
              <a:endParaRPr lang="en-US" altLang="ko-KR" sz="1050" dirty="0">
                <a:latin typeface="+mn-ea"/>
                <a:cs typeface="Arial" pitchFamily="34" charset="0"/>
              </a:endParaRPr>
            </a:p>
            <a:p>
              <a:pPr marL="144000" indent="-144000"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050" b="1" dirty="0">
                  <a:latin typeface="+mn-ea"/>
                  <a:cs typeface="Arial" pitchFamily="34" charset="0"/>
                </a:rPr>
                <a:t>YGA</a:t>
              </a:r>
              <a:r>
                <a:rPr lang="ko-KR" altLang="en-US" sz="1050" b="1" dirty="0">
                  <a:latin typeface="+mn-ea"/>
                  <a:cs typeface="Arial" pitchFamily="34" charset="0"/>
                </a:rPr>
                <a:t>는 현황 파악 후 전 모듈 구축 판단 필요</a:t>
              </a:r>
              <a:endParaRPr lang="en-US" altLang="ko-KR" sz="1050" dirty="0">
                <a:latin typeface="+mn-ea"/>
                <a:cs typeface="Arial" pitchFamily="34" charset="0"/>
              </a:endParaRPr>
            </a:p>
          </p:txBody>
        </p:sp>
      </p:grpSp>
      <p:sp>
        <p:nvSpPr>
          <p:cNvPr id="325" name="순서도: 병합 324">
            <a:extLst>
              <a:ext uri="{FF2B5EF4-FFF2-40B4-BE49-F238E27FC236}">
                <a16:creationId xmlns:a16="http://schemas.microsoft.com/office/drawing/2014/main" id="{B88B3290-15F9-4463-A7AA-3B4E294CBFFB}"/>
              </a:ext>
            </a:extLst>
          </p:cNvPr>
          <p:cNvSpPr/>
          <p:nvPr/>
        </p:nvSpPr>
        <p:spPr>
          <a:xfrm rot="16200000">
            <a:off x="4254261" y="4778559"/>
            <a:ext cx="2840382" cy="225152"/>
          </a:xfrm>
          <a:prstGeom prst="flowChartMerge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vert="horz" wrap="square" lIns="72000" tIns="36000" rIns="72000" bIns="36000" rtlCol="0" anchor="ctr">
            <a:noAutofit/>
          </a:bodyPr>
          <a:lstStyle/>
          <a:p>
            <a:pPr marL="0" marR="0" lvl="0" indent="0" algn="ctr" defTabSz="957769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401D49DE-11A5-492C-81FA-6CD8CF8E0A33}"/>
              </a:ext>
            </a:extLst>
          </p:cNvPr>
          <p:cNvSpPr txBox="1"/>
          <p:nvPr/>
        </p:nvSpPr>
        <p:spPr>
          <a:xfrm>
            <a:off x="6067762" y="5893028"/>
            <a:ext cx="3261644" cy="432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72000" tIns="36000" rIns="72000" bIns="3600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S/4HANA </a:t>
            </a: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도입 여부 및 </a:t>
            </a:r>
            <a:r>
              <a:rPr lang="ko-KR" altLang="en-US" sz="1300" b="1" dirty="0" err="1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법인별</a:t>
            </a: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구축 단계</a:t>
            </a: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/>
            </a:r>
            <a:b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</a:b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 등에 대한 </a:t>
            </a: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Masterplan </a:t>
            </a: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필요</a:t>
            </a:r>
            <a:endParaRPr lang="ko-KR" altLang="en-US" sz="1300" dirty="0">
              <a:solidFill>
                <a:schemeClr val="accent1">
                  <a:lumMod val="75000"/>
                </a:schemeClr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01B15FA-4C23-450E-A2C3-53403845F5B1}"/>
              </a:ext>
            </a:extLst>
          </p:cNvPr>
          <p:cNvGrpSpPr/>
          <p:nvPr/>
        </p:nvGrpSpPr>
        <p:grpSpPr>
          <a:xfrm>
            <a:off x="8425617" y="1575118"/>
            <a:ext cx="1065803" cy="497993"/>
            <a:chOff x="8715892" y="1609301"/>
            <a:chExt cx="761009" cy="2878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6C3BA3A-32FA-4B08-8CDC-E65CD2EC63CC}"/>
                </a:ext>
              </a:extLst>
            </p:cNvPr>
            <p:cNvSpPr txBox="1"/>
            <p:nvPr/>
          </p:nvSpPr>
          <p:spPr>
            <a:xfrm>
              <a:off x="8715893" y="1609301"/>
              <a:ext cx="761008" cy="28780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-27432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ko-KR" sz="12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Preliminary</a:t>
              </a:r>
            </a:p>
          </p:txBody>
        </p: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6D9CED58-BBD8-4D0C-AB60-537DF29B8B3A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658832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5D856DD0-A191-4C50-BB2B-B6577BE35920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841359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9335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15">
            <a:extLst>
              <a:ext uri="{FF2B5EF4-FFF2-40B4-BE49-F238E27FC236}">
                <a16:creationId xmlns:a16="http://schemas.microsoft.com/office/drawing/2014/main" id="{E9A35A23-48E7-4013-82AC-58FEC6E9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8434793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en-US" altLang="ko-KR" sz="2000" b="1" kern="0" spc="-138" dirty="0">
                <a:ln w="1905"/>
                <a:ea typeface="맑은 고딕"/>
              </a:rPr>
              <a:t>    Material Group </a:t>
            </a:r>
            <a:r>
              <a:rPr lang="ko-KR" altLang="en-US" sz="2000" b="1" kern="0" spc="-138" dirty="0">
                <a:ln w="1905"/>
                <a:ea typeface="맑은 고딕"/>
              </a:rPr>
              <a:t>대상 </a:t>
            </a:r>
            <a:r>
              <a:rPr lang="en-US" altLang="ko-KR" sz="2000" b="1" kern="0" spc="-138" dirty="0">
                <a:ln w="1905"/>
                <a:ea typeface="맑은 고딕"/>
              </a:rPr>
              <a:t>-       </a:t>
            </a:r>
            <a:r>
              <a:rPr lang="ko-KR" altLang="en-US" sz="2000" b="1" kern="0" spc="-150" dirty="0">
                <a:ln w="1905"/>
                <a:solidFill>
                  <a:prstClr val="black"/>
                </a:solidFill>
              </a:rPr>
              <a:t>구축 및 확산 상세 계획 수립</a:t>
            </a:r>
            <a:endParaRPr lang="ko-KR" altLang="en-US" sz="2000" b="1" kern="0" spc="-138" dirty="0">
              <a:ln w="1905"/>
              <a:ea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2127472-3DE4-4694-A237-860BF9EF53C0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253A2F0-4B48-4889-BC9D-F1BA7B065C44}"/>
              </a:ext>
            </a:extLst>
          </p:cNvPr>
          <p:cNvSpPr/>
          <p:nvPr/>
        </p:nvSpPr>
        <p:spPr>
          <a:xfrm>
            <a:off x="3019812" y="334656"/>
            <a:ext cx="288032" cy="288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4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/>
              </a:rPr>
              <a:t>3</a:t>
            </a:r>
            <a:endParaRPr lang="ko-KR" altLang="en-US" sz="1400" b="1" kern="0" dirty="0">
              <a:solidFill>
                <a:srgbClr val="FFFFFF"/>
              </a:solidFill>
              <a:latin typeface="맑은 고딕" panose="020B0503020000020004" pitchFamily="50" charset="-127"/>
              <a:ea typeface="맑은 고딕"/>
            </a:endParaRPr>
          </a:p>
        </p:txBody>
      </p:sp>
      <p:sp>
        <p:nvSpPr>
          <p:cNvPr id="61" name="Text Box 15">
            <a:extLst>
              <a:ext uri="{FF2B5EF4-FFF2-40B4-BE49-F238E27FC236}">
                <a16:creationId xmlns:a16="http://schemas.microsoft.com/office/drawing/2014/main" id="{2682F4A2-69F8-42B7-B32A-D3EAEECE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>
              <a:buClrTx/>
              <a:buSzTx/>
              <a:defRPr/>
            </a:pPr>
            <a:r>
              <a:rPr lang="en-US" altLang="ko-KR" spc="-150" dirty="0"/>
              <a:t>Material Group</a:t>
            </a:r>
            <a:r>
              <a:rPr lang="ko-KR" altLang="en-US" spc="-150" dirty="0"/>
              <a:t>의 </a:t>
            </a:r>
            <a:r>
              <a:rPr lang="en-US" altLang="ko-KR" spc="-150" dirty="0"/>
              <a:t>S/4HANA </a:t>
            </a:r>
            <a:r>
              <a:rPr lang="ko-KR" altLang="en-US" spc="-150" dirty="0"/>
              <a:t>도입 범위 및 대상</a:t>
            </a:r>
            <a:r>
              <a:rPr lang="en-US" altLang="ko-KR" spc="-150" dirty="0"/>
              <a:t>, </a:t>
            </a:r>
            <a:r>
              <a:rPr lang="ko-KR" altLang="en-US" spc="-150" dirty="0"/>
              <a:t>단계별 구축 방식 등의 상세 계획 </a:t>
            </a:r>
            <a:r>
              <a:rPr lang="ko-KR" altLang="en-US" spc="-150" dirty="0" smtClean="0"/>
              <a:t>수립과 이에 따른 구축 비용 정교화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기존 </a:t>
            </a:r>
            <a:r>
              <a:rPr lang="ko-KR" altLang="en-US" spc="-150" dirty="0"/>
              <a:t>시스템과의 빠른 통합을 위한 구축 사전 준비 작업 등이 필요함</a:t>
            </a: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DD161C0E-3992-425A-B32C-2FFA23B74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409723"/>
              </p:ext>
            </p:extLst>
          </p:nvPr>
        </p:nvGraphicFramePr>
        <p:xfrm>
          <a:off x="364384" y="1769726"/>
          <a:ext cx="9168928" cy="2347205"/>
        </p:xfrm>
        <a:graphic>
          <a:graphicData uri="http://schemas.openxmlformats.org/drawingml/2006/table">
            <a:tbl>
              <a:tblPr firstRow="1" firstCol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93295938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167351920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748101800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619994896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585932588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985247508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78556082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825612480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424883299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562599407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972940684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118363963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4243779685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845914737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645352030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573681394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402907027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243676809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92069663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805696862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207077209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830214449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815540593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574356775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567513450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187788517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536955254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886228633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701935455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1057503248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2936427327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698247882"/>
                    </a:ext>
                  </a:extLst>
                </a:gridCol>
                <a:gridCol w="264029">
                  <a:extLst>
                    <a:ext uri="{9D8B030D-6E8A-4147-A177-3AD203B41FA5}">
                      <a16:colId xmlns:a16="http://schemas.microsoft.com/office/drawing/2014/main" val="3038722433"/>
                    </a:ext>
                  </a:extLst>
                </a:gridCol>
              </a:tblGrid>
              <a:tr h="276982">
                <a:tc>
                  <a:txBody>
                    <a:bodyPr/>
                    <a:lstStyle/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 Year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99639" marR="0" lvl="0" indent="-99639" algn="ctr" defTabSz="810616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85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‘2023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0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1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‘2024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GB" altLang="ko-KR" sz="10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r>
                        <a:rPr lang="en-US" altLang="ko-KR" sz="1100" b="1" kern="0" dirty="0">
                          <a:solidFill>
                            <a:schemeClr val="bg1"/>
                          </a:solidFill>
                          <a:latin typeface="+mn-ea"/>
                        </a:rPr>
                        <a:t>‘2025</a:t>
                      </a: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9639" indent="-99639" algn="ctr" defTabSz="810616" eaLnBrk="0" hangingPunct="0">
                        <a:buSzPct val="85000"/>
                        <a:defRPr/>
                      </a:pPr>
                      <a:endParaRPr lang="en-US" altLang="ko-KR" sz="11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6039"/>
                  </a:ext>
                </a:extLst>
              </a:tr>
              <a:tr h="1622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4347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홀딩스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영원무역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(Garment)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2397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영원무역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b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(Material</a:t>
                      </a:r>
                      <a:b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Group)</a:t>
                      </a:r>
                    </a:p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GB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40072"/>
                  </a:ext>
                </a:extLst>
              </a:tr>
            </a:tbl>
          </a:graphicData>
        </a:graphic>
      </p:graphicFrame>
      <p:sp>
        <p:nvSpPr>
          <p:cNvPr id="82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1099225" y="2258563"/>
            <a:ext cx="4007795" cy="2585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pPr algn="ctr">
              <a:lnSpc>
                <a:spcPct val="90000"/>
              </a:lnSpc>
            </a:pPr>
            <a:r>
              <a:rPr lang="ko-KR" altLang="en-US" sz="1200" dirty="0"/>
              <a:t>국내법인 </a:t>
            </a:r>
            <a:r>
              <a:rPr lang="en-US" altLang="ko-KR" sz="1200" dirty="0"/>
              <a:t>/ </a:t>
            </a:r>
            <a:r>
              <a:rPr lang="ko-KR" altLang="en-US" sz="1200" dirty="0"/>
              <a:t>방글라데시 </a:t>
            </a:r>
            <a:r>
              <a:rPr lang="en-US" altLang="ko-KR" sz="1200" dirty="0"/>
              <a:t>+ </a:t>
            </a:r>
            <a:r>
              <a:rPr lang="ko-KR" altLang="en-US" sz="1200" dirty="0"/>
              <a:t>베트남</a:t>
            </a:r>
            <a:r>
              <a:rPr lang="en-US" altLang="ko-KR" sz="1200" dirty="0"/>
              <a:t> 10</a:t>
            </a:r>
            <a:r>
              <a:rPr lang="ko-KR" altLang="en-US" sz="1200" dirty="0"/>
              <a:t>개 법인 구축 </a:t>
            </a:r>
            <a:r>
              <a:rPr lang="en-US" altLang="ko-KR" sz="1050" dirty="0"/>
              <a:t>(</a:t>
            </a:r>
            <a:r>
              <a:rPr lang="en-US" altLang="ko-KR" sz="1000" dirty="0"/>
              <a:t>13M)</a:t>
            </a:r>
            <a:endParaRPr lang="ko-KR" altLang="en-US" sz="100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1192706" y="2506381"/>
            <a:ext cx="3303094" cy="674408"/>
            <a:chOff x="4941990" y="5157216"/>
            <a:chExt cx="3654212" cy="1259459"/>
          </a:xfrm>
        </p:grpSpPr>
        <p:sp>
          <p:nvSpPr>
            <p:cNvPr id="77" name="오각형 103">
              <a:extLst>
                <a:ext uri="{FF2B5EF4-FFF2-40B4-BE49-F238E27FC236}">
                  <a16:creationId xmlns:a16="http://schemas.microsoft.com/office/drawing/2014/main" id="{8823C3B1-2515-4B12-806C-B67E2C9968F4}"/>
                </a:ext>
              </a:extLst>
            </p:cNvPr>
            <p:cNvSpPr/>
            <p:nvPr/>
          </p:nvSpPr>
          <p:spPr bwMode="ltGray">
            <a:xfrm>
              <a:off x="4941990" y="5278601"/>
              <a:ext cx="1611210" cy="971905"/>
            </a:xfrm>
            <a:prstGeom prst="homePlate">
              <a:avLst>
                <a:gd name="adj" fmla="val 1011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FFFFFF">
                  <a:lumMod val="50000"/>
                </a:srgbClr>
              </a:solidFill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개발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/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구축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8" name="오각형 103">
              <a:extLst>
                <a:ext uri="{FF2B5EF4-FFF2-40B4-BE49-F238E27FC236}">
                  <a16:creationId xmlns:a16="http://schemas.microsoft.com/office/drawing/2014/main" id="{8823C3B1-2515-4B12-806C-B67E2C9968F4}"/>
                </a:ext>
              </a:extLst>
            </p:cNvPr>
            <p:cNvSpPr/>
            <p:nvPr/>
          </p:nvSpPr>
          <p:spPr bwMode="ltGray">
            <a:xfrm>
              <a:off x="6604805" y="5278601"/>
              <a:ext cx="837734" cy="971905"/>
            </a:xfrm>
            <a:prstGeom prst="homePlate">
              <a:avLst>
                <a:gd name="adj" fmla="val 1011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FFFFFF">
                  <a:lumMod val="50000"/>
                </a:srgbClr>
              </a:solidFill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통합 테스트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/>
              </a:r>
              <a:b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</a:b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(3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회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)</a:t>
              </a:r>
            </a:p>
          </p:txBody>
        </p:sp>
        <p:sp>
          <p:nvSpPr>
            <p:cNvPr id="79" name="오각형 103">
              <a:extLst>
                <a:ext uri="{FF2B5EF4-FFF2-40B4-BE49-F238E27FC236}">
                  <a16:creationId xmlns:a16="http://schemas.microsoft.com/office/drawing/2014/main" id="{8823C3B1-2515-4B12-806C-B67E2C9968F4}"/>
                </a:ext>
              </a:extLst>
            </p:cNvPr>
            <p:cNvSpPr/>
            <p:nvPr/>
          </p:nvSpPr>
          <p:spPr bwMode="ltGray">
            <a:xfrm>
              <a:off x="7466758" y="5278601"/>
              <a:ext cx="564722" cy="971905"/>
            </a:xfrm>
            <a:prstGeom prst="homePlate">
              <a:avLst>
                <a:gd name="adj" fmla="val 2252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FFFFFF">
                  <a:lumMod val="50000"/>
                </a:srgbClr>
              </a:solidFill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교육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8031480" y="5157216"/>
              <a:ext cx="0" cy="12594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오각형 103">
              <a:extLst>
                <a:ext uri="{FF2B5EF4-FFF2-40B4-BE49-F238E27FC236}">
                  <a16:creationId xmlns:a16="http://schemas.microsoft.com/office/drawing/2014/main" id="{8823C3B1-2515-4B12-806C-B67E2C9968F4}"/>
                </a:ext>
              </a:extLst>
            </p:cNvPr>
            <p:cNvSpPr/>
            <p:nvPr/>
          </p:nvSpPr>
          <p:spPr bwMode="ltGray">
            <a:xfrm>
              <a:off x="8062643" y="5278601"/>
              <a:ext cx="533559" cy="971905"/>
            </a:xfrm>
            <a:prstGeom prst="homePlate">
              <a:avLst>
                <a:gd name="adj" fmla="val 11339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FFFFFF">
                  <a:lumMod val="50000"/>
                </a:srgbClr>
              </a:solidFill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안정화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0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4505079" y="3326639"/>
            <a:ext cx="688726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분석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설계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1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5202344" y="3326639"/>
            <a:ext cx="942962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latin typeface="+mn-ea"/>
              </a:rPr>
              <a:t>개발</a:t>
            </a:r>
            <a:r>
              <a:rPr lang="en-US" altLang="ko-KR" sz="1050" b="1" kern="0" dirty="0">
                <a:latin typeface="+mn-ea"/>
              </a:rPr>
              <a:t>/</a:t>
            </a:r>
            <a:r>
              <a:rPr lang="ko-KR" altLang="en-US" sz="1050" b="1" kern="0" dirty="0">
                <a:latin typeface="+mn-ea"/>
              </a:rPr>
              <a:t>구축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2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6181163" y="3326639"/>
            <a:ext cx="688726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lang="ko-KR" altLang="en-US" sz="1050" b="1" kern="0" dirty="0">
                <a:latin typeface="+mn-ea"/>
              </a:rPr>
              <a:t>교육</a:t>
            </a:r>
            <a:r>
              <a:rPr lang="en-US" altLang="ko-KR" sz="1050" b="1" kern="0" dirty="0">
                <a:latin typeface="+mn-ea"/>
              </a:rPr>
              <a:t>/</a:t>
            </a:r>
            <a:r>
              <a:rPr lang="ko-KR" altLang="en-US" sz="1050" b="1" kern="0" dirty="0">
                <a:latin typeface="+mn-ea"/>
              </a:rPr>
              <a:t>이관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6891893" y="3309590"/>
            <a:ext cx="0" cy="900279"/>
          </a:xfrm>
          <a:prstGeom prst="line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6920061" y="3326639"/>
            <a:ext cx="482292" cy="694731"/>
          </a:xfrm>
          <a:prstGeom prst="homePlate">
            <a:avLst>
              <a:gd name="adj" fmla="val 11339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5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7570424" y="3326639"/>
            <a:ext cx="751436" cy="694731"/>
          </a:xfrm>
          <a:prstGeom prst="homePlate">
            <a:avLst>
              <a:gd name="adj" fmla="val 10114"/>
            </a:avLst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latin typeface="+mn-ea"/>
              </a:rPr>
              <a:t>개발</a:t>
            </a:r>
            <a:r>
              <a:rPr lang="en-US" altLang="ko-KR" sz="1050" b="1" kern="0" dirty="0">
                <a:latin typeface="+mn-ea"/>
              </a:rPr>
              <a:t>/</a:t>
            </a:r>
            <a:r>
              <a:rPr lang="ko-KR" altLang="en-US" sz="1050" b="1" kern="0" dirty="0">
                <a:latin typeface="+mn-ea"/>
              </a:rPr>
              <a:t>구축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6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8321860" y="3326639"/>
            <a:ext cx="688726" cy="694731"/>
          </a:xfrm>
          <a:prstGeom prst="homePlate">
            <a:avLst>
              <a:gd name="adj" fmla="val 10114"/>
            </a:avLst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lang="ko-KR" altLang="en-US" sz="1050" b="1" kern="0" dirty="0">
                <a:latin typeface="+mn-ea"/>
              </a:rPr>
              <a:t>교육</a:t>
            </a:r>
            <a:r>
              <a:rPr lang="en-US" altLang="ko-KR" sz="1050" b="1" kern="0" dirty="0">
                <a:latin typeface="+mn-ea"/>
              </a:rPr>
              <a:t>/</a:t>
            </a:r>
            <a:r>
              <a:rPr lang="ko-KR" altLang="en-US" sz="1050" b="1" kern="0" dirty="0">
                <a:latin typeface="+mn-ea"/>
              </a:rPr>
              <a:t>이관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97" name="직선 연결선 96"/>
          <p:cNvCxnSpPr/>
          <p:nvPr/>
        </p:nvCxnSpPr>
        <p:spPr>
          <a:xfrm>
            <a:off x="9043011" y="3309590"/>
            <a:ext cx="0" cy="900279"/>
          </a:xfrm>
          <a:prstGeom prst="line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9071179" y="3326639"/>
            <a:ext cx="482292" cy="694731"/>
          </a:xfrm>
          <a:prstGeom prst="homePlate">
            <a:avLst>
              <a:gd name="adj" fmla="val 11339"/>
            </a:avLst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0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2406960" y="3308829"/>
            <a:ext cx="577575" cy="694731"/>
          </a:xfrm>
          <a:prstGeom prst="homePlate">
            <a:avLst>
              <a:gd name="adj" fmla="val 10114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현황 분석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2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7403247" y="3326638"/>
            <a:ext cx="227786" cy="694731"/>
          </a:xfrm>
          <a:prstGeom prst="homePlate">
            <a:avLst>
              <a:gd name="adj" fmla="val 10114"/>
            </a:avLst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확산준비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01D49DE-11A5-492C-81FA-6CD8CF8E0A33}"/>
              </a:ext>
            </a:extLst>
          </p:cNvPr>
          <p:cNvSpPr txBox="1"/>
          <p:nvPr/>
        </p:nvSpPr>
        <p:spPr>
          <a:xfrm>
            <a:off x="1992864" y="4090806"/>
            <a:ext cx="5286492" cy="218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ko-KR" altLang="en-US" sz="105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기존 프로젝트 수행에 따른 현지법인의 인력 상황 고려하여 일정 수립 필요</a:t>
            </a:r>
            <a:endParaRPr lang="ko-KR" altLang="en-US" sz="1100" dirty="0">
              <a:solidFill>
                <a:schemeClr val="accent1">
                  <a:lumMod val="75000"/>
                </a:schemeClr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48401" y="4464586"/>
            <a:ext cx="9315011" cy="1802555"/>
            <a:chOff x="415924" y="4652118"/>
            <a:chExt cx="6727071" cy="1802555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45F5EEFE-AE1A-440C-88C9-3D5CF6CC82B0}"/>
                </a:ext>
              </a:extLst>
            </p:cNvPr>
            <p:cNvGrpSpPr/>
            <p:nvPr/>
          </p:nvGrpSpPr>
          <p:grpSpPr>
            <a:xfrm>
              <a:off x="415924" y="4653455"/>
              <a:ext cx="2051293" cy="1801218"/>
              <a:chOff x="415924" y="4653089"/>
              <a:chExt cx="1914106" cy="1245992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3991C50-9FAD-4341-91A5-38328E722BBC}"/>
                  </a:ext>
                </a:extLst>
              </p:cNvPr>
              <p:cNvSpPr txBox="1"/>
              <p:nvPr/>
            </p:nvSpPr>
            <p:spPr>
              <a:xfrm>
                <a:off x="415924" y="4933419"/>
                <a:ext cx="1914106" cy="96566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lIns="72000" tIns="72000" rIns="72000" bIns="72000" rtlCol="0" anchor="t" anchorCtr="0">
                <a:noAutofit/>
              </a:bodyPr>
              <a:lstStyle/>
              <a:p>
                <a:pPr marL="171450" indent="-171450">
                  <a:spcBef>
                    <a:spcPts val="4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ko-KR" sz="1200" dirty="0">
                    <a:latin typeface="+mn-ea"/>
                    <a:cs typeface="Arial" pitchFamily="34" charset="0"/>
                  </a:rPr>
                  <a:t>Material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 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Group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 산하 </a:t>
                </a:r>
                <a:r>
                  <a:rPr lang="ko-KR" altLang="en-US" sz="1200" b="1" dirty="0">
                    <a:latin typeface="+mn-ea"/>
                    <a:cs typeface="Arial" pitchFamily="34" charset="0"/>
                  </a:rPr>
                  <a:t>현지 법인 현황 분석 수행 </a:t>
                </a:r>
                <a:endParaRPr lang="en-US" altLang="ko-KR" sz="1200" b="1" dirty="0">
                  <a:latin typeface="+mn-ea"/>
                  <a:cs typeface="Arial" pitchFamily="34" charset="0"/>
                </a:endParaRPr>
              </a:p>
              <a:p>
                <a:pPr marL="449263" lvl="1" indent="-182563">
                  <a:spcAft>
                    <a:spcPts val="400"/>
                  </a:spcAft>
                  <a:buFont typeface="Arial" panose="020B0604020202020204" pitchFamily="34" charset="0"/>
                  <a:buChar char="‒"/>
                </a:pPr>
                <a:r>
                  <a:rPr lang="en-US" altLang="ko-KR" sz="1200" dirty="0">
                    <a:latin typeface="+mn-ea"/>
                    <a:cs typeface="Arial" pitchFamily="34" charset="0"/>
                  </a:rPr>
                  <a:t>Business Model, </a:t>
                </a:r>
                <a:r>
                  <a:rPr lang="ko-KR" altLang="en-US" sz="1200" dirty="0" smtClean="0">
                    <a:latin typeface="+mn-ea"/>
                    <a:cs typeface="Arial" pitchFamily="34" charset="0"/>
                  </a:rPr>
                  <a:t>생산 품목</a:t>
                </a:r>
                <a:r>
                  <a:rPr lang="en-US" altLang="ko-KR" sz="1200" dirty="0" smtClean="0">
                    <a:latin typeface="+mn-ea"/>
                    <a:cs typeface="Arial" pitchFamily="34" charset="0"/>
                  </a:rPr>
                  <a:t>, </a:t>
                </a:r>
                <a:r>
                  <a:rPr lang="ko-KR" altLang="en-US" sz="1200" dirty="0" err="1" smtClean="0">
                    <a:latin typeface="+mn-ea"/>
                    <a:cs typeface="Arial" pitchFamily="34" charset="0"/>
                  </a:rPr>
                  <a:t>법인별</a:t>
                </a:r>
                <a:r>
                  <a:rPr lang="ko-KR" altLang="en-US" sz="1200" dirty="0" smtClean="0">
                    <a:latin typeface="+mn-ea"/>
                    <a:cs typeface="Arial" pitchFamily="34" charset="0"/>
                  </a:rPr>
                  <a:t> 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업무 범위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,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 업무 프로세스 및 시스템 활용 현황 등 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  <a:p>
                <a:pPr marL="449263" lvl="1" indent="-182563">
                  <a:spcAft>
                    <a:spcPts val="400"/>
                  </a:spcAft>
                  <a:buFont typeface="Arial" panose="020B0604020202020204" pitchFamily="34" charset="0"/>
                  <a:buChar char="‒"/>
                </a:pPr>
                <a:r>
                  <a:rPr lang="en-US" altLang="ko-KR" sz="1200" dirty="0">
                    <a:latin typeface="+mn-ea"/>
                    <a:cs typeface="Arial" pitchFamily="34" charset="0"/>
                  </a:rPr>
                  <a:t>Global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 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Template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 과의 차이 포함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F18E34A3-20DE-4E9F-B20A-9C58C6D4FC1A}"/>
                  </a:ext>
                </a:extLst>
              </p:cNvPr>
              <p:cNvSpPr/>
              <p:nvPr/>
            </p:nvSpPr>
            <p:spPr bwMode="gray">
              <a:xfrm>
                <a:off x="415924" y="4653089"/>
                <a:ext cx="1914106" cy="27952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rgbClr val="FFFFFF">
                    <a:lumMod val="50000"/>
                  </a:srgbClr>
                </a:solidFill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/>
                <a:r>
                  <a:rPr lang="ko-KR" altLang="en-US" sz="1400" b="1" kern="0" dirty="0">
                    <a:solidFill>
                      <a:schemeClr val="bg1"/>
                    </a:solidFill>
                    <a:latin typeface="+mn-ea"/>
                  </a:rPr>
                  <a:t>현황 분석</a:t>
                </a:r>
                <a:endParaRPr lang="en-US" altLang="ko-KR" sz="1400" b="1" kern="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322EEA00-E38E-4424-9E07-4646C855957B}"/>
                </a:ext>
              </a:extLst>
            </p:cNvPr>
            <p:cNvGrpSpPr/>
            <p:nvPr/>
          </p:nvGrpSpPr>
          <p:grpSpPr>
            <a:xfrm>
              <a:off x="2753813" y="4652118"/>
              <a:ext cx="2051293" cy="1801218"/>
              <a:chOff x="2562724" y="4652118"/>
              <a:chExt cx="1914106" cy="1245992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731223E-E0D6-4668-A14B-C53263DEFAA5}"/>
                  </a:ext>
                </a:extLst>
              </p:cNvPr>
              <p:cNvSpPr txBox="1"/>
              <p:nvPr/>
            </p:nvSpPr>
            <p:spPr>
              <a:xfrm>
                <a:off x="2562724" y="4932448"/>
                <a:ext cx="1914106" cy="96566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lIns="72000" tIns="72000" rIns="72000" bIns="72000" rtlCol="0" anchor="t" anchorCtr="0">
                <a:noAutofit/>
              </a:bodyPr>
              <a:lstStyle/>
              <a:p>
                <a:pPr marL="171450" indent="-171450">
                  <a:spcBef>
                    <a:spcPts val="4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ko-KR" sz="1200" dirty="0">
                    <a:latin typeface="+mn-ea"/>
                    <a:cs typeface="Arial" pitchFamily="34" charset="0"/>
                  </a:rPr>
                  <a:t>Material Group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의 </a:t>
                </a:r>
                <a:r>
                  <a:rPr lang="en-US" altLang="ko-KR" sz="1200" b="1" dirty="0">
                    <a:latin typeface="+mn-ea"/>
                    <a:cs typeface="Arial" pitchFamily="34" charset="0"/>
                  </a:rPr>
                  <a:t>To-Be </a:t>
                </a:r>
                <a:r>
                  <a:rPr lang="ko-KR" altLang="en-US" sz="1200" b="1" dirty="0">
                    <a:latin typeface="+mn-ea"/>
                    <a:cs typeface="Arial" pitchFamily="34" charset="0"/>
                  </a:rPr>
                  <a:t>업무 시스템 구성 도출</a:t>
                </a:r>
                <a:r>
                  <a:rPr lang="en-US" altLang="ko-KR" sz="1000" dirty="0">
                    <a:latin typeface="+mn-ea"/>
                    <a:cs typeface="Arial" pitchFamily="34" charset="0"/>
                  </a:rPr>
                  <a:t>(Align with </a:t>
                </a:r>
                <a:r>
                  <a:rPr lang="ko-KR" altLang="en-US" sz="1000" dirty="0">
                    <a:latin typeface="+mn-ea"/>
                    <a:cs typeface="Arial" pitchFamily="34" charset="0"/>
                  </a:rPr>
                  <a:t>차세대 </a:t>
                </a:r>
                <a:r>
                  <a:rPr lang="en-US" altLang="ko-KR" sz="1000" dirty="0">
                    <a:latin typeface="+mn-ea"/>
                    <a:cs typeface="Arial" pitchFamily="34" charset="0"/>
                  </a:rPr>
                  <a:t>ERP)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  <a:p>
                <a:pPr marL="449263" marR="0" lvl="1" indent="-18256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ClrTx/>
                  <a:buSzTx/>
                  <a:buFont typeface="Arial" panose="020B0604020202020204" pitchFamily="34" charset="0"/>
                  <a:buChar char="‒"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소규모 법인에 대한 </a:t>
                </a: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S/4HANA </a:t>
                </a:r>
                <a:r>
                  <a: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도입 여부 및 대안 포함 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  <a:p>
                <a:pPr marL="171450" indent="-171450">
                  <a:spcBef>
                    <a:spcPts val="4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1200" dirty="0">
                    <a:latin typeface="+mn-ea"/>
                    <a:cs typeface="Arial" pitchFamily="34" charset="0"/>
                  </a:rPr>
                  <a:t>구축 대상 및 방안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(Phased vs. Big Bang) 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도출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 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및 구축 이행 계획 수립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EAE92656-C3BB-412F-8246-5AB9B7BD6B76}"/>
                  </a:ext>
                </a:extLst>
              </p:cNvPr>
              <p:cNvSpPr/>
              <p:nvPr/>
            </p:nvSpPr>
            <p:spPr bwMode="gray">
              <a:xfrm>
                <a:off x="2562724" y="4652118"/>
                <a:ext cx="1914106" cy="27952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rgbClr val="FFFFFF">
                    <a:lumMod val="50000"/>
                  </a:srgbClr>
                </a:solidFill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/>
                <a:r>
                  <a:rPr lang="ko-KR" altLang="en-US" sz="1400" b="1" kern="0" dirty="0">
                    <a:solidFill>
                      <a:schemeClr val="bg1"/>
                    </a:solidFill>
                    <a:latin typeface="+mn-ea"/>
                  </a:rPr>
                  <a:t>확산 계획 수립</a:t>
                </a:r>
                <a:endParaRPr lang="en-US" altLang="ko-KR" sz="1400" b="1" kern="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41B1CA4-B174-495F-9903-46D99CFF22C8}"/>
                </a:ext>
              </a:extLst>
            </p:cNvPr>
            <p:cNvGrpSpPr/>
            <p:nvPr/>
          </p:nvGrpSpPr>
          <p:grpSpPr>
            <a:xfrm>
              <a:off x="5091702" y="4653455"/>
              <a:ext cx="2051293" cy="1801218"/>
              <a:chOff x="4779681" y="4653089"/>
              <a:chExt cx="1914106" cy="1245992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FE48009-1CAF-497E-B9CD-6E1CEE5592BA}"/>
                  </a:ext>
                </a:extLst>
              </p:cNvPr>
              <p:cNvSpPr txBox="1"/>
              <p:nvPr/>
            </p:nvSpPr>
            <p:spPr>
              <a:xfrm>
                <a:off x="4779681" y="4933419"/>
                <a:ext cx="1914106" cy="96566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lIns="72000" tIns="72000" rIns="72000" bIns="72000" rtlCol="0" anchor="t" anchorCtr="0">
                <a:noAutofit/>
              </a:bodyPr>
              <a:lstStyle/>
              <a:p>
                <a:pPr marL="171450" indent="-171450">
                  <a:spcBef>
                    <a:spcPts val="4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1200" dirty="0">
                    <a:latin typeface="+mn-ea"/>
                    <a:cs typeface="Arial" pitchFamily="34" charset="0"/>
                  </a:rPr>
                  <a:t>기존 구축된 </a:t>
                </a:r>
                <a:r>
                  <a:rPr lang="en-US" altLang="ko-KR" sz="1200" dirty="0">
                    <a:latin typeface="+mn-ea"/>
                    <a:cs typeface="Arial" pitchFamily="34" charset="0"/>
                  </a:rPr>
                  <a:t>S/4HANA </a:t>
                </a:r>
                <a:r>
                  <a:rPr lang="ko-KR" altLang="en-US" sz="1200" dirty="0">
                    <a:latin typeface="+mn-ea"/>
                    <a:cs typeface="Arial" pitchFamily="34" charset="0"/>
                  </a:rPr>
                  <a:t>시스템과의 빠르고 안정적 연계 위한 </a:t>
                </a:r>
                <a:r>
                  <a:rPr lang="ko-KR" altLang="en-US" sz="1200" b="1" dirty="0">
                    <a:latin typeface="+mn-ea"/>
                    <a:cs typeface="Arial" pitchFamily="34" charset="0"/>
                  </a:rPr>
                  <a:t>데이터 관점의 사전 보완 작업 </a:t>
                </a:r>
                <a:endParaRPr lang="en-US" altLang="ko-KR" sz="1200" b="1" dirty="0">
                  <a:latin typeface="+mn-ea"/>
                  <a:cs typeface="Arial" pitchFamily="34" charset="0"/>
                </a:endParaRPr>
              </a:p>
              <a:p>
                <a:pPr marL="449263" lvl="1" indent="-182563">
                  <a:spcAft>
                    <a:spcPts val="400"/>
                  </a:spcAft>
                  <a:buFont typeface="Arial" panose="020B0604020202020204" pitchFamily="34" charset="0"/>
                  <a:buChar char="‒"/>
                  <a:defRPr/>
                </a:pPr>
                <a:r>
                  <a:rPr lang="ko-KR" altLang="en-US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통합 재무 기준정보</a:t>
                </a:r>
                <a:r>
                  <a:rPr lang="en-US" altLang="ko-KR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, BP, </a:t>
                </a:r>
                <a:r>
                  <a:rPr lang="ko-KR" altLang="en-US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설비자산 기준정보 등 </a:t>
                </a:r>
                <a:r>
                  <a:rPr lang="en-US" altLang="ko-KR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 </a:t>
                </a:r>
              </a:p>
              <a:p>
                <a:pPr marL="449263" lvl="1" indent="-182563">
                  <a:spcAft>
                    <a:spcPts val="400"/>
                  </a:spcAft>
                  <a:buFont typeface="Arial" panose="020B0604020202020204" pitchFamily="34" charset="0"/>
                  <a:buChar char="‒"/>
                  <a:defRPr/>
                </a:pPr>
                <a:r>
                  <a:rPr lang="en-US" altLang="ko-KR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Material Master </a:t>
                </a:r>
                <a:r>
                  <a:rPr lang="ko-KR" altLang="en-US" sz="12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영향도 파악</a:t>
                </a:r>
                <a:endParaRPr lang="en-US" altLang="ko-KR" sz="1200" dirty="0"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8E0D8BEF-6A18-48B3-A71E-CDF19334D674}"/>
                  </a:ext>
                </a:extLst>
              </p:cNvPr>
              <p:cNvSpPr/>
              <p:nvPr/>
            </p:nvSpPr>
            <p:spPr bwMode="gray">
              <a:xfrm>
                <a:off x="4779681" y="4653089"/>
                <a:ext cx="1914106" cy="27952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rgbClr val="FFFFFF">
                    <a:lumMod val="50000"/>
                  </a:srgbClr>
                </a:solidFill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/>
                <a:r>
                  <a:rPr lang="ko-KR" altLang="en-US" sz="1400" b="1" kern="0" dirty="0">
                    <a:solidFill>
                      <a:schemeClr val="bg1"/>
                    </a:solidFill>
                    <a:latin typeface="+mn-ea"/>
                  </a:rPr>
                  <a:t>구축 사전 준비</a:t>
                </a:r>
                <a:endParaRPr lang="en-US" altLang="ko-KR" sz="1400" b="1" kern="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115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3074109" y="3308829"/>
            <a:ext cx="577575" cy="694731"/>
          </a:xfrm>
          <a:prstGeom prst="homePlate">
            <a:avLst>
              <a:gd name="adj" fmla="val 10114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확산 계획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수립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6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3741258" y="3308829"/>
            <a:ext cx="690805" cy="694731"/>
          </a:xfrm>
          <a:prstGeom prst="homePlate">
            <a:avLst>
              <a:gd name="adj" fmla="val 10114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구축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사전 준비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64384" y="4021369"/>
            <a:ext cx="9168928" cy="454682"/>
            <a:chOff x="364384" y="3861590"/>
            <a:chExt cx="9168928" cy="614461"/>
          </a:xfrm>
        </p:grpSpPr>
        <p:cxnSp>
          <p:nvCxnSpPr>
            <p:cNvPr id="119" name="직선 연결선 118"/>
            <p:cNvCxnSpPr/>
            <p:nvPr/>
          </p:nvCxnSpPr>
          <p:spPr>
            <a:xfrm flipH="1">
              <a:off x="364384" y="3906504"/>
              <a:ext cx="2004848" cy="527248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>
              <a:off x="4379478" y="3861590"/>
              <a:ext cx="5153834" cy="614461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201B15FA-4C23-450E-A2C3-53403845F5B1}"/>
              </a:ext>
            </a:extLst>
          </p:cNvPr>
          <p:cNvGrpSpPr/>
          <p:nvPr/>
        </p:nvGrpSpPr>
        <p:grpSpPr>
          <a:xfrm>
            <a:off x="8467509" y="2196034"/>
            <a:ext cx="1065803" cy="497993"/>
            <a:chOff x="8715892" y="1609301"/>
            <a:chExt cx="761009" cy="287809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6C3BA3A-32FA-4B08-8CDC-E65CD2EC63CC}"/>
                </a:ext>
              </a:extLst>
            </p:cNvPr>
            <p:cNvSpPr txBox="1"/>
            <p:nvPr/>
          </p:nvSpPr>
          <p:spPr>
            <a:xfrm>
              <a:off x="8715893" y="1609301"/>
              <a:ext cx="761008" cy="28780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-27432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ko-KR" sz="12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Preliminary</a:t>
              </a:r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6D9CED58-BBD8-4D0C-AB60-537DF29B8B3A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658832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5D856DD0-A191-4C50-BB2B-B6577BE35920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841359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130" name="오각형 103">
            <a:extLst>
              <a:ext uri="{FF2B5EF4-FFF2-40B4-BE49-F238E27FC236}">
                <a16:creationId xmlns:a16="http://schemas.microsoft.com/office/drawing/2014/main" id="{8823C3B1-2515-4B12-806C-B67E2C9968F4}"/>
              </a:ext>
            </a:extLst>
          </p:cNvPr>
          <p:cNvSpPr/>
          <p:nvPr/>
        </p:nvSpPr>
        <p:spPr bwMode="ltGray">
          <a:xfrm>
            <a:off x="4517692" y="2575500"/>
            <a:ext cx="1530044" cy="377804"/>
          </a:xfrm>
          <a:prstGeom prst="homePlate">
            <a:avLst>
              <a:gd name="adj" fmla="val 11339"/>
            </a:avLst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latin typeface="+mn-ea"/>
              </a:rPr>
              <a:t>기능 고도화 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4" name="직사각형 20">
            <a:extLst>
              <a:ext uri="{FF2B5EF4-FFF2-40B4-BE49-F238E27FC236}">
                <a16:creationId xmlns:a16="http://schemas.microsoft.com/office/drawing/2014/main" id="{138B1FF7-26B4-43BA-9B42-C1A4CCD358DD}"/>
              </a:ext>
            </a:extLst>
          </p:cNvPr>
          <p:cNvSpPr txBox="1">
            <a:spLocks/>
          </p:cNvSpPr>
          <p:nvPr/>
        </p:nvSpPr>
        <p:spPr>
          <a:xfrm>
            <a:off x="4636110" y="2937341"/>
            <a:ext cx="495525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pPr algn="ctr">
              <a:lnSpc>
                <a:spcPct val="90000"/>
              </a:lnSpc>
            </a:pPr>
            <a:r>
              <a:rPr lang="ko-KR" altLang="en-US" sz="1200" dirty="0"/>
              <a:t>방글라데시 내 </a:t>
            </a:r>
            <a:r>
              <a:rPr lang="en-US" altLang="ko-KR" sz="1200" dirty="0" smtClean="0"/>
              <a:t>Material </a:t>
            </a:r>
            <a:r>
              <a:rPr lang="ko-KR" altLang="en-US" sz="1200" dirty="0"/>
              <a:t>생산 법인의 단계별 </a:t>
            </a:r>
            <a:r>
              <a:rPr lang="ko-KR" altLang="en-US" sz="1200" dirty="0" smtClean="0"/>
              <a:t>구축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 </a:t>
            </a:r>
            <a:r>
              <a:rPr lang="en-US" altLang="ko-KR" sz="1050" dirty="0" smtClean="0"/>
              <a:t>(1</a:t>
            </a:r>
            <a:r>
              <a:rPr lang="ko-KR" altLang="en-US" sz="1050" dirty="0" smtClean="0"/>
              <a:t>차 구축 </a:t>
            </a:r>
            <a:r>
              <a:rPr lang="en-US" altLang="ko-KR" sz="1050" dirty="0" smtClean="0"/>
              <a:t>9</a:t>
            </a:r>
            <a:r>
              <a:rPr lang="ko-KR" altLang="en-US" sz="1050" dirty="0" smtClean="0"/>
              <a:t>개월 </a:t>
            </a:r>
            <a:r>
              <a:rPr lang="en-US" altLang="ko-KR" sz="1050" dirty="0" smtClean="0"/>
              <a:t>+ </a:t>
            </a:r>
            <a:r>
              <a:rPr lang="ko-KR" altLang="en-US" sz="1050" dirty="0" smtClean="0"/>
              <a:t>안정화 </a:t>
            </a:r>
            <a:r>
              <a:rPr lang="en-US" altLang="ko-KR" sz="1050" dirty="0" smtClean="0"/>
              <a:t>2</a:t>
            </a:r>
            <a:r>
              <a:rPr lang="ko-KR" altLang="en-US" sz="1050" dirty="0" smtClean="0"/>
              <a:t>달</a:t>
            </a:r>
            <a:r>
              <a:rPr lang="en-US" altLang="ko-KR" sz="1050" dirty="0" smtClean="0"/>
              <a:t>)</a:t>
            </a:r>
            <a:endParaRPr lang="ko-KR" altLang="en-US" sz="1000" dirty="0"/>
          </a:p>
        </p:txBody>
      </p:sp>
      <p:sp>
        <p:nvSpPr>
          <p:cNvPr id="49" name="슬라이드 번호 개체 틀 1">
            <a:extLst>
              <a:ext uri="{FF2B5EF4-FFF2-40B4-BE49-F238E27FC236}">
                <a16:creationId xmlns:a16="http://schemas.microsoft.com/office/drawing/2014/main" id="{8DC1BB2C-047B-49BD-ADD3-E6D25A4A798D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26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27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06967C81-D670-411D-84D2-18A268DE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9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ko-KR" altLang="en-US" spc="-150" dirty="0"/>
              <a:t>영원아웃도어의 경우 </a:t>
            </a:r>
            <a:r>
              <a:rPr lang="en-US" altLang="ko-KR" spc="-150" dirty="0"/>
              <a:t>Industry Solution</a:t>
            </a:r>
            <a:r>
              <a:rPr lang="ko-KR" altLang="en-US" spc="-150" dirty="0"/>
              <a:t> 활용 여부 및 </a:t>
            </a:r>
            <a:r>
              <a:rPr lang="en-US" altLang="ko-KR" spc="-150" dirty="0"/>
              <a:t> </a:t>
            </a:r>
            <a:r>
              <a:rPr lang="ko-KR" altLang="en-US" spc="-150" dirty="0"/>
              <a:t>영원무역과 통합 </a:t>
            </a:r>
            <a:r>
              <a:rPr lang="ko-KR" altLang="en-US" spc="-150" dirty="0" smtClean="0"/>
              <a:t>구축 여부</a:t>
            </a:r>
            <a:r>
              <a:rPr lang="en-US" altLang="ko-KR" spc="-150" dirty="0"/>
              <a:t>(One Instance), </a:t>
            </a:r>
            <a:r>
              <a:rPr lang="ko-KR" altLang="en-US" spc="-150" dirty="0"/>
              <a:t>주변 시스템 개편 여부</a:t>
            </a:r>
            <a:r>
              <a:rPr lang="en-US" altLang="ko-KR" spc="-150" dirty="0"/>
              <a:t> </a:t>
            </a:r>
            <a:r>
              <a:rPr lang="ko-KR" altLang="en-US" spc="-150" dirty="0"/>
              <a:t>등에 대한 결정이 필요하며</a:t>
            </a:r>
            <a:r>
              <a:rPr lang="en-US" altLang="ko-KR" spc="-150" dirty="0"/>
              <a:t>, </a:t>
            </a:r>
            <a:r>
              <a:rPr lang="ko-KR" altLang="en-US" spc="-150" dirty="0"/>
              <a:t>표준 기반의 </a:t>
            </a:r>
            <a:r>
              <a:rPr lang="en-US" altLang="ko-KR" spc="-150" dirty="0"/>
              <a:t>SAP Only</a:t>
            </a:r>
            <a:r>
              <a:rPr lang="ko-KR" altLang="en-US" spc="-150" dirty="0"/>
              <a:t> 구축의 경우 약 </a:t>
            </a:r>
            <a:r>
              <a:rPr lang="en-US" altLang="ko-KR" spc="-150" dirty="0"/>
              <a:t>15</a:t>
            </a:r>
            <a:r>
              <a:rPr lang="ko-KR" altLang="en-US" spc="-150" dirty="0"/>
              <a:t>개월 소요될 것으로 예상됨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CCEF467-7138-4006-A2AF-892236B4C612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DEBD689-CD72-46D1-AE0B-2BB7D6B163A0}" type="slidenum">
              <a:rPr lang="ko-KR" altLang="en-US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27</a:t>
            </a:fld>
            <a:endParaRPr lang="ko-KR" altLang="en-US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0ABE10F-A7F2-4983-8BCC-EBAE032D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282033"/>
            <a:ext cx="6913785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defTabSz="422041">
              <a:defRPr/>
            </a:pPr>
            <a:r>
              <a:rPr lang="ko-KR" altLang="en-US" sz="2000" b="1" kern="0" spc="-138" dirty="0">
                <a:ln w="1905"/>
                <a:ea typeface="맑은 고딕"/>
              </a:rPr>
              <a:t>    </a:t>
            </a:r>
            <a:r>
              <a:rPr lang="en-US" altLang="ko-KR" sz="2000" b="1" kern="0" spc="-138" dirty="0">
                <a:ln w="1905"/>
                <a:ea typeface="맑은 고딕"/>
              </a:rPr>
              <a:t>S/4HANA</a:t>
            </a:r>
            <a:r>
              <a:rPr lang="ko-KR" altLang="en-US" sz="2000" b="1" kern="0" spc="-138" dirty="0">
                <a:ln w="1905"/>
                <a:ea typeface="맑은 고딕"/>
              </a:rPr>
              <a:t> 도입 사업 영역 확대 </a:t>
            </a:r>
            <a:r>
              <a:rPr lang="en-US" altLang="ko-KR" sz="2000" b="1" kern="0" spc="-138" dirty="0">
                <a:ln w="1905"/>
                <a:ea typeface="맑은 고딕"/>
              </a:rPr>
              <a:t>– </a:t>
            </a:r>
            <a:r>
              <a:rPr lang="ko-KR" altLang="en-US" sz="2000" b="1" kern="0" spc="-138" dirty="0">
                <a:ln w="1905"/>
                <a:ea typeface="맑은 고딕"/>
              </a:rPr>
              <a:t>영원 아웃도어 대상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650B4E-AEE6-4D6F-B820-1715CB67B226}"/>
              </a:ext>
            </a:extLst>
          </p:cNvPr>
          <p:cNvSpPr>
            <a:spLocks/>
          </p:cNvSpPr>
          <p:nvPr/>
        </p:nvSpPr>
        <p:spPr bwMode="auto">
          <a:xfrm>
            <a:off x="271462" y="298656"/>
            <a:ext cx="324000" cy="360000"/>
          </a:xfrm>
          <a:prstGeom prst="rect">
            <a:avLst/>
          </a:prstGeom>
          <a:solidFill>
            <a:srgbClr val="000000"/>
          </a:solidFill>
          <a:ln w="28575" algn="ctr">
            <a:noFill/>
            <a:miter lim="800000"/>
            <a:headEnd/>
            <a:tailEnd/>
          </a:ln>
        </p:spPr>
        <p:txBody>
          <a:bodyPr lIns="45720" rIns="45720" rtlCol="0" anchor="ctr"/>
          <a:lstStyle/>
          <a:p>
            <a:pPr algn="ctr" fontAlgn="base">
              <a:spcBef>
                <a:spcPts val="600"/>
              </a:spcBef>
              <a:buSzPct val="100000"/>
            </a:pPr>
            <a:r>
              <a:rPr kumimoji="1" lang="en-US" altLang="ko-K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ko-KR" alt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D9BBE98-F248-4870-9E4E-790F1E67BC59}"/>
              </a:ext>
            </a:extLst>
          </p:cNvPr>
          <p:cNvGrpSpPr/>
          <p:nvPr/>
        </p:nvGrpSpPr>
        <p:grpSpPr>
          <a:xfrm>
            <a:off x="399765" y="1764542"/>
            <a:ext cx="2854712" cy="321803"/>
            <a:chOff x="1313578" y="1406437"/>
            <a:chExt cx="2160003" cy="32180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93D70D-903D-4E86-8BF0-ACA27DFC9344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Key Questions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5" name="Line 70">
              <a:extLst>
                <a:ext uri="{FF2B5EF4-FFF2-40B4-BE49-F238E27FC236}">
                  <a16:creationId xmlns:a16="http://schemas.microsoft.com/office/drawing/2014/main" id="{751E45A9-6539-4AA2-BBE5-58B3DEA50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7C5E728-D00C-4B6A-AF65-79F65398DEAA}"/>
              </a:ext>
            </a:extLst>
          </p:cNvPr>
          <p:cNvSpPr txBox="1"/>
          <p:nvPr/>
        </p:nvSpPr>
        <p:spPr>
          <a:xfrm>
            <a:off x="410685" y="2239963"/>
            <a:ext cx="1013923" cy="41935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wrap="square" lIns="36000" tIns="0" rIns="0" bIns="0" rtlCol="0" anchor="b"/>
          <a:lstStyle>
            <a:defPPr>
              <a:defRPr lang="en-US"/>
            </a:defPPr>
            <a:lvl1pPr algn="ctr">
              <a:defRPr sz="12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고려 사항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C1D8A3F-E621-4B9D-B55D-74D0AE1ECA97}"/>
              </a:ext>
            </a:extLst>
          </p:cNvPr>
          <p:cNvGrpSpPr/>
          <p:nvPr/>
        </p:nvGrpSpPr>
        <p:grpSpPr>
          <a:xfrm>
            <a:off x="678333" y="2349862"/>
            <a:ext cx="2576144" cy="3973794"/>
            <a:chOff x="678333" y="2327615"/>
            <a:chExt cx="1841127" cy="305677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39EA8C6-1A0E-42D9-A8EA-C1E1F558E330}"/>
                </a:ext>
              </a:extLst>
            </p:cNvPr>
            <p:cNvSpPr/>
            <p:nvPr/>
          </p:nvSpPr>
          <p:spPr>
            <a:xfrm>
              <a:off x="678333" y="232761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의류 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B2C(Retail) </a:t>
              </a:r>
              <a:r>
                <a:rPr lang="ko-KR" altLang="en-US" sz="1300" b="1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사업으로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Industry 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 버전 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(FVB)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사용할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것인가</a:t>
              </a: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b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3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가설</a:t>
              </a: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표준 </a:t>
              </a: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S/4HANA </a:t>
              </a:r>
              <a:r>
                <a:rPr lang="ko-KR" altLang="en-US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사용</a:t>
              </a:r>
              <a:endParaRPr lang="ko-KR" altLang="en-US" sz="13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B980986-998E-4F4E-9B47-2C29BD837DE6}"/>
                </a:ext>
              </a:extLst>
            </p:cNvPr>
            <p:cNvSpPr/>
            <p:nvPr/>
          </p:nvSpPr>
          <p:spPr>
            <a:xfrm>
              <a:off x="678333" y="341048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Garment / Material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 대상의 차세대 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S/4HANA 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시스템과 통합하여 구축 할 것인가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b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[</a:t>
              </a:r>
              <a:r>
                <a:rPr lang="ko-KR" altLang="en-US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가설</a:t>
              </a: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] </a:t>
              </a:r>
              <a:r>
                <a:rPr lang="ko-KR" altLang="en-US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별도의 </a:t>
              </a:r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Instance </a:t>
              </a:r>
              <a:endParaRPr lang="en-US" altLang="ko-KR" sz="13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3716F1C-4E98-4EEF-917A-4EE72451F2B0}"/>
                </a:ext>
              </a:extLst>
            </p:cNvPr>
            <p:cNvSpPr/>
            <p:nvPr/>
          </p:nvSpPr>
          <p:spPr>
            <a:xfrm>
              <a:off x="678333" y="4493355"/>
              <a:ext cx="1841127" cy="891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영원아웃도어 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연관 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ex.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POS/PRM,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 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재구축 되어야 하는가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  <a:p>
              <a:pPr algn="ctr"/>
              <a:endPara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가설</a:t>
              </a:r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S/4HANA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연계 중심</a:t>
              </a:r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E7141DD-105D-49E7-9AF7-643B5D4053B0}"/>
              </a:ext>
            </a:extLst>
          </p:cNvPr>
          <p:cNvGrpSpPr/>
          <p:nvPr/>
        </p:nvGrpSpPr>
        <p:grpSpPr>
          <a:xfrm>
            <a:off x="3510116" y="1772816"/>
            <a:ext cx="5996118" cy="321803"/>
            <a:chOff x="1313578" y="1406437"/>
            <a:chExt cx="2160003" cy="32180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75C85B-8219-4665-9B3E-8E55ABD9EE42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04A02"/>
                </a:buClr>
                <a:buSzPts val="1600"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영원 아웃도어의 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S/4HANA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구축 계획 案 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Line 70">
              <a:extLst>
                <a:ext uri="{FF2B5EF4-FFF2-40B4-BE49-F238E27FC236}">
                  <a16:creationId xmlns:a16="http://schemas.microsoft.com/office/drawing/2014/main" id="{DB0DC9EF-B7DA-4E1A-83B8-8A917F8C9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6ABE0F9-41D6-4A8E-BC85-EC46CDFDDC8D}"/>
              </a:ext>
            </a:extLst>
          </p:cNvPr>
          <p:cNvGrpSpPr/>
          <p:nvPr/>
        </p:nvGrpSpPr>
        <p:grpSpPr>
          <a:xfrm>
            <a:off x="8457441" y="1398108"/>
            <a:ext cx="1065803" cy="497993"/>
            <a:chOff x="8715892" y="1609301"/>
            <a:chExt cx="761009" cy="28780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23CCFC-D2CD-4C0C-B308-ED76E64E635E}"/>
                </a:ext>
              </a:extLst>
            </p:cNvPr>
            <p:cNvSpPr txBox="1"/>
            <p:nvPr/>
          </p:nvSpPr>
          <p:spPr>
            <a:xfrm>
              <a:off x="8715893" y="1609301"/>
              <a:ext cx="761008" cy="28780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-27432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ko-KR" sz="12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Preliminary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0123951F-73D7-4EC4-ABD2-3CD873EECBCF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658832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6754CE3-8B3F-4221-B20B-5C5147737A43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841359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B47E78-E1CC-4DAA-9A03-B4774C699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90689"/>
              </p:ext>
            </p:extLst>
          </p:nvPr>
        </p:nvGraphicFramePr>
        <p:xfrm>
          <a:off x="3628175" y="2677312"/>
          <a:ext cx="5832000" cy="1556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61146730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409561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54293714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812983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8053227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4092145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90876055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55339332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82178371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163589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4178741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6907614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1575161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50828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41657934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91289071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10794721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25762108"/>
                    </a:ext>
                  </a:extLst>
                </a:gridCol>
              </a:tblGrid>
              <a:tr h="2743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-M3</a:t>
                      </a: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-M2</a:t>
                      </a: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-M1</a:t>
                      </a: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M2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M3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M4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M5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M6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M7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M8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M9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M12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M13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M14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effectLst/>
                        </a:rPr>
                        <a:t> M15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678"/>
                  </a:ext>
                </a:extLst>
              </a:tr>
              <a:tr h="27439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3M + 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3M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4M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3M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1M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2.5M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17775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72" marR="6572" marT="6572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0551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498D482-C585-44BA-9656-414A7BA65EB0}"/>
              </a:ext>
            </a:extLst>
          </p:cNvPr>
          <p:cNvSpPr txBox="1"/>
          <p:nvPr/>
        </p:nvSpPr>
        <p:spPr>
          <a:xfrm>
            <a:off x="4652202" y="2286059"/>
            <a:ext cx="4601890" cy="252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S/4HANA </a:t>
            </a: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전환구축은 약 </a:t>
            </a: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15</a:t>
            </a:r>
            <a:r>
              <a:rPr lang="ko-KR" altLang="en-US" sz="1300" b="1" dirty="0" smtClean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개월</a:t>
            </a:r>
            <a:r>
              <a:rPr lang="en-US" altLang="ko-KR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300" b="1" dirty="0" smtClean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소요 </a:t>
            </a:r>
            <a:r>
              <a:rPr lang="ko-KR" altLang="en-US" sz="13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itchFamily="34" charset="0"/>
              </a:rPr>
              <a:t>예상 </a:t>
            </a:r>
            <a:endParaRPr lang="ko-KR" altLang="en-US" sz="1300" dirty="0">
              <a:solidFill>
                <a:schemeClr val="accent1">
                  <a:lumMod val="75000"/>
                </a:schemeClr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D140560-DE3B-4035-8E5C-0F6EDFE577F9}"/>
              </a:ext>
            </a:extLst>
          </p:cNvPr>
          <p:cNvGrpSpPr/>
          <p:nvPr/>
        </p:nvGrpSpPr>
        <p:grpSpPr>
          <a:xfrm>
            <a:off x="4595843" y="2493293"/>
            <a:ext cx="4870056" cy="158467"/>
            <a:chOff x="5456903" y="3986882"/>
            <a:chExt cx="3765755" cy="206478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1F613BB-674B-4950-A374-41B7CC0DB13A}"/>
                </a:ext>
              </a:extLst>
            </p:cNvPr>
            <p:cNvCxnSpPr>
              <a:cxnSpLocks/>
            </p:cNvCxnSpPr>
            <p:nvPr/>
          </p:nvCxnSpPr>
          <p:spPr>
            <a:xfrm>
              <a:off x="5456903" y="3986882"/>
              <a:ext cx="0" cy="20647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8F4D1BB-9F0B-46B7-A7D7-30839CFDA0F5}"/>
                </a:ext>
              </a:extLst>
            </p:cNvPr>
            <p:cNvCxnSpPr>
              <a:cxnSpLocks/>
            </p:cNvCxnSpPr>
            <p:nvPr/>
          </p:nvCxnSpPr>
          <p:spPr>
            <a:xfrm>
              <a:off x="9222658" y="3986882"/>
              <a:ext cx="0" cy="20647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BAC0D705-A8EF-450C-BD71-7A6252C21FA6}"/>
                </a:ext>
              </a:extLst>
            </p:cNvPr>
            <p:cNvCxnSpPr>
              <a:cxnSpLocks/>
            </p:cNvCxnSpPr>
            <p:nvPr/>
          </p:nvCxnSpPr>
          <p:spPr>
            <a:xfrm>
              <a:off x="5456903" y="4090121"/>
              <a:ext cx="3765755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오각형 103">
            <a:extLst>
              <a:ext uri="{FF2B5EF4-FFF2-40B4-BE49-F238E27FC236}">
                <a16:creationId xmlns:a16="http://schemas.microsoft.com/office/drawing/2014/main" id="{9EC9428E-8768-4CDC-81E9-D4E24DF59CE5}"/>
              </a:ext>
            </a:extLst>
          </p:cNvPr>
          <p:cNvSpPr/>
          <p:nvPr/>
        </p:nvSpPr>
        <p:spPr bwMode="ltGray">
          <a:xfrm>
            <a:off x="4620929" y="3376818"/>
            <a:ext cx="955819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분석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설계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오각형 103">
            <a:extLst>
              <a:ext uri="{FF2B5EF4-FFF2-40B4-BE49-F238E27FC236}">
                <a16:creationId xmlns:a16="http://schemas.microsoft.com/office/drawing/2014/main" id="{FBF8A007-D84A-4ED4-8DAA-A353E0BD25AC}"/>
              </a:ext>
            </a:extLst>
          </p:cNvPr>
          <p:cNvSpPr/>
          <p:nvPr/>
        </p:nvSpPr>
        <p:spPr bwMode="ltGray">
          <a:xfrm>
            <a:off x="5606819" y="3376818"/>
            <a:ext cx="1605507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latin typeface="+mn-ea"/>
              </a:rPr>
              <a:t>개발</a:t>
            </a:r>
            <a:r>
              <a:rPr lang="en-US" altLang="ko-KR" sz="1050" b="1" kern="0" dirty="0">
                <a:latin typeface="+mn-ea"/>
              </a:rPr>
              <a:t>/</a:t>
            </a:r>
            <a:r>
              <a:rPr lang="ko-KR" altLang="en-US" sz="1050" b="1" kern="0" dirty="0">
                <a:latin typeface="+mn-ea"/>
              </a:rPr>
              <a:t>구축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오각형 103">
            <a:extLst>
              <a:ext uri="{FF2B5EF4-FFF2-40B4-BE49-F238E27FC236}">
                <a16:creationId xmlns:a16="http://schemas.microsoft.com/office/drawing/2014/main" id="{D1DADBDD-41BC-4C54-8CFD-25C6085D84CE}"/>
              </a:ext>
            </a:extLst>
          </p:cNvPr>
          <p:cNvSpPr/>
          <p:nvPr/>
        </p:nvSpPr>
        <p:spPr bwMode="ltGray">
          <a:xfrm>
            <a:off x="7223348" y="3376818"/>
            <a:ext cx="955820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통합 테스트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및 </a:t>
            </a:r>
            <a:r>
              <a:rPr lang="ko-KR" altLang="en-US" sz="1050" b="1" kern="0" dirty="0">
                <a:latin typeface="+mn-ea"/>
              </a:rPr>
              <a:t>교육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오각형 103">
            <a:extLst>
              <a:ext uri="{FF2B5EF4-FFF2-40B4-BE49-F238E27FC236}">
                <a16:creationId xmlns:a16="http://schemas.microsoft.com/office/drawing/2014/main" id="{62E025B3-0B51-48E6-99C9-335193DDF3BC}"/>
              </a:ext>
            </a:extLst>
          </p:cNvPr>
          <p:cNvSpPr/>
          <p:nvPr/>
        </p:nvSpPr>
        <p:spPr bwMode="ltGray">
          <a:xfrm>
            <a:off x="8494629" y="3376818"/>
            <a:ext cx="915253" cy="694731"/>
          </a:xfrm>
          <a:prstGeom prst="homePlate">
            <a:avLst>
              <a:gd name="adj" fmla="val 11339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안정화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/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lang="ko-KR" altLang="en-US" sz="1050" b="1" kern="0" dirty="0">
                <a:latin typeface="+mn-ea"/>
              </a:rPr>
              <a:t>결산지원 포함</a:t>
            </a:r>
            <a:r>
              <a:rPr lang="en-US" altLang="ko-KR" sz="1050" b="1" kern="0" dirty="0">
                <a:latin typeface="+mn-ea"/>
              </a:rPr>
              <a:t>)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오각형 103">
            <a:extLst>
              <a:ext uri="{FF2B5EF4-FFF2-40B4-BE49-F238E27FC236}">
                <a16:creationId xmlns:a16="http://schemas.microsoft.com/office/drawing/2014/main" id="{8E166FEB-417E-4CCD-9637-23E3ED49D37A}"/>
              </a:ext>
            </a:extLst>
          </p:cNvPr>
          <p:cNvSpPr/>
          <p:nvPr/>
        </p:nvSpPr>
        <p:spPr bwMode="ltGray">
          <a:xfrm>
            <a:off x="3646477" y="3390586"/>
            <a:ext cx="924159" cy="694731"/>
          </a:xfrm>
          <a:prstGeom prst="homePlate">
            <a:avLst>
              <a:gd name="adj" fmla="val 10114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Masterplan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수립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오각형 103">
            <a:extLst>
              <a:ext uri="{FF2B5EF4-FFF2-40B4-BE49-F238E27FC236}">
                <a16:creationId xmlns:a16="http://schemas.microsoft.com/office/drawing/2014/main" id="{B9EC7BEB-172C-4712-8B24-A66E073BEDF2}"/>
              </a:ext>
            </a:extLst>
          </p:cNvPr>
          <p:cNvSpPr/>
          <p:nvPr/>
        </p:nvSpPr>
        <p:spPr bwMode="ltGray">
          <a:xfrm>
            <a:off x="8179168" y="3376818"/>
            <a:ext cx="293204" cy="694731"/>
          </a:xfrm>
          <a:prstGeom prst="homePlate">
            <a:avLst>
              <a:gd name="adj" fmla="val 10114"/>
            </a:avLst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이관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EE903B5-044A-47D0-A324-5BCCB2DC3696}"/>
              </a:ext>
            </a:extLst>
          </p:cNvPr>
          <p:cNvCxnSpPr/>
          <p:nvPr/>
        </p:nvCxnSpPr>
        <p:spPr>
          <a:xfrm>
            <a:off x="8465900" y="2560335"/>
            <a:ext cx="0" cy="1800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C002551-D336-4736-A8C9-265A900E1390}"/>
              </a:ext>
            </a:extLst>
          </p:cNvPr>
          <p:cNvGrpSpPr/>
          <p:nvPr/>
        </p:nvGrpSpPr>
        <p:grpSpPr>
          <a:xfrm>
            <a:off x="3541209" y="4071549"/>
            <a:ext cx="6091741" cy="629991"/>
            <a:chOff x="1704789" y="2727061"/>
            <a:chExt cx="6091741" cy="851375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B34F9955-CED6-4D5F-B009-E3E8A4A76F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4789" y="2727061"/>
              <a:ext cx="105268" cy="85137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FB578FB9-1D25-4F0F-8778-5102B30F81E7}"/>
                </a:ext>
              </a:extLst>
            </p:cNvPr>
            <p:cNvCxnSpPr/>
            <p:nvPr/>
          </p:nvCxnSpPr>
          <p:spPr>
            <a:xfrm>
              <a:off x="2642696" y="2778237"/>
              <a:ext cx="5153834" cy="614461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3D6D86D-6BE7-4DCD-9B4F-47C841F58661}"/>
              </a:ext>
            </a:extLst>
          </p:cNvPr>
          <p:cNvSpPr txBox="1"/>
          <p:nvPr/>
        </p:nvSpPr>
        <p:spPr>
          <a:xfrm>
            <a:off x="3560078" y="4993184"/>
            <a:ext cx="2840436" cy="13959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72000" tIns="72000" rIns="72000" bIns="72000" rtlCol="0" anchor="t" anchorCtr="0">
            <a:noAutofit/>
          </a:bodyPr>
          <a:lstStyle/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영원아웃도어의 </a:t>
            </a:r>
            <a:r>
              <a:rPr lang="ko-KR" altLang="en-US" sz="1200" b="1" dirty="0">
                <a:latin typeface="+mn-ea"/>
                <a:cs typeface="Arial" pitchFamily="34" charset="0"/>
              </a:rPr>
              <a:t>법인 현황 분석 수행 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449263" lvl="1" indent="-182563">
              <a:spcAft>
                <a:spcPts val="400"/>
              </a:spcAft>
              <a:buFont typeface="Arial" panose="020B0604020202020204" pitchFamily="34" charset="0"/>
              <a:buChar char="‒"/>
            </a:pPr>
            <a:r>
              <a:rPr lang="en-US" altLang="ko-KR" sz="1200" dirty="0">
                <a:latin typeface="+mn-ea"/>
                <a:cs typeface="Arial" pitchFamily="34" charset="0"/>
              </a:rPr>
              <a:t>Business Model(On/Offline Channel </a:t>
            </a:r>
            <a:r>
              <a:rPr lang="ko-KR" altLang="en-US" sz="1200" dirty="0">
                <a:latin typeface="+mn-ea"/>
                <a:cs typeface="Arial" pitchFamily="34" charset="0"/>
              </a:rPr>
              <a:t>포함</a:t>
            </a:r>
            <a:r>
              <a:rPr lang="en-US" altLang="ko-KR" sz="1200" dirty="0">
                <a:latin typeface="+mn-ea"/>
                <a:cs typeface="Arial" pitchFamily="34" charset="0"/>
              </a:rPr>
              <a:t>), </a:t>
            </a:r>
            <a:r>
              <a:rPr lang="ko-KR" altLang="en-US" sz="1200" dirty="0">
                <a:latin typeface="+mn-ea"/>
                <a:cs typeface="Arial" pitchFamily="34" charset="0"/>
              </a:rPr>
              <a:t>업무 프로세스 </a:t>
            </a:r>
            <a:r>
              <a:rPr lang="en-US" altLang="ko-KR" sz="1200" dirty="0">
                <a:latin typeface="+mn-ea"/>
                <a:cs typeface="Arial" pitchFamily="34" charset="0"/>
              </a:rPr>
              <a:t/>
            </a:r>
            <a:br>
              <a:rPr lang="en-US" altLang="ko-KR" sz="1200" dirty="0">
                <a:latin typeface="+mn-ea"/>
                <a:cs typeface="Arial" pitchFamily="34" charset="0"/>
              </a:rPr>
            </a:br>
            <a:r>
              <a:rPr lang="ko-KR" altLang="en-US" sz="1200" dirty="0">
                <a:latin typeface="+mn-ea"/>
                <a:cs typeface="Arial" pitchFamily="34" charset="0"/>
              </a:rPr>
              <a:t>및 시스템 활용 현황 등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82563" indent="-182563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아웃도어 내 연관 시스템 현황 분석</a:t>
            </a:r>
            <a:r>
              <a:rPr lang="en-US" altLang="ko-KR" sz="1200" dirty="0">
                <a:latin typeface="+mn-ea"/>
                <a:cs typeface="Arial" pitchFamily="34" charset="0"/>
              </a:rPr>
              <a:t/>
            </a:r>
            <a:br>
              <a:rPr lang="en-US" altLang="ko-KR" sz="1200" dirty="0">
                <a:latin typeface="+mn-ea"/>
                <a:cs typeface="Arial" pitchFamily="34" charset="0"/>
              </a:rPr>
            </a:br>
            <a:r>
              <a:rPr lang="ko-KR" altLang="en-US" sz="1200" dirty="0">
                <a:latin typeface="+mn-ea"/>
                <a:cs typeface="Arial" pitchFamily="34" charset="0"/>
              </a:rPr>
              <a:t>및 개선 요구사항 파악</a:t>
            </a:r>
            <a:endParaRPr lang="en-US" altLang="ko-KR" sz="1200" dirty="0">
              <a:latin typeface="+mn-ea"/>
              <a:cs typeface="Arial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9AE4985-3149-4B7B-A337-6FAFC0CDFECC}"/>
              </a:ext>
            </a:extLst>
          </p:cNvPr>
          <p:cNvSpPr/>
          <p:nvPr/>
        </p:nvSpPr>
        <p:spPr bwMode="gray">
          <a:xfrm>
            <a:off x="3560078" y="4587936"/>
            <a:ext cx="2840436" cy="4040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400" b="1" kern="0" dirty="0">
                <a:solidFill>
                  <a:schemeClr val="bg1"/>
                </a:solidFill>
                <a:latin typeface="+mn-ea"/>
              </a:rPr>
              <a:t>현황 분석</a:t>
            </a:r>
            <a:endParaRPr lang="en-US" altLang="ko-KR" sz="14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84CA80-B403-4E80-A1B7-24D030B137B7}"/>
              </a:ext>
            </a:extLst>
          </p:cNvPr>
          <p:cNvSpPr txBox="1"/>
          <p:nvPr/>
        </p:nvSpPr>
        <p:spPr>
          <a:xfrm>
            <a:off x="6792514" y="4993184"/>
            <a:ext cx="2840436" cy="13959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72000" tIns="72000" rIns="72000" bIns="72000" rtlCol="0" anchor="t" anchorCtr="0">
            <a:noAutofit/>
          </a:bodyPr>
          <a:lstStyle/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  <a:cs typeface="Arial" pitchFamily="34" charset="0"/>
              </a:rPr>
              <a:t>Material Group</a:t>
            </a:r>
            <a:r>
              <a:rPr lang="ko-KR" altLang="en-US" sz="1200" dirty="0">
                <a:latin typeface="+mn-ea"/>
                <a:cs typeface="Arial" pitchFamily="34" charset="0"/>
              </a:rPr>
              <a:t>의 </a:t>
            </a:r>
            <a:r>
              <a:rPr lang="en-US" altLang="ko-KR" sz="1200" b="1" dirty="0">
                <a:latin typeface="+mn-ea"/>
                <a:cs typeface="Arial" pitchFamily="34" charset="0"/>
              </a:rPr>
              <a:t>To-Be </a:t>
            </a:r>
            <a:r>
              <a:rPr lang="ko-KR" altLang="en-US" sz="1200" b="1" dirty="0">
                <a:latin typeface="+mn-ea"/>
                <a:cs typeface="Arial" pitchFamily="34" charset="0"/>
              </a:rPr>
              <a:t>업무 시스템 구성 도출</a:t>
            </a:r>
            <a:r>
              <a:rPr lang="en-US" altLang="ko-KR" sz="1000" dirty="0">
                <a:latin typeface="+mn-ea"/>
                <a:cs typeface="Arial" pitchFamily="34" charset="0"/>
              </a:rPr>
              <a:t>(Align with </a:t>
            </a:r>
            <a:r>
              <a:rPr lang="ko-KR" altLang="en-US" sz="1000" dirty="0">
                <a:latin typeface="+mn-ea"/>
                <a:cs typeface="Arial" pitchFamily="34" charset="0"/>
              </a:rPr>
              <a:t>차세대 </a:t>
            </a:r>
            <a:r>
              <a:rPr lang="en-US" altLang="ko-KR" sz="1000" dirty="0">
                <a:latin typeface="+mn-ea"/>
                <a:cs typeface="Arial" pitchFamily="34" charset="0"/>
              </a:rPr>
              <a:t>ERP)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449263" marR="0" lvl="1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‒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S/4HANA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도입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or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FVB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사용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여부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449263" marR="0" lvl="1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‒"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Instance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전략 수립 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449263" marR="0" lvl="1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‒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그룹 통합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CoA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등 영향도</a:t>
            </a:r>
            <a:endParaRPr lang="en-US" altLang="ko-KR" sz="1200" dirty="0">
              <a:latin typeface="+mn-ea"/>
              <a:cs typeface="Arial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39B1AD6-E75A-4045-9954-F84EC83629AE}"/>
              </a:ext>
            </a:extLst>
          </p:cNvPr>
          <p:cNvSpPr/>
          <p:nvPr/>
        </p:nvSpPr>
        <p:spPr bwMode="gray">
          <a:xfrm>
            <a:off x="6792514" y="4587936"/>
            <a:ext cx="2840436" cy="4040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>
                <a:lumMod val="50000"/>
              </a:srgbClr>
            </a:solidFill>
          </a:ln>
          <a:effectLst/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400" b="1" kern="0" dirty="0">
                <a:solidFill>
                  <a:schemeClr val="bg1"/>
                </a:solidFill>
                <a:latin typeface="+mn-ea"/>
              </a:rPr>
              <a:t>구축 계획 수립</a:t>
            </a:r>
            <a:endParaRPr lang="en-US" altLang="ko-KR" sz="14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63523" y="3478414"/>
            <a:ext cx="210194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latin typeface="+mn-ea"/>
                <a:cs typeface="Arial" pitchFamily="34" charset="0"/>
              </a:rPr>
              <a:t>FVB : Fashion &amp; Vertical Business 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97226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C4F5677-B1F2-43DD-A896-FA41953FD544}"/>
              </a:ext>
            </a:extLst>
          </p:cNvPr>
          <p:cNvSpPr/>
          <p:nvPr/>
        </p:nvSpPr>
        <p:spPr>
          <a:xfrm>
            <a:off x="645044" y="4473899"/>
            <a:ext cx="5391962" cy="540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271463" y="291426"/>
            <a:ext cx="5242104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latinLnBrk="0">
              <a:defRPr/>
            </a:pPr>
            <a:r>
              <a:rPr lang="ko-KR" altLang="en-US" sz="2000" b="1" kern="0" spc="-150">
                <a:ln w="1905"/>
                <a:solidFill>
                  <a:prstClr val="black"/>
                </a:solidFill>
              </a:rPr>
              <a:t>금일</a:t>
            </a:r>
            <a:r>
              <a:rPr lang="en-US" altLang="ko-KR" sz="2000" b="1" kern="0" spc="-150">
                <a:ln w="1905"/>
                <a:solidFill>
                  <a:prstClr val="black"/>
                </a:solidFill>
              </a:rPr>
              <a:t> Agenda</a:t>
            </a:r>
            <a:endParaRPr lang="ko-KR" altLang="en-US" sz="2000" b="1" kern="0" spc="-150">
              <a:ln w="1905"/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27E4-C30D-4BED-ADBB-FA1E1B82D042}"/>
              </a:ext>
            </a:extLst>
          </p:cNvPr>
          <p:cNvSpPr txBox="1"/>
          <p:nvPr/>
        </p:nvSpPr>
        <p:spPr>
          <a:xfrm>
            <a:off x="645044" y="1052736"/>
            <a:ext cx="65402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PI 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단계 추진 경과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영원의 주요 변화 사항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혁신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(PI)</a:t>
            </a: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의 이행 계획  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  <a:p>
            <a:pPr marL="342900" indent="-342900">
              <a:lnSpc>
                <a:spcPct val="300000"/>
              </a:lnSpc>
              <a:spcBef>
                <a:spcPts val="800"/>
              </a:spcBef>
              <a:buAutoNum type="arabicPeriod"/>
              <a:defRPr/>
            </a:pPr>
            <a:r>
              <a:rPr lang="ko-KR" altLang="en-US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성공적 혁신 이행을 위한 </a:t>
            </a:r>
            <a:r>
              <a:rPr lang="en-US" altLang="ko-KR" sz="20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PwC </a:t>
            </a:r>
            <a:r>
              <a:rPr lang="ko-KR" altLang="en-US" sz="2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  <a:cs typeface="Microsoft Himalaya" panose="01010100010101010101" pitchFamily="2" charset="0"/>
              </a:rPr>
              <a:t>제언</a:t>
            </a:r>
            <a:endParaRPr lang="en-US" altLang="ko-KR" sz="2000" b="1" dirty="0">
              <a:ln>
                <a:solidFill>
                  <a:prstClr val="white">
                    <a:alpha val="0"/>
                  </a:prstClr>
                </a:solidFill>
              </a:ln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91275" y="4500393"/>
            <a:ext cx="2952750" cy="8064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 smtClean="0">
                <a:solidFill>
                  <a:schemeClr val="tx1"/>
                </a:solidFill>
              </a:rPr>
              <a:t>Global Template </a:t>
            </a:r>
            <a:r>
              <a:rPr lang="ko-KR" altLang="en-US" sz="1400" dirty="0" smtClean="0">
                <a:solidFill>
                  <a:schemeClr val="tx1"/>
                </a:solidFill>
              </a:rPr>
              <a:t>조직 구성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solidFill>
                  <a:schemeClr val="tx1"/>
                </a:solidFill>
              </a:rPr>
              <a:t>사업관리 전문 인력 구성 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037006" y="4762500"/>
            <a:ext cx="354269" cy="0"/>
          </a:xfrm>
          <a:prstGeom prst="lin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0593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A559F40B-665A-46FC-A5A5-4931825262BE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B3B0557F-53DD-4B28-B712-2CE091DCB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[</a:t>
            </a: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참고</a:t>
            </a:r>
            <a:r>
              <a:rPr kumimoji="0" lang="en-US" altLang="ko-KR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] Global Template </a:t>
            </a:r>
            <a:r>
              <a:rPr kumimoji="0" lang="ko-KR" altLang="en-US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개념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AD399070-18F8-4419-8E16-5B9D5E34D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lang="en-US" altLang="ko-KR" dirty="0"/>
              <a:t>Global </a:t>
            </a:r>
            <a:r>
              <a:rPr lang="en-US" altLang="ko-KR" dirty="0" smtClean="0"/>
              <a:t>Template</a:t>
            </a:r>
            <a:r>
              <a:rPr lang="ko-KR" altLang="en-US" dirty="0" smtClean="0"/>
              <a:t>은 </a:t>
            </a:r>
            <a:r>
              <a:rPr lang="ko-KR" altLang="en-US" dirty="0"/>
              <a:t>영원의 표준 업무 프로세스 및 기준정보 체계</a:t>
            </a:r>
            <a:r>
              <a:rPr lang="en-US" altLang="ko-KR" dirty="0"/>
              <a:t>, </a:t>
            </a:r>
            <a:r>
              <a:rPr lang="ko-KR" altLang="en-US" dirty="0"/>
              <a:t>시스템 기능과 이의 유지보수를 위한 </a:t>
            </a:r>
            <a:r>
              <a:rPr lang="en-US" altLang="ko-KR" dirty="0"/>
              <a:t>Governance</a:t>
            </a:r>
            <a:r>
              <a:rPr lang="ko-KR" altLang="en-US" dirty="0"/>
              <a:t>를 포괄하는 </a:t>
            </a:r>
            <a:r>
              <a:rPr lang="ko-KR" altLang="en-US" dirty="0" smtClean="0"/>
              <a:t>개념으로 </a:t>
            </a:r>
            <a:r>
              <a:rPr lang="en-US" altLang="ko-KR" dirty="0" smtClean="0"/>
              <a:t>GSI </a:t>
            </a:r>
            <a:r>
              <a:rPr lang="ko-KR" altLang="en-US" dirty="0" smtClean="0"/>
              <a:t>구축 이후 통합성을 담보하기 위해 반드시 필요함</a:t>
            </a:r>
            <a:endParaRPr kumimoji="0" lang="ko-KR" altLang="en-US" sz="1600" b="1" i="0" u="none" strike="noStrike" kern="120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</a:endParaRPr>
          </a:p>
        </p:txBody>
      </p:sp>
      <p:grpSp>
        <p:nvGrpSpPr>
          <p:cNvPr id="63" name="Google Shape;709;p16">
            <a:extLst>
              <a:ext uri="{FF2B5EF4-FFF2-40B4-BE49-F238E27FC236}">
                <a16:creationId xmlns:a16="http://schemas.microsoft.com/office/drawing/2014/main" id="{C40273E6-50EE-0DCD-C1FB-ECD9F412BB71}"/>
              </a:ext>
            </a:extLst>
          </p:cNvPr>
          <p:cNvGrpSpPr/>
          <p:nvPr/>
        </p:nvGrpSpPr>
        <p:grpSpPr>
          <a:xfrm>
            <a:off x="273051" y="1627983"/>
            <a:ext cx="9359999" cy="339809"/>
            <a:chOff x="6516740" y="2220668"/>
            <a:chExt cx="3758346" cy="339809"/>
          </a:xfrm>
        </p:grpSpPr>
        <p:sp>
          <p:nvSpPr>
            <p:cNvPr id="64" name="Google Shape;710;p16">
              <a:extLst>
                <a:ext uri="{FF2B5EF4-FFF2-40B4-BE49-F238E27FC236}">
                  <a16:creationId xmlns:a16="http://schemas.microsoft.com/office/drawing/2014/main" id="{7AE297F1-C56E-9D29-D849-A0A3C6860633}"/>
                </a:ext>
              </a:extLst>
            </p:cNvPr>
            <p:cNvSpPr txBox="1"/>
            <p:nvPr/>
          </p:nvSpPr>
          <p:spPr>
            <a:xfrm>
              <a:off x="6679807" y="2220668"/>
              <a:ext cx="34322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altLang="ko-KR" sz="1600" b="1" dirty="0">
                  <a:latin typeface="+mn-ea"/>
                </a:rPr>
                <a:t>Global </a:t>
              </a:r>
              <a:r>
                <a:rPr lang="en-US" altLang="ko-KR" sz="1600" b="1">
                  <a:latin typeface="+mn-ea"/>
                </a:rPr>
                <a:t>Template </a:t>
              </a:r>
              <a:r>
                <a:rPr lang="ko-KR" altLang="en-US" sz="1600" b="1" dirty="0">
                  <a:latin typeface="+mn-ea"/>
                </a:rPr>
                <a:t>개념</a:t>
              </a:r>
              <a:endParaRPr lang="en-US" altLang="ko-KR" sz="1600" b="1" dirty="0">
                <a:latin typeface="+mn-ea"/>
              </a:endParaRPr>
            </a:p>
          </p:txBody>
        </p:sp>
        <p:cxnSp>
          <p:nvCxnSpPr>
            <p:cNvPr id="65" name="Google Shape;711;p16">
              <a:extLst>
                <a:ext uri="{FF2B5EF4-FFF2-40B4-BE49-F238E27FC236}">
                  <a16:creationId xmlns:a16="http://schemas.microsoft.com/office/drawing/2014/main" id="{92AC7607-63D7-47B7-24BC-0009072D9900}"/>
                </a:ext>
              </a:extLst>
            </p:cNvPr>
            <p:cNvCxnSpPr>
              <a:cxnSpLocks/>
            </p:cNvCxnSpPr>
            <p:nvPr/>
          </p:nvCxnSpPr>
          <p:spPr>
            <a:xfrm>
              <a:off x="6516740" y="2560477"/>
              <a:ext cx="3758346" cy="0"/>
            </a:xfrm>
            <a:prstGeom prst="straightConnector1">
              <a:avLst/>
            </a:prstGeom>
            <a:noFill/>
            <a:ln w="12700" cap="sq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F6A37AA-7345-3FD2-DEBB-DB29A1E9658D}"/>
              </a:ext>
            </a:extLst>
          </p:cNvPr>
          <p:cNvGrpSpPr/>
          <p:nvPr/>
        </p:nvGrpSpPr>
        <p:grpSpPr>
          <a:xfrm>
            <a:off x="602309" y="2498550"/>
            <a:ext cx="1818130" cy="1818130"/>
            <a:chOff x="1599444" y="2752513"/>
            <a:chExt cx="1818130" cy="1818130"/>
          </a:xfrm>
        </p:grpSpPr>
        <p:sp>
          <p:nvSpPr>
            <p:cNvPr id="67" name="다이아몬드 66">
              <a:extLst>
                <a:ext uri="{FF2B5EF4-FFF2-40B4-BE49-F238E27FC236}">
                  <a16:creationId xmlns:a16="http://schemas.microsoft.com/office/drawing/2014/main" id="{9E63DD1B-96E1-B972-E8CE-274A6917064A}"/>
                </a:ext>
              </a:extLst>
            </p:cNvPr>
            <p:cNvSpPr/>
            <p:nvPr/>
          </p:nvSpPr>
          <p:spPr>
            <a:xfrm>
              <a:off x="1599444" y="2752513"/>
              <a:ext cx="1818130" cy="1818130"/>
            </a:xfrm>
            <a:prstGeom prst="diamond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다이아몬드 67">
              <a:extLst>
                <a:ext uri="{FF2B5EF4-FFF2-40B4-BE49-F238E27FC236}">
                  <a16:creationId xmlns:a16="http://schemas.microsoft.com/office/drawing/2014/main" id="{FC5CF75D-3172-FCDE-7BFF-C818861137AF}"/>
                </a:ext>
              </a:extLst>
            </p:cNvPr>
            <p:cNvSpPr/>
            <p:nvPr/>
          </p:nvSpPr>
          <p:spPr>
            <a:xfrm>
              <a:off x="1899677" y="3052746"/>
              <a:ext cx="1217664" cy="1217664"/>
            </a:xfrm>
            <a:prstGeom prst="diamond">
              <a:avLst/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GT?</a:t>
              </a:r>
              <a:endParaRPr lang="ko-KR" altLang="en-US" sz="2400" b="1" dirty="0"/>
            </a:p>
          </p:txBody>
        </p:sp>
      </p:grpSp>
      <p:sp>
        <p:nvSpPr>
          <p:cNvPr id="69" name="설명선: 굽은 선(강조선) 12">
            <a:extLst>
              <a:ext uri="{FF2B5EF4-FFF2-40B4-BE49-F238E27FC236}">
                <a16:creationId xmlns:a16="http://schemas.microsoft.com/office/drawing/2014/main" id="{67286201-1546-DC71-FBEF-40288B1F93C1}"/>
              </a:ext>
            </a:extLst>
          </p:cNvPr>
          <p:cNvSpPr/>
          <p:nvPr/>
        </p:nvSpPr>
        <p:spPr>
          <a:xfrm>
            <a:off x="3386348" y="2183242"/>
            <a:ext cx="6113030" cy="547396"/>
          </a:xfrm>
          <a:prstGeom prst="accentCallout2">
            <a:avLst>
              <a:gd name="adj1" fmla="val 28656"/>
              <a:gd name="adj2" fmla="val -850"/>
              <a:gd name="adj3" fmla="val 28248"/>
              <a:gd name="adj4" fmla="val -16195"/>
              <a:gd name="adj5" fmla="val 111947"/>
              <a:gd name="adj6" fmla="val -256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Business Layer : 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Global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全 법인</a:t>
            </a:r>
            <a:r>
              <a:rPr lang="ko-KR" altLang="en-US" sz="1200" dirty="0" smtClean="0">
                <a:solidFill>
                  <a:schemeClr val="tx1"/>
                </a:solidFill>
              </a:rPr>
              <a:t>이</a:t>
            </a:r>
            <a:r>
              <a:rPr lang="ko-KR" altLang="en-US" sz="1100" dirty="0" smtClean="0">
                <a:solidFill>
                  <a:schemeClr val="tx1"/>
                </a:solidFill>
              </a:rPr>
              <a:t> </a:t>
            </a:r>
            <a:r>
              <a:rPr lang="ko-KR" altLang="en-US" sz="1100" dirty="0">
                <a:solidFill>
                  <a:schemeClr val="tx1"/>
                </a:solidFill>
              </a:rPr>
              <a:t>지켜야 하는 프로세스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규정 등을 정의한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표준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업무 프로세스</a:t>
            </a:r>
            <a:br>
              <a:rPr lang="ko-KR" altLang="en-US" sz="1200" b="1" dirty="0" smtClean="0">
                <a:solidFill>
                  <a:schemeClr val="tx1"/>
                </a:solidFill>
              </a:rPr>
            </a:br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</a:rPr>
              <a:t>- </a:t>
            </a:r>
            <a:r>
              <a:rPr lang="ko-KR" altLang="en-US" sz="1050" dirty="0" smtClean="0">
                <a:solidFill>
                  <a:schemeClr val="tx1"/>
                </a:solidFill>
              </a:rPr>
              <a:t>전사 업무 체계</a:t>
            </a:r>
            <a:r>
              <a:rPr lang="en-US" altLang="ko-KR" sz="1050" dirty="0" smtClean="0">
                <a:solidFill>
                  <a:schemeClr val="tx1"/>
                </a:solidFill>
              </a:rPr>
              <a:t>(BPH), </a:t>
            </a:r>
            <a:r>
              <a:rPr lang="ko-KR" altLang="en-US" sz="1050" dirty="0" smtClean="0">
                <a:solidFill>
                  <a:schemeClr val="tx1"/>
                </a:solidFill>
              </a:rPr>
              <a:t>업무 프로세스 </a:t>
            </a:r>
            <a:r>
              <a:rPr lang="en-US" altLang="ko-KR" sz="1050" dirty="0" smtClean="0">
                <a:solidFill>
                  <a:schemeClr val="tx1"/>
                </a:solidFill>
              </a:rPr>
              <a:t>Flow, End-to End </a:t>
            </a:r>
            <a:r>
              <a:rPr lang="ko-KR" altLang="en-US" sz="1050" dirty="0" smtClean="0">
                <a:solidFill>
                  <a:schemeClr val="tx1"/>
                </a:solidFill>
              </a:rPr>
              <a:t>시나리오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0" name="이등변 삼각형 69">
            <a:extLst>
              <a:ext uri="{FF2B5EF4-FFF2-40B4-BE49-F238E27FC236}">
                <a16:creationId xmlns:a16="http://schemas.microsoft.com/office/drawing/2014/main" id="{57E5E4A1-5482-41BA-4BE1-89022D610300}"/>
              </a:ext>
            </a:extLst>
          </p:cNvPr>
          <p:cNvSpPr/>
          <p:nvPr/>
        </p:nvSpPr>
        <p:spPr bwMode="auto">
          <a:xfrm rot="5400000">
            <a:off x="313141" y="5217042"/>
            <a:ext cx="508662" cy="223380"/>
          </a:xfrm>
          <a:prstGeom prst="triangl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lIns="0" tIns="36000" rIns="0" bIns="0" rtlCol="0" anchor="ctr"/>
          <a:lstStyle/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kumimoji="0" lang="ko-KR" altLang="en-US" sz="1300" cap="all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06EB8235-7BF1-0434-5BA9-0F003C7BE79F}"/>
              </a:ext>
            </a:extLst>
          </p:cNvPr>
          <p:cNvSpPr/>
          <p:nvPr/>
        </p:nvSpPr>
        <p:spPr bwMode="auto">
          <a:xfrm rot="5400000">
            <a:off x="313141" y="5955789"/>
            <a:ext cx="508662" cy="223380"/>
          </a:xfrm>
          <a:prstGeom prst="triangl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lIns="0" tIns="36000" rIns="0" bIns="0" rtlCol="0" anchor="ctr"/>
          <a:lstStyle/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kumimoji="0" lang="ko-KR" altLang="en-US" sz="1300" cap="all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505005D-7FB2-C561-1277-B0877F02DEFB}"/>
              </a:ext>
            </a:extLst>
          </p:cNvPr>
          <p:cNvSpPr/>
          <p:nvPr/>
        </p:nvSpPr>
        <p:spPr bwMode="auto">
          <a:xfrm>
            <a:off x="2640695" y="5122723"/>
            <a:ext cx="2199906" cy="508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</a:rPr>
              <a:t>Global Standard Process </a:t>
            </a:r>
            <a:endParaRPr kumimoji="0" lang="ko-KR" altLang="en-US" sz="1300" cap="all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609E2C-8273-AFE4-365D-059FB114E1D7}"/>
              </a:ext>
            </a:extLst>
          </p:cNvPr>
          <p:cNvSpPr txBox="1"/>
          <p:nvPr/>
        </p:nvSpPr>
        <p:spPr>
          <a:xfrm>
            <a:off x="790700" y="5206730"/>
            <a:ext cx="1184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With GT…</a:t>
            </a:r>
            <a:endParaRPr lang="ko-KR" altLang="en-US" sz="1600" b="1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07B312C-347D-351E-D7A4-6CB575C29BBB}"/>
              </a:ext>
            </a:extLst>
          </p:cNvPr>
          <p:cNvSpPr/>
          <p:nvPr/>
        </p:nvSpPr>
        <p:spPr bwMode="auto">
          <a:xfrm>
            <a:off x="4905072" y="5122723"/>
            <a:ext cx="1783686" cy="508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</a:rPr>
              <a:t>Global Single View </a:t>
            </a:r>
            <a:endParaRPr kumimoji="0" lang="ko-KR" altLang="en-US" sz="1300" cap="all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AF22CB4-509D-929E-2150-9DD5A3F367F9}"/>
              </a:ext>
            </a:extLst>
          </p:cNvPr>
          <p:cNvSpPr/>
          <p:nvPr/>
        </p:nvSpPr>
        <p:spPr bwMode="auto">
          <a:xfrm>
            <a:off x="6753229" y="5122723"/>
            <a:ext cx="2771771" cy="508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</a:rPr>
              <a:t>Zero Latency Decision Support</a:t>
            </a:r>
            <a:endParaRPr kumimoji="0" lang="ko-KR" altLang="en-US" sz="1300" cap="all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71F944-2772-7986-8E9B-CFC985E66F2C}"/>
              </a:ext>
            </a:extLst>
          </p:cNvPr>
          <p:cNvSpPr txBox="1"/>
          <p:nvPr/>
        </p:nvSpPr>
        <p:spPr>
          <a:xfrm>
            <a:off x="790700" y="5882813"/>
            <a:ext cx="153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Without GT…</a:t>
            </a:r>
            <a:endParaRPr lang="ko-KR" altLang="en-US" sz="1600" b="1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E5D8951-60CA-7E14-8F55-37C2E5959905}"/>
              </a:ext>
            </a:extLst>
          </p:cNvPr>
          <p:cNvSpPr/>
          <p:nvPr/>
        </p:nvSpPr>
        <p:spPr bwMode="auto">
          <a:xfrm>
            <a:off x="2640695" y="5800933"/>
            <a:ext cx="2199906" cy="508662"/>
          </a:xfrm>
          <a:prstGeom prst="rect">
            <a:avLst/>
          </a:prstGeom>
          <a:solidFill>
            <a:schemeClr val="bg1"/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/>
              <a:t>Local Optimized Process</a:t>
            </a:r>
            <a:endParaRPr lang="ko-KR" altLang="en-US" sz="1400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3A068CB-90C9-5CA2-535B-E6E9C428BAEC}"/>
              </a:ext>
            </a:extLst>
          </p:cNvPr>
          <p:cNvSpPr/>
          <p:nvPr/>
        </p:nvSpPr>
        <p:spPr bwMode="auto">
          <a:xfrm>
            <a:off x="4905072" y="5800933"/>
            <a:ext cx="1783686" cy="508662"/>
          </a:xfrm>
          <a:prstGeom prst="rect">
            <a:avLst/>
          </a:prstGeom>
          <a:solidFill>
            <a:schemeClr val="bg1"/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/>
              <a:t>Local Biased View </a:t>
            </a:r>
            <a:endParaRPr lang="ko-KR" altLang="en-US" sz="1400" b="1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2E09306-6E63-D5BC-A84C-067C82A4AA49}"/>
              </a:ext>
            </a:extLst>
          </p:cNvPr>
          <p:cNvSpPr/>
          <p:nvPr/>
        </p:nvSpPr>
        <p:spPr bwMode="auto">
          <a:xfrm>
            <a:off x="6753229" y="5800933"/>
            <a:ext cx="2771771" cy="508662"/>
          </a:xfrm>
          <a:prstGeom prst="rect">
            <a:avLst/>
          </a:prstGeom>
          <a:solidFill>
            <a:schemeClr val="bg1"/>
          </a:solidFill>
          <a:ln>
            <a:solidFill>
              <a:srgbClr val="171717"/>
            </a:solidFill>
          </a:ln>
        </p:spPr>
        <p:txBody>
          <a:bodyPr lIns="0" tIns="36000" rIns="0" bIns="0" rtlCol="0" anchor="ctr"/>
          <a:lstStyle/>
          <a:p>
            <a:pPr algn="ctr">
              <a:spcBef>
                <a:spcPct val="20000"/>
              </a:spcBef>
            </a:pPr>
            <a:r>
              <a:rPr lang="en-US" altLang="ko-KR" sz="1400" b="1" dirty="0"/>
              <a:t>Delayed Decision Support</a:t>
            </a:r>
            <a:endParaRPr lang="ko-KR" altLang="en-US" sz="1400" b="1" dirty="0"/>
          </a:p>
        </p:txBody>
      </p:sp>
      <p:sp>
        <p:nvSpPr>
          <p:cNvPr id="80" name="설명선: 굽은 선(강조선) 12">
            <a:extLst>
              <a:ext uri="{FF2B5EF4-FFF2-40B4-BE49-F238E27FC236}">
                <a16:creationId xmlns:a16="http://schemas.microsoft.com/office/drawing/2014/main" id="{67286201-1546-DC71-FBEF-40288B1F93C1}"/>
              </a:ext>
            </a:extLst>
          </p:cNvPr>
          <p:cNvSpPr/>
          <p:nvPr/>
        </p:nvSpPr>
        <p:spPr>
          <a:xfrm>
            <a:off x="3386348" y="2885708"/>
            <a:ext cx="6113030" cy="547396"/>
          </a:xfrm>
          <a:prstGeom prst="accentCallout2">
            <a:avLst>
              <a:gd name="adj1" fmla="val 28656"/>
              <a:gd name="adj2" fmla="val -850"/>
              <a:gd name="adj3" fmla="val 28248"/>
              <a:gd name="adj4" fmla="val -16195"/>
              <a:gd name="adj5" fmla="val 64617"/>
              <a:gd name="adj6" fmla="val -199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Data Layer : 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Global </a:t>
            </a:r>
            <a:r>
              <a:rPr lang="ko-KR" altLang="en-US" sz="1200" b="1" dirty="0">
                <a:solidFill>
                  <a:schemeClr val="tx1"/>
                </a:solidFill>
              </a:rPr>
              <a:t>표준화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단일코드</a:t>
            </a:r>
            <a:r>
              <a:rPr lang="ko-KR" altLang="en-US" sz="1200" b="1" dirty="0">
                <a:solidFill>
                  <a:schemeClr val="tx1"/>
                </a:solidFill>
              </a:rPr>
              <a:t> 체계를 구현하기 위한 </a:t>
            </a:r>
            <a:r>
              <a:rPr lang="en-US" altLang="ko-KR" sz="1200" b="1" dirty="0">
                <a:solidFill>
                  <a:schemeClr val="tx1"/>
                </a:solidFill>
              </a:rPr>
              <a:t>Key Master </a:t>
            </a:r>
            <a:r>
              <a:rPr lang="ko-KR" altLang="en-US" sz="1200" b="1" dirty="0">
                <a:solidFill>
                  <a:schemeClr val="tx1"/>
                </a:solidFill>
              </a:rPr>
              <a:t>데이터 체계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정의</a:t>
            </a:r>
            <a:br>
              <a:rPr lang="ko-KR" altLang="en-US" sz="1200" b="1" dirty="0" smtClean="0">
                <a:solidFill>
                  <a:schemeClr val="tx1"/>
                </a:solidFill>
              </a:rPr>
            </a:br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</a:rPr>
              <a:t>- </a:t>
            </a:r>
            <a:r>
              <a:rPr lang="ko-KR" altLang="en-US" sz="1050" dirty="0" smtClean="0">
                <a:solidFill>
                  <a:schemeClr val="tx1"/>
                </a:solidFill>
              </a:rPr>
              <a:t>전사 통합 기준정보 관리 대상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</a:rPr>
              <a:t>기준정보 체계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</a:rPr>
              <a:t>데이터 관리 방안 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1" name="설명선: 굽은 선(강조선) 13">
            <a:extLst>
              <a:ext uri="{FF2B5EF4-FFF2-40B4-BE49-F238E27FC236}">
                <a16:creationId xmlns:a16="http://schemas.microsoft.com/office/drawing/2014/main" id="{5631F274-8756-D9FB-3B55-DCCE1456376A}"/>
              </a:ext>
            </a:extLst>
          </p:cNvPr>
          <p:cNvSpPr/>
          <p:nvPr/>
        </p:nvSpPr>
        <p:spPr>
          <a:xfrm>
            <a:off x="3386348" y="4290445"/>
            <a:ext cx="6113031" cy="547200"/>
          </a:xfrm>
          <a:prstGeom prst="accentCallout2">
            <a:avLst>
              <a:gd name="adj1" fmla="val 28656"/>
              <a:gd name="adj2" fmla="val -850"/>
              <a:gd name="adj3" fmla="val 28248"/>
              <a:gd name="adj4" fmla="val -16195"/>
              <a:gd name="adj5" fmla="val -66507"/>
              <a:gd name="adj6" fmla="val -241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Governance Layer : </a:t>
            </a:r>
          </a:p>
          <a:p>
            <a:pPr lvl="0"/>
            <a:r>
              <a:rPr lang="en-US" altLang="ko-KR" sz="1200" b="1" dirty="0" smtClean="0">
                <a:solidFill>
                  <a:prstClr val="black"/>
                </a:solidFill>
              </a:rPr>
              <a:t>Global Template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의 유지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보수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, 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운영 모니터링을 위한 운영 정책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조직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</a:rPr>
              <a:t/>
            </a:r>
            <a:br>
              <a:rPr lang="ko-KR" altLang="en-US" sz="1200" b="1" dirty="0">
                <a:solidFill>
                  <a:prstClr val="black"/>
                </a:solidFill>
              </a:rPr>
            </a:b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050" dirty="0">
                <a:solidFill>
                  <a:prstClr val="black"/>
                </a:solidFill>
              </a:rPr>
              <a:t>- </a:t>
            </a:r>
            <a:r>
              <a:rPr lang="en-US" altLang="ko-KR" sz="1050" dirty="0" smtClean="0">
                <a:solidFill>
                  <a:prstClr val="black"/>
                </a:solidFill>
              </a:rPr>
              <a:t>GT </a:t>
            </a:r>
            <a:r>
              <a:rPr lang="ko-KR" altLang="en-US" sz="1050" dirty="0" smtClean="0">
                <a:solidFill>
                  <a:prstClr val="black"/>
                </a:solidFill>
              </a:rPr>
              <a:t>조직 구조 및 </a:t>
            </a:r>
            <a:r>
              <a:rPr lang="en-US" altLang="ko-KR" sz="1050" dirty="0" smtClean="0">
                <a:solidFill>
                  <a:prstClr val="black"/>
                </a:solidFill>
              </a:rPr>
              <a:t>R&amp;R, </a:t>
            </a:r>
            <a:r>
              <a:rPr lang="ko-KR" altLang="en-US" sz="1050" dirty="0" smtClean="0">
                <a:solidFill>
                  <a:prstClr val="black"/>
                </a:solidFill>
              </a:rPr>
              <a:t>업무 프로세스 등</a:t>
            </a:r>
            <a:endParaRPr lang="ko-KR" altLang="en-US" sz="1200" b="1" dirty="0">
              <a:solidFill>
                <a:prstClr val="black"/>
              </a:solidFill>
            </a:endParaRPr>
          </a:p>
        </p:txBody>
      </p:sp>
      <p:sp>
        <p:nvSpPr>
          <p:cNvPr id="82" name="설명선: 굽은 선(강조선) 13">
            <a:extLst>
              <a:ext uri="{FF2B5EF4-FFF2-40B4-BE49-F238E27FC236}">
                <a16:creationId xmlns:a16="http://schemas.microsoft.com/office/drawing/2014/main" id="{5631F274-8756-D9FB-3B55-DCCE1456376A}"/>
              </a:ext>
            </a:extLst>
          </p:cNvPr>
          <p:cNvSpPr/>
          <p:nvPr/>
        </p:nvSpPr>
        <p:spPr>
          <a:xfrm>
            <a:off x="3386348" y="3588174"/>
            <a:ext cx="6113031" cy="547200"/>
          </a:xfrm>
          <a:prstGeom prst="accentCallout2">
            <a:avLst>
              <a:gd name="adj1" fmla="val 28656"/>
              <a:gd name="adj2" fmla="val -850"/>
              <a:gd name="adj3" fmla="val 28248"/>
              <a:gd name="adj4" fmla="val -16195"/>
              <a:gd name="adj5" fmla="val 4512"/>
              <a:gd name="adj6" fmla="val -1901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Application Layer : </a:t>
            </a:r>
          </a:p>
          <a:p>
            <a:pPr lvl="0"/>
            <a:r>
              <a:rPr lang="ko-KR" altLang="en-US" sz="1200" dirty="0">
                <a:solidFill>
                  <a:prstClr val="black"/>
                </a:solidFill>
              </a:rPr>
              <a:t>기준 프로세스와 </a:t>
            </a:r>
            <a:r>
              <a:rPr lang="ko-KR" altLang="en-US" sz="1200" dirty="0" err="1">
                <a:solidFill>
                  <a:prstClr val="black"/>
                </a:solidFill>
              </a:rPr>
              <a:t>기준정보가</a:t>
            </a:r>
            <a:r>
              <a:rPr lang="ko-KR" altLang="en-US" sz="1200" dirty="0">
                <a:solidFill>
                  <a:prstClr val="black"/>
                </a:solidFill>
              </a:rPr>
              <a:t> 내재화된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Global </a:t>
            </a:r>
            <a:r>
              <a:rPr lang="ko-KR" altLang="en-US" sz="1200" b="1" dirty="0">
                <a:solidFill>
                  <a:prstClr val="black"/>
                </a:solidFill>
              </a:rPr>
              <a:t>통합 시스템</a:t>
            </a:r>
          </a:p>
          <a:p>
            <a:pPr lvl="0"/>
            <a:r>
              <a:rPr lang="en-US" altLang="ko-KR" sz="1050" dirty="0" smtClean="0">
                <a:solidFill>
                  <a:prstClr val="black"/>
                </a:solidFill>
              </a:rPr>
              <a:t>- </a:t>
            </a:r>
            <a:r>
              <a:rPr lang="ko-KR" altLang="en-US" sz="1050" dirty="0" smtClean="0">
                <a:solidFill>
                  <a:prstClr val="black"/>
                </a:solidFill>
              </a:rPr>
              <a:t>시스템</a:t>
            </a:r>
            <a:r>
              <a:rPr lang="en-US" altLang="ko-KR" sz="1050" dirty="0" smtClean="0">
                <a:solidFill>
                  <a:prstClr val="black"/>
                </a:solidFill>
              </a:rPr>
              <a:t> </a:t>
            </a:r>
            <a:r>
              <a:rPr lang="ko-KR" altLang="en-US" sz="1050" dirty="0" smtClean="0">
                <a:solidFill>
                  <a:prstClr val="black"/>
                </a:solidFill>
              </a:rPr>
              <a:t>조직구조</a:t>
            </a:r>
            <a:r>
              <a:rPr lang="en-US" altLang="ko-KR" sz="1050" dirty="0" smtClean="0">
                <a:solidFill>
                  <a:prstClr val="black"/>
                </a:solidFill>
              </a:rPr>
              <a:t>, </a:t>
            </a:r>
            <a:r>
              <a:rPr lang="ko-KR" altLang="en-US" sz="1050" dirty="0" err="1" smtClean="0">
                <a:solidFill>
                  <a:prstClr val="black"/>
                </a:solidFill>
              </a:rPr>
              <a:t>기능요건</a:t>
            </a:r>
            <a:r>
              <a:rPr lang="en-US" altLang="ko-KR" sz="1050" dirty="0" smtClean="0">
                <a:solidFill>
                  <a:prstClr val="black"/>
                </a:solidFill>
              </a:rPr>
              <a:t>, </a:t>
            </a:r>
            <a:r>
              <a:rPr lang="ko-KR" altLang="en-US" sz="1050" dirty="0" err="1" smtClean="0">
                <a:solidFill>
                  <a:prstClr val="black"/>
                </a:solidFill>
              </a:rPr>
              <a:t>개발항목</a:t>
            </a:r>
            <a:r>
              <a:rPr lang="ko-KR" altLang="en-US" sz="1050" dirty="0" smtClean="0">
                <a:solidFill>
                  <a:prstClr val="black"/>
                </a:solidFill>
              </a:rPr>
              <a:t> 등</a:t>
            </a:r>
            <a:endParaRPr lang="ko-KR" altLang="en-US" sz="1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3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70057C7A-9CA6-438D-8150-585373BD3AC1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F99F5EC-B586-466A-BE34-F491BB142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GT</a:t>
            </a:r>
            <a:r>
              <a:rPr kumimoji="0" lang="en-US" altLang="ko-KR" sz="14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(Global </a:t>
            </a:r>
            <a:r>
              <a:rPr kumimoji="0" lang="en-US" altLang="ko-KR" sz="14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Template)</a:t>
            </a:r>
            <a:r>
              <a:rPr kumimoji="0" lang="en-US" altLang="ko-KR" sz="2000" b="1" i="0" u="none" strike="noStrike" kern="0" cap="none" spc="-138" normalizeH="0" baseline="0" noProof="0" dirty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운영 모델 </a:t>
            </a: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-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개념 </a:t>
            </a:r>
            <a:endParaRPr kumimoji="0" lang="ko-KR" altLang="en-US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B22D3811-9887-2B53-CC33-FF020A42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 smtClean="0"/>
              <a:t>GT</a:t>
            </a:r>
            <a:r>
              <a:rPr lang="ko-KR" altLang="en-US" spc="-150" dirty="0" smtClean="0"/>
              <a:t>의 유지보수는 </a:t>
            </a:r>
            <a:r>
              <a:rPr lang="en-US" altLang="ko-KR" spc="-150" dirty="0" err="1" smtClean="0"/>
              <a:t>Biz+Data</a:t>
            </a:r>
            <a:r>
              <a:rPr lang="en-US" altLang="ko-KR" spc="-150" dirty="0" smtClean="0"/>
              <a:t> </a:t>
            </a:r>
            <a:r>
              <a:rPr lang="ko-KR" altLang="en-US" spc="-150" dirty="0" smtClean="0"/>
              <a:t>영역과 </a:t>
            </a:r>
            <a:r>
              <a:rPr lang="en-US" altLang="ko-KR" spc="-150" dirty="0" smtClean="0"/>
              <a:t>IT </a:t>
            </a:r>
            <a:r>
              <a:rPr lang="ko-KR" altLang="en-US" spc="-150" dirty="0" smtClean="0"/>
              <a:t>영역</a:t>
            </a:r>
            <a:r>
              <a:rPr lang="en-US" altLang="ko-KR" spc="-150" dirty="0" smtClean="0"/>
              <a:t>(SAP/Legacy)</a:t>
            </a:r>
            <a:r>
              <a:rPr lang="ko-KR" altLang="en-US" spc="-150" dirty="0" smtClean="0"/>
              <a:t>으로 구성되며</a:t>
            </a:r>
            <a:r>
              <a:rPr lang="en-US" altLang="ko-KR" spc="-150" dirty="0" smtClean="0"/>
              <a:t> </a:t>
            </a:r>
            <a:r>
              <a:rPr lang="ko-KR" altLang="en-US" spc="-150" dirty="0" smtClean="0"/>
              <a:t>기 구축된 차세대 </a:t>
            </a:r>
            <a:r>
              <a:rPr lang="en-US" altLang="ko-KR" spc="-150" dirty="0" smtClean="0"/>
              <a:t>ERP </a:t>
            </a:r>
            <a:r>
              <a:rPr lang="ko-KR" altLang="en-US" spc="-150" dirty="0" smtClean="0"/>
              <a:t>시스템 뿐만 아니라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향후 확장될 다양한 </a:t>
            </a:r>
            <a:r>
              <a:rPr lang="ko-KR" altLang="en-US" spc="-150" dirty="0" err="1" smtClean="0"/>
              <a:t>프로젝트와도</a:t>
            </a:r>
            <a:r>
              <a:rPr lang="ko-KR" altLang="en-US" spc="-150" dirty="0" smtClean="0"/>
              <a:t> 긴밀한 연계가 되어야만 함 </a:t>
            </a:r>
            <a:endParaRPr lang="ko-KR" altLang="en-US" spc="-15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905510F-BC16-FE7F-981E-A71A49DA3CDF}"/>
              </a:ext>
            </a:extLst>
          </p:cNvPr>
          <p:cNvGrpSpPr/>
          <p:nvPr/>
        </p:nvGrpSpPr>
        <p:grpSpPr>
          <a:xfrm>
            <a:off x="301747" y="1635408"/>
            <a:ext cx="9302506" cy="338554"/>
            <a:chOff x="5139003" y="1394966"/>
            <a:chExt cx="4361243" cy="3385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9916F5-80B8-D869-569F-B40AC1898569}"/>
                </a:ext>
              </a:extLst>
            </p:cNvPr>
            <p:cNvSpPr txBox="1"/>
            <p:nvPr/>
          </p:nvSpPr>
          <p:spPr>
            <a:xfrm>
              <a:off x="5139003" y="1394966"/>
              <a:ext cx="43612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819187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</a:rPr>
                <a:t>Global Template </a:t>
              </a:r>
              <a:r>
                <a:rPr lang="ko-KR" altLang="en-US" sz="1600" b="1" kern="0" dirty="0" smtClean="0">
                  <a:solidFill>
                    <a:srgbClr val="000000"/>
                  </a:solidFill>
                  <a:latin typeface="맑은 고딕"/>
                  <a:ea typeface="맑은 고딕"/>
                </a:rPr>
                <a:t>조직의 </a:t>
              </a:r>
              <a:r>
                <a:rPr kumimoji="0" lang="ko-KR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</a:rPr>
                <a:t>기능 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</a:rPr>
                <a:t>및 </a:t>
              </a:r>
              <a:r>
                <a:rPr lang="ko-KR" altLang="en-US" sz="1600" b="1" kern="0" dirty="0" smtClean="0">
                  <a:solidFill>
                    <a:srgbClr val="000000"/>
                  </a:solidFill>
                  <a:latin typeface="맑은 고딕"/>
                  <a:ea typeface="맑은 고딕"/>
                </a:rPr>
                <a:t>운영 모델</a:t>
              </a: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54A044A-3288-05AA-9FAE-6456BDCEE54A}"/>
                </a:ext>
              </a:extLst>
            </p:cNvPr>
            <p:cNvCxnSpPr/>
            <p:nvPr/>
          </p:nvCxnSpPr>
          <p:spPr>
            <a:xfrm>
              <a:off x="5139003" y="1712464"/>
              <a:ext cx="4361243" cy="0"/>
            </a:xfrm>
            <a:prstGeom prst="line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4615C7E-3D93-EE51-4EC0-9E19C1F8A0F5}"/>
              </a:ext>
            </a:extLst>
          </p:cNvPr>
          <p:cNvGrpSpPr/>
          <p:nvPr/>
        </p:nvGrpSpPr>
        <p:grpSpPr>
          <a:xfrm>
            <a:off x="270224" y="2317043"/>
            <a:ext cx="1213733" cy="4099631"/>
            <a:chOff x="270224" y="2061481"/>
            <a:chExt cx="1213733" cy="435519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800805-5A75-AB19-4C86-602AE8A1F680}"/>
                </a:ext>
              </a:extLst>
            </p:cNvPr>
            <p:cNvSpPr>
              <a:spLocks/>
            </p:cNvSpPr>
            <p:nvPr/>
          </p:nvSpPr>
          <p:spPr>
            <a:xfrm>
              <a:off x="270224" y="2061481"/>
              <a:ext cx="1213733" cy="435519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E46DB1-92B1-B277-68B4-64D76E889444}"/>
                </a:ext>
              </a:extLst>
            </p:cNvPr>
            <p:cNvSpPr>
              <a:spLocks/>
            </p:cNvSpPr>
            <p:nvPr/>
          </p:nvSpPr>
          <p:spPr>
            <a:xfrm>
              <a:off x="331656" y="3035864"/>
              <a:ext cx="1088896" cy="23937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769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1200" b="1">
                  <a:solidFill>
                    <a:schemeClr val="bg1"/>
                  </a:solidFill>
                  <a:latin typeface="맑은 고딕"/>
                  <a:ea typeface="맑은 고딕"/>
                </a:rPr>
                <a:t>BD</a:t>
              </a:r>
              <a:endParaRPr lang="ko-KR" altLang="en-US" sz="1200" b="1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4D0E086-D2A1-DE26-5F5A-B733D4DE19A1}"/>
                </a:ext>
              </a:extLst>
            </p:cNvPr>
            <p:cNvSpPr>
              <a:spLocks/>
            </p:cNvSpPr>
            <p:nvPr/>
          </p:nvSpPr>
          <p:spPr>
            <a:xfrm>
              <a:off x="331656" y="3272249"/>
              <a:ext cx="1088896" cy="16817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588B9CE-4B4E-3C69-547D-C7A6CCEE46A8}"/>
                </a:ext>
              </a:extLst>
            </p:cNvPr>
            <p:cNvSpPr/>
            <p:nvPr/>
          </p:nvSpPr>
          <p:spPr>
            <a:xfrm>
              <a:off x="403658" y="3311277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YHT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3A51161-FE4D-7746-8FDC-B232AFBD5F2F}"/>
                </a:ext>
              </a:extLst>
            </p:cNvPr>
            <p:cNvSpPr/>
            <p:nvPr/>
          </p:nvSpPr>
          <p:spPr>
            <a:xfrm>
              <a:off x="403658" y="3592005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YCL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5F4E44D-2920-85EE-BE93-B0526C627BCC}"/>
                </a:ext>
              </a:extLst>
            </p:cNvPr>
            <p:cNvSpPr/>
            <p:nvPr/>
          </p:nvSpPr>
          <p:spPr>
            <a:xfrm>
              <a:off x="403658" y="3872734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KSL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AAB828-1B66-1F5B-D66A-33565BAD5BE9}"/>
                </a:ext>
              </a:extLst>
            </p:cNvPr>
            <p:cNvSpPr/>
            <p:nvPr/>
          </p:nvSpPr>
          <p:spPr>
            <a:xfrm>
              <a:off x="403658" y="4153462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TSL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DB3C932-CAFF-DF29-5157-733B53D43D94}"/>
                </a:ext>
              </a:extLst>
            </p:cNvPr>
            <p:cNvSpPr/>
            <p:nvPr/>
          </p:nvSpPr>
          <p:spPr>
            <a:xfrm>
              <a:off x="403658" y="4434190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YSS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A0EDFD-0B03-DDB8-9E7F-77AD4C0E1803}"/>
                </a:ext>
              </a:extLst>
            </p:cNvPr>
            <p:cNvSpPr/>
            <p:nvPr/>
          </p:nvSpPr>
          <p:spPr>
            <a:xfrm>
              <a:off x="403658" y="4714920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KSI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F328686-E9F8-FFB3-FE4B-8964A9B89BB4}"/>
                </a:ext>
              </a:extLst>
            </p:cNvPr>
            <p:cNvSpPr>
              <a:spLocks/>
            </p:cNvSpPr>
            <p:nvPr/>
          </p:nvSpPr>
          <p:spPr>
            <a:xfrm>
              <a:off x="331656" y="5039883"/>
              <a:ext cx="1088896" cy="23937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769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/>
                  <a:ea typeface="맑은 고딕"/>
                </a:rPr>
                <a:t>VN</a:t>
              </a:r>
              <a:endParaRPr lang="ko-KR" altLang="en-US" sz="1200" b="1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1851E66-4F0E-ACE6-F8DA-222EC2C885F6}"/>
                </a:ext>
              </a:extLst>
            </p:cNvPr>
            <p:cNvSpPr>
              <a:spLocks/>
            </p:cNvSpPr>
            <p:nvPr/>
          </p:nvSpPr>
          <p:spPr>
            <a:xfrm>
              <a:off x="331656" y="5276269"/>
              <a:ext cx="1088896" cy="11069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5055A59-400F-71E0-EB34-ADA572187E91}"/>
                </a:ext>
              </a:extLst>
            </p:cNvPr>
            <p:cNvGrpSpPr/>
            <p:nvPr/>
          </p:nvGrpSpPr>
          <p:grpSpPr>
            <a:xfrm>
              <a:off x="403658" y="5315296"/>
              <a:ext cx="944892" cy="1042271"/>
              <a:chOff x="817056" y="2626809"/>
              <a:chExt cx="944892" cy="1068322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0CF6C75-4104-6E90-FD8A-F93A6CCE7F22}"/>
                  </a:ext>
                </a:extLst>
              </p:cNvPr>
              <p:cNvSpPr/>
              <p:nvPr/>
            </p:nvSpPr>
            <p:spPr>
              <a:xfrm>
                <a:off x="817056" y="2626809"/>
                <a:ext cx="944892" cy="2050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chemeClr val="tx1"/>
                    </a:solidFill>
                  </a:rPr>
                  <a:t>YNL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185A30E-D2F5-AEBB-749F-076FCA68914D}"/>
                  </a:ext>
                </a:extLst>
              </p:cNvPr>
              <p:cNvSpPr/>
              <p:nvPr/>
            </p:nvSpPr>
            <p:spPr>
              <a:xfrm>
                <a:off x="817056" y="2914554"/>
                <a:ext cx="944892" cy="2050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chemeClr val="tx1"/>
                    </a:solidFill>
                  </a:rPr>
                  <a:t>YHL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60922A8-61AF-FF82-F3D9-AA361CAE6C52}"/>
                  </a:ext>
                </a:extLst>
              </p:cNvPr>
              <p:cNvSpPr/>
              <p:nvPr/>
            </p:nvSpPr>
            <p:spPr>
              <a:xfrm>
                <a:off x="817056" y="3202299"/>
                <a:ext cx="944892" cy="2050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chemeClr val="tx1"/>
                    </a:solidFill>
                  </a:rPr>
                  <a:t>YBL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49D4C51-83CE-673F-2FC9-C841D8159485}"/>
                  </a:ext>
                </a:extLst>
              </p:cNvPr>
              <p:cNvSpPr/>
              <p:nvPr/>
            </p:nvSpPr>
            <p:spPr>
              <a:xfrm>
                <a:off x="817056" y="3490044"/>
                <a:ext cx="944892" cy="2050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chemeClr val="tx1"/>
                    </a:solidFill>
                  </a:rPr>
                  <a:t>BSL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336F976-8B09-B57A-305C-D7C001A0A74E}"/>
                </a:ext>
              </a:extLst>
            </p:cNvPr>
            <p:cNvSpPr>
              <a:spLocks/>
            </p:cNvSpPr>
            <p:nvPr/>
          </p:nvSpPr>
          <p:spPr>
            <a:xfrm>
              <a:off x="331656" y="2387493"/>
              <a:ext cx="1088896" cy="5625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6B5EC50-AAC0-0F6F-64B6-8457FA141894}"/>
                </a:ext>
              </a:extLst>
            </p:cNvPr>
            <p:cNvSpPr/>
            <p:nvPr/>
          </p:nvSpPr>
          <p:spPr>
            <a:xfrm>
              <a:off x="403658" y="2428042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YOH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481689A-3227-15F4-7A5B-0452ECF89859}"/>
                </a:ext>
              </a:extLst>
            </p:cNvPr>
            <p:cNvSpPr/>
            <p:nvPr/>
          </p:nvSpPr>
          <p:spPr>
            <a:xfrm>
              <a:off x="403658" y="2708770"/>
              <a:ext cx="944892" cy="2000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YOK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F686B0F-614D-F3B0-FD6F-8E28501F3FEE}"/>
                </a:ext>
              </a:extLst>
            </p:cNvPr>
            <p:cNvSpPr>
              <a:spLocks/>
            </p:cNvSpPr>
            <p:nvPr/>
          </p:nvSpPr>
          <p:spPr>
            <a:xfrm>
              <a:off x="331656" y="2150675"/>
              <a:ext cx="1088896" cy="23937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KR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F30B31-8C1E-5175-CD96-C03AEB192520}"/>
              </a:ext>
            </a:extLst>
          </p:cNvPr>
          <p:cNvSpPr/>
          <p:nvPr/>
        </p:nvSpPr>
        <p:spPr>
          <a:xfrm>
            <a:off x="273050" y="2011944"/>
            <a:ext cx="1214124" cy="305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국내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해외 법인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49141F-A240-02D5-B46E-21D0E8A67533}"/>
              </a:ext>
            </a:extLst>
          </p:cNvPr>
          <p:cNvSpPr>
            <a:spLocks/>
          </p:cNvSpPr>
          <p:nvPr/>
        </p:nvSpPr>
        <p:spPr>
          <a:xfrm>
            <a:off x="2700792" y="2011944"/>
            <a:ext cx="4618716" cy="440473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2780256" y="2081944"/>
            <a:ext cx="4459789" cy="3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Business</a:t>
            </a:r>
            <a:r>
              <a:rPr kumimoji="0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+ Data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22FA954-0824-3537-92EA-01B4DD521CAA}"/>
              </a:ext>
            </a:extLst>
          </p:cNvPr>
          <p:cNvSpPr/>
          <p:nvPr/>
        </p:nvSpPr>
        <p:spPr>
          <a:xfrm>
            <a:off x="2780256" y="2412771"/>
            <a:ext cx="4459789" cy="1323261"/>
          </a:xfrm>
          <a:prstGeom prst="rect">
            <a:avLst/>
          </a:prstGeom>
          <a:solidFill>
            <a:schemeClr val="bg1"/>
          </a:solidFill>
          <a:ln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0" algn="l" defTabSz="95776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2780256" y="4397971"/>
            <a:ext cx="4459789" cy="3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IT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6" name="오른쪽 화살표 35"/>
          <p:cNvSpPr/>
          <p:nvPr/>
        </p:nvSpPr>
        <p:spPr>
          <a:xfrm flipH="1">
            <a:off x="1545389" y="4565408"/>
            <a:ext cx="1065370" cy="740775"/>
          </a:xfrm>
          <a:prstGeom prst="rightArrow">
            <a:avLst>
              <a:gd name="adj1" fmla="val 50000"/>
              <a:gd name="adj2" fmla="val 3785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888447" y="2469574"/>
            <a:ext cx="4243407" cy="450116"/>
            <a:chOff x="2820235" y="2469574"/>
            <a:chExt cx="4243407" cy="450116"/>
          </a:xfrm>
        </p:grpSpPr>
        <p:sp>
          <p:nvSpPr>
            <p:cNvPr id="37" name="모서리가 둥근 직사각형 308">
              <a:extLst>
                <a:ext uri="{FF2B5EF4-FFF2-40B4-BE49-F238E27FC236}">
                  <a16:creationId xmlns:a16="http://schemas.microsoft.com/office/drawing/2014/main" id="{B2EF7033-6ACD-139F-0ACD-176362DC756A}"/>
                </a:ext>
              </a:extLst>
            </p:cNvPr>
            <p:cNvSpPr/>
            <p:nvPr/>
          </p:nvSpPr>
          <p:spPr>
            <a:xfrm>
              <a:off x="2820235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표준 프로세스 통</a:t>
              </a:r>
              <a:r>
                <a:rPr lang="ko-KR" altLang="en-US" sz="1200" b="1" dirty="0">
                  <a:solidFill>
                    <a:srgbClr val="000000"/>
                  </a:solidFill>
                  <a:latin typeface="맑은 고딕"/>
                  <a:ea typeface="맑은 고딕"/>
                </a:rPr>
                <a:t>합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8" name="모서리가 둥근 직사각형 313">
              <a:extLst>
                <a:ext uri="{FF2B5EF4-FFF2-40B4-BE49-F238E27FC236}">
                  <a16:creationId xmlns:a16="http://schemas.microsoft.com/office/drawing/2014/main" id="{308B1D39-E3BD-D2FF-39DE-C800CE7F07F5}"/>
                </a:ext>
              </a:extLst>
            </p:cNvPr>
            <p:cNvSpPr/>
            <p:nvPr/>
          </p:nvSpPr>
          <p:spPr>
            <a:xfrm>
              <a:off x="5742691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프로세스</a:t>
              </a:r>
              <a:r>
                <a:rPr lang="en-US" altLang="ko-KR" sz="1200" b="1" dirty="0">
                  <a:solidFill>
                    <a:srgbClr val="000000"/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1200" b="1" dirty="0">
                  <a:solidFill>
                    <a:srgbClr val="000000"/>
                  </a:solidFill>
                  <a:latin typeface="맑은 고딕"/>
                  <a:ea typeface="맑은 고딕"/>
                </a:rPr>
              </a:b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혁신 수행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9" name="모서리가 둥근 직사각형 317">
              <a:extLst>
                <a:ext uri="{FF2B5EF4-FFF2-40B4-BE49-F238E27FC236}">
                  <a16:creationId xmlns:a16="http://schemas.microsoft.com/office/drawing/2014/main" id="{81B1EB14-5601-D64A-5ADB-4AD842AF7245}"/>
                </a:ext>
              </a:extLst>
            </p:cNvPr>
            <p:cNvSpPr/>
            <p:nvPr/>
          </p:nvSpPr>
          <p:spPr>
            <a:xfrm>
              <a:off x="4281463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기준정보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통제 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&amp;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lang="ko-KR" altLang="en-US" sz="1200" b="1" dirty="0" smtClean="0">
                  <a:solidFill>
                    <a:srgbClr val="000000"/>
                  </a:solidFill>
                  <a:latin typeface="맑은 고딕"/>
                  <a:ea typeface="맑은 고딕"/>
                </a:rPr>
                <a:t>운영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2780256" y="4790394"/>
            <a:ext cx="4459789" cy="1518331"/>
            <a:chOff x="2780255" y="4790394"/>
            <a:chExt cx="4459789" cy="1518331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2780255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5049881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44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2893588" y="4898189"/>
            <a:ext cx="1980453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SAP ERP </a:t>
            </a:r>
            <a:r>
              <a:rPr lang="ko-KR" altLang="en-US" sz="1200" b="1" dirty="0" smtClean="0">
                <a:latin typeface="맑은 고딕"/>
                <a:ea typeface="맑은 고딕"/>
              </a:rPr>
              <a:t>유</a:t>
            </a: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지보수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5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5151401" y="4898189"/>
            <a:ext cx="1980453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Legacy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유지보수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/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en-US" altLang="ko-KR" sz="9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(GLOSTOME,</a:t>
            </a:r>
            <a:r>
              <a:rPr kumimoji="0" lang="en-US" altLang="ko-KR" sz="90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 FRP, e-Accounting </a:t>
            </a:r>
            <a:r>
              <a:rPr kumimoji="0" lang="ko-KR" altLang="en-US" sz="90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등</a:t>
            </a:r>
            <a:r>
              <a:rPr kumimoji="0" lang="en-US" altLang="ko-KR" sz="90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4320A7-52A0-6D2B-7CC7-143E0D51E00C}"/>
              </a:ext>
            </a:extLst>
          </p:cNvPr>
          <p:cNvSpPr txBox="1"/>
          <p:nvPr/>
        </p:nvSpPr>
        <p:spPr>
          <a:xfrm>
            <a:off x="2863560" y="2966936"/>
            <a:ext cx="1370723" cy="756073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 anchorCtr="0">
            <a:noAutofit/>
          </a:bodyPr>
          <a:lstStyle>
            <a:defPPr>
              <a:defRPr lang="en-US"/>
            </a:defPPr>
            <a:lvl1pPr marL="92075" indent="-92075">
              <a:buFont typeface="Wingdings" panose="05000000000000000000" pitchFamily="2" charset="2"/>
              <a:buChar char="§"/>
              <a:defRPr b="1">
                <a:latin typeface="+mn-ea"/>
              </a:defRPr>
            </a:lvl1pPr>
          </a:lstStyle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표준프로세스변경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/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검토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영향도 분석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현업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,IT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변경 심의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글로벌</a:t>
            </a:r>
            <a:r>
              <a:rPr lang="en-US" altLang="ko-KR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템플릿의 유지</a:t>
            </a:r>
            <a:r>
              <a:rPr lang="en-US" altLang="ko-KR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보수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4320A7-52A0-6D2B-7CC7-143E0D51E00C}"/>
              </a:ext>
            </a:extLst>
          </p:cNvPr>
          <p:cNvSpPr txBox="1"/>
          <p:nvPr/>
        </p:nvSpPr>
        <p:spPr>
          <a:xfrm>
            <a:off x="4320448" y="2966936"/>
            <a:ext cx="1370723" cy="756073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 anchorCtr="0">
            <a:noAutofit/>
          </a:bodyPr>
          <a:lstStyle>
            <a:defPPr>
              <a:defRPr lang="en-US"/>
            </a:defPPr>
            <a:lvl1pPr marL="92075" indent="-92075">
              <a:buFont typeface="Wingdings" panose="05000000000000000000" pitchFamily="2" charset="2"/>
              <a:buChar char="§"/>
              <a:defRPr b="1">
                <a:latin typeface="+mn-ea"/>
              </a:defRPr>
            </a:lvl1pPr>
          </a:lstStyle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통합 기준정보 체계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유지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보수 및 이행 </a:t>
            </a:r>
            <a: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모니터링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기준정보 생성 및 변경</a:t>
            </a: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관리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F85CA3-CE3B-CB8C-061B-6A2C773D7D63}"/>
              </a:ext>
            </a:extLst>
          </p:cNvPr>
          <p:cNvSpPr txBox="1"/>
          <p:nvPr/>
        </p:nvSpPr>
        <p:spPr>
          <a:xfrm>
            <a:off x="5828416" y="2966936"/>
            <a:ext cx="1404653" cy="756073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 anchorCtr="0">
            <a:noAutofit/>
          </a:bodyPr>
          <a:lstStyle/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지속적인</a:t>
            </a:r>
            <a:r>
              <a:rPr kumimoji="0" lang="en-US" altLang="ko-KR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프로세스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</a:rPr>
              <a:t>업무 혁신 과제 발굴 및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</a:rPr>
              <a:t>이행 </a:t>
            </a:r>
            <a:endParaRPr lang="en-US" altLang="ko-KR" sz="90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신규법인 </a:t>
            </a:r>
            <a:r>
              <a:rPr kumimoji="0" lang="en-US" altLang="ko-KR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Roll-in </a:t>
            </a:r>
            <a:r>
              <a:rPr kumimoji="0" lang="ko-KR" altLang="en-US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지원</a:t>
            </a:r>
            <a:r>
              <a:rPr kumimoji="0" lang="en-US" altLang="ko-KR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br>
              <a:rPr kumimoji="0" lang="en-US" altLang="ko-KR" sz="9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CB498F-1F9D-4897-54FE-5D0E27F6A8C0}"/>
              </a:ext>
            </a:extLst>
          </p:cNvPr>
          <p:cNvSpPr txBox="1"/>
          <p:nvPr/>
        </p:nvSpPr>
        <p:spPr>
          <a:xfrm>
            <a:off x="2825537" y="5410101"/>
            <a:ext cx="2010403" cy="774971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 anchorCtr="0">
            <a:noAutofit/>
          </a:bodyPr>
          <a:lstStyle>
            <a:defPPr>
              <a:defRPr lang="en-US"/>
            </a:defPPr>
            <a:lvl1pPr marL="92075" indent="-92075">
              <a:buFont typeface="Wingdings" panose="05000000000000000000" pitchFamily="2" charset="2"/>
              <a:buChar char="§"/>
              <a:defRPr b="1">
                <a:latin typeface="+mn-ea"/>
              </a:defRPr>
            </a:lvl1pPr>
          </a:lstStyle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현업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ERP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활용 지원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현업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PI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ERP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변경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보완 요청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SR)</a:t>
            </a:r>
            <a:b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사전 검토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접수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Global Template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영향도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분석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명확화</a:t>
            </a: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CR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생성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및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분배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(to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운영 팀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개발 결과 검토 및 운영 서버 배포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A0605F-B4DD-07B2-7E69-76BEAEC84014}"/>
              </a:ext>
            </a:extLst>
          </p:cNvPr>
          <p:cNvSpPr txBox="1"/>
          <p:nvPr/>
        </p:nvSpPr>
        <p:spPr>
          <a:xfrm>
            <a:off x="270224" y="6346075"/>
            <a:ext cx="4153878" cy="319376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R="0" lvl="0" algn="l" defTabSz="95776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1) SR : Service Request   2)CR : Change Request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CB498F-1F9D-4897-54FE-5D0E27F6A8C0}"/>
              </a:ext>
            </a:extLst>
          </p:cNvPr>
          <p:cNvSpPr txBox="1"/>
          <p:nvPr/>
        </p:nvSpPr>
        <p:spPr>
          <a:xfrm>
            <a:off x="5121451" y="5410101"/>
            <a:ext cx="2010403" cy="774971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 anchorCtr="0">
            <a:noAutofit/>
          </a:bodyPr>
          <a:lstStyle>
            <a:defPPr>
              <a:defRPr lang="en-US"/>
            </a:defPPr>
            <a:lvl1pPr marL="92075" indent="-92075">
              <a:buFont typeface="Wingdings" panose="05000000000000000000" pitchFamily="2" charset="2"/>
              <a:buChar char="§"/>
              <a:defRPr b="1">
                <a:latin typeface="+mn-ea"/>
              </a:defRPr>
            </a:lvl1pPr>
          </a:lstStyle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Legacy </a:t>
            </a: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활용 지원 및 변경</a:t>
            </a: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보안 요청</a:t>
            </a:r>
            <a: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접수 및 사전 검토 </a:t>
            </a:r>
            <a:endParaRPr lang="en-US" altLang="ko-KR" sz="900" b="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0" dirty="0" smtClean="0">
                <a:solidFill>
                  <a:srgbClr val="000000"/>
                </a:solidFill>
                <a:latin typeface="맑은 고딕"/>
                <a:ea typeface="맑은 고딕"/>
              </a:rPr>
              <a:t>인프라 운영 관리</a:t>
            </a:r>
            <a:endParaRPr lang="en-US" altLang="ko-KR" sz="900" b="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개발 표준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I/F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표준 수립 및 </a:t>
            </a: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준수 </a:t>
            </a:r>
            <a:r>
              <a:rPr lang="en-US" altLang="ko-KR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br>
              <a:rPr lang="en-US" altLang="ko-KR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900" b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여부 모니터링</a:t>
            </a:r>
            <a:endParaRPr lang="en-US" altLang="ko-KR" sz="900" b="0" noProof="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2075" marR="0" lvl="0" indent="-92075" algn="l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3" name="오른쪽 화살표 52"/>
          <p:cNvSpPr/>
          <p:nvPr/>
        </p:nvSpPr>
        <p:spPr>
          <a:xfrm>
            <a:off x="1592148" y="2642833"/>
            <a:ext cx="1065370" cy="740775"/>
          </a:xfrm>
          <a:prstGeom prst="rightArrow">
            <a:avLst>
              <a:gd name="adj1" fmla="val 50000"/>
              <a:gd name="adj2" fmla="val 3785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A296DD-6F60-B6CE-012B-6671E06C1559}"/>
              </a:ext>
            </a:extLst>
          </p:cNvPr>
          <p:cNvSpPr txBox="1"/>
          <p:nvPr/>
        </p:nvSpPr>
        <p:spPr>
          <a:xfrm>
            <a:off x="1516891" y="3306295"/>
            <a:ext cx="1150967" cy="598386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>
            <a:noAutofit/>
          </a:bodyPr>
          <a:lstStyle/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프로세스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/ </a:t>
            </a: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시스템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기능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변경 요청</a:t>
            </a:r>
            <a:endParaRPr lang="en-US" altLang="ko-KR" sz="900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통합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관리 대상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기준정보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생성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변경 요청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(Material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Master,</a:t>
            </a:r>
            <a:b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BP, BOM, CoA)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A296DD-6F60-B6CE-012B-6671E06C1559}"/>
              </a:ext>
            </a:extLst>
          </p:cNvPr>
          <p:cNvSpPr txBox="1"/>
          <p:nvPr/>
        </p:nvSpPr>
        <p:spPr>
          <a:xfrm>
            <a:off x="1516891" y="5265784"/>
            <a:ext cx="1150967" cy="598386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>
            <a:noAutofit/>
          </a:bodyPr>
          <a:lstStyle/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요청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사항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(SR)</a:t>
            </a: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대응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및 결과 공유</a:t>
            </a:r>
            <a:endParaRPr kumimoji="0" lang="en-US" altLang="ko-KR" sz="9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표준 실행 준수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모니터링</a:t>
            </a:r>
            <a:endParaRPr lang="en-US" altLang="ko-KR" sz="900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사용자 </a:t>
            </a:r>
            <a:r>
              <a:rPr lang="ko-KR" altLang="en-US" sz="900" dirty="0" err="1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권한관리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C0D36C85-5A87-2D9A-BA6B-A78DD7C7BBD9}"/>
              </a:ext>
            </a:extLst>
          </p:cNvPr>
          <p:cNvCxnSpPr/>
          <p:nvPr/>
        </p:nvCxnSpPr>
        <p:spPr>
          <a:xfrm flipV="1">
            <a:off x="3157860" y="3784028"/>
            <a:ext cx="0" cy="50400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DD70199-8E71-44B9-A4DD-86564032A9F5}"/>
              </a:ext>
            </a:extLst>
          </p:cNvPr>
          <p:cNvSpPr txBox="1"/>
          <p:nvPr/>
        </p:nvSpPr>
        <p:spPr>
          <a:xfrm>
            <a:off x="3201135" y="3918529"/>
            <a:ext cx="448150" cy="260769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L="0" marR="0" lvl="0" indent="0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업무 프로세스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기준정보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변경 심의 요청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0D36C85-5A87-2D9A-BA6B-A78DD7C7BBD9}"/>
              </a:ext>
            </a:extLst>
          </p:cNvPr>
          <p:cNvCxnSpPr/>
          <p:nvPr/>
        </p:nvCxnSpPr>
        <p:spPr>
          <a:xfrm>
            <a:off x="4631060" y="3807019"/>
            <a:ext cx="0" cy="50400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DD70199-8E71-44B9-A4DD-86564032A9F5}"/>
              </a:ext>
            </a:extLst>
          </p:cNvPr>
          <p:cNvSpPr txBox="1"/>
          <p:nvPr/>
        </p:nvSpPr>
        <p:spPr>
          <a:xfrm>
            <a:off x="4703525" y="3918529"/>
            <a:ext cx="448150" cy="260769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L="0" marR="0" lvl="0" indent="0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심의 결과 공유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/>
            </a:r>
            <a:b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및 반영 요청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A68264C-C563-4DBD-3EC4-26E9F72E5E35}"/>
              </a:ext>
            </a:extLst>
          </p:cNvPr>
          <p:cNvGrpSpPr/>
          <p:nvPr/>
        </p:nvGrpSpPr>
        <p:grpSpPr>
          <a:xfrm>
            <a:off x="6058123" y="3784028"/>
            <a:ext cx="477473" cy="504000"/>
            <a:chOff x="5930107" y="3784028"/>
            <a:chExt cx="477473" cy="396000"/>
          </a:xfrm>
        </p:grpSpPr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C1F61F21-F925-456B-C8F1-CE4C30BBA2FB}"/>
                </a:ext>
              </a:extLst>
            </p:cNvPr>
            <p:cNvCxnSpPr/>
            <p:nvPr/>
          </p:nvCxnSpPr>
          <p:spPr>
            <a:xfrm>
              <a:off x="5930107" y="3784028"/>
              <a:ext cx="0" cy="39600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614E1AA-B2C7-ECC7-E5A3-5D10A9A45F44}"/>
                </a:ext>
              </a:extLst>
            </p:cNvPr>
            <p:cNvSpPr txBox="1"/>
            <p:nvPr/>
          </p:nvSpPr>
          <p:spPr>
            <a:xfrm>
              <a:off x="6018242" y="3861337"/>
              <a:ext cx="389338" cy="2607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2000" tIns="36000" rIns="72000" bIns="36000" rtlCol="0" anchor="ctr">
              <a:noAutofit/>
            </a:bodyPr>
            <a:lstStyle/>
            <a:p>
              <a:pPr marL="0" marR="0" lvl="0" indent="0" defTabSz="957769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혁신과제 추진</a:t>
              </a:r>
              <a:r>
                <a:rPr kumimoji="0" lang="en-US" altLang="ko-KR" sz="1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/>
              </a:r>
              <a:br>
                <a:rPr kumimoji="0" lang="en-US" altLang="ko-KR" sz="1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</a:br>
              <a:r>
                <a:rPr kumimoji="0" lang="ko-KR" altLang="en-US" sz="1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협업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35F8C5D-1632-AC48-E033-26F095930671}"/>
              </a:ext>
            </a:extLst>
          </p:cNvPr>
          <p:cNvSpPr>
            <a:spLocks/>
          </p:cNvSpPr>
          <p:nvPr/>
        </p:nvSpPr>
        <p:spPr>
          <a:xfrm>
            <a:off x="8418826" y="2317045"/>
            <a:ext cx="1213733" cy="409963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D2037EB7-B596-4F70-21B8-FB3D54237F20}"/>
              </a:ext>
            </a:extLst>
          </p:cNvPr>
          <p:cNvGrpSpPr/>
          <p:nvPr/>
        </p:nvGrpSpPr>
        <p:grpSpPr>
          <a:xfrm>
            <a:off x="8470475" y="4203765"/>
            <a:ext cx="1088896" cy="1791823"/>
            <a:chOff x="8478570" y="3669435"/>
            <a:chExt cx="1088896" cy="1791823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5C256FE-AD97-FC48-3738-2E713860A8F0}"/>
                </a:ext>
              </a:extLst>
            </p:cNvPr>
            <p:cNvSpPr>
              <a:spLocks/>
            </p:cNvSpPr>
            <p:nvPr/>
          </p:nvSpPr>
          <p:spPr>
            <a:xfrm>
              <a:off x="8478570" y="3669435"/>
              <a:ext cx="1088896" cy="31608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769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/>
                  <a:ea typeface="맑은 고딕"/>
                </a:rPr>
                <a:t>Material</a:t>
              </a:r>
              <a:br>
                <a:rPr lang="en-US" altLang="ko-KR" sz="1200" b="1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200" b="1" dirty="0">
                  <a:solidFill>
                    <a:schemeClr val="bg1"/>
                  </a:solidFill>
                  <a:latin typeface="맑은 고딕"/>
                  <a:ea typeface="맑은 고딕"/>
                </a:rPr>
                <a:t>Group</a:t>
              </a:r>
              <a:endParaRPr lang="ko-KR" altLang="en-US" sz="1200" b="1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90937CBF-2DCA-A8B5-BAE4-E357B339E6A1}"/>
                </a:ext>
              </a:extLst>
            </p:cNvPr>
            <p:cNvGrpSpPr/>
            <p:nvPr/>
          </p:nvGrpSpPr>
          <p:grpSpPr>
            <a:xfrm>
              <a:off x="8478570" y="3991032"/>
              <a:ext cx="1088896" cy="1470226"/>
              <a:chOff x="8478570" y="4243913"/>
              <a:chExt cx="1088896" cy="2014462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3ADAB520-4B56-B948-3BBB-09C1B6A65C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8570" y="4243913"/>
                <a:ext cx="1088896" cy="196507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5776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9BDA3679-F6D4-B68B-A0DB-D37EAAFB2CF9}"/>
                  </a:ext>
                </a:extLst>
              </p:cNvPr>
              <p:cNvSpPr/>
              <p:nvPr/>
            </p:nvSpPr>
            <p:spPr>
              <a:xfrm>
                <a:off x="8550572" y="4294879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SDF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D60005FD-7DA1-9C1F-1E54-7615C3DD80EC}"/>
                  </a:ext>
                </a:extLst>
              </p:cNvPr>
              <p:cNvSpPr/>
              <p:nvPr/>
            </p:nvSpPr>
            <p:spPr>
              <a:xfrm>
                <a:off x="8550572" y="4540914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YSF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89563384-438E-E13E-D47A-428651639F94}"/>
                  </a:ext>
                </a:extLst>
              </p:cNvPr>
              <p:cNvSpPr/>
              <p:nvPr/>
            </p:nvSpPr>
            <p:spPr>
              <a:xfrm>
                <a:off x="8550572" y="4786948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STL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E1FF0393-B7AF-DECF-A2D0-FB7FD670B1CD}"/>
                  </a:ext>
                </a:extLst>
              </p:cNvPr>
              <p:cNvSpPr/>
              <p:nvPr/>
            </p:nvSpPr>
            <p:spPr>
              <a:xfrm>
                <a:off x="8550572" y="5032983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YPL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228F1AD-FF9F-1B37-715C-225031881612}"/>
                  </a:ext>
                </a:extLst>
              </p:cNvPr>
              <p:cNvSpPr/>
              <p:nvPr/>
            </p:nvSpPr>
            <p:spPr>
              <a:xfrm>
                <a:off x="8550572" y="5279017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YGA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42C2292B-DFA3-8878-D7BA-A598A8E2D9D2}"/>
                  </a:ext>
                </a:extLst>
              </p:cNvPr>
              <p:cNvSpPr/>
              <p:nvPr/>
            </p:nvSpPr>
            <p:spPr>
              <a:xfrm>
                <a:off x="8550572" y="5525052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SEL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04675055-9941-1B6E-8B4A-B741019892BD}"/>
                  </a:ext>
                </a:extLst>
              </p:cNvPr>
              <p:cNvSpPr/>
              <p:nvPr/>
            </p:nvSpPr>
            <p:spPr>
              <a:xfrm>
                <a:off x="8550572" y="5771085"/>
                <a:ext cx="944892" cy="200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SWL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ABE9749-121D-D24E-B4E1-740542CBE775}"/>
                  </a:ext>
                </a:extLst>
              </p:cNvPr>
              <p:cNvSpPr txBox="1"/>
              <p:nvPr/>
            </p:nvSpPr>
            <p:spPr>
              <a:xfrm>
                <a:off x="8944881" y="5948596"/>
                <a:ext cx="161622" cy="30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"/>
                  </a:lnSpc>
                </a:pPr>
                <a:r>
                  <a:rPr lang="en-US" altLang="ko-KR" sz="1000" b="1" dirty="0"/>
                  <a:t>.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ko-KR" sz="1000" b="1" dirty="0"/>
                  <a:t>.</a:t>
                </a:r>
              </a:p>
              <a:p>
                <a:pPr>
                  <a:lnSpc>
                    <a:spcPts val="300"/>
                  </a:lnSpc>
                </a:pPr>
                <a:r>
                  <a:rPr lang="en-US" altLang="ko-KR" sz="1000" b="1" dirty="0"/>
                  <a:t>.</a:t>
                </a:r>
                <a:endParaRPr lang="ko-KR" altLang="en-US" sz="1000" b="1" dirty="0"/>
              </a:p>
            </p:txBody>
          </p:sp>
        </p:grp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C95CD90-959F-1551-6DE9-F1D1511467F0}"/>
              </a:ext>
            </a:extLst>
          </p:cNvPr>
          <p:cNvSpPr>
            <a:spLocks/>
          </p:cNvSpPr>
          <p:nvPr/>
        </p:nvSpPr>
        <p:spPr>
          <a:xfrm>
            <a:off x="8470475" y="6044234"/>
            <a:ext cx="1088896" cy="31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769">
              <a:spcBef>
                <a:spcPts val="300"/>
              </a:spcBef>
              <a:spcAft>
                <a:spcPts val="300"/>
              </a:spcAft>
            </a:pP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</a:rPr>
              <a:t>Youngone</a:t>
            </a:r>
            <a:b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</a:rPr>
              <a:t>Outdoor</a:t>
            </a:r>
            <a:endParaRPr lang="ko-KR" altLang="en-US" sz="1200" b="1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7AD4280-3364-A30C-45B8-A7945290279A}"/>
              </a:ext>
            </a:extLst>
          </p:cNvPr>
          <p:cNvSpPr>
            <a:spLocks/>
          </p:cNvSpPr>
          <p:nvPr/>
        </p:nvSpPr>
        <p:spPr>
          <a:xfrm>
            <a:off x="8480066" y="2388473"/>
            <a:ext cx="1088896" cy="31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769">
              <a:spcBef>
                <a:spcPts val="300"/>
              </a:spcBef>
              <a:spcAft>
                <a:spcPts val="300"/>
              </a:spcAft>
            </a:pP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</a:rPr>
              <a:t>APM</a:t>
            </a:r>
            <a:endParaRPr lang="ko-KR" altLang="en-US" sz="1200" b="1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F2366B2-6F01-E8B2-F610-4173BE040605}"/>
              </a:ext>
            </a:extLst>
          </p:cNvPr>
          <p:cNvSpPr>
            <a:spLocks/>
          </p:cNvSpPr>
          <p:nvPr/>
        </p:nvSpPr>
        <p:spPr>
          <a:xfrm>
            <a:off x="8480066" y="2790238"/>
            <a:ext cx="1088896" cy="31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769">
              <a:spcBef>
                <a:spcPts val="300"/>
              </a:spcBef>
              <a:spcAft>
                <a:spcPts val="300"/>
              </a:spcAft>
            </a:pP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</a:rPr>
              <a:t>MES</a:t>
            </a:r>
            <a:endParaRPr lang="ko-KR" altLang="en-US" sz="1200" b="1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7D34DBF-A0EE-05FB-42BC-D0873123AC12}"/>
              </a:ext>
            </a:extLst>
          </p:cNvPr>
          <p:cNvSpPr/>
          <p:nvPr/>
        </p:nvSpPr>
        <p:spPr>
          <a:xfrm>
            <a:off x="8418826" y="2011944"/>
            <a:ext cx="1214124" cy="305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 smtClean="0">
                <a:solidFill>
                  <a:srgbClr val="FFFFFF"/>
                </a:solidFill>
                <a:latin typeface="맑은 고딕"/>
                <a:ea typeface="맑은 고딕"/>
              </a:rPr>
              <a:t>고도화</a:t>
            </a:r>
            <a:r>
              <a:rPr lang="en-US" altLang="ko-KR" sz="1100" b="1" dirty="0" smtClean="0">
                <a:solidFill>
                  <a:srgbClr val="FFFFFF"/>
                </a:solidFill>
                <a:latin typeface="맑은 고딕"/>
                <a:ea typeface="맑은 고딕"/>
              </a:rPr>
              <a:t>/</a:t>
            </a:r>
            <a:r>
              <a:rPr lang="ko-KR" altLang="en-US" sz="1100" b="1" dirty="0" smtClean="0">
                <a:solidFill>
                  <a:srgbClr val="FFFFFF"/>
                </a:solidFill>
                <a:latin typeface="맑은 고딕"/>
                <a:ea typeface="맑은 고딕"/>
              </a:rPr>
              <a:t>확산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232AD48-F0FC-04CC-F430-D115256DEB4B}"/>
              </a:ext>
            </a:extLst>
          </p:cNvPr>
          <p:cNvGrpSpPr/>
          <p:nvPr/>
        </p:nvGrpSpPr>
        <p:grpSpPr>
          <a:xfrm>
            <a:off x="8480066" y="3172916"/>
            <a:ext cx="1088924" cy="935599"/>
            <a:chOff x="8472446" y="5515382"/>
            <a:chExt cx="1088924" cy="935599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CD7A37E-5FCC-596D-1761-36E990C538A3}"/>
                </a:ext>
              </a:extLst>
            </p:cNvPr>
            <p:cNvSpPr>
              <a:spLocks/>
            </p:cNvSpPr>
            <p:nvPr/>
          </p:nvSpPr>
          <p:spPr>
            <a:xfrm>
              <a:off x="8472446" y="5515382"/>
              <a:ext cx="1088896" cy="3168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769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/>
                  <a:ea typeface="맑은 고딕"/>
                </a:rPr>
                <a:t>Groupware</a:t>
              </a:r>
              <a:endParaRPr lang="ko-KR" altLang="en-US" sz="1200" b="1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223DBBB-0D9F-8866-184B-8147D6117D01}"/>
                </a:ext>
              </a:extLst>
            </p:cNvPr>
            <p:cNvSpPr>
              <a:spLocks/>
            </p:cNvSpPr>
            <p:nvPr/>
          </p:nvSpPr>
          <p:spPr>
            <a:xfrm>
              <a:off x="8472474" y="5840177"/>
              <a:ext cx="1088896" cy="6108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375AB25-B672-AB01-1815-C26E6949C688}"/>
                </a:ext>
              </a:extLst>
            </p:cNvPr>
            <p:cNvSpPr/>
            <p:nvPr/>
          </p:nvSpPr>
          <p:spPr>
            <a:xfrm>
              <a:off x="8544476" y="5889565"/>
              <a:ext cx="944892" cy="146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ITSM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2BF3E7AF-E323-D5FD-B060-0B74F7B985E0}"/>
                </a:ext>
              </a:extLst>
            </p:cNvPr>
            <p:cNvSpPr/>
            <p:nvPr/>
          </p:nvSpPr>
          <p:spPr>
            <a:xfrm>
              <a:off x="8544476" y="6069130"/>
              <a:ext cx="944892" cy="146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AD/IAM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248E92C-31EA-AB90-15C1-1C895FF8D6E9}"/>
                </a:ext>
              </a:extLst>
            </p:cNvPr>
            <p:cNvSpPr/>
            <p:nvPr/>
          </p:nvSpPr>
          <p:spPr>
            <a:xfrm>
              <a:off x="8544476" y="6248695"/>
              <a:ext cx="944892" cy="146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메신저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0A296DD-6F60-B6CE-012B-6671E06C1559}"/>
              </a:ext>
            </a:extLst>
          </p:cNvPr>
          <p:cNvSpPr txBox="1"/>
          <p:nvPr/>
        </p:nvSpPr>
        <p:spPr>
          <a:xfrm>
            <a:off x="7319508" y="4592642"/>
            <a:ext cx="1150967" cy="598386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t">
            <a:noAutofit/>
          </a:bodyPr>
          <a:lstStyle/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기능 변경 및 확산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시 기존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Global </a:t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Template 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영향도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검토 요청  </a:t>
            </a:r>
            <a:endParaRPr lang="en-US" altLang="ko-KR" sz="900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  <a:p>
            <a:pPr marL="85725" marR="0" lvl="0" indent="-85725" defTabSz="957769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특화 사항 협의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9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및 논의</a:t>
            </a:r>
            <a:endParaRPr lang="en-US" altLang="ko-KR" sz="900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7435904" y="3477029"/>
            <a:ext cx="869896" cy="1000695"/>
            <a:chOff x="7356830" y="2806324"/>
            <a:chExt cx="1065370" cy="1413435"/>
          </a:xfrm>
        </p:grpSpPr>
        <p:sp>
          <p:nvSpPr>
            <p:cNvPr id="90" name="오른쪽 화살표 89"/>
            <p:cNvSpPr/>
            <p:nvPr/>
          </p:nvSpPr>
          <p:spPr>
            <a:xfrm>
              <a:off x="7356830" y="3478984"/>
              <a:ext cx="1065370" cy="740775"/>
            </a:xfrm>
            <a:prstGeom prst="rightArrow">
              <a:avLst>
                <a:gd name="adj1" fmla="val 50000"/>
                <a:gd name="adj2" fmla="val 3785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오른쪽 화살표 90"/>
            <p:cNvSpPr/>
            <p:nvPr/>
          </p:nvSpPr>
          <p:spPr>
            <a:xfrm flipH="1">
              <a:off x="7356830" y="2806324"/>
              <a:ext cx="1065370" cy="740775"/>
            </a:xfrm>
            <a:prstGeom prst="rightArrow">
              <a:avLst>
                <a:gd name="adj1" fmla="val 50000"/>
                <a:gd name="adj2" fmla="val 3785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490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70057C7A-9CA6-438D-8150-585373BD3AC1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F99F5EC-B586-466A-BE34-F491BB142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현 </a:t>
            </a:r>
            <a:r>
              <a:rPr lang="en-US" altLang="ko-KR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GT </a:t>
            </a:r>
            <a:r>
              <a:rPr lang="ko-KR" altLang="en-US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운영 준비도 및 </a:t>
            </a:r>
            <a:r>
              <a:rPr lang="en-US" altLang="ko-KR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To-Be </a:t>
            </a:r>
            <a:r>
              <a:rPr lang="ko-KR" altLang="en-US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영원의 </a:t>
            </a:r>
            <a:r>
              <a:rPr lang="en-US" altLang="ko-KR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GT </a:t>
            </a:r>
            <a:r>
              <a:rPr lang="ko-KR" altLang="en-US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조직 구성 案</a:t>
            </a:r>
            <a:endParaRPr kumimoji="0" lang="ko-KR" altLang="en-US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B22D3811-9887-2B53-CC33-FF020A42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ko-KR" altLang="en-US" spc="-150" dirty="0" smtClean="0"/>
              <a:t>현재 영원의 </a:t>
            </a:r>
            <a:r>
              <a:rPr lang="en-US" altLang="ko-KR" spc="-150" dirty="0" smtClean="0"/>
              <a:t>IT </a:t>
            </a:r>
            <a:r>
              <a:rPr lang="ko-KR" altLang="en-US" spc="-150" dirty="0" smtClean="0"/>
              <a:t>관련 운영 구조는 매우 미흡한 상태로  </a:t>
            </a:r>
            <a:r>
              <a:rPr lang="en-US" altLang="ko-KR" spc="-150" dirty="0" smtClean="0"/>
              <a:t>Biz + Data </a:t>
            </a:r>
            <a:r>
              <a:rPr lang="ko-KR" altLang="en-US" spc="-150" dirty="0" smtClean="0"/>
              <a:t>영역 담당 인력의 구성과 </a:t>
            </a:r>
            <a:r>
              <a:rPr lang="en-US" altLang="ko-KR" spc="-150" dirty="0" smtClean="0"/>
              <a:t>SAP ERP </a:t>
            </a:r>
            <a:r>
              <a:rPr lang="ko-KR" altLang="en-US" spc="-150" dirty="0" smtClean="0"/>
              <a:t>유지보수 관련 인력의 확충이 필요함 </a:t>
            </a:r>
            <a:r>
              <a:rPr lang="ko-KR" altLang="en-US" spc="-150" dirty="0" smtClean="0"/>
              <a:t> </a:t>
            </a:r>
            <a:r>
              <a:rPr lang="en-US" altLang="ko-KR" spc="-150" dirty="0" smtClean="0"/>
              <a:t>(</a:t>
            </a:r>
            <a:r>
              <a:rPr lang="ko-KR" altLang="en-US" spc="-150" dirty="0" smtClean="0"/>
              <a:t>현재 대비 약 </a:t>
            </a:r>
            <a:r>
              <a:rPr lang="en-US" altLang="ko-KR" spc="-150" dirty="0" smtClean="0"/>
              <a:t>20</a:t>
            </a:r>
            <a:r>
              <a:rPr lang="ko-KR" altLang="en-US" spc="-150" dirty="0" smtClean="0"/>
              <a:t>여명</a:t>
            </a:r>
            <a:r>
              <a:rPr lang="en-US" altLang="ko-KR" spc="-150" dirty="0" smtClean="0"/>
              <a:t>)</a:t>
            </a:r>
            <a:endParaRPr lang="ko-KR" altLang="en-US" spc="-15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E4A3744-0129-45B8-8B0D-7469D4D453BF}"/>
              </a:ext>
            </a:extLst>
          </p:cNvPr>
          <p:cNvGrpSpPr/>
          <p:nvPr/>
        </p:nvGrpSpPr>
        <p:grpSpPr>
          <a:xfrm>
            <a:off x="380715" y="1764542"/>
            <a:ext cx="4265203" cy="321803"/>
            <a:chOff x="1313578" y="1406437"/>
            <a:chExt cx="2160003" cy="3218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FD7744-17DE-4F62-99F5-3871CABD78BE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As-Is</a:t>
              </a:r>
              <a:r>
                <a:rPr kumimoji="0" lang="en-US" altLang="ko-KR" sz="1600" b="1" i="0" u="none" strike="noStrike" kern="1200" cap="none" spc="0" normalizeH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 </a:t>
              </a:r>
              <a:r>
                <a:rPr kumimoji="0" lang="ko-KR" altLang="en-US" sz="1600" b="1" i="0" u="none" strike="noStrike" kern="1200" cap="none" spc="0" normalizeH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운영 구조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8" name="Line 70">
              <a:extLst>
                <a:ext uri="{FF2B5EF4-FFF2-40B4-BE49-F238E27FC236}">
                  <a16:creationId xmlns:a16="http://schemas.microsoft.com/office/drawing/2014/main" id="{462D8E23-9200-4DBD-9B77-B29EE6DB1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4A3744-0129-45B8-8B0D-7469D4D453BF}"/>
              </a:ext>
            </a:extLst>
          </p:cNvPr>
          <p:cNvGrpSpPr/>
          <p:nvPr/>
        </p:nvGrpSpPr>
        <p:grpSpPr>
          <a:xfrm>
            <a:off x="5160373" y="1764542"/>
            <a:ext cx="4265203" cy="321803"/>
            <a:chOff x="1313578" y="1406437"/>
            <a:chExt cx="2160003" cy="3218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FD7744-17DE-4F62-99F5-3871CABD78BE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To-Be </a:t>
              </a:r>
              <a:r>
                <a:rPr kumimoji="0" lang="ko-KR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운영 구조</a:t>
              </a:r>
              <a:r>
                <a:rPr kumimoji="0" lang="en-US" altLang="ko-KR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(</a:t>
              </a:r>
              <a:r>
                <a:rPr kumimoji="0" lang="ko-KR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案</a:t>
              </a:r>
              <a:r>
                <a:rPr kumimoji="0" lang="en-US" altLang="ko-KR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)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1" name="Line 70">
              <a:extLst>
                <a:ext uri="{FF2B5EF4-FFF2-40B4-BE49-F238E27FC236}">
                  <a16:creationId xmlns:a16="http://schemas.microsoft.com/office/drawing/2014/main" id="{462D8E23-9200-4DBD-9B77-B29EE6DB1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49141F-A240-02D5-B46E-21D0E8A67533}"/>
              </a:ext>
            </a:extLst>
          </p:cNvPr>
          <p:cNvSpPr>
            <a:spLocks/>
          </p:cNvSpPr>
          <p:nvPr/>
        </p:nvSpPr>
        <p:spPr>
          <a:xfrm>
            <a:off x="337129" y="2171793"/>
            <a:ext cx="4308783" cy="425487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411261" y="2241793"/>
            <a:ext cx="4160521" cy="3051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Business</a:t>
            </a:r>
            <a:r>
              <a:rPr kumimoji="0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+ Data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22FA954-0824-3537-92EA-01B4DD521CAA}"/>
              </a:ext>
            </a:extLst>
          </p:cNvPr>
          <p:cNvSpPr/>
          <p:nvPr/>
        </p:nvSpPr>
        <p:spPr>
          <a:xfrm>
            <a:off x="411261" y="2572620"/>
            <a:ext cx="4160521" cy="730242"/>
          </a:xfrm>
          <a:prstGeom prst="rect">
            <a:avLst/>
          </a:prstGeom>
          <a:solidFill>
            <a:schemeClr val="bg1"/>
          </a:solidFill>
          <a:ln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0" algn="l" defTabSz="95776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411261" y="3448864"/>
            <a:ext cx="4160521" cy="3051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IT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 </a:t>
            </a:r>
            <a:r>
              <a:rPr kumimoji="0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(ERP + 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/>
                <a:ea typeface="맑은 고딕"/>
              </a:rPr>
              <a:t>Legacy)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512192" y="2712683"/>
            <a:ext cx="3958659" cy="450116"/>
            <a:chOff x="2820235" y="2469574"/>
            <a:chExt cx="4243407" cy="450116"/>
          </a:xfrm>
          <a:effectLst/>
        </p:grpSpPr>
        <p:sp>
          <p:nvSpPr>
            <p:cNvPr id="68" name="모서리가 둥근 직사각형 308">
              <a:extLst>
                <a:ext uri="{FF2B5EF4-FFF2-40B4-BE49-F238E27FC236}">
                  <a16:creationId xmlns:a16="http://schemas.microsoft.com/office/drawing/2014/main" id="{B2EF7033-6ACD-139F-0ACD-176362DC756A}"/>
                </a:ext>
              </a:extLst>
            </p:cNvPr>
            <p:cNvSpPr/>
            <p:nvPr/>
          </p:nvSpPr>
          <p:spPr>
            <a:xfrm>
              <a:off x="2820235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표준 프로세스 통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맑은 고딕"/>
                  <a:ea typeface="맑은 고딕"/>
                </a:rPr>
                <a:t>합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69" name="모서리가 둥근 직사각형 313">
              <a:extLst>
                <a:ext uri="{FF2B5EF4-FFF2-40B4-BE49-F238E27FC236}">
                  <a16:creationId xmlns:a16="http://schemas.microsoft.com/office/drawing/2014/main" id="{308B1D39-E3BD-D2FF-39DE-C800CE7F07F5}"/>
                </a:ext>
              </a:extLst>
            </p:cNvPr>
            <p:cNvSpPr/>
            <p:nvPr/>
          </p:nvSpPr>
          <p:spPr>
            <a:xfrm>
              <a:off x="5742691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프로세스</a:t>
              </a:r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맑은 고딕"/>
                  <a:ea typeface="맑은 고딕"/>
                </a:rPr>
              </a:b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혁신 수행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70" name="모서리가 둥근 직사각형 317">
              <a:extLst>
                <a:ext uri="{FF2B5EF4-FFF2-40B4-BE49-F238E27FC236}">
                  <a16:creationId xmlns:a16="http://schemas.microsoft.com/office/drawing/2014/main" id="{81B1EB14-5601-D64A-5ADB-4AD842AF7245}"/>
                </a:ext>
              </a:extLst>
            </p:cNvPr>
            <p:cNvSpPr/>
            <p:nvPr/>
          </p:nvSpPr>
          <p:spPr>
            <a:xfrm>
              <a:off x="4281463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기준정보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통제 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&amp;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lang="ko-KR" altLang="en-US" sz="1200" b="1" dirty="0" smtClean="0">
                  <a:solidFill>
                    <a:schemeClr val="bg2">
                      <a:lumMod val="75000"/>
                    </a:schemeClr>
                  </a:solidFill>
                  <a:latin typeface="맑은 고딕"/>
                  <a:ea typeface="맑은 고딕"/>
                </a:rPr>
                <a:t>운영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411261" y="3821829"/>
            <a:ext cx="4160521" cy="1153664"/>
            <a:chOff x="2780255" y="4790394"/>
            <a:chExt cx="4459789" cy="1518331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2780255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5049881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52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506709" y="3920873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200" cap="all" dirty="0">
                <a:latin typeface="맑은 고딕" panose="020B0503020000020004" pitchFamily="50" charset="-127"/>
              </a:rPr>
              <a:t>현업</a:t>
            </a:r>
            <a:r>
              <a:rPr lang="en-US" altLang="ko-KR" sz="1200" cap="all" dirty="0">
                <a:latin typeface="맑은 고딕" panose="020B0503020000020004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it </a:t>
            </a:r>
            <a:r>
              <a:rPr lang="ko-KR" altLang="en-US" sz="120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협업 지원 </a:t>
            </a:r>
            <a:r>
              <a:rPr lang="en-US" altLang="ko-KR" sz="120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</a:br>
            <a:r>
              <a:rPr lang="en-US" altLang="ko-KR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(KR 3</a:t>
            </a:r>
            <a:r>
              <a:rPr lang="ko-KR" altLang="en-US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, BD 11</a:t>
            </a:r>
            <a:r>
              <a:rPr lang="ko-KR" altLang="en-US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, VN 12</a:t>
            </a:r>
            <a:r>
              <a:rPr lang="ko-KR" altLang="en-US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 smtClean="0">
                <a:latin typeface="맑은 고딕" panose="020B0503020000020004" pitchFamily="50" charset="-127"/>
                <a:sym typeface="Wingdings" panose="05000000000000000000" pitchFamily="2" charset="2"/>
              </a:rPr>
              <a:t>)</a:t>
            </a:r>
            <a:endParaRPr lang="en-US" altLang="ko-KR" sz="1050" cap="all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77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506709" y="4417560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dash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200" cap="all" dirty="0">
                <a:latin typeface="맑은 고딕" panose="020B0503020000020004" pitchFamily="50" charset="-127"/>
              </a:rPr>
              <a:t>개발</a:t>
            </a:r>
            <a:r>
              <a:rPr lang="en-US" altLang="ko-KR" sz="1200" cap="all" dirty="0">
                <a:latin typeface="맑은 고딕" panose="020B0503020000020004" pitchFamily="50" charset="-127"/>
              </a:rPr>
              <a:t>/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운영 유지보수</a:t>
            </a:r>
            <a:endParaRPr lang="ko-KR" altLang="en-US" sz="1200" cap="all" dirty="0">
              <a:latin typeface="맑은 고딕" panose="020B0503020000020004" pitchFamily="50" charset="-127"/>
            </a:endParaRPr>
          </a:p>
        </p:txBody>
      </p:sp>
      <p:sp>
        <p:nvSpPr>
          <p:cNvPr id="78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2623293" y="3920873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US" altLang="ko-KR" sz="1200" cap="all" dirty="0" smtClean="0">
                <a:latin typeface="맑은 고딕" panose="020B0503020000020004" pitchFamily="50" charset="-127"/>
              </a:rPr>
              <a:t>IT 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기획 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/ 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통제 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(2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명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)</a:t>
            </a:r>
            <a:endParaRPr lang="en-US" altLang="ko-KR" sz="1200" cap="all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79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2623293" y="4417560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ko-KR" altLang="en-US" sz="1200" cap="all" dirty="0" smtClean="0">
                <a:latin typeface="맑은 고딕" panose="020B0503020000020004" pitchFamily="50" charset="-127"/>
              </a:rPr>
              <a:t>인프라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, S/W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 운영</a:t>
            </a:r>
            <a:r>
              <a:rPr lang="en-US" altLang="ko-KR" sz="120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</a:br>
            <a:r>
              <a:rPr lang="en-US" altLang="ko-KR" sz="105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(KR </a:t>
            </a:r>
            <a:r>
              <a:rPr lang="en-US" altLang="ko-KR" sz="1050" cap="all" dirty="0" smtClean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5</a:t>
            </a:r>
            <a:r>
              <a:rPr lang="ko-KR" altLang="en-US" sz="1050" cap="all" dirty="0" smtClean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en-US" altLang="ko-KR" sz="1050" cap="all" dirty="0" smtClean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BD 43</a:t>
            </a:r>
            <a:r>
              <a:rPr lang="ko-KR" altLang="en-US" sz="1050" cap="all" dirty="0" smtClean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, VN 7</a:t>
            </a:r>
            <a:r>
              <a:rPr lang="ko-KR" altLang="en-US" sz="1050" cap="all" dirty="0" smtClean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명</a:t>
            </a:r>
            <a:r>
              <a:rPr lang="en-US" altLang="ko-KR" sz="1050" cap="all" dirty="0">
                <a:solidFill>
                  <a:prstClr val="black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82077" y="5083553"/>
            <a:ext cx="4304342" cy="1289474"/>
            <a:chOff x="382077" y="5092569"/>
            <a:chExt cx="4304342" cy="1289474"/>
          </a:xfrm>
        </p:grpSpPr>
        <p:sp>
          <p:nvSpPr>
            <p:cNvPr id="83" name="사각형: 둥근 모서리 13">
              <a:extLst>
                <a:ext uri="{FF2B5EF4-FFF2-40B4-BE49-F238E27FC236}">
                  <a16:creationId xmlns:a16="http://schemas.microsoft.com/office/drawing/2014/main" id="{88A2428B-F342-CB01-04EA-56B27800DA66}"/>
                </a:ext>
              </a:extLst>
            </p:cNvPr>
            <p:cNvSpPr/>
            <p:nvPr/>
          </p:nvSpPr>
          <p:spPr bwMode="auto">
            <a:xfrm>
              <a:off x="382077" y="5092569"/>
              <a:ext cx="532642" cy="1289474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0" tIns="36000" rIns="0" bIns="0" rtlCol="0" anchor="ctr"/>
            <a:lstStyle/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ko-KR" altLang="en-US" sz="1200" b="1" cap="all" dirty="0" smtClean="0">
                  <a:latin typeface="맑은 고딕" panose="020B0503020000020004" pitchFamily="50" charset="-127"/>
                </a:rPr>
                <a:t>이슈</a:t>
              </a:r>
              <a:endParaRPr kumimoji="0" lang="ko-KR" altLang="en-US" sz="1200" b="1" cap="all" dirty="0">
                <a:latin typeface="맑은 고딕" panose="020B0503020000020004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84EE4BE-655C-F897-B411-B86F43AC0294}"/>
                </a:ext>
              </a:extLst>
            </p:cNvPr>
            <p:cNvSpPr txBox="1"/>
            <p:nvPr/>
          </p:nvSpPr>
          <p:spPr>
            <a:xfrm>
              <a:off x="910438" y="5098670"/>
              <a:ext cx="3775981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b="1" dirty="0" smtClean="0"/>
                <a:t>영원 </a:t>
              </a:r>
              <a:r>
                <a:rPr lang="en-US" altLang="ko-KR" sz="1200" b="1" dirty="0" smtClean="0"/>
                <a:t>SOP (</a:t>
              </a:r>
              <a:r>
                <a:rPr lang="en-US" altLang="ko-KR" sz="1200" b="1" dirty="0"/>
                <a:t>S</a:t>
              </a:r>
              <a:r>
                <a:rPr lang="en-US" altLang="ko-KR" sz="1200" b="1" dirty="0" smtClean="0"/>
                <a:t>tandard</a:t>
              </a:r>
              <a:r>
                <a:rPr lang="ko-KR" altLang="en-US" sz="1200" b="1" dirty="0" smtClean="0"/>
                <a:t> </a:t>
              </a:r>
              <a:r>
                <a:rPr lang="en-US" altLang="ko-KR" sz="1200" b="1" dirty="0" smtClean="0"/>
                <a:t>of Procedure) </a:t>
              </a:r>
              <a:r>
                <a:rPr lang="ko-KR" altLang="en-US" sz="1200" dirty="0" smtClean="0"/>
                <a:t>만들었으나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지속적인 </a:t>
              </a:r>
              <a:r>
                <a:rPr lang="en-US" altLang="ko-KR" sz="1200" b="1" dirty="0"/>
                <a:t>U</a:t>
              </a:r>
              <a:r>
                <a:rPr lang="en-US" altLang="ko-KR" sz="1200" b="1" dirty="0" smtClean="0"/>
                <a:t>pdate </a:t>
              </a:r>
              <a:r>
                <a:rPr lang="ko-KR" altLang="en-US" sz="1200" b="1" dirty="0" smtClean="0"/>
                <a:t>및 준수 모니터링 부재 </a:t>
              </a:r>
              <a:endParaRPr lang="en-US" altLang="ko-KR" sz="1200" b="1" dirty="0" smtClean="0"/>
            </a:p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dirty="0" smtClean="0"/>
                <a:t>로컬 최적화 중심으로 운영에 따른 </a:t>
              </a:r>
              <a:r>
                <a:rPr lang="ko-KR" altLang="en-US" sz="1200" b="1" dirty="0" smtClean="0"/>
                <a:t>통합 관점의 영향도 검토</a:t>
              </a:r>
              <a:r>
                <a:rPr lang="en-US" altLang="ko-KR" sz="1200" b="1" dirty="0" smtClean="0"/>
                <a:t>, </a:t>
              </a:r>
              <a:r>
                <a:rPr lang="ko-KR" altLang="en-US" sz="1200" b="1" dirty="0" smtClean="0"/>
                <a:t>현행화 어려움</a:t>
              </a:r>
              <a:r>
                <a:rPr lang="ko-KR" altLang="en-US" sz="1200" dirty="0" smtClean="0"/>
                <a:t> </a:t>
              </a:r>
              <a:endParaRPr lang="en-US" altLang="ko-KR" sz="1200" dirty="0">
                <a:sym typeface="Wingdings" panose="05000000000000000000" pitchFamily="2" charset="2"/>
              </a:endParaRPr>
            </a:p>
            <a:p>
              <a:pPr marL="177800" indent="-17780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altLang="ko-KR" sz="1200" dirty="0"/>
                <a:t>IT</a:t>
              </a:r>
              <a:r>
                <a:rPr lang="ko-KR" altLang="en-US" sz="1200" dirty="0"/>
                <a:t>지원 툴 부재</a:t>
              </a:r>
              <a:r>
                <a:rPr lang="en-US" altLang="ko-KR" sz="1200" dirty="0"/>
                <a:t> </a:t>
              </a:r>
              <a:r>
                <a:rPr lang="ko-KR" altLang="en-US" sz="1200" dirty="0"/>
                <a:t>및 </a:t>
              </a:r>
              <a:r>
                <a:rPr lang="en-US" altLang="ko-KR" sz="1200" dirty="0"/>
                <a:t>IT </a:t>
              </a:r>
              <a:r>
                <a:rPr lang="ko-KR" altLang="en-US" sz="1200" dirty="0" smtClean="0"/>
                <a:t>기획 </a:t>
              </a:r>
              <a:r>
                <a:rPr lang="ko-KR" altLang="en-US" sz="1200" dirty="0"/>
                <a:t>인력 부족</a:t>
              </a:r>
              <a:r>
                <a:rPr lang="en-US" altLang="ko-KR" sz="1200" dirty="0"/>
                <a:t/>
              </a:r>
              <a:br>
                <a:rPr lang="en-US" altLang="ko-KR" sz="1200" dirty="0"/>
              </a:br>
              <a:r>
                <a:rPr lang="en-US" altLang="ko-KR" sz="1200" dirty="0">
                  <a:sym typeface="Wingdings" panose="05000000000000000000" pitchFamily="2" charset="2"/>
                </a:rPr>
                <a:t> </a:t>
              </a:r>
              <a:r>
                <a:rPr lang="ko-KR" altLang="en-US" sz="1200" dirty="0">
                  <a:sym typeface="Wingdings" panose="05000000000000000000" pitchFamily="2" charset="2"/>
                </a:rPr>
                <a:t>운영 및 </a:t>
              </a:r>
              <a:r>
                <a:rPr lang="ko-KR" altLang="en-US" sz="1200" dirty="0" err="1">
                  <a:sym typeface="Wingdings" panose="05000000000000000000" pitchFamily="2" charset="2"/>
                </a:rPr>
                <a:t>장애대응력</a:t>
              </a:r>
              <a:r>
                <a:rPr lang="ko-KR" altLang="en-US" sz="1200" dirty="0">
                  <a:sym typeface="Wingdings" panose="05000000000000000000" pitchFamily="2" charset="2"/>
                </a:rPr>
                <a:t> 낙후 </a:t>
              </a:r>
              <a:r>
                <a:rPr lang="en-US" altLang="ko-KR" sz="1200" dirty="0">
                  <a:sym typeface="Wingdings" panose="05000000000000000000" pitchFamily="2" charset="2"/>
                </a:rPr>
                <a:t>(* ITSM</a:t>
              </a:r>
              <a:r>
                <a:rPr lang="ko-KR" altLang="en-US" sz="1200" dirty="0">
                  <a:sym typeface="Wingdings" panose="05000000000000000000" pitchFamily="2" charset="2"/>
                </a:rPr>
                <a:t> 도입 </a:t>
              </a:r>
              <a:r>
                <a:rPr lang="ko-KR" altLang="en-US" sz="1200" dirty="0" err="1">
                  <a:sym typeface="Wingdings" panose="05000000000000000000" pitchFamily="2" charset="2"/>
                </a:rPr>
                <a:t>검토중</a:t>
              </a:r>
              <a:r>
                <a:rPr lang="en-US" altLang="ko-KR" sz="1200" dirty="0">
                  <a:sym typeface="Wingdings" panose="05000000000000000000" pitchFamily="2" charset="2"/>
                </a:rPr>
                <a:t>)</a:t>
              </a:r>
              <a:endParaRPr lang="ko-KR" altLang="en-US" sz="1200" dirty="0"/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D49141F-A240-02D5-B46E-21D0E8A67533}"/>
              </a:ext>
            </a:extLst>
          </p:cNvPr>
          <p:cNvSpPr>
            <a:spLocks/>
          </p:cNvSpPr>
          <p:nvPr/>
        </p:nvSpPr>
        <p:spPr>
          <a:xfrm>
            <a:off x="5160373" y="2171793"/>
            <a:ext cx="4308783" cy="425487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5234505" y="2241793"/>
            <a:ext cx="4160521" cy="3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Business</a:t>
            </a:r>
            <a:r>
              <a:rPr kumimoji="0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+ Data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22FA954-0824-3537-92EA-01B4DD521CAA}"/>
              </a:ext>
            </a:extLst>
          </p:cNvPr>
          <p:cNvSpPr/>
          <p:nvPr/>
        </p:nvSpPr>
        <p:spPr>
          <a:xfrm>
            <a:off x="5234505" y="2572620"/>
            <a:ext cx="4160521" cy="730242"/>
          </a:xfrm>
          <a:prstGeom prst="rect">
            <a:avLst/>
          </a:prstGeom>
          <a:solidFill>
            <a:schemeClr val="bg1"/>
          </a:solidFill>
          <a:ln>
            <a:solidFill>
              <a:srgbClr val="8D8A8A"/>
            </a:solidFill>
            <a:prstDash val="solid"/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0" algn="l" defTabSz="95776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758F202-5CAB-966D-E5C8-A7F25F5ADE3B}"/>
              </a:ext>
            </a:extLst>
          </p:cNvPr>
          <p:cNvSpPr/>
          <p:nvPr/>
        </p:nvSpPr>
        <p:spPr>
          <a:xfrm>
            <a:off x="5234505" y="3448864"/>
            <a:ext cx="4160521" cy="3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IT </a:t>
            </a:r>
            <a:r>
              <a:rPr kumimoji="0" lang="ko-KR" altLang="en-US" sz="1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영역 </a:t>
            </a:r>
            <a:r>
              <a:rPr kumimoji="0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(ERP + </a:t>
            </a:r>
            <a:r>
              <a:rPr lang="en-US" altLang="ko-KR" sz="1400" b="1" dirty="0" smtClean="0">
                <a:solidFill>
                  <a:schemeClr val="bg1"/>
                </a:solidFill>
                <a:latin typeface="맑은 고딕"/>
                <a:ea typeface="맑은 고딕"/>
              </a:rPr>
              <a:t>Legacy)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5335436" y="2712683"/>
            <a:ext cx="3958659" cy="450116"/>
            <a:chOff x="2820235" y="2469574"/>
            <a:chExt cx="4243407" cy="450116"/>
          </a:xfrm>
          <a:effectLst/>
        </p:grpSpPr>
        <p:sp>
          <p:nvSpPr>
            <p:cNvPr id="90" name="모서리가 둥근 직사각형 308">
              <a:extLst>
                <a:ext uri="{FF2B5EF4-FFF2-40B4-BE49-F238E27FC236}">
                  <a16:creationId xmlns:a16="http://schemas.microsoft.com/office/drawing/2014/main" id="{B2EF7033-6ACD-139F-0ACD-176362DC756A}"/>
                </a:ext>
              </a:extLst>
            </p:cNvPr>
            <p:cNvSpPr/>
            <p:nvPr/>
          </p:nvSpPr>
          <p:spPr>
            <a:xfrm>
              <a:off x="2820235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표준 프로세스 통</a:t>
              </a:r>
              <a:r>
                <a:rPr lang="ko-KR" altLang="en-US" sz="1200" b="1" dirty="0">
                  <a:latin typeface="맑은 고딕"/>
                  <a:ea typeface="맑은 고딕"/>
                </a:rPr>
                <a:t>합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 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(1X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명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)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91" name="모서리가 둥근 직사각형 313">
              <a:extLst>
                <a:ext uri="{FF2B5EF4-FFF2-40B4-BE49-F238E27FC236}">
                  <a16:creationId xmlns:a16="http://schemas.microsoft.com/office/drawing/2014/main" id="{308B1D39-E3BD-D2FF-39DE-C800CE7F07F5}"/>
                </a:ext>
              </a:extLst>
            </p:cNvPr>
            <p:cNvSpPr/>
            <p:nvPr/>
          </p:nvSpPr>
          <p:spPr>
            <a:xfrm>
              <a:off x="5742691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rgbClr val="FFFFFF"/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ko-KR" altLang="en-US" sz="1200" cap="all" dirty="0">
                  <a:latin typeface="맑은 고딕" panose="020B0503020000020004" pitchFamily="50" charset="-127"/>
                </a:rPr>
                <a:t>프로세스</a:t>
              </a:r>
              <a:r>
                <a:rPr lang="en-US" altLang="ko-KR" sz="1200" cap="all" dirty="0">
                  <a:latin typeface="맑은 고딕" panose="020B0503020000020004" pitchFamily="50" charset="-127"/>
                </a:rPr>
                <a:t/>
              </a:r>
              <a:br>
                <a:rPr lang="en-US" altLang="ko-KR" sz="1200" cap="all" dirty="0">
                  <a:latin typeface="맑은 고딕" panose="020B0503020000020004" pitchFamily="50" charset="-127"/>
                </a:rPr>
              </a:br>
              <a:r>
                <a:rPr lang="ko-KR" altLang="en-US" sz="1200" cap="all" dirty="0">
                  <a:latin typeface="맑은 고딕" panose="020B0503020000020004" pitchFamily="50" charset="-127"/>
                </a:rPr>
                <a:t>혁신 수행 </a:t>
              </a:r>
              <a:r>
                <a:rPr lang="en-US" altLang="ko-KR" sz="1200" cap="all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200" cap="all" dirty="0">
                  <a:latin typeface="맑은 고딕" panose="020B0503020000020004" pitchFamily="50" charset="-127"/>
                </a:rPr>
                <a:t>겸</a:t>
              </a:r>
              <a:r>
                <a:rPr lang="en-US" altLang="ko-KR" sz="1200" cap="all" dirty="0">
                  <a:latin typeface="맑은 고딕" panose="020B0503020000020004" pitchFamily="50" charset="-127"/>
                </a:rPr>
                <a:t>)</a:t>
              </a:r>
              <a:endParaRPr lang="ko-KR" altLang="en-US" sz="1200" cap="all" dirty="0">
                <a:latin typeface="맑은 고딕" panose="020B0503020000020004" pitchFamily="50" charset="-127"/>
              </a:endParaRPr>
            </a:p>
          </p:txBody>
        </p:sp>
        <p:sp>
          <p:nvSpPr>
            <p:cNvPr id="92" name="모서리가 둥근 직사각형 317">
              <a:extLst>
                <a:ext uri="{FF2B5EF4-FFF2-40B4-BE49-F238E27FC236}">
                  <a16:creationId xmlns:a16="http://schemas.microsoft.com/office/drawing/2014/main" id="{81B1EB14-5601-D64A-5ADB-4AD842AF7245}"/>
                </a:ext>
              </a:extLst>
            </p:cNvPr>
            <p:cNvSpPr/>
            <p:nvPr/>
          </p:nvSpPr>
          <p:spPr>
            <a:xfrm>
              <a:off x="4281463" y="2469574"/>
              <a:ext cx="1320951" cy="450116"/>
            </a:xfrm>
            <a:prstGeom prst="roundRect">
              <a:avLst>
                <a:gd name="adj" fmla="val 1081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8D8A8A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기준정보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통제 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&amp;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r>
                <a:rPr lang="ko-KR" altLang="en-US" sz="1200" b="1" dirty="0" smtClean="0">
                  <a:latin typeface="맑은 고딕"/>
                  <a:ea typeface="맑은 고딕"/>
                </a:rPr>
                <a:t>운영 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관리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(X</a:t>
              </a: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명</a:t>
              </a:r>
              <a:r>
                <a:rPr kumimoji="0" lang="en-US" altLang="ko-KR" sz="12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)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5234505" y="3821829"/>
            <a:ext cx="4160521" cy="1153664"/>
            <a:chOff x="2780255" y="4790394"/>
            <a:chExt cx="4459789" cy="1518331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2780255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922FA954-0824-3537-92EA-01B4DD521CAA}"/>
                </a:ext>
              </a:extLst>
            </p:cNvPr>
            <p:cNvSpPr/>
            <p:nvPr/>
          </p:nvSpPr>
          <p:spPr>
            <a:xfrm>
              <a:off x="5049881" y="4790394"/>
              <a:ext cx="2190163" cy="1518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8A8A"/>
              </a:solidFill>
              <a:prstDash val="solid"/>
            </a:ln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indent="0" algn="l" defTabSz="957769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96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5329953" y="3920873"/>
            <a:ext cx="1847557" cy="461366"/>
          </a:xfrm>
          <a:prstGeom prst="roundRect">
            <a:avLst>
              <a:gd name="adj" fmla="val 10818"/>
            </a:avLst>
          </a:prstGeom>
          <a:solidFill>
            <a:schemeClr val="bg1">
              <a:lumMod val="95000"/>
            </a:schemeClr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769">
              <a:spcBef>
                <a:spcPts val="300"/>
              </a:spcBef>
              <a:spcAft>
                <a:spcPts val="300"/>
              </a:spcAft>
            </a:pPr>
            <a:r>
              <a:rPr lang="en-US" altLang="ko-KR" sz="1200" b="1" dirty="0" smtClean="0">
                <a:latin typeface="맑은 고딕"/>
                <a:ea typeface="맑은 고딕"/>
                <a:sym typeface="Wingdings" panose="05000000000000000000" pitchFamily="2" charset="2"/>
              </a:rPr>
              <a:t>SR </a:t>
            </a:r>
            <a:r>
              <a:rPr lang="ko-KR" altLang="en-US" sz="1200" b="1" dirty="0" smtClean="0">
                <a:latin typeface="맑은 고딕"/>
                <a:ea typeface="맑은 고딕"/>
                <a:sym typeface="Wingdings" panose="05000000000000000000" pitchFamily="2" charset="2"/>
              </a:rPr>
              <a:t>접수 및 영향도 분석</a:t>
            </a:r>
            <a:r>
              <a:rPr lang="en-US" altLang="ko-KR" sz="1200" b="1" dirty="0">
                <a:latin typeface="맑은 고딕"/>
                <a:ea typeface="맑은 고딕"/>
                <a:sym typeface="Wingdings" panose="05000000000000000000" pitchFamily="2" charset="2"/>
              </a:rPr>
              <a:t/>
            </a:r>
            <a:br>
              <a:rPr lang="en-US" altLang="ko-KR" sz="1200" b="1" dirty="0">
                <a:latin typeface="맑은 고딕"/>
                <a:ea typeface="맑은 고딕"/>
                <a:sym typeface="Wingdings" panose="05000000000000000000" pitchFamily="2" charset="2"/>
              </a:rPr>
            </a:br>
            <a:r>
              <a:rPr lang="en-US" altLang="ko-KR" sz="1200" b="1" dirty="0" smtClean="0">
                <a:latin typeface="맑은 고딕"/>
                <a:ea typeface="맑은 고딕"/>
                <a:sym typeface="Wingdings" panose="05000000000000000000" pitchFamily="2" charset="2"/>
              </a:rPr>
              <a:t>(2X</a:t>
            </a:r>
            <a:r>
              <a:rPr lang="ko-KR" altLang="en-US" sz="1200" b="1" dirty="0" smtClean="0">
                <a:latin typeface="맑은 고딕"/>
                <a:ea typeface="맑은 고딕"/>
                <a:sym typeface="Wingdings" panose="05000000000000000000" pitchFamily="2" charset="2"/>
              </a:rPr>
              <a:t>명</a:t>
            </a:r>
            <a:r>
              <a:rPr lang="en-US" altLang="ko-KR" sz="1200" b="1" dirty="0">
                <a:latin typeface="맑은 고딕"/>
                <a:ea typeface="맑은 고딕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97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5329953" y="4417560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dash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200" cap="all" dirty="0">
                <a:latin typeface="맑은 고딕" panose="020B0503020000020004" pitchFamily="50" charset="-127"/>
              </a:rPr>
              <a:t>개발</a:t>
            </a:r>
            <a:r>
              <a:rPr lang="en-US" altLang="ko-KR" sz="1200" cap="all" dirty="0">
                <a:latin typeface="맑은 고딕" panose="020B0503020000020004" pitchFamily="50" charset="-127"/>
              </a:rPr>
              <a:t>/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운영 유지보수</a:t>
            </a:r>
            <a:endParaRPr lang="ko-KR" altLang="en-US" sz="1200" cap="all" dirty="0">
              <a:latin typeface="맑은 고딕" panose="020B0503020000020004" pitchFamily="50" charset="-127"/>
            </a:endParaRPr>
          </a:p>
        </p:txBody>
      </p:sp>
      <p:sp>
        <p:nvSpPr>
          <p:cNvPr id="98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7446537" y="3920873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US" altLang="ko-KR" sz="1200" cap="all" dirty="0" smtClean="0">
                <a:latin typeface="맑은 고딕" panose="020B0503020000020004" pitchFamily="50" charset="-127"/>
              </a:rPr>
              <a:t>IT 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기획 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/ 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통제 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(2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명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)</a:t>
            </a:r>
            <a:endParaRPr lang="en-US" altLang="ko-KR" sz="1200" cap="all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99" name="모서리가 둥근 직사각형 322">
            <a:extLst>
              <a:ext uri="{FF2B5EF4-FFF2-40B4-BE49-F238E27FC236}">
                <a16:creationId xmlns:a16="http://schemas.microsoft.com/office/drawing/2014/main" id="{83631E61-EB8F-4791-06B2-CEC22E6B1A5C}"/>
              </a:ext>
            </a:extLst>
          </p:cNvPr>
          <p:cNvSpPr/>
          <p:nvPr/>
        </p:nvSpPr>
        <p:spPr>
          <a:xfrm>
            <a:off x="7446537" y="4417560"/>
            <a:ext cx="1847557" cy="461366"/>
          </a:xfrm>
          <a:prstGeom prst="roundRect">
            <a:avLst>
              <a:gd name="adj" fmla="val 10818"/>
            </a:avLst>
          </a:prstGeom>
          <a:solidFill>
            <a:srgbClr val="FFFFFF"/>
          </a:solidFill>
          <a:ln>
            <a:solidFill>
              <a:srgbClr val="8D8A8A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200" cap="all" dirty="0" smtClean="0">
                <a:latin typeface="맑은 고딕" panose="020B0503020000020004" pitchFamily="50" charset="-127"/>
              </a:rPr>
              <a:t>인프라</a:t>
            </a:r>
            <a:r>
              <a:rPr lang="en-US" altLang="ko-KR" sz="1200" cap="all" dirty="0" smtClean="0">
                <a:latin typeface="맑은 고딕" panose="020B0503020000020004" pitchFamily="50" charset="-127"/>
              </a:rPr>
              <a:t>, S/W </a:t>
            </a:r>
            <a:r>
              <a:rPr lang="ko-KR" altLang="en-US" sz="1200" cap="all" dirty="0" smtClean="0">
                <a:latin typeface="맑은 고딕" panose="020B0503020000020004" pitchFamily="50" charset="-127"/>
              </a:rPr>
              <a:t>운영</a:t>
            </a:r>
            <a:endParaRPr lang="ko-KR" altLang="en-US" sz="1200" cap="all" dirty="0">
              <a:latin typeface="맑은 고딕" panose="020B0503020000020004" pitchFamily="50" charset="-127"/>
            </a:endParaRPr>
          </a:p>
        </p:txBody>
      </p:sp>
      <p:sp>
        <p:nvSpPr>
          <p:cNvPr id="100" name="순서도: 카드 99"/>
          <p:cNvSpPr/>
          <p:nvPr/>
        </p:nvSpPr>
        <p:spPr>
          <a:xfrm>
            <a:off x="5904454" y="3131532"/>
            <a:ext cx="728724" cy="211608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57769"/>
            <a:r>
              <a:rPr lang="ko-KR" altLang="en-US" sz="900" b="1" dirty="0">
                <a:solidFill>
                  <a:schemeClr val="tx1"/>
                </a:solidFill>
                <a:latin typeface="맑은 고딕"/>
                <a:ea typeface="맑은 고딕"/>
              </a:rPr>
              <a:t>자산화</a:t>
            </a:r>
            <a:r>
              <a:rPr lang="en-US" altLang="ko-KR" sz="900" b="1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/>
                <a:ea typeface="맑은 고딕"/>
              </a:rPr>
              <a:t>Tool</a:t>
            </a:r>
            <a:endParaRPr lang="ko-KR" altLang="en-US" sz="9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02" name="순서도: 카드 101"/>
          <p:cNvSpPr/>
          <p:nvPr/>
        </p:nvSpPr>
        <p:spPr>
          <a:xfrm>
            <a:off x="6680748" y="4256079"/>
            <a:ext cx="728724" cy="211608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57769"/>
            <a:r>
              <a:rPr lang="en-US" altLang="ko-KR" sz="900" b="1" dirty="0" smtClean="0">
                <a:solidFill>
                  <a:schemeClr val="tx1"/>
                </a:solidFill>
                <a:latin typeface="맑은 고딕"/>
                <a:ea typeface="맑은 고딕"/>
              </a:rPr>
              <a:t>ITSM*</a:t>
            </a:r>
            <a:endParaRPr lang="ko-KR" altLang="en-US" sz="9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5257301" y="5083553"/>
            <a:ext cx="4304342" cy="1321846"/>
            <a:chOff x="382077" y="5092569"/>
            <a:chExt cx="4304342" cy="1321846"/>
          </a:xfrm>
        </p:grpSpPr>
        <p:sp>
          <p:nvSpPr>
            <p:cNvPr id="54" name="사각형: 둥근 모서리 13">
              <a:extLst>
                <a:ext uri="{FF2B5EF4-FFF2-40B4-BE49-F238E27FC236}">
                  <a16:creationId xmlns:a16="http://schemas.microsoft.com/office/drawing/2014/main" id="{88A2428B-F342-CB01-04EA-56B27800DA66}"/>
                </a:ext>
              </a:extLst>
            </p:cNvPr>
            <p:cNvSpPr/>
            <p:nvPr/>
          </p:nvSpPr>
          <p:spPr bwMode="auto">
            <a:xfrm>
              <a:off x="382077" y="5092569"/>
              <a:ext cx="532642" cy="1289474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0" tIns="36000" rIns="0" bIns="0" rtlCol="0" anchor="ctr"/>
            <a:lstStyle/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ko-KR" altLang="en-US" sz="1200" b="1" cap="all" dirty="0" smtClean="0">
                  <a:latin typeface="맑은 고딕" panose="020B0503020000020004" pitchFamily="50" charset="-127"/>
                </a:rPr>
                <a:t>변경</a:t>
              </a:r>
              <a:r>
                <a:rPr lang="en-US" altLang="ko-KR" sz="1200" b="1" cap="all" dirty="0" smtClean="0">
                  <a:latin typeface="맑은 고딕" panose="020B0503020000020004" pitchFamily="50" charset="-127"/>
                </a:rPr>
                <a:t/>
              </a:r>
              <a:br>
                <a:rPr lang="en-US" altLang="ko-KR" sz="1200" b="1" cap="all" dirty="0" smtClean="0">
                  <a:latin typeface="맑은 고딕" panose="020B0503020000020004" pitchFamily="50" charset="-127"/>
                </a:rPr>
              </a:br>
              <a:r>
                <a:rPr lang="ko-KR" altLang="en-US" sz="1200" b="1" cap="all" dirty="0" smtClean="0">
                  <a:latin typeface="맑은 고딕" panose="020B0503020000020004" pitchFamily="50" charset="-127"/>
                </a:rPr>
                <a:t>필요</a:t>
              </a:r>
              <a:r>
                <a:rPr lang="en-US" altLang="ko-KR" sz="1200" b="1" cap="all" dirty="0" smtClean="0">
                  <a:latin typeface="맑은 고딕" panose="020B0503020000020004" pitchFamily="50" charset="-127"/>
                </a:rPr>
                <a:t/>
              </a:r>
              <a:br>
                <a:rPr lang="en-US" altLang="ko-KR" sz="1200" b="1" cap="all" dirty="0" smtClean="0">
                  <a:latin typeface="맑은 고딕" panose="020B0503020000020004" pitchFamily="50" charset="-127"/>
                </a:rPr>
              </a:br>
              <a:r>
                <a:rPr lang="ko-KR" altLang="en-US" sz="1200" b="1" cap="all" dirty="0" smtClean="0">
                  <a:latin typeface="맑은 고딕" panose="020B0503020000020004" pitchFamily="50" charset="-127"/>
                </a:rPr>
                <a:t>사항</a:t>
              </a:r>
              <a:endParaRPr kumimoji="0" lang="ko-KR" altLang="en-US" sz="1200" b="1" cap="all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4EE4BE-655C-F897-B411-B86F43AC0294}"/>
                </a:ext>
              </a:extLst>
            </p:cNvPr>
            <p:cNvSpPr txBox="1"/>
            <p:nvPr/>
          </p:nvSpPr>
          <p:spPr>
            <a:xfrm>
              <a:off x="910438" y="5098670"/>
              <a:ext cx="3775981" cy="1315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b="1" dirty="0" smtClean="0"/>
                <a:t>표준 업무 프로세스 지속 </a:t>
              </a:r>
              <a:r>
                <a:rPr lang="en-US" altLang="ko-KR" sz="1200" b="1" dirty="0" smtClean="0"/>
                <a:t>update </a:t>
              </a:r>
              <a:r>
                <a:rPr lang="ko-KR" altLang="en-US" sz="1200" b="1" dirty="0" smtClean="0"/>
                <a:t>및 개선 요청 시 영향도 검증 담당 필요 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영역별</a:t>
              </a:r>
              <a:r>
                <a:rPr lang="en-US" altLang="ko-KR" sz="1200" dirty="0" smtClean="0"/>
                <a:t>/</a:t>
              </a:r>
              <a:r>
                <a:rPr lang="ko-KR" altLang="en-US" sz="1200" dirty="0" smtClean="0"/>
                <a:t>지역별 </a:t>
              </a:r>
              <a:r>
                <a:rPr lang="en-US" altLang="ko-KR" sz="1200" dirty="0" smtClean="0"/>
                <a:t>1</a:t>
              </a:r>
              <a:r>
                <a:rPr lang="ko-KR" altLang="en-US" sz="1200" dirty="0" smtClean="0"/>
                <a:t>명 이상</a:t>
              </a:r>
              <a:r>
                <a:rPr lang="en-US" altLang="ko-KR" sz="1200" dirty="0" smtClean="0"/>
                <a:t>)</a:t>
              </a:r>
            </a:p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b="1" dirty="0" smtClean="0"/>
                <a:t>기준정보 생성</a:t>
              </a:r>
              <a:r>
                <a:rPr lang="en-US" altLang="ko-KR" sz="1200" b="1" dirty="0"/>
                <a:t> </a:t>
              </a:r>
              <a:r>
                <a:rPr lang="ko-KR" altLang="en-US" sz="1200" b="1" dirty="0" smtClean="0"/>
                <a:t>관리 인력과 모니터링 인력 확보 </a:t>
              </a:r>
              <a:endParaRPr lang="en-US" altLang="ko-KR" sz="1200" b="1" dirty="0" smtClean="0"/>
            </a:p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b="1" dirty="0" smtClean="0"/>
                <a:t>현업의 프로세스</a:t>
              </a:r>
              <a:r>
                <a:rPr lang="en-US" altLang="ko-KR" sz="1200" b="1" dirty="0" smtClean="0"/>
                <a:t>/</a:t>
              </a:r>
              <a:r>
                <a:rPr lang="ko-KR" altLang="en-US" sz="1200" b="1" dirty="0" smtClean="0"/>
                <a:t>기능 변경 요청 사항 접수 및 검토 인력의 양성 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기존 해외 </a:t>
              </a:r>
              <a:r>
                <a:rPr lang="en-US" altLang="ko-KR" sz="1200" dirty="0" smtClean="0"/>
                <a:t>ERP </a:t>
              </a:r>
              <a:r>
                <a:rPr lang="ko-KR" altLang="en-US" sz="1200" dirty="0" smtClean="0"/>
                <a:t>팀</a:t>
              </a:r>
              <a:r>
                <a:rPr lang="en-US" altLang="ko-KR" sz="1200" dirty="0"/>
                <a:t> </a:t>
              </a:r>
              <a:r>
                <a:rPr lang="ko-KR" altLang="en-US" sz="1200" dirty="0" smtClean="0"/>
                <a:t>검토</a:t>
              </a:r>
              <a:r>
                <a:rPr lang="en-US" altLang="ko-KR" sz="1200" dirty="0" smtClean="0"/>
                <a:t>)</a:t>
              </a:r>
            </a:p>
            <a:p>
              <a:pPr marL="171450" indent="-171450"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200" dirty="0" smtClean="0"/>
                <a:t>각 업무 지원 할 수 있는 </a:t>
              </a:r>
              <a:r>
                <a:rPr lang="en-US" altLang="ko-KR" sz="1200" dirty="0" smtClean="0"/>
                <a:t>Tool </a:t>
              </a:r>
              <a:r>
                <a:rPr lang="ko-KR" altLang="en-US" sz="1200" dirty="0" smtClean="0"/>
                <a:t>도입 검토</a:t>
              </a:r>
              <a:endParaRPr lang="ko-KR" altLang="en-US" sz="1200" dirty="0"/>
            </a:p>
          </p:txBody>
        </p:sp>
      </p:grpSp>
      <p:sp>
        <p:nvSpPr>
          <p:cNvPr id="60" name="오른쪽 화살표 59"/>
          <p:cNvSpPr/>
          <p:nvPr/>
        </p:nvSpPr>
        <p:spPr>
          <a:xfrm>
            <a:off x="4792707" y="3321027"/>
            <a:ext cx="290300" cy="2193065"/>
          </a:xfrm>
          <a:prstGeom prst="rightArrow">
            <a:avLst>
              <a:gd name="adj1" fmla="val 50000"/>
              <a:gd name="adj2" fmla="val 14381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A0605F-B4DD-07B2-7E69-76BEAEC84014}"/>
              </a:ext>
            </a:extLst>
          </p:cNvPr>
          <p:cNvSpPr txBox="1"/>
          <p:nvPr/>
        </p:nvSpPr>
        <p:spPr>
          <a:xfrm>
            <a:off x="5080349" y="6346075"/>
            <a:ext cx="4153878" cy="319376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R="0" lvl="0" algn="l" defTabSz="95776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1) SR : Service Request  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2)</a:t>
            </a:r>
            <a:r>
              <a:rPr kumimoji="0" lang="en-US" altLang="ko-KR" sz="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ITSM : IT Service Management IT</a:t>
            </a:r>
            <a:r>
              <a:rPr kumimoji="0" lang="ko-KR" altLang="en-US" sz="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변경 요건 관리 등의 지원 </a:t>
            </a:r>
            <a:r>
              <a:rPr lang="en-US" altLang="ko-KR" sz="800" noProof="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Tool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166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70057C7A-9CA6-438D-8150-585373BD3AC1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F99F5EC-B586-466A-BE34-F491BB142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[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참고</a:t>
            </a: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] GT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조직 구성 사례 </a:t>
            </a: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-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인력 규모 및 업무 영역</a:t>
            </a:r>
            <a:endParaRPr kumimoji="0" lang="ko-KR" altLang="en-US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B22D3811-9887-2B53-CC33-FF020A42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 smtClean="0"/>
              <a:t>GT </a:t>
            </a:r>
            <a:r>
              <a:rPr lang="ko-KR" altLang="en-US" spc="-150" dirty="0" smtClean="0"/>
              <a:t>조직 내 영역별 인력 수는 업무 프로세스</a:t>
            </a:r>
            <a:r>
              <a:rPr lang="en-US" altLang="ko-KR" spc="-150" dirty="0" smtClean="0"/>
              <a:t>(BPH </a:t>
            </a:r>
            <a:r>
              <a:rPr lang="ko-KR" altLang="en-US" spc="-150" dirty="0" smtClean="0"/>
              <a:t>수</a:t>
            </a:r>
            <a:r>
              <a:rPr lang="en-US" altLang="ko-KR" spc="-150" dirty="0" smtClean="0"/>
              <a:t>)</a:t>
            </a:r>
            <a:r>
              <a:rPr lang="ko-KR" altLang="en-US" spc="-150" dirty="0" smtClean="0"/>
              <a:t>와 시스템 구조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해외법인 수</a:t>
            </a:r>
            <a:r>
              <a:rPr lang="en-US" altLang="ko-KR" spc="-150" dirty="0" smtClean="0"/>
              <a:t>, Biz </a:t>
            </a:r>
            <a:r>
              <a:rPr lang="ko-KR" altLang="en-US" spc="-150" dirty="0" smtClean="0"/>
              <a:t>다양성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임직원 수 등 다양한 요소를 검토하여 산정됨</a:t>
            </a:r>
            <a:endParaRPr lang="ko-KR" altLang="en-US" spc="-150" dirty="0"/>
          </a:p>
        </p:txBody>
      </p:sp>
      <p:graphicFrame>
        <p:nvGraphicFramePr>
          <p:cNvPr id="8" name="표 6">
            <a:extLst>
              <a:ext uri="{FF2B5EF4-FFF2-40B4-BE49-F238E27FC236}">
                <a16:creationId xmlns:a16="http://schemas.microsoft.com/office/drawing/2014/main" id="{353B7355-7005-4D3E-99D1-A36BB8E2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29474"/>
              </p:ext>
            </p:extLst>
          </p:nvPr>
        </p:nvGraphicFramePr>
        <p:xfrm>
          <a:off x="273050" y="1758185"/>
          <a:ext cx="9283700" cy="4595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3779">
                  <a:extLst>
                    <a:ext uri="{9D8B030D-6E8A-4147-A177-3AD203B41FA5}">
                      <a16:colId xmlns:a16="http://schemas.microsoft.com/office/drawing/2014/main" val="1271421189"/>
                    </a:ext>
                  </a:extLst>
                </a:gridCol>
                <a:gridCol w="2957993">
                  <a:extLst>
                    <a:ext uri="{9D8B030D-6E8A-4147-A177-3AD203B41FA5}">
                      <a16:colId xmlns:a16="http://schemas.microsoft.com/office/drawing/2014/main" val="739499728"/>
                    </a:ext>
                  </a:extLst>
                </a:gridCol>
                <a:gridCol w="1347982">
                  <a:extLst>
                    <a:ext uri="{9D8B030D-6E8A-4147-A177-3AD203B41FA5}">
                      <a16:colId xmlns:a16="http://schemas.microsoft.com/office/drawing/2014/main" val="3739045719"/>
                    </a:ext>
                  </a:extLst>
                </a:gridCol>
                <a:gridCol w="1347982">
                  <a:extLst>
                    <a:ext uri="{9D8B030D-6E8A-4147-A177-3AD203B41FA5}">
                      <a16:colId xmlns:a16="http://schemas.microsoft.com/office/drawing/2014/main" val="465733598"/>
                    </a:ext>
                  </a:extLst>
                </a:gridCol>
                <a:gridCol w="1347982">
                  <a:extLst>
                    <a:ext uri="{9D8B030D-6E8A-4147-A177-3AD203B41FA5}">
                      <a16:colId xmlns:a16="http://schemas.microsoft.com/office/drawing/2014/main" val="3664997228"/>
                    </a:ext>
                  </a:extLst>
                </a:gridCol>
                <a:gridCol w="1347982">
                  <a:extLst>
                    <a:ext uri="{9D8B030D-6E8A-4147-A177-3AD203B41FA5}">
                      <a16:colId xmlns:a16="http://schemas.microsoft.com/office/drawing/2014/main" val="1265733392"/>
                    </a:ext>
                  </a:extLst>
                </a:gridCol>
              </a:tblGrid>
              <a:tr h="26339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GT</a:t>
                      </a:r>
                      <a:r>
                        <a:rPr lang="en-US" altLang="ko-KR" sz="1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400" b="1" baseline="0" dirty="0" smtClean="0">
                          <a:solidFill>
                            <a:schemeClr val="bg1"/>
                          </a:solidFill>
                        </a:rPr>
                        <a:t>조직 구성 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사례 </a:t>
                      </a:r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</a:rPr>
                        <a:t>(GT </a:t>
                      </a:r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</a:rPr>
                        <a:t>구성 당시 기준</a:t>
                      </a:r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사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사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사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K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사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31643"/>
                  </a:ext>
                </a:extLst>
              </a:tr>
              <a:tr h="45274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매출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</a:rPr>
                        <a:t>단위 원</a:t>
                      </a: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조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조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조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조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62292"/>
                  </a:ext>
                </a:extLst>
              </a:tr>
              <a:tr h="45274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인력 현황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천 명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천 명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천 명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4.5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천 명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2000" marR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792"/>
                  </a:ext>
                </a:extLst>
              </a:tr>
              <a:tr h="44613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Biz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ko-KR" altLang="en-US" sz="1400" b="1" baseline="0" dirty="0" smtClean="0"/>
                        <a:t>영역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업무 프로세스 </a:t>
                      </a:r>
                      <a:r>
                        <a:rPr lang="en-US" altLang="ko-KR" sz="1400" b="1" dirty="0" smtClean="0"/>
                        <a:t>(BPO)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15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11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8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22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1377707"/>
                  </a:ext>
                </a:extLst>
              </a:tr>
              <a:tr h="449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  : </a:t>
                      </a:r>
                      <a:r>
                        <a:rPr lang="ko-KR" altLang="en-US" sz="1200" dirty="0" smtClean="0"/>
                        <a:t>업무 영역별 </a:t>
                      </a:r>
                      <a:r>
                        <a:rPr lang="en-US" altLang="ko-KR" sz="1200" dirty="0" smtClean="0"/>
                        <a:t>1~2</a:t>
                      </a:r>
                      <a:r>
                        <a:rPr lang="ko-KR" altLang="en-US" sz="1200" dirty="0" smtClean="0"/>
                        <a:t>명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/>
                      </a:r>
                      <a:br>
                        <a:rPr lang="en-US" altLang="ko-KR" sz="1200" baseline="0" dirty="0" smtClean="0"/>
                      </a:br>
                      <a:r>
                        <a:rPr lang="en-US" altLang="ko-KR" sz="1200" baseline="0" dirty="0" smtClean="0"/>
                        <a:t>  : </a:t>
                      </a:r>
                      <a:r>
                        <a:rPr lang="ko-KR" altLang="en-US" sz="1200" baseline="0" dirty="0" err="1" smtClean="0"/>
                        <a:t>해외법인수</a:t>
                      </a:r>
                      <a:r>
                        <a:rPr lang="en-US" altLang="ko-KR" sz="1200" baseline="0" dirty="0" smtClean="0"/>
                        <a:t>, Biz </a:t>
                      </a:r>
                      <a:r>
                        <a:rPr lang="ko-KR" altLang="en-US" sz="1200" baseline="0" dirty="0" smtClean="0"/>
                        <a:t>다양성 추가 반영</a:t>
                      </a:r>
                      <a:endParaRPr lang="ko-KR" altLang="en-US" sz="1400" b="1" dirty="0" smtClean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183470"/>
                  </a:ext>
                </a:extLst>
              </a:tr>
              <a:tr h="398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기준정보</a:t>
                      </a:r>
                      <a:r>
                        <a:rPr lang="en-US" altLang="ko-KR" sz="1400" b="1" dirty="0" smtClean="0"/>
                        <a:t> (MD)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2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4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1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4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180269"/>
                  </a:ext>
                </a:extLst>
              </a:tr>
              <a:tr h="8093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통합 기준정보 영역별로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통제 인력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확보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자재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b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지원인력 별도 확보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자체 운영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자체 운영의 경우 각 사별로 유지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marL="36000" marR="36000" marT="0" marB="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marL="36000" marR="36000" marT="0" marB="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449086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IT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ko-KR" altLang="en-US" sz="1400" b="1" baseline="0" dirty="0" smtClean="0"/>
                        <a:t>영역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ERP /Legacy </a:t>
                      </a:r>
                      <a:r>
                        <a:rPr lang="ko-KR" altLang="en-US" sz="1200" b="1" baseline="0" dirty="0" smtClean="0"/>
                        <a:t>대응 </a:t>
                      </a:r>
                      <a:endParaRPr lang="en-US" altLang="ko-KR" sz="1200" b="1" dirty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4 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21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5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20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718273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개발</a:t>
                      </a:r>
                      <a:r>
                        <a:rPr lang="en-US" altLang="ko-KR" sz="1200" b="1" dirty="0" smtClean="0"/>
                        <a:t>/</a:t>
                      </a:r>
                      <a:r>
                        <a:rPr lang="ko-KR" altLang="en-US" sz="1200" b="1" dirty="0" smtClean="0"/>
                        <a:t>설계 인력 </a:t>
                      </a:r>
                      <a:r>
                        <a:rPr lang="en-US" altLang="ko-KR" sz="1200" b="1" dirty="0" smtClean="0"/>
                        <a:t>(</a:t>
                      </a:r>
                      <a:r>
                        <a:rPr lang="ko-KR" altLang="en-US" sz="1200" b="1" dirty="0" smtClean="0"/>
                        <a:t>자체</a:t>
                      </a:r>
                      <a:r>
                        <a:rPr lang="en-US" altLang="ko-KR" sz="1200" b="1" dirty="0" smtClean="0"/>
                        <a:t> or ITO)</a:t>
                      </a:r>
                      <a:endParaRPr lang="en-US" altLang="ko-KR" sz="1200" b="1" dirty="0"/>
                    </a:p>
                  </a:txBody>
                  <a:tcPr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12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ITO</a:t>
                      </a:r>
                      <a:r>
                        <a:rPr lang="en-US" altLang="ko-KR" sz="1200" b="0" baseline="0" dirty="0" smtClean="0"/>
                        <a:t> + 3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ITO + 3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/>
                        <a:t>ITO</a:t>
                      </a:r>
                      <a:endParaRPr lang="ko-KR" altLang="en-US" sz="1200" b="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26268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전체 인력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31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39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17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46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명 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8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26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961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70057C7A-9CA6-438D-8150-585373BD3AC1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F99F5EC-B586-466A-BE34-F491BB142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GT </a:t>
            </a:r>
            <a:r>
              <a:rPr kumimoji="0" lang="ko-KR" altLang="en-US" sz="2000" b="1" i="0" u="none" strike="noStrike" kern="0" cap="none" spc="-138" normalizeH="0" baseline="0" noProof="0" dirty="0" smtClean="0">
                <a:ln w="1905"/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운영 방식의 대안 검토 </a:t>
            </a:r>
            <a:endParaRPr kumimoji="0" lang="ko-KR" altLang="en-US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B22D3811-9887-2B53-CC33-FF020A42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altLang="ko-KR" spc="-150" dirty="0" smtClean="0"/>
              <a:t>GT </a:t>
            </a:r>
            <a:r>
              <a:rPr lang="ko-KR" altLang="en-US" spc="-150" dirty="0" smtClean="0"/>
              <a:t>운영은 주로 중앙 집중 통제하는 형태가 가장 많으나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빠른 고객 대응과 현장 완결을 중시하는 영원 특성을 고려할 때 기준 수립 및 통제</a:t>
            </a:r>
            <a:r>
              <a:rPr lang="en-US" altLang="ko-KR" spc="-150" dirty="0" smtClean="0"/>
              <a:t>/</a:t>
            </a:r>
            <a:r>
              <a:rPr lang="ko-KR" altLang="en-US" spc="-150" dirty="0" smtClean="0"/>
              <a:t>모니터링은 중앙에서</a:t>
            </a:r>
            <a:r>
              <a:rPr lang="en-US" altLang="ko-KR" spc="-150" dirty="0" smtClean="0"/>
              <a:t>,</a:t>
            </a:r>
            <a:r>
              <a:rPr lang="ko-KR" altLang="en-US" spc="-150" dirty="0" smtClean="0"/>
              <a:t> 실제 실행은 현지에서 하는 </a:t>
            </a:r>
            <a:r>
              <a:rPr lang="en-US" altLang="ko-KR" spc="-150" dirty="0" smtClean="0"/>
              <a:t>Hybrid </a:t>
            </a:r>
            <a:r>
              <a:rPr lang="ko-KR" altLang="en-US" spc="-150" dirty="0" smtClean="0"/>
              <a:t>형태를 고려할 수 있음</a:t>
            </a:r>
            <a:r>
              <a:rPr lang="en-US" altLang="ko-KR" spc="-150" dirty="0" smtClean="0"/>
              <a:t> </a:t>
            </a:r>
            <a:endParaRPr lang="ko-KR" altLang="en-US" spc="-150" dirty="0"/>
          </a:p>
        </p:txBody>
      </p:sp>
      <p:sp>
        <p:nvSpPr>
          <p:cNvPr id="7" name="TextBox 6"/>
          <p:cNvSpPr txBox="1"/>
          <p:nvPr/>
        </p:nvSpPr>
        <p:spPr>
          <a:xfrm>
            <a:off x="301747" y="2127610"/>
            <a:ext cx="1104900" cy="275002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spcBef>
                <a:spcPts val="400"/>
              </a:spcBef>
              <a:defRPr sz="1100" b="1" i="1">
                <a:latin typeface="+mn-ea"/>
                <a:cs typeface="Arial" pitchFamily="34" charset="0"/>
              </a:defRPr>
            </a:lvl1pPr>
          </a:lstStyle>
          <a:p>
            <a:pPr marL="0" marR="0" lvl="0" indent="0" algn="ctr" defTabSz="957769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업태</a:t>
            </a:r>
            <a:r>
              <a:rPr kumimoji="0" lang="en-US" altLang="ko-KR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,</a:t>
            </a: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규모 유사성高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857" y="2127610"/>
            <a:ext cx="1104900" cy="275002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spcBef>
                <a:spcPts val="400"/>
              </a:spcBef>
              <a:defRPr sz="1100" b="1" i="1">
                <a:latin typeface="+mn-ea"/>
                <a:cs typeface="Arial" pitchFamily="34" charset="0"/>
              </a:defRPr>
            </a:lvl1pPr>
          </a:lstStyle>
          <a:p>
            <a:pPr marL="0" marR="0" lvl="0" indent="0" algn="ctr" defTabSz="957769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특수성</a:t>
            </a:r>
            <a:r>
              <a:rPr kumimoji="0" lang="en-US" altLang="ko-KR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, </a:t>
            </a: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독립성高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905510F-BC16-FE7F-981E-A71A49DA3CDF}"/>
              </a:ext>
            </a:extLst>
          </p:cNvPr>
          <p:cNvGrpSpPr/>
          <p:nvPr/>
        </p:nvGrpSpPr>
        <p:grpSpPr>
          <a:xfrm>
            <a:off x="278887" y="1635408"/>
            <a:ext cx="5677224" cy="338554"/>
            <a:chOff x="5139003" y="1394966"/>
            <a:chExt cx="4361243" cy="3385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9916F5-80B8-D869-569F-B40AC1898569}"/>
                </a:ext>
              </a:extLst>
            </p:cNvPr>
            <p:cNvSpPr txBox="1"/>
            <p:nvPr/>
          </p:nvSpPr>
          <p:spPr>
            <a:xfrm>
              <a:off x="5139003" y="1394966"/>
              <a:ext cx="43612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819187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</a:rPr>
                <a:t>Global Template </a:t>
              </a:r>
              <a:r>
                <a:rPr lang="ko-KR" altLang="en-US" sz="1600" b="1" kern="0" dirty="0" smtClean="0">
                  <a:solidFill>
                    <a:srgbClr val="000000"/>
                  </a:solidFill>
                  <a:latin typeface="맑은 고딕"/>
                  <a:ea typeface="맑은 고딕"/>
                </a:rPr>
                <a:t>운영 방식 유형</a:t>
              </a: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14" name="Straight Connector 7">
              <a:extLst>
                <a:ext uri="{FF2B5EF4-FFF2-40B4-BE49-F238E27FC236}">
                  <a16:creationId xmlns:a16="http://schemas.microsoft.com/office/drawing/2014/main" id="{654A044A-3288-05AA-9FAE-6456BDCEE54A}"/>
                </a:ext>
              </a:extLst>
            </p:cNvPr>
            <p:cNvCxnSpPr/>
            <p:nvPr/>
          </p:nvCxnSpPr>
          <p:spPr>
            <a:xfrm>
              <a:off x="5139003" y="1712464"/>
              <a:ext cx="4361243" cy="0"/>
            </a:xfrm>
            <a:prstGeom prst="line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3233994" y="2535906"/>
            <a:ext cx="2744977" cy="328169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64242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859536"/>
            <a:endParaRPr lang="ko-KR" altLang="en-US" sz="1200" kern="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91" name="Rectangle 20"/>
          <p:cNvSpPr>
            <a:spLocks noChangeArrowheads="1"/>
          </p:cNvSpPr>
          <p:nvPr/>
        </p:nvSpPr>
        <p:spPr bwMode="auto">
          <a:xfrm>
            <a:off x="3672306" y="3798140"/>
            <a:ext cx="627625" cy="2412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sp>
        <p:nvSpPr>
          <p:cNvPr id="92" name="Rectangle 21"/>
          <p:cNvSpPr>
            <a:spLocks noChangeArrowheads="1"/>
          </p:cNvSpPr>
          <p:nvPr/>
        </p:nvSpPr>
        <p:spPr bwMode="auto">
          <a:xfrm>
            <a:off x="5090389" y="3798140"/>
            <a:ext cx="627626" cy="2412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sp>
        <p:nvSpPr>
          <p:cNvPr id="93" name="Rectangle 22"/>
          <p:cNvSpPr>
            <a:spLocks noChangeArrowheads="1"/>
          </p:cNvSpPr>
          <p:nvPr/>
        </p:nvSpPr>
        <p:spPr bwMode="auto">
          <a:xfrm>
            <a:off x="4382138" y="3798140"/>
            <a:ext cx="627626" cy="2412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cxnSp>
        <p:nvCxnSpPr>
          <p:cNvPr id="94" name="AutoShape 23"/>
          <p:cNvCxnSpPr>
            <a:cxnSpLocks noChangeShapeType="1"/>
            <a:stCxn id="131" idx="2"/>
            <a:endCxn id="91" idx="0"/>
          </p:cNvCxnSpPr>
          <p:nvPr/>
        </p:nvCxnSpPr>
        <p:spPr bwMode="auto">
          <a:xfrm rot="5400000">
            <a:off x="4260754" y="3205391"/>
            <a:ext cx="318114" cy="867384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95" name="AutoShape 24"/>
          <p:cNvCxnSpPr>
            <a:cxnSpLocks noChangeShapeType="1"/>
            <a:stCxn id="93" idx="0"/>
            <a:endCxn id="131" idx="2"/>
          </p:cNvCxnSpPr>
          <p:nvPr/>
        </p:nvCxnSpPr>
        <p:spPr bwMode="auto">
          <a:xfrm rot="5400000" flipH="1" flipV="1">
            <a:off x="4615670" y="3560307"/>
            <a:ext cx="318114" cy="157552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96" name="AutoShape 25"/>
          <p:cNvCxnSpPr>
            <a:cxnSpLocks noChangeShapeType="1"/>
            <a:stCxn id="131" idx="2"/>
            <a:endCxn id="92" idx="0"/>
          </p:cNvCxnSpPr>
          <p:nvPr/>
        </p:nvCxnSpPr>
        <p:spPr bwMode="auto">
          <a:xfrm rot="16200000" flipH="1">
            <a:off x="4969795" y="3363733"/>
            <a:ext cx="318114" cy="55069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sp>
        <p:nvSpPr>
          <p:cNvPr id="105" name="직사각형 104"/>
          <p:cNvSpPr/>
          <p:nvPr/>
        </p:nvSpPr>
        <p:spPr bwMode="auto">
          <a:xfrm>
            <a:off x="3318849" y="2616778"/>
            <a:ext cx="2537439" cy="298584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FFFFFF">
                <a:lumMod val="75000"/>
              </a:srgb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cs typeface="Arial"/>
              </a:rPr>
              <a:t>Hybrid </a:t>
            </a:r>
            <a:r>
              <a:rPr lang="ko-KR" altLang="en-US" sz="1400" b="1" kern="0" dirty="0" smtClean="0">
                <a:solidFill>
                  <a:srgbClr val="000000"/>
                </a:solidFill>
                <a:cs typeface="Arial"/>
              </a:rPr>
              <a:t>형 모델</a:t>
            </a:r>
            <a:endParaRPr lang="ko-KR" altLang="en-US" sz="1400" b="1" kern="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07" name="Text Box 47"/>
          <p:cNvSpPr txBox="1">
            <a:spLocks noChangeArrowheads="1"/>
          </p:cNvSpPr>
          <p:nvPr/>
        </p:nvSpPr>
        <p:spPr bwMode="auto">
          <a:xfrm>
            <a:off x="3287075" y="4329549"/>
            <a:ext cx="2638812" cy="140807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83566" marR="0" lvl="0" indent="-83566" fontAlgn="auto"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defRPr>
            </a:lvl1pPr>
          </a:lstStyle>
          <a:p>
            <a:pPr marL="83566" marR="0" lvl="0" indent="-83566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중앙</a:t>
            </a:r>
            <a:r>
              <a:rPr lang="ko-KR" altLang="en-US" sz="1200" kern="0" dirty="0" smtClean="0"/>
              <a:t>에서 </a:t>
            </a:r>
            <a:r>
              <a:rPr lang="en-US" altLang="ko-KR" sz="1200" kern="0" dirty="0" smtClean="0"/>
              <a:t>Template </a:t>
            </a:r>
            <a:r>
              <a:rPr lang="ko-KR" altLang="en-US" sz="1200" kern="0" dirty="0" smtClean="0"/>
              <a:t>관리 통제 하나</a:t>
            </a:r>
            <a:r>
              <a:rPr lang="en-US" altLang="ko-KR" sz="1200" kern="0" dirty="0" smtClean="0"/>
              <a:t>, </a:t>
            </a:r>
            <a:r>
              <a:rPr lang="ko-KR" altLang="en-US" sz="1200" kern="0" dirty="0" smtClean="0"/>
              <a:t>실제 운영은 현지에서 수행 </a:t>
            </a:r>
            <a:endParaRPr lang="en-US" altLang="ko-KR" sz="1200" kern="0" dirty="0"/>
          </a:p>
          <a:p>
            <a:pPr marL="83566" marR="0" lvl="0" indent="-83566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/>
            </a:pPr>
            <a:r>
              <a:rPr lang="ko-KR" altLang="en-US" sz="1200" kern="0" dirty="0" smtClean="0"/>
              <a:t>이전 가능한 영역 </a:t>
            </a:r>
            <a:r>
              <a:rPr lang="en-US" altLang="ko-KR" sz="1200" kern="0" dirty="0" smtClean="0"/>
              <a:t/>
            </a:r>
            <a:br>
              <a:rPr lang="en-US" altLang="ko-KR" sz="1200" kern="0" dirty="0" smtClean="0"/>
            </a:br>
            <a:r>
              <a:rPr lang="en-US" altLang="ko-KR" sz="1200" kern="0" dirty="0" smtClean="0"/>
              <a:t>  </a:t>
            </a:r>
            <a:r>
              <a:rPr lang="ko-KR" altLang="en-US" sz="1200" kern="0" dirty="0" smtClean="0"/>
              <a:t>①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기준정보 생성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/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변경 업무</a:t>
            </a:r>
            <a:r>
              <a:rPr lang="en-US" altLang="ko-KR" sz="1200" kern="0" dirty="0"/>
              <a:t/>
            </a:r>
            <a:br>
              <a:rPr lang="en-US" altLang="ko-KR" sz="1200" kern="0" dirty="0"/>
            </a:br>
            <a:r>
              <a:rPr lang="en-US" altLang="ko-KR" sz="1200" kern="0" dirty="0" smtClean="0"/>
              <a:t>  </a:t>
            </a:r>
            <a:r>
              <a:rPr lang="ko-KR" altLang="en-US" sz="1200" kern="0" dirty="0" smtClean="0"/>
              <a:t>② </a:t>
            </a:r>
            <a:r>
              <a:rPr lang="en-US" altLang="ko-KR" sz="1200" kern="0" dirty="0" smtClean="0"/>
              <a:t>IT(ERP, Legacy) </a:t>
            </a:r>
            <a:r>
              <a:rPr lang="ko-KR" altLang="en-US" sz="1200" kern="0" dirty="0" smtClean="0"/>
              <a:t>영역 운영 </a:t>
            </a:r>
            <a:endParaRPr lang="en-US" altLang="ko-KR" sz="1200" kern="0" dirty="0" smtClean="0"/>
          </a:p>
          <a:p>
            <a:pPr marL="83566" marR="0" lvl="0" indent="-83566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/>
            </a:pPr>
            <a:endParaRPr lang="en-US" altLang="ko-KR" sz="1200" kern="0" dirty="0"/>
          </a:p>
          <a:p>
            <a:pPr marL="0" marR="0" lvl="0" indent="0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[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주요 사례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]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현대기아자동차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, LG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전자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64" name="Rectangle 4"/>
          <p:cNvSpPr>
            <a:spLocks noChangeArrowheads="1"/>
          </p:cNvSpPr>
          <p:nvPr/>
        </p:nvSpPr>
        <p:spPr bwMode="auto">
          <a:xfrm>
            <a:off x="283794" y="2525953"/>
            <a:ext cx="2773853" cy="329164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64242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defTabSz="8595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67" name="Text Box 55"/>
          <p:cNvSpPr txBox="1">
            <a:spLocks noChangeArrowheads="1"/>
          </p:cNvSpPr>
          <p:nvPr/>
        </p:nvSpPr>
        <p:spPr bwMode="auto">
          <a:xfrm>
            <a:off x="392431" y="4319595"/>
            <a:ext cx="2606409" cy="1369606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83566" marR="0" lvl="0" indent="-83566" fontAlgn="auto"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defRPr>
            </a:lvl1pPr>
          </a:lstStyle>
          <a:p>
            <a:pPr marL="83566" marR="0" lvl="0" indent="-83566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중앙집중 관리를 통한 통합성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(GT)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의 유지에 중점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  <a:p>
            <a:pPr marL="83566" marR="0" lvl="0" indent="-83566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Tx/>
              <a:buChar char="•"/>
              <a:tabLst/>
              <a:defRPr/>
            </a:pPr>
            <a:r>
              <a:rPr lang="en-US" altLang="ko-KR" sz="1200" kern="0" dirty="0" smtClean="0"/>
              <a:t>(</a:t>
            </a:r>
            <a:r>
              <a:rPr lang="ko-KR" altLang="en-US" sz="1200" kern="0" dirty="0" smtClean="0"/>
              <a:t>일부</a:t>
            </a:r>
            <a:r>
              <a:rPr lang="en-US" altLang="ko-KR" sz="1200" kern="0" dirty="0" smtClean="0"/>
              <a:t>) </a:t>
            </a:r>
            <a:r>
              <a:rPr lang="ko-KR" altLang="en-US" sz="1200" kern="0" dirty="0" smtClean="0"/>
              <a:t>개별 </a:t>
            </a:r>
            <a:r>
              <a:rPr lang="en-US" altLang="ko-KR" sz="1200" kern="0" dirty="0" smtClean="0"/>
              <a:t>BU</a:t>
            </a:r>
            <a:r>
              <a:rPr lang="ko-KR" altLang="en-US" sz="1200" kern="0" dirty="0" smtClean="0"/>
              <a:t>의 특화 </a:t>
            </a:r>
            <a:r>
              <a:rPr lang="en-US" altLang="ko-KR" sz="1200" kern="0" dirty="0" smtClean="0"/>
              <a:t>Legacy </a:t>
            </a:r>
            <a:r>
              <a:rPr lang="ko-KR" altLang="en-US" sz="1200" kern="0" dirty="0" smtClean="0"/>
              <a:t>운영 관리를 위한 현지 </a:t>
            </a:r>
            <a:r>
              <a:rPr lang="en-US" altLang="ko-KR" sz="1200" kern="0" dirty="0" smtClean="0"/>
              <a:t>IT </a:t>
            </a:r>
            <a:r>
              <a:rPr lang="ko-KR" altLang="en-US" sz="1200" kern="0" dirty="0" smtClean="0"/>
              <a:t>운영 조직 존재</a:t>
            </a:r>
            <a:r>
              <a:rPr lang="en-US" altLang="ko-KR" sz="1200" kern="0" dirty="0" smtClean="0"/>
              <a:t/>
            </a:r>
            <a:br>
              <a:rPr lang="en-US" altLang="ko-KR" sz="1200" kern="0" dirty="0" smtClean="0"/>
            </a:b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  <a:p>
            <a:pPr marL="0" marR="0" lvl="0" indent="0" defTabSz="957769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[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주요 사례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]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아모레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코오롱 그룹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,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/>
            </a:r>
            <a:b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                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교원그룹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삼성전자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등</a:t>
            </a:r>
          </a:p>
        </p:txBody>
      </p:sp>
      <p:sp>
        <p:nvSpPr>
          <p:cNvPr id="81" name="Rectangle 58"/>
          <p:cNvSpPr>
            <a:spLocks noChangeArrowheads="1"/>
          </p:cNvSpPr>
          <p:nvPr/>
        </p:nvSpPr>
        <p:spPr bwMode="auto">
          <a:xfrm>
            <a:off x="1380015" y="3145254"/>
            <a:ext cx="1044544" cy="33477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1B1112"/>
            </a:solidFill>
            <a:miter lim="800000"/>
            <a:headEnd/>
            <a:tailEnd/>
          </a:ln>
        </p:spPr>
        <p:txBody>
          <a:bodyPr lIns="16920" tIns="10152" rIns="16920" bIns="10152" anchor="ctr" anchorCtr="1"/>
          <a:lstStyle/>
          <a:p>
            <a:pPr marL="83566" indent="-83566" algn="ctr" defTabSz="859536">
              <a:lnSpc>
                <a:spcPct val="80000"/>
              </a:lnSpc>
              <a:spcBef>
                <a:spcPct val="0"/>
              </a:spcBef>
              <a:buSzPct val="90000"/>
              <a:defRPr/>
            </a:pPr>
            <a:r>
              <a:rPr lang="ko-KR" altLang="en-US" sz="1100" kern="0" dirty="0">
                <a:solidFill>
                  <a:srgbClr val="000000"/>
                </a:solidFill>
                <a:cs typeface="Arial" panose="020B0604020202020204" pitchFamily="34" charset="0"/>
              </a:rPr>
              <a:t>그룹</a:t>
            </a:r>
            <a:r>
              <a:rPr lang="en-US" altLang="ko-KR" sz="1100" kern="0" dirty="0">
                <a:solidFill>
                  <a:srgbClr val="000000"/>
                </a:solidFill>
                <a:cs typeface="Arial" panose="020B0604020202020204" pitchFamily="34" charset="0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cs typeface="Arial" panose="020B0604020202020204" pitchFamily="34" charset="0"/>
              </a:rPr>
              <a:t>모기업</a:t>
            </a:r>
          </a:p>
        </p:txBody>
      </p:sp>
      <p:sp>
        <p:nvSpPr>
          <p:cNvPr id="82" name="Rectangle 59"/>
          <p:cNvSpPr>
            <a:spLocks noChangeArrowheads="1"/>
          </p:cNvSpPr>
          <p:nvPr/>
        </p:nvSpPr>
        <p:spPr bwMode="auto">
          <a:xfrm>
            <a:off x="891585" y="3798673"/>
            <a:ext cx="627625" cy="24066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sp>
        <p:nvSpPr>
          <p:cNvPr id="83" name="Rectangle 60"/>
          <p:cNvSpPr>
            <a:spLocks noChangeArrowheads="1"/>
          </p:cNvSpPr>
          <p:nvPr/>
        </p:nvSpPr>
        <p:spPr bwMode="auto">
          <a:xfrm>
            <a:off x="2284374" y="3798673"/>
            <a:ext cx="627625" cy="24066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sp>
        <p:nvSpPr>
          <p:cNvPr id="84" name="Rectangle 61"/>
          <p:cNvSpPr>
            <a:spLocks noChangeArrowheads="1"/>
          </p:cNvSpPr>
          <p:nvPr/>
        </p:nvSpPr>
        <p:spPr bwMode="auto">
          <a:xfrm>
            <a:off x="1588474" y="3798673"/>
            <a:ext cx="627625" cy="24066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indent="-83566" algn="ctr" defTabSz="859536">
              <a:spcAft>
                <a:spcPct val="20000"/>
              </a:spcAft>
              <a:buSzPct val="90000"/>
              <a:defRPr/>
            </a:pPr>
            <a:r>
              <a:rPr lang="en-US" altLang="ko-KR" sz="1200" kern="0" dirty="0">
                <a:solidFill>
                  <a:srgbClr val="000000"/>
                </a:solidFill>
                <a:cs typeface="Arial" panose="020B0604020202020204" pitchFamily="34" charset="0"/>
              </a:rPr>
              <a:t>BU</a:t>
            </a:r>
          </a:p>
        </p:txBody>
      </p:sp>
      <p:cxnSp>
        <p:nvCxnSpPr>
          <p:cNvPr id="85" name="AutoShape 62"/>
          <p:cNvCxnSpPr>
            <a:cxnSpLocks noChangeShapeType="1"/>
            <a:stCxn id="81" idx="2"/>
            <a:endCxn id="82" idx="0"/>
          </p:cNvCxnSpPr>
          <p:nvPr/>
        </p:nvCxnSpPr>
        <p:spPr bwMode="auto">
          <a:xfrm rot="5400000">
            <a:off x="1394520" y="3290905"/>
            <a:ext cx="318647" cy="69688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86" name="AutoShape 63"/>
          <p:cNvCxnSpPr>
            <a:cxnSpLocks noChangeShapeType="1"/>
            <a:stCxn id="81" idx="2"/>
            <a:endCxn id="83" idx="0"/>
          </p:cNvCxnSpPr>
          <p:nvPr/>
        </p:nvCxnSpPr>
        <p:spPr bwMode="auto">
          <a:xfrm rot="16200000" flipH="1">
            <a:off x="2090914" y="3291399"/>
            <a:ext cx="318647" cy="69590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87" name="AutoShape 64"/>
          <p:cNvCxnSpPr>
            <a:cxnSpLocks noChangeShapeType="1"/>
            <a:stCxn id="110" idx="3"/>
            <a:endCxn id="81" idx="1"/>
          </p:cNvCxnSpPr>
          <p:nvPr/>
        </p:nvCxnSpPr>
        <p:spPr bwMode="auto">
          <a:xfrm flipV="1">
            <a:off x="1047698" y="3312640"/>
            <a:ext cx="332317" cy="1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88" name="AutoShape 65"/>
          <p:cNvCxnSpPr>
            <a:cxnSpLocks noChangeShapeType="1"/>
            <a:stCxn id="81" idx="2"/>
            <a:endCxn id="84" idx="0"/>
          </p:cNvCxnSpPr>
          <p:nvPr/>
        </p:nvCxnSpPr>
        <p:spPr bwMode="auto">
          <a:xfrm>
            <a:off x="1902287" y="3480026"/>
            <a:ext cx="0" cy="318647"/>
          </a:xfrm>
          <a:prstGeom prst="straightConnector1">
            <a:avLst/>
          </a:prstGeom>
          <a:noFill/>
          <a:ln w="6350">
            <a:solidFill>
              <a:srgbClr val="1B1112"/>
            </a:solidFill>
            <a:round/>
            <a:headEnd/>
            <a:tailEnd/>
          </a:ln>
        </p:spPr>
      </p:cxnSp>
      <p:sp>
        <p:nvSpPr>
          <p:cNvPr id="103" name="직사각형 102"/>
          <p:cNvSpPr/>
          <p:nvPr/>
        </p:nvSpPr>
        <p:spPr bwMode="auto">
          <a:xfrm>
            <a:off x="387564" y="2616778"/>
            <a:ext cx="2537439" cy="298584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rgbClr val="FFFFFF">
                <a:lumMod val="75000"/>
              </a:srgb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</a:rPr>
              <a:t>중앙집중형모델</a:t>
            </a:r>
          </a:p>
        </p:txBody>
      </p:sp>
      <p:sp>
        <p:nvSpPr>
          <p:cNvPr id="110" name="Rectangle 31"/>
          <p:cNvSpPr>
            <a:spLocks noChangeArrowheads="1"/>
          </p:cNvSpPr>
          <p:nvPr/>
        </p:nvSpPr>
        <p:spPr bwMode="auto">
          <a:xfrm>
            <a:off x="420073" y="2989818"/>
            <a:ext cx="627625" cy="645645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t" anchorCtr="1"/>
          <a:lstStyle/>
          <a:p>
            <a:pPr marL="83566" marR="0" lvl="0" indent="-83566" algn="ctr" defTabSz="8595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rPr>
              <a:t>GT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273050" y="2274094"/>
            <a:ext cx="5800431" cy="3850267"/>
            <a:chOff x="273050" y="2205686"/>
            <a:chExt cx="6485802" cy="3850267"/>
          </a:xfrm>
        </p:grpSpPr>
        <p:cxnSp>
          <p:nvCxnSpPr>
            <p:cNvPr id="6" name="직선 화살표 연결선 5"/>
            <p:cNvCxnSpPr/>
            <p:nvPr/>
          </p:nvCxnSpPr>
          <p:spPr>
            <a:xfrm>
              <a:off x="273050" y="2396321"/>
              <a:ext cx="6485802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96414" y="2205686"/>
              <a:ext cx="1104900" cy="275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2000" tIns="36000" rIns="72000" bIns="36000" rtlCol="0" anchor="ctr"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Biz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특성</a:t>
              </a:r>
            </a:p>
          </p:txBody>
        </p:sp>
        <p:cxnSp>
          <p:nvCxnSpPr>
            <p:cNvPr id="113" name="직선 화살표 연결선 112"/>
            <p:cNvCxnSpPr/>
            <p:nvPr/>
          </p:nvCxnSpPr>
          <p:spPr>
            <a:xfrm>
              <a:off x="273050" y="5935526"/>
              <a:ext cx="6485801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2405752" y="5815099"/>
              <a:ext cx="2286225" cy="2408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2000" tIns="36000" rIns="72000" bIns="36000" rtlCol="0" anchor="ctr">
              <a:noAutofit/>
            </a:bodyPr>
            <a:lstStyle/>
            <a:p>
              <a:pPr marL="0" marR="0" lvl="0" indent="0" algn="ctr" defTabSz="957769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거버넌스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&amp; IT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/>
                  <a:cs typeface="Arial" pitchFamily="34" charset="0"/>
                </a:rPr>
                <a:t>서비스 특성</a:t>
              </a:r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387564" y="6032888"/>
            <a:ext cx="743312" cy="275002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L="0" marR="0" lvl="0" indent="0" algn="ctr" defTabSz="957769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표준화</a:t>
            </a:r>
            <a:r>
              <a:rPr kumimoji="0" lang="en-US" altLang="ko-KR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, </a:t>
            </a:r>
            <a:r>
              <a:rPr kumimoji="0" lang="ko-KR" alt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통합성高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31630" y="6022962"/>
            <a:ext cx="743312" cy="275002"/>
          </a:xfrm>
          <a:prstGeom prst="rect">
            <a:avLst/>
          </a:prstGeom>
          <a:noFill/>
          <a:ln>
            <a:noFill/>
          </a:ln>
        </p:spPr>
        <p:txBody>
          <a:bodyPr wrap="none" lIns="72000" tIns="36000" rIns="72000" bIns="36000" rtlCol="0" anchor="ctr">
            <a:noAutofit/>
          </a:bodyPr>
          <a:lstStyle/>
          <a:p>
            <a:pPr marL="0" marR="0" lvl="0" indent="0" algn="ctr" defTabSz="957769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효율화</a:t>
            </a:r>
            <a:r>
              <a:rPr kumimoji="0" lang="en-US" altLang="ko-KR" sz="1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, </a:t>
            </a:r>
            <a:r>
              <a:rPr kumimoji="0" lang="ko-KR" altLang="en-US" sz="1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적시성高</a:t>
            </a:r>
            <a:endParaRPr kumimoji="0" lang="ko-KR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464936" y="3203492"/>
            <a:ext cx="537899" cy="396000"/>
            <a:chOff x="461903" y="3217920"/>
            <a:chExt cx="592169" cy="396000"/>
          </a:xfrm>
          <a:solidFill>
            <a:schemeClr val="bg1">
              <a:lumMod val="95000"/>
            </a:schemeClr>
          </a:solidFill>
        </p:grpSpPr>
        <p:sp>
          <p:nvSpPr>
            <p:cNvPr id="126" name="Rectangle 44"/>
            <p:cNvSpPr>
              <a:spLocks noChangeArrowheads="1"/>
            </p:cNvSpPr>
            <p:nvPr/>
          </p:nvSpPr>
          <p:spPr bwMode="auto">
            <a:xfrm rot="16200000">
              <a:off x="559988" y="3325920"/>
              <a:ext cx="396000" cy="1800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16920" tIns="10152" rIns="16920" bIns="10152" anchor="ctr" anchorCtr="1"/>
            <a:lstStyle/>
            <a:p>
              <a:pPr marL="83566" marR="0" lvl="0" indent="-83566" algn="ctr" defTabSz="8595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2000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lang="ko-KR" altLang="en-US" sz="700" kern="0" dirty="0" smtClean="0">
                  <a:cs typeface="Arial" panose="020B0604020202020204" pitchFamily="34" charset="0"/>
                </a:rPr>
                <a:t>통제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27" name="Rectangle 44"/>
            <p:cNvSpPr>
              <a:spLocks noChangeArrowheads="1"/>
            </p:cNvSpPr>
            <p:nvPr/>
          </p:nvSpPr>
          <p:spPr bwMode="auto">
            <a:xfrm rot="16200000">
              <a:off x="353903" y="3325920"/>
              <a:ext cx="396000" cy="1800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16920" tIns="10152" rIns="16920" bIns="10152" anchor="ctr" anchorCtr="1"/>
            <a:lstStyle/>
            <a:p>
              <a:pPr marL="83566" marR="0" lvl="0" indent="-83566" algn="ctr" defTabSz="8595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2000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lang="ko-KR" altLang="en-US" sz="700" kern="0" dirty="0" smtClean="0">
                  <a:cs typeface="Arial" panose="020B0604020202020204" pitchFamily="34" charset="0"/>
                </a:rPr>
                <a:t>설계</a:t>
              </a:r>
              <a:r>
                <a:rPr lang="en-US" altLang="ko-KR" sz="700" kern="0" dirty="0" smtClean="0">
                  <a:cs typeface="Arial" panose="020B0604020202020204" pitchFamily="34" charset="0"/>
                </a:rPr>
                <a:t>/</a:t>
              </a:r>
              <a:r>
                <a:rPr lang="ko-KR" altLang="en-US" sz="700" kern="0" dirty="0" smtClean="0">
                  <a:cs typeface="Arial" panose="020B0604020202020204" pitchFamily="34" charset="0"/>
                </a:rPr>
                <a:t>운영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 rot="16200000">
              <a:off x="766072" y="3325920"/>
              <a:ext cx="396000" cy="1800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16920" tIns="10152" rIns="16920" bIns="10152" anchor="ctr" anchorCtr="1"/>
            <a:lstStyle/>
            <a:p>
              <a:pPr marL="83566" marR="0" lvl="0" indent="-83566" algn="ctr" defTabSz="8595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2000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lang="ko-KR" altLang="en-US" sz="700" kern="0" dirty="0" smtClean="0">
                  <a:cs typeface="Arial" panose="020B0604020202020204" pitchFamily="34" charset="0"/>
                </a:rPr>
                <a:t>모니터링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  <p:sp>
        <p:nvSpPr>
          <p:cNvPr id="131" name="Rectangle 58"/>
          <p:cNvSpPr>
            <a:spLocks noChangeArrowheads="1"/>
          </p:cNvSpPr>
          <p:nvPr/>
        </p:nvSpPr>
        <p:spPr bwMode="auto">
          <a:xfrm>
            <a:off x="4331231" y="3145254"/>
            <a:ext cx="1044544" cy="33477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1B1112"/>
            </a:solidFill>
            <a:miter lim="800000"/>
            <a:headEnd/>
            <a:tailEnd/>
          </a:ln>
        </p:spPr>
        <p:txBody>
          <a:bodyPr lIns="16920" tIns="10152" rIns="16920" bIns="10152" anchor="ctr" anchorCtr="1"/>
          <a:lstStyle/>
          <a:p>
            <a:pPr marL="83566" indent="-83566" algn="ctr" defTabSz="859536">
              <a:lnSpc>
                <a:spcPct val="80000"/>
              </a:lnSpc>
              <a:spcBef>
                <a:spcPct val="0"/>
              </a:spcBef>
              <a:buSzPct val="90000"/>
              <a:defRPr/>
            </a:pPr>
            <a:r>
              <a:rPr lang="ko-KR" altLang="en-US" sz="1100" kern="0" dirty="0">
                <a:solidFill>
                  <a:srgbClr val="000000"/>
                </a:solidFill>
                <a:cs typeface="Arial" panose="020B0604020202020204" pitchFamily="34" charset="0"/>
              </a:rPr>
              <a:t>그룹</a:t>
            </a:r>
            <a:r>
              <a:rPr lang="en-US" altLang="ko-KR" sz="1100" kern="0" dirty="0">
                <a:solidFill>
                  <a:srgbClr val="000000"/>
                </a:solidFill>
                <a:cs typeface="Arial" panose="020B0604020202020204" pitchFamily="34" charset="0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cs typeface="Arial" panose="020B0604020202020204" pitchFamily="34" charset="0"/>
              </a:rPr>
              <a:t>모기업</a:t>
            </a:r>
          </a:p>
        </p:txBody>
      </p:sp>
      <p:cxnSp>
        <p:nvCxnSpPr>
          <p:cNvPr id="132" name="AutoShape 64"/>
          <p:cNvCxnSpPr>
            <a:cxnSpLocks noChangeShapeType="1"/>
            <a:stCxn id="133" idx="3"/>
            <a:endCxn id="131" idx="1"/>
          </p:cNvCxnSpPr>
          <p:nvPr/>
        </p:nvCxnSpPr>
        <p:spPr bwMode="auto">
          <a:xfrm flipV="1">
            <a:off x="3998914" y="3312640"/>
            <a:ext cx="332317" cy="1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sp>
        <p:nvSpPr>
          <p:cNvPr id="133" name="Rectangle 31"/>
          <p:cNvSpPr>
            <a:spLocks noChangeArrowheads="1"/>
          </p:cNvSpPr>
          <p:nvPr/>
        </p:nvSpPr>
        <p:spPr bwMode="auto">
          <a:xfrm>
            <a:off x="3371289" y="2989818"/>
            <a:ext cx="627625" cy="645645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t" anchorCtr="1"/>
          <a:lstStyle/>
          <a:p>
            <a:pPr marL="83566" marR="0" lvl="0" indent="-83566" algn="ctr" defTabSz="8595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rPr>
              <a:t>GT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3603350" y="3215718"/>
            <a:ext cx="350701" cy="396000"/>
            <a:chOff x="667988" y="3217920"/>
            <a:chExt cx="386084" cy="396000"/>
          </a:xfrm>
          <a:solidFill>
            <a:schemeClr val="bg1">
              <a:lumMod val="95000"/>
            </a:schemeClr>
          </a:solidFill>
        </p:grpSpPr>
        <p:sp>
          <p:nvSpPr>
            <p:cNvPr id="135" name="Rectangle 44"/>
            <p:cNvSpPr>
              <a:spLocks noChangeArrowheads="1"/>
            </p:cNvSpPr>
            <p:nvPr/>
          </p:nvSpPr>
          <p:spPr bwMode="auto">
            <a:xfrm rot="16200000">
              <a:off x="559988" y="3325920"/>
              <a:ext cx="396000" cy="1800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16920" tIns="10152" rIns="16920" bIns="10152" anchor="ctr" anchorCtr="1"/>
            <a:lstStyle/>
            <a:p>
              <a:pPr marL="83566" marR="0" lvl="0" indent="-83566" algn="ctr" defTabSz="8595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2000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lang="ko-KR" altLang="en-US" sz="700" kern="0" dirty="0" smtClean="0">
                  <a:cs typeface="Arial" panose="020B0604020202020204" pitchFamily="34" charset="0"/>
                </a:rPr>
                <a:t>통제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37" name="Rectangle 44"/>
            <p:cNvSpPr>
              <a:spLocks noChangeArrowheads="1"/>
            </p:cNvSpPr>
            <p:nvPr/>
          </p:nvSpPr>
          <p:spPr bwMode="auto">
            <a:xfrm rot="16200000">
              <a:off x="766072" y="3325920"/>
              <a:ext cx="396000" cy="1800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lIns="16920" tIns="10152" rIns="16920" bIns="10152" anchor="ctr" anchorCtr="1"/>
            <a:lstStyle/>
            <a:p>
              <a:pPr marL="83566" marR="0" lvl="0" indent="-83566" algn="ctr" defTabSz="8595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2000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lang="ko-KR" altLang="en-US" sz="700" kern="0" dirty="0" smtClean="0">
                  <a:cs typeface="Arial" panose="020B0604020202020204" pitchFamily="34" charset="0"/>
                </a:rPr>
                <a:t>모니터링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  <p:sp>
        <p:nvSpPr>
          <p:cNvPr id="141" name="Rectangle 31"/>
          <p:cNvSpPr>
            <a:spLocks noChangeArrowheads="1"/>
          </p:cNvSpPr>
          <p:nvPr/>
        </p:nvSpPr>
        <p:spPr bwMode="auto">
          <a:xfrm>
            <a:off x="3670054" y="4064250"/>
            <a:ext cx="627625" cy="180000"/>
          </a:xfrm>
          <a:prstGeom prst="rect">
            <a:avLst/>
          </a:prstGeom>
          <a:solidFill>
            <a:schemeClr val="tx2"/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marL="83566" marR="0" lvl="0" indent="-83566" algn="ctr" defTabSz="8595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rPr>
              <a:t>GT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rPr>
              <a:t>운영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6873240" y="2235182"/>
            <a:ext cx="2048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 smtClean="0"/>
              <a:t>【 </a:t>
            </a:r>
            <a:r>
              <a:rPr lang="ko-KR" altLang="en-US" sz="1600" b="1" dirty="0" smtClean="0"/>
              <a:t>영원의 고려사항 </a:t>
            </a:r>
            <a:r>
              <a:rPr lang="en-US" altLang="ko-KR" sz="1600" b="1" dirty="0" smtClean="0"/>
              <a:t>】</a:t>
            </a:r>
            <a:endParaRPr lang="ko-KR" altLang="en-US" sz="1600" b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6282386" y="2615966"/>
            <a:ext cx="3350563" cy="3800709"/>
          </a:xfrm>
          <a:prstGeom prst="rect">
            <a:avLst/>
          </a:pr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72000" tIns="108000" rIns="72000" bIns="36000" rtlCol="0" anchor="t" anchorCtr="0">
            <a:noAutofit/>
          </a:bodyPr>
          <a:lstStyle/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 err="1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법인간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Biz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유사성과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  <a:cs typeface="Arial" pitchFamily="34" charset="0"/>
              </a:rPr>
              <a:t>강력한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  <a:cs typeface="Arial" pitchFamily="34" charset="0"/>
              </a:rPr>
              <a:t>Global Template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의 유지를 위해서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중앙집중형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모델이 적합하나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,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  <a:cs typeface="Arial" pitchFamily="34" charset="0"/>
              </a:rPr>
              <a:t>빠른 현장 지원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  <a:cs typeface="Arial" pitchFamily="34" charset="0"/>
              </a:rPr>
              <a:t>/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  <a:cs typeface="Arial" pitchFamily="34" charset="0"/>
              </a:rPr>
              <a:t>문제 해결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을 위해 현지 법인에서 운영을 수행하고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, </a:t>
            </a:r>
            <a:b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이 과정에서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HQ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내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GT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조직이</a:t>
            </a:r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승인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(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통제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),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모니터링 하는 체계 검토 필요 </a:t>
            </a:r>
            <a:endParaRPr lang="en-US" altLang="ko-KR" sz="1200" b="1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[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기준정보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] </a:t>
            </a:r>
            <a:br>
              <a:rPr lang="en-US" altLang="ko-KR" sz="1200" b="1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 - 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현지 법인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(KR 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포함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)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에서 생성하되 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   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중복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, 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오류 발생 방지를 위해 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중앙 </a:t>
            </a:r>
            <a:r>
              <a:rPr lang="en-US" altLang="ko-KR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GT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의</a:t>
            </a:r>
            <a:r>
              <a:rPr lang="en-US" altLang="ko-KR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   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승인 절차 도입 검토</a:t>
            </a:r>
            <a:r>
              <a:rPr lang="en-US" altLang="ko-KR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, 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사후 검증 포함</a:t>
            </a:r>
            <a:endParaRPr lang="en-US" altLang="ko-KR" sz="1200" u="sng" dirty="0" smtClean="0">
              <a:solidFill>
                <a:srgbClr val="000000"/>
              </a:solidFill>
              <a:latin typeface="맑은 고딕"/>
              <a:ea typeface="맑은 고딕"/>
              <a:cs typeface="Arial" pitchFamily="34" charset="0"/>
            </a:endParaRPr>
          </a:p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[ERP</a:t>
            </a:r>
            <a:r>
              <a:rPr kumimoji="0" lang="en-US" altLang="ko-KR" sz="12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기능 변경</a:t>
            </a:r>
            <a:r>
              <a:rPr kumimoji="0" lang="en-US" altLang="ko-KR" sz="12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  <a:t>]</a:t>
            </a:r>
            <a:br>
              <a:rPr kumimoji="0" lang="en-US" altLang="ko-KR" sz="12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1200" baseline="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 - </a:t>
            </a:r>
            <a:r>
              <a:rPr lang="en-US" altLang="ko-KR" sz="1200" baseline="0" dirty="0" err="1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Config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. 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주요 기능 변경 필요시 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중앙에서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/>
            </a:r>
            <a:b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    </a:t>
            </a:r>
            <a:r>
              <a:rPr lang="ko-KR" altLang="en-US" sz="1200" u="sng" dirty="0" smtClean="0">
                <a:solidFill>
                  <a:srgbClr val="000000"/>
                </a:solidFill>
                <a:latin typeface="맑은 고딕"/>
                <a:ea typeface="맑은 고딕"/>
                <a:cs typeface="Arial" pitchFamily="34" charset="0"/>
              </a:rPr>
              <a:t>영향도 분석 단계 반드시 거침</a:t>
            </a:r>
            <a:endParaRPr kumimoji="0" lang="en-US" altLang="ko-KR" sz="120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  <a:p>
            <a:pPr marL="0" marR="0" lvl="0" indent="0" algn="l" defTabSz="957769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 pitchFamily="34" charset="0"/>
            </a:endParaRPr>
          </a:p>
        </p:txBody>
      </p:sp>
      <p:sp>
        <p:nvSpPr>
          <p:cNvPr id="144" name="Rectangle 44"/>
          <p:cNvSpPr>
            <a:spLocks noChangeArrowheads="1"/>
          </p:cNvSpPr>
          <p:nvPr/>
        </p:nvSpPr>
        <p:spPr bwMode="auto">
          <a:xfrm rot="16200000">
            <a:off x="3290212" y="3337045"/>
            <a:ext cx="396000" cy="1635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marL="83566" marR="0" lvl="0" indent="-83566" algn="ctr" defTabSz="8595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lang="ko-KR" altLang="en-US" sz="700" kern="0" dirty="0" smtClean="0">
                <a:cs typeface="Arial" panose="020B0604020202020204" pitchFamily="34" charset="0"/>
              </a:rPr>
              <a:t>설계</a:t>
            </a:r>
            <a:endParaRPr kumimoji="0" lang="en-US" altLang="ko-KR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53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>
            <a:extLst>
              <a:ext uri="{FF2B5EF4-FFF2-40B4-BE49-F238E27FC236}">
                <a16:creationId xmlns:a16="http://schemas.microsoft.com/office/drawing/2014/main" id="{4DCA421D-D142-405A-90BF-F0DAA40DE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" y="927776"/>
            <a:ext cx="9332791" cy="5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t">
            <a:spAutoFit/>
          </a:bodyPr>
          <a:lstStyle>
            <a:defPPr>
              <a:defRPr lang="ko-KR"/>
            </a:defPPr>
            <a:lvl1pPr marR="0" lv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defRPr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Malgun Gothic"/>
              <a:buNone/>
              <a:tabLst/>
              <a:defRPr/>
            </a:pP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영원의 사업관리 역량 고도화를 위해 추진된 </a:t>
            </a:r>
            <a:r>
              <a:rPr kumimoji="0" lang="ko-KR" altLang="en-US" sz="1600" b="1" i="0" u="none" strike="noStrike" kern="1200" cap="none" spc="-15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목표원가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손익 분석</a:t>
            </a:r>
            <a:r>
              <a:rPr kumimoji="0" lang="en-US" altLang="ko-KR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,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사업계획 및 예산관리 등의 업무 기능은 시스템 구현 만으로 이행 될 수 있는 것이 아니라 이를 수행하기 위한 전문 </a:t>
            </a:r>
            <a:r>
              <a:rPr kumimoji="0" lang="ko-KR" altLang="en-US" sz="1600" b="1" i="0" u="none" strike="noStrike" kern="1200" cap="none" spc="-15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인력과 </a:t>
            </a:r>
            <a:r>
              <a:rPr kumimoji="0" lang="ko-KR" altLang="en-US" sz="1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</a:rPr>
              <a:t>향후 업무 프로세스 설계가 필요함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B8C1723-EA38-4168-9404-930FB5EA02F6}"/>
              </a:ext>
            </a:extLst>
          </p:cNvPr>
          <p:cNvSpPr txBox="1">
            <a:spLocks/>
          </p:cNvSpPr>
          <p:nvPr/>
        </p:nvSpPr>
        <p:spPr>
          <a:xfrm>
            <a:off x="4835941" y="6542151"/>
            <a:ext cx="239809" cy="2308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sz="900" b="0" kern="120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D689-CD72-46D1-AE0B-2BB7D6B163A0}" type="slidenum">
              <a:rPr kumimoji="0" lang="ko-KR" altLang="en-US" sz="900" b="0" i="0" u="none" strike="noStrike" kern="1200" cap="none" spc="-70" normalizeH="0" baseline="0" noProof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900" b="0" i="0" u="none" strike="noStrike" kern="1200" cap="none" spc="-70" normalizeH="0" baseline="0" noProof="0" dirty="0">
              <a:ln>
                <a:solidFill>
                  <a:srgbClr val="DDDDDD"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6E9AD385-ADED-48FC-830C-3EE7DF60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5" y="282033"/>
            <a:ext cx="8100378" cy="39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643" tIns="42322" rIns="84643" bIns="42322" anchor="ctr">
            <a:spAutoFit/>
          </a:bodyPr>
          <a:lstStyle/>
          <a:p>
            <a:pPr marL="0" marR="0" lvl="0" indent="0" algn="l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38" dirty="0" smtClean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사업 </a:t>
            </a:r>
            <a:r>
              <a:rPr lang="ko-KR" altLang="en-US" sz="2000" b="1" kern="0" spc="-138" dirty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관리 고도화를 위한 전문 조직</a:t>
            </a:r>
            <a:r>
              <a:rPr lang="en-US" altLang="ko-KR" sz="2000" b="1" kern="0" spc="-138" dirty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/</a:t>
            </a:r>
            <a:r>
              <a:rPr lang="ko-KR" altLang="en-US" sz="2000" b="1" kern="0" spc="-138" dirty="0">
                <a:ln w="1905"/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인력 구성</a:t>
            </a:r>
            <a:endParaRPr kumimoji="0" lang="ko-KR" altLang="en-US" sz="2000" b="1" i="0" u="none" strike="noStrike" kern="0" cap="none" spc="-138" normalizeH="0" baseline="0" noProof="0" dirty="0">
              <a:ln w="1905"/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9D6E86-AB90-409F-84A9-5E90855E5D6D}"/>
              </a:ext>
            </a:extLst>
          </p:cNvPr>
          <p:cNvGrpSpPr/>
          <p:nvPr/>
        </p:nvGrpSpPr>
        <p:grpSpPr>
          <a:xfrm>
            <a:off x="399764" y="1764542"/>
            <a:ext cx="4364259" cy="321803"/>
            <a:chOff x="1313578" y="1406437"/>
            <a:chExt cx="2160003" cy="3218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BF3208-9C05-4047-9AA2-70CBD3F048E6}"/>
                </a:ext>
              </a:extLst>
            </p:cNvPr>
            <p:cNvSpPr txBox="1"/>
            <p:nvPr/>
          </p:nvSpPr>
          <p:spPr bwMode="gray">
            <a:xfrm>
              <a:off x="1313578" y="1406437"/>
              <a:ext cx="2160000" cy="32180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사업 관리 업무 영역</a:t>
              </a:r>
              <a:endParaRPr kumimoji="0" lang="en-GB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8" name="Line 70">
              <a:extLst>
                <a:ext uri="{FF2B5EF4-FFF2-40B4-BE49-F238E27FC236}">
                  <a16:creationId xmlns:a16="http://schemas.microsoft.com/office/drawing/2014/main" id="{8C020BF2-DC18-43F4-99B5-ACC52504D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579" y="1728010"/>
              <a:ext cx="216000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771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E84CDC-F78C-4FB2-9AA2-D3E817888043}"/>
              </a:ext>
            </a:extLst>
          </p:cNvPr>
          <p:cNvSpPr/>
          <p:nvPr/>
        </p:nvSpPr>
        <p:spPr bwMode="auto">
          <a:xfrm>
            <a:off x="516352" y="3989727"/>
            <a:ext cx="4165376" cy="2301346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72000" bIns="72000" rtlCol="0" anchor="b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all" spc="0" normalizeH="0" baseline="0" noProof="0" dirty="0" smtClean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all" spc="0" normalizeH="0" baseline="0" noProof="0" dirty="0" smtClean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단기</a:t>
            </a:r>
            <a:r>
              <a:rPr kumimoji="0" lang="en-US" altLang="ko-KR" sz="1400" b="1" i="0" u="none" strike="noStrike" kern="1200" cap="all" spc="0" normalizeH="0" baseline="0" noProof="0" dirty="0" smtClean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400" b="1" i="0" u="none" strike="noStrike" kern="1200" cap="all" spc="0" normalizeH="0" baseline="0" noProof="0" dirty="0" smtClean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담당 인력 </a:t>
            </a:r>
            <a:r>
              <a:rPr kumimoji="0" lang="ko-KR" alt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 필요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CD312B-D4AC-43FF-A70E-936E1FB050F8}"/>
              </a:ext>
            </a:extLst>
          </p:cNvPr>
          <p:cNvGrpSpPr/>
          <p:nvPr/>
        </p:nvGrpSpPr>
        <p:grpSpPr>
          <a:xfrm>
            <a:off x="642730" y="4098458"/>
            <a:ext cx="3912621" cy="487340"/>
            <a:chOff x="812399" y="3879002"/>
            <a:chExt cx="3912621" cy="48734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78A747E-C832-4087-9A56-4D9C3B793B05}"/>
                </a:ext>
              </a:extLst>
            </p:cNvPr>
            <p:cNvSpPr/>
            <p:nvPr/>
          </p:nvSpPr>
          <p:spPr bwMode="auto">
            <a:xfrm>
              <a:off x="812399" y="3879002"/>
              <a:ext cx="1692676" cy="4873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lIns="0" tIns="3600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원가 분석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8965784-C7DA-4F25-B5FA-5213453901E2}"/>
                </a:ext>
              </a:extLst>
            </p:cNvPr>
            <p:cNvSpPr/>
            <p:nvPr/>
          </p:nvSpPr>
          <p:spPr bwMode="auto">
            <a:xfrm>
              <a:off x="3032344" y="3879002"/>
              <a:ext cx="1692676" cy="4873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lIns="0" tIns="3600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손익 분석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542C233-B183-4150-B335-4C2D12847E36}"/>
              </a:ext>
            </a:extLst>
          </p:cNvPr>
          <p:cNvSpPr txBox="1"/>
          <p:nvPr/>
        </p:nvSpPr>
        <p:spPr>
          <a:xfrm>
            <a:off x="625582" y="4703924"/>
            <a:ext cx="176100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목표 원가 산정</a:t>
            </a:r>
            <a:r>
              <a:rPr lang="en-US" altLang="ko-KR" sz="1200" dirty="0">
                <a:latin typeface="+mn-ea"/>
                <a:cs typeface="Arial" pitchFamily="34" charset="0"/>
              </a:rPr>
              <a:t>/</a:t>
            </a:r>
            <a:r>
              <a:rPr lang="ko-KR" altLang="en-US" sz="1200" dirty="0">
                <a:latin typeface="+mn-ea"/>
                <a:cs typeface="Arial" pitchFamily="34" charset="0"/>
              </a:rPr>
              <a:t>관리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실제원가 집계 및 목표 대비 실제 </a:t>
            </a:r>
            <a:r>
              <a:rPr lang="en-US" altLang="ko-KR" sz="1200" dirty="0">
                <a:latin typeface="+mn-ea"/>
                <a:cs typeface="Arial" pitchFamily="34" charset="0"/>
              </a:rPr>
              <a:t>Gap </a:t>
            </a:r>
            <a:r>
              <a:rPr lang="ko-KR" altLang="en-US" sz="1200" dirty="0">
                <a:latin typeface="+mn-ea"/>
                <a:cs typeface="Arial" pitchFamily="34" charset="0"/>
              </a:rPr>
              <a:t>분석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  <a:cs typeface="Arial" pitchFamily="34" charset="0"/>
              </a:rPr>
              <a:t>Gap </a:t>
            </a:r>
            <a:r>
              <a:rPr lang="ko-KR" altLang="en-US" sz="1200" dirty="0">
                <a:latin typeface="+mn-ea"/>
                <a:cs typeface="Arial" pitchFamily="34" charset="0"/>
              </a:rPr>
              <a:t>원인 파악 기반 개선 기회 도출</a:t>
            </a:r>
            <a:endParaRPr lang="en-US" altLang="ko-KR" sz="1200" dirty="0">
              <a:latin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381B8-82F1-4EB5-BEE7-65149CF1D316}"/>
              </a:ext>
            </a:extLst>
          </p:cNvPr>
          <p:cNvSpPr txBox="1"/>
          <p:nvPr/>
        </p:nvSpPr>
        <p:spPr>
          <a:xfrm>
            <a:off x="2886564" y="4703923"/>
            <a:ext cx="169267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손익 집계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사업부</a:t>
            </a:r>
            <a:r>
              <a:rPr lang="en-US" altLang="ko-KR" sz="1200" dirty="0">
                <a:latin typeface="+mn-ea"/>
                <a:cs typeface="Arial" pitchFamily="34" charset="0"/>
              </a:rPr>
              <a:t>/</a:t>
            </a:r>
            <a:r>
              <a:rPr lang="ko-KR" altLang="en-US" sz="1200" dirty="0">
                <a:latin typeface="+mn-ea"/>
                <a:cs typeface="Arial" pitchFamily="34" charset="0"/>
              </a:rPr>
              <a:t>제품</a:t>
            </a:r>
            <a:r>
              <a:rPr lang="en-US" altLang="ko-KR" sz="1200" dirty="0">
                <a:latin typeface="+mn-ea"/>
                <a:cs typeface="Arial" pitchFamily="34" charset="0"/>
              </a:rPr>
              <a:t>/</a:t>
            </a:r>
            <a:r>
              <a:rPr lang="ko-KR" altLang="en-US" sz="1200" dirty="0">
                <a:latin typeface="+mn-ea"/>
                <a:cs typeface="Arial" pitchFamily="34" charset="0"/>
              </a:rPr>
              <a:t>시즌</a:t>
            </a:r>
            <a:r>
              <a:rPr lang="en-US" altLang="ko-KR" sz="1200" dirty="0">
                <a:latin typeface="+mn-ea"/>
                <a:cs typeface="Arial" pitchFamily="34" charset="0"/>
              </a:rPr>
              <a:t>/</a:t>
            </a:r>
            <a:r>
              <a:rPr lang="ko-KR" altLang="en-US" sz="1200" dirty="0">
                <a:latin typeface="+mn-ea"/>
                <a:cs typeface="Arial" pitchFamily="34" charset="0"/>
              </a:rPr>
              <a:t>고객 등 다차원 손익 분석</a:t>
            </a:r>
            <a:endParaRPr lang="en-US" altLang="ko-KR" sz="1200" dirty="0">
              <a:latin typeface="+mn-ea"/>
              <a:cs typeface="Arial" pitchFamily="34" charset="0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6CF7825-8D52-4CFC-80AF-0E689000A723}"/>
              </a:ext>
            </a:extLst>
          </p:cNvPr>
          <p:cNvSpPr/>
          <p:nvPr/>
        </p:nvSpPr>
        <p:spPr>
          <a:xfrm>
            <a:off x="2371391" y="4181226"/>
            <a:ext cx="421005" cy="32180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66DF15E-D3B7-42AA-A905-B55354BFE379}"/>
              </a:ext>
            </a:extLst>
          </p:cNvPr>
          <p:cNvGrpSpPr/>
          <p:nvPr/>
        </p:nvGrpSpPr>
        <p:grpSpPr>
          <a:xfrm>
            <a:off x="642730" y="2581425"/>
            <a:ext cx="3912621" cy="487340"/>
            <a:chOff x="812399" y="3879002"/>
            <a:chExt cx="3912621" cy="48734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CEE7BFB-3D77-4ED2-BE36-1DFF64A36D39}"/>
                </a:ext>
              </a:extLst>
            </p:cNvPr>
            <p:cNvSpPr/>
            <p:nvPr/>
          </p:nvSpPr>
          <p:spPr bwMode="auto">
            <a:xfrm>
              <a:off x="812399" y="3879002"/>
              <a:ext cx="1692676" cy="4873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lIns="0" tIns="3600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사업 계획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AC3C7A1-4E98-4928-9B0A-FD9686A7D878}"/>
                </a:ext>
              </a:extLst>
            </p:cNvPr>
            <p:cNvSpPr/>
            <p:nvPr/>
          </p:nvSpPr>
          <p:spPr bwMode="auto">
            <a:xfrm>
              <a:off x="3032344" y="3879002"/>
              <a:ext cx="1692676" cy="4873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lIns="0" tIns="3600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예산 관리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7B60BE3-32E4-47AA-A5F9-B67AB80DE224}"/>
              </a:ext>
            </a:extLst>
          </p:cNvPr>
          <p:cNvSpPr txBox="1"/>
          <p:nvPr/>
        </p:nvSpPr>
        <p:spPr>
          <a:xfrm>
            <a:off x="625582" y="3105853"/>
            <a:ext cx="176100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일정 수립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배부 기준 수립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사업 계획 </a:t>
            </a:r>
            <a:r>
              <a:rPr lang="en-US" altLang="ko-KR" sz="1200" dirty="0">
                <a:latin typeface="+mn-ea"/>
                <a:cs typeface="Arial" pitchFamily="34" charset="0"/>
              </a:rPr>
              <a:t>(PL, BS)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97497DA-987A-408C-8670-A5CE81C99FA0}"/>
              </a:ext>
            </a:extLst>
          </p:cNvPr>
          <p:cNvSpPr/>
          <p:nvPr/>
        </p:nvSpPr>
        <p:spPr>
          <a:xfrm>
            <a:off x="2371391" y="2700362"/>
            <a:ext cx="421005" cy="32180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71ED8D-43FC-4000-9567-9757BFA93D94}"/>
              </a:ext>
            </a:extLst>
          </p:cNvPr>
          <p:cNvSpPr txBox="1"/>
          <p:nvPr/>
        </p:nvSpPr>
        <p:spPr>
          <a:xfrm>
            <a:off x="2886564" y="3105853"/>
            <a:ext cx="176100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부서 예산 수립</a:t>
            </a:r>
            <a:endParaRPr lang="en-US" altLang="ko-KR" sz="120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  <a:cs typeface="Arial" pitchFamily="34" charset="0"/>
              </a:rPr>
              <a:t>투자 예산 수립</a:t>
            </a:r>
            <a:endParaRPr lang="en-US" altLang="ko-KR" sz="1200" dirty="0">
              <a:latin typeface="+mn-ea"/>
              <a:cs typeface="Arial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AE4A2-7A77-45E9-B175-A0666AF23B0F}"/>
              </a:ext>
            </a:extLst>
          </p:cNvPr>
          <p:cNvSpPr/>
          <p:nvPr/>
        </p:nvSpPr>
        <p:spPr bwMode="auto">
          <a:xfrm>
            <a:off x="389975" y="2204240"/>
            <a:ext cx="4445966" cy="4212433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72000" rIns="72000" bIns="72000" rtlCol="0" anchor="t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all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중기</a:t>
            </a:r>
            <a:r>
              <a:rPr lang="en-US" altLang="ko-KR" sz="1400" b="1" cap="all" dirty="0">
                <a:solidFill>
                  <a:srgbClr val="4472C4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cap="all" dirty="0">
                <a:solidFill>
                  <a:srgbClr val="4472C4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 구성 및 업무 프로세스 설계</a:t>
            </a:r>
            <a:endParaRPr kumimoji="0" lang="ko-KR" altLang="en-US" sz="1400" b="1" i="0" u="none" strike="noStrike" kern="1200" cap="all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43C888-7F42-48D5-8325-F4BC27BDC7E0}"/>
              </a:ext>
            </a:extLst>
          </p:cNvPr>
          <p:cNvSpPr txBox="1"/>
          <p:nvPr/>
        </p:nvSpPr>
        <p:spPr>
          <a:xfrm>
            <a:off x="5955109" y="2242871"/>
            <a:ext cx="2675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【 </a:t>
            </a:r>
            <a:r>
              <a:rPr lang="ko-KR" altLang="en-US" sz="1600" b="1" dirty="0"/>
              <a:t>사업 관리 조직 구조 案 </a:t>
            </a:r>
            <a:r>
              <a:rPr lang="en-US" altLang="ko-KR" sz="1600" b="1" dirty="0"/>
              <a:t>】</a:t>
            </a:r>
            <a:endParaRPr lang="ko-KR" altLang="en-US" sz="1600" b="1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449EEE5D-94A9-4FF4-8DAC-8CD525921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226" y="2897753"/>
            <a:ext cx="1053598" cy="33522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1B1112"/>
            </a:solidFill>
            <a:miter lim="800000"/>
            <a:headEnd/>
            <a:tailEnd/>
          </a:ln>
        </p:spPr>
        <p:txBody>
          <a:bodyPr lIns="16920" tIns="10152" rIns="16920" bIns="10152" anchor="ctr" anchorCtr="1"/>
          <a:lstStyle/>
          <a:p>
            <a:pPr marL="83566" marR="0" lvl="0" indent="-83566" algn="ctr" defTabSz="859536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영원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 HQ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30" name="AutoShape 23">
            <a:extLst>
              <a:ext uri="{FF2B5EF4-FFF2-40B4-BE49-F238E27FC236}">
                <a16:creationId xmlns:a16="http://schemas.microsoft.com/office/drawing/2014/main" id="{AC659A65-AC96-4B36-8304-F68F5DCA422B}"/>
              </a:ext>
            </a:extLst>
          </p:cNvPr>
          <p:cNvCxnSpPr>
            <a:cxnSpLocks noChangeShapeType="1"/>
            <a:stCxn id="26" idx="2"/>
            <a:endCxn id="27" idx="0"/>
          </p:cNvCxnSpPr>
          <p:nvPr/>
        </p:nvCxnSpPr>
        <p:spPr bwMode="auto">
          <a:xfrm rot="16200000" flipH="1">
            <a:off x="7038658" y="3403348"/>
            <a:ext cx="476593" cy="13585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31" name="AutoShape 24">
            <a:extLst>
              <a:ext uri="{FF2B5EF4-FFF2-40B4-BE49-F238E27FC236}">
                <a16:creationId xmlns:a16="http://schemas.microsoft.com/office/drawing/2014/main" id="{477157A9-EB8B-4BD1-822C-AFFA9FAFA2EC}"/>
              </a:ext>
            </a:extLst>
          </p:cNvPr>
          <p:cNvCxnSpPr>
            <a:cxnSpLocks noChangeShapeType="1"/>
            <a:stCxn id="29" idx="0"/>
            <a:endCxn id="26" idx="2"/>
          </p:cNvCxnSpPr>
          <p:nvPr/>
        </p:nvCxnSpPr>
        <p:spPr bwMode="auto">
          <a:xfrm rot="16200000" flipV="1">
            <a:off x="7426991" y="3015017"/>
            <a:ext cx="476593" cy="912524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cxnSp>
        <p:nvCxnSpPr>
          <p:cNvPr id="32" name="AutoShape 25">
            <a:extLst>
              <a:ext uri="{FF2B5EF4-FFF2-40B4-BE49-F238E27FC236}">
                <a16:creationId xmlns:a16="http://schemas.microsoft.com/office/drawing/2014/main" id="{A3291020-1184-4A21-8B12-72DFD87D7152}"/>
              </a:ext>
            </a:extLst>
          </p:cNvPr>
          <p:cNvCxnSpPr>
            <a:cxnSpLocks noChangeShapeType="1"/>
            <a:stCxn id="26" idx="2"/>
            <a:endCxn id="28" idx="0"/>
          </p:cNvCxnSpPr>
          <p:nvPr/>
        </p:nvCxnSpPr>
        <p:spPr bwMode="auto">
          <a:xfrm rot="16200000" flipH="1">
            <a:off x="7787148" y="2654859"/>
            <a:ext cx="476593" cy="1632838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sp>
        <p:nvSpPr>
          <p:cNvPr id="36" name="Rectangle 31">
            <a:extLst>
              <a:ext uri="{FF2B5EF4-FFF2-40B4-BE49-F238E27FC236}">
                <a16:creationId xmlns:a16="http://schemas.microsoft.com/office/drawing/2014/main" id="{7E360F97-270B-4A58-8C2F-E44AD4708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103" y="3366925"/>
            <a:ext cx="1357756" cy="26296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algn="ctr" defTabSz="859536">
              <a:spcAft>
                <a:spcPct val="20000"/>
              </a:spcAft>
              <a:buSzPct val="90000"/>
            </a:pPr>
            <a:r>
              <a:rPr lang="ko-KR" altLang="en-US" sz="1050" kern="0" dirty="0">
                <a:latin typeface="맑은 고딕"/>
                <a:ea typeface="맑은 고딕"/>
                <a:cs typeface="Arial" panose="020B0604020202020204" pitchFamily="34" charset="0"/>
              </a:rPr>
              <a:t>경영관리</a:t>
            </a:r>
            <a:endParaRPr lang="en-US" altLang="ko-KR" sz="1050" kern="0" dirty="0"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37" name="AutoShape 32">
            <a:extLst>
              <a:ext uri="{FF2B5EF4-FFF2-40B4-BE49-F238E27FC236}">
                <a16:creationId xmlns:a16="http://schemas.microsoft.com/office/drawing/2014/main" id="{537121F4-DD0B-4082-8D31-E9A955C6C105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auto">
          <a:xfrm flipV="1">
            <a:off x="6733859" y="3329973"/>
            <a:ext cx="475166" cy="1684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564242"/>
            </a:solidFill>
            <a:miter lim="800000"/>
            <a:headEnd/>
            <a:tailEnd/>
          </a:ln>
        </p:spPr>
      </p:cxnSp>
      <p:sp>
        <p:nvSpPr>
          <p:cNvPr id="25" name="Rectangle 18">
            <a:extLst>
              <a:ext uri="{FF2B5EF4-FFF2-40B4-BE49-F238E27FC236}">
                <a16:creationId xmlns:a16="http://schemas.microsoft.com/office/drawing/2014/main" id="{A24C5E9A-049B-4BDB-B7BD-733555452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523" y="4061533"/>
            <a:ext cx="589696" cy="28434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marR="0" lvl="0" algn="ctr" defTabSz="8595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경영관리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22A8F316-4EEB-492C-9903-EDAB30B5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36" y="3709575"/>
            <a:ext cx="589696" cy="28434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marR="0" lvl="0" indent="-83566" algn="ctr" defTabSz="8595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lang="en-US" altLang="ko-KR" sz="1200" b="1" kern="0" dirty="0">
                <a:solidFill>
                  <a:schemeClr val="bg1"/>
                </a:solidFill>
                <a:latin typeface="맑은 고딕"/>
                <a:ea typeface="맑은 고딕"/>
                <a:cs typeface="Arial" panose="020B0604020202020204" pitchFamily="34" charset="0"/>
              </a:rPr>
              <a:t>YCL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35ADBC32-63A4-49D9-993C-32097089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014" y="3709575"/>
            <a:ext cx="589698" cy="28434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marR="0" lvl="0" indent="-83566" algn="ctr" defTabSz="8595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KSI</a:t>
            </a: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B9448A31-68CC-44EB-80E8-4EF52DB67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700" y="3709575"/>
            <a:ext cx="589698" cy="28434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50760" tIns="10152" rIns="50760" bIns="10152" anchor="ctr" anchorCtr="1"/>
          <a:lstStyle/>
          <a:p>
            <a:pPr marL="83566" marR="0" lvl="0" indent="-83566" algn="ctr" defTabSz="8595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YNL</a:t>
            </a:r>
          </a:p>
        </p:txBody>
      </p:sp>
      <p:cxnSp>
        <p:nvCxnSpPr>
          <p:cNvPr id="33" name="AutoShape 26">
            <a:extLst>
              <a:ext uri="{FF2B5EF4-FFF2-40B4-BE49-F238E27FC236}">
                <a16:creationId xmlns:a16="http://schemas.microsoft.com/office/drawing/2014/main" id="{A5BF619C-22D0-4586-AB82-26B1928F50C6}"/>
              </a:ext>
            </a:extLst>
          </p:cNvPr>
          <p:cNvCxnSpPr>
            <a:cxnSpLocks noChangeShapeType="1"/>
            <a:stCxn id="25" idx="0"/>
            <a:endCxn id="27" idx="2"/>
          </p:cNvCxnSpPr>
          <p:nvPr/>
        </p:nvCxnSpPr>
        <p:spPr bwMode="auto">
          <a:xfrm flipH="1" flipV="1">
            <a:off x="7344885" y="3993920"/>
            <a:ext cx="1487" cy="67613"/>
          </a:xfrm>
          <a:prstGeom prst="straightConnector1">
            <a:avLst/>
          </a:prstGeom>
          <a:noFill/>
          <a:ln w="6350">
            <a:solidFill>
              <a:srgbClr val="564242"/>
            </a:solidFill>
            <a:round/>
            <a:headEnd/>
            <a:tailEnd/>
          </a:ln>
        </p:spPr>
      </p:cxnSp>
      <p:sp>
        <p:nvSpPr>
          <p:cNvPr id="34" name="Rectangle 27">
            <a:extLst>
              <a:ext uri="{FF2B5EF4-FFF2-40B4-BE49-F238E27FC236}">
                <a16:creationId xmlns:a16="http://schemas.microsoft.com/office/drawing/2014/main" id="{6334BC5B-5942-43C2-AA2D-33577FA0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701" y="4061533"/>
            <a:ext cx="589698" cy="28434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algn="ctr" defTabSz="859536">
              <a:spcAft>
                <a:spcPct val="20000"/>
              </a:spcAft>
              <a:buSzPct val="90000"/>
            </a:pPr>
            <a:r>
              <a:rPr lang="ko-KR" altLang="en-US" sz="1050" kern="0" dirty="0">
                <a:latin typeface="맑은 고딕"/>
                <a:ea typeface="맑은 고딕"/>
                <a:cs typeface="Arial" panose="020B0604020202020204" pitchFamily="34" charset="0"/>
              </a:rPr>
              <a:t>경영관리</a:t>
            </a:r>
            <a:endParaRPr lang="en-US" altLang="ko-KR" sz="1050" kern="0" dirty="0"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35" name="AutoShape 29">
            <a:extLst>
              <a:ext uri="{FF2B5EF4-FFF2-40B4-BE49-F238E27FC236}">
                <a16:creationId xmlns:a16="http://schemas.microsoft.com/office/drawing/2014/main" id="{2AFEAB93-2F68-4325-803C-0C3B890D5712}"/>
              </a:ext>
            </a:extLst>
          </p:cNvPr>
          <p:cNvCxnSpPr>
            <a:cxnSpLocks noChangeShapeType="1"/>
            <a:stCxn id="29" idx="2"/>
            <a:endCxn id="34" idx="0"/>
          </p:cNvCxnSpPr>
          <p:nvPr/>
        </p:nvCxnSpPr>
        <p:spPr bwMode="auto">
          <a:xfrm>
            <a:off x="8121548" y="3993920"/>
            <a:ext cx="1" cy="67613"/>
          </a:xfrm>
          <a:prstGeom prst="straightConnector1">
            <a:avLst/>
          </a:prstGeom>
          <a:noFill/>
          <a:ln w="6350">
            <a:solidFill>
              <a:srgbClr val="564242"/>
            </a:solidFill>
            <a:round/>
            <a:headEnd/>
            <a:tailEnd/>
          </a:ln>
        </p:spPr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B3D3467-CBB1-4787-81F1-BAEFD7D1FD3D}"/>
              </a:ext>
            </a:extLst>
          </p:cNvPr>
          <p:cNvCxnSpPr>
            <a:cxnSpLocks/>
          </p:cNvCxnSpPr>
          <p:nvPr/>
        </p:nvCxnSpPr>
        <p:spPr>
          <a:xfrm>
            <a:off x="9213224" y="3851747"/>
            <a:ext cx="337648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27">
            <a:extLst>
              <a:ext uri="{FF2B5EF4-FFF2-40B4-BE49-F238E27FC236}">
                <a16:creationId xmlns:a16="http://schemas.microsoft.com/office/drawing/2014/main" id="{47BF1B20-3F30-424B-BCD7-06D6FF7C1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013" y="4061533"/>
            <a:ext cx="589698" cy="28434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</p:spPr>
        <p:txBody>
          <a:bodyPr wrap="none" lIns="16920" tIns="10152" rIns="16920" bIns="10152" anchor="ctr" anchorCtr="1"/>
          <a:lstStyle/>
          <a:p>
            <a:pPr algn="ctr" defTabSz="859536">
              <a:spcAft>
                <a:spcPct val="20000"/>
              </a:spcAft>
              <a:buSzPct val="90000"/>
            </a:pPr>
            <a:r>
              <a:rPr lang="ko-KR" altLang="en-US" sz="1050" kern="0" dirty="0">
                <a:latin typeface="맑은 고딕"/>
                <a:ea typeface="맑은 고딕"/>
                <a:cs typeface="Arial" panose="020B0604020202020204" pitchFamily="34" charset="0"/>
              </a:rPr>
              <a:t>경영관리</a:t>
            </a:r>
            <a:endParaRPr lang="en-US" altLang="ko-KR" sz="1050" kern="0" dirty="0"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71" name="AutoShape 29">
            <a:extLst>
              <a:ext uri="{FF2B5EF4-FFF2-40B4-BE49-F238E27FC236}">
                <a16:creationId xmlns:a16="http://schemas.microsoft.com/office/drawing/2014/main" id="{792AB081-57C6-406A-A161-4FBE1F755B7E}"/>
              </a:ext>
            </a:extLst>
          </p:cNvPr>
          <p:cNvCxnSpPr>
            <a:cxnSpLocks noChangeShapeType="1"/>
            <a:endCxn id="70" idx="0"/>
          </p:cNvCxnSpPr>
          <p:nvPr/>
        </p:nvCxnSpPr>
        <p:spPr bwMode="auto">
          <a:xfrm>
            <a:off x="8841860" y="3993920"/>
            <a:ext cx="1" cy="67613"/>
          </a:xfrm>
          <a:prstGeom prst="straightConnector1">
            <a:avLst/>
          </a:prstGeom>
          <a:noFill/>
          <a:ln w="6350">
            <a:solidFill>
              <a:srgbClr val="564242"/>
            </a:solidFill>
            <a:round/>
            <a:headEnd/>
            <a:tailEnd/>
          </a:ln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577D06A-46A5-4CFE-98E9-48EC2B8AF62F}"/>
              </a:ext>
            </a:extLst>
          </p:cNvPr>
          <p:cNvSpPr txBox="1"/>
          <p:nvPr/>
        </p:nvSpPr>
        <p:spPr>
          <a:xfrm>
            <a:off x="5376247" y="3666842"/>
            <a:ext cx="1357200" cy="209387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no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  <a:cs typeface="Arial" pitchFamily="34" charset="0"/>
              </a:rPr>
              <a:t>영원무역 전체 손익 집계</a:t>
            </a:r>
            <a:endParaRPr lang="en-US" altLang="ko-KR" sz="105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  <a:cs typeface="Arial" pitchFamily="34" charset="0"/>
              </a:rPr>
              <a:t>다차원 손익 분석</a:t>
            </a:r>
            <a:endParaRPr lang="en-US" altLang="ko-KR" sz="105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  <a:cs typeface="Arial" pitchFamily="34" charset="0"/>
              </a:rPr>
              <a:t>원가 개선 기회 검토 및 후속 업무 연계 </a:t>
            </a:r>
            <a:endParaRPr lang="en-US" altLang="ko-KR" sz="105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  <a:cs typeface="Arial" pitchFamily="34" charset="0"/>
              </a:rPr>
              <a:t>전사 사업</a:t>
            </a:r>
            <a:r>
              <a:rPr lang="en-US" altLang="ko-KR" sz="1050" dirty="0">
                <a:latin typeface="+mn-ea"/>
                <a:cs typeface="Arial" pitchFamily="34" charset="0"/>
              </a:rPr>
              <a:t>/</a:t>
            </a:r>
            <a:r>
              <a:rPr lang="ko-KR" altLang="en-US" sz="1050" dirty="0">
                <a:latin typeface="+mn-ea"/>
                <a:cs typeface="Arial" pitchFamily="34" charset="0"/>
              </a:rPr>
              <a:t>예산  계획</a:t>
            </a:r>
            <a:endParaRPr lang="en-US" altLang="ko-KR" sz="1050" dirty="0">
              <a:latin typeface="+mn-ea"/>
              <a:cs typeface="Arial" pitchFamily="34" charset="0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 err="1">
                <a:latin typeface="+mn-ea"/>
                <a:cs typeface="Arial" pitchFamily="34" charset="0"/>
              </a:rPr>
              <a:t>배</a:t>
            </a:r>
            <a:r>
              <a:rPr lang="ko-KR" altLang="en-US" sz="1050" dirty="0" err="1" smtClean="0">
                <a:latin typeface="+mn-ea"/>
                <a:cs typeface="Arial" pitchFamily="34" charset="0"/>
              </a:rPr>
              <a:t>부기준</a:t>
            </a:r>
            <a:r>
              <a:rPr lang="ko-KR" altLang="en-US" sz="1050" dirty="0" smtClean="0">
                <a:latin typeface="+mn-ea"/>
                <a:cs typeface="Arial" pitchFamily="34" charset="0"/>
              </a:rPr>
              <a:t> </a:t>
            </a:r>
            <a:r>
              <a:rPr lang="ko-KR" altLang="en-US" sz="1050" dirty="0">
                <a:latin typeface="+mn-ea"/>
                <a:cs typeface="Arial" pitchFamily="34" charset="0"/>
              </a:rPr>
              <a:t>수립</a:t>
            </a:r>
            <a:endParaRPr lang="en-US" altLang="ko-KR" sz="1050" dirty="0">
              <a:latin typeface="+mn-ea"/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7F2921-EDAB-492A-B025-6953AA278729}"/>
              </a:ext>
            </a:extLst>
          </p:cNvPr>
          <p:cNvSpPr txBox="1"/>
          <p:nvPr/>
        </p:nvSpPr>
        <p:spPr>
          <a:xfrm>
            <a:off x="7050527" y="4395202"/>
            <a:ext cx="2086184" cy="18026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 sz="1050">
                <a:latin typeface="+mn-ea"/>
                <a:cs typeface="Arial" pitchFamily="34" charset="0"/>
              </a:defRPr>
            </a:lvl1pPr>
          </a:lstStyle>
          <a:p>
            <a:r>
              <a:rPr lang="ko-KR" altLang="en-US" dirty="0"/>
              <a:t>목표 원가 산정</a:t>
            </a:r>
            <a:r>
              <a:rPr lang="en-US" altLang="ko-KR" dirty="0"/>
              <a:t>/</a:t>
            </a:r>
            <a:r>
              <a:rPr lang="ko-KR" altLang="en-US" dirty="0"/>
              <a:t>관리</a:t>
            </a:r>
            <a:endParaRPr lang="en-US" altLang="ko-KR" dirty="0"/>
          </a:p>
          <a:p>
            <a:r>
              <a:rPr lang="ko-KR" altLang="en-US" dirty="0"/>
              <a:t>실제 원가 집계</a:t>
            </a:r>
            <a:endParaRPr lang="en-US" altLang="ko-KR" dirty="0"/>
          </a:p>
          <a:p>
            <a:r>
              <a:rPr lang="ko-KR" altLang="en-US" dirty="0"/>
              <a:t>목표 대비 실제 원가 </a:t>
            </a:r>
            <a:r>
              <a:rPr lang="en-US" altLang="ko-KR" dirty="0"/>
              <a:t>Gap </a:t>
            </a:r>
            <a:r>
              <a:rPr lang="ko-KR" altLang="en-US" dirty="0"/>
              <a:t>도출</a:t>
            </a:r>
            <a:endParaRPr lang="en-US" altLang="ko-KR" dirty="0"/>
          </a:p>
          <a:p>
            <a:r>
              <a:rPr lang="en-US" altLang="ko-KR" dirty="0"/>
              <a:t>Gap </a:t>
            </a:r>
            <a:r>
              <a:rPr lang="ko-KR" altLang="en-US" dirty="0"/>
              <a:t>원인 분석 및 개선 기회 도출 </a:t>
            </a:r>
            <a:endParaRPr lang="en-US" altLang="ko-KR" dirty="0"/>
          </a:p>
          <a:p>
            <a:r>
              <a:rPr lang="ko-KR" altLang="en-US" dirty="0" err="1"/>
              <a:t>법인별</a:t>
            </a:r>
            <a:r>
              <a:rPr lang="ko-KR" altLang="en-US" dirty="0"/>
              <a:t> 손익 집계</a:t>
            </a:r>
            <a:r>
              <a:rPr lang="en-US" altLang="ko-KR" dirty="0"/>
              <a:t>, </a:t>
            </a:r>
            <a:r>
              <a:rPr lang="ko-KR" altLang="en-US" dirty="0"/>
              <a:t>자체 분석</a:t>
            </a:r>
            <a:endParaRPr lang="en-US" altLang="ko-KR" dirty="0"/>
          </a:p>
          <a:p>
            <a:r>
              <a:rPr lang="ko-KR" altLang="en-US" dirty="0"/>
              <a:t>사업 계획 및 예산 계획</a:t>
            </a:r>
            <a:endParaRPr lang="en-US" altLang="ko-KR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2DCC6D-A71B-404B-B879-91F97ED4F9A5}"/>
              </a:ext>
            </a:extLst>
          </p:cNvPr>
          <p:cNvSpPr>
            <a:spLocks/>
          </p:cNvSpPr>
          <p:nvPr/>
        </p:nvSpPr>
        <p:spPr>
          <a:xfrm>
            <a:off x="5147546" y="2581425"/>
            <a:ext cx="4485404" cy="383524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57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645D97E1-48A0-4644-BFA7-BD42A9D26F63}"/>
              </a:ext>
            </a:extLst>
          </p:cNvPr>
          <p:cNvGrpSpPr/>
          <p:nvPr/>
        </p:nvGrpSpPr>
        <p:grpSpPr>
          <a:xfrm>
            <a:off x="8450222" y="2592815"/>
            <a:ext cx="1065803" cy="497993"/>
            <a:chOff x="8715892" y="1609301"/>
            <a:chExt cx="761009" cy="287809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CD0E1D5-1B31-4DE9-BCCF-4BCDC3E51163}"/>
                </a:ext>
              </a:extLst>
            </p:cNvPr>
            <p:cNvSpPr txBox="1"/>
            <p:nvPr/>
          </p:nvSpPr>
          <p:spPr>
            <a:xfrm>
              <a:off x="8715893" y="1609301"/>
              <a:ext cx="761008" cy="28780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-274320" algn="ctr" defTabSz="9577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ko-KR" sz="12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Illustrative</a:t>
              </a:r>
            </a:p>
          </p:txBody>
        </p: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B5229340-0840-4E67-AA83-3793E14070F2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658832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38A7684C-3C3E-47E1-8BEF-2EAC3600738F}"/>
                </a:ext>
              </a:extLst>
            </p:cNvPr>
            <p:cNvCxnSpPr>
              <a:cxnSpLocks/>
            </p:cNvCxnSpPr>
            <p:nvPr/>
          </p:nvCxnSpPr>
          <p:spPr>
            <a:xfrm>
              <a:off x="8715892" y="1841359"/>
              <a:ext cx="76100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92148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106AFC6-693E-4B24-9DDC-F8BD00125EC6}"/>
              </a:ext>
            </a:extLst>
          </p:cNvPr>
          <p:cNvSpPr txBox="1">
            <a:spLocks/>
          </p:cNvSpPr>
          <p:nvPr/>
        </p:nvSpPr>
        <p:spPr>
          <a:xfrm>
            <a:off x="1794295" y="1556793"/>
            <a:ext cx="6337075" cy="2514601"/>
          </a:xfrm>
        </p:spPr>
        <p:txBody>
          <a:bodyPr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800" b="1">
                <a:latin typeface="+mn-ea"/>
                <a:ea typeface="+mn-ea"/>
              </a:rPr>
              <a:t>End of Document</a:t>
            </a:r>
            <a:endParaRPr lang="ko-KR" altLang="en-US" sz="4800" b="1">
              <a:latin typeface="+mn-ea"/>
              <a:ea typeface="+mn-ea"/>
            </a:endParaRPr>
          </a:p>
        </p:txBody>
      </p:sp>
      <p:sp>
        <p:nvSpPr>
          <p:cNvPr id="4" name="텍스트 개체 틀 7">
            <a:extLst>
              <a:ext uri="{FF2B5EF4-FFF2-40B4-BE49-F238E27FC236}">
                <a16:creationId xmlns:a16="http://schemas.microsoft.com/office/drawing/2014/main" id="{422FFC3C-8A88-47DC-83A0-618FCB2F99B3}"/>
              </a:ext>
            </a:extLst>
          </p:cNvPr>
          <p:cNvSpPr txBox="1">
            <a:spLocks/>
          </p:cNvSpPr>
          <p:nvPr/>
        </p:nvSpPr>
        <p:spPr>
          <a:xfrm>
            <a:off x="416496" y="5157192"/>
            <a:ext cx="8642350" cy="1096644"/>
          </a:xfrm>
        </p:spPr>
        <p:txBody>
          <a:bodyPr/>
          <a:lstStyle>
            <a:lvl1pPr marL="0" marR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7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ysClr val="windowText" lastClr="000000"/>
              </a:buClr>
              <a:defRPr/>
            </a:pPr>
            <a:r>
              <a:rPr lang="en-US" altLang="ko-KR">
                <a:solidFill>
                  <a:sysClr val="window" lastClr="FFFFFF"/>
                </a:solidFill>
                <a:latin typeface="맑은 고딕"/>
                <a:ea typeface="맑은 고딕" panose="020B0503020000020004" pitchFamily="50" charset="-127"/>
                <a:sym typeface="Arial"/>
              </a:rPr>
              <a:t>© 2023 </a:t>
            </a:r>
            <a:r>
              <a:rPr lang="ko-KR" altLang="en-US" err="1">
                <a:solidFill>
                  <a:sysClr val="window" lastClr="FFFFFF"/>
                </a:solidFill>
                <a:latin typeface="맑은 고딕"/>
                <a:ea typeface="Arial"/>
                <a:cs typeface="Arial"/>
                <a:sym typeface="Arial"/>
              </a:rPr>
              <a:t>프라이스워터하우스쿠퍼스컨설팅</a:t>
            </a:r>
            <a:r>
              <a:rPr lang="en-US" altLang="ko-KR">
                <a:solidFill>
                  <a:sysClr val="window" lastClr="FFFFFF"/>
                </a:solidFill>
                <a:latin typeface="맑은 고딕"/>
                <a:ea typeface="Arial"/>
                <a:cs typeface="Arial"/>
                <a:sym typeface="Arial"/>
              </a:rPr>
              <a:t>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9115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1d0c1d-5091-4429-b554-3c6d4d0513b6" xsi:nil="true"/>
    <lcf76f155ced4ddcb4097134ff3c332f xmlns="cb5eb955-e272-47b7-b470-0c25fe401ae0">
      <Terms xmlns="http://schemas.microsoft.com/office/infopath/2007/PartnerControls"/>
    </lcf76f155ced4ddcb4097134ff3c332f>
    <PMO_xba54__xc138__xc9c0_ xmlns="cb5eb955-e272-47b7-b470-0c25fe401ae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16CA1627AEE4D9F6BFE20DD41BE65" ma:contentTypeVersion="14" ma:contentTypeDescription="새 문서를 만듭니다." ma:contentTypeScope="" ma:versionID="ab770e0195dd3fe9990af3e90d9926d1">
  <xsd:schema xmlns:xsd="http://www.w3.org/2001/XMLSchema" xmlns:xs="http://www.w3.org/2001/XMLSchema" xmlns:p="http://schemas.microsoft.com/office/2006/metadata/properties" xmlns:ns2="cb5eb955-e272-47b7-b470-0c25fe401ae0" xmlns:ns3="551d0c1d-5091-4429-b554-3c6d4d0513b6" targetNamespace="http://schemas.microsoft.com/office/2006/metadata/properties" ma:root="true" ma:fieldsID="6b686abed86c6fe253ae5eecfeda9515" ns2:_="" ns3:_="">
    <xsd:import namespace="cb5eb955-e272-47b7-b470-0c25fe401ae0"/>
    <xsd:import namespace="551d0c1d-5091-4429-b554-3c6d4d0513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PMO_xba54__xc138__xc9c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eb955-e272-47b7-b470-0c25fe401a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01658d34-3ae7-4037-a68e-8607803662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PMO_xba54__xc138__xc9c0_" ma:index="21" nillable="true" ma:displayName="PMO메세지" ma:format="Dropdown" ma:internalName="PMO_xba54__xc138__xc9c0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1d0c1d-5091-4429-b554-3c6d4d0513b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1ae800c-935a-4760-b81a-5d523b305ee7}" ma:internalName="TaxCatchAll" ma:showField="CatchAllData" ma:web="551d0c1d-5091-4429-b554-3c6d4d0513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487A45-032F-42FD-BBEE-F1CA582C8F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5ACB18-B3E9-49BE-89A4-F7F6D8884E8A}">
  <ds:schemaRefs>
    <ds:schemaRef ds:uri="http://schemas.microsoft.com/office/2006/documentManagement/types"/>
    <ds:schemaRef ds:uri="http://schemas.microsoft.com/office/2006/metadata/properties"/>
    <ds:schemaRef ds:uri="cb5eb955-e272-47b7-b470-0c25fe401ae0"/>
    <ds:schemaRef ds:uri="http://purl.org/dc/elements/1.1/"/>
    <ds:schemaRef ds:uri="http://schemas.openxmlformats.org/package/2006/metadata/core-properties"/>
    <ds:schemaRef ds:uri="551d0c1d-5091-4429-b554-3c6d4d0513b6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36B897C-448B-4C89-ABFB-D31F69A1511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26957</TotalTime>
  <Words>6102</Words>
  <Application>Microsoft Office PowerPoint</Application>
  <PresentationFormat>A4 용지(210x297mm)</PresentationFormat>
  <Paragraphs>1814</Paragraphs>
  <Slides>35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8" baseType="lpstr">
      <vt:lpstr>Arial Unicode MS</vt:lpstr>
      <vt:lpstr>Malgun Gothic Semilight</vt:lpstr>
      <vt:lpstr>Noto Sans Symbols</vt:lpstr>
      <vt:lpstr>굴림</vt:lpstr>
      <vt:lpstr>맑은 고딕</vt:lpstr>
      <vt:lpstr>맑은 고딕</vt:lpstr>
      <vt:lpstr>Arial</vt:lpstr>
      <vt:lpstr>Calibri</vt:lpstr>
      <vt:lpstr>Georgia</vt:lpstr>
      <vt:lpstr>Microsoft Himalaya</vt:lpstr>
      <vt:lpstr>Times</vt:lpstr>
      <vt:lpstr>Wingdings</vt:lpstr>
      <vt:lpstr>Office 테마</vt:lpstr>
      <vt:lpstr>영원무역 SAP S/4HANA 차세대 글로벌 ERP 구축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Administrator</dc:creator>
  <cp:lastModifiedBy>Jung-im Won</cp:lastModifiedBy>
  <cp:revision>428</cp:revision>
  <cp:lastPrinted>2023-05-11T05:52:58Z</cp:lastPrinted>
  <dcterms:created xsi:type="dcterms:W3CDTF">2015-03-02T09:35:11Z</dcterms:created>
  <dcterms:modified xsi:type="dcterms:W3CDTF">2023-05-12T01:44:10Z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0x01010033D16CA1627AEE4D9F6BFE20DD41BE65</vt:lpwstr>
  </property>
  <property fmtid="{D5CDD505-2E9C-101B-9397-08002B2CF9AE}" pid="3" name="MediaServiceImageTags">
    <vt:lpwstr/>
  </property>
</Properties>
</file>
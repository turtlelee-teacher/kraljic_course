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8074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전략적 재고운영 Foundation</a:t>
            </a:r>
          </a:p>
          <a:p>
            <a: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8074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맑은 고딕"/>
              </a:defRPr>
            </a:pPr>
            <a:r>
              <a:t>Part 1: JIT→JIC 패러다임 전환과 Kraljic Matrix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8074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  <a:latin typeface="맑은 고딕"/>
              </a:defRPr>
            </a:pPr>
            <a:r>
              <a:t>Session 1 of 9 | 45분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강의는 7개 장으로 구성되어 있으며, JIT에서 JIC로의 전환과 Kraljic Matrix 실전 적용을 다룹니다.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강의 개요</a:t>
            </a:r>
          </a:p>
          <a:p>
            <a:r>
              <a:t>학습 목표 및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7432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JIT의 탄생과 한계</a:t>
            </a:r>
          </a:p>
          <a:p>
            <a:r>
              <a:t>Toyota JIT부터 팬데믹까지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6576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JIC로의 전환</a:t>
            </a:r>
          </a:p>
          <a:p>
            <a:r>
              <a:t>재고의 재정의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Kraljic Matrix</a:t>
            </a:r>
          </a:p>
          <a:p>
            <a:r>
              <a:t>4분면 자재 분류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7432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7432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차별화 전략</a:t>
            </a:r>
          </a:p>
          <a:p>
            <a:r>
              <a:t>자재군별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6576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6576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  <a:p>
            <a:r>
              <a:t>ROP/MRP/하이브리드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28800"/>
            <a:ext cx="54864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828800"/>
            <a:ext cx="2011680" cy="7315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실전 적용</a:t>
            </a:r>
          </a:p>
          <a:p>
            <a:r>
              <a:t>KPI 및 종합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1장</a:t>
            </a:r>
          </a:p>
          <a:p>
            <a:r>
              <a:t>강의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과정을 통해 JIT→JIC 전환 배경, Kraljic Matrix 분류, 자재군별 계획 방법론을 완전히 이해합니다.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931920" cy="18288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JIT→JIC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패러다임 전환 배경과</a:t>
            </a:r>
          </a:p>
          <a:p>
            <a:r>
              <a:t>필요성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931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전략적 재고운영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377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차별화된 접근법과</a:t>
            </a:r>
          </a:p>
          <a:p>
            <a:r>
              <a:t>핵심 개념 습득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3931920" cy="18288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Kraljic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자재 포트폴리오 분류</a:t>
            </a:r>
          </a:p>
          <a:p>
            <a:r>
              <a:t>역량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114800"/>
            <a:ext cx="3931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663440"/>
            <a:ext cx="35661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자재군별 관리 철학과</a:t>
            </a:r>
          </a:p>
          <a:p>
            <a:r>
              <a:t>방법론 맵 이해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강의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과정은 총 9회차로 구성되어 있으며, 이론과 실습을 균형있게 다룹니다.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1</a:t>
            </a:r>
          </a:p>
          <a:p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1-3회차</a:t>
            </a:r>
          </a:p>
          <a:p/>
          <a:p>
            <a:r>
              <a:t>Foundation</a:t>
            </a:r>
          </a:p>
          <a:p>
            <a:r>
              <a:t>Sourcing</a:t>
            </a:r>
          </a:p>
          <a:p>
            <a:r>
              <a:t>ABC-XYZ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2</a:t>
            </a:r>
          </a:p>
          <a:p>
            <a:r>
              <a:t>심화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4-7회차</a:t>
            </a:r>
          </a:p>
          <a:p/>
          <a:p>
            <a:r>
              <a:t>병목/레버리지</a:t>
            </a:r>
          </a:p>
          <a:p>
            <a:r>
              <a:t>전략/일상자재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28800"/>
            <a:ext cx="256032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Module 3</a:t>
            </a:r>
          </a:p>
          <a:p>
            <a:r>
              <a:t>실습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651760"/>
            <a:ext cx="2560320" cy="2743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0">
                <a:solidFill>
                  <a:srgbClr val="000000"/>
                </a:solidFill>
                <a:latin typeface="맑은 고딕"/>
              </a:defRPr>
            </a:pPr>
            <a:r>
              <a:t>8-9회차</a:t>
            </a:r>
          </a:p>
          <a:p/>
          <a:p>
            <a:r>
              <a:t>Kraljic Workshop</a:t>
            </a:r>
          </a:p>
          <a:p>
            <a:r>
              <a:t>통합 Workshop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3200400"/>
            <a:ext cx="36576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3200400"/>
            <a:ext cx="36576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1.3 왜 지금 이 과정이 필요한가?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공급망 환경이 급변하면서 재고는 '낭비'가 아닌 '전략적 자원'으로 재정의되고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371600" cy="7315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1980-2010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8288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JIT 전성시대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22402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재고=낭비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25603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31520" y="2743200"/>
            <a:ext cx="1371600" cy="73152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2011-2019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7432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균열의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1546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공급 리스크 증가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34747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3657600"/>
            <a:ext cx="1371600" cy="7315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6576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팬데믹 충격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0690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JIT 붕괴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4389120"/>
            <a:ext cx="0" cy="18288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" y="4572000"/>
            <a:ext cx="1371600" cy="731520"/>
          </a:xfrm>
          <a:prstGeom prst="rect">
            <a:avLst/>
          </a:prstGeom>
          <a:solidFill>
            <a:srgbClr val="1A527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2021-현재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457200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JIC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49834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재고=전략자산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468880"/>
            <a:ext cx="2560320" cy="16459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예측 가능한 환경 → 불확실성 시대</a:t>
            </a:r>
          </a:p>
          <a:p>
            <a:r>
              <a:t>• 비용 효율성 → 공급 안정성</a:t>
            </a:r>
          </a:p>
          <a:p>
            <a:r>
              <a:t>• 표준화 전략 → 차별화 전략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29768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대응 방안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937760"/>
            <a:ext cx="2560320" cy="11887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Kraljic Matrix로 자재 분류</a:t>
            </a:r>
          </a:p>
          <a:p>
            <a:r>
              <a:t>• 자재군별 차별화 전략</a:t>
            </a:r>
          </a:p>
          <a:p>
            <a:r>
              <a:t>• 적응적 재고 정책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2장</a:t>
            </a:r>
          </a:p>
          <a:p>
            <a:r>
              <a:t>JIT의 탄생과 한계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2.1 JIT의 탄생 (Toyota, 1970s)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도요타가 개발한 적기생산방식(JIT)은 1970년대 제조업의 혁명이었으며, 전 세계 제조업체의 표준이 되었습니다.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JIT 핵심 철학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재고 = 낭비 (Waste)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목표 = 재고 Zero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54864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000000"/>
                </a:solidFill>
                <a:latin typeface="맑은 고딕"/>
              </a:defRPr>
            </a:pPr>
            <a:r>
              <a:t>방법 = 적기에 필요한 만큼만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확산 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1970년대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5120640"/>
            <a:ext cx="347472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도요타 개발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5257800"/>
            <a:ext cx="7315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69279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1980년대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5669279"/>
            <a:ext cx="3474720" cy="45720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미국/유럽 확산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03520" y="5806440"/>
            <a:ext cx="7315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19"/>
            <a:ext cx="1828800" cy="4572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1990-2000년대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6217919"/>
            <a:ext cx="347472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글로벌 표준화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배경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68880"/>
            <a:ext cx="2560320" cy="13716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1970년대 오일쇼크</a:t>
            </a:r>
          </a:p>
          <a:p>
            <a:r>
              <a:t>• 원가 절감 압박</a:t>
            </a:r>
          </a:p>
          <a:p>
            <a:r>
              <a:t>• 도요타의 혁신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02336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가치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663440"/>
            <a:ext cx="2560320" cy="1463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낭비 제거</a:t>
            </a:r>
          </a:p>
          <a:p>
            <a:r>
              <a:t>• 흐름 생산</a:t>
            </a:r>
          </a:p>
          <a:p>
            <a:r>
              <a:t>• 지속 개선</a:t>
            </a:r>
          </a:p>
          <a:p>
            <a:r>
              <a:t>• 인간 존중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2.2 JIT의 7가지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Zero Inventory, Pull System, Kanban 등 7가지 원칙이 JIT의 핵심 운영 방법입니다.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56032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1. Zero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945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재고는 최소화, 이상적으로는 Zero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14600"/>
            <a:ext cx="256032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2. Pull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803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수요가 발생할 때만 생산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200400"/>
            <a:ext cx="256032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3. Kanban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시각적 신호 기반 생산 지시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886200"/>
            <a:ext cx="256032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4. Continuous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2519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공정 간 재고 없이 흐름 생산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572000"/>
            <a:ext cx="256032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5. Short Lead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9377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리드타임 단축으로 재고 불필요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578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257800"/>
            <a:ext cx="256032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6. Perfect 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6235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불량 Zero로 안전재고 불필요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943600"/>
            <a:ext cx="548640" cy="64008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943600"/>
            <a:ext cx="256032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7. Supplier Partnership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6309360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공급업체와의 긴밀한 협업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828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가치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468880"/>
            <a:ext cx="2560320" cy="13716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낭비 제거 철학</a:t>
            </a:r>
          </a:p>
          <a:p>
            <a:r>
              <a:t>• 흐름 최적화</a:t>
            </a:r>
          </a:p>
          <a:p>
            <a:r>
              <a:t>• 품질 내재화</a:t>
            </a:r>
          </a:p>
          <a:p>
            <a:r>
              <a:t>• 파트너십 구축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02336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성공 조건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663440"/>
            <a:ext cx="2560320" cy="1463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안정적 공급망</a:t>
            </a:r>
          </a:p>
          <a:p>
            <a:r>
              <a:t>• 예측 가능 수요</a:t>
            </a:r>
          </a:p>
          <a:p>
            <a:r>
              <a:t>• 짧은 리드타임</a:t>
            </a:r>
          </a:p>
          <a:p>
            <a:r>
              <a:t>• 완벽한 품질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2.3 GE 성공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General Electric은 1980년대 JIT 도입으로 재고 비용 30% 절감에 성공했습니다.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94360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GE의 JIT 도입 과정 (1980년대)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828800" cy="36576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1980년 이전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8288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높은 재고 비용</a:t>
            </a:r>
          </a:p>
          <a:p>
            <a:r>
              <a:t>• 긴 생산 리드타임</a:t>
            </a:r>
          </a:p>
          <a:p>
            <a:r>
              <a:t>• 낮은 효율성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377440"/>
            <a:ext cx="1828800" cy="36576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During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788920"/>
            <a:ext cx="1828800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1985-1988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08960"/>
            <a:ext cx="18288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JIT 시스템 도입</a:t>
            </a:r>
          </a:p>
          <a:p>
            <a:r>
              <a:t>• 가전제품 라인 적용</a:t>
            </a:r>
          </a:p>
          <a:p>
            <a:r>
              <a:t>• 프로세스 재설계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377440"/>
            <a:ext cx="1828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788920"/>
            <a:ext cx="1828800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0">
                <a:solidFill>
                  <a:srgbClr val="000000"/>
                </a:solidFill>
                <a:latin typeface="맑은 고딕"/>
              </a:defRPr>
            </a:pPr>
            <a:r>
              <a:t>1990년대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108960"/>
            <a:ext cx="18288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재고 비용 30% 절감</a:t>
            </a:r>
          </a:p>
          <a:p>
            <a:r>
              <a:t>• 생산성 대폭 향상</a:t>
            </a:r>
          </a:p>
          <a:p>
            <a:r>
              <a:t>• 업계 벤치마크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828800"/>
            <a:ext cx="256032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성공 요인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77440"/>
            <a:ext cx="2560320" cy="1463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경영진 의지</a:t>
            </a:r>
          </a:p>
          <a:p>
            <a:r>
              <a:t>• 직원 교육</a:t>
            </a:r>
          </a:p>
          <a:p>
            <a:r>
              <a:t>• 단계적 적용</a:t>
            </a:r>
          </a:p>
          <a:p>
            <a:r>
              <a:t>• 공급업체 협력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023360"/>
            <a:ext cx="256032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성과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572000"/>
            <a:ext cx="2560320" cy="109728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 재고↓ 30%</a:t>
            </a:r>
          </a:p>
          <a:p>
            <a:r>
              <a:t>• 리드타임↓ 40%</a:t>
            </a:r>
          </a:p>
          <a:p>
            <a:r>
              <a:t>• 품질↑ 25%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2.4 Harley-Davidson &amp; Ford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Harley-Davidson은 JIT로 파산 위기를 극복하고 생산성 50% 향상을 달성했습니다.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[Slide 11 상세 내용 구현 중...]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2.5 JIT 전성시대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1980-2000년대는 JIT가 글로벌 제조업의 표준이 된 황금기였습니다.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[Slide 12 상세 내용 구현 중...]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2.6 JIT의 한계 발견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2011년 동일본 대지진과 태국 홍수가 JIT의 취약성을 처음 드러냈습니다.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[Slide 13 상세 내용 구현 중...]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2.7 2020 팬데믹 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코로나19 팬데믹으로 전 세계 JIT 공급망이 동시에 붕괴했습니다.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[Slide 14 상세 내용 구현 중...]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2.8 실패 사례들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글로벌 반도체 대란, 마스크 대란, 컨테이너선 대란 등 JIT의 치명적 약점이 드러났습니다.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[Slide 15 상세 내용 구현 중...]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3장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3.1 JIC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Just-In-Case는 불확실성에 대비한 전략적 재고 보유를 의미합니다.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3.2 JIT vs JIC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JIT는 효율성, JIC는 회복탄력성을 우선시하는 상반된 철학입니다.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3.3 기업들의 전략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Apple, Intel, Toyota 등 글로벌 기업들이 JIC로 전환하고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3.4 재고의 재정의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재고는 '낭비'가 아닌 '위험 완충장치'이자 '전략적 자산'으로 재정의됩니다.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3.5 새로운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비용 최소화에서 공급 안정성과 회복탄력성 확보로 목표가 전환되었습니다.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4장</a:t>
            </a:r>
          </a:p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4.1 Kraljic Matrix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Kraljic Matrix는 공급 리스크와 구매 임팩트 두 축으로 자재를 4개 군으로 분류합니다.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4.2 2개 축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X축은 공급 리스크(Supply Risk), Y축은 구매 임팩트(Purchase Impact)입니다.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4.3 4개 분면: 전략자재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높은 리스크 + 높은 임팩트 = 장기 파트너십과 협업적 계획이 필요합니다.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4.4 4개 분면: 레버리지자재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낮은 리스크 + 높은 임팩트 = 경쟁 입찰과 볼륨 레버리지를 활용합니다.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4.5 4개 분면: 병목자재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높은 리스크 + 낮은 임팩트 = 공급 연속성 확보와 버퍼 재고가 핵심입니다.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4.6 4개 분면: 일상자재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낮은 리스크 + 낮은 임팩트 = 프로세스 효율화와 자동화를 추구합니다.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4.7 Kraljic Matrix 2×2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4개 분면을 한눈에 보여주는 매트릭스 다이어그램입니다.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4.8 분류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공급 리스크와 구매 임팩트를 각각 평가하여 자재를 분류합니다.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4.9 실습 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실제 자재 데이터를 활용한 Kraljic Matrix 분류 실습입니다.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5장</a:t>
            </a:r>
          </a:p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5.1 왜 차별화가 필요한가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모든 자재를 동일하게 관리하면 비효율과 리스크가 동시에 발생합니다.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5.2 4가지 전략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전략/레버리지/병목/일상자재는 각각 다른 관리 전략이 필요합니다.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5.3 의사결정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자재 분류 → 전략 선택 → 실행 계획 → 모니터링의 4단계입니다.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5.4 리스크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자재군별로 다른 리스크 완화 전략을 적용해야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6장</a:t>
            </a:r>
          </a:p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6.1 ROP (병목자재)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Re-Order Point는 리드타임과 수요율 기반으로 발주점을 설정합니다.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6.2 MRP (레버리지자재)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Material Requirements Planning은 수요 기반으로 정확한 타이밍에 발주합니다.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6.3 하이브리드 (전략자재)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예측 기반 + 수요 기반을 결합한 하이브리드 계획 방식입니다.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6.4 자동화 (일상자재)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VMI, EDI 등 자동 발주 시스템으로 효율을 극대화합니다.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6.5 방법론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4가지 계획 방법론의 특징과 적용 시나리오를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6.6 구현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단계별 구현 계획과 체크리스트를 제공합니다.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7장</a:t>
            </a:r>
          </a:p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7.1 KPI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자재군별로 다른 KPI를 설정하여 성과를 측정합니다.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7.2 성과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재고 회전율, 결품율, 총 소유 비용 등을 모니터링합니다.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7.3 종합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실제 기업의 Kraljic Matrix 적용 사례를 분석합니다.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Q&amp;A 및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본 강의의 핵심 내용을 요약하고 질의응답 시간을 갖습니다.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245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맑은 고딕"/>
              </a:defRPr>
            </a:pPr>
            <a:r>
              <a:t>[상세 내용 구현 예정]</a:t>
            </a:r>
          </a:p>
          <a:p/>
          <a:p>
            <a:r>
              <a:t>슬라이드 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
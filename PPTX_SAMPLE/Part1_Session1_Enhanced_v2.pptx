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전략적 재고운영 및 자재계획수립
Part 1: Kraljic Matrix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맑은 고딕"/>
              </a:rPr>
              <a:t>Session 1: JIT에서 JIC로의 전환과 Kraljic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2025년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1: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본 세션에서는 JIT→JIC 전환 배경, Kraljic Matrix 프레임워크, 4대 자재군 특성 및 차별화 전략을 완전히 마스터합니다.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96112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1. JIT에서 JIC로의 패러다임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1970-2010년 JIT 전성기: 도요타 방식, 7대 원칙, 전 세계 벤치마킹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2020년 팬데믹: 반도체 대란($210억 손실), 마스크 대란, 컨테이너 운임 10배 폭등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JIC 부상: Apple 6-8주 재고, Intel $200억 공장, Toyota JIT 포기 선언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693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핵심 교훈: 재고=전략적 자산, 효율성&lt;회복력, 차별화 전략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896112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2. 전략적 재고운영의 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모든 자재를 동일하게 관리하면 실패: 전략자재 원가 압박→공급 중단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차별화 접근: 자재 특성에 따라 목표, 전략, KPI를 다르게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3250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전략적 재고 = 보험료: 안전재고 비용 &lt;&lt; 결품 시 생산 중단 손실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4281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Just-In-Case ≠ 무조건 재고 증가: 리스크 높은 자재만 선택적 확대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8961120" cy="3657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3. Kraljic Matrix 자재 포트폴리오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2개 축: Y축=공급 리스크(6개 요소), X축=구매 임팩트(5개 요소)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4807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4개 자재군: 병목(공급 확보), 레버리지(원가 절감), 전략(파트너십), 일상(자동화)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5838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점수화 공식: 공급 리스크=(업체수×0.3)+(대체성×0.3)+(리드타임×0.2)+(지역×0.2)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6869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실습 가이드: 데이터 수집 → 점수화 → 매트릭스 배치 → 전략 수립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06440"/>
            <a:ext cx="8961120" cy="365760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4. 자재군별 관리 철학과 계획 방법론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병목자재: ROP(재주문점) + 안전재고 4-8주 + Dual Sourcing + 95-99% 가용률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레버리지자재: MRP(소요량계획) + 안전재고 1-2주 + 경쟁입찰 + 연 3-5% 절감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68426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전략자재: LTP+Hybrid(18-24개월) + 안전재고 3-6주 + Win-Win + 100% 연속성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89457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일상자재: Min-Max/VMI + 안전재고 1주 + 완전자동화 + 발주비용 5천원/건 이하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 상세 Agenda: 5개 핵심 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패러다임 전환부터 KPI까지, 전략적 재고운영의 모든 요소를 5개 섹션으로 체계적으로 학습합니다.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645920" cy="8229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1. 패러다임
전환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423160"/>
            <a:ext cx="1371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JIT 영광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팬데믹 충격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JIC 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56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전략적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66666"/>
                </a:solidFill>
                <a:latin typeface="맑은 고딕"/>
              </a:rPr>
              <a:t>슬라이드 4-15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011680"/>
            <a:ext cx="1645920" cy="8229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2. Kraljic
Matrix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423160"/>
            <a:ext cx="1371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2316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1983 탄생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2개 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5295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4개 자재군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7856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점수화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66666"/>
                </a:solidFill>
                <a:latin typeface="맑은 고딕"/>
              </a:rPr>
              <a:t>슬라이드 16-25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011680"/>
            <a:ext cx="1645920" cy="822960"/>
          </a:xfrm>
          <a:prstGeom prst="rect">
            <a:avLst/>
          </a:prstGeom>
          <a:solidFill>
            <a:srgbClr val="8E44AD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3. 차별화
전략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59" y="2423160"/>
            <a:ext cx="137161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624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전략 매트릭스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295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핵심 철학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7856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비용-효익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66666"/>
                </a:solidFill>
                <a:latin typeface="맑은 고딕"/>
              </a:rPr>
              <a:t>슬라이드 26-30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011680"/>
            <a:ext cx="1645920" cy="82296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4. 계획
방법론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2423160"/>
            <a:ext cx="1371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8932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5대 방법론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ROP/MRP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5295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LTP/VMI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7856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Decision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66666"/>
                </a:solidFill>
                <a:latin typeface="맑은 고딕"/>
              </a:rPr>
              <a:t>슬라이드 31-37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011680"/>
            <a:ext cx="1645920" cy="822960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5. KPI &amp;
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KPI 프레임워크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273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대시보드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52958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산업별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78561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규모별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206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66666"/>
                </a:solidFill>
                <a:latin typeface="맑은 고딕"/>
              </a:rPr>
              <a:t>슬라이드 38-42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029200"/>
            <a:ext cx="8778240" cy="27432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Session 1 학습 흐름: 이론 → 프레임워크 → 실전 적용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이론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분류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전략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실행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5394960"/>
            <a:ext cx="13716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측정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전체 과정 학습 여정: 9회차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Foundation 3회 → 자재군별 심화 4회 → 실전 워크샵 2회 순서로 이론부터 실무 적용까지 완성합니다.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961120" cy="3657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Module 1: Foundation (1-3회차)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1회차: JIT→JIC + Kraljic Matrix (45분) [지금]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2회차: 소싱 전략 + SRM 공급업체 관계 관리 (45분)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3회차: ABC-XYZ 재고 분류 + 운영 세분화 (45분)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961120" cy="365760"/>
          </a:xfrm>
          <a:prstGeom prst="rect">
            <a:avLst/>
          </a:prstGeom>
          <a:solidFill>
            <a:srgbClr val="8E44AD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Module 2: 자재군별 심화 (4-7회차)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4회차: 병목자재 전략 + ROP 이론·실습 (45분)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5회차: 레버리지자재 전략 + MRP 이론·실습 (45분)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6회차: 전략자재 전략 + LTP 하이브리드 계획 (45분)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7회차: 일상자재 효율화 + VMI/자동화 (45분)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896112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Module 3: 실전 통합 (8-9회차)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8회차: Kraljic Matrix 실전 워크샵 (45분)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9회차: End-to-End 통합 케이스 스터디 (45분)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(Just-In-Time)의 탄생: 도요타 혁명 (1970년대)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1970년대 도요타가 개발한 적기생산방식 JIT는 '재고=낭비' 철학으로 전 세계 제조업의 표준이 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0312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1950s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도요타 생산방식
(TPS) 태동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도요타 오노 다이이치
JIT 개념 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2103120" cy="32004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1970s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JIT 체계화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석유파동 극복
낭비 제거 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011680"/>
            <a:ext cx="2103120" cy="32004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1980s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세계적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미국·유럽 벤치마킹
Lean Manufacturing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011680"/>
            <a:ext cx="2103120" cy="320040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1990-2010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JIT 전성기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글로벌 표준
재고 회전율 KPI화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8503920" cy="45720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JIT 핵심 철학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재고 = 낭비(Waste) | 이상적 목표 = Zero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Pull System: 수요 발생 시에만 생산 (Push 아님)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43983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Kanban: 시각적 신호로 생산 지시 및 재고 최소화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Continuous Flow: 공정 간 재고 없이 흐름 생산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5604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Perfect Quality: 불량 Zero로 안전재고 불필요화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Supplier Partnership: 공급업체와 긴밀한 협업으로 적기 납품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8503920" cy="64008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시대적 배경: 1980-90년대는 세계화·안정적 공급망·저렴한 운송비·예측 가능한 수요 패턴 → JIT 완벽 작동
출처: Schonberger (1982) 'Japanese Manufacturing Techniques', Hall (1983) 'Zero Inventories'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7대 원칙: 철저한 낭비 제거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Zero Inventory부터 Supplier Partnership까지, JIT의 7대 원칙은 모든 낭비를 제거하여 효율을 극대화합니다.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Zero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재고는 최소화, 이상적으로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일일 생산량만 보유, 안전재고 1-2일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보관비용↓, 노후재고↓, 현금흐름↑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82880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18288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Pull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20299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수요 발생 시에만 생산 (Push 반대)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2128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후공정이 필요할 때 전공정에 신호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3957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과잉생산 방지, WIP 최소화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Kanban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443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시각적 신호 기반 생산 지시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272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카드/전자신호로 생산량 조절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실시간 가시성, 과잉재고 방지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2743200"/>
            <a:ext cx="365760" cy="365760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27432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Continuous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29443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공정 간 재고 없이 연속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31272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단일흐름(One-Piece Flow), Takt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33101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리드타임 단축, 품질 즉시 피드백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6576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Short Lead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8587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리드타임 단축으로 재고 불필요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416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SMED(Single Minute Exchange), 준비시간↓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245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주문→납품 시간↓, 유연성↑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3657600"/>
            <a:ext cx="365760" cy="3657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36576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Perfect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38587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불량 Zero로 안전재고 제거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40416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Poka-Yoke(실수방지), Jidoka(자동화)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79" y="42245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검사공정 불필요, 재작업↓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720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Supplier Partnership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77316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공급업체와 긴밀한 협업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95604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방법: 장기계약, 정보공유, 공동개선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389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A5276"/>
                </a:solidFill>
                <a:latin typeface="맑은 고딕"/>
              </a:rPr>
              <a:t>효과: 적기납품 100%, 품질 안정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577840"/>
            <a:ext cx="8869680" cy="64008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⚠️ 왜곡된 해석: 1990-2000년대 컨설팅 업계가 '재고=악'으로 극단화 → 맥킨지 내부 용어 'Lean Taliban' (재고 감축 광신)
결과: 효율성↑ but 시스템 취약성(Fragility)↑ → 2020 팬데믹에서 붕괴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성공 사례 1: General Electric (1980년대)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GE는 1980년대 중반 JIT 도입으로 가전제품 생산 재고 비용 30% 절감에 성공하며 글로벌 벤치마크가 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45720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General Electric (GE) - 가전제품 부문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도입 전
(~1985)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회전율: 연 4회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보유: 3-4개월치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생산 리드타임: 6주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공장 효율: 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문제: 과잉재고, WIP 누적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383280"/>
            <a:ext cx="18288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0" y="2468880"/>
            <a:ext cx="2743200" cy="365760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도입 과정
(1985-1987)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260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JIT 교육: 전 직원 대상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546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라인 재배치: U자형 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832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Kanban 시스템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118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공급업체 협업 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404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SMED 준비시간 단축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383280"/>
            <a:ext cx="18288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0" y="2468880"/>
            <a:ext cx="2743200" cy="365760"/>
          </a:xfrm>
          <a:prstGeom prst="rect">
            <a:avLst/>
          </a:prstGeom>
          <a:solidFill>
            <a:srgbClr val="27AE60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도입 후
(1988~)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260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회전율: 연 12회 (3배↑)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546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보유: 1개월치 (30%↓)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832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생산 리드타임: 2주 (67%↓)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공장 효율: 85% (20%p↑)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80"/>
            <a:ext cx="25603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결과: 연 재고비용 $50M 절감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8686800" cy="274320"/>
          </a:xfrm>
          <a:prstGeom prst="rect">
            <a:avLst/>
          </a:prstGeom>
          <a:solidFill>
            <a:srgbClr val="33333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핵심 성공 요인 (Key Success Factors)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경영진 강력한 지원: CEO Jack Welch의 직접 주도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9377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단계적 접근: Pilot → Roll-out (2년)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846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공급업체 협력: 100개 → 20개 핵심업체 집중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18464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인력 교육: 6개월 JIT 트레이닝 프로그램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3153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IT 시스템: 실시간 생산 가시성 구축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43153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문화 변화: 보상 체계를 재고↓에서 Flow↑로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666666"/>
                </a:solidFill>
                <a:latin typeface="맑은 고딕"/>
              </a:rPr>
              <a:t>출처: Schonberger, R.J. (1982) 'Japanese Manufacturing Techniques', Hall, R.W. (1983) 'Zero Inventories'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성공 사례 2 &amp; 3: Harley-Davidson, Ford Motor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Harley는 파산 위기를 JIT로 극복(재고 75%↓), Ford는 부품 공급망 JIT 전환으로 조립 리드타임을 대폭 단축했습니다.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4114800" cy="365760"/>
          </a:xfrm>
          <a:prstGeom prst="rect">
            <a:avLst/>
          </a:prstGeom>
          <a:solidFill>
            <a:srgbClr val="E67E22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Harley-Davidson (1981-1985)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67E22"/>
                </a:solidFill>
                <a:latin typeface="맑은 고딕"/>
              </a:rPr>
              <a:t>위기: 1981년 파산 위기
일본 경쟁 &amp; 품질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도입 조치: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JIT &amp; MAN 시스템 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36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품질 개선: Statistical Process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564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공급업체 파트너십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7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1년치 → 3개월치 (75%↓)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27AE60"/>
                </a:solidFill>
                <a:latin typeface="맑은 고딕"/>
              </a:rPr>
              <a:t>성과: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생산성 50% 향상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불량률 50%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리드타임 67% 단축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560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1986년 흑자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666666"/>
                </a:solidFill>
                <a:latin typeface="맑은 고딕"/>
              </a:rPr>
              <a:t>출처: Reid (1990) 'Well Made in America', HBR (1986) 'The Eagle Soars Alone'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828800"/>
            <a:ext cx="4114800" cy="365760"/>
          </a:xfrm>
          <a:prstGeom prst="rect">
            <a:avLst/>
          </a:prstGeom>
          <a:solidFill>
            <a:srgbClr val="1A527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Ford Motor Company (1980년대~)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E67E22"/>
                </a:solidFill>
                <a:latin typeface="맑은 고딕"/>
              </a:rPr>
              <a:t>위기: 1980년 경쟁력 하락
GM·일본 업체 추격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43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도입 조치: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0175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부품 공급망 JIT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3697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공급업체 수 2,500 → 1,000개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4564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협력업체 통합 센터 설립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675887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조립 라인 재설계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023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27AE60"/>
                </a:solidFill>
                <a:latin typeface="맑은 고딕"/>
              </a:rPr>
              <a:t>성과: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조립 리드타임 50% 단축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51713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재고 회전율 2배 증가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73659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품질 지수 30% 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9560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• 1990s Taurus 성공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666666"/>
                </a:solidFill>
                <a:latin typeface="맑은 고딕"/>
              </a:rPr>
              <a:t>출처: Womack et al. (1990) 'The Machine That Changed the World', Ford Annual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전성기 시대 배경 (1980-2010)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2020년 코로나19 팬데믹: 공급망 붕괴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반도체 대란 상세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마스크 &amp; 컨테이너 대란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실패 원인 종합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JIC (Just-In-Case) 철학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글로벌 기업의 JIC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 탄생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핵심 통찰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Y축: 공급 리스크 6개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X축: 구매 임팩트 5개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점수화 공식 &amp; 데이터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2×2 매트릭스: 4대 자재군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병목자재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레버리지자재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전략자재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일상자재 완전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차별화가 필수인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자재군별 핵심 전략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병목 vs 레버리지 철학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전략 vs 일상 철학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비용-효익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5대 자재계획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ROP (재주문점)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MRP (소요량 계획)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LTP (장기 계획)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Min-Max &amp; VMI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하이브리드 접근법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방법론 선택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자재군별 KPI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통합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산업별 적용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기업 규모별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Quick Start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반도체 대란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반도체 대란 영향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자동차 업계 JIC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교훈 &amp; 비용-효익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자주 묻는 질문 (FAQ)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 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
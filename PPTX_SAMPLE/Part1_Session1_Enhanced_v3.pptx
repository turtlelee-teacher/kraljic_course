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8074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전략적 재고운영 Foundation</a:t>
            </a:r>
          </a:p>
          <a:p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8074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맑은 고딕"/>
              </a:defRPr>
            </a:pPr>
            <a:r>
              <a:t>Part 1: JIT→JIC 패러다임 전환과 Kraljic Matrix 프레임워크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8074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  <a:latin typeface="맑은 고딕"/>
              </a:defRPr>
            </a:pPr>
            <a:r>
              <a:t>Session 1 of 9 | 45분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목차 (Table of Contents)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본 강의는 7개 장으로 구성되어 있으며, JIT에서 JIC로의 전환과 Kraljic Matrix 실전 적용을 다룹니다.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54864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1554480" y="1828800"/>
            <a:ext cx="2011680" cy="7315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강의 개요</a:t>
            </a:r>
          </a:p>
          <a:p>
            <a:r>
              <a:t>학습 목표 및 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43200"/>
            <a:ext cx="54864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2743200"/>
            <a:ext cx="2011680" cy="7315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JIT의 탄생과 한계</a:t>
            </a:r>
          </a:p>
          <a:p>
            <a:r>
              <a:t>Toyota JIT부터 팬데믹까지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54864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3657600"/>
            <a:ext cx="2011680" cy="7315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JIC로의 전환</a:t>
            </a:r>
          </a:p>
          <a:p>
            <a:r>
              <a:t>재고의 재정의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828800"/>
            <a:ext cx="54864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828800"/>
            <a:ext cx="2011680" cy="7315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Kraljic Matrix</a:t>
            </a:r>
          </a:p>
          <a:p>
            <a:r>
              <a:t>4분면 자재 분류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743200"/>
            <a:ext cx="54864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5장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743200"/>
            <a:ext cx="2011680" cy="7315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차별화 전략</a:t>
            </a:r>
          </a:p>
          <a:p>
            <a:r>
              <a:t>자재군별 전략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3657600"/>
            <a:ext cx="54864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6장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3657600"/>
            <a:ext cx="2011680" cy="7315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계획 방법론</a:t>
            </a:r>
          </a:p>
          <a:p>
            <a:r>
              <a:t>ROP/MRP/하이브리드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1828800"/>
            <a:ext cx="54864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7장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1828800"/>
            <a:ext cx="2011680" cy="7315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실전 적용</a:t>
            </a:r>
          </a:p>
          <a:p>
            <a:r>
              <a:t>KPI 및 종합 사례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맑은 고딕"/>
              </a:defRPr>
            </a:pPr>
            <a:r>
              <a:t>1장</a:t>
            </a:r>
          </a:p>
          <a:p>
            <a:r>
              <a:t>강의 개요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1.1 학습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본 과정을 통해 JIT→JIC 전환 배경, Kraljic Matrix 분류, 자재군별 계획 방법론을 완전히 이해합니다.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931920" cy="182880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000000"/>
                </a:solidFill>
                <a:latin typeface="맑은 고딕"/>
              </a:defRPr>
            </a:pPr>
            <a:r>
              <a:t>JIT→JIC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377440"/>
            <a:ext cx="356616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0">
                <a:solidFill>
                  <a:srgbClr val="000000"/>
                </a:solidFill>
                <a:latin typeface="맑은 고딕"/>
              </a:defRPr>
            </a:pPr>
            <a:r>
              <a:t>패러다임 전환 배경과</a:t>
            </a:r>
          </a:p>
          <a:p>
            <a:r>
              <a:t>필요성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3931920" cy="182880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000000"/>
                </a:solidFill>
                <a:latin typeface="맑은 고딕"/>
              </a:defRPr>
            </a:pPr>
            <a:r>
              <a:t>전략적 재고운영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2377440"/>
            <a:ext cx="356616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0">
                <a:solidFill>
                  <a:srgbClr val="000000"/>
                </a:solidFill>
                <a:latin typeface="맑은 고딕"/>
              </a:defRPr>
            </a:pPr>
            <a:r>
              <a:t>차별화된 접근법과</a:t>
            </a:r>
          </a:p>
          <a:p>
            <a:r>
              <a:t>핵심 개념 습득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114800"/>
            <a:ext cx="3931920" cy="182880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000000"/>
                </a:solidFill>
                <a:latin typeface="맑은 고딕"/>
              </a:defRPr>
            </a:pPr>
            <a:r>
              <a:t>Kraljic Matrix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63440"/>
            <a:ext cx="356616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0">
                <a:solidFill>
                  <a:srgbClr val="000000"/>
                </a:solidFill>
                <a:latin typeface="맑은 고딕"/>
              </a:defRPr>
            </a:pPr>
            <a:r>
              <a:t>자재 포트폴리오 분류</a:t>
            </a:r>
          </a:p>
          <a:p>
            <a:r>
              <a:t>역량 확보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4114800"/>
            <a:ext cx="3931920" cy="182880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000000"/>
                </a:solidFill>
                <a:latin typeface="맑은 고딕"/>
              </a:defRPr>
            </a:pPr>
            <a:r>
              <a:t>계획 방법론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4663440"/>
            <a:ext cx="356616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0">
                <a:solidFill>
                  <a:srgbClr val="000000"/>
                </a:solidFill>
                <a:latin typeface="맑은 고딕"/>
              </a:defRPr>
            </a:pPr>
            <a:r>
              <a:t>자재군별 관리 철학과</a:t>
            </a:r>
          </a:p>
          <a:p>
            <a:r>
              <a:t>방법론 맵 이해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1.2 강의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본 과정은 총 9회차로 구성되어 있으며, 이론과 실습을 균형있게 다룹니다.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256032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Module 1</a:t>
            </a:r>
          </a:p>
          <a:p>
            <a: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51760"/>
            <a:ext cx="2560320" cy="274320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0">
                <a:solidFill>
                  <a:srgbClr val="000000"/>
                </a:solidFill>
                <a:latin typeface="맑은 고딕"/>
              </a:defRPr>
            </a:pPr>
            <a:r>
              <a:t>1-3회차</a:t>
            </a:r>
          </a:p>
          <a:p/>
          <a:p>
            <a:r>
              <a:t>Foundation</a:t>
            </a:r>
          </a:p>
          <a:p>
            <a:r>
              <a:t>Sourcing</a:t>
            </a:r>
          </a:p>
          <a:p>
            <a:r>
              <a:t>ABC-XYZ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1828800"/>
            <a:ext cx="256032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Module 2</a:t>
            </a:r>
          </a:p>
          <a:p>
            <a:r>
              <a:t>심화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2651760"/>
            <a:ext cx="2560320" cy="274320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0">
                <a:solidFill>
                  <a:srgbClr val="000000"/>
                </a:solidFill>
                <a:latin typeface="맑은 고딕"/>
              </a:defRPr>
            </a:pPr>
            <a:r>
              <a:t>4-7회차</a:t>
            </a:r>
          </a:p>
          <a:p/>
          <a:p>
            <a:r>
              <a:t>병목/레버리지</a:t>
            </a:r>
          </a:p>
          <a:p>
            <a:r>
              <a:t>전략/일상자재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828800"/>
            <a:ext cx="256032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Module 3</a:t>
            </a:r>
          </a:p>
          <a:p>
            <a:r>
              <a:t>실습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2651760"/>
            <a:ext cx="2560320" cy="274320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0">
                <a:solidFill>
                  <a:srgbClr val="000000"/>
                </a:solidFill>
                <a:latin typeface="맑은 고딕"/>
              </a:defRPr>
            </a:pPr>
            <a:r>
              <a:t>8-9회차</a:t>
            </a:r>
          </a:p>
          <a:p/>
          <a:p>
            <a:r>
              <a:t>Kraljic Workshop</a:t>
            </a:r>
          </a:p>
          <a:p>
            <a:r>
              <a:t>통합 Workshop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74720" y="3200400"/>
            <a:ext cx="365760" cy="0"/>
          </a:xfrm>
          <a:prstGeom prst="line">
            <a:avLst/>
          </a:prstGeom>
          <a:ln w="25400">
            <a:solidFill>
              <a:srgbClr val="1A5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00800" y="3200400"/>
            <a:ext cx="365760" cy="0"/>
          </a:xfrm>
          <a:prstGeom prst="line">
            <a:avLst/>
          </a:prstGeom>
          <a:ln w="25400">
            <a:solidFill>
              <a:srgbClr val="1A5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1.3 왜 지금 이 과정이 필요한가?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공급망 환경이 급변하면서 재고는 '낭비'가 아닌 '전략적 자원'으로 재정의되고 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371600" cy="73152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1980-2010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1828800"/>
            <a:ext cx="2011680" cy="36576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JIT 전성시대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2240280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0">
                <a:solidFill>
                  <a:srgbClr val="000000"/>
                </a:solidFill>
                <a:latin typeface="맑은 고딕"/>
              </a:defRPr>
            </a:pPr>
            <a:r>
              <a:t>재고=낭비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20" y="2560320"/>
            <a:ext cx="0" cy="18288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31520" y="2743200"/>
            <a:ext cx="1371600" cy="731520"/>
          </a:xfrm>
          <a:prstGeom prst="rect">
            <a:avLst/>
          </a:prstGeom>
          <a:solidFill>
            <a:srgbClr val="66666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2011-2019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2743200"/>
            <a:ext cx="2011680" cy="36576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균열의 시작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3154680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0">
                <a:solidFill>
                  <a:srgbClr val="000000"/>
                </a:solidFill>
                <a:latin typeface="맑은 고딕"/>
              </a:defRPr>
            </a:pPr>
            <a:r>
              <a:t>공급 리스크 증가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20" y="3474720"/>
            <a:ext cx="0" cy="18288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3657600"/>
            <a:ext cx="1371600" cy="73152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2020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3657600"/>
            <a:ext cx="2011680" cy="36576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팬데믹 충격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4069080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0">
                <a:solidFill>
                  <a:srgbClr val="000000"/>
                </a:solidFill>
                <a:latin typeface="맑은 고딕"/>
              </a:defRPr>
            </a:pPr>
            <a:r>
              <a:t>JIT 붕괴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4389120"/>
            <a:ext cx="0" cy="18288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31520" y="4572000"/>
            <a:ext cx="1371600" cy="731520"/>
          </a:xfrm>
          <a:prstGeom prst="rect">
            <a:avLst/>
          </a:prstGeom>
          <a:solidFill>
            <a:srgbClr val="1A527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2021-현재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4572000"/>
            <a:ext cx="2011680" cy="36576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JIC 전환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4983480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0">
                <a:solidFill>
                  <a:srgbClr val="000000"/>
                </a:solidFill>
                <a:latin typeface="맑은 고딕"/>
              </a:defRPr>
            </a:pPr>
            <a:r>
              <a:t>재고=전략자산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828800"/>
            <a:ext cx="2560320" cy="54864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시사점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2468880"/>
            <a:ext cx="2560320" cy="1645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 예측 가능한 환경 → 불확실성 시대</a:t>
            </a:r>
          </a:p>
          <a:p>
            <a:r>
              <a:t>• 비용 효율성 → 공급 안정성</a:t>
            </a:r>
          </a:p>
          <a:p>
            <a:r>
              <a:t>• 표준화 전략 → 차별화 전략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4297680"/>
            <a:ext cx="2560320" cy="54864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대응 방안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4937760"/>
            <a:ext cx="2560320" cy="11887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 Kraljic Matrix로 자재 분류</a:t>
            </a:r>
          </a:p>
          <a:p>
            <a:r>
              <a:t>• 자재군별 차별화 전략</a:t>
            </a:r>
          </a:p>
          <a:p>
            <a:r>
              <a:t>• 적응적 재고 정책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맑은 고딕"/>
              </a:defRPr>
            </a:pPr>
            <a:r>
              <a:t>2장</a:t>
            </a:r>
          </a:p>
          <a:p>
            <a:r>
              <a:t>JIT의 탄생과 한계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2.1 JIT의 탄생 (Toyota, 1970s)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도요타가 개발한 적기생산방식(JIT)은 1970년대 제조업의 혁명이었으며, 전 세계 제조업체의 표준이 되었습니다.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5486400" cy="64008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JIT 핵심 철학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5486400" cy="5486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0">
                <a:solidFill>
                  <a:srgbClr val="000000"/>
                </a:solidFill>
                <a:latin typeface="맑은 고딕"/>
              </a:defRPr>
            </a:pPr>
            <a:r>
              <a:t>재고 = 낭비 (Waste)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5486400" cy="5486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0">
                <a:solidFill>
                  <a:srgbClr val="000000"/>
                </a:solidFill>
                <a:latin typeface="맑은 고딕"/>
              </a:defRPr>
            </a:pPr>
            <a:r>
              <a:t>목표 = 재고 Zero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840480"/>
            <a:ext cx="5486400" cy="5486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0">
                <a:solidFill>
                  <a:srgbClr val="000000"/>
                </a:solidFill>
                <a:latin typeface="맑은 고딕"/>
              </a:defRPr>
            </a:pPr>
            <a:r>
              <a:t>방법 = 적기에 필요한 만큼만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572000"/>
            <a:ext cx="548640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확산 과정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solidFill>
            <a:srgbClr val="66666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1970년대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5120640"/>
            <a:ext cx="347472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0">
                <a:solidFill>
                  <a:srgbClr val="000000"/>
                </a:solidFill>
                <a:latin typeface="맑은 고딕"/>
              </a:defRPr>
            </a:pPr>
            <a:r>
              <a:t>도요타 개발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5257800"/>
            <a:ext cx="731520" cy="182880"/>
          </a:xfrm>
          <a:prstGeom prst="rightArrow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669279"/>
            <a:ext cx="1828800" cy="457200"/>
          </a:xfrm>
          <a:prstGeom prst="rect">
            <a:avLst/>
          </a:prstGeom>
          <a:solidFill>
            <a:srgbClr val="66666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1980년대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5669279"/>
            <a:ext cx="3474720" cy="45720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0">
                <a:solidFill>
                  <a:srgbClr val="000000"/>
                </a:solidFill>
                <a:latin typeface="맑은 고딕"/>
              </a:defRPr>
            </a:pPr>
            <a:r>
              <a:t>미국/유럽 확산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03520" y="5806440"/>
            <a:ext cx="731520" cy="182880"/>
          </a:xfrm>
          <a:prstGeom prst="rightArrow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17919"/>
            <a:ext cx="1828800" cy="457200"/>
          </a:xfrm>
          <a:prstGeom prst="rect">
            <a:avLst/>
          </a:prstGeom>
          <a:solidFill>
            <a:srgbClr val="66666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1990-2000년대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6217919"/>
            <a:ext cx="347472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 b="0">
                <a:solidFill>
                  <a:srgbClr val="000000"/>
                </a:solidFill>
                <a:latin typeface="맑은 고딕"/>
              </a:defRPr>
            </a:pPr>
            <a:r>
              <a:t>글로벌 표준화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828800"/>
            <a:ext cx="2560320" cy="54864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배경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468880"/>
            <a:ext cx="2560320" cy="137160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 1970년대 오일쇼크</a:t>
            </a:r>
          </a:p>
          <a:p>
            <a:r>
              <a:t>• 원가 절감 압박</a:t>
            </a:r>
          </a:p>
          <a:p>
            <a:r>
              <a:t>• 도요타의 혁신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4023360"/>
            <a:ext cx="2560320" cy="548640"/>
          </a:xfrm>
          <a:prstGeom prst="rect">
            <a:avLst/>
          </a:prstGeom>
          <a:solidFill>
            <a:srgbClr val="333333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핵심 가치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4663440"/>
            <a:ext cx="2560320" cy="1463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 낭비 제거</a:t>
            </a:r>
          </a:p>
          <a:p>
            <a:r>
              <a:t>• 흐름 생산</a:t>
            </a:r>
          </a:p>
          <a:p>
            <a:r>
              <a:t>• 지속 개선</a:t>
            </a:r>
          </a:p>
          <a:p>
            <a:r>
              <a:t>• 인간 존중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2.2 JIT의 7가지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Zero Inventory, Pull System, Kanban 등 7가지 원칙이 JIT의 핵심 운영 방법입니다.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2.3 GE 성공 사례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General Electric은 1980년대 JIT 도입으로 재고 비용 30% 절감에 성공했습니다.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2.4 Harley-Davidson &amp; Ford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Harley-Davidson은 JIT로 파산 위기를 극복하고 생산성 50% 향상을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2.5 JIT 전성시대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1980-2000년대는 JIT가 글로벌 제조업의 표준이 된 황금기였습니다.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2.6 JIT의 한계 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2011년 동일본 대지진과 태국 홍수가 JIT의 취약성을 처음 드러냈습니다.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2.7 2020 팬데믹 위기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코로나19 팬데믹으로 전 세계 JIT 공급망이 동시에 붕괴했습니다.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2.8 실패 사례들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글로벌 반도체 대란, 마스크 대란, 컨테이너선 대란 등 JIT의 치명적 약점이 드러났습니다.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맑은 고딕"/>
              </a:defRPr>
            </a:pPr>
            <a:r>
              <a:t>3장</a:t>
            </a:r>
          </a:p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3.1 JIC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Just-In-Case는 불확실성에 대비한 전략적 재고 보유를 의미합니다.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3.2 JIT vs JIC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JIT는 효율성, JIC는 회복탄력성을 우선시하는 상반된 철학입니다.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3.3 기업들의 전략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Apple, Intel, Toyota 등 글로벌 기업들이 JIC로 전환하고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3.4 재고의 재정의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재고는 '낭비'가 아닌 '위험 완충장치'이자 '전략적 자산'으로 재정의됩니다.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3.5 새로운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비용 최소화에서 공급 안정성과 회복탄력성 확보로 목표가 전환되었습니다.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맑은 고딕"/>
              </a:defRPr>
            </a:pPr>
            <a:r>
              <a:t>4장</a:t>
            </a:r>
          </a:p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4.1 Kraljic Matrix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Kraljic Matrix는 공급 리스크와 구매 임팩트 두 축으로 자재를 4개 군으로 분류합니다.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4.2 2개 축 설명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X축은 공급 리스크(Supply Risk), Y축은 구매 임팩트(Purchase Impact)입니다.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4.3 4개 분면: 전략자재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높은 리스크 + 높은 임팩트 = 장기 파트너십과 협업적 계획이 필요합니다.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4.4 4개 분면: 레버리지자재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낮은 리스크 + 높은 임팩트 = 경쟁 입찰과 볼륨 레버리지를 활용합니다.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4.5 4개 분면: 병목자재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높은 리스크 + 낮은 임팩트 = 공급 연속성 확보와 버퍼 재고가 핵심입니다.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4.6 4개 분면: 일상자재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낮은 리스크 + 낮은 임팩트 = 프로세스 효율화와 자동화를 추구합니다.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4.7 Kraljic Matrix 2×2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4개 분면을 한눈에 보여주는 매트릭스 다이어그램입니다.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4.8 분류 방법론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공급 리스크와 구매 임팩트를 각각 평가하여 자재를 분류합니다.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4.9 실습 예제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실제 자재 데이터를 활용한 Kraljic Matrix 분류 실습입니다.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맑은 고딕"/>
              </a:defRPr>
            </a:pPr>
            <a:r>
              <a:t>5장</a:t>
            </a:r>
          </a:p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5.1 왜 차별화가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모든 자재를 동일하게 관리하면 비효율과 리스크가 동시에 발생합니다.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5.2 4가지 전략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전략/레버리지/병목/일상자재는 각각 다른 관리 전략이 필요합니다.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5.3 의사결정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자재 분류 → 전략 선택 → 실행 계획 → 모니터링의 4단계입니다.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5.4 리스크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자재군별로 다른 리스크 완화 전략을 적용해야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맑은 고딕"/>
              </a:defRPr>
            </a:pPr>
            <a:r>
              <a:t>6장</a:t>
            </a:r>
          </a:p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6.1 ROP (병목자재)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Re-Order Point는 리드타임과 수요율 기반으로 발주점을 설정합니다.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6.2 MRP (레버리지자재)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Material Requirements Planning은 수요 기반으로 정확한 타이밍에 발주합니다.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6.3 하이브리드 (전략자재)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예측 기반 + 수요 기반을 결합한 하이브리드 계획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6.4 자동화 (일상자재)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VMI, EDI 등 자동 발주 시스템으로 효율을 극대화합니다.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6.5 방법론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4가지 계획 방법론의 특징과 적용 시나리오를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6.6 구현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단계별 구현 계획과 체크리스트를 제공합니다.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맑은 고딕"/>
              </a:defRPr>
            </a:pPr>
            <a:r>
              <a:t>7장</a:t>
            </a:r>
          </a:p>
          <a:p/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7.1 KPI 설정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자재군별로 다른 KPI를 설정하여 성과를 측정합니다.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7.2 성과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재고 회전율, 결품율, 총 소유 비용 등을 모니터링합니다.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7.3 종합 사례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실제 기업의 Kraljic Matrix 적용 사례를 분석합니다.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Q&amp;A 및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본 강의의 핵심 내용을 요약하고 질의응답 시간을 갖습니다.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6245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맑은 고딕"/>
              </a:defRPr>
            </a:pPr>
            <a:r>
              <a:t>[상세 내용 구현 예정]</a:t>
            </a:r>
          </a:p>
          <a:p/>
          <a:p>
            <a:r>
              <a:t>슬라이드 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
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074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전략적 재고운영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8074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맑은 고딕"/>
              </a:rP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  <a:latin typeface="맑은 고딕"/>
              </a:rPr>
              <a:t>전략적 재고운영 및 자재계획수립 과정
2025년 1회차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5276"/>
                </a:solidFill>
                <a:latin typeface="Arial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622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2000">
                <a:solidFill>
                  <a:srgbClr val="212529"/>
                </a:solidFill>
                <a:latin typeface="맑은 고딕"/>
              </a:rPr>
              <a:t>JIT에서 JIC로의 패러다임 전환 배경과 필요성 이해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212529"/>
                </a:solidFill>
                <a:latin typeface="맑은 고딕"/>
              </a:rPr>
              <a:t>전략적 재고운영의 핵심 개념과 차별화된 접근법 습득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212529"/>
                </a:solidFill>
                <a:latin typeface="맑은 고딕"/>
              </a:rPr>
              <a:t>Kraljic Matrix를 활용한 자재 포트폴리오 분류 역량 확보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212529"/>
                </a:solidFill>
                <a:latin typeface="맑은 고딕"/>
              </a:rPr>
              <a:t>자재군별 관리 철학과 자재계획 방법론의 전체 맵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JIT vs JIC: 패러다임의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5276"/>
                </a:solidFill>
                <a:latin typeface="Arial"/>
              </a:rPr>
              <a:t>JIT (과거)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재고 = 낭비 (Waste)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목표: 재고 Zero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우선순위: 효율성 (Efficiency)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안전재고: 최소 (1-2주)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공급업체: Single Source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의사결정: 원가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6632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7E22"/>
                </a:solidFill>
                <a:latin typeface="Arial"/>
              </a:rPr>
              <a:t>JIC (현재/미래)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재고 = 전략적 자산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목표: 최적 재고 (Optimal)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우선순위: 회복력 (Resilience)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안전재고: 차별화 (1주-6개월)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공급업체: Dual/Multi Source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12529"/>
                </a:solidFill>
                <a:latin typeface="맑은 고딕"/>
              </a:rPr>
              <a:t>• 의사결정: TCO +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JIT 붕괴 사례: 2020-2021 공급망 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622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212529"/>
                </a:solidFill>
                <a:latin typeface="맑은 고딕"/>
              </a:rPr>
              <a:t>2020년 팬데믹은 JIT 방식의 치명적 약점을 극명하게 드러냈습니다.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86227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1. 2021년 글로벌 반도체 대란: 자동차 생산 1,000만 대 감소, 산업 손실 $210억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2. 마스크 대란 (2020): 전 세계 생산의 50%를 중국에 의존, 봉쇄로 공급 중단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3. 컨테이너선 대란 (2021-2022): 운임비 10배 폭등, 리드타임 2배 증가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4. GM: 반도체 부족으로 생산 차질 200만 대, 안전재고 0주 → 10-12주 확대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5. Toyota: JIT 창시자조차 반도체 안전재고 4-6개월치 확보로 전략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Kraljic Matrix의 탄생과 핵심 통찰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622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212529"/>
                </a:solidFill>
                <a:latin typeface="맑은 고딕"/>
              </a:rPr>
              <a:t>Peter Kraljic (1983, Harvard Business Review):
"Purchasing Must Become Supply Management"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86227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탄생 배경: 1970년대 2차례 석유파동으로 공급 불안정 극심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핵심 통찰: "Not all materials are created equal" - 모든 자재가 동등하지 않다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차별화 필요성: 자재의 특성에 따라 차별화된 관리 전략 적용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2축 평가: 공급 리스크 (Supply Risk) × 구매 임팩트 (Purchase Impact)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4대 자재군: 전략/레버리지/병목/일상 자재로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Kraljic Matrix의 두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  <a:latin typeface="Arial"/>
              </a:rPr>
              <a:t>Y축: 공급 리스크 (Supply Risk)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공급업체 수 (1-2개 고위험)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대체 가능성 (대체 불가 고위험)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시장 구조 (독과점 고위험)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지리적 집중도 (특정 지역 집중 고위험)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기술 복잡성 (특수 기술 고위험)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리드타임 (6개월 이상 고위험)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6632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7E22"/>
                </a:solidFill>
                <a:latin typeface="Arial"/>
              </a:rPr>
              <a:t>X축: 구매 임팩트 (Purchase Impact)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구매 금액 (총 구매액 대비 비중)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원가 비중 (제품 원가 중 차지 비율)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사업 영향도 (결품 시 생산 중단)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부가가치 (최종 제품 성능 영향)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529"/>
                </a:solidFill>
                <a:latin typeface="맑은 고딕"/>
              </a:rPr>
              <a:t>• 품질 중요성 (품질 문제 파급 효과)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Kraljic Matrix: 4대 자재군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3291840" cy="2011680"/>
          </a:xfrm>
          <a:prstGeom prst="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병목자재
Bottleneck Materials
독점 공급 부품
희토류, 특수 소재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3291840" cy="2011680"/>
          </a:xfrm>
          <a:prstGeom prst="rect">
            <a:avLst/>
          </a:prstGeom>
          <a:solidFill>
            <a:srgbClr val="8E44A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전략자재
Strategic Materials
핵심 부품, 고가 장비
전략 원자재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023360"/>
            <a:ext cx="3291840" cy="2011680"/>
          </a:xfrm>
          <a:prstGeom prst="rect">
            <a:avLst/>
          </a:prstGeom>
          <a:solidFill>
            <a:srgbClr val="95A5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일상자재
Routine Materials
사무용품, 소모품
저가 부품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023360"/>
            <a:ext cx="3291840" cy="2011680"/>
          </a:xfrm>
          <a:prstGeom prst="rect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레버리지자재
Leverage Materials
범용 부품
표준 원자재, MRO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맑은 고딕"/>
              </a:rPr>
              <a:t>공급 리스크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맑은 고딕"/>
              </a:rPr>
              <a:t>구매 임팩트 (Purchase Impact)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4대 자재군별 관리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5276"/>
                </a:solidFill>
                <a:latin typeface="Arial"/>
              </a:rPr>
              <a:t>전략자재 &amp; 병목자재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8E44AD"/>
                </a:solidFill>
                <a:latin typeface="맑은 고딕"/>
              </a:rPr>
              <a:t>전략자재 (고리스크+고금액)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장기 파트너십 구축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Hybrid 계획 방법론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공급 안정성 최우선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E67E22"/>
                </a:solidFill>
                <a:latin typeface="맑은 고딕"/>
              </a:rPr>
              <a:t>병목자재 (고리스크+저금액)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공급 연속성 확보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ROP 기반 안전재고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대체재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6632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67E22"/>
                </a:solidFill>
                <a:latin typeface="Arial"/>
              </a:rPr>
              <a:t>레버리지자재 &amp; 일상자재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27AE60"/>
                </a:solidFill>
                <a:latin typeface="맑은 고딕"/>
              </a:rPr>
              <a:t>레버리지자재 (저리스크+고금액)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경쟁 입찰 적극 활용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MRP 기반 정밀 계획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물량 레버리지 활용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95A5A6"/>
                </a:solidFill>
                <a:latin typeface="맑은 고딕"/>
              </a:rPr>
              <a:t>일상자재 (저리스크+저금액)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프로세스 효율화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자동 발주 시스템</a:t>
            </a:r>
          </a:p>
          <a:p>
            <a:pPr lvl="1"/>
            <a:r>
              <a:rPr sz="1600">
                <a:solidFill>
                  <a:srgbClr val="212529"/>
                </a:solidFill>
                <a:latin typeface="맑은 고딕"/>
              </a:rPr>
              <a:t>• 관리 비용 최소화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5276"/>
                </a:solidFill>
                <a:latin typeface="Arial"/>
              </a:rPr>
              <a:t>핵심 요약 및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365760"/>
            <a:ext cx="1188720" cy="457200"/>
          </a:xfrm>
          <a:prstGeom prst="rect">
            <a:avLst/>
          </a:prstGeom>
          <a:solidFill>
            <a:srgbClr val="1A5276"/>
          </a:solidFill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1회차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6227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JIT → JIC: 재고는 낭비가 아닌 전략적 자산으로 전환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Kraljic Matrix: 공급 리스크 × 구매 임팩트로 4대 자재군 분류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차별화 전략: 각 자재군별로 다른 관리 철학과 계획 방법론 적용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2회차 예고: 자재군별 소싱 전략과 공급업체 성과 평가 방법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212529"/>
                </a:solidFill>
                <a:latin typeface="맑은 고딕"/>
              </a:rPr>
              <a:t>• 실습 준비: 여러분의 조직 자재를 Kraljic Matrix로 분류해보세요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486400"/>
            <a:ext cx="7159752" cy="7315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Action Item: 다음 세션까지 자사의 주요 자재 10개를 Kraljic Matrix에 배치해 오세요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맑은 고딕"/>
              </a:rPr>
              <a:t>전략적 재고운영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
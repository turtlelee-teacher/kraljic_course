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074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전략적 재고운영 Foundation</a:t>
            </a:r>
          </a:p>
          <a:p>
            <a:r>
              <a:t>Kraljic Matrix와 자재계획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8074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맑은 고딕"/>
              </a:defRPr>
            </a:pPr>
            <a:r>
              <a:t>Part 1: JIT→JIC 패러다임 전환과 Kraljic Matrix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8074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  <a:latin typeface="맑은 고딕"/>
              </a:defRPr>
            </a:pPr>
            <a:r>
              <a:t>Session 1 of 9 | 45분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강의는 7개 장으로 구성되어 있으며, JIT에서 JIC로의 전환과 Kraljic Matrix 실전 적용을 다룹니다.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강의 개요</a:t>
            </a:r>
          </a:p>
          <a:p>
            <a:r>
              <a:t>학습 목표 및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7432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JIT의 탄생과 한계</a:t>
            </a:r>
          </a:p>
          <a:p>
            <a:r>
              <a:t>Toyota JIT부터 팬데믹까지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6576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JIC로의 전환</a:t>
            </a:r>
          </a:p>
          <a:p>
            <a:r>
              <a:t>재고의 재정의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Kraljic Matrix</a:t>
            </a:r>
          </a:p>
          <a:p>
            <a:r>
              <a:t>4분면 자재 분류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7432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7432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차별화 전략</a:t>
            </a:r>
          </a:p>
          <a:p>
            <a:r>
              <a:t>자재군별 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6576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6576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  <a:p>
            <a:r>
              <a:t>ROP/MRP/하이브리드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실전 적용</a:t>
            </a:r>
          </a:p>
          <a:p>
            <a:r>
              <a:t>KPI 및 종합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1장</a:t>
            </a:r>
          </a:p>
          <a:p>
            <a:r>
              <a:t>강의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1.1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과정을 통해 JIT→JIC 전환 배경, Kraljic Matrix 분류, 자재군별 계획 방법론을 완전히 이해합니다.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931920" cy="18288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JIT→JIC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패러다임 전환 배경과</a:t>
            </a:r>
          </a:p>
          <a:p>
            <a:r>
              <a:t>필요성 이해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931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전략적 재고운영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377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차별화된 접근법과</a:t>
            </a:r>
          </a:p>
          <a:p>
            <a:r>
              <a:t>핵심 개념 습득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3931920" cy="18288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Kraljic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자재 포트폴리오 분류</a:t>
            </a:r>
          </a:p>
          <a:p>
            <a:r>
              <a:t>역량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114800"/>
            <a:ext cx="3931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663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자재군별 관리 철학과</a:t>
            </a:r>
          </a:p>
          <a:p>
            <a:r>
              <a:t>방법론 맵 이해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1.2 강의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과정은 총 9회차로 구성되어 있으며, 이론과 실습을 균형있게 다룹니다.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1</a:t>
            </a:r>
          </a:p>
          <a:p>
            <a: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1-3회차</a:t>
            </a:r>
          </a:p>
          <a:p/>
          <a:p>
            <a:r>
              <a:t>Foundation</a:t>
            </a:r>
          </a:p>
          <a:p>
            <a:r>
              <a:t>Sourcing</a:t>
            </a:r>
          </a:p>
          <a:p>
            <a:r>
              <a:t>ABC-XYZ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2</a:t>
            </a:r>
          </a:p>
          <a:p>
            <a:r>
              <a:t>심화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4-7회차</a:t>
            </a:r>
          </a:p>
          <a:p/>
          <a:p>
            <a:r>
              <a:t>병목/레버리지</a:t>
            </a:r>
          </a:p>
          <a:p>
            <a:r>
              <a:t>전략/일상자재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3</a:t>
            </a:r>
          </a:p>
          <a:p>
            <a:r>
              <a:t>실습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8-9회차</a:t>
            </a:r>
          </a:p>
          <a:p/>
          <a:p>
            <a:r>
              <a:t>Kraljic Workshop</a:t>
            </a:r>
          </a:p>
          <a:p>
            <a:r>
              <a:t>통합 Workshop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3200400"/>
            <a:ext cx="36576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3200400"/>
            <a:ext cx="36576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1.3 왜 지금 이 과정이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공급망 환경이 급변하면서 재고는 '낭비'가 아닌 '전략적 자원'으로 재정의되고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371600" cy="73152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1980-2010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8288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JIT 전성시대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22402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재고=낭비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25603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20" y="2743200"/>
            <a:ext cx="1371600" cy="73152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2011-2019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7432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균열의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1546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공급 리스크 증가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34747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3657600"/>
            <a:ext cx="137160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6576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팬데믹 충격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0690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JIT 붕괴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43891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" y="4572000"/>
            <a:ext cx="1371600" cy="731520"/>
          </a:xfrm>
          <a:prstGeom prst="rect">
            <a:avLst/>
          </a:prstGeom>
          <a:solidFill>
            <a:srgbClr val="1A527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2021-현재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45720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JIC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49834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재고=전략자산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828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468880"/>
            <a:ext cx="2560320" cy="16459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예측 가능한 환경 → 불확실성 시대</a:t>
            </a:r>
          </a:p>
          <a:p>
            <a:r>
              <a:t>• 비용 효율성 → 공급 안정성</a:t>
            </a:r>
          </a:p>
          <a:p>
            <a:r>
              <a:t>• 표준화 전략 → 차별화 전략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29768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대응 방안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937760"/>
            <a:ext cx="2560320" cy="11887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Kraljic Matrix로 자재 분류</a:t>
            </a:r>
          </a:p>
          <a:p>
            <a:r>
              <a:t>• 자재군별 차별화 전략</a:t>
            </a:r>
          </a:p>
          <a:p>
            <a:r>
              <a:t>• 적응적 재고 정책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2장</a:t>
            </a:r>
          </a:p>
          <a:p>
            <a:r>
              <a:t>JIT의 탄생과 한계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2.1 JIT의 탄생 (Toyota, 1970s)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도요타가 개발한 적기생산방식(JIT)은 1970년대 제조업의 혁명이었으며, 전 세계 제조업체의 표준이 되었습니다.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JIT 핵심 철학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재고 = 낭비 (Waste)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목표 = 재고 Zero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54864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방법 = 적기에 필요한 만큼만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확산 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1970년대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5120640"/>
            <a:ext cx="347472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도요타 개발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5257800"/>
            <a:ext cx="7315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669279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1980년대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5669279"/>
            <a:ext cx="3474720" cy="4572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미국/유럽 확산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03520" y="5806440"/>
            <a:ext cx="7315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19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1990-2000년대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6217919"/>
            <a:ext cx="347472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글로벌 표준화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828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배경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468880"/>
            <a:ext cx="2560320" cy="13716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1970년대 오일쇼크</a:t>
            </a:r>
          </a:p>
          <a:p>
            <a:r>
              <a:t>• 원가 절감 압박</a:t>
            </a:r>
          </a:p>
          <a:p>
            <a:r>
              <a:t>• 도요타의 혁신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02336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핵심 가치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663440"/>
            <a:ext cx="2560320" cy="1463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낭비 제거</a:t>
            </a:r>
          </a:p>
          <a:p>
            <a:r>
              <a:t>• 흐름 생산</a:t>
            </a:r>
          </a:p>
          <a:p>
            <a:r>
              <a:t>• 지속 개선</a:t>
            </a:r>
          </a:p>
          <a:p>
            <a:r>
              <a:t>• 인간 존중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
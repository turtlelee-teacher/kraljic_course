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전략적 재고운영 및 자재계획수립
Part 1: Kraljic Matrix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맑은 고딕"/>
              </a:rPr>
              <a:t>Session 1: JIT에서 JIC로의 전환과 Kraljic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Arial"/>
              </a:rPr>
              <a:t>2025년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1: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JIT→JIC 전환, Kraljic Matrix, 4대 자재군, 차별화 전략을 체계적으로 마스터합니다.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1. JIT→JIC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1970-2010 JIT 전성기: 도요타 7대 원칙, 글로벌 확산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2020 팬데믹: 반도체 대란($210억), 마스크·컨테이너 위기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JIC 부상: Apple 6-8주 재고, Intel $200억 공장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718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교훈: 재고=전략자산, 효율&lt;회복력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2. 전략적 재고운영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2860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획일 관리 실패: 전략자재 원가압박→공급중단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5146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차별화: 자재별 목표/전략/KPI 다르게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7432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전략재고=보험: 비용 &lt;&lt; 결품손실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9718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JIC ≠ 무조건 증가: 리스크 높은 것만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3. Kraljic Matrix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2축: Y=공급 리스크(6요소), X=구매 임팩트(5요소)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8006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4자재군: 병목/레버리지/전략/일상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0292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점수화: 업체수×0.3+대체성×0.3+...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2578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실습: 데이터수집→점수화→배치→전략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4114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4. 계획 방법론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5720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병목: ROP+안전재고4-8주+Dual Sourcing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48006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레버리지: MRP+안전재고1-2주+경쟁입찰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5029200"/>
            <a:ext cx="393192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전략: LTP+안전재고3-6주+Win-Win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5257800"/>
            <a:ext cx="39319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일상: VMI+안전재고1주+자동화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 Agenda: 5개 핵심 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패러다임 전환→Kraljic→차별화→방법론→KPI까지 체계적 학습 흐름으로 진행합니다.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1. 패러다임
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6517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JIT 영광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8803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팬데믹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1089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JIC 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3375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필요성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57600"/>
            <a:ext cx="25603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슬라이드 4-15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840480" y="2011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2. Kraljic
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6517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탄생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8803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2개 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1089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4자재군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3375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점수화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657600"/>
            <a:ext cx="25603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슬라이드 16-25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66560" y="201168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3. 차별화
전략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6517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Why?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8803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매트릭스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1089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철학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33756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비용효익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657600"/>
            <a:ext cx="25603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슬라이드 26-30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114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4. 계획
방법론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47548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5대방법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9834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ROP/MRP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52120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LTP/VMI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54406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Tree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5760720"/>
            <a:ext cx="25603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슬라이드 31-37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4114800"/>
            <a:ext cx="2560320" cy="5486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5. KPI &amp;
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47548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프레임워크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79" y="49834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대시보드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9" y="52120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산업별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9" y="5440680"/>
            <a:ext cx="2377440" cy="2103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규모별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5760720"/>
            <a:ext cx="25603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000000"/>
                </a:solidFill>
                <a:latin typeface="맑은 고딕"/>
              </a:rPr>
              <a:t>슬라이드 38-42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전체 과정 학습 여정: 9회차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Foundation 3회→자재군별 4회→워크샵 2회로 이론부터 실무까지 완성합니다.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Module 1: Foundation (1-3회)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822960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1회: JIT→JIC+Kraljic (45분) [지금]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8229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2회: 소싱 전략+SRM (45분)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822960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3회: ABC-XYZ 분류 (45분)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8686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Module 2: 자재군별 심화 (4-7회)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822960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4회: 병목자재+ROP (45분)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8229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5회: 레버리지+MRP (45분)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89120"/>
            <a:ext cx="822960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6회: 전략자재+LTP (45분)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8229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7회: 일상자재+VMI (45분)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8686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Module 3: 실전 워크샵 (8-9회)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60720"/>
            <a:ext cx="822960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8회: Kraljic 실전 워크샵 (45분)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035040"/>
            <a:ext cx="82296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9회: End-to-End 통합 케이스 (45분)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탄생: 도요타 혁명 (1970년대)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도요타의 '재고=낭비' 철학은 40년간 전 세계 표준이었으나 2020년 팬데믹에서 한계를 드러냈습니다.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01168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1950s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2011680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도요타생산방식
태동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오노 다이이치
JIT 착안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56032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26080" y="2011680"/>
            <a:ext cx="201168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1970s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377440"/>
            <a:ext cx="2011680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JIT 체계화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69748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석유파동 극복
낭비제거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256032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20640" y="2011680"/>
            <a:ext cx="201168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1980s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377440"/>
            <a:ext cx="2011680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세계확산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69748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미국·유럽
벤치마킹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0" y="256032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15200" y="2011680"/>
            <a:ext cx="201168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1990-2010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377440"/>
            <a:ext cx="2011680" cy="27432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JIT 전성기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697480"/>
            <a:ext cx="2011680" cy="36576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글로벌 표준
재고 KPI화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383280"/>
            <a:ext cx="8686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JIT 핵심 철학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840480"/>
            <a:ext cx="80467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재고=낭비 | 목표=Zero Inventory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87368"/>
            <a:ext cx="80467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Pull System: 수요 발생시만 생산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4334256"/>
            <a:ext cx="80467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Kanban: 시각적 신호로 생산지시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581144"/>
            <a:ext cx="80467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Continuous Flow: 공정간 재고 없이 흐름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828032"/>
            <a:ext cx="80467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Perfect Quality: 불량 Zero로 안전재고 불필요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074920"/>
            <a:ext cx="80467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</a:rPr>
              <a:t>• Supplier Partnership: 적기납품 협업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669280"/>
            <a:ext cx="86868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배경: 1980-90년대 세계화·안정공급망·저렴운송·예측가능 수요→JIT 완벽작동
출처: Schonberger (1982), Hall (1983)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7대 원칙: 철저한 낭비 제거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Zero Inventory부터 Supplier Partnership까지 7대 원칙으로 모든 낭비를 제거합니다.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82880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1. Zero Inventory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02996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재고 최소화, 이상적으로 Zero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21284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일일 생산량만, 안전재고 1-2일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39572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보관비↓, 현금흐름↑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82880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82880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2. Pull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02996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수요 발생시만 생산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21284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후공정이 전공정에 신호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39572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과잉생산 방지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60604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3. Kanban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80720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시각적 신호 생산지시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299008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카드/전자신호로 조절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317296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실시간 가시성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60604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260604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4. Continuous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80720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공정간 재고 없이 연속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99008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단일흐름, Takt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17296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리드타임↓, 품질즉시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338328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5. Short Lead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358444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리드타임 단축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376732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SMED, 준비시간↓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95020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유연성↑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338328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38328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6. Perfect Quality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358444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불량 Zero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76732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Poka-Yoke, Jidoka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95020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재작업↓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88720" y="4160520"/>
            <a:ext cx="3566160" cy="18288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7. Supplier Partnership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436168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공급업체 긴밀 협업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4544568"/>
            <a:ext cx="3566160" cy="16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방법: 장기계약, 정보공유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4727448"/>
            <a:ext cx="3566160" cy="16459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효과: 적기납품 100%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669280"/>
            <a:ext cx="8686800" cy="5486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⚠ 왜곡: 1990-2000년대 '재고=악' 극단화→'Lean Taliban'→효율↑ but 취약성↑→2020 붕괴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성공 사례: General Electric (1980년대)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GE는 JIT 도입으로 재고 30% 절감, 생산성 20%p 향상하며 글로벌 벤치마크가 되었습니다.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</a:rPr>
              <a:t>General Electric (GE) - 가전제품 부문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274320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도입전
(~1985)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88920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재고회전율: 연4회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008376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재고보유: 3-4개월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27832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리드타임: 6주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447288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공장효율: 65%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666744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문제: 과잉재고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329184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840480" y="2377440"/>
            <a:ext cx="274320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도입과정
(1985-87)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788920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JIT 교육 전직원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008376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라인 재배치 U자형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227832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Kanban 시스템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447288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공급업체 협업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3666744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SMED 준비단축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0" y="3291840"/>
            <a:ext cx="1828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766560" y="2377440"/>
            <a:ext cx="2743200" cy="32004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도입후
(1988~)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788920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재고회전율: 연12회 (3배↑)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008376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재고보유: 1개월 (30%↓)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3227832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리드타임: 2주 (67%↓)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447288"/>
            <a:ext cx="25603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공장효율: 85% (20%p↑)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666744"/>
            <a:ext cx="25603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결과: $50M 절감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8686800" cy="27432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</a:rPr>
              <a:t>핵심 성공 요인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846320"/>
            <a:ext cx="39319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경영진 지원: CEO Jack Welch 직접주도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4846320"/>
            <a:ext cx="39319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단계적: Pilot→Roll-out 2년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093208"/>
            <a:ext cx="39319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공급업체: 100개→20개 핵심집중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5093208"/>
            <a:ext cx="39319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교육: 6개월 JIT 트레이닝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340096"/>
            <a:ext cx="3931920" cy="2286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IT: 실시간 생산 가시성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5340096"/>
            <a:ext cx="39319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문화: 보상 재고↓→Flow↑ 전환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126480"/>
            <a:ext cx="8686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</a:rPr>
              <a:t>출처: Schonberger (1982), Hall (1983)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성공 사례: Harley-Davidson &amp; Ford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Harley는 파산위기 극복(재고75%↓), Ford는 리드타임 50% 단축 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Harley-Davidson (1981-85)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41148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위기: 1981 파산위기: 일본 경쟁·품질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4114800" cy="2286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도입 조치: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71800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JIT &amp; MAN 시스템 도입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91256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Statistical Process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10712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공급업체 파트너십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30168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 1년→3개월 (75%↓)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4114800" cy="2286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성과: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06240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생산성 50% 향상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25696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불량률 50% 감소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45152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리드타임 67% 단축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64607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1986 흑자전환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4114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</a:rPr>
              <a:t>출처: Reid (1990), HBR (1986)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828800"/>
            <a:ext cx="4114800" cy="365760"/>
          </a:xfrm>
          <a:prstGeom prst="rect">
            <a:avLst/>
          </a:prstGeom>
          <a:solidFill>
            <a:srgbClr val="333333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</a:rPr>
              <a:t>Ford Motor Company (1980s~)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286000"/>
            <a:ext cx="4114800" cy="320040"/>
          </a:xfrm>
          <a:prstGeom prst="rect">
            <a:avLst/>
          </a:prstGeom>
          <a:solidFill>
            <a:srgbClr val="CCCCCC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위기: 1980 경쟁력 하락: GM·일본 추격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697480"/>
            <a:ext cx="4114800" cy="2286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도입 조치: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971800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부품 공급망 JIT 전환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3191256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공급업체 2,500→1,000개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410712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협력업체 통합센터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630168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조립 라인 재설계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931920"/>
            <a:ext cx="4114800" cy="228600"/>
          </a:xfrm>
          <a:prstGeom prst="rect">
            <a:avLst/>
          </a:prstGeom>
          <a:solidFill>
            <a:srgbClr val="66666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  <a:latin typeface="맑은 고딕"/>
              </a:rPr>
              <a:t>성과: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4206240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조립 리드타임 50% 단축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4425696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재고회전율 2배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4645152"/>
            <a:ext cx="3931920" cy="201168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품질지수 30% 개선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864607"/>
            <a:ext cx="39319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</a:rPr>
              <a:t>• 1990s Taurus 성공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5120640"/>
            <a:ext cx="41148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</a:rPr>
              <a:t>출처: Womack et al. (1990), Ford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9: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10: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11: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12: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13: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14: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15: JIT → JIC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16: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17: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18: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19: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20: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21: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22: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23: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24: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25: Kraljic Matrix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26: Differentiation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27: Differentiation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28: Differentiation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29: Differentiation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30: Differentiation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31: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32: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33: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34: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35: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36: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37: Planning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38: KPI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39: KPI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40: KPI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40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41: KPI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42: KPI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43: Case Study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44: Case Study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45: Case Study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46: Case Study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46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47: Summary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691286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Slide 48: Summary (TBD)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6666"/>
                </a:solidFill>
                <a:latin typeface="맑은 고딕"/>
              </a:rPr>
              <a:t>Placeholder - to be implemented with high density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6537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Arial"/>
              </a:rPr>
              <a:t>48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217920" cy="182880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</a:rPr>
              <a:t>Content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
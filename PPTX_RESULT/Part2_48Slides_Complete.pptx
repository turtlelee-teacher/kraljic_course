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074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333333"/>
                </a:solidFill>
                <a:latin typeface="맑은 고딕"/>
              </a:rPr>
              <a:t>자재군별 소싱 전략 및</a:t>
            </a:r>
          </a:p>
          <a:p>
            <a:pPr algn="ctr"/>
            <a:r>
              <a:rPr sz="4800" b="1">
                <a:solidFill>
                  <a:srgbClr val="333333"/>
                </a:solidFill>
                <a:latin typeface="맑은 고딕"/>
              </a:rPr>
              <a:t>공급업체 관계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8074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맑은 고딕"/>
              </a:rPr>
              <a:t>Session 2: Sourcing Strategy &amp; 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8074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맑은 고딕"/>
              </a:rPr>
              <a:t>Kraljic Matrix Framework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자재군별 차별화된 소싱 전략으로 공급 리스크를 관리하고 최적의 가치를 창출합니다.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자재군별 차별화된 소싱 전략 수립 역량 획득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68880"/>
            <a:ext cx="365760" cy="36576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SRM(Supplier Relationship Management) 접근법 이해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108960"/>
            <a:ext cx="365760" cy="36576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0896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자재군별 계약 전략과 협상 포인트 파악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749040"/>
            <a:ext cx="365760" cy="36576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490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공급업체 성과 평가 체계 구축 방법 습득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들어가며: 소싱(Sourcing)이란?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단순 공급업체 선정을 넘어, 공급 리스크 관리와 최적 가치 창출을 위한 전략적 활동입니다.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1148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749039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맑은 고딕"/>
              </a:rPr>
              <a:t>소싱의 정의</a:t>
            </a:r>
          </a:p>
          <a:p/>
          <a:p>
            <a:r>
              <a:rPr sz="1000" b="0">
                <a:solidFill>
                  <a:srgbClr val="333333"/>
                </a:solidFill>
                <a:latin typeface="맑은 고딕"/>
              </a:rPr>
              <a:t>공급 리스크를 관리하고 최적의 가치를 창출하기 위한 전략적 활동</a:t>
            </a:r>
          </a:p>
          <a:p/>
          <a:p>
            <a:r>
              <a:rPr sz="1000" b="0">
                <a:solidFill>
                  <a:srgbClr val="333333"/>
                </a:solidFill>
                <a:latin typeface="맑은 고딕"/>
              </a:rPr>
              <a:t>• 공급업체 선정</a:t>
            </a:r>
          </a:p>
          <a:p>
            <a:r>
              <a:rPr sz="1000" b="0">
                <a:solidFill>
                  <a:srgbClr val="333333"/>
                </a:solidFill>
                <a:latin typeface="맑은 고딕"/>
              </a:rPr>
              <a:t>• 계약 협상</a:t>
            </a:r>
          </a:p>
          <a:p>
            <a:r>
              <a:rPr sz="1000" b="0">
                <a:solidFill>
                  <a:srgbClr val="333333"/>
                </a:solidFill>
                <a:latin typeface="맑은 고딕"/>
              </a:rPr>
              <a:t>• 관계 관리</a:t>
            </a:r>
          </a:p>
          <a:p>
            <a:r>
              <a:rPr sz="1000" b="0">
                <a:solidFill>
                  <a:srgbClr val="333333"/>
                </a:solidFill>
                <a:latin typeface="맑은 고딕"/>
              </a:rPr>
              <a:t>• 성과 평가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4114800" cy="3657600"/>
          </a:xfrm>
          <a:prstGeom prst="round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103120"/>
            <a:ext cx="3749039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맑은 고딕"/>
              </a:rPr>
              <a:t>1회차 복습</a:t>
            </a:r>
          </a:p>
          <a:p/>
          <a:p>
            <a:r>
              <a:rPr sz="1000" b="0">
                <a:solidFill>
                  <a:srgbClr val="FFFFFF"/>
                </a:solidFill>
                <a:latin typeface="맑은 고딕"/>
              </a:rPr>
              <a:t>Kraljic Matrix로 자재를 4개 그룹으로 분류했습니다.</a:t>
            </a:r>
          </a:p>
          <a:p/>
          <a:p>
            <a:r>
              <a:rPr sz="1000" b="0">
                <a:solidFill>
                  <a:srgbClr val="FFFFFF"/>
                </a:solidFill>
                <a:latin typeface="맑은 고딕"/>
              </a:rPr>
              <a:t>이번 회차에서는 각 자재군별 구체적인 소싱 전략을 학습합니다.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8개 장으로 구성된 자재군별 소싱 전략과 SRM 체계를 학습합니다.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1장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2880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1장 소싱 그룹 전략 개요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42316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2장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42316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2장 병목자재 소싱 전략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01752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3장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01752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3장 레버리지자재 소싱 전략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611879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4장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611879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4장 전략자재 소싱 전략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20624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5장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20624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5장 일상자재 소싱 전략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80060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6장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80060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6장 공급업체 관계 관리 (SRM)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39496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7장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39496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7장 Toyota 실전 사례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98932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33333"/>
                </a:solidFill>
                <a:latin typeface="맑은 고딕"/>
              </a:rPr>
              <a:t>8장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98932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맑은 고딕"/>
              </a:rPr>
              <a:t>8장 마무리 및 Q&amp;A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들어가며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**소싱(Sourcing)이란?**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단순히 공급업체를 선정하는 것을 넘어, **공급 리스크를 관리**하고 **최적의 가치를 창출**하기 위한 전략적 활동입니다.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1. 소싱 그룹(Sourcing Group) 전략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pic>
        <p:nvPicPr>
          <p:cNvPr id="4" name="Picture 3" descr="tmpl10gq8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3429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1.1 소싱 그룹이란?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**소싱 그룹의 목적**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비슷한 특성의 자재를 묶어 **구매력 향상**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일관된 전략 적용으로 **효율성 증대**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전문화된 관리로 **리스크 감소**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공급업체와의 **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비슷한 특성의 자재를 묶어 **구매력 향상**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일관된 전략 적용으로 **효율성 증대**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전문화된 관리로 **리스크 감소**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공급업체와의 **체계적 관계 구축**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1.2 자재군별 소싱 전략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⚠️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**주의**: 이 매트릭스는 일반적인 가이드라인이며, 산업과 기업의 특성에 따라 유연하게 조정해야 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2. 병목자재 소싱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pic>
        <p:nvPicPr>
          <p:cNvPr id="4" name="Picture 3" descr="tmpgw24aj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31350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2.1 핵심 전략: 공급 안정성 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**병목자재의 가장 큰 문제**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**공급 불안정**입니다. 따라서 소싱 전략의 최우선 목표는 **'언제든지 공급받을 수 있도록'** 하는 것입니다.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2.1.1 전략 1: 공급선 다변화(Multi-Sourcing)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**Dual Sourcing**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**메인 공급업체** + 백업 공급업체 체계 구축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**지역적 분산**: 다른 지역/국가의 공급업체 확보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**기술 이전**: 신규 공급업체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2.1.2 전략 2: 공급업체 관계 강화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**관계 강화 방안**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**정기 소통 회의**: 분기별 QBR(Quarterly Business Review)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**기술 지원**: 품질 개선, 공정 효율화 지원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**장기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2.2 병목자재 계약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**계약 유형**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Long-term Agreement (LTA) 또는 Framework Agreement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3. 레버리지자재 소싱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3.1 핵심 전략: 경쟁 촉진 및 통합 구매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레버리지자재는 **공급시장이 경쟁적**이므로, 공급업체 간 경쟁을 유도하여 **최적의 가격과 조건**을 확보하는 것이 핵심입니다.</a:t>
            </a:r>
          </a:p>
        </p:txBody>
      </p:sp>
      <p:pic>
        <p:nvPicPr>
          <p:cNvPr id="4" name="Picture 3" descr="tmpdnlfeiw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31350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3.1.1 전략 1: 경쟁 입찰(Competitive Bidding)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**실행 방안**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**RFQ**: 표준화된 견적 요청서 발송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**역경매**: 온라인 가격 경쟁 입찰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**분할 발주**: 여러 공급업체에 물량 분산 (60/30/10)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</a:t>
            </a:r>
          </a:p>
        </p:txBody>
      </p:sp>
      <p:pic>
        <p:nvPicPr>
          <p:cNvPr id="4" name="Picture 3" descr="tmpmcdkc4y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3.1.2 전략 2: 대량구매 + TCO 기반 공급업체 선정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**1단계: 대량구매를 통한 단가 절감**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**물량 통합**: 사업장별 분산 구매 → 본사 통합 구매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**공급업체 통합**: 10개 → 3~5개로 축소하여 개별 물량 증대</a:t>
            </a:r>
          </a:p>
          <a:p/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3.2 레버리지자재 계약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**계약 유형**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단기 계약 (6개월~1년) + 정기 갱신</a:t>
            </a:r>
          </a:p>
        </p:txBody>
      </p:sp>
      <p:pic>
        <p:nvPicPr>
          <p:cNvPr id="4" name="Picture 3" descr="tmpv3d6cbx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2400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4. 전략자재 소싱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4.1 핵심 전략: 전략적 파트너십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전략자재는 **공급 리스크도 높고 구매 임팩트도 크기** 때문에, 공급업체와 장기적인 **전략적 파트너십**을 구축하는 것이 핵심입니다.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4.1.1 전략 1: 장기 파트너십 계약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**파트너십 계약 특징**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**계약 기간**: 3~5년 장기 계약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**목표 공유**: 공동 목표 설정 (원가 절감, 품질 향상, 기술 혁신)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**이익 공유**: 비용 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4.1.2 전략 2: 공동 개발 프로젝트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**공동 개발 영역**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**제품 공동 개발**: 신소재, 신기술 적용 부품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**공정 혁신**: 생산성 향상, 원가 절감 프로젝트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**품질 개선**: 불량률 감소, 신뢰성</a:t>
            </a:r>
          </a:p>
        </p:txBody>
      </p:sp>
      <p:pic>
        <p:nvPicPr>
          <p:cNvPr id="4" name="Picture 3" descr="tmpe65a6d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31350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4.2 전략자재 계약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**계약 유형**: Strategic Partnership Agreement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**협상 포인트**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**가격**: 공정한 마진 보장 + 장기적 원가 절감 목표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**물량**: 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5. 일상자재 소싱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5.1 핵심 전략: 효율화 및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일상자재는 개별 금액은 작지만 전체 물량은 상당합니다. **관리 비용을 최소화**하면서 효율적으로 운영하는 것이 핵심입니다.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5.1.1 전략 1: 공급업체 통합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**원스톱 쇼핑**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모든 MRO 품목을 1~2개 공급업체에서 구매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카테고리 통합: 비슷한 품목군 통합 구매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글로벌 계약: 본사 일괄 계약, 각 사업장은 Call-off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모든 MRO 품목을 1~2개 공급업체에서 구매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카테고리 통합: 비슷한 품목군 통합 구매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글로벌 계약: 본사 일괄 계약, 각 사업장은 Call-off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5.1.2 전략 2: Blanket PO 및 VMI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**운영 방식**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**Blanket PO**: 연간 총량 계약, 필요시 Release Order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**VMI**: 공급업체가 재고 모니터링 및 자동 보충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**Consign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5.2 일상자재 계약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**계약 유형**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Blanket Purchase Agreement (BPA)</a:t>
            </a:r>
          </a:p>
        </p:txBody>
      </p:sp>
      <p:pic>
        <p:nvPicPr>
          <p:cNvPr id="4" name="Picture 3" descr="tmpiy7w108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33762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6. 공급업체 관계 관리(SRM)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pic>
        <p:nvPicPr>
          <p:cNvPr id="4" name="Picture 3" descr="tmp6h9jcd3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2400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6.1 SRM의 개념과 중요성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**SRM(Supplier Relationship Management)**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공급업체와의 관계를 체계적으로 관리하여 **상호 가치를 극대화**하는 경영 전략입니다.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**SRM의 필요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공급업체 성과가 우리 회사 경쟁력에 직결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장기적 관계가 단기적 가격보다 중요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협력적 관계로 혁신과 문제 해결 능력 향상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리스크 관리와 지속가능성 확보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6.2 자재군별 공급업체 관계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6.3 공급업체 성과 평가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6.3.1 Supplier Scorecard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**평가 영역 및 가중치 (예시)**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**1. 품질 (30%)**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불량률 (PPM)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검사 통과율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클레임 발생 건수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**2. 납기 (30%)**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납기 준수율 (OTD)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불량률 (PPM)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검사 통과율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클레임 발생 건수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납기 준수율 (OTD)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리드타임 안정성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6.3.2 등급 분류 및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**실무 TIP**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Scorecard는 공급업체에게도 공유하여 **투명성을 확보**하고, **개선 기회**를 제공하는 것이 중요합니다. '평가 후 통보 없음'은 공급업체 불신을 초</a:t>
            </a:r>
          </a:p>
        </p:txBody>
      </p:sp>
      <p:pic>
        <p:nvPicPr>
          <p:cNvPr id="4" name="Picture 3" descr="tmp9ciqhb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7.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7.1 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**1. 소싱 전략**: 자재군별 차별화된 접근 필수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**병목**: 공급 안정성 확보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**레버리지**: 경쟁 촉진 및 원가 절감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**전략**: 파트너십 구축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**일상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7.2 다음 회차 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➡️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**3회차: ABC-XYZ 재고 분류와 운영 전략**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ABC 분석: 금액 기준 우선순위화 방법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XYZ 분석: 수요 변동성 기반 분류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ABC-XYZ 매트릭스: 9가지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ABC 분석: 금액 기준 우선순위화 방법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XYZ 분석: 수요 변동성 기반 분류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ABC-XYZ 매트릭스: 9가지 조합별 특성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자재군별 적용 방법: Kraljic과 ABC-XYZ의 통합 활용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8. 실전 사례 연구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8.1 Toyota의 공급업체 관계 관리(SRM) 베스트 프랙티스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**✅ 검증된 실제 사례**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8.1.1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- Toyota는 전 세계 자동차 업계에서 공급업체들이 **가장 협력하고 싶어하는 OEM 1위**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- 1950년대부터 "Toyota Way" 철학을 바탕으로 공급업체와의 장기 파트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Toyota는 전 세계 자동차 업계에서 공급업체들이 **가장 협력하고 싶어하는 OEM 1위**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1950년대부터 "Toyota Way" 철학을 바탕으로 공급업체와의 장기 파트너십 구축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단순한 거래 관계가 아닌 **"운명 공동체"**로서 공급업체를 대우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8.1.2 핵심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**1. 상호 신뢰 기반 장기 파트너십**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**장기 계약**: 수십 년간 거래하는 공급업체 다수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**공개적 소통**: 자유로운 의견 제시 환경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**투명한 정보 공유**: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27432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210312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8.1.3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8.1.4 자재군별 적용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- **병목자재**: 소수 공급업체와 장기 계약 + 기술 지원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**레버리지자재**: 기존 공급업체 협력을 통한 원가 절감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**전략자재**: 핵심 공급업체와 경영진 레벨 정기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8.1.5 교훈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**Win-Win 파트너십이 장기적 경쟁력을 만든다**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Toyota의 사례는 "단기 원가 절감"보다 "장기 파트너십"이 더 큰 가치를 창출함을 보여줍니다. 공급업체를 경쟁 상대가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[Ineak.com](http://Ineak.com) (2023), "Toyota's Supplier Relationship Management: Building Long-Term Partnerships"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Boston Consulting Group (2007), "Getting to Win-Win: How Toyota Creates and Sustains Best-Practice Supplier Relationships"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INFORMS (2017), "The Role of Ambidexterity in Managing Buyer-Supplier Relationships: The Toyota Case"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9. Q&amp;A 세션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핵심 내용을 학습합니다.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9.1 소싱 전략 관련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**A**: 3단계 접근을 추천합니다.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1. **신뢰 구축**: 약속 이행, 투명한 소통, 공정한 대우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2. **정보 공유**: 6~12개월 수요 예측 및 장기 계획 공유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3. *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경쟁 입찰도 "최저가"가 아닌 "TCO 기반 종합 평가"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9.2 실행 관련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**A**: 간소화된 버전으로 시작하세요.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**필수 항목만**: 품질 (불량률), 납기 (준수율), 가격 (시장 대비)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 **분기별 평가**: 월별이 부담스러우면 분기별로</a:t>
            </a:r>
          </a:p>
          <a:p>
            <a:r>
              <a:rPr sz="1600" b="1">
                <a:solidFill>
                  <a:srgbClr val="666666"/>
                </a:solidFill>
                <a:latin typeface="맑은 고딕"/>
              </a:rPr>
              <a:t>-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858000" cy="36576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333333"/>
                </a:solidFill>
                <a:latin typeface="맑은 고딕"/>
              </a:rPr>
              <a:t>내용을 참조하세요.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슬라이드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988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추가 내용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
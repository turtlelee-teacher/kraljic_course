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자재군별 소싱 전략 및</a:t>
            </a:r>
          </a:p>
          <a:p>
            <a:r>
              <a:t>공급업체 관계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8074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Arial"/>
              </a:defRPr>
            </a:pPr>
            <a:r>
              <a:t>Strategic Inventory Management Course -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8074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Arial"/>
              </a:defRPr>
            </a:pPr>
            <a:r>
              <a:t>Kraljic Matrix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8074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1.0 목차 (Table of 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8개 장으로 구성된 자재군별 소싱 전략과 SRM 체계를 학습합니다.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1장 소싱 전략 개요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774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2장 병목자재 소싱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3장 레버리지자재 소싱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7472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7472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4장 전략자재 소싱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02336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5장 일상자재 소싱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57200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6장 SRM 및 성과 평가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1206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7장 Toyota 사례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669279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669279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8장 Q&amp;A 및 다음 회차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과정 개요 및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자재군별 차별화된 소싱 전략으로 공급 리스크를 관리하고 최적의 가치를 창출합니다.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4231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4688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자재군별 차별화된 소싱 전략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004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33375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832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SRM 접근법 이해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42519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976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계약 전략과 협상 포인트 파악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0292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480" y="51663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2120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공급업체 성과 평가 체계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소싱 그룹(Sourcing Group) 전략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비슷한 특성의 자재를 묶어 통합 관리하여 구매력 향상과 리스크 감소를 동시에 달성합니다.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소싱 그룹이란?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비슷한 특성의 자재를 묶어 통합 관리하는 단위</a:t>
            </a:r>
          </a:p>
          <a:p/>
          <a:p>
            <a:r>
              <a:t>분류 기준:</a:t>
            </a:r>
          </a:p>
          <a:p>
            <a:r>
              <a:t>• Kraljic Matrix</a:t>
            </a:r>
          </a:p>
          <a:p>
            <a:r>
              <a:t>• 산업별</a:t>
            </a:r>
          </a:p>
          <a:p>
            <a:r>
              <a:t>• 기능별</a:t>
            </a:r>
          </a:p>
          <a:p>
            <a:r>
              <a:t>• 공급업체 유형별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41148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구매력 향상</a:t>
            </a:r>
          </a:p>
          <a:p>
            <a:r>
              <a:t>• 효율성 증대</a:t>
            </a:r>
          </a:p>
          <a:p>
            <a:r>
              <a:t>• 리스크 감소</a:t>
            </a:r>
          </a:p>
          <a:p>
            <a:r>
              <a:t>• 체계적 관계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자재군별 소싱 전략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4개 자재군은 각각 다른 목표, 공급업체 수, 계약 기간, 관계 유형을 필요로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874519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🔴 병목자재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874519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🟢 레버리지자재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874519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🟣 전략자재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74519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⚪ 일상자재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핵심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39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공급 안정성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원가 경쟁력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상호 성장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효율성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889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소싱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39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공급선 다변화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경쟁 촉진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전략적 파트너십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통합 &amp; 자동화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2461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공급업체 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39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2~3개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39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5개 이상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1~2개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1~2개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7033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계약 기간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8839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중장기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39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단기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장기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1148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1605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관계 유형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39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협력적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77639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거래적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파트너십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35240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효율적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5720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6177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협상 방식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48839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안정성 중심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77639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가격 경쟁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Win-Win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표준화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0292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07492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정보 공유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48839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고도 공유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35240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최소화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2.2 병목자재: 공급선 다변화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단일 공급원 의존도를 낮춰 공급 리스크를 분산시킵니다.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메인 공급업체 + 백업 공급업체 체계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지역적 분산 (다른 국가 공급업체)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기술 이전 (신규 공급업체 육성)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대체재 개발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2.3 병목자재: 계약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가격보다 공급 보장 조건을 우선하여 안정적 관계를 유지합니다.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계약: Long-term Agreement (LTA)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공급 보증, 우선 공급권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리드타임 단축, 긴급 대응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적정 마진 보장 (Win-Win)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3.2 레버리지자재: 경쟁 입찰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RFQ와 역경매를 통해 다수 공급업체 간 가격 경쟁을 유도합니다.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18872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RFQ</a:t>
            </a:r>
          </a:p>
          <a:p>
            <a:r>
              <a:t>발송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47672" y="2606040"/>
            <a:ext cx="173736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2286000"/>
            <a:ext cx="118872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51460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경쟁</a:t>
            </a:r>
          </a:p>
          <a:p>
            <a:r>
              <a:t>입찰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64992" y="2606040"/>
            <a:ext cx="173736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118872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1460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TCO</a:t>
            </a:r>
          </a:p>
          <a:p>
            <a:r>
              <a:t>분석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82312" y="2606040"/>
            <a:ext cx="173736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2286000"/>
            <a:ext cx="118872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51460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선정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103120"/>
            <a:ext cx="32004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실행 방안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표준화된 견적 요청</a:t>
            </a:r>
          </a:p>
          <a:p>
            <a:r>
              <a:t>• 5개 이상 공급업체</a:t>
            </a:r>
          </a:p>
          <a:p>
            <a:r>
              <a:t>• 온라인 역경매 활용</a:t>
            </a:r>
          </a:p>
          <a:p>
            <a:r>
              <a:t>• 물량 통합으로 협상력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3.1 레버리지자재: 경쟁 촉진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공급시장이 경쟁적이므로 공급업체 간 경쟁을 유도합니다.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경쟁 입찰: RFQ, 역경매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통합 구매: 10개 → 3-5개로 축소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글로벌 소싱: 저가 공급원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3.3 레버리지자재: TCO 기반 공급업체 선정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단가로 좁히고 TCO로 결정한다 - 최저가가 아닌 총소유비용으로 최종 평가합니다.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548640"/>
          </a:xfrm>
          <a:prstGeom prst="round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TCO = 구매가 + 물류비 + 관세 + 품질비용 + 재고비용 + 관리비용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657600" cy="27432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국내 공급업체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구매가: ₩100</a:t>
            </a:r>
          </a:p>
          <a:p>
            <a:r>
              <a:t>물류비: ₩5</a:t>
            </a:r>
          </a:p>
          <a:p>
            <a:r>
              <a:t>관세: ₩0</a:t>
            </a:r>
          </a:p>
          <a:p>
            <a:r>
              <a:t>품질비용: ₩2</a:t>
            </a:r>
          </a:p>
          <a:p>
            <a:r>
              <a:t>재고비용: ₩3</a:t>
            </a:r>
          </a:p>
          <a:p/>
          <a:p>
            <a:r>
              <a:t>총 TCO: ₩110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743200"/>
            <a:ext cx="3657600" cy="27432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926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해외 공급업체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구매가: ₩85</a:t>
            </a:r>
          </a:p>
          <a:p>
            <a:r>
              <a:t>물류비: ₩15</a:t>
            </a:r>
          </a:p>
          <a:p>
            <a:r>
              <a:t>관세: ₩8</a:t>
            </a:r>
          </a:p>
          <a:p>
            <a:r>
              <a:t>품질비용: ₩5</a:t>
            </a:r>
          </a:p>
          <a:p>
            <a:r>
              <a:t>재고비용: ₩8</a:t>
            </a:r>
          </a:p>
          <a:p/>
          <a:p>
            <a:r>
              <a:t>총 TCO: ₩121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760720"/>
            <a:ext cx="5029200" cy="54864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58978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✓ 국내 공급업체 선정 (TCO 우위: ₩11 절감)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4.2 전략자재: 장기 파트너십 계약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3-5년 장기 계약으로 목표와 이익을 공유하고, 공동 R&amp;D 프로젝트를 진행합니다.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200400"/>
            <a:ext cx="1828800" cy="914400"/>
          </a:xfrm>
          <a:prstGeom prst="round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338328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전략적</a:t>
            </a:r>
          </a:p>
          <a:p>
            <a:r>
              <a:t>파트너십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1645920" cy="7315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목표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666666"/>
                </a:solidFill>
                <a:latin typeface="맑은 고딕"/>
              </a:defRPr>
            </a:pPr>
            <a:r>
              <a:t>원가절감</a:t>
            </a:r>
          </a:p>
          <a:p>
            <a:r>
              <a:t>품질향상</a:t>
            </a:r>
          </a:p>
          <a:p>
            <a:r>
              <a:t>기술혁신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017520"/>
            <a:ext cx="2377440" cy="64008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2286000"/>
            <a:ext cx="1645920" cy="7315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이익 공유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666666"/>
                </a:solidFill>
                <a:latin typeface="맑은 고딕"/>
              </a:defRPr>
            </a:pPr>
            <a:r>
              <a:t>절감액</a:t>
            </a:r>
          </a:p>
          <a:p>
            <a:r>
              <a:t>50/50 분배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0" y="3017520"/>
            <a:ext cx="2651760" cy="64008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5303520"/>
            <a:ext cx="1645920" cy="7315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5394959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리스크 공유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715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666666"/>
                </a:solidFill>
                <a:latin typeface="맑은 고딕"/>
              </a:defRPr>
            </a:pPr>
            <a:r>
              <a:t>가격변동</a:t>
            </a:r>
          </a:p>
          <a:p>
            <a:r>
              <a:t>공동대응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480560" y="3657600"/>
            <a:ext cx="91440" cy="164592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4.1 전략자재: 파트너십 구축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 리스크와 구매 임팩트가 모두 크므로 장기적 Win-Win 파트너십을 구축합니다.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3-5년 장기 계약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목표 공유: 원가절감, 품질향상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이익 공유: 50/50 분배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공동 R&amp;D 프로젝트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5.1 일상자재: 효율화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관리 비용을 최소화하는 것이 핵심입니다.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공급업체 통합: 1-2개로 집중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카테고리 통합 구매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Blanket PO: 연간 총량 계약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VMI: 공급업체 재고 관리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5.2 일상자재: E-Procurement 및 자동화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카탈로그 구매와 자동 발주 시스템으로 승인 프로세스를 간소화합니다.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011680"/>
            <a:ext cx="5486400" cy="82296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77440" y="21945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카탈로그 구매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맑은 고딕"/>
              </a:defRPr>
            </a:pPr>
            <a:r>
              <a:t>사전 등록 품목 선택</a:t>
            </a:r>
          </a:p>
        </p:txBody>
      </p:sp>
      <p:sp>
        <p:nvSpPr>
          <p:cNvPr id="9" name="Down Arrow 8"/>
          <p:cNvSpPr/>
          <p:nvPr/>
        </p:nvSpPr>
        <p:spPr>
          <a:xfrm>
            <a:off x="4800600" y="2880360"/>
            <a:ext cx="274320" cy="182879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3108960"/>
            <a:ext cx="5486400" cy="82296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7440" y="329184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자동 발주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맑은 고딕"/>
              </a:defRPr>
            </a:pPr>
            <a:r>
              <a:t>재고 부족 시 자동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800600" y="3977640"/>
            <a:ext cx="274320" cy="182879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94560" y="4206240"/>
            <a:ext cx="5486400" cy="82296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40" y="438912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승인 자동화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맑은 고딕"/>
              </a:defRPr>
            </a:pPr>
            <a:r>
              <a:t>일정 금액 이하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800600" y="5074920"/>
            <a:ext cx="274320" cy="182879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5303520"/>
            <a:ext cx="5486400" cy="82296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77440" y="548640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440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3-Way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맑은 고딕"/>
              </a:defRPr>
            </a:pPr>
            <a:r>
              <a:t>PO-GR-IR 자동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6.1 SRM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공급업체와의 관계를 체계적으로 관리하여 상호 가치를 극대화합니다.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공급업체 성과가 경쟁력에 직결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장기 관계가 단기 가격보다 중요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협력으로 혁신 창출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리스크 관리와 지속가능성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6.2 자재군별 관계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병목(협력적), 레버리지(거래적), 전략(파트너십), 일상(효율적) - 각각 다른 접근이 필요합니다.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병목: 협력적, 월 1회 소통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레버리지: 거래적, 분기 1회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전략: 파트너십, 월 1-2회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일상: 효율적, 분기 1회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6.3 Supplier Scorecard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품질 30%, 납기 30%, 가격 20%, 협력 10%, 리스크 10%로 정량적 평가를 수행합니다.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1. 품질 (30%): 불량률, 검사 통과율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2. 납기 (30%): OTD, 리드타임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3. 가격 (20%): 시장가 대비, 원가 절감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4. 협력 (10%): 정보 공유, 개선 제안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5. 리스크 (10%): 재무 건전성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6.4 등급 분류 및 조치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A(90+), B(70-89), C(50-69), D(&lt;50) 등급별로 차별화된 조치를 취합니다.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A등급 (90+): 물량 확대 검토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B등급 (70-89): 현 수준 유지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C등급 (50-69): 개선 계획 요구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D등급 (&lt;50): 교체 검토 또는 퇴출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7.1 Toyota SRM 사례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Toyota는 공급업체들이 가장 협력하고 싶어하는 OEM 1위입니다.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1950년대부터 장기 파트너십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'운명 공동체'로 대우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공급업체 만족도 1위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2011년 대지진 시 빠른 회복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7.2 Toyota SRM: 3가지 핵심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상호 신뢰 기반 장기 파트너십, Kaizen 철학 확산, 성장 비전 공유로 공급망 전체 경쟁력을 향상시킵니다.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28600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상호 신뢰</a:t>
            </a:r>
          </a:p>
          <a:p>
            <a:r>
              <a:t>파트너십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59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장기 계약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투명한 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공정한 가격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210312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743200"/>
            <a:ext cx="228600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Kaizen</a:t>
            </a:r>
          </a:p>
          <a:p>
            <a:r>
              <a:t>지속적 개선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93192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59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교육 지원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52628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61772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현장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512064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521208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공동 해결</a:t>
            </a:r>
          </a:p>
        </p:txBody>
      </p:sp>
      <p:sp>
        <p:nvSpPr>
          <p:cNvPr id="23" name="Oval 22"/>
          <p:cNvSpPr/>
          <p:nvPr/>
        </p:nvSpPr>
        <p:spPr>
          <a:xfrm>
            <a:off x="7406640" y="210312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743200"/>
            <a:ext cx="2286000" cy="914400"/>
          </a:xfrm>
          <a:prstGeom prst="roundRect">
            <a:avLst/>
          </a:prstGeom>
          <a:solidFill>
            <a:srgbClr val="66666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8803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성장 비전</a:t>
            </a:r>
          </a:p>
          <a:p>
            <a:r>
              <a:t>공유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393192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023359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장기 예측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52628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61772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투자 지원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5120640"/>
            <a:ext cx="192024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8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공동 R&amp;D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7.3 Toyota 성과 및 적용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Win-Win 파트너십이 장기적 경쟁력을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성과: 품질 세계 최고, 혁신 연간 수천 건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병목: 장기 계약 + 기술 지원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레버리지: 협력 통한 원가 절감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전략: 경영진 레벨 정기 미팅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8.1 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자재군별 차별화된 소싱 전략과 체계적 SRM으로 공급망 경쟁력을 강화합니다.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1. 병목: 공급 안정성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2. 레버리지: 경쟁 촉진 &amp; 원가 절감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3. 전략: 파트너십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4. 일상: 효율화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5. SRM: 상호 가치 창출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8.2 Q&amp;A 및 다음 회차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3회차에서는 ABC-XYZ 재고 분류를 학습합니다.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Q&amp;A 주제: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파트너십 구축 시작 방법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경쟁 입찰과 장기 관계의 균형</a:t>
            </a:r>
          </a:p>
          <a:p>
            <a:br/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다음 회차: ABC-XYZ 재고 분류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금액 기준 ABC + 변동성 기준 XYZ</a:t>
            </a:r>
          </a:p>
          <a:p>
            <a:pPr>
              <a:lnSpc>
                <a:spcPct val="15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• 9가지 조합별 운영 전략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
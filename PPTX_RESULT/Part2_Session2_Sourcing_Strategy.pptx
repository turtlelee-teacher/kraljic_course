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9902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8074152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000000"/>
                </a:solidFill>
                <a:latin typeface="맑은 고딕"/>
              </a:defRPr>
            </a:pPr>
            <a:r>
              <a:t>자재군별 소싱 전략 및</a:t>
            </a:r>
          </a:p>
          <a:p>
            <a:r>
              <a:t>공급업체 관계 관리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840480"/>
            <a:ext cx="80741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666666"/>
                </a:solidFill>
                <a:latin typeface="Arial"/>
              </a:defRPr>
            </a:pPr>
            <a:r>
              <a:t>Strategic Inventory Management Course - Session 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807415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666666"/>
                </a:solidFill>
                <a:latin typeface="Arial"/>
              </a:defRPr>
            </a:pPr>
            <a:r>
              <a:t>Kraljic Matrix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5212080"/>
            <a:ext cx="80741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666666"/>
                </a:solidFill>
                <a:latin typeface="Arial"/>
              </a:defRPr>
            </a:pPr>
            <a:r>
              <a:t>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1.0 목차 (Table of Contents)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8개 장으로 구성된 자재군별 소싱 전략과 SRM 체계를 학습합니다.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8288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1장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468880" y="182880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1장 소싱 전략 개요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237744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2장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774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2장 병목자재 소싱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3장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92608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3장 레버리지자재 소싱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347472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4장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68880" y="347472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4장 전략자재 소싱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02336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5장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402336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5장 일상자재 소싱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371600" y="457200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6장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468880" y="457200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6장 SRM 및 성과 평가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371600" y="5120640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7장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5120640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7장 Toyota 사례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371600" y="5669279"/>
            <a:ext cx="914400" cy="4572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333333"/>
                </a:solidFill>
                <a:latin typeface="맑은 고딕"/>
              </a:defRPr>
            </a:pPr>
            <a:r>
              <a:t>8장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468880" y="5669279"/>
            <a:ext cx="5943600" cy="457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8장 Q&amp;A 및 다음 회차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1.1 과정 개요 및 학습 목표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자재군별 차별화된 소싱 전략으로 공급 리스크를 관리하고 최적의 가치를 창출합니다.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2860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554480" y="24231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194560" y="237744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자재군별 차별화된 소싱 전략 수립 역량 획득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371600" y="32004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554480" y="33375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194560" y="329184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SRM(Supplier Relationship Management) 접근법 이해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41148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554480" y="42519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94560" y="420624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자재군별 계약 전략과 협상 포인트 파악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371600" y="5029200"/>
            <a:ext cx="6858000" cy="73152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554480" y="5166360"/>
            <a:ext cx="457200" cy="45720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194560" y="5120640"/>
            <a:ext cx="585216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1200">
                <a:solidFill>
                  <a:srgbClr val="333333"/>
                </a:solidFill>
                <a:latin typeface="맑은 고딕"/>
              </a:defRPr>
            </a:pPr>
            <a:r>
              <a:t>공급업체 성과 평가 체계 구축 방법 습득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1.2 소싱 그룹(Sourcing Group) 전략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비슷한 특성의 자재를 묶어 통합 관리하여 구매력 향상과 리스크 감소를 동시에 달성합니다.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828800"/>
            <a:ext cx="41148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소싱 그룹이란?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60320"/>
            <a:ext cx="3749039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비슷한 특성을 가진 자재들을 묶어서 통합적으로 관리하는 단위입니다. Kraljic Matrix의 4대 자재군이 가장 대표적인 소싱 그룹 분류 방식입니다.</a:t>
            </a:r>
          </a:p>
          <a:p/>
          <a:p>
            <a:r>
              <a:t>분류 기준:</a:t>
            </a:r>
          </a:p>
          <a:p>
            <a:r>
              <a:t>• Kraljic Matrix 기반</a:t>
            </a:r>
          </a:p>
          <a:p>
            <a:r>
              <a:t>• 산업별 (전자부품, 화학자재)</a:t>
            </a:r>
          </a:p>
          <a:p>
            <a:r>
              <a:t>• 기능별 (MRO, 원자재, 부품)</a:t>
            </a:r>
          </a:p>
          <a:p>
            <a:r>
              <a:t>• 공급업체 유형별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0" y="1828800"/>
            <a:ext cx="41148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212080" y="2011680"/>
            <a:ext cx="3749039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33333"/>
                </a:solidFill>
                <a:latin typeface="맑은 고딕"/>
              </a:defRPr>
            </a:pPr>
            <a:r>
              <a:t>소싱 그룹의 목적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212080" y="2560320"/>
            <a:ext cx="3749039" cy="3200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목적:</a:t>
            </a:r>
          </a:p>
          <a:p/>
          <a:p>
            <a:r>
              <a:t>• 구매력 향상</a:t>
            </a:r>
          </a:p>
          <a:p>
            <a:r>
              <a:t>  비슷한 특성의 자재를 묶어 협상력 강화</a:t>
            </a:r>
          </a:p>
          <a:p/>
          <a:p>
            <a:r>
              <a:t>• 효율성 증대</a:t>
            </a:r>
          </a:p>
          <a:p>
            <a:r>
              <a:t>  일관된 전략 적용으로 관리 효율 극대화</a:t>
            </a:r>
          </a:p>
          <a:p/>
          <a:p>
            <a:r>
              <a:t>• 리스크 감소</a:t>
            </a:r>
          </a:p>
          <a:p>
            <a:r>
              <a:t>  전문화된 관리로 공급 리스크 최소화</a:t>
            </a:r>
          </a:p>
          <a:p/>
          <a:p>
            <a:r>
              <a:t>• 체계적 관계 구축</a:t>
            </a:r>
          </a:p>
          <a:p>
            <a:r>
              <a:t>  공급업체와의 전략적 파트너십 형성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1.3 자재군별 소싱 전략 매트릭스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4개 자재군은 각각 다른 목표, 공급업체 수, 계약 기간, 관계 유형을 필요로 합니다.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828800"/>
            <a:ext cx="164592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874519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구분</a:t>
            </a:r>
          </a:p>
        </p:txBody>
      </p:sp>
      <p:sp>
        <p:nvSpPr>
          <p:cNvPr id="7" name="Rectangle 6"/>
          <p:cNvSpPr/>
          <p:nvPr/>
        </p:nvSpPr>
        <p:spPr>
          <a:xfrm>
            <a:off x="21031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194560" y="1874519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🔴 병목자재</a:t>
            </a:r>
          </a:p>
        </p:txBody>
      </p:sp>
      <p:sp>
        <p:nvSpPr>
          <p:cNvPr id="9" name="Rectangle 8"/>
          <p:cNvSpPr/>
          <p:nvPr/>
        </p:nvSpPr>
        <p:spPr>
          <a:xfrm>
            <a:off x="39319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023359" y="1874519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🟢 레버리지자재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7607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852159" y="1874519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🟣 전략자재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589520" y="1828800"/>
            <a:ext cx="1828800" cy="457200"/>
          </a:xfrm>
          <a:prstGeom prst="rect">
            <a:avLst/>
          </a:prstGeom>
          <a:solidFill>
            <a:srgbClr val="333333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80960" y="1874519"/>
            <a:ext cx="164592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맑은 고딕"/>
              </a:defRPr>
            </a:pPr>
            <a:r>
              <a:t>⚪ 일상자재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2860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3317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핵심 목표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1031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148839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공급 안정성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9319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977639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원가 경쟁력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7607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806440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상호 성장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589520" y="22860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635240" y="2331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효율성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57200" y="27432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48640" y="27889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소싱 전략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1031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2148839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공급선 다변화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9319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977639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경쟁 촉진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7607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806440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전략적 파트너십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89520" y="27432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635240" y="2788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통합 &amp; 자동화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57200" y="32004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48640" y="32461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공급업체 수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1031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2148839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2~3개 목표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9319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977639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5개 이상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607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806440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1~2개 (전략적)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589520" y="32004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635240" y="32461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1~2개 (통합)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457200" y="36576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48640" y="37033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계약 기간</a:t>
            </a:r>
          </a:p>
        </p:txBody>
      </p:sp>
      <p:sp>
        <p:nvSpPr>
          <p:cNvPr id="47" name="Rectangle 46"/>
          <p:cNvSpPr/>
          <p:nvPr/>
        </p:nvSpPr>
        <p:spPr>
          <a:xfrm>
            <a:off x="21031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2148839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중장기 (1~3년)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39319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3977639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단기 (6개월~1년)</a:t>
            </a:r>
          </a:p>
        </p:txBody>
      </p:sp>
      <p:sp>
        <p:nvSpPr>
          <p:cNvPr id="51" name="Rectangle 50"/>
          <p:cNvSpPr/>
          <p:nvPr/>
        </p:nvSpPr>
        <p:spPr>
          <a:xfrm>
            <a:off x="57607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5806440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장기 (3~5년)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589520" y="36576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35240" y="37033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중기 (1~2년)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57200" y="41148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548640" y="41605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관계 유형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1031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2148839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협력적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9319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3977639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거래적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7607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806440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파트너십</a:t>
            </a:r>
          </a:p>
        </p:txBody>
      </p:sp>
      <p:sp>
        <p:nvSpPr>
          <p:cNvPr id="63" name="Rectangle 62"/>
          <p:cNvSpPr/>
          <p:nvPr/>
        </p:nvSpPr>
        <p:spPr>
          <a:xfrm>
            <a:off x="7589520" y="41148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635240" y="41605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효율적</a:t>
            </a:r>
          </a:p>
        </p:txBody>
      </p:sp>
      <p:sp>
        <p:nvSpPr>
          <p:cNvPr id="65" name="Rectangle 64"/>
          <p:cNvSpPr/>
          <p:nvPr/>
        </p:nvSpPr>
        <p:spPr>
          <a:xfrm>
            <a:off x="457200" y="45720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48640" y="46177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협상 방식</a:t>
            </a:r>
          </a:p>
        </p:txBody>
      </p:sp>
      <p:sp>
        <p:nvSpPr>
          <p:cNvPr id="67" name="Rectangle 66"/>
          <p:cNvSpPr/>
          <p:nvPr/>
        </p:nvSpPr>
        <p:spPr>
          <a:xfrm>
            <a:off x="21031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2148839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안정성 중심</a:t>
            </a:r>
          </a:p>
        </p:txBody>
      </p:sp>
      <p:sp>
        <p:nvSpPr>
          <p:cNvPr id="69" name="Rectangle 68"/>
          <p:cNvSpPr/>
          <p:nvPr/>
        </p:nvSpPr>
        <p:spPr>
          <a:xfrm>
            <a:off x="39319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3977639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가격 경쟁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7607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5806440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Win-Win</a:t>
            </a:r>
          </a:p>
        </p:txBody>
      </p:sp>
      <p:sp>
        <p:nvSpPr>
          <p:cNvPr id="73" name="Rectangle 72"/>
          <p:cNvSpPr/>
          <p:nvPr/>
        </p:nvSpPr>
        <p:spPr>
          <a:xfrm>
            <a:off x="7589520" y="4572000"/>
            <a:ext cx="1828800" cy="457200"/>
          </a:xfrm>
          <a:prstGeom prst="rect">
            <a:avLst/>
          </a:prstGeom>
          <a:solidFill>
            <a:srgbClr val="FFFFFF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635240" y="46177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표준화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57200" y="5029200"/>
            <a:ext cx="1645920" cy="457200"/>
          </a:xfrm>
          <a:prstGeom prst="rect">
            <a:avLst/>
          </a:prstGeom>
          <a:solidFill>
            <a:srgbClr val="CCCCCC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548640" y="5074920"/>
            <a:ext cx="1463040" cy="3657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1000" b="1">
                <a:solidFill>
                  <a:srgbClr val="333333"/>
                </a:solidFill>
                <a:latin typeface="맑은 고딕"/>
              </a:defRPr>
            </a:pPr>
            <a:r>
              <a:t>정보 공유</a:t>
            </a:r>
          </a:p>
        </p:txBody>
      </p:sp>
      <p:sp>
        <p:nvSpPr>
          <p:cNvPr id="77" name="Rectangle 76"/>
          <p:cNvSpPr/>
          <p:nvPr/>
        </p:nvSpPr>
        <p:spPr>
          <a:xfrm>
            <a:off x="21031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2148839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중간 수준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319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TextBox 79"/>
          <p:cNvSpPr txBox="1"/>
          <p:nvPr/>
        </p:nvSpPr>
        <p:spPr>
          <a:xfrm>
            <a:off x="3977639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제한적</a:t>
            </a:r>
          </a:p>
        </p:txBody>
      </p:sp>
      <p:sp>
        <p:nvSpPr>
          <p:cNvPr id="81" name="Rectangle 80"/>
          <p:cNvSpPr/>
          <p:nvPr/>
        </p:nvSpPr>
        <p:spPr>
          <a:xfrm>
            <a:off x="57607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TextBox 81"/>
          <p:cNvSpPr txBox="1"/>
          <p:nvPr/>
        </p:nvSpPr>
        <p:spPr>
          <a:xfrm>
            <a:off x="5806440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고도 공유</a:t>
            </a:r>
          </a:p>
        </p:txBody>
      </p:sp>
      <p:sp>
        <p:nvSpPr>
          <p:cNvPr id="83" name="Rectangle 82"/>
          <p:cNvSpPr/>
          <p:nvPr/>
        </p:nvSpPr>
        <p:spPr>
          <a:xfrm>
            <a:off x="7589520" y="5029200"/>
            <a:ext cx="1828800" cy="457200"/>
          </a:xfrm>
          <a:prstGeom prst="rect">
            <a:avLst/>
          </a:prstGeom>
          <a:solidFill>
            <a:srgbClr val="E6E6E6"/>
          </a:solidFill>
          <a:ln w="6350"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TextBox 83"/>
          <p:cNvSpPr txBox="1"/>
          <p:nvPr/>
        </p:nvSpPr>
        <p:spPr>
          <a:xfrm>
            <a:off x="7635240" y="5074920"/>
            <a:ext cx="1737360" cy="3657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>
                <a:solidFill>
                  <a:srgbClr val="333333"/>
                </a:solidFill>
                <a:latin typeface="맑은 고딕"/>
              </a:defRPr>
            </a:pPr>
            <a:r>
              <a:t>최소화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2.1 병목자재 소싱 전략: 공급 안정성 확보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 불안정이 가장 큰 문제이므로, '언제든지 공급받을 수 있도록' 하는 것이 최우선 목표입니다.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743200"/>
            <a:ext cx="182880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22960" y="283464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2461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공급선 다변화</a:t>
            </a:r>
          </a:p>
          <a:p>
            <a:r>
              <a:t>(Multi-Sourcing)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2606039" y="3154680"/>
            <a:ext cx="182879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2834639" y="2743200"/>
            <a:ext cx="182880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926079" y="283464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79" y="32461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이중 공급 체계</a:t>
            </a:r>
          </a:p>
          <a:p>
            <a:r>
              <a:t>(Dual Sourcing)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59" y="3154680"/>
            <a:ext cx="182879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59" y="2743200"/>
            <a:ext cx="182880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5029199" y="283464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199" y="32461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장기 계약 체결</a:t>
            </a:r>
          </a:p>
          <a:p>
            <a:r>
              <a:t>(LTA)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6812279" y="3154680"/>
            <a:ext cx="182879" cy="274320"/>
          </a:xfrm>
          <a:prstGeom prst="rightArrow">
            <a:avLst/>
          </a:prstGeom>
          <a:solidFill>
            <a:srgbClr val="666666"/>
          </a:solidFill>
          <a:ln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7040879" y="2743200"/>
            <a:ext cx="1828800" cy="1097280"/>
          </a:xfrm>
          <a:prstGeom prst="roundRect">
            <a:avLst/>
          </a:prstGeom>
          <a:solidFill>
            <a:srgbClr val="E6E6E6"/>
          </a:solidFill>
          <a:ln w="25400">
            <a:solidFill>
              <a:srgbClr val="6666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132319" y="2834640"/>
            <a:ext cx="365760" cy="365760"/>
          </a:xfrm>
          <a:prstGeom prst="ellipse">
            <a:avLst/>
          </a:prstGeom>
          <a:solidFill>
            <a:srgbClr val="1A5276"/>
          </a:solidFill>
          <a:ln>
            <a:solidFill>
              <a:srgbClr val="1A527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19" y="3246120"/>
            <a:ext cx="16459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333333"/>
                </a:solidFill>
                <a:latin typeface="맑은 고딕"/>
              </a:defRPr>
            </a:pPr>
            <a:r>
              <a:t>공급업체 관계 강화</a:t>
            </a:r>
          </a:p>
          <a:p>
            <a:r>
              <a:t>(Collaboration)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2.2 병목자재: 공급선 다변화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단일 공급원 의존도를 낮춰 공급 리스크를 분산시킵니다.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전략:</a:t>
            </a:r>
          </a:p>
          <a:p>
            <a:r>
              <a:t>• 메인 공급업체 + 백업 공급업체 체계</a:t>
            </a:r>
          </a:p>
          <a:p>
            <a:r>
              <a:t>• 지역적 분산 (다른 지역/국가 공급업체 확보)</a:t>
            </a:r>
          </a:p>
          <a:p>
            <a:r>
              <a:t>• 기술 이전 (신규 공급업체 육성 프로그램)</a:t>
            </a:r>
          </a:p>
          <a:p>
            <a:r>
              <a:t>• 대체재 개발 (설계 변경을 통한 대체 부품 검토)</a:t>
            </a:r>
          </a:p>
          <a:p/>
          <a:p>
            <a:r>
              <a:t>장기 계약:</a:t>
            </a:r>
          </a:p>
          <a:p>
            <a:r>
              <a:t>• 공급 보증: 최소 공급량 보장 조항</a:t>
            </a:r>
          </a:p>
          <a:p>
            <a:r>
              <a:t>• 우선 공급권: 부족 상황 시 우선 공급</a:t>
            </a:r>
          </a:p>
          <a:p>
            <a:r>
              <a:t>• 재고 보유 의무: 공급업체의 안전재고 보유</a:t>
            </a:r>
          </a:p>
          <a:p>
            <a:r>
              <a:t>• 통보 의무: 공급 불가 시 사전 통보 (3~6개월)</a:t>
            </a:r>
          </a:p>
          <a:p>
            <a:r>
              <a:t>• 페널티 조항: 공급 불이행 시 보상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2.3 병목자재: 계약 전략 및 협상 포인트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가격보다 공급 보장 조건을 우선하여, 적정 마진을 보장하며 안정적 관계를 유지합니다.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계약 유형: Long-term Agreement (LTA) 또는 Framework Agreement</a:t>
            </a:r>
          </a:p>
          <a:p/>
          <a:p>
            <a:r>
              <a:t>협상 포인트:</a:t>
            </a:r>
          </a:p>
          <a:p>
            <a:r>
              <a:t>• 가격: 단가보다 '공급 보장' 조건 우선</a:t>
            </a:r>
          </a:p>
          <a:p>
            <a:r>
              <a:t>• 리드타임: 최대한 단축 협상</a:t>
            </a:r>
          </a:p>
          <a:p>
            <a:r>
              <a:t>• 유연성: 긴급 수요 시 특별 대응 절차</a:t>
            </a:r>
          </a:p>
          <a:p>
            <a:r>
              <a:t>• 재고 분담: VMI 또는 Consignment Stock 검토</a:t>
            </a:r>
          </a:p>
          <a:p/>
          <a:p>
            <a:r>
              <a:t>실무 TIP:</a:t>
            </a:r>
          </a:p>
          <a:p>
            <a:r>
              <a:t>병목자재는 가격을 낮추려고 과도하게 압박하면 오히려 공급업체가 이탈하거나 품질이 떨어지는 역효과가 발생할 수 있습니다. '적정 마진을 보장하며 안정적 관계 유지'가 핵심입니다.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3.1 레버리지자재 소싱 전략: 경쟁 촉진 및 통합 구매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공급시장이 경쟁적이므로, 공급업체 간 경쟁을 유도하여 최적의 가격과 조건을 확보합니다.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전략 1: 경쟁 입찰(Competitive Bidding)</a:t>
            </a:r>
          </a:p>
          <a:p>
            <a:r>
              <a:t>• RFQ: 표준화된 견적 요청서 발송</a:t>
            </a:r>
          </a:p>
          <a:p>
            <a:r>
              <a:t>• 역경매: 온라인 가격 경쟁 입찰</a:t>
            </a:r>
          </a:p>
          <a:p>
            <a:r>
              <a:t>• 분할 발주: 여러 공급업체에 물량 분산 (60/30/10)</a:t>
            </a:r>
          </a:p>
          <a:p>
            <a:r>
              <a:t>• 정기 재입찰: 년 1~2회 재경쟁 입찰</a:t>
            </a:r>
          </a:p>
          <a:p/>
          <a:p>
            <a:r>
              <a:t>전략 2: 통합 구매</a:t>
            </a:r>
          </a:p>
          <a:p>
            <a:r>
              <a:t>• 공급업체 통합: 10개 → 3~5개로 축소</a:t>
            </a:r>
          </a:p>
          <a:p>
            <a:r>
              <a:t>• 물량 통합: 사업장별 분산 → 본사 통합</a:t>
            </a:r>
          </a:p>
          <a:p>
            <a:r>
              <a:t>• 글로벌 소싱: 국내 → 글로벌 저가 공급원</a:t>
            </a:r>
          </a:p>
          <a:p>
            <a:r>
              <a:t>• 카테고리 통합: 비슷한 품목 묶어 일괄 구매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3.2 레버리지자재: 경쟁 입찰 방식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RFQ와 역경매를 통해 다수 공급업체 간 가격 경쟁을 유도합니다.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실행 방안:</a:t>
            </a:r>
          </a:p>
          <a:p/>
          <a:p>
            <a:r>
              <a:t>1단계: 대량구매를 통한 단가 절감</a:t>
            </a:r>
          </a:p>
          <a:p>
            <a:r>
              <a:t>• 물량 통합: 사업장별 분산 구매 → 본사 통합 구매</a:t>
            </a:r>
          </a:p>
          <a:p>
            <a:r>
              <a:t>• 공급업체 통합: 10개 → 3~5개로 축소하여 개별 물량 증대</a:t>
            </a:r>
          </a:p>
          <a:p>
            <a:r>
              <a:t>• 경쟁 입찰: RFQ 또는 역경매를 통한 가격 경쟁 유도</a:t>
            </a:r>
          </a:p>
          <a:p>
            <a:r>
              <a:t>• 장기 물량 커미트: 1~2년 물량 보장 조건으로 단가 인하</a:t>
            </a:r>
          </a:p>
          <a:p/>
          <a:p>
            <a:r>
              <a:t>2단계: TCO 분석으로 최종 선정</a:t>
            </a:r>
          </a:p>
          <a:p>
            <a:r>
              <a:t>단순 구매단가가 아닌 총소유비용을 비교 평가합니다.</a:t>
            </a:r>
          </a:p>
          <a:p>
            <a:r>
              <a:t>TCO = 구매가 + 물류비 + 관세 + 품질비용 + 재고비용 + 관리비용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3.3 레버리지자재: TCO 기반 공급업체 선정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단가로 좁히고 TCO로 결정한다 - 최저가가 아닌 총소유비용으로 최종 평가합니다.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TCO 평가 기준:</a:t>
            </a:r>
          </a:p>
          <a:p/>
          <a:p>
            <a:r>
              <a:t>• 국내 vs 해외</a:t>
            </a:r>
          </a:p>
          <a:p>
            <a:r>
              <a:t>  해외 저가 공급업체의 물류비, 관세, 리드타임 반영</a:t>
            </a:r>
          </a:p>
          <a:p/>
          <a:p>
            <a:r>
              <a:t>• 품질 리스크</a:t>
            </a:r>
          </a:p>
          <a:p>
            <a:r>
              <a:t>  낮은 단가지만 품질 문제가 많은 공급업체는 검사비용, 반품비용 가산</a:t>
            </a:r>
          </a:p>
          <a:p/>
          <a:p>
            <a:r>
              <a:t>• 재고비용</a:t>
            </a:r>
          </a:p>
          <a:p>
            <a:r>
              <a:t>  리드타임이 긴 공급업체는 안전재고 증가로 인한 재고 보유비용 반영</a:t>
            </a:r>
          </a:p>
          <a:p/>
          <a:p>
            <a:r>
              <a:t>• 관리 효율성</a:t>
            </a:r>
          </a:p>
          <a:p>
            <a:r>
              <a:t>  소량 다빈도 납품 공급업체는 관리비용 가산</a:t>
            </a:r>
          </a:p>
          <a:p/>
          <a:p>
            <a:r>
              <a:t>실무 TIP:</a:t>
            </a:r>
          </a:p>
          <a:p>
            <a:r>
              <a:t>경쟁 입찰에서 최저가 업체가 항상 최선은 아닙니다. 단가는 10% 낮지만 불량률이 높거나 리드타임이 2배 긴 경우, TCO로 계산하면 오히려 비쌀 수 있습니다.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4.1 전략자재 소싱 전략: 전략적 파트너십 구축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 리스크와 구매 임팩트가 모두 크므로, 장기적인 Win-Win 파트너십을 구축합니다.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전략 1: 장기 파트너십 계약</a:t>
            </a:r>
          </a:p>
          <a:p>
            <a:r>
              <a:t>• 계약 기간: 3~5년 장기 계약</a:t>
            </a:r>
          </a:p>
          <a:p>
            <a:r>
              <a:t>• 목표 공유: 공동 목표 설정 (원가 절감, 품질 향상, 기술 혁신)</a:t>
            </a:r>
          </a:p>
          <a:p>
            <a:r>
              <a:t>• 이익 공유: 비용 절감 과실의 50/50 분배 등</a:t>
            </a:r>
          </a:p>
          <a:p>
            <a:r>
              <a:t>• 리스크 공유: 원자재 가격 변동 리스크 분담</a:t>
            </a:r>
          </a:p>
          <a:p>
            <a:r>
              <a:t>• 전략적 대화: 분기별 경영진 미팅</a:t>
            </a:r>
          </a:p>
          <a:p/>
          <a:p>
            <a:r>
              <a:t>전략 2: 공동 개발 프로젝트</a:t>
            </a:r>
          </a:p>
          <a:p>
            <a:r>
              <a:t>• 제품 공동 개발: 신소재, 신기술 적용 부품</a:t>
            </a:r>
          </a:p>
          <a:p>
            <a:r>
              <a:t>• 공정 혁신: 생산성 향상, 원가 절감 프로젝트</a:t>
            </a:r>
          </a:p>
          <a:p>
            <a:r>
              <a:t>• 품질 개선: 불량률 감소, 신뢰성 향상</a:t>
            </a:r>
          </a:p>
          <a:p>
            <a:r>
              <a:t>• 지속가능성: 친환경 소재, 탄소 감축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4.2 전략자재: 장기 파트너십 계약 및 공동 개발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3-5년 장기 계약으로 목표와 이익을 공유하고, 공동 R&amp;D 프로젝트를 진행합니다.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파트너십 계약 특징:</a:t>
            </a:r>
          </a:p>
          <a:p>
            <a:r>
              <a:t>• 계약 기간: 3~5년 장기 계약</a:t>
            </a:r>
          </a:p>
          <a:p>
            <a:r>
              <a:t>• 목표 공유: 공동 목표 설정</a:t>
            </a:r>
          </a:p>
          <a:p>
            <a:r>
              <a:t>• 이익 공유: 비용 절감 과실의 50/50 분배</a:t>
            </a:r>
          </a:p>
          <a:p>
            <a:r>
              <a:t>• 리스크 공유: 원자재 가격 변동 리스크 분담</a:t>
            </a:r>
          </a:p>
          <a:p/>
          <a:p>
            <a:r>
              <a:t>정보 공유 방식:</a:t>
            </a:r>
          </a:p>
          <a:p>
            <a:r>
              <a:t>• 장기 예측: 12~18개월 Rolling Forecast 공유</a:t>
            </a:r>
          </a:p>
          <a:p>
            <a:r>
              <a:t>• 생산 계획: 월간 생산 계획 공유</a:t>
            </a:r>
          </a:p>
          <a:p>
            <a:r>
              <a:t>• 재고 가시성: VMI 시스템 연결</a:t>
            </a:r>
          </a:p>
          <a:p>
            <a:r>
              <a:t>• 품질 데이터: 불량 데이터 실시간 공유</a:t>
            </a:r>
          </a:p>
          <a:p/>
          <a:p>
            <a:r>
              <a:t>협상 포인트:</a:t>
            </a:r>
          </a:p>
          <a:p>
            <a:r>
              <a:t>• 가격: 공정한 마진 보장 + 장기적 원가 절감 목표</a:t>
            </a:r>
          </a:p>
          <a:p>
            <a:r>
              <a:t>• 물량: 장기 물량 커미트먼트 (최소 발주량 보장)</a:t>
            </a:r>
          </a:p>
          <a:p>
            <a:r>
              <a:t>• 투자: 설비 투자 지원 또는 대급 방안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5.1 일상자재 소싱 전략: 효율화 및 자동화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개별 금액은 작지만 전체 물량이 많으므로, 관리 비용을 최소화하는 것이 핵심입니다.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전략 1: 공급업체 통합</a:t>
            </a:r>
          </a:p>
          <a:p>
            <a:r>
              <a:t>• 원스톱 쇼핑: 모든 MRO 품목을 1~2개 공급업체에서 구매</a:t>
            </a:r>
          </a:p>
          <a:p>
            <a:r>
              <a:t>• 카테고리 통합: 비슷한 품목군 통합 구매</a:t>
            </a:r>
          </a:p>
          <a:p>
            <a:r>
              <a:t>• 글로벌 계약: 본사 일괄 계약, 각 사업장은 Call-off</a:t>
            </a:r>
          </a:p>
          <a:p/>
          <a:p>
            <a:r>
              <a:t>전략 2: E-Procurement 시스템</a:t>
            </a:r>
          </a:p>
          <a:p>
            <a:r>
              <a:t>• 카탈로그 구매: 사전 등록 표준 품목 선택</a:t>
            </a:r>
          </a:p>
          <a:p>
            <a:r>
              <a:t>• 자동 발주: 재고 부족 시 자동 발주</a:t>
            </a:r>
          </a:p>
          <a:p>
            <a:r>
              <a:t>• 승인 자동화: 일정 금액 이하 자동 승인</a:t>
            </a:r>
          </a:p>
          <a:p>
            <a:r>
              <a:t>• 3-Way Matching: PO-GR-IR 자동 매칭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5.2 일상자재: E-Procurement 및 자동화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카탈로그 구매와 자동 발주 시스템으로 승인 프로세스를 간소화합니다.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운영 방식:</a:t>
            </a:r>
          </a:p>
          <a:p>
            <a:r>
              <a:t>• Blanket PO: 연간 총량 계약, 필요시 Release Order</a:t>
            </a:r>
          </a:p>
          <a:p>
            <a:r>
              <a:t>• VMI: 공급업체가 재고 모니터링 및 자동 보충</a:t>
            </a:r>
          </a:p>
          <a:p>
            <a:r>
              <a:t>• Consignment: 사용 시점 결제로 현금 흐름 개선</a:t>
            </a:r>
          </a:p>
          <a:p/>
          <a:p>
            <a:r>
              <a:t>계약 전략:</a:t>
            </a:r>
          </a:p>
          <a:p>
            <a:r>
              <a:t>계약 유형: Blanket Purchase Agreement (BPA)</a:t>
            </a:r>
          </a:p>
          <a:p/>
          <a:p>
            <a:r>
              <a:t>협상 포인트:</a:t>
            </a:r>
          </a:p>
          <a:p>
            <a:r>
              <a:t>• 가격: 연간 고정가 또는 표준 가격표</a:t>
            </a:r>
          </a:p>
          <a:p>
            <a:r>
              <a:t>• 자동화: 발주 프로세스 간소화 조건</a:t>
            </a:r>
          </a:p>
          <a:p>
            <a:r>
              <a:t>• 물류: 정기 배송 스케줄 설정</a:t>
            </a:r>
          </a:p>
          <a:p>
            <a:r>
              <a:t>• 결제: 월간 통합 결제로 사무 효율화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6.1 공급업체 관계 관리(SRM) 개요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공급업체와의 관계를 체계적으로 관리하여 상호 가치를 극대화하는 경영 전략입니다.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SRM의 필요성:</a:t>
            </a:r>
          </a:p>
          <a:p>
            <a:r>
              <a:t>• 공급업체 성과가 우리 회사 경쟁력에 직결</a:t>
            </a:r>
          </a:p>
          <a:p>
            <a:r>
              <a:t>• 장기적 관계가 단기적 가격보다 중요</a:t>
            </a:r>
          </a:p>
          <a:p>
            <a:r>
              <a:t>• 협력적 관계로 혁신과 문제 해결 능력 향상</a:t>
            </a:r>
          </a:p>
          <a:p>
            <a:r>
              <a:t>• 리스크 관리와 지속가능성 확보</a:t>
            </a:r>
          </a:p>
          <a:p/>
          <a:p>
            <a:r>
              <a:t>자재군별 공급업체 관계 유형:</a:t>
            </a:r>
          </a:p>
          <a:p>
            <a:r>
              <a:t>• 병목: 협력적 - 상호 의존 - 월 1회 소통</a:t>
            </a:r>
          </a:p>
          <a:p>
            <a:r>
              <a:t>• 레버리지: 거래적 - 경쟁 중심 - 분기 1회 소통</a:t>
            </a:r>
          </a:p>
          <a:p>
            <a:r>
              <a:t>• 전략: 파트너십 - 전략적 협력 - 월 1~2회 소통</a:t>
            </a:r>
          </a:p>
          <a:p>
            <a:r>
              <a:t>• 일상: 효율적 - 최소 관여 - 분기 1회 또는 자동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6.2 자재군별 공급업체 관계 유형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병목(협력적), 레버리지(거래적), 전략(파트너십), 일상(효율적) - 자재군마다 다른 관계 접근이 필요합니다.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관계 유형 비교:</a:t>
            </a:r>
          </a:p>
          <a:p/>
          <a:p>
            <a:r>
              <a:t>병목자재 (Bottleneck):</a:t>
            </a:r>
          </a:p>
          <a:p>
            <a:r>
              <a:t>• 관계 유형: 협력적</a:t>
            </a:r>
          </a:p>
          <a:p>
            <a:r>
              <a:t>• 특징: 상호 의존</a:t>
            </a:r>
          </a:p>
          <a:p>
            <a:r>
              <a:t>• 소통 빈도: 월 1회</a:t>
            </a:r>
          </a:p>
          <a:p/>
          <a:p>
            <a:r>
              <a:t>레버리지자재 (Leverage):</a:t>
            </a:r>
          </a:p>
          <a:p>
            <a:r>
              <a:t>• 관계 유형: 거래적</a:t>
            </a:r>
          </a:p>
          <a:p>
            <a:r>
              <a:t>• 특징: 경쟁 중심</a:t>
            </a:r>
          </a:p>
          <a:p>
            <a:r>
              <a:t>• 소통 빈도: 분기 1회</a:t>
            </a:r>
          </a:p>
          <a:p/>
          <a:p>
            <a:r>
              <a:t>전략자재 (Strategic):</a:t>
            </a:r>
          </a:p>
          <a:p>
            <a:r>
              <a:t>• 관계 유형: 파트너십</a:t>
            </a:r>
          </a:p>
          <a:p>
            <a:r>
              <a:t>• 특징: 전략적 협력</a:t>
            </a:r>
          </a:p>
          <a:p>
            <a:r>
              <a:t>• 소통 빈도: 월 1~2회</a:t>
            </a:r>
          </a:p>
          <a:p/>
          <a:p>
            <a:r>
              <a:t>일상자재 (Routine):</a:t>
            </a:r>
          </a:p>
          <a:p>
            <a:r>
              <a:t>• 관계 유형: 효율적</a:t>
            </a:r>
          </a:p>
          <a:p>
            <a:r>
              <a:t>• 특징: 최소 관여</a:t>
            </a:r>
          </a:p>
          <a:p>
            <a:r>
              <a:t>• 소통 빈도: 분기 1회 또는 자동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6.3 공급업체 성과 평가 체계: Scorecard 구성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품질 30%, 납기 30%, 가격 20%, 협력 10%, 리스크 10%로 정량적 평가를 수행합니다.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평가 영역 및 가중치:</a:t>
            </a:r>
          </a:p>
          <a:p/>
          <a:p>
            <a:r>
              <a:t>1. 품질 (30%)</a:t>
            </a:r>
          </a:p>
          <a:p>
            <a:r>
              <a:t>   • 불량률 (PPM)</a:t>
            </a:r>
          </a:p>
          <a:p>
            <a:r>
              <a:t>   • 검사 통과율</a:t>
            </a:r>
          </a:p>
          <a:p>
            <a:r>
              <a:t>   • 클레임 발생 건수</a:t>
            </a:r>
          </a:p>
          <a:p/>
          <a:p>
            <a:r>
              <a:t>2. 납기 (30%)</a:t>
            </a:r>
          </a:p>
          <a:p>
            <a:r>
              <a:t>   • 납기 준수율 (OTD)</a:t>
            </a:r>
          </a:p>
          <a:p>
            <a:r>
              <a:t>   • 리드타임 안정성</a:t>
            </a:r>
          </a:p>
          <a:p>
            <a:r>
              <a:t>   • 긴급 대응 능력</a:t>
            </a:r>
          </a:p>
          <a:p/>
          <a:p>
            <a:r>
              <a:t>3. 가격 경쟁력 (20%)</a:t>
            </a:r>
          </a:p>
          <a:p>
            <a:r>
              <a:t>   • 시장가 대비 수준</a:t>
            </a:r>
          </a:p>
          <a:p>
            <a:r>
              <a:t>   • 원가 절감 기여도</a:t>
            </a:r>
          </a:p>
          <a:p>
            <a:r>
              <a:t>   • 가격 안정성</a:t>
            </a:r>
          </a:p>
          <a:p/>
          <a:p>
            <a:r>
              <a:t>4. 협력 성과 (10%)</a:t>
            </a:r>
          </a:p>
          <a:p>
            <a:r>
              <a:t>   • 정보 공유 수준</a:t>
            </a:r>
          </a:p>
          <a:p>
            <a:r>
              <a:t>   • 개선 제안 건수</a:t>
            </a:r>
          </a:p>
          <a:p>
            <a:r>
              <a:t>   • 공동 프로젝트 참여도</a:t>
            </a:r>
          </a:p>
          <a:p/>
          <a:p>
            <a:r>
              <a:t>5. 리스크 관리 (10%)</a:t>
            </a:r>
          </a:p>
          <a:p>
            <a:r>
              <a:t>   • 재무 건전성</a:t>
            </a:r>
          </a:p>
          <a:p>
            <a:r>
              <a:t>   • 지속가능성 이니셔티브</a:t>
            </a:r>
          </a:p>
          <a:p>
            <a:r>
              <a:t>   • 컴플라이언스 준수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6.4 공급업체 성과 평가: 등급 분류 및 조치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A(90+), B(70-89), C(50-69), D(&lt;50) 등급별로 차별화된 조치를 취합니다.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등급 분류:</a:t>
            </a:r>
          </a:p>
          <a:p/>
          <a:p>
            <a:r>
              <a:t>A등급 (90점 이상)</a:t>
            </a:r>
          </a:p>
          <a:p>
            <a:r>
              <a:t>• 조치: 우수 공급업체, 물량 확대 검토</a:t>
            </a:r>
          </a:p>
          <a:p/>
          <a:p>
            <a:r>
              <a:t>B등급 (70~89점)</a:t>
            </a:r>
          </a:p>
          <a:p>
            <a:r>
              <a:t>• 조치: 양호 공급업체, 현 수준 유지</a:t>
            </a:r>
          </a:p>
          <a:p/>
          <a:p>
            <a:r>
              <a:t>C등급 (50~69점)</a:t>
            </a:r>
          </a:p>
          <a:p>
            <a:r>
              <a:t>• 조치: 개선 필요, 개선 계획 수립 요구</a:t>
            </a:r>
          </a:p>
          <a:p/>
          <a:p>
            <a:r>
              <a:t>D등급 (50점 미만)</a:t>
            </a:r>
          </a:p>
          <a:p>
            <a:r>
              <a:t>• 조치: 불만족, 교체 검토 또는 퇴출</a:t>
            </a:r>
          </a:p>
          <a:p/>
          <a:p>
            <a:r>
              <a:t>실무 TIP:</a:t>
            </a:r>
          </a:p>
          <a:p>
            <a:r>
              <a:t>Scorecard는 공급업체에게도 공유하여 투명성을 확보하고, 개선 기회를 제공하는 것이 중요합니다. '평가 후 통보 없음'은 공급업체 불신을 초래합니다.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7.1 실전 사례: Toyota의 SRM 베스트 프랙티스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Toyota는 공급업체들이 가장 협력하고 싶어하는 OEM 1위이며, 50년 이상 장기 파트너십을 유지합니다.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배경:</a:t>
            </a:r>
          </a:p>
          <a:p>
            <a:r>
              <a:t>• Toyota는 전 세계 자동차 업계에서 공급업체들이 가장 협력하고 싶어하는 OEM 1위</a:t>
            </a:r>
          </a:p>
          <a:p>
            <a:r>
              <a:t>• 1950년대부터 'Toyota Way' 철학을 바탕으로 공급업체와의 장기 파트너십 구축</a:t>
            </a:r>
          </a:p>
          <a:p>
            <a:r>
              <a:t>• 단순한 거래 관계가 아닌 '운명 공동체'로서 공급업체를 대우</a:t>
            </a:r>
          </a:p>
          <a:p/>
          <a:p>
            <a:r>
              <a:t>핵심 전략 (간략):</a:t>
            </a:r>
          </a:p>
          <a:p>
            <a:r>
              <a:t>1. 상호 신뢰 기반 장기 파트너십</a:t>
            </a:r>
          </a:p>
          <a:p>
            <a:r>
              <a:t>   • 장기 계약: 수십 년간 거래하는 공급업체 다수</a:t>
            </a:r>
          </a:p>
          <a:p>
            <a:r>
              <a:t>   • 투명한 정보 공유: 생산 계획, 수요 예측</a:t>
            </a:r>
          </a:p>
          <a:p>
            <a:r>
              <a:t>   • 공정한 가격: 적정 마진 보장</a:t>
            </a:r>
          </a:p>
          <a:p/>
          <a:p>
            <a:r>
              <a:t>2. Kaizen(지속적 개선) 철학 확산</a:t>
            </a:r>
          </a:p>
          <a:p>
            <a:r>
              <a:t>   • 교육 워크샵: TPS 교육 정기 제공</a:t>
            </a:r>
          </a:p>
          <a:p>
            <a:r>
              <a:t>   • 현장 지원: 엔지니어 파견 공정 개선</a:t>
            </a:r>
          </a:p>
          <a:p/>
          <a:p>
            <a:r>
              <a:t>3. 성장 비전 공유 및 공동 투자</a:t>
            </a:r>
          </a:p>
          <a:p>
            <a:r>
              <a:t>   • 장기 예측 공유: 3~5년 생산 계획</a:t>
            </a:r>
          </a:p>
          <a:p>
            <a:r>
              <a:t>   • 설비 투자 지원: 선급금 또는 저리 대출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7.2 Toyota SRM: 3가지 핵심 전략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상호 신뢰 기반 장기 파트너십, Kaizen 철학 확산, 성장 비전 공유로 공급망 전체 경쟁력을 향상시킵니다.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1. 상호 신뢰 기반 장기 파트너십</a:t>
            </a:r>
          </a:p>
          <a:p>
            <a:r>
              <a:t>   • 장기 계약: 수십 년간 거래하는 공급업체 다수</a:t>
            </a:r>
          </a:p>
          <a:p>
            <a:r>
              <a:t>   • 공개적 소통: 자유로운 의견 제시 환경</a:t>
            </a:r>
          </a:p>
          <a:p>
            <a:r>
              <a:t>   • 투명한 정보 공유: 생산 계획, 수요 예측, 품질 데이터</a:t>
            </a:r>
          </a:p>
          <a:p>
            <a:r>
              <a:t>   • 공정한 가격: 적정 마진 보장</a:t>
            </a:r>
          </a:p>
          <a:p/>
          <a:p>
            <a:r>
              <a:t>2. Kaizen(지속적 개선) 철학 확산</a:t>
            </a:r>
          </a:p>
          <a:p>
            <a:r>
              <a:t>   • 교육 워크샵: TPS 교육 정기 제공</a:t>
            </a:r>
          </a:p>
          <a:p>
            <a:r>
              <a:t>   • 현장 지원: 엔지니어 파견 공정 개선</a:t>
            </a:r>
          </a:p>
          <a:p>
            <a:r>
              <a:t>   • 공동 문제 해결: 책임 추궁보다 원인 분석</a:t>
            </a:r>
          </a:p>
          <a:p>
            <a:r>
              <a:t>   • 베스트 프랙티스 공유: 우수 사례 전파</a:t>
            </a:r>
          </a:p>
          <a:p/>
          <a:p>
            <a:r>
              <a:t>3. 성장 비전 공유 및 공동 투자</a:t>
            </a:r>
          </a:p>
          <a:p>
            <a:r>
              <a:t>   • 장기 예측 공유: 3~5년 생산 계획과 신차 개발 로드맵</a:t>
            </a:r>
          </a:p>
          <a:p>
            <a:r>
              <a:t>   • 설비 투자 지원: 선급금 또는 저리 대출</a:t>
            </a:r>
          </a:p>
          <a:p>
            <a:r>
              <a:t>   • 공동 R&amp;D: 차세대 기술 개발 프로젝트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7.3 Toyota 성과 및 자재군별 적용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공급업체 만족도 1위, 품질 세계 최고 수준 유지 - Win-Win 파트너십이 장기적 경쟁력을 만듭니다.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성과:</a:t>
            </a:r>
          </a:p>
          <a:p>
            <a:r>
              <a:t>• 공급업체 만족도: 글로벌 OEM 중 1위</a:t>
            </a:r>
          </a:p>
          <a:p>
            <a:r>
              <a:t>• 품질 우수성: 차량 품질 세계 최고 수준 유지</a:t>
            </a:r>
          </a:p>
          <a:p>
            <a:r>
              <a:t>• 공급망 안정성: 2011년 동일본 대지진 당시 빠른 회복</a:t>
            </a:r>
          </a:p>
          <a:p>
            <a:r>
              <a:t>• 혁신 창출: 공급업체 개선 제안 연간 수천 건</a:t>
            </a:r>
          </a:p>
          <a:p/>
          <a:p>
            <a:r>
              <a:t>자재군별 적용:</a:t>
            </a:r>
          </a:p>
          <a:p>
            <a:r>
              <a:t>• 병목자재: 소수 공급업체와 장기 계약 + 기술 지원</a:t>
            </a:r>
          </a:p>
          <a:p>
            <a:r>
              <a:t>• 레버리지자재: 기존 공급업체 협력을 통한 원가 절감</a:t>
            </a:r>
          </a:p>
          <a:p>
            <a:r>
              <a:t>• 전략자재: 핵심 공급업체와 경영진 레벨 정기 미팅</a:t>
            </a:r>
          </a:p>
          <a:p>
            <a:r>
              <a:t>• 일상자재: 표준화 및 통합 구매로 효율성 극대화</a:t>
            </a:r>
          </a:p>
          <a:p/>
          <a:p>
            <a:r>
              <a:t>교훈:</a:t>
            </a:r>
          </a:p>
          <a:p>
            <a:r>
              <a:t>Toyota의 사례는 '단기 원가 절감'보다 '장기 파트너십'이 더 큰 가치를 창출함을 보여줍니다.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8.1 핵심 요약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자재군별 차별화된 소싱 전략과 체계적 SRM으로 공급망 경쟁력을 강화합니다.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1. 소싱 전략: 자재군별 차별화된 접근 필수</a:t>
            </a:r>
          </a:p>
          <a:p>
            <a:r>
              <a:t>   • 병목: 공급 안정성 확보</a:t>
            </a:r>
          </a:p>
          <a:p>
            <a:r>
              <a:t>   • 레버리지: 경쟁 촉진 및 원가 절감</a:t>
            </a:r>
          </a:p>
          <a:p>
            <a:r>
              <a:t>   • 전략: 파트너십 구축</a:t>
            </a:r>
          </a:p>
          <a:p>
            <a:r>
              <a:t>   • 일상: 효율화 및 자동화</a:t>
            </a:r>
          </a:p>
          <a:p/>
          <a:p>
            <a:r>
              <a:t>2. SRM (Supplier Relationship Management)</a:t>
            </a:r>
          </a:p>
          <a:p>
            <a:r>
              <a:t>   체계적인 공급업체 관계 관리로 상호 가치 창출</a:t>
            </a:r>
          </a:p>
          <a:p/>
          <a:p>
            <a:r>
              <a:t>3. Scorecard</a:t>
            </a:r>
          </a:p>
          <a:p>
            <a:r>
              <a:t>   정량적 평가로 공급업체 성과 관리 및 개선 유도</a:t>
            </a:r>
          </a:p>
          <a:p/>
          <a:p>
            <a:r>
              <a:t>4. Toyota 사례</a:t>
            </a:r>
          </a:p>
          <a:p>
            <a:r>
              <a:t>   Win-Win 파트너십이 장기적 경쟁력을 만든다</a:t>
            </a:r>
          </a:p>
          <a:p/>
          <a:p>
            <a:r>
              <a:t>결론:</a:t>
            </a:r>
          </a:p>
          <a:p>
            <a:r>
              <a:t>자재군의 특성에 맞는 차별화된 소싱 전략을 수립하고, 체계적인 SRM을 통해 공급업체와 함께 성장하는 것이 지속 가능한 공급망 경쟁력의 핵심입니다.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8.2 Q&amp;A 세션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파트너십 구축 방법, 경쟁 입찰과 장기 관계의 균형, 소규모 기업의 Scorecard 운영 방안을 다룹니다.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Q1. 공급업체와 파트너십을 구축하고 싶은데, 어디서부터 시작해야 할까요?</a:t>
            </a:r>
          </a:p>
          <a:p>
            <a:r>
              <a:t>A: 3단계 접근을 추천합니다.</a:t>
            </a:r>
          </a:p>
          <a:p>
            <a:r>
              <a:t>   1. 신뢰 구축: 약속 이행, 투명한 소통, 공정한 대우</a:t>
            </a:r>
          </a:p>
          <a:p>
            <a:r>
              <a:t>   2. 정보 공유: 6~12개월 수요 예측 및 장기 계획 공유</a:t>
            </a:r>
          </a:p>
          <a:p>
            <a:r>
              <a:t>   3. 공동 목표: Win-Win 구조의 목표 설정</a:t>
            </a:r>
          </a:p>
          <a:p/>
          <a:p>
            <a:r>
              <a:t>Q2. 레버리지자재는 경쟁 입찰을 해야 한다는데, 장기 파트너십과 모순 아닌가요?</a:t>
            </a:r>
          </a:p>
          <a:p>
            <a:r>
              <a:t>A: 균형이 필요합니다.</a:t>
            </a:r>
          </a:p>
          <a:p>
            <a:r>
              <a:t>   • 핵심 레버리지자재 (Top 20%): 우수 공급업체와 장기 관계 + 정기 벤치마킹</a:t>
            </a:r>
          </a:p>
          <a:p>
            <a:r>
              <a:t>   • 일반 레버리지자재: 연 1~2회 경쟁 입찰</a:t>
            </a:r>
          </a:p>
          <a:p>
            <a:r>
              <a:t>   • 경쟁 입찰도 '최저가'가 아닌 'TCO 기반 종합 평가'</a:t>
            </a:r>
          </a:p>
          <a:p/>
          <a:p>
            <a:r>
              <a:t>Q3. 소규모 기업도 공급업체 Scorecard를 운영할 수 있을까요?</a:t>
            </a:r>
          </a:p>
          <a:p>
            <a:r>
              <a:t>A: 간소화된 버전으로 시작하세요.</a:t>
            </a:r>
          </a:p>
          <a:p>
            <a:r>
              <a:t>   • 필수 항목만: 품질 (불량률), 납기 (준수율), 가격 (시장 대비)</a:t>
            </a:r>
          </a:p>
          <a:p>
            <a:r>
              <a:t>   • 분기별 평가: 월별이 부담스러우면 분기별로</a:t>
            </a:r>
          </a:p>
          <a:p>
            <a:r>
              <a:t>   • 엑셀 활용: 고가 시스템 없이도 충분히 관리 가능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988552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000000"/>
                </a:solidFill>
                <a:latin typeface="맑은 고딕"/>
              </a:defRPr>
            </a:pPr>
            <a:r>
              <a:t>8.3 다음 회차 예고: ABC-XYZ 재고 분류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8988552" cy="27432"/>
          </a:xfrm>
          <a:prstGeom prst="rect">
            <a:avLst/>
          </a:prstGeom>
          <a:solidFill>
            <a:srgbClr val="CCCCCC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8988552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666666"/>
                </a:solidFill>
                <a:latin typeface="맑은 고딕"/>
              </a:defRPr>
            </a:pPr>
            <a:r>
              <a:t>3회차에서는 금액 기준 ABC 분석과 수요 변동성 기반 XYZ 분석을 결합한 9가지 운영 전략을 학습합니다.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1828800"/>
            <a:ext cx="7772400" cy="4114800"/>
          </a:xfrm>
          <a:prstGeom prst="roundRect">
            <a:avLst/>
          </a:prstGeom>
          <a:solidFill>
            <a:srgbClr val="E6E6E6"/>
          </a:solidFill>
          <a:ln>
            <a:solidFill>
              <a:srgbClr val="CCCC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2103120"/>
            <a:ext cx="7315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1000">
                <a:solidFill>
                  <a:srgbClr val="333333"/>
                </a:solidFill>
                <a:latin typeface="맑은 고딕"/>
              </a:defRPr>
            </a:pPr>
            <a:r>
              <a:t>3회차: ABC-XYZ 재고 분류와 운영 전략</a:t>
            </a:r>
          </a:p>
          <a:p/>
          <a:p>
            <a:r>
              <a:t>학습 주제:</a:t>
            </a:r>
          </a:p>
          <a:p>
            <a:r>
              <a:t>• ABC 분석: 금액 기준 우선순위화 방법</a:t>
            </a:r>
          </a:p>
          <a:p>
            <a:r>
              <a:t>• XYZ 분석: 수요 변동성 기반 분류</a:t>
            </a:r>
          </a:p>
          <a:p>
            <a:r>
              <a:t>• ABC-XYZ 매트릭스: 9가지 조합별 특성</a:t>
            </a:r>
          </a:p>
          <a:p>
            <a:r>
              <a:t>• 자재군별 적용 방법: Kraljic과 ABC-XYZ의 통합 활용</a:t>
            </a:r>
          </a:p>
          <a:p/>
          <a:p>
            <a:r>
              <a:t>왜 중요한가?</a:t>
            </a:r>
          </a:p>
          <a:p>
            <a:r>
              <a:t>Kraljic Matrix가 '전략적 중요도'를 기준으로 분류한다면, ABC-XYZ는 '운영 효율성'을 기준으로 분류합니다. 두 프레임워크를 결합하면 전략과 실행의 완벽한 균형을 이룰 수 있습니다.</a:t>
            </a:r>
          </a:p>
          <a:p/>
          <a:p>
            <a:r>
              <a:t>다음 회차에서 뵙겠습니다!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
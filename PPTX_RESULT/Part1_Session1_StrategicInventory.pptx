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902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8074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맑은 고딕"/>
              </a:defRPr>
            </a:pPr>
            <a:r>
              <a:t>전략적 재고운영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8074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33333"/>
                </a:solidFill>
                <a:latin typeface="맑은 고딕"/>
              </a:defRPr>
            </a:pPr>
            <a:r>
              <a:t>Kraljic Matrix와 자재계획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8074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Session 1 | 전략적 재고운영 및 자재계획수립 과정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본 과정은 Kraljic Matrix 기반으로 자재군별 차별화 전략과 계획 방법론을 체계적으로 학습합니다.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8074152" cy="594360"/>
          </a:xfrm>
          <a:prstGeom prst="rect">
            <a:avLst/>
          </a:prstGeom>
          <a:solidFill>
            <a:srgbClr val="E6E6E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1장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965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JIT → JIC 패러다임 전환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468880"/>
            <a:ext cx="80741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2장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6060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Kraljic Matrix 프레임워크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08960"/>
            <a:ext cx="8074152" cy="594360"/>
          </a:xfrm>
          <a:prstGeom prst="rect">
            <a:avLst/>
          </a:prstGeom>
          <a:solidFill>
            <a:srgbClr val="E6E6E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3장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246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차별화 전략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749039"/>
            <a:ext cx="80741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840479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4장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886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계획 방법론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389120"/>
            <a:ext cx="8074152" cy="594360"/>
          </a:xfrm>
          <a:prstGeom prst="rect">
            <a:avLst/>
          </a:prstGeom>
          <a:solidFill>
            <a:srgbClr val="E6E6E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805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5장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526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통합 KPI 프레임워크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029200"/>
            <a:ext cx="80741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1206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6장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166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산업별 적용 사례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669280"/>
            <a:ext cx="8074152" cy="594360"/>
          </a:xfrm>
          <a:prstGeom prst="rect">
            <a:avLst/>
          </a:prstGeom>
          <a:solidFill>
            <a:srgbClr val="E6E6E6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760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맑은 고딕"/>
              </a:defRPr>
            </a:pPr>
            <a:r>
              <a:t>7장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806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9회차 학습 여정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333333"/>
                </a:solidFill>
                <a:latin typeface="맑은 고딕"/>
              </a:defRPr>
            </a:pPr>
            <a:r>
              <a:t>1장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0" y="22860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맑은 고딕"/>
              </a:defRPr>
            </a:pPr>
            <a:r>
              <a:t>JIT → JIC</a:t>
            </a:r>
            <a:br/>
            <a:r>
              <a:t>패러다임 전환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474720" y="3840480"/>
            <a:ext cx="5669280" cy="0"/>
          </a:xfrm>
          <a:prstGeom prst="line">
            <a:avLst/>
          </a:prstGeom>
          <a:ln w="381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474720" y="4114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Just-In-Time에서 Just-In-Case로</a:t>
            </a:r>
            <a:br/>
            <a:r>
              <a:t>재고 관리 전략의 근본적 변화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1.1 JIT의 영광과 몰락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JIT 방식은 40년간 제조업의 표준이었으나 2020년 팬데믹으로 치명적 약점이 드러났습니다.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3200400"/>
            <a:ext cx="8595360" cy="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68680" y="1737360"/>
            <a:ext cx="822960" cy="320040"/>
          </a:xfrm>
          <a:prstGeom prst="rect">
            <a:avLst/>
          </a:prstGeom>
          <a:solidFill>
            <a:srgbClr val="33333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99" y="18105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JIT 탄생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03120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399" y="21488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기업: 도요타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395728"/>
            <a:ext cx="8229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399" y="244144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재고 50% 감소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688336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399" y="273405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기술: 칸반 시스템</a:t>
            </a:r>
          </a:p>
        </p:txBody>
      </p:sp>
      <p:sp>
        <p:nvSpPr>
          <p:cNvPr id="14" name="Oval 13"/>
          <p:cNvSpPr/>
          <p:nvPr/>
        </p:nvSpPr>
        <p:spPr>
          <a:xfrm>
            <a:off x="1170431" y="3090672"/>
            <a:ext cx="219456" cy="219456"/>
          </a:xfrm>
          <a:prstGeom prst="ellipse">
            <a:avLst/>
          </a:prstGeom>
          <a:solidFill>
            <a:srgbClr val="333333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338328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1970s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80160" y="2944368"/>
            <a:ext cx="0" cy="146304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68680" y="365760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99" y="37307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무재고 경영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023360"/>
            <a:ext cx="822960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399" y="40965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Just-In-Time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38912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399" y="44622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7대 낭비 제거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80160" y="3310128"/>
            <a:ext cx="0" cy="34747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514600" y="1737360"/>
            <a:ext cx="822960" cy="320040"/>
          </a:xfrm>
          <a:prstGeom prst="rect">
            <a:avLst/>
          </a:prstGeom>
          <a:solidFill>
            <a:srgbClr val="33333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18105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글로벌 확산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2103120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21488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기업: GM·포드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2395728"/>
            <a:ext cx="8229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244144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원가 30% 절감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2688336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0" y="273405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기술: Pull System</a:t>
            </a:r>
          </a:p>
        </p:txBody>
      </p:sp>
      <p:sp>
        <p:nvSpPr>
          <p:cNvPr id="32" name="Oval 31"/>
          <p:cNvSpPr/>
          <p:nvPr/>
        </p:nvSpPr>
        <p:spPr>
          <a:xfrm>
            <a:off x="2816352" y="3090672"/>
            <a:ext cx="219456" cy="219456"/>
          </a:xfrm>
          <a:prstGeom prst="ellipse">
            <a:avLst/>
          </a:prstGeom>
          <a:solidFill>
            <a:srgbClr val="333333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338328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1990s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926080" y="2944368"/>
            <a:ext cx="0" cy="146304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514600" y="365760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0" y="37307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미국 채택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4600" y="4023360"/>
            <a:ext cx="822960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0" y="40965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린 생산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14600" y="438912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0" y="44622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표준화 확산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926080" y="3310128"/>
            <a:ext cx="0" cy="34747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4160520" y="1737360"/>
            <a:ext cx="822960" cy="320040"/>
          </a:xfrm>
          <a:prstGeom prst="rect">
            <a:avLst/>
          </a:prstGeom>
          <a:solidFill>
            <a:srgbClr val="33333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18105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디지털화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2103120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0" y="21488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기업: 전 산업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60520" y="2395728"/>
            <a:ext cx="8229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244144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리드타임 40% 단축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60520" y="2688336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273405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기술: ERP·MES 통합</a:t>
            </a:r>
          </a:p>
        </p:txBody>
      </p:sp>
      <p:sp>
        <p:nvSpPr>
          <p:cNvPr id="50" name="Oval 49"/>
          <p:cNvSpPr/>
          <p:nvPr/>
        </p:nvSpPr>
        <p:spPr>
          <a:xfrm>
            <a:off x="4462272" y="3090672"/>
            <a:ext cx="219456" cy="219456"/>
          </a:xfrm>
          <a:prstGeom prst="ellipse">
            <a:avLst/>
          </a:prstGeom>
          <a:solidFill>
            <a:srgbClr val="333333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51960" y="338328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2000s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572000" y="2944368"/>
            <a:ext cx="0" cy="146304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160520" y="365760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06240" y="37307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실시간 가시성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60520" y="4023360"/>
            <a:ext cx="822960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06240" y="40965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자동 발주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60520" y="438912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06240" y="44622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글로벌 SCM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572000" y="3310128"/>
            <a:ext cx="0" cy="34747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5806440" y="1737360"/>
            <a:ext cx="822960" cy="320040"/>
          </a:xfrm>
          <a:prstGeom prst="rect">
            <a:avLst/>
          </a:prstGeom>
          <a:solidFill>
            <a:srgbClr val="33333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52159" y="18105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최적화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06440" y="2103120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52159" y="21488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기업: 애플·삼성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06440" y="2395728"/>
            <a:ext cx="8229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52159" y="244144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재고회전율 50회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06440" y="2688336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52159" y="273405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기술: AI 수요예측</a:t>
            </a:r>
          </a:p>
        </p:txBody>
      </p:sp>
      <p:sp>
        <p:nvSpPr>
          <p:cNvPr id="68" name="Oval 67"/>
          <p:cNvSpPr/>
          <p:nvPr/>
        </p:nvSpPr>
        <p:spPr>
          <a:xfrm>
            <a:off x="6108192" y="3090672"/>
            <a:ext cx="219456" cy="219456"/>
          </a:xfrm>
          <a:prstGeom prst="ellipse">
            <a:avLst/>
          </a:prstGeom>
          <a:solidFill>
            <a:srgbClr val="333333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97880" y="338328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2010s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217920" y="2944368"/>
            <a:ext cx="0" cy="146304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5806440" y="365760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52159" y="37307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극한 효율화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06440" y="4023360"/>
            <a:ext cx="822960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52159" y="40965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초정밀 계획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06440" y="438912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52159" y="44622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Zero Buffer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217920" y="3310128"/>
            <a:ext cx="0" cy="34747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7452360" y="1737360"/>
            <a:ext cx="822960" cy="320040"/>
          </a:xfrm>
          <a:prstGeom prst="rect">
            <a:avLst/>
          </a:prstGeom>
          <a:solidFill>
            <a:srgbClr val="33333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98079" y="181051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팬데믹 쇼크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52360" y="2103120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98079" y="21488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기업: 전 세계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52360" y="2395728"/>
            <a:ext cx="8229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98079" y="2441448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생산 80% 중단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452360" y="2688336"/>
            <a:ext cx="822960" cy="25603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98079" y="273405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기술: JIT 붕괴</a:t>
            </a:r>
          </a:p>
        </p:txBody>
      </p:sp>
      <p:sp>
        <p:nvSpPr>
          <p:cNvPr id="86" name="Oval 85"/>
          <p:cNvSpPr/>
          <p:nvPr/>
        </p:nvSpPr>
        <p:spPr>
          <a:xfrm>
            <a:off x="7754112" y="3090672"/>
            <a:ext cx="219456" cy="219456"/>
          </a:xfrm>
          <a:prstGeom prst="ellipse">
            <a:avLst/>
          </a:prstGeom>
          <a:solidFill>
            <a:srgbClr val="333333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43800" y="338328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2020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7863840" y="2944368"/>
            <a:ext cx="0" cy="146304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7452360" y="365760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498079" y="37307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공급망 마비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52360" y="4023360"/>
            <a:ext cx="822960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498079" y="40965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재고 부족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452360" y="4389120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498079" y="44622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JIC 전환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7863840" y="3310128"/>
            <a:ext cx="0" cy="347472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822960" y="5760720"/>
            <a:ext cx="1645920" cy="59436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68680" y="580644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혁신 기간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68680" y="60167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1970-2010</a:t>
            </a:r>
            <a:br/>
            <a:r>
              <a:t>40년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542032" y="576072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587752" y="580644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효과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587752" y="60167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재고 50%↓</a:t>
            </a:r>
            <a:br/>
            <a:r>
              <a:t>원가 30%↓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261104" y="5760720"/>
            <a:ext cx="1645920" cy="59436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306824" y="580644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확산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306824" y="60167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전 산업</a:t>
            </a:r>
            <a:br/>
            <a:r>
              <a:t>글로벌 표준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980176" y="576072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025896" y="580644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붕괴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25896" y="60167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2020 팬데믹</a:t>
            </a:r>
            <a:br/>
            <a:r>
              <a:t>1개월 마비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699248" y="5760720"/>
            <a:ext cx="1645920" cy="59436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744968" y="5806440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전환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744968" y="60167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JIT → JIC</a:t>
            </a:r>
            <a:br/>
            <a:r>
              <a:t>안전재고 확보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1.2 팬데믹이 드러낸 JIT의 약점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글로벌 공급망 마비로 JIT의 3대 위험(재고 부족, 공급 중단, 생산 마비)이 현실화되었습니다.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200400"/>
            <a:ext cx="2011680" cy="640080"/>
          </a:xfrm>
          <a:prstGeom prst="rect">
            <a:avLst/>
          </a:prstGeom>
          <a:solidFill>
            <a:srgbClr val="333333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3364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2020 팬데믹</a:t>
            </a:r>
            <a:br/>
            <a:r>
              <a:t>글로벌 공급망 마비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828800" cy="123444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재고 부족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76272"/>
            <a:ext cx="9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7627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안전재고 제로: 버퍼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59152"/>
            <a:ext cx="9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5915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즉시 결품: 1주 내 품절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542032"/>
            <a:ext cx="9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4203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생산 차질: 라인 가동률 50%↓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724912"/>
            <a:ext cx="9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2491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긴급 조달 실패: 대체품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907792"/>
            <a:ext cx="9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90779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재고 비용 급증: 3배 증가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2446020"/>
            <a:ext cx="365760" cy="107442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48640" y="4297680"/>
            <a:ext cx="1828800" cy="123444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708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공급 중단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645152"/>
            <a:ext cx="9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4515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단일 공급원: 중국 의존 80%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828032"/>
            <a:ext cx="9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2803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대체 불가: 인증 기간 6개월+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010912"/>
            <a:ext cx="9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01091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물류 마비: 항공편 90%↓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193792"/>
            <a:ext cx="9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9379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가격 폭등: 5-10배 인상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376672"/>
            <a:ext cx="9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37667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조달 리드타임: 2주→8주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2377440" y="3520440"/>
            <a:ext cx="365760" cy="139446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212080" y="2834640"/>
            <a:ext cx="1828800" cy="146304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0" y="290779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생산 마비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21808" y="3182112"/>
            <a:ext cx="9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318211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라인 중단: 평균 3주 정지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1808" y="3364992"/>
            <a:ext cx="9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336499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가동률 하락: 30-40%로 급락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1808" y="3547872"/>
            <a:ext cx="9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54787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납기 지연: 2-3개월 밀림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21808" y="3730752"/>
            <a:ext cx="9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3075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매출 손실: 월 평균 20억원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21808" y="3913632"/>
            <a:ext cx="9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391363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인력 유휴: 40% 휴업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21808" y="4096512"/>
            <a:ext cx="9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096512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고객 이탈: 15% 증가</a:t>
            </a:r>
          </a:p>
        </p:txBody>
      </p:sp>
      <p:cxnSp>
        <p:nvCxnSpPr>
          <p:cNvPr id="47" name="Connector 46"/>
          <p:cNvCxnSpPr/>
          <p:nvPr/>
        </p:nvCxnSpPr>
        <p:spPr>
          <a:xfrm flipH="1" flipV="1">
            <a:off x="4754880" y="3520440"/>
            <a:ext cx="457200" cy="45720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040880" y="1783080"/>
            <a:ext cx="2377440" cy="320040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0" y="18288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2020년 위기 진행 타임라인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0" y="2240280"/>
            <a:ext cx="365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59752" y="2276856"/>
            <a:ext cx="310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1월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59752" y="2441448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우한 봉쇄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25512" y="2240280"/>
            <a:ext cx="365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52944" y="2276856"/>
            <a:ext cx="310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2월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52944" y="2441448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중국 공장 중단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18704" y="2240280"/>
            <a:ext cx="365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46136" y="2276856"/>
            <a:ext cx="310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3월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46136" y="2441448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글로벌 확산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11896" y="2240280"/>
            <a:ext cx="365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39327" y="2276856"/>
            <a:ext cx="310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4월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39327" y="2441448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항공편 90%↓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05088" y="2240280"/>
            <a:ext cx="365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32519" y="2276856"/>
            <a:ext cx="310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5월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32519" y="2441448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반도체 부족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98280" y="2240280"/>
            <a:ext cx="365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25711" y="2276856"/>
            <a:ext cx="310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6월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25711" y="2441448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자동차 감산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132320" y="2770632"/>
            <a:ext cx="365760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59752" y="2807208"/>
            <a:ext cx="310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7월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59752" y="2971800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2차 확산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25512" y="2770632"/>
            <a:ext cx="365760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52944" y="2807208"/>
            <a:ext cx="310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8월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52944" y="2971800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해운 마비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18704" y="2770632"/>
            <a:ext cx="365760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46136" y="2807208"/>
            <a:ext cx="310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9월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46136" y="2971800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부품 품귀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11896" y="2770632"/>
            <a:ext cx="365760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39327" y="2807208"/>
            <a:ext cx="310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10월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39327" y="2971800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생산 지연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705088" y="2770632"/>
            <a:ext cx="365760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32519" y="2807208"/>
            <a:ext cx="310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11월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32519" y="2971800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백신 개발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98280" y="2770632"/>
            <a:ext cx="365760" cy="45720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25711" y="2807208"/>
            <a:ext cx="310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12월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25711" y="2971800"/>
            <a:ext cx="310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점진 회복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40880" y="3438144"/>
            <a:ext cx="237744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32320" y="346557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산업별 피해 통계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40880" y="3785616"/>
            <a:ext cx="2377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086600" y="3831336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자동차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86600" y="3986784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반도체 부족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03920" y="3895344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생산 -28%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040880" y="4224528"/>
            <a:ext cx="2377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086600" y="4270248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전자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86600" y="4425696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부품 결품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03920" y="4334256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출시 3개월 지연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040880" y="4663440"/>
            <a:ext cx="2377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086600" y="4709160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의료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86600" y="4864608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PPE 부족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03920" y="477316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가격 10배↑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040880" y="5102352"/>
            <a:ext cx="2377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086600" y="5148072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식품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86600" y="5303520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포장재 부족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503920" y="521208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가동률 60%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40880" y="5541264"/>
            <a:ext cx="2377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086600" y="5586984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항공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086600" y="5742432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수요 급감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503920" y="5650992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운항 -95%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040880" y="5980176"/>
            <a:ext cx="2377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086600" y="6025896"/>
            <a:ext cx="502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물류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086600" y="6181344"/>
            <a:ext cx="1371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컨테이너 부족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503920" y="6089904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운임 5배↑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22960" y="5943600"/>
            <a:ext cx="2103120" cy="54864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68680" y="5989320"/>
            <a:ext cx="2011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위기 기간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68680" y="6199632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2020.1-2021.6</a:t>
            </a:r>
            <a:br/>
            <a:r>
              <a:t>18개월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017520" y="5943600"/>
            <a:ext cx="2103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063239" y="5989320"/>
            <a:ext cx="2011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경제 손실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063239" y="6199632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글로벌 GDP</a:t>
            </a:r>
            <a:br/>
            <a:r>
              <a:t>-3.5%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212080" y="5943600"/>
            <a:ext cx="2103120" cy="54864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257800" y="5989320"/>
            <a:ext cx="2011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공급망 타격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257800" y="6199632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생산 차질</a:t>
            </a:r>
            <a:br/>
            <a:r>
              <a:t>70% 기업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406640" y="5943600"/>
            <a:ext cx="2103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452360" y="5989320"/>
            <a:ext cx="20116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전환 동인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52360" y="6199632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JIT → JIC</a:t>
            </a:r>
            <a:br/>
            <a:r>
              <a:t>안전재고 필수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1.3 JIT vs JIC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JIT는 원가 절감에, JIC는 공급 안정성에 초점을 맞춰 서로 다른 리스크 환경에 대응합니다.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114800" cy="411480"/>
          </a:xfrm>
          <a:prstGeom prst="rect">
            <a:avLst/>
          </a:prstGeom>
          <a:solidFill>
            <a:srgbClr val="66666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JIT (Just-In-Time)</a:t>
            </a:r>
            <a:br/>
            <a:r>
              <a:t>적시생산 방식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4983480" y="1828800"/>
            <a:ext cx="4114800" cy="411480"/>
          </a:xfrm>
          <a:prstGeom prst="rect">
            <a:avLst/>
          </a:prstGeom>
          <a:solidFill>
            <a:srgbClr val="333333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74920" y="19019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JIC (Just-In-Case)</a:t>
            </a:r>
            <a:br/>
            <a:r>
              <a:t>만일 대비 방식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" y="2331720"/>
            <a:ext cx="54864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" y="2468879"/>
            <a:ext cx="512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31720"/>
            <a:ext cx="4114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359151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359151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원가 절감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4871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48716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재고 최소화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61518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615184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효율성 극대화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80" y="2331720"/>
            <a:ext cx="411480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6632" y="2359151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2359151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공급 안정성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24871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248716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리스크 완화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261518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4648" y="2615184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연속성 보장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2788920"/>
            <a:ext cx="54864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" y="2926079"/>
            <a:ext cx="512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재고 정책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2788920"/>
            <a:ext cx="4114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2816351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2816351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Zero 재고 추구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29443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294436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일일 납품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307238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072384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버퍼 없음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2788920"/>
            <a:ext cx="411480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56632" y="2816351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4648" y="2816351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안전재고 확보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56632" y="29443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84648" y="294436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2-3개월 버퍼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56632" y="307238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4648" y="3072384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다단계 재고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" y="3246120"/>
            <a:ext cx="54864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" y="3383279"/>
            <a:ext cx="512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공급업체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3246120"/>
            <a:ext cx="4114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3273551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" y="3273551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단일 공급원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34015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" y="340156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장기 고정 계약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" y="352958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" y="3529584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긴밀한 협업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83480" y="3246120"/>
            <a:ext cx="411480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56632" y="3273551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84648" y="3273551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복수 공급원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56632" y="34015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84648" y="340156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유연한 계약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56632" y="352958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84648" y="3529584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다변화 전략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" y="3703320"/>
            <a:ext cx="54864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9728" y="3840480"/>
            <a:ext cx="512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리스크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3703320"/>
            <a:ext cx="4114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2" y="37307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" y="3730752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공급 중단 취약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2" y="38587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" y="385876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수요 변동 취약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2" y="398678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8" y="3986783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재해 대응 어려움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83480" y="3703320"/>
            <a:ext cx="411480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56632" y="37307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84648" y="3730752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공급 중단 대비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56632" y="38587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84648" y="385876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수요 변동 흡수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56632" y="398678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84648" y="3986783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재해 대응 가능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" y="4160520"/>
            <a:ext cx="54864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9728" y="4297680"/>
            <a:ext cx="512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원가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1520" y="4160520"/>
            <a:ext cx="4114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4672" y="41879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2688" y="4187952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재고 비용 최소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4672" y="43159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2688" y="431596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보관 비용 zero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4672" y="444398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2688" y="4443983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자본 효율 최대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983480" y="4160520"/>
            <a:ext cx="411480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56632" y="41879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84648" y="4187952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재고 비용 증가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56632" y="43159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84648" y="431596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보관 비용 20%↑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56632" y="444398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84648" y="4443983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자본 고정 증가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1440" y="4617720"/>
            <a:ext cx="54864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9728" y="4754880"/>
            <a:ext cx="512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리드타임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1520" y="4617720"/>
            <a:ext cx="4114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4672" y="46451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2688" y="4645152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짧은 LT 필수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4672" y="47731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32688" y="477316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1-3일 납품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4672" y="490118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32688" y="4901183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즉시 대응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983480" y="4617720"/>
            <a:ext cx="411480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56632" y="46451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84648" y="4645152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긴 LT 허용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056632" y="47731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184648" y="477316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1-2주 가능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56632" y="490118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84648" y="4901183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계획적 대응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1440" y="5074920"/>
            <a:ext cx="54864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9728" y="5212080"/>
            <a:ext cx="512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수요 대응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31520" y="5074920"/>
            <a:ext cx="4114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04672" y="51023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32688" y="5102352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예측 정확성 필수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4672" y="52303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32688" y="523036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변동 흡수 어려움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04672" y="535838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32688" y="5358383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긴급 대응 불가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983480" y="5074920"/>
            <a:ext cx="411480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056632" y="51023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184648" y="5102352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예측 오차 흡수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056632" y="52303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184648" y="523036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변동 흡수 가능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056632" y="535838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84648" y="5358383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긴급 대응 가능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1440" y="5532120"/>
            <a:ext cx="54864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9728" y="5669280"/>
            <a:ext cx="512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적합 환경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31520" y="5532120"/>
            <a:ext cx="4114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04672" y="55595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32688" y="5559552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안정적 공급망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04672" y="56875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32688" y="568756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예측 가능 수요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04672" y="581558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32688" y="5815583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낮은 리스크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983480" y="5532120"/>
            <a:ext cx="411480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056632" y="55595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184648" y="5559552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불안정 공급망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056632" y="56875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184648" y="568756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변동성 높은 수요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056632" y="581558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184648" y="5815583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높은 리스크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1440" y="5989320"/>
            <a:ext cx="54864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9728" y="6126480"/>
            <a:ext cx="512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대표 기업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31520" y="5989320"/>
            <a:ext cx="41148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04672" y="60167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32688" y="6016752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Toyota (2019)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04672" y="61447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32688" y="614476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Honda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04672" y="627278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32688" y="6272783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Dell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983480" y="5989320"/>
            <a:ext cx="411480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056632" y="60167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184648" y="6016752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Toyota (2022)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056632" y="61447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184648" y="6144768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Apple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56632" y="627278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184648" y="6272783"/>
            <a:ext cx="3840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Samsung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31520" y="5943600"/>
            <a:ext cx="2880360" cy="50292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77240" y="5989320"/>
            <a:ext cx="2788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JIT 시대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77240" y="6199632"/>
            <a:ext cx="2788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1970-2019</a:t>
            </a:r>
            <a:br/>
            <a:r>
              <a:t>효율 중심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685032" y="5943600"/>
            <a:ext cx="2880360" cy="502920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730752" y="5989320"/>
            <a:ext cx="2788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전환점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730752" y="6199632"/>
            <a:ext cx="2788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2020 팬데믹</a:t>
            </a:r>
            <a:br/>
            <a:r>
              <a:t>공급망 붕괴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638544" y="5943600"/>
            <a:ext cx="2880360" cy="502920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684264" y="5989320"/>
            <a:ext cx="2788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JIC 시대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684264" y="6199632"/>
            <a:ext cx="2788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2020-현재</a:t>
            </a:r>
            <a:br/>
            <a:r>
              <a:t>안정성 중심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1.4 JIC 채택 기업들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팬데믹 이후 글로벌 제조사들은 JIC로 전환하여 안전재고와 다변화 전략을 채택했습니다.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4114800" cy="86868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4114800" cy="256032"/>
          </a:xfrm>
          <a:prstGeom prst="rect">
            <a:avLst/>
          </a:prstGeom>
          <a:solidFill>
            <a:srgbClr val="66666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Toyota (자동차)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Before: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21408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단일 공급원 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After: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86000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복수 공급원 60%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450592"/>
            <a:ext cx="39319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87168"/>
            <a:ext cx="3840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재고일수: 5일 → 45일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59" y="182880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66359" y="1828800"/>
            <a:ext cx="4114800" cy="256032"/>
          </a:xfrm>
          <a:prstGeom prst="rect">
            <a:avLst/>
          </a:prstGeom>
          <a:solidFill>
            <a:srgbClr val="66666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799" y="1874519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Apple (전자)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799" y="2121408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Before: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121408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중국 집중 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799" y="2286000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After: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286000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아시아 다변화 65%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57799" y="2450592"/>
            <a:ext cx="3931920" cy="201168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2487168"/>
            <a:ext cx="3840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주요 부품 3개월 재고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770632"/>
            <a:ext cx="4114800" cy="86868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2770632"/>
            <a:ext cx="4114800" cy="256032"/>
          </a:xfrm>
          <a:prstGeom prst="rect">
            <a:avLst/>
          </a:prstGeom>
          <a:solidFill>
            <a:srgbClr val="66666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816352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Samsung (전자)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063240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Before: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063240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JIT 전면 적용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227832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After: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227832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전략자재 JIC 전환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3392424"/>
            <a:ext cx="39319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429000"/>
            <a:ext cx="3840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반도체 8주 버퍼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6359" y="2770632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66359" y="2770632"/>
            <a:ext cx="4114800" cy="256032"/>
          </a:xfrm>
          <a:prstGeom prst="rect">
            <a:avLst/>
          </a:prstGeom>
          <a:solidFill>
            <a:srgbClr val="66666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57799" y="2816352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Intel (반도체)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799" y="3063240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Before: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3063240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단일 소싱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799" y="3227832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After: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3227832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듀얼 소싱 원칙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57799" y="3392424"/>
            <a:ext cx="3931920" cy="201168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0" y="3429000"/>
            <a:ext cx="3840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원자재 10주 재고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3712464"/>
            <a:ext cx="4114800" cy="86868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712464"/>
            <a:ext cx="4114800" cy="256032"/>
          </a:xfrm>
          <a:prstGeom prst="rect">
            <a:avLst/>
          </a:prstGeom>
          <a:solidFill>
            <a:srgbClr val="66666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3758184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Ford (자동차)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005072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Before: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4005072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일일 납품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4169664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After: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4169664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주간 납품 + 버퍼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" y="4334256"/>
            <a:ext cx="39319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4370832"/>
            <a:ext cx="3840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핵심 부품 6주 재고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66359" y="3712464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66359" y="3712464"/>
            <a:ext cx="4114800" cy="256032"/>
          </a:xfrm>
          <a:prstGeom prst="rect">
            <a:avLst/>
          </a:prstGeom>
          <a:solidFill>
            <a:srgbClr val="66666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57799" y="3758184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Volkswagen (자동차)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57799" y="4005072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Before: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06440" y="4005072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EU 중심 소싱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57799" y="4169664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After: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06440" y="4169664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글로벌 다변화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57799" y="4334256"/>
            <a:ext cx="3931920" cy="201168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03520" y="4370832"/>
            <a:ext cx="3840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반도체 12주 확보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4654296"/>
            <a:ext cx="4114800" cy="86868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1520" y="4654296"/>
            <a:ext cx="4114800" cy="256032"/>
          </a:xfrm>
          <a:prstGeom prst="rect">
            <a:avLst/>
          </a:prstGeom>
          <a:solidFill>
            <a:srgbClr val="66666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4700016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Dell (전자)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4946904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Before: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1600" y="4946904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JIT 선구자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5111496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After: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1600" y="5111496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하이브리드 전환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" y="5276088"/>
            <a:ext cx="39319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8680" y="5312664"/>
            <a:ext cx="3840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CPU 4주 재고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66359" y="4654296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166359" y="4654296"/>
            <a:ext cx="4114800" cy="256032"/>
          </a:xfrm>
          <a:prstGeom prst="rect">
            <a:avLst/>
          </a:prstGeom>
          <a:solidFill>
            <a:srgbClr val="66666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57799" y="4700016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Nike (의류)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57799" y="4946904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Before: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06440" y="4946904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베트남 집중 70%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57799" y="5111496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After: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06440" y="5111496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5개국 분산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57799" y="5276088"/>
            <a:ext cx="3931920" cy="201168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03520" y="5312664"/>
            <a:ext cx="3840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원자재 8주 버퍼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5596128"/>
            <a:ext cx="4114800" cy="86868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1520" y="5596128"/>
            <a:ext cx="4114800" cy="256032"/>
          </a:xfrm>
          <a:prstGeom prst="rect">
            <a:avLst/>
          </a:prstGeom>
          <a:solidFill>
            <a:srgbClr val="66666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2960" y="5641848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Airbus (항공)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2960" y="5888736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Before: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71600" y="5888736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장기 고정 계약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" y="6053328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After: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371600" y="6053328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유연한 계약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2960" y="6217920"/>
            <a:ext cx="39319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68680" y="6254496"/>
            <a:ext cx="3840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주요 부품 16주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166359" y="5596128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166359" y="5596128"/>
            <a:ext cx="4114800" cy="256032"/>
          </a:xfrm>
          <a:prstGeom prst="rect">
            <a:avLst/>
          </a:prstGeom>
          <a:solidFill>
            <a:srgbClr val="66666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257799" y="5641848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Siemens (산업재)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57799" y="5888736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Before: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06440" y="5888736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단일 물류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57799" y="6053328"/>
            <a:ext cx="502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After: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06440" y="6053328"/>
            <a:ext cx="3383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다경로 물류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257799" y="6217920"/>
            <a:ext cx="3931920" cy="201168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03520" y="6254496"/>
            <a:ext cx="3840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전략자재 20주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31520" y="6263640"/>
            <a:ext cx="2148840" cy="45720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77240" y="6309359"/>
            <a:ext cx="2057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전환 기업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7240" y="6483096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글로벌 Top 100</a:t>
            </a:r>
            <a:br/>
            <a:r>
              <a:t>80% 전환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71800" y="6263640"/>
            <a:ext cx="2148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017520" y="6309359"/>
            <a:ext cx="2057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재고 증가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017520" y="6483096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안전재고</a:t>
            </a:r>
            <a:br/>
            <a:r>
              <a:t>평균 8주 확보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212080" y="6263640"/>
            <a:ext cx="2148840" cy="457200"/>
          </a:xfrm>
          <a:prstGeom prst="rect">
            <a:avLst/>
          </a:prstGeom>
          <a:solidFill>
            <a:srgbClr val="E6E6E6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257800" y="6309359"/>
            <a:ext cx="2057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공급원 다변화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257800" y="6483096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복수 공급원</a:t>
            </a:r>
            <a:br/>
            <a:r>
              <a:t>60% 이상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452360" y="6263640"/>
            <a:ext cx="2148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498080" y="6309359"/>
            <a:ext cx="2057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투자 규모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98080" y="6483096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재고 비용</a:t>
            </a:r>
            <a:br/>
            <a:r>
              <a:t>30-50% 증가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0"/>
            <a:ext cx="8961120" cy="2286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33333"/>
                </a:solidFill>
                <a:latin typeface="맑은 고딕"/>
              </a:defRPr>
            </a:pPr>
            <a:r>
              <a:t>2장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맑은 고딕"/>
              </a:defRPr>
            </a:pPr>
            <a:r>
              <a:t>Kraljic Matrix 프레임워크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97680"/>
            <a:ext cx="3474720" cy="45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2.1 Kraljic Matrix 탄생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1983년 Peter Kraljic이 개발한 2×2 매트릭스는 자재 특성에 따른 차별화 전략의 기초가 되었습니다.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943600" cy="320040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Kraljic Matrix 발전 타임라인 (1983-현재)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822960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4086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1983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2286000"/>
            <a:ext cx="2011680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3408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HBR 논문 발표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2651760"/>
            <a:ext cx="91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51760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Peter Kraljic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072" y="2770632"/>
            <a:ext cx="91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770632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Purchasing Must Become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2889503"/>
            <a:ext cx="91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89503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Supply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2286000"/>
            <a:ext cx="27432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249631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2×2 매트릭스 최초 제안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2926080"/>
            <a:ext cx="0" cy="73152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31520" y="2999232"/>
            <a:ext cx="822960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054096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1985-90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0" y="2999232"/>
            <a:ext cx="2011680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7360" y="305409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학계 확산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19072" y="3364991"/>
            <a:ext cx="91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364991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이론 정립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3483863"/>
            <a:ext cx="91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483863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실증 연구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19072" y="3602735"/>
            <a:ext cx="91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602735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교육 과정 포함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2999232"/>
            <a:ext cx="27432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320954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MBA 필수 교육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43000" y="3639311"/>
            <a:ext cx="0" cy="73152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31520" y="3712463"/>
            <a:ext cx="822960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767327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1990-2000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20" y="3712463"/>
            <a:ext cx="2011680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37360" y="3767327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산업 적용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19072" y="4078224"/>
            <a:ext cx="91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4078224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Fortune 500 채택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19072" y="4197096"/>
            <a:ext cx="91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4197096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자동차·전자 확산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19072" y="4315968"/>
            <a:ext cx="91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4315968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컨설팅 방법론화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39" y="3712463"/>
            <a:ext cx="27432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0" y="3922775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글로벌 표준 확립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43000" y="4352544"/>
            <a:ext cx="0" cy="73152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31520" y="4425696"/>
            <a:ext cx="822960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480559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2000-2010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45920" y="4425696"/>
            <a:ext cx="2011680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737360" y="4480559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디지털화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19072" y="4791456"/>
            <a:ext cx="91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791456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ERP 통합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19072" y="4910328"/>
            <a:ext cx="91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4910328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자동 분류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19072" y="5029200"/>
            <a:ext cx="91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28800" y="5029200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데이터 기반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49039" y="4425696"/>
            <a:ext cx="27432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40480" y="463600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시스템 자동화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143000" y="5065776"/>
            <a:ext cx="0" cy="73152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31520" y="5138928"/>
            <a:ext cx="822960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519379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2010-2020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0" y="5138928"/>
            <a:ext cx="2011680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37360" y="519379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고도화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19072" y="5504688"/>
            <a:ext cx="91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28800" y="5504688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AI/ML 접목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19072" y="5623560"/>
            <a:ext cx="91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0" y="5623560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동적 분류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19072" y="5742432"/>
            <a:ext cx="91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28800" y="5742432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실시간 모니터링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49039" y="5138928"/>
            <a:ext cx="27432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840480" y="534924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지능형 SCM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143000" y="5779008"/>
            <a:ext cx="0" cy="73152"/>
          </a:xfrm>
          <a:prstGeom prst="line">
            <a:avLst/>
          </a:prstGeom>
          <a:ln w="254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731520" y="5852160"/>
            <a:ext cx="822960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7240" y="5907024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2020-현재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45920" y="5852160"/>
            <a:ext cx="2011680" cy="32004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737360" y="590702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맑은 고딕"/>
              </a:defRPr>
            </a:pPr>
            <a:r>
              <a:t>리스크 관리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19072" y="6217920"/>
            <a:ext cx="91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28800" y="6217920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공급망 탄력성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19072" y="6336792"/>
            <a:ext cx="91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28800" y="6336792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리스크 지표 강화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19072" y="6455664"/>
            <a:ext cx="91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28800" y="6455664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시나리오 분석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749039" y="5852160"/>
            <a:ext cx="27432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840480" y="606247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필수 프레임워크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858000" y="1828800"/>
            <a:ext cx="256032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49440" y="1865376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시사점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31152" y="2194560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59168" y="2194560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40년간 검증된 프레임워크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31152" y="2377440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59168" y="2377440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학계와 산업계 공동 인정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31152" y="2560320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59168" y="2560320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시대 변화에 따라 진화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31152" y="2743200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59168" y="2743200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현재까지 가장 널리 사용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31152" y="2926080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59168" y="2926080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디지털 시대에도 유효성 입증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858000" y="3246120"/>
            <a:ext cx="2560320" cy="274320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949440" y="3282696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핵심 개념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931152" y="3611880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059168" y="3611880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차별화: 획일적 관리 탈피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31152" y="3794760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59168" y="3794760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2차원 분석: 리스크 × 임팩트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931152" y="3977640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59168" y="3977640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4사분면: 전략·레버리지·병목·일상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31152" y="4160520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059168" y="4160520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맞춤 전략: 자재군별 최적화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931152" y="4343400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059168" y="4343400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동적 관리: 지속적 재분류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58000" y="4663440"/>
            <a:ext cx="256032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949440" y="4700016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적용 현황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931152" y="5029200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059168" y="5029200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Fortune 500: 95% 사용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931152" y="5212080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059168" y="5212080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제조업: 필수 방법론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931152" y="5394960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059168" y="5394960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공공 조달: 정부 채택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931152" y="5577840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059168" y="5577840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교육: MBA 핵심 과목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931152" y="5760720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059168" y="5760720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인증: APICS/ISM 포함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2.2 2×2 매트릭스의 두 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공급 리스크(X축)와 구매 임팩트(Y축) 두 기준으로 자재를 4개 군으로 분류합니다.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011680"/>
            <a:ext cx="0" cy="402336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7830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구매 임팩트 (Y축)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286000"/>
            <a:ext cx="1097280" cy="64008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매우 높음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05456"/>
            <a:ext cx="10058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연매출 10%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7004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100억원+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2606040"/>
            <a:ext cx="137160" cy="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143000" y="3108960"/>
            <a:ext cx="1097280" cy="64008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154679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328415"/>
            <a:ext cx="10058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연매출 5-10%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9300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50-100억원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5840" y="3429000"/>
            <a:ext cx="137160" cy="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143000" y="3931920"/>
            <a:ext cx="1097280" cy="64008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977639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51376"/>
            <a:ext cx="10058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연매출 2-5%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1596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10-50억원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05840" y="4251959"/>
            <a:ext cx="137160" cy="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43000" y="4754880"/>
            <a:ext cx="1097280" cy="64008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800600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974336"/>
            <a:ext cx="10058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연매출 1-2%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13892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5-10억원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5840" y="5074920"/>
            <a:ext cx="137160" cy="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143000" y="5577840"/>
            <a:ext cx="1097280" cy="640080"/>
          </a:xfrm>
          <a:prstGeom prst="rect">
            <a:avLst/>
          </a:prstGeom>
          <a:solidFill>
            <a:srgbClr val="E6E6E6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623559"/>
            <a:ext cx="1005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매우 낮음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797296"/>
            <a:ext cx="10058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연매출 1% 미만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96188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5억원 이하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05840" y="5897879"/>
            <a:ext cx="137160" cy="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560320" y="6126480"/>
            <a:ext cx="4114800" cy="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09359" y="62636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  <a:latin typeface="맑은 고딕"/>
              </a:defRPr>
            </a:pPr>
            <a:r>
              <a:t>공급 리스크 (X축)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5166360"/>
            <a:ext cx="731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65960" y="5212080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매우 낮음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4132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공급원 10개+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68756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선택 다양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286000" y="5989320"/>
            <a:ext cx="0" cy="13716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2743200" y="5166360"/>
            <a:ext cx="731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88920" y="5212080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54132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공급원 5-10개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8920" y="568756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대체 용이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108960" y="5989320"/>
            <a:ext cx="0" cy="13716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566160" y="5166360"/>
            <a:ext cx="731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11879" y="5212080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79" y="54132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공급원 3-5개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1879" y="568756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대체 가능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931920" y="5989320"/>
            <a:ext cx="0" cy="13716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389120" y="5166360"/>
            <a:ext cx="731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4840" y="5212080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34840" y="54132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공급원 1-2개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34840" y="568756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대체 어려움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754880" y="5989320"/>
            <a:ext cx="0" cy="13716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5212080" y="5166360"/>
            <a:ext cx="7315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57800" y="5212080"/>
            <a:ext cx="640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매우 높음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57800" y="541324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  <a:latin typeface="맑은 고딕"/>
              </a:defRPr>
            </a:pPr>
            <a:r>
              <a:t>공급원 1개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57800" y="5687568"/>
            <a:ext cx="640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맑은 고딕"/>
              </a:defRPr>
            </a:pPr>
            <a:r>
              <a:t>대체 불가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577840" y="5989320"/>
            <a:ext cx="0" cy="13716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6858000" y="1828800"/>
            <a:ext cx="256032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49440" y="1865376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구매 임팩트 평가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31152" y="2194560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59168" y="2194560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연간 구매 금액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31152" y="2368296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59168" y="2368296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매출 대비 비중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31152" y="2542032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59168" y="2542032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수익성 영향도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31152" y="2715768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59168" y="2715768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전략적 중요도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31152" y="2889503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59168" y="2889503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대체 비용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31152" y="3063239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59168" y="3063239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품질 영향도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58000" y="3346703"/>
            <a:ext cx="2560320" cy="274320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49440" y="3383279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공급 리스크 평가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31152" y="3712463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59168" y="3712463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공급업체 수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31152" y="3886200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59168" y="3886200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대체 가능성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31152" y="4059936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59168" y="4059936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납기 리드타임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31152" y="4233672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59168" y="4233672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품질 안정성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31152" y="4407408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59168" y="4407408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지역 집중도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31152" y="4581144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59168" y="4581144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기술 의존도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58000" y="4864608"/>
            <a:ext cx="2560320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949440" y="4901184"/>
            <a:ext cx="2377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측정 방법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31152" y="5230368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59168" y="5230368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정량 데이터: ERP 추출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31152" y="5404104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59168" y="5404104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정성 평가: 전문가 점수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31152" y="5577840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59168" y="5577840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가중치 적용: 중요도 반영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31152" y="5751576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059168" y="5751576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스코어링: 0-100점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931152" y="5925312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59168" y="5925312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매트릭스 매핑: 자동 분류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31152" y="6099048"/>
            <a:ext cx="1097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59168" y="6099048"/>
            <a:ext cx="22677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주기적 재평가: 분기/반기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2.3 Kraljic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Kraljic Matrix는 공급 리스크와 구매 금액을 기준으로 자재를 4개 군으로 분류하여 차별화 전략을 수립합니다.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731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맑은 고딕"/>
              </a:defRPr>
            </a:pPr>
            <a:r>
              <a:t>구매 임팩트</a:t>
            </a:r>
            <a:br/>
            <a:r>
              <a:t>(Purchase Impact)</a:t>
            </a:r>
            <a:br/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778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맑은 고딕"/>
              </a:defRPr>
            </a:pPr>
            <a:r>
              <a:t>공급 리스크 (Supply Risk) 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920240"/>
            <a:ext cx="3383280" cy="1691640"/>
          </a:xfrm>
          <a:prstGeom prst="rect">
            <a:avLst/>
          </a:prstGeom>
          <a:solidFill>
            <a:srgbClr val="8E44AD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59" y="1993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전략자재 (Strategic)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6048" y="228600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5776" y="228600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특성: 고리스크 + 고임팩트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235458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65776" y="235458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공급원: 소수 (1-3개)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242316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5776" y="242316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구매금액: 매출 10% 이상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249174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249174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사례: 반도체, 핵심 원자재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2560320"/>
            <a:ext cx="316382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--- 전략 ---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265176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265176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장기 파트너십 구축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272034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6" y="272034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협력적 관계 강화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278892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5776" y="278892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공동 기술 개발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285750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5776" y="285750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리스크 공유 계약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2926080"/>
            <a:ext cx="316382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--- 계획 ---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301752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301752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하이브리드: LTP + MRP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308610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65776" y="308610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예측 + 수요 결합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6048" y="315468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65776" y="315468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전략적 안전재고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6048" y="3223260"/>
            <a:ext cx="316382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--- KPI ---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56048" y="331470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65776" y="331470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공급 안정성 95%+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6048" y="338328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65776" y="338328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품질 불량률 0.1% 이하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56048" y="345186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65776" y="345186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납기 준수율 98%+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56048" y="352044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5776" y="352044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협력 지수 4.5/5.0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" y="1920240"/>
            <a:ext cx="3383280" cy="1691640"/>
          </a:xfrm>
          <a:prstGeom prst="rect">
            <a:avLst/>
          </a:prstGeom>
          <a:solidFill>
            <a:srgbClr val="E67E2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63040" y="1993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병목자재 (Bottleneck)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81328" y="228600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91056" y="228600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특성: 고리스크 + 저임팩트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81328" y="235458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91056" y="235458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공급원: 매우 소수 (1-2개)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81328" y="242316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91056" y="242316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구매금액: 매출 2% 미만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81328" y="249174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91056" y="249174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사례: 특수 부품, 인증 자재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81328" y="2560320"/>
            <a:ext cx="316382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--- 전략 ---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81328" y="265176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91056" y="265176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공급 안정성 최우선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81328" y="272034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91056" y="272034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안전재고 충분 확보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81328" y="278892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91056" y="278892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대체품 개발 추진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81328" y="285750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91056" y="285750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복수 공급원 발굴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81328" y="2926080"/>
            <a:ext cx="316382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--- 계획 ---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81328" y="301752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91056" y="301752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ROP (재주문점) 방식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81328" y="308610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91056" y="308610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Min-Max 재고 관리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81328" y="315468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91056" y="315468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높은 안전재고율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81328" y="3223260"/>
            <a:ext cx="316382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--- KPI ---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81328" y="331470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91056" y="331470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재고 가용률 98%+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81328" y="338328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91056" y="338328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결품률 0.5% 이하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81328" y="345186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91056" y="345186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리드타임 준수 95%+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81328" y="352044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91056" y="352044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비상 재고 8주+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46320" y="3703320"/>
            <a:ext cx="3383280" cy="1691640"/>
          </a:xfrm>
          <a:prstGeom prst="rect">
            <a:avLst/>
          </a:prstGeom>
          <a:solidFill>
            <a:srgbClr val="27AE6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937759" y="37764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레버리지자재 (Leverage)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56048" y="406908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65776" y="406908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특성: 저리스크 + 고임팩트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56048" y="413766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65776" y="413766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공급원: 다수 (10개+)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56048" y="420624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65776" y="420624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구매금액: 매출 5-10%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56048" y="427482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65776" y="427482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사례: 표준 부품, 원자재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56048" y="4343400"/>
            <a:ext cx="316382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--- 전략 ---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56048" y="443484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65776" y="443484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경쟁 입찰 활용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956048" y="450342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65776" y="450342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가격 협상 중점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56048" y="457200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65776" y="457200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물량 레버리지 활용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56048" y="464058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65776" y="464058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단기 계약 체결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956048" y="4709160"/>
            <a:ext cx="316382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--- 계획 ---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956048" y="480060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65776" y="480060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MRP (자재소요계획)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56048" y="486918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65776" y="486918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수요 기반 발주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56048" y="493776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65776" y="493776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최소 안전재고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956048" y="5006340"/>
            <a:ext cx="316382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--- KPI ---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956048" y="509778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065776" y="509778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원가 절감률 5%+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956048" y="516636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65776" y="516636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재고 회전율 12회+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956048" y="523494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65776" y="523494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가격 경쟁력 상위 10%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956048" y="530352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065776" y="530352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조달 효율 90%+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371600" y="3703320"/>
            <a:ext cx="3383280" cy="1691640"/>
          </a:xfrm>
          <a:prstGeom prst="rect">
            <a:avLst/>
          </a:prstGeom>
          <a:solidFill>
            <a:srgbClr val="95A5A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463040" y="37764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일상자재 (Routine)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481328" y="406908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591056" y="406908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특성: 저리스크 + 저임팩트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481328" y="413766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591056" y="413766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공급원: 매우 다수 (20개+)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481328" y="420624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591056" y="420624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구매금액: 매출 1% 미만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481328" y="427482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591056" y="427482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사례: 소모품, MRO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481328" y="4343400"/>
            <a:ext cx="316382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--- 전략 ---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481328" y="443484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591056" y="443484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프로세스 효율화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481328" y="450342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591056" y="450342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자동 발주 시스템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481328" y="457200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591056" y="457200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통합 구매 (카탈로그)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481328" y="464058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591056" y="464058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관리 비용 최소화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481328" y="4709160"/>
            <a:ext cx="316382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--- 계획 ---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481328" y="480060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591056" y="480060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Min-Max 자동 발주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81328" y="486918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591056" y="486918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VMI (공급자 관리 재고)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481328" y="493776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591056" y="493776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E-Procurement 활용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481328" y="5006340"/>
            <a:ext cx="316382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--- KPI ---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481328" y="509778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591056" y="509778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처리 시간 단축 50%+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481328" y="516636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591056" y="516636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발주 비용 최소화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81328" y="523494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591056" y="523494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자동화율 80%+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481328" y="5303520"/>
            <a:ext cx="9144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591056" y="5303520"/>
            <a:ext cx="3054096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사용자 만족도 4.0/5.0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595360" y="1965960"/>
            <a:ext cx="8686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641080" y="2002536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비중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595360" y="2331720"/>
            <a:ext cx="86868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641080" y="2377440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전략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641080" y="2587752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15-20%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595360" y="2971800"/>
            <a:ext cx="86868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641080" y="3017520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병목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641080" y="3227832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5-10%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595360" y="4251960"/>
            <a:ext cx="86868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641080" y="4297680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레버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641080" y="4507992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50-60%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595360" y="4892040"/>
            <a:ext cx="868680" cy="502920"/>
          </a:xfrm>
          <a:prstGeom prst="rect">
            <a:avLst/>
          </a:prstGeom>
          <a:solidFill>
            <a:srgbClr val="95A5A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641080" y="4937759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일상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641080" y="5148072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20-25%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2.4 병목자재 (Bottleneck)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병목자재는 공급 리스크가 높지만 구매 금액이 낮아 공급 안정성 확보가 최우선 과제입니다.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8686800" cy="548640"/>
          </a:xfrm>
          <a:prstGeom prst="rect">
            <a:avLst/>
          </a:prstGeom>
          <a:solidFill>
            <a:srgbClr val="E67E2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8321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병목자재 (Bottleneck Materials)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공급 리스크는 높지만 구매 금액이 낮은 자재 - 공급 안정성 확보가 최우선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4206240" cy="256032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특성 (Characteristics)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공급 리스크: 매우 높음 (공급원 1-2개)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1693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16936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구매 금액: 낮음 (매출 2% 미만)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449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44952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대체 가능성: 어려움 (인증/규격)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729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72968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리드타임: 긴 편 (4-12주)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0098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300984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시장 특성: 과점 또는 독점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42900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429000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비중: 전체 자재의 5-10%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30168"/>
            <a:ext cx="420624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657600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전략 (Strategy)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0448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904488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공급 안정성 최우선 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3250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32504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충분한 안전재고 유지 (8-12주)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16052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160520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복수 공급원 개발 추진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28853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88536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대체 자재 R&amp;D 투자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416551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416551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장기 공급 계약 체결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544567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544567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공급업체와 긴밀한 관계 유지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67258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672583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수요 예측 정확도 향상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800599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4800599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비상 조달 계획 수립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001767"/>
            <a:ext cx="4206240" cy="256032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029199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계획 방법론: ROP (Re-Order Point)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276087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276087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재주문점 방식 (ROP = 리드타임 수요 + 안전재고)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40410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5404103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안전재고율 높게 설정 (50-100%)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532119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5532119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Min-Max 재고 관리 병행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660135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5660135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재고 모니터링 일일 점검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788151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" y="5788151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긴급 발주 프로세스 구축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5916167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" y="5916167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비상 재고 별도 확보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0" y="2514600"/>
            <a:ext cx="420624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0" y="2542032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실제 사례 (Examples)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0" y="27889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49240" y="28254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현대자동차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49240" y="29809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특수 반도체 칩 (독일 Bosch 독점)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03520" y="32461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49240" y="32826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삼성전자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49240" y="34381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희토류 원소 (중국 의존 95%)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03520" y="37033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49240" y="37398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LG화학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49240" y="38953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특수 촉매제 (일본 3개사 과점)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03520" y="41605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49240" y="41970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포스코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49240" y="43525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특수 합금 원료 (호주 2개 광산)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03520" y="46177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49240" y="46542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두산중공업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49240" y="48097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항공 인증 부품 (미국 1개사)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0" y="5148072"/>
            <a:ext cx="4206240" cy="256032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03520" y="5175504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KPI 목표 (Targets)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520" y="542239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40680" y="5422392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재고 가용률 98% 이상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03520" y="5550407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40680" y="5550407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결품률 0.5% 이하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03520" y="567842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40680" y="5678423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리드타임 준수율 95% 이상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03520" y="5806439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40680" y="5806439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비상 재고 8주 이상 확보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03520" y="5934455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40680" y="5934455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공급업체 관계 점수 4.0/5.0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03520" y="6062471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40680" y="6062471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대체품 개발 진행률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2.5 레버리지자재 (Leverage)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레버리지자재는 공급 리스크가 낮고 구매 금액이 높아 경쟁입찰과 가격협상으로 원가 절감을 추구합니다.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8686800" cy="548640"/>
          </a:xfrm>
          <a:prstGeom prst="rect">
            <a:avLst/>
          </a:prstGeom>
          <a:solidFill>
            <a:srgbClr val="27AE6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8321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레버리지자재 (Leverage Materials)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공급 리스크는 낮지만 구매 금액이 높은 자재 - 가격 협상과 원가 절감이 핵심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4206240" cy="256032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특성 (Characteristics)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공급 리스크: 낮음 (공급원 10개+)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1693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16936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구매 금액: 높음 (매출 5-10%)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449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44952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대체 가능성: 용이 (표준화)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729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72968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리드타임: 짧은 편 (1-4주)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0098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300984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시장 특성: 완전 경쟁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42900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429000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비중: 전체 자재의 50-60%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30168"/>
            <a:ext cx="420624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657600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전략 (Strategy)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0448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904488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경쟁 입찰 적극 활용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3250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32504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가격 협상력 극대화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16052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160520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물량 레버리지 활용 (Volume Discount)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28853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88536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단기 계약 체결 (시장 가격 반영)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416551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416551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공급업체 다변화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544567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544567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글로벌 소싱 추진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67258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672583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e-Auction 활용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800599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4800599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원가 절감 목표 설정 (연 5%+)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001767"/>
            <a:ext cx="4206240" cy="256032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029199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계획 방법론: MRP (Material Requirements Planning)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276087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276087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수요 기반 발주 (MRP 연동)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40410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5404103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최소 안전재고 유지 (1-2주)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532119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5532119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JIT 방식 적용 가능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660135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5660135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생산 계획 연동 발주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788151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" y="5788151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재고 회전율 극대화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5916167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" y="5916167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원가 절감 우선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0" y="2514600"/>
            <a:ext cx="420624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0" y="2542032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실제 사례 (Examples)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0" y="27889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49240" y="28254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현대자동차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49240" y="29809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철강 원자재 (POSCO 등 다수)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03520" y="32461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49240" y="32826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삼성전자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49240" y="34381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표준 PCB (국내외 20개사)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03520" y="37033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49240" y="37398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LG생활건강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49240" y="38953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화장품 용기 (플라스틱)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03520" y="41605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49240" y="41970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SK하이닉스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49240" y="43525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표준 화학약품 (글로벌 소싱)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03520" y="46177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49240" y="46542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롯데케미칼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49240" y="48097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원유 (글로벌 시장 거래)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0" y="5148072"/>
            <a:ext cx="4206240" cy="256032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03520" y="5175504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KPI 목표 (Targets)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520" y="542239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40680" y="5422392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원가 절감률 5% 이상/년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03520" y="5550407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40680" y="5550407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재고 회전율 12회 이상/년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03520" y="567842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40680" y="5678423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가격 경쟁력 시장 상위 10%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03520" y="5806439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40680" y="5806439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조달 효율 90% 이상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03520" y="5934455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40680" y="5934455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공급업체 수 10개 이상 유지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03520" y="6062471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40680" y="6062471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e-Auction 활용률 80% 이상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2.6 전략자재 (Strategic)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전략자재는 공급 리스크와 구매 금액이 모두 높아 장기 파트너십과 리스크 관리가 핵심입니다.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8686800" cy="548640"/>
          </a:xfrm>
          <a:prstGeom prst="rect">
            <a:avLst/>
          </a:prstGeom>
          <a:solidFill>
            <a:srgbClr val="8E44AD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8321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전략자재 (Strategic Materials)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공급 리스크와 구매 금액이 모두 높은 자재 - 장기 파트너십과 리스크 관리가 핵심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4206240" cy="256032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특성 (Characteristics)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공급 리스크: 매우 높음 (공급원 1-3개)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1693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16936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구매 금액: 매우 높음 (매출 10% 이상)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449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44952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대체 가능성: 매우 어려움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729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72968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리드타임: 매우 긴 편 (8-24주)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0098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300984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시장 특성: 과점, 기술 집약적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42900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429000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비중: 전체 자재의 15-20%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30168"/>
            <a:ext cx="420624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657600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전략 (Strategy)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0448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904488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장기 전략적 파트너십 구축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3250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32504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협력적 관계 강화 (Win-Win)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16052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160520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공동 기술 개발 및 R&amp;D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28853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88536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리스크 공유 계약 (Take-or-Pay)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416551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416551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수직 통합 검토 (M&amp;A)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544567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544567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복수 지역 소싱 전략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67258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672583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공급망 가시성 확보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800599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4800599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정기적 리스크 평가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001767"/>
            <a:ext cx="4206240" cy="256032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029199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계획 방법론: 하이브리드 (LTP + MRP)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276087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276087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예측 기반 장기 계획 (LTP: 12-24개월)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40410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5404103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수요 기반 단기 조정 (MRP: 월간)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532119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5532119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전략적 안전재고 확보 (4-8주)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660135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5660135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공급업체와 계획 공유 (VMI)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788151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" y="5788151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시나리오 플래닝 수행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5916167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" y="5916167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리스크 헤지 전략 수립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0" y="2514600"/>
            <a:ext cx="420624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0" y="2542032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실제 사례 (Examples)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0" y="27889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49240" y="28254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삼성전자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49240" y="29809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최첨단 반도체 장비 (ASML 독점)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03520" y="32461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49240" y="32826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현대자동차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49240" y="34381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차세대 배터리 (LG·CATL)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03520" y="37033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49240" y="37398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SK하이닉스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49240" y="38953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EUV 포토레지스트 (일본 2개사)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03520" y="41605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49240" y="41970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두산밥캣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49240" y="43525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특수 엔진 (Perkins 독점)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03520" y="46177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49240" y="46542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한화에어로스페이스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49240" y="48097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항공 엔진 부품 (GE/RR)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0" y="5148072"/>
            <a:ext cx="4206240" cy="256032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03520" y="5175504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KPI 목표 (Targets)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520" y="542239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40680" y="5422392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공급 안정성 95% 이상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03520" y="5550407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40680" y="5550407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품질 불량률 0.1% 이하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03520" y="567842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40680" y="5678423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납기 준수율 98% 이상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03520" y="5806439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40680" y="5806439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협력 지수 4.5/5.0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03520" y="5934455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40680" y="5934455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혁신 프로젝트 2건/년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03520" y="6062471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40680" y="6062471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리스크 시나리오 대응율 100%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2.7 일상자재 (Routine)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일상자재는 공급 리스크와 구매 금액이 모두 낮아 프로세스 효율화와 자동화로 관리합니다.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8686800" cy="548640"/>
          </a:xfrm>
          <a:prstGeom prst="rect">
            <a:avLst/>
          </a:prstGeom>
          <a:solidFill>
            <a:srgbClr val="95A5A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8321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일상자재 (Routine Materials)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공급 리스크와 구매 금액이 모두 낮은 자재 - 프로세스 효율화와 자동화가 핵심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4206240" cy="256032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특성 (Characteristics)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공급 리스크: 매우 낮음 (공급원 20개+)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1693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16936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구매 금액: 매우 낮음 (매출 1% 미만)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449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44952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대체 가능성: 매우 용이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729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172968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리드타임: 매우 짧음 (1-2주)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0098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300984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시장 특성: 완전 경쟁, 상품화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42900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429000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비중: 전체 자재의 20-25%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30168"/>
            <a:ext cx="420624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657600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전략 (Strategy)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0448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904488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프로세스 효율화 최우선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3250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032504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자동 발주 시스템 구축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16052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160520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통합 구매 (카탈로그/e-Mall)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28853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88536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관리 비용 최소화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416551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416551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셀프 서비스 구매 (P-Card)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544567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544567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공급업체 통합 (소수화)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67258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672583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표준화 및 집약화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800599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4800599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맑은 고딕"/>
              </a:defRPr>
            </a:pPr>
            <a:r>
              <a:t>사용자 만족도 중심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001767"/>
            <a:ext cx="4206240" cy="256032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029199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계획 방법론: Min-Max 자동화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276087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276087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Min-Max 자동 발주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40410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5404103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VMI (Vendor Managed Inventory)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532119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5532119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e-Procurement 시스템 활용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660135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5660135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재고 모니터링 자동화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788151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" y="5788151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예외 관리만 수동 처리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5916167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" y="5916167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최소 안전재고 (1주 미만)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12080" y="2514600"/>
            <a:ext cx="420624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0" y="2542032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실제 사례 (Examples)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0" y="27889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49240" y="28254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삼성전자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49240" y="29809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사무용품 (펜, 종이 등)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03520" y="32461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49240" y="32826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현대자동차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49240" y="34381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MRO 소모품 (볼트, 너트 등)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03520" y="37033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49240" y="37398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LG화학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49240" y="38953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청소·안전 용품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03520" y="41605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49240" y="41970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SK텔레콤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49240" y="43525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IT 소모품 (케이블, USB 등)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03520" y="4617720"/>
            <a:ext cx="4023359" cy="4114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49240" y="4654296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맑은 고딕"/>
              </a:defRPr>
            </a:pPr>
            <a:r>
              <a:t>포스코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49240" y="480974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자재: 일반 공구류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0" y="5148072"/>
            <a:ext cx="4206240" cy="256032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03520" y="5175504"/>
            <a:ext cx="4023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KPI 목표 (Targets)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520" y="542239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40680" y="5422392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처리 시간 단축 50% 이상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03520" y="5550407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40680" y="5550407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발주 비용 최소화 (건당 1만원 미만)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03520" y="567842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40680" y="5678423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자동화율 80% 이상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03520" y="5806439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40680" y="5806439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사용자 만족도 4.0/5.0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03520" y="5934455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40680" y="5934455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재고 회전율 24회 이상/년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03520" y="6062471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40680" y="6062471"/>
            <a:ext cx="3886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관리 공수 50% 절감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0"/>
            <a:ext cx="8961120" cy="2286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33333"/>
                </a:solidFill>
                <a:latin typeface="맑은 고딕"/>
              </a:defRPr>
            </a:pPr>
            <a:r>
              <a:t>3장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맑은 고딕"/>
              </a:defRPr>
            </a:pPr>
            <a:r>
              <a:t>차별화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97680"/>
            <a:ext cx="3474720" cy="45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3.1 차별화의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자재군 특성을 무시한 획일적 관리는 비효율과 리스크를 초래하며 차별화 전략이 필수입니다.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56231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획일적 관리의 문제점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모든 자재에 동일한 프로세스 적용 → 비효율 발생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3113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31136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전략자재: 과도한 경쟁입찰 → 공급업체 관계 악화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591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59152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일상자재: 과도한 관리 → 비용 낭비 (관리 비용 &gt; 자재 가치)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871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87168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병목자재: 안전재고 부족 → 결품 리스크 증가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1518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615184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레버리지자재: 가격 협상력 미활용 → 원가 절감 기회 상실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816352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43784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차별화 전략의 효과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9067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090672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전략자재: 장기 파트너십 → 안정적 공급 + 협력 혁신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1868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218688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레버리지자재: 경쟁입찰 → 연간 5-10% 원가 절감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34670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346704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병목자재: 충분한 재고 → 결품률 0.5% 이하 달성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47472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474720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일상자재: 프로세스 자동화 → 관리 비용 50% 절감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60273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602736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전체: 최적의 자원 배분 → ROI 극대화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803904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31336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차별화 구현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07822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078224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1단계: Kraljic Matrix로 자재 분류 (분기별)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20624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206240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2단계: 자재군별 전략 수립 (소싱, 재고, 관계)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33425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334256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3단계: 계획 방법론 선택 (ROP, MRP, Hybrid)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46227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462272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4단계: KPI 설정 및 모니터링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59028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4590288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5단계: 정기 재분류 및 전략 조정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3.2 자재군별 전략 매트릭스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4개 자재군별로 소싱 전략, 재고 정책, 공급업체 관리 방식을 차별화하여 최적의 성과를 달성합니다.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645920" cy="868680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전략자재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920240"/>
            <a:ext cx="1737360" cy="8686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2194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장기 파트너십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1737360" cy="8686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194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전략적 재고 4-8주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920240"/>
            <a:ext cx="1737360" cy="8686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194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협력적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920240"/>
            <a:ext cx="1737360" cy="8686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194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Hybrid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880360"/>
            <a:ext cx="1645920" cy="868680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00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레버리지자재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2880360"/>
            <a:ext cx="1737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3154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경쟁 입찰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880360"/>
            <a:ext cx="1737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3154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최소 재고 1-2주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880360"/>
            <a:ext cx="1737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3154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거래적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2880360"/>
            <a:ext cx="1737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3154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MRP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840480"/>
            <a:ext cx="1645920" cy="868680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1605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병목자재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3840480"/>
            <a:ext cx="1737360" cy="8686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복수화 추진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840480"/>
            <a:ext cx="1737360" cy="8686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높은 재고 8-12주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840480"/>
            <a:ext cx="1737360" cy="8686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긴밀한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3840480"/>
            <a:ext cx="1737360" cy="868680"/>
          </a:xfrm>
          <a:prstGeom prst="rect">
            <a:avLst/>
          </a:prstGeom>
          <a:solidFill>
            <a:srgbClr val="E6E6E6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ROP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800600"/>
            <a:ext cx="1645920" cy="868680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1206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일상자재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0" y="4800600"/>
            <a:ext cx="1737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14600" y="5074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통합 구매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4800600"/>
            <a:ext cx="1737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5074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자동 발주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4800600"/>
            <a:ext cx="1737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5074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최소 접촉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79" y="4800600"/>
            <a:ext cx="1737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01000" y="5074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Min-Max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68880" y="1463040"/>
            <a:ext cx="1737360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14600" y="15087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소싱 전략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1463040"/>
            <a:ext cx="1737360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3400" y="15087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재고 정책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1463040"/>
            <a:ext cx="1737360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15087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공급업체 관계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79" y="1463040"/>
            <a:ext cx="1737360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01000" y="15087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계획 방법론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0"/>
            <a:ext cx="8961120" cy="22860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33333"/>
                </a:solidFill>
                <a:latin typeface="맑은 고딕"/>
              </a:defRPr>
            </a:pPr>
            <a:r>
              <a:t>4장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맑은 고딕"/>
              </a:defRPr>
            </a:pPr>
            <a:r>
              <a:t>계획 방법론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97680"/>
            <a:ext cx="3474720" cy="45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4.1 5대 방법론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ROP, MRP, LTP, Min-Max, VMI 등 5대 방법론을 자재 특성에 맞춰 선택하여 재고 효율을 극대화합니다.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56231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ROP (Re-Order Point) - 병목자재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재주문점 = 리드타임 수요 + 안전재고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3113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31136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재고가 ROP 이하로 떨어지면 자동 발주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591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59152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안전재고율 높게 설정 (50-100%)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871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87168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적용: 공급 리스크 높고 수요 안정적인 자재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88336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15768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MRP (Material Requirements Planning) - 레버리지자재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6265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962656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생산 계획 기반 역산 발주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9067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090672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BOM(Bill of Materials) 전개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1868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218688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최소 안전재고, 높은 회전율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34670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346704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적용: 공급 안정적이고 수요 예측 가능한 자재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547872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575304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LTP (Long-Term Planning) - 전략자재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82219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22192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12-24개월 장기 예측 기반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95020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950208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공급업체와 계획 공유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07822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078224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분기별 조정 (Rolling Forecast)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20624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206240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적용: 리드타임 길고 전략적으로 중요한 자재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407407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43484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Min-Max 자동화 - 일상자재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681727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681727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최소 재고(Min)와 최대 재고(Max) 설정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80974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4809743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Min 도달 시 Max까지 자동 발주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937759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4937759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시스템 자동화, 예외 관리만 수동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065775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5065775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적용: 저가 소모품, MRO 자재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266943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294375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VMI (Vendor Managed Inventory)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54126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541263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공급업체가 고객 재고 모니터링 및 보충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669279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5669279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재고 책임 공급업체 이전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797295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5797295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재고 가시성 향상, 관리 비용 절감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5925311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" y="5925311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적용: 일상자재, 일부 레버리지자재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4.2 하이브리드 접근법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전략자재는 예측 기반 LTP와 수요 기반 MRP를 결합한 하이브리드 방식으로 유연성을 확보합니다.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56231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하이브리드 방식이 필요한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전략자재: 리드타임 길고(8-24주) + 수요 변동 있음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3113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31136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LTP만 사용: 수요 변동 대응 어려움 → 과잉/부족 재고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591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59152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MRP만 사용: 긴 리드타임 대응 불가 → 결품 위험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871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87168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하이브리드: 장기 안정성 + 단기 유연성 확보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88336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15768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하이브리드 운영 방법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6265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962656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장기(12개월): LTP로 공급업체와 계약 물량 합의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9067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090672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중기(분기): Rolling Forecast로 수요 재조정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1868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218688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단기(월간): MRP로 실제 생산 계획 반영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34670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346704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안전재고: 전략적 버퍼 4-8주 유지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47472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474720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정기 리뷰: 월별 공급업체와 계획 조율 회의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675888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70332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하이브리드 성공 사례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95020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950208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삼성전자: 반도체 장비 (ASML) - LTP 12개월 + MRP 조정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07822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078224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현대차: 배터리 (LG·CATL) - LTP 계약 + 분기 조정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20624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206240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SK하이닉스: EUV 재료 - 6개월 LTP + 월간 MRP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334255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334255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효과: 결품률 0.2% 이하 + 재고 최적화 20% 개선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5장 통합 KPI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원가, 서비스 수준, 재고 회전율, 공급 안정성 4대 KPI로 자재군별 성과를 측정하고 개선합니다.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56231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4대 핵심 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원가 효율: 구매 단가, YoY 절감률, TCO(Total Cost)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3113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31136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서비스 수준: 재고 가용률, 결품률, 납기 준수율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591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59152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재고 효율: 재고 회전율, 재고일수, 재고 금액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871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87168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공급 안정성: 공급업체 수, 리스크 점수, 대체 가능성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88336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15768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자재군별 KPI 가중치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6265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962656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전략자재: 공급 안정성 40% + 품질 30% + 원가 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9067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090672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레버리지자재: 원가 50% + 재고 효율 30% + 서비스 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1868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218688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병목자재: 공급 안정성 60% + 서비스 수준 30% + 원가 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34670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346704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일상자재: 프로세스 효율 50% + 원가 30% + 만족도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547872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575304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KPI 모니터링 체계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82219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22192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일간: 재고 가용률, 결품 발생 (시스템 자동)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95020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950208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주간: 납기 준수율, 긴급 발주 건수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07822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078224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월간: 원가 절감, 재고 회전율, 공급업체 성과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20624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206240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분기: Kraljic 재분류, 전략 조정, 공급업체 리뷰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334255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334255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연간: 종합 성과 평가, 목표 재설정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6장 산업별 적용 사례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자동차, 전자, 화학, 식품, 건설 등 산업별 Kraljic Matrix 적용 사례와 베스트 프랙티스를 학습합니다.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56231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자동차 산업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전략자재: 차세대 배터리, 자율주행 센서 → LG·CATL 장기 계약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3113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31136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레버리지자재: 철강, 타이어 → 경쟁입찰로 5% 절감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591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59152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병목자재: 특수 반도체 → 12주 안전재고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8716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87168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일상자재: MRO 소모품 → VMI로 관리 비용 40% 절감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88336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15768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전자 산업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6265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962656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전략자재: 최첨단 반도체 장비(ASML) → 24개월 LTP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9067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090672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레버리지자재: PCB, 표준 부품 → e-Auction 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1868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218688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병목자재: 희토류 원소 → 복수 지역 소싱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34670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346704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일상자재: 포장재 → 자동 발주 시스템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547872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575304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화학 산업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82219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22192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전략자재: 특수 촉매 → 일본 3개사 분산 소싱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95020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950208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레버리지자재: 원유, 기초 화학품 → 글로벌 시장 연동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078224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078224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병목자재: 특수 첨가제 → ROP + 8주 재고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20624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206240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일상자재: 안전 장비 → 카탈로그 구매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407407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434840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식품·제약 산업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681727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681727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전략자재: API(원료의약품) → 장기 계약 + FDA 인증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809743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4809743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레버리지자재: 포장재, 용기 → 대량 구매 할인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937759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4937759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병목자재: 특수 향료 → 복수 공급원 확보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065775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5065775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일상자재: 라벨, 박스 → Min-Max 자동화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7장 9회차 학습 여정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9회차 과정을 통해 Kraljic 이론부터 실전 워크샵까지 단계적으로 학습하여 실무 적용 역량을 확보합니다.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56231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Overview (1-3회차)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1회차: JIT → JIC 패러다임 전환 + Kraljic 기초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3113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31136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2회차: 소싱 전략 &amp; 공급업체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5915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59152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3회차: ABC-XYZ 재고 분류 &amp; 분석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60320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587752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자재군별 Deep Dive (4-7회차)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83464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834640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4회차: 병목자재 전략 &amp; ROP 계획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6265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962656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5회차: 레버리지자재 전략 &amp; MRP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9067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090672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6회차: 전략자재 전략 &amp; 하이브리드 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218688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218688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7회차: 일상자재 효율화 &amp; 자동화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419856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447288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실전 Workshop (8-9회차)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69417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694176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8회차: Kraljic Matrix 실전 워크샵 (자사 자재 분류)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82219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22192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9회차: 통합 워크샵 (전략 수립 + 실행 계획)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023360"/>
            <a:ext cx="8686800" cy="256032"/>
          </a:xfrm>
          <a:prstGeom prst="rect">
            <a:avLst/>
          </a:prstGeom>
          <a:solidFill>
            <a:srgbClr val="66666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050792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학습 성과물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297680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297680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자사 자재 Kraljic Matrix 분류 결과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425696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425696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자재군별 차별화 전략 수립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553712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553712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계획 방법론 선택 및 적용 방안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681727"/>
            <a:ext cx="1097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681727"/>
            <a:ext cx="83667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맑은 고딕"/>
              </a:defRPr>
            </a:pPr>
            <a:r>
              <a:t>실행 로드맵 및 KPI 설정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9354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Kraljic Matrix 프레임워크와 차별화 전략을 학습했으며 다음 세션에서 소싱 전략과 공급업체 관리를 다룹니다.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743200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핵심 학습 내용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JIT → JIC 전환 배경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42615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42615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Kraljic Matrix 4사분면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62072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8620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자재군별 차별화 전략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81528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8152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5대 계획 방법론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0984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300984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통합 KPI 체계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2011680"/>
            <a:ext cx="2743200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59" y="2057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주요 성과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59" y="2423160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4231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자재 특성 이해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59" y="2642615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642615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전략적 사고 강화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59" y="2862072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28620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방법론 선택 역량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59" y="3081528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08152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실무 적용 준비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59" y="3300984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300984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워크샵 실습 완료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2011680"/>
            <a:ext cx="2743200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2057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Next Steps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423160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42316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2회차: 소싱 전략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642615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642615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공급업체 평가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2862072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862072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성과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081528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308152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자사 데이터 준비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300984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300984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실전 적용 시작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5486400"/>
            <a:ext cx="7132320" cy="548640"/>
          </a:xfrm>
          <a:prstGeom prst="rect">
            <a:avLst/>
          </a:prstGeom>
          <a:solidFill>
            <a:srgbClr val="66666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63040" y="562356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감사합니다! 2회차에서 만나요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
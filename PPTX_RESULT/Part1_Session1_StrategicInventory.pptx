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</p:sldIdLst>
  <p:sldSz cx="9902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2286000"/>
            <a:ext cx="8074152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800" b="1">
                <a:solidFill>
                  <a:srgbClr val="000000"/>
                </a:solidFill>
                <a:latin typeface="맑은 고딕"/>
              </a:defRPr>
            </a:pPr>
            <a:r>
              <a:t>전략적 재고운영 Foundation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3383280"/>
            <a:ext cx="8074152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800" b="0">
                <a:solidFill>
                  <a:srgbClr val="333333"/>
                </a:solidFill>
                <a:latin typeface="맑은 고딕"/>
              </a:defRPr>
            </a:pPr>
            <a:r>
              <a:t>Kraljic Matrix와 자재계획 방법론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4572000"/>
            <a:ext cx="8074152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666666"/>
                </a:solidFill>
                <a:latin typeface="맑은 고딕"/>
              </a:defRPr>
            </a:pPr>
            <a:r>
              <a:t>Session 1 | 전략적 재고운영 및 자재계획수립 과정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274320" y="274320"/>
            <a:ext cx="9354312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000000"/>
                </a:solidFill>
                <a:latin typeface="맑은 고딕"/>
              </a:defRPr>
            </a:pPr>
            <a:r>
              <a:t>📚 목차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0" y="6400800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666666"/>
                </a:solidFill>
                <a:latin typeface="Arial"/>
              </a:defRPr>
            </a:pPr>
            <a:r>
              <a:t>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" y="923544"/>
            <a:ext cx="9436608" cy="5760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666666"/>
                </a:solidFill>
                <a:latin typeface="맑은 고딕"/>
              </a:defRPr>
            </a:pPr>
            <a:r>
              <a:t>본 과정은 Kraljic Matrix 기반으로 자재군별 차별화 전략과 계획 방법론을 체계적으로 학습합니다.</a:t>
            </a:r>
          </a:p>
        </p:txBody>
      </p:sp>
      <p:sp>
        <p:nvSpPr>
          <p:cNvPr id="5" name="Rectangle 4"/>
          <p:cNvSpPr/>
          <p:nvPr/>
        </p:nvSpPr>
        <p:spPr>
          <a:xfrm>
            <a:off x="914400" y="1828800"/>
            <a:ext cx="8074152" cy="594360"/>
          </a:xfrm>
          <a:prstGeom prst="rect">
            <a:avLst/>
          </a:prstGeom>
          <a:solidFill>
            <a:srgbClr val="E6E6E6"/>
          </a:solidFill>
          <a:ln w="1270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97280" y="1920240"/>
            <a:ext cx="9144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333333"/>
                </a:solidFill>
                <a:latin typeface="맑은 고딕"/>
              </a:defRPr>
            </a:pPr>
            <a:r>
              <a:t>1장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194560" y="1965960"/>
            <a:ext cx="5943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000000"/>
                </a:solidFill>
                <a:latin typeface="맑은 고딕"/>
              </a:defRPr>
            </a:pPr>
            <a:r>
              <a:t>🔄 JIT → JIC 패러다임 전환</a:t>
            </a:r>
          </a:p>
        </p:txBody>
      </p:sp>
      <p:sp>
        <p:nvSpPr>
          <p:cNvPr id="8" name="Rectangle 7"/>
          <p:cNvSpPr/>
          <p:nvPr/>
        </p:nvSpPr>
        <p:spPr>
          <a:xfrm>
            <a:off x="914400" y="2468880"/>
            <a:ext cx="8074152" cy="594360"/>
          </a:xfrm>
          <a:prstGeom prst="rect">
            <a:avLst/>
          </a:prstGeom>
          <a:solidFill>
            <a:srgbClr val="FFFFFF"/>
          </a:solidFill>
          <a:ln w="1270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97280" y="2560320"/>
            <a:ext cx="9144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333333"/>
                </a:solidFill>
                <a:latin typeface="맑은 고딕"/>
              </a:defRPr>
            </a:pPr>
            <a:r>
              <a:t>2장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194560" y="2606040"/>
            <a:ext cx="5943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000000"/>
                </a:solidFill>
                <a:latin typeface="맑은 고딕"/>
              </a:defRPr>
            </a:pPr>
            <a:r>
              <a:t>📊 Kraljic Matrix 프레임워크</a:t>
            </a:r>
          </a:p>
        </p:txBody>
      </p:sp>
      <p:sp>
        <p:nvSpPr>
          <p:cNvPr id="11" name="Rectangle 10"/>
          <p:cNvSpPr/>
          <p:nvPr/>
        </p:nvSpPr>
        <p:spPr>
          <a:xfrm>
            <a:off x="914400" y="3108960"/>
            <a:ext cx="8074152" cy="594360"/>
          </a:xfrm>
          <a:prstGeom prst="rect">
            <a:avLst/>
          </a:prstGeom>
          <a:solidFill>
            <a:srgbClr val="E6E6E6"/>
          </a:solidFill>
          <a:ln w="1270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97280" y="3200400"/>
            <a:ext cx="9144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333333"/>
                </a:solidFill>
                <a:latin typeface="맑은 고딕"/>
              </a:defRPr>
            </a:pPr>
            <a:r>
              <a:t>3장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194560" y="3246120"/>
            <a:ext cx="5943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000000"/>
                </a:solidFill>
                <a:latin typeface="맑은 고딕"/>
              </a:defRPr>
            </a:pPr>
            <a:r>
              <a:t>🎯 차별화 전략</a:t>
            </a:r>
          </a:p>
        </p:txBody>
      </p:sp>
      <p:sp>
        <p:nvSpPr>
          <p:cNvPr id="14" name="Rectangle 13"/>
          <p:cNvSpPr/>
          <p:nvPr/>
        </p:nvSpPr>
        <p:spPr>
          <a:xfrm>
            <a:off x="914400" y="3749039"/>
            <a:ext cx="8074152" cy="594360"/>
          </a:xfrm>
          <a:prstGeom prst="rect">
            <a:avLst/>
          </a:prstGeom>
          <a:solidFill>
            <a:srgbClr val="FFFFFF"/>
          </a:solidFill>
          <a:ln w="1270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97280" y="3840479"/>
            <a:ext cx="9144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333333"/>
                </a:solidFill>
                <a:latin typeface="맑은 고딕"/>
              </a:defRPr>
            </a:pPr>
            <a:r>
              <a:t>4장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194560" y="3886200"/>
            <a:ext cx="5943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000000"/>
                </a:solidFill>
                <a:latin typeface="맑은 고딕"/>
              </a:defRPr>
            </a:pPr>
            <a:r>
              <a:t>📋 계획 방법론</a:t>
            </a:r>
          </a:p>
        </p:txBody>
      </p:sp>
      <p:sp>
        <p:nvSpPr>
          <p:cNvPr id="17" name="Rectangle 16"/>
          <p:cNvSpPr/>
          <p:nvPr/>
        </p:nvSpPr>
        <p:spPr>
          <a:xfrm>
            <a:off x="914400" y="4389120"/>
            <a:ext cx="8074152" cy="594360"/>
          </a:xfrm>
          <a:prstGeom prst="rect">
            <a:avLst/>
          </a:prstGeom>
          <a:solidFill>
            <a:srgbClr val="E6E6E6"/>
          </a:solidFill>
          <a:ln w="1270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97280" y="4480560"/>
            <a:ext cx="9144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333333"/>
                </a:solidFill>
                <a:latin typeface="맑은 고딕"/>
              </a:defRPr>
            </a:pPr>
            <a:r>
              <a:t>5장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194560" y="4526280"/>
            <a:ext cx="5943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000000"/>
                </a:solidFill>
                <a:latin typeface="맑은 고딕"/>
              </a:defRPr>
            </a:pPr>
            <a:r>
              <a:t>📈 통합 KPI 프레임워크</a:t>
            </a:r>
          </a:p>
        </p:txBody>
      </p:sp>
      <p:sp>
        <p:nvSpPr>
          <p:cNvPr id="20" name="Rectangle 19"/>
          <p:cNvSpPr/>
          <p:nvPr/>
        </p:nvSpPr>
        <p:spPr>
          <a:xfrm>
            <a:off x="914400" y="5029200"/>
            <a:ext cx="8074152" cy="594360"/>
          </a:xfrm>
          <a:prstGeom prst="rect">
            <a:avLst/>
          </a:prstGeom>
          <a:solidFill>
            <a:srgbClr val="FFFFFF"/>
          </a:solidFill>
          <a:ln w="1270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097280" y="5120640"/>
            <a:ext cx="9144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333333"/>
                </a:solidFill>
                <a:latin typeface="맑은 고딕"/>
              </a:defRPr>
            </a:pPr>
            <a:r>
              <a:t>6장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194560" y="5166360"/>
            <a:ext cx="5943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000000"/>
                </a:solidFill>
                <a:latin typeface="맑은 고딕"/>
              </a:defRPr>
            </a:pPr>
            <a:r>
              <a:t>🏭 산업별 적용 사례</a:t>
            </a:r>
          </a:p>
        </p:txBody>
      </p:sp>
      <p:sp>
        <p:nvSpPr>
          <p:cNvPr id="23" name="Rectangle 22"/>
          <p:cNvSpPr/>
          <p:nvPr/>
        </p:nvSpPr>
        <p:spPr>
          <a:xfrm>
            <a:off x="914400" y="5669280"/>
            <a:ext cx="8074152" cy="594360"/>
          </a:xfrm>
          <a:prstGeom prst="rect">
            <a:avLst/>
          </a:prstGeom>
          <a:solidFill>
            <a:srgbClr val="E6E6E6"/>
          </a:solidFill>
          <a:ln w="1270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097280" y="5760720"/>
            <a:ext cx="9144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333333"/>
                </a:solidFill>
                <a:latin typeface="맑은 고딕"/>
              </a:defRPr>
            </a:pPr>
            <a:r>
              <a:t>7장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194560" y="5806440"/>
            <a:ext cx="5943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000000"/>
                </a:solidFill>
                <a:latin typeface="맑은 고딕"/>
              </a:defRPr>
            </a:pPr>
            <a:r>
              <a:t>🚀 9회차 학습 여정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0"/>
            <a:ext cx="27432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200" b="1">
                <a:solidFill>
                  <a:srgbClr val="333333"/>
                </a:solidFill>
                <a:latin typeface="맑은 고딕"/>
              </a:defRPr>
            </a:pPr>
            <a:r>
              <a:t>1장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474720" y="2286000"/>
            <a:ext cx="5943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000000"/>
                </a:solidFill>
                <a:latin typeface="맑은 고딕"/>
              </a:defRPr>
            </a:pPr>
            <a:r>
              <a:t>JIT → JIC</a:t>
            </a:r>
            <a:br/>
            <a:r>
              <a:t>패러다임 전환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3474720" y="3840480"/>
            <a:ext cx="5669280" cy="0"/>
          </a:xfrm>
          <a:prstGeom prst="line">
            <a:avLst/>
          </a:prstGeom>
          <a:ln w="38100">
            <a:solidFill>
              <a:srgbClr val="CCCCC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3474720" y="4114800"/>
            <a:ext cx="5486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666666"/>
                </a:solidFill>
                <a:latin typeface="맑은 고딕"/>
              </a:defRPr>
            </a:pPr>
            <a:r>
              <a:t>Just-In-Time에서 Just-In-Case로</a:t>
            </a:r>
            <a:br/>
            <a:r>
              <a:t>재고 관리 전략의 근본적 변화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274320" y="274320"/>
            <a:ext cx="9354312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000000"/>
                </a:solidFill>
                <a:latin typeface="맑은 고딕"/>
              </a:defRPr>
            </a:pPr>
            <a:r>
              <a:t>1.1 📅 JIT의 영광과 몰락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0" y="6400800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666666"/>
                </a:solidFill>
                <a:latin typeface="Arial"/>
              </a:defRPr>
            </a:pPr>
            <a:r>
              <a:t>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" y="923544"/>
            <a:ext cx="9436608" cy="5760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666666"/>
                </a:solidFill>
                <a:latin typeface="맑은 고딕"/>
              </a:defRPr>
            </a:pPr>
            <a:r>
              <a:t>JIT 방식은 40년간 제조업의 표준이었으나 2020년 팬데믹으로 치명적 약점이 드러났습니다.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731520" y="3200400"/>
            <a:ext cx="8595360" cy="0"/>
          </a:xfrm>
          <a:prstGeom prst="line">
            <a:avLst/>
          </a:prstGeom>
          <a:ln w="38100">
            <a:solidFill>
              <a:srgbClr val="33333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Rectangle 5"/>
          <p:cNvSpPr/>
          <p:nvPr/>
        </p:nvSpPr>
        <p:spPr>
          <a:xfrm>
            <a:off x="868680" y="1737360"/>
            <a:ext cx="822960" cy="320040"/>
          </a:xfrm>
          <a:prstGeom prst="rect">
            <a:avLst/>
          </a:prstGeom>
          <a:solidFill>
            <a:srgbClr val="333333"/>
          </a:solidFill>
          <a:ln w="190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399" y="1810512"/>
            <a:ext cx="7315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  <a:latin typeface="맑은 고딕"/>
              </a:defRPr>
            </a:pPr>
            <a:r>
              <a:t>JIT 탄생</a:t>
            </a:r>
          </a:p>
        </p:txBody>
      </p:sp>
      <p:sp>
        <p:nvSpPr>
          <p:cNvPr id="8" name="Rectangle 7"/>
          <p:cNvSpPr/>
          <p:nvPr/>
        </p:nvSpPr>
        <p:spPr>
          <a:xfrm>
            <a:off x="868680" y="2103120"/>
            <a:ext cx="822960" cy="256032"/>
          </a:xfrm>
          <a:prstGeom prst="rect">
            <a:avLst/>
          </a:prstGeom>
          <a:solidFill>
            <a:srgbClr val="E6E6E6"/>
          </a:solidFill>
          <a:ln w="9525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399" y="2148840"/>
            <a:ext cx="7315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333333"/>
                </a:solidFill>
                <a:latin typeface="맑은 고딕"/>
              </a:defRPr>
            </a:pPr>
            <a:r>
              <a:t>기업: 도요타</a:t>
            </a:r>
          </a:p>
        </p:txBody>
      </p:sp>
      <p:sp>
        <p:nvSpPr>
          <p:cNvPr id="10" name="Rectangle 9"/>
          <p:cNvSpPr/>
          <p:nvPr/>
        </p:nvSpPr>
        <p:spPr>
          <a:xfrm>
            <a:off x="868680" y="2395728"/>
            <a:ext cx="822960" cy="256032"/>
          </a:xfrm>
          <a:prstGeom prst="rect">
            <a:avLst/>
          </a:prstGeom>
          <a:solidFill>
            <a:srgbClr val="FFFFFF"/>
          </a:solidFill>
          <a:ln w="9525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399" y="2441448"/>
            <a:ext cx="7315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000000"/>
                </a:solidFill>
                <a:latin typeface="맑은 고딕"/>
              </a:defRPr>
            </a:pPr>
            <a:r>
              <a:t>재고 50% 감소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68680" y="2688336"/>
            <a:ext cx="822960" cy="256032"/>
          </a:xfrm>
          <a:prstGeom prst="rect">
            <a:avLst/>
          </a:prstGeom>
          <a:solidFill>
            <a:srgbClr val="E6E6E6"/>
          </a:solidFill>
          <a:ln w="9525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14399" y="2734056"/>
            <a:ext cx="7315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333333"/>
                </a:solidFill>
                <a:latin typeface="맑은 고딕"/>
              </a:defRPr>
            </a:pPr>
            <a:r>
              <a:t>기술: 칸반 시스템</a:t>
            </a:r>
          </a:p>
        </p:txBody>
      </p:sp>
      <p:sp>
        <p:nvSpPr>
          <p:cNvPr id="14" name="Oval 13"/>
          <p:cNvSpPr/>
          <p:nvPr/>
        </p:nvSpPr>
        <p:spPr>
          <a:xfrm>
            <a:off x="1170431" y="3090672"/>
            <a:ext cx="219456" cy="219456"/>
          </a:xfrm>
          <a:prstGeom prst="ellipse">
            <a:avLst/>
          </a:prstGeom>
          <a:solidFill>
            <a:srgbClr val="333333"/>
          </a:solidFill>
          <a:ln w="2540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60119" y="3383280"/>
            <a:ext cx="6400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000000"/>
                </a:solidFill>
                <a:latin typeface="맑은 고딕"/>
              </a:defRPr>
            </a:pPr>
            <a:r>
              <a:t>1970s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1280160" y="2944368"/>
            <a:ext cx="0" cy="146304"/>
          </a:xfrm>
          <a:prstGeom prst="line">
            <a:avLst/>
          </a:prstGeom>
          <a:ln w="12700">
            <a:solidFill>
              <a:srgbClr val="66666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Rectangle 16"/>
          <p:cNvSpPr/>
          <p:nvPr/>
        </p:nvSpPr>
        <p:spPr>
          <a:xfrm>
            <a:off x="868680" y="3657600"/>
            <a:ext cx="822960" cy="320040"/>
          </a:xfrm>
          <a:prstGeom prst="rect">
            <a:avLst/>
          </a:prstGeom>
          <a:solidFill>
            <a:srgbClr val="FFFFFF"/>
          </a:solidFill>
          <a:ln w="9525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399" y="3730752"/>
            <a:ext cx="7315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333333"/>
                </a:solidFill>
                <a:latin typeface="맑은 고딕"/>
              </a:defRPr>
            </a:pPr>
            <a:r>
              <a:t>무재고 경영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68680" y="4023360"/>
            <a:ext cx="822960" cy="320040"/>
          </a:xfrm>
          <a:prstGeom prst="rect">
            <a:avLst/>
          </a:prstGeom>
          <a:solidFill>
            <a:srgbClr val="E6E6E6"/>
          </a:solidFill>
          <a:ln w="9525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14399" y="4096512"/>
            <a:ext cx="7315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333333"/>
                </a:solidFill>
                <a:latin typeface="맑은 고딕"/>
              </a:defRPr>
            </a:pPr>
            <a:r>
              <a:t>Just-In-Time</a:t>
            </a:r>
          </a:p>
        </p:txBody>
      </p:sp>
      <p:sp>
        <p:nvSpPr>
          <p:cNvPr id="21" name="Rectangle 20"/>
          <p:cNvSpPr/>
          <p:nvPr/>
        </p:nvSpPr>
        <p:spPr>
          <a:xfrm>
            <a:off x="868680" y="4389120"/>
            <a:ext cx="822960" cy="320040"/>
          </a:xfrm>
          <a:prstGeom prst="rect">
            <a:avLst/>
          </a:prstGeom>
          <a:solidFill>
            <a:srgbClr val="FFFFFF"/>
          </a:solidFill>
          <a:ln w="9525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14399" y="4462272"/>
            <a:ext cx="7315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333333"/>
                </a:solidFill>
                <a:latin typeface="맑은 고딕"/>
              </a:defRPr>
            </a:pPr>
            <a:r>
              <a:t>7대 낭비 제거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1280160" y="3310128"/>
            <a:ext cx="0" cy="347472"/>
          </a:xfrm>
          <a:prstGeom prst="line">
            <a:avLst/>
          </a:prstGeom>
          <a:ln w="12700">
            <a:solidFill>
              <a:srgbClr val="66666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Rectangle 23"/>
          <p:cNvSpPr/>
          <p:nvPr/>
        </p:nvSpPr>
        <p:spPr>
          <a:xfrm>
            <a:off x="2514600" y="1737360"/>
            <a:ext cx="822960" cy="320040"/>
          </a:xfrm>
          <a:prstGeom prst="rect">
            <a:avLst/>
          </a:prstGeom>
          <a:solidFill>
            <a:srgbClr val="333333"/>
          </a:solidFill>
          <a:ln w="190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2560320" y="1810512"/>
            <a:ext cx="7315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  <a:latin typeface="맑은 고딕"/>
              </a:defRPr>
            </a:pPr>
            <a:r>
              <a:t>글로벌 확산</a:t>
            </a:r>
          </a:p>
        </p:txBody>
      </p:sp>
      <p:sp>
        <p:nvSpPr>
          <p:cNvPr id="26" name="Rectangle 25"/>
          <p:cNvSpPr/>
          <p:nvPr/>
        </p:nvSpPr>
        <p:spPr>
          <a:xfrm>
            <a:off x="2514600" y="2103120"/>
            <a:ext cx="822960" cy="256032"/>
          </a:xfrm>
          <a:prstGeom prst="rect">
            <a:avLst/>
          </a:prstGeom>
          <a:solidFill>
            <a:srgbClr val="E6E6E6"/>
          </a:solidFill>
          <a:ln w="9525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2560320" y="2148840"/>
            <a:ext cx="7315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333333"/>
                </a:solidFill>
                <a:latin typeface="맑은 고딕"/>
              </a:defRPr>
            </a:pPr>
            <a:r>
              <a:t>기업: GM·포드</a:t>
            </a:r>
          </a:p>
        </p:txBody>
      </p:sp>
      <p:sp>
        <p:nvSpPr>
          <p:cNvPr id="28" name="Rectangle 27"/>
          <p:cNvSpPr/>
          <p:nvPr/>
        </p:nvSpPr>
        <p:spPr>
          <a:xfrm>
            <a:off x="2514600" y="2395728"/>
            <a:ext cx="822960" cy="256032"/>
          </a:xfrm>
          <a:prstGeom prst="rect">
            <a:avLst/>
          </a:prstGeom>
          <a:solidFill>
            <a:srgbClr val="FFFFFF"/>
          </a:solidFill>
          <a:ln w="9525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2560320" y="2441448"/>
            <a:ext cx="7315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000000"/>
                </a:solidFill>
                <a:latin typeface="맑은 고딕"/>
              </a:defRPr>
            </a:pPr>
            <a:r>
              <a:t>원가 30% 절감</a:t>
            </a:r>
          </a:p>
        </p:txBody>
      </p:sp>
      <p:sp>
        <p:nvSpPr>
          <p:cNvPr id="30" name="Rectangle 29"/>
          <p:cNvSpPr/>
          <p:nvPr/>
        </p:nvSpPr>
        <p:spPr>
          <a:xfrm>
            <a:off x="2514600" y="2688336"/>
            <a:ext cx="822960" cy="256032"/>
          </a:xfrm>
          <a:prstGeom prst="rect">
            <a:avLst/>
          </a:prstGeom>
          <a:solidFill>
            <a:srgbClr val="E6E6E6"/>
          </a:solidFill>
          <a:ln w="9525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2560320" y="2734056"/>
            <a:ext cx="7315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333333"/>
                </a:solidFill>
                <a:latin typeface="맑은 고딕"/>
              </a:defRPr>
            </a:pPr>
            <a:r>
              <a:t>기술: Pull System</a:t>
            </a:r>
          </a:p>
        </p:txBody>
      </p:sp>
      <p:sp>
        <p:nvSpPr>
          <p:cNvPr id="32" name="Oval 31"/>
          <p:cNvSpPr/>
          <p:nvPr/>
        </p:nvSpPr>
        <p:spPr>
          <a:xfrm>
            <a:off x="2816352" y="3090672"/>
            <a:ext cx="219456" cy="219456"/>
          </a:xfrm>
          <a:prstGeom prst="ellipse">
            <a:avLst/>
          </a:prstGeom>
          <a:solidFill>
            <a:srgbClr val="333333"/>
          </a:solidFill>
          <a:ln w="2540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2606040" y="3383280"/>
            <a:ext cx="6400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000000"/>
                </a:solidFill>
                <a:latin typeface="맑은 고딕"/>
              </a:defRPr>
            </a:pPr>
            <a:r>
              <a:t>1990s</a:t>
            </a:r>
          </a:p>
        </p:txBody>
      </p:sp>
      <p:cxnSp>
        <p:nvCxnSpPr>
          <p:cNvPr id="34" name="Connector 33"/>
          <p:cNvCxnSpPr/>
          <p:nvPr/>
        </p:nvCxnSpPr>
        <p:spPr>
          <a:xfrm>
            <a:off x="2926080" y="2944368"/>
            <a:ext cx="0" cy="146304"/>
          </a:xfrm>
          <a:prstGeom prst="line">
            <a:avLst/>
          </a:prstGeom>
          <a:ln w="12700">
            <a:solidFill>
              <a:srgbClr val="66666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5" name="Rectangle 34"/>
          <p:cNvSpPr/>
          <p:nvPr/>
        </p:nvSpPr>
        <p:spPr>
          <a:xfrm>
            <a:off x="2514600" y="3657600"/>
            <a:ext cx="822960" cy="320040"/>
          </a:xfrm>
          <a:prstGeom prst="rect">
            <a:avLst/>
          </a:prstGeom>
          <a:solidFill>
            <a:srgbClr val="FFFFFF"/>
          </a:solidFill>
          <a:ln w="9525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2560320" y="3730752"/>
            <a:ext cx="7315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333333"/>
                </a:solidFill>
                <a:latin typeface="맑은 고딕"/>
              </a:defRPr>
            </a:pPr>
            <a:r>
              <a:t>미국 채택</a:t>
            </a:r>
          </a:p>
        </p:txBody>
      </p:sp>
      <p:sp>
        <p:nvSpPr>
          <p:cNvPr id="37" name="Rectangle 36"/>
          <p:cNvSpPr/>
          <p:nvPr/>
        </p:nvSpPr>
        <p:spPr>
          <a:xfrm>
            <a:off x="2514600" y="4023360"/>
            <a:ext cx="822960" cy="320040"/>
          </a:xfrm>
          <a:prstGeom prst="rect">
            <a:avLst/>
          </a:prstGeom>
          <a:solidFill>
            <a:srgbClr val="E6E6E6"/>
          </a:solidFill>
          <a:ln w="9525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2560320" y="4096512"/>
            <a:ext cx="7315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333333"/>
                </a:solidFill>
                <a:latin typeface="맑은 고딕"/>
              </a:defRPr>
            </a:pPr>
            <a:r>
              <a:t>린 생산</a:t>
            </a:r>
          </a:p>
        </p:txBody>
      </p:sp>
      <p:sp>
        <p:nvSpPr>
          <p:cNvPr id="39" name="Rectangle 38"/>
          <p:cNvSpPr/>
          <p:nvPr/>
        </p:nvSpPr>
        <p:spPr>
          <a:xfrm>
            <a:off x="2514600" y="4389120"/>
            <a:ext cx="822960" cy="320040"/>
          </a:xfrm>
          <a:prstGeom prst="rect">
            <a:avLst/>
          </a:prstGeom>
          <a:solidFill>
            <a:srgbClr val="FFFFFF"/>
          </a:solidFill>
          <a:ln w="9525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2560320" y="4462272"/>
            <a:ext cx="7315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333333"/>
                </a:solidFill>
                <a:latin typeface="맑은 고딕"/>
              </a:defRPr>
            </a:pPr>
            <a:r>
              <a:t>표준화 확산</a:t>
            </a:r>
          </a:p>
        </p:txBody>
      </p:sp>
      <p:cxnSp>
        <p:nvCxnSpPr>
          <p:cNvPr id="41" name="Connector 40"/>
          <p:cNvCxnSpPr/>
          <p:nvPr/>
        </p:nvCxnSpPr>
        <p:spPr>
          <a:xfrm>
            <a:off x="2926080" y="3310128"/>
            <a:ext cx="0" cy="347472"/>
          </a:xfrm>
          <a:prstGeom prst="line">
            <a:avLst/>
          </a:prstGeom>
          <a:ln w="12700">
            <a:solidFill>
              <a:srgbClr val="66666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2" name="Rectangle 41"/>
          <p:cNvSpPr/>
          <p:nvPr/>
        </p:nvSpPr>
        <p:spPr>
          <a:xfrm>
            <a:off x="4160520" y="1737360"/>
            <a:ext cx="822960" cy="320040"/>
          </a:xfrm>
          <a:prstGeom prst="rect">
            <a:avLst/>
          </a:prstGeom>
          <a:solidFill>
            <a:srgbClr val="333333"/>
          </a:solidFill>
          <a:ln w="190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4206240" y="1810512"/>
            <a:ext cx="7315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  <a:latin typeface="맑은 고딕"/>
              </a:defRPr>
            </a:pPr>
            <a:r>
              <a:t>디지털화</a:t>
            </a:r>
          </a:p>
        </p:txBody>
      </p:sp>
      <p:sp>
        <p:nvSpPr>
          <p:cNvPr id="44" name="Rectangle 43"/>
          <p:cNvSpPr/>
          <p:nvPr/>
        </p:nvSpPr>
        <p:spPr>
          <a:xfrm>
            <a:off x="4160520" y="2103120"/>
            <a:ext cx="822960" cy="256032"/>
          </a:xfrm>
          <a:prstGeom prst="rect">
            <a:avLst/>
          </a:prstGeom>
          <a:solidFill>
            <a:srgbClr val="E6E6E6"/>
          </a:solidFill>
          <a:ln w="9525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4206240" y="2148840"/>
            <a:ext cx="7315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333333"/>
                </a:solidFill>
                <a:latin typeface="맑은 고딕"/>
              </a:defRPr>
            </a:pPr>
            <a:r>
              <a:t>기업: 전 산업</a:t>
            </a:r>
          </a:p>
        </p:txBody>
      </p:sp>
      <p:sp>
        <p:nvSpPr>
          <p:cNvPr id="46" name="Rectangle 45"/>
          <p:cNvSpPr/>
          <p:nvPr/>
        </p:nvSpPr>
        <p:spPr>
          <a:xfrm>
            <a:off x="4160520" y="2395728"/>
            <a:ext cx="822960" cy="256032"/>
          </a:xfrm>
          <a:prstGeom prst="rect">
            <a:avLst/>
          </a:prstGeom>
          <a:solidFill>
            <a:srgbClr val="FFFFFF"/>
          </a:solidFill>
          <a:ln w="9525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4206240" y="2441448"/>
            <a:ext cx="7315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000000"/>
                </a:solidFill>
                <a:latin typeface="맑은 고딕"/>
              </a:defRPr>
            </a:pPr>
            <a:r>
              <a:t>리드타임 40% 단축</a:t>
            </a:r>
          </a:p>
        </p:txBody>
      </p:sp>
      <p:sp>
        <p:nvSpPr>
          <p:cNvPr id="48" name="Rectangle 47"/>
          <p:cNvSpPr/>
          <p:nvPr/>
        </p:nvSpPr>
        <p:spPr>
          <a:xfrm>
            <a:off x="4160520" y="2688336"/>
            <a:ext cx="822960" cy="256032"/>
          </a:xfrm>
          <a:prstGeom prst="rect">
            <a:avLst/>
          </a:prstGeom>
          <a:solidFill>
            <a:srgbClr val="E6E6E6"/>
          </a:solidFill>
          <a:ln w="9525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4206240" y="2734056"/>
            <a:ext cx="7315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333333"/>
                </a:solidFill>
                <a:latin typeface="맑은 고딕"/>
              </a:defRPr>
            </a:pPr>
            <a:r>
              <a:t>기술: ERP·MES 통합</a:t>
            </a:r>
          </a:p>
        </p:txBody>
      </p:sp>
      <p:sp>
        <p:nvSpPr>
          <p:cNvPr id="50" name="Oval 49"/>
          <p:cNvSpPr/>
          <p:nvPr/>
        </p:nvSpPr>
        <p:spPr>
          <a:xfrm>
            <a:off x="4462272" y="3090672"/>
            <a:ext cx="219456" cy="219456"/>
          </a:xfrm>
          <a:prstGeom prst="ellipse">
            <a:avLst/>
          </a:prstGeom>
          <a:solidFill>
            <a:srgbClr val="333333"/>
          </a:solidFill>
          <a:ln w="2540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4251960" y="3383280"/>
            <a:ext cx="6400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000000"/>
                </a:solidFill>
                <a:latin typeface="맑은 고딕"/>
              </a:defRPr>
            </a:pPr>
            <a:r>
              <a:t>2000s</a:t>
            </a:r>
          </a:p>
        </p:txBody>
      </p:sp>
      <p:cxnSp>
        <p:nvCxnSpPr>
          <p:cNvPr id="52" name="Connector 51"/>
          <p:cNvCxnSpPr/>
          <p:nvPr/>
        </p:nvCxnSpPr>
        <p:spPr>
          <a:xfrm>
            <a:off x="4572000" y="2944368"/>
            <a:ext cx="0" cy="146304"/>
          </a:xfrm>
          <a:prstGeom prst="line">
            <a:avLst/>
          </a:prstGeom>
          <a:ln w="12700">
            <a:solidFill>
              <a:srgbClr val="66666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3" name="Rectangle 52"/>
          <p:cNvSpPr/>
          <p:nvPr/>
        </p:nvSpPr>
        <p:spPr>
          <a:xfrm>
            <a:off x="4160520" y="3657600"/>
            <a:ext cx="822960" cy="320040"/>
          </a:xfrm>
          <a:prstGeom prst="rect">
            <a:avLst/>
          </a:prstGeom>
          <a:solidFill>
            <a:srgbClr val="FFFFFF"/>
          </a:solidFill>
          <a:ln w="9525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4206240" y="3730752"/>
            <a:ext cx="7315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333333"/>
                </a:solidFill>
                <a:latin typeface="맑은 고딕"/>
              </a:defRPr>
            </a:pPr>
            <a:r>
              <a:t>실시간 가시성</a:t>
            </a:r>
          </a:p>
        </p:txBody>
      </p:sp>
      <p:sp>
        <p:nvSpPr>
          <p:cNvPr id="55" name="Rectangle 54"/>
          <p:cNvSpPr/>
          <p:nvPr/>
        </p:nvSpPr>
        <p:spPr>
          <a:xfrm>
            <a:off x="4160520" y="4023360"/>
            <a:ext cx="822960" cy="320040"/>
          </a:xfrm>
          <a:prstGeom prst="rect">
            <a:avLst/>
          </a:prstGeom>
          <a:solidFill>
            <a:srgbClr val="E6E6E6"/>
          </a:solidFill>
          <a:ln w="9525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4206240" y="4096512"/>
            <a:ext cx="7315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333333"/>
                </a:solidFill>
                <a:latin typeface="맑은 고딕"/>
              </a:defRPr>
            </a:pPr>
            <a:r>
              <a:t>자동 발주</a:t>
            </a:r>
          </a:p>
        </p:txBody>
      </p:sp>
      <p:sp>
        <p:nvSpPr>
          <p:cNvPr id="57" name="Rectangle 56"/>
          <p:cNvSpPr/>
          <p:nvPr/>
        </p:nvSpPr>
        <p:spPr>
          <a:xfrm>
            <a:off x="4160520" y="4389120"/>
            <a:ext cx="822960" cy="320040"/>
          </a:xfrm>
          <a:prstGeom prst="rect">
            <a:avLst/>
          </a:prstGeom>
          <a:solidFill>
            <a:srgbClr val="FFFFFF"/>
          </a:solidFill>
          <a:ln w="9525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4206240" y="4462272"/>
            <a:ext cx="7315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333333"/>
                </a:solidFill>
                <a:latin typeface="맑은 고딕"/>
              </a:defRPr>
            </a:pPr>
            <a:r>
              <a:t>글로벌 SCM</a:t>
            </a:r>
          </a:p>
        </p:txBody>
      </p:sp>
      <p:cxnSp>
        <p:nvCxnSpPr>
          <p:cNvPr id="59" name="Connector 58"/>
          <p:cNvCxnSpPr/>
          <p:nvPr/>
        </p:nvCxnSpPr>
        <p:spPr>
          <a:xfrm>
            <a:off x="4572000" y="3310128"/>
            <a:ext cx="0" cy="347472"/>
          </a:xfrm>
          <a:prstGeom prst="line">
            <a:avLst/>
          </a:prstGeom>
          <a:ln w="12700">
            <a:solidFill>
              <a:srgbClr val="66666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0" name="Rectangle 59"/>
          <p:cNvSpPr/>
          <p:nvPr/>
        </p:nvSpPr>
        <p:spPr>
          <a:xfrm>
            <a:off x="5806440" y="1737360"/>
            <a:ext cx="822960" cy="320040"/>
          </a:xfrm>
          <a:prstGeom prst="rect">
            <a:avLst/>
          </a:prstGeom>
          <a:solidFill>
            <a:srgbClr val="333333"/>
          </a:solidFill>
          <a:ln w="190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5852159" y="1810512"/>
            <a:ext cx="7315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  <a:latin typeface="맑은 고딕"/>
              </a:defRPr>
            </a:pPr>
            <a:r>
              <a:t>최적화</a:t>
            </a:r>
          </a:p>
        </p:txBody>
      </p:sp>
      <p:sp>
        <p:nvSpPr>
          <p:cNvPr id="62" name="Rectangle 61"/>
          <p:cNvSpPr/>
          <p:nvPr/>
        </p:nvSpPr>
        <p:spPr>
          <a:xfrm>
            <a:off x="5806440" y="2103120"/>
            <a:ext cx="822960" cy="256032"/>
          </a:xfrm>
          <a:prstGeom prst="rect">
            <a:avLst/>
          </a:prstGeom>
          <a:solidFill>
            <a:srgbClr val="E6E6E6"/>
          </a:solidFill>
          <a:ln w="9525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5852159" y="2148840"/>
            <a:ext cx="7315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333333"/>
                </a:solidFill>
                <a:latin typeface="맑은 고딕"/>
              </a:defRPr>
            </a:pPr>
            <a:r>
              <a:t>기업: 애플·삼성</a:t>
            </a:r>
          </a:p>
        </p:txBody>
      </p:sp>
      <p:sp>
        <p:nvSpPr>
          <p:cNvPr id="64" name="Rectangle 63"/>
          <p:cNvSpPr/>
          <p:nvPr/>
        </p:nvSpPr>
        <p:spPr>
          <a:xfrm>
            <a:off x="5806440" y="2395728"/>
            <a:ext cx="822960" cy="256032"/>
          </a:xfrm>
          <a:prstGeom prst="rect">
            <a:avLst/>
          </a:prstGeom>
          <a:solidFill>
            <a:srgbClr val="FFFFFF"/>
          </a:solidFill>
          <a:ln w="9525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5852159" y="2441448"/>
            <a:ext cx="7315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000000"/>
                </a:solidFill>
                <a:latin typeface="맑은 고딕"/>
              </a:defRPr>
            </a:pPr>
            <a:r>
              <a:t>재고회전율 50회</a:t>
            </a:r>
          </a:p>
        </p:txBody>
      </p:sp>
      <p:sp>
        <p:nvSpPr>
          <p:cNvPr id="66" name="Rectangle 65"/>
          <p:cNvSpPr/>
          <p:nvPr/>
        </p:nvSpPr>
        <p:spPr>
          <a:xfrm>
            <a:off x="5806440" y="2688336"/>
            <a:ext cx="822960" cy="256032"/>
          </a:xfrm>
          <a:prstGeom prst="rect">
            <a:avLst/>
          </a:prstGeom>
          <a:solidFill>
            <a:srgbClr val="E6E6E6"/>
          </a:solidFill>
          <a:ln w="9525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5852159" y="2734056"/>
            <a:ext cx="7315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333333"/>
                </a:solidFill>
                <a:latin typeface="맑은 고딕"/>
              </a:defRPr>
            </a:pPr>
            <a:r>
              <a:t>기술: AI 수요예측</a:t>
            </a:r>
          </a:p>
        </p:txBody>
      </p:sp>
      <p:sp>
        <p:nvSpPr>
          <p:cNvPr id="68" name="Oval 67"/>
          <p:cNvSpPr/>
          <p:nvPr/>
        </p:nvSpPr>
        <p:spPr>
          <a:xfrm>
            <a:off x="6108192" y="3090672"/>
            <a:ext cx="219456" cy="219456"/>
          </a:xfrm>
          <a:prstGeom prst="ellipse">
            <a:avLst/>
          </a:prstGeom>
          <a:solidFill>
            <a:srgbClr val="333333"/>
          </a:solidFill>
          <a:ln w="2540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5897880" y="3383280"/>
            <a:ext cx="6400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000000"/>
                </a:solidFill>
                <a:latin typeface="맑은 고딕"/>
              </a:defRPr>
            </a:pPr>
            <a:r>
              <a:t>2010s</a:t>
            </a:r>
          </a:p>
        </p:txBody>
      </p:sp>
      <p:cxnSp>
        <p:nvCxnSpPr>
          <p:cNvPr id="70" name="Connector 69"/>
          <p:cNvCxnSpPr/>
          <p:nvPr/>
        </p:nvCxnSpPr>
        <p:spPr>
          <a:xfrm>
            <a:off x="6217920" y="2944368"/>
            <a:ext cx="0" cy="146304"/>
          </a:xfrm>
          <a:prstGeom prst="line">
            <a:avLst/>
          </a:prstGeom>
          <a:ln w="12700">
            <a:solidFill>
              <a:srgbClr val="66666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1" name="Rectangle 70"/>
          <p:cNvSpPr/>
          <p:nvPr/>
        </p:nvSpPr>
        <p:spPr>
          <a:xfrm>
            <a:off x="5806440" y="3657600"/>
            <a:ext cx="822960" cy="320040"/>
          </a:xfrm>
          <a:prstGeom prst="rect">
            <a:avLst/>
          </a:prstGeom>
          <a:solidFill>
            <a:srgbClr val="FFFFFF"/>
          </a:solidFill>
          <a:ln w="9525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5852159" y="3730752"/>
            <a:ext cx="7315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333333"/>
                </a:solidFill>
                <a:latin typeface="맑은 고딕"/>
              </a:defRPr>
            </a:pPr>
            <a:r>
              <a:t>극한 효율화</a:t>
            </a:r>
          </a:p>
        </p:txBody>
      </p:sp>
      <p:sp>
        <p:nvSpPr>
          <p:cNvPr id="73" name="Rectangle 72"/>
          <p:cNvSpPr/>
          <p:nvPr/>
        </p:nvSpPr>
        <p:spPr>
          <a:xfrm>
            <a:off x="5806440" y="4023360"/>
            <a:ext cx="822960" cy="320040"/>
          </a:xfrm>
          <a:prstGeom prst="rect">
            <a:avLst/>
          </a:prstGeom>
          <a:solidFill>
            <a:srgbClr val="E6E6E6"/>
          </a:solidFill>
          <a:ln w="9525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TextBox 73"/>
          <p:cNvSpPr txBox="1"/>
          <p:nvPr/>
        </p:nvSpPr>
        <p:spPr>
          <a:xfrm>
            <a:off x="5852159" y="4096512"/>
            <a:ext cx="7315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333333"/>
                </a:solidFill>
                <a:latin typeface="맑은 고딕"/>
              </a:defRPr>
            </a:pPr>
            <a:r>
              <a:t>초정밀 계획</a:t>
            </a:r>
          </a:p>
        </p:txBody>
      </p:sp>
      <p:sp>
        <p:nvSpPr>
          <p:cNvPr id="75" name="Rectangle 74"/>
          <p:cNvSpPr/>
          <p:nvPr/>
        </p:nvSpPr>
        <p:spPr>
          <a:xfrm>
            <a:off x="5806440" y="4389120"/>
            <a:ext cx="822960" cy="320040"/>
          </a:xfrm>
          <a:prstGeom prst="rect">
            <a:avLst/>
          </a:prstGeom>
          <a:solidFill>
            <a:srgbClr val="FFFFFF"/>
          </a:solidFill>
          <a:ln w="9525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TextBox 75"/>
          <p:cNvSpPr txBox="1"/>
          <p:nvPr/>
        </p:nvSpPr>
        <p:spPr>
          <a:xfrm>
            <a:off x="5852159" y="4462272"/>
            <a:ext cx="7315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333333"/>
                </a:solidFill>
                <a:latin typeface="맑은 고딕"/>
              </a:defRPr>
            </a:pPr>
            <a:r>
              <a:t>Zero Buffer</a:t>
            </a:r>
          </a:p>
        </p:txBody>
      </p:sp>
      <p:cxnSp>
        <p:nvCxnSpPr>
          <p:cNvPr id="77" name="Connector 76"/>
          <p:cNvCxnSpPr/>
          <p:nvPr/>
        </p:nvCxnSpPr>
        <p:spPr>
          <a:xfrm>
            <a:off x="6217920" y="3310128"/>
            <a:ext cx="0" cy="347472"/>
          </a:xfrm>
          <a:prstGeom prst="line">
            <a:avLst/>
          </a:prstGeom>
          <a:ln w="12700">
            <a:solidFill>
              <a:srgbClr val="66666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8" name="Rectangle 77"/>
          <p:cNvSpPr/>
          <p:nvPr/>
        </p:nvSpPr>
        <p:spPr>
          <a:xfrm>
            <a:off x="7452360" y="1737360"/>
            <a:ext cx="822960" cy="320040"/>
          </a:xfrm>
          <a:prstGeom prst="rect">
            <a:avLst/>
          </a:prstGeom>
          <a:solidFill>
            <a:srgbClr val="333333"/>
          </a:solidFill>
          <a:ln w="190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TextBox 78"/>
          <p:cNvSpPr txBox="1"/>
          <p:nvPr/>
        </p:nvSpPr>
        <p:spPr>
          <a:xfrm>
            <a:off x="7498079" y="1810512"/>
            <a:ext cx="7315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  <a:latin typeface="맑은 고딕"/>
              </a:defRPr>
            </a:pPr>
            <a:r>
              <a:t>팬데믹 쇼크</a:t>
            </a:r>
          </a:p>
        </p:txBody>
      </p:sp>
      <p:sp>
        <p:nvSpPr>
          <p:cNvPr id="80" name="Rectangle 79"/>
          <p:cNvSpPr/>
          <p:nvPr/>
        </p:nvSpPr>
        <p:spPr>
          <a:xfrm>
            <a:off x="7452360" y="2103120"/>
            <a:ext cx="822960" cy="256032"/>
          </a:xfrm>
          <a:prstGeom prst="rect">
            <a:avLst/>
          </a:prstGeom>
          <a:solidFill>
            <a:srgbClr val="E6E6E6"/>
          </a:solidFill>
          <a:ln w="9525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7498079" y="2148840"/>
            <a:ext cx="7315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333333"/>
                </a:solidFill>
                <a:latin typeface="맑은 고딕"/>
              </a:defRPr>
            </a:pPr>
            <a:r>
              <a:t>기업: 전 세계</a:t>
            </a:r>
          </a:p>
        </p:txBody>
      </p:sp>
      <p:sp>
        <p:nvSpPr>
          <p:cNvPr id="82" name="Rectangle 81"/>
          <p:cNvSpPr/>
          <p:nvPr/>
        </p:nvSpPr>
        <p:spPr>
          <a:xfrm>
            <a:off x="7452360" y="2395728"/>
            <a:ext cx="822960" cy="256032"/>
          </a:xfrm>
          <a:prstGeom prst="rect">
            <a:avLst/>
          </a:prstGeom>
          <a:solidFill>
            <a:srgbClr val="FFFFFF"/>
          </a:solidFill>
          <a:ln w="9525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TextBox 82"/>
          <p:cNvSpPr txBox="1"/>
          <p:nvPr/>
        </p:nvSpPr>
        <p:spPr>
          <a:xfrm>
            <a:off x="7498079" y="2441448"/>
            <a:ext cx="7315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000000"/>
                </a:solidFill>
                <a:latin typeface="맑은 고딕"/>
              </a:defRPr>
            </a:pPr>
            <a:r>
              <a:t>생산 80% 중단</a:t>
            </a:r>
          </a:p>
        </p:txBody>
      </p:sp>
      <p:sp>
        <p:nvSpPr>
          <p:cNvPr id="84" name="Rectangle 83"/>
          <p:cNvSpPr/>
          <p:nvPr/>
        </p:nvSpPr>
        <p:spPr>
          <a:xfrm>
            <a:off x="7452360" y="2688336"/>
            <a:ext cx="822960" cy="256032"/>
          </a:xfrm>
          <a:prstGeom prst="rect">
            <a:avLst/>
          </a:prstGeom>
          <a:solidFill>
            <a:srgbClr val="E6E6E6"/>
          </a:solidFill>
          <a:ln w="9525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7498079" y="2734056"/>
            <a:ext cx="7315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333333"/>
                </a:solidFill>
                <a:latin typeface="맑은 고딕"/>
              </a:defRPr>
            </a:pPr>
            <a:r>
              <a:t>기술: JIT 붕괴</a:t>
            </a:r>
          </a:p>
        </p:txBody>
      </p:sp>
      <p:sp>
        <p:nvSpPr>
          <p:cNvPr id="86" name="Oval 85"/>
          <p:cNvSpPr/>
          <p:nvPr/>
        </p:nvSpPr>
        <p:spPr>
          <a:xfrm>
            <a:off x="7754112" y="3090672"/>
            <a:ext cx="219456" cy="219456"/>
          </a:xfrm>
          <a:prstGeom prst="ellipse">
            <a:avLst/>
          </a:prstGeom>
          <a:solidFill>
            <a:srgbClr val="333333"/>
          </a:solidFill>
          <a:ln w="2540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TextBox 86"/>
          <p:cNvSpPr txBox="1"/>
          <p:nvPr/>
        </p:nvSpPr>
        <p:spPr>
          <a:xfrm>
            <a:off x="7543800" y="3383280"/>
            <a:ext cx="6400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000000"/>
                </a:solidFill>
                <a:latin typeface="맑은 고딕"/>
              </a:defRPr>
            </a:pPr>
            <a:r>
              <a:t>2020</a:t>
            </a:r>
          </a:p>
        </p:txBody>
      </p:sp>
      <p:cxnSp>
        <p:nvCxnSpPr>
          <p:cNvPr id="88" name="Connector 87"/>
          <p:cNvCxnSpPr/>
          <p:nvPr/>
        </p:nvCxnSpPr>
        <p:spPr>
          <a:xfrm>
            <a:off x="7863840" y="2944368"/>
            <a:ext cx="0" cy="146304"/>
          </a:xfrm>
          <a:prstGeom prst="line">
            <a:avLst/>
          </a:prstGeom>
          <a:ln w="12700">
            <a:solidFill>
              <a:srgbClr val="66666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9" name="Rectangle 88"/>
          <p:cNvSpPr/>
          <p:nvPr/>
        </p:nvSpPr>
        <p:spPr>
          <a:xfrm>
            <a:off x="7452360" y="3657600"/>
            <a:ext cx="822960" cy="320040"/>
          </a:xfrm>
          <a:prstGeom prst="rect">
            <a:avLst/>
          </a:prstGeom>
          <a:solidFill>
            <a:srgbClr val="FFFFFF"/>
          </a:solidFill>
          <a:ln w="9525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TextBox 89"/>
          <p:cNvSpPr txBox="1"/>
          <p:nvPr/>
        </p:nvSpPr>
        <p:spPr>
          <a:xfrm>
            <a:off x="7498079" y="3730752"/>
            <a:ext cx="7315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333333"/>
                </a:solidFill>
                <a:latin typeface="맑은 고딕"/>
              </a:defRPr>
            </a:pPr>
            <a:r>
              <a:t>공급망 마비</a:t>
            </a:r>
          </a:p>
        </p:txBody>
      </p:sp>
      <p:sp>
        <p:nvSpPr>
          <p:cNvPr id="91" name="Rectangle 90"/>
          <p:cNvSpPr/>
          <p:nvPr/>
        </p:nvSpPr>
        <p:spPr>
          <a:xfrm>
            <a:off x="7452360" y="4023360"/>
            <a:ext cx="822960" cy="320040"/>
          </a:xfrm>
          <a:prstGeom prst="rect">
            <a:avLst/>
          </a:prstGeom>
          <a:solidFill>
            <a:srgbClr val="E6E6E6"/>
          </a:solidFill>
          <a:ln w="9525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TextBox 91"/>
          <p:cNvSpPr txBox="1"/>
          <p:nvPr/>
        </p:nvSpPr>
        <p:spPr>
          <a:xfrm>
            <a:off x="7498079" y="4096512"/>
            <a:ext cx="7315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333333"/>
                </a:solidFill>
                <a:latin typeface="맑은 고딕"/>
              </a:defRPr>
            </a:pPr>
            <a:r>
              <a:t>재고 부족</a:t>
            </a:r>
          </a:p>
        </p:txBody>
      </p:sp>
      <p:sp>
        <p:nvSpPr>
          <p:cNvPr id="93" name="Rectangle 92"/>
          <p:cNvSpPr/>
          <p:nvPr/>
        </p:nvSpPr>
        <p:spPr>
          <a:xfrm>
            <a:off x="7452360" y="4389120"/>
            <a:ext cx="822960" cy="320040"/>
          </a:xfrm>
          <a:prstGeom prst="rect">
            <a:avLst/>
          </a:prstGeom>
          <a:solidFill>
            <a:srgbClr val="FFFFFF"/>
          </a:solidFill>
          <a:ln w="9525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" name="TextBox 93"/>
          <p:cNvSpPr txBox="1"/>
          <p:nvPr/>
        </p:nvSpPr>
        <p:spPr>
          <a:xfrm>
            <a:off x="7498079" y="4462272"/>
            <a:ext cx="7315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333333"/>
                </a:solidFill>
                <a:latin typeface="맑은 고딕"/>
              </a:defRPr>
            </a:pPr>
            <a:r>
              <a:t>JIC 전환</a:t>
            </a:r>
          </a:p>
        </p:txBody>
      </p:sp>
      <p:cxnSp>
        <p:nvCxnSpPr>
          <p:cNvPr id="95" name="Connector 94"/>
          <p:cNvCxnSpPr/>
          <p:nvPr/>
        </p:nvCxnSpPr>
        <p:spPr>
          <a:xfrm>
            <a:off x="7863840" y="3310128"/>
            <a:ext cx="0" cy="347472"/>
          </a:xfrm>
          <a:prstGeom prst="line">
            <a:avLst/>
          </a:prstGeom>
          <a:ln w="12700">
            <a:solidFill>
              <a:srgbClr val="66666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6" name="Rectangle 95"/>
          <p:cNvSpPr/>
          <p:nvPr/>
        </p:nvSpPr>
        <p:spPr>
          <a:xfrm>
            <a:off x="822960" y="5760720"/>
            <a:ext cx="1645920" cy="594360"/>
          </a:xfrm>
          <a:prstGeom prst="rect">
            <a:avLst/>
          </a:prstGeom>
          <a:solidFill>
            <a:srgbClr val="E6E6E6"/>
          </a:solidFill>
          <a:ln w="12700">
            <a:solidFill>
              <a:srgbClr val="6666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TextBox 96"/>
          <p:cNvSpPr txBox="1"/>
          <p:nvPr/>
        </p:nvSpPr>
        <p:spPr>
          <a:xfrm>
            <a:off x="868680" y="5806440"/>
            <a:ext cx="15544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000000"/>
                </a:solidFill>
                <a:latin typeface="맑은 고딕"/>
              </a:defRPr>
            </a:pPr>
            <a:r>
              <a:t>혁신 기간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868680" y="6016752"/>
            <a:ext cx="15544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333333"/>
                </a:solidFill>
                <a:latin typeface="맑은 고딕"/>
              </a:defRPr>
            </a:pPr>
            <a:r>
              <a:t>1970-2010</a:t>
            </a:r>
            <a:br/>
            <a:r>
              <a:t>40년</a:t>
            </a:r>
          </a:p>
        </p:txBody>
      </p:sp>
      <p:sp>
        <p:nvSpPr>
          <p:cNvPr id="99" name="Rectangle 98"/>
          <p:cNvSpPr/>
          <p:nvPr/>
        </p:nvSpPr>
        <p:spPr>
          <a:xfrm>
            <a:off x="2542032" y="5760720"/>
            <a:ext cx="1645920" cy="594360"/>
          </a:xfrm>
          <a:prstGeom prst="rect">
            <a:avLst/>
          </a:prstGeom>
          <a:solidFill>
            <a:srgbClr val="FFFFFF"/>
          </a:solidFill>
          <a:ln w="12700">
            <a:solidFill>
              <a:srgbClr val="6666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" name="TextBox 99"/>
          <p:cNvSpPr txBox="1"/>
          <p:nvPr/>
        </p:nvSpPr>
        <p:spPr>
          <a:xfrm>
            <a:off x="2587752" y="5806440"/>
            <a:ext cx="15544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000000"/>
                </a:solidFill>
                <a:latin typeface="맑은 고딕"/>
              </a:defRPr>
            </a:pPr>
            <a:r>
              <a:t>효과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2587752" y="6016752"/>
            <a:ext cx="15544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333333"/>
                </a:solidFill>
                <a:latin typeface="맑은 고딕"/>
              </a:defRPr>
            </a:pPr>
            <a:r>
              <a:t>재고 50%↓</a:t>
            </a:r>
            <a:br/>
            <a:r>
              <a:t>원가 30%↓</a:t>
            </a:r>
          </a:p>
        </p:txBody>
      </p:sp>
      <p:sp>
        <p:nvSpPr>
          <p:cNvPr id="102" name="Rectangle 101"/>
          <p:cNvSpPr/>
          <p:nvPr/>
        </p:nvSpPr>
        <p:spPr>
          <a:xfrm>
            <a:off x="4261104" y="5760720"/>
            <a:ext cx="1645920" cy="594360"/>
          </a:xfrm>
          <a:prstGeom prst="rect">
            <a:avLst/>
          </a:prstGeom>
          <a:solidFill>
            <a:srgbClr val="E6E6E6"/>
          </a:solidFill>
          <a:ln w="12700">
            <a:solidFill>
              <a:srgbClr val="6666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" name="TextBox 102"/>
          <p:cNvSpPr txBox="1"/>
          <p:nvPr/>
        </p:nvSpPr>
        <p:spPr>
          <a:xfrm>
            <a:off x="4306824" y="5806440"/>
            <a:ext cx="15544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000000"/>
                </a:solidFill>
                <a:latin typeface="맑은 고딕"/>
              </a:defRPr>
            </a:pPr>
            <a:r>
              <a:t>확산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4306824" y="6016752"/>
            <a:ext cx="15544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333333"/>
                </a:solidFill>
                <a:latin typeface="맑은 고딕"/>
              </a:defRPr>
            </a:pPr>
            <a:r>
              <a:t>전 산업</a:t>
            </a:r>
            <a:br/>
            <a:r>
              <a:t>글로벌 표준</a:t>
            </a:r>
          </a:p>
        </p:txBody>
      </p:sp>
      <p:sp>
        <p:nvSpPr>
          <p:cNvPr id="105" name="Rectangle 104"/>
          <p:cNvSpPr/>
          <p:nvPr/>
        </p:nvSpPr>
        <p:spPr>
          <a:xfrm>
            <a:off x="5980176" y="5760720"/>
            <a:ext cx="1645920" cy="594360"/>
          </a:xfrm>
          <a:prstGeom prst="rect">
            <a:avLst/>
          </a:prstGeom>
          <a:solidFill>
            <a:srgbClr val="FFFFFF"/>
          </a:solidFill>
          <a:ln w="12700">
            <a:solidFill>
              <a:srgbClr val="6666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6" name="TextBox 105"/>
          <p:cNvSpPr txBox="1"/>
          <p:nvPr/>
        </p:nvSpPr>
        <p:spPr>
          <a:xfrm>
            <a:off x="6025896" y="5806440"/>
            <a:ext cx="15544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000000"/>
                </a:solidFill>
                <a:latin typeface="맑은 고딕"/>
              </a:defRPr>
            </a:pPr>
            <a:r>
              <a:t>붕괴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6025896" y="6016752"/>
            <a:ext cx="15544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333333"/>
                </a:solidFill>
                <a:latin typeface="맑은 고딕"/>
              </a:defRPr>
            </a:pPr>
            <a:r>
              <a:t>2020 팬데믹</a:t>
            </a:r>
            <a:br/>
            <a:r>
              <a:t>1개월 마비</a:t>
            </a:r>
          </a:p>
        </p:txBody>
      </p:sp>
      <p:sp>
        <p:nvSpPr>
          <p:cNvPr id="108" name="Rectangle 107"/>
          <p:cNvSpPr/>
          <p:nvPr/>
        </p:nvSpPr>
        <p:spPr>
          <a:xfrm>
            <a:off x="7699248" y="5760720"/>
            <a:ext cx="1645920" cy="594360"/>
          </a:xfrm>
          <a:prstGeom prst="rect">
            <a:avLst/>
          </a:prstGeom>
          <a:solidFill>
            <a:srgbClr val="E6E6E6"/>
          </a:solidFill>
          <a:ln w="12700">
            <a:solidFill>
              <a:srgbClr val="6666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" name="TextBox 108"/>
          <p:cNvSpPr txBox="1"/>
          <p:nvPr/>
        </p:nvSpPr>
        <p:spPr>
          <a:xfrm>
            <a:off x="7744968" y="5806440"/>
            <a:ext cx="15544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000000"/>
                </a:solidFill>
                <a:latin typeface="맑은 고딕"/>
              </a:defRPr>
            </a:pPr>
            <a:r>
              <a:t>전환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7744968" y="6016752"/>
            <a:ext cx="15544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333333"/>
                </a:solidFill>
                <a:latin typeface="맑은 고딕"/>
              </a:defRPr>
            </a:pPr>
            <a:r>
              <a:t>JIT → JIC</a:t>
            </a:r>
            <a:br/>
            <a:r>
              <a:t>안전재고 확보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274320" y="274320"/>
            <a:ext cx="9354312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000000"/>
                </a:solidFill>
                <a:latin typeface="맑은 고딕"/>
              </a:defRPr>
            </a:pPr>
            <a:r>
              <a:t>1.2 ⚠️ 팬데믹이 드러낸 JIT의 약점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0" y="6400800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666666"/>
                </a:solidFill>
                <a:latin typeface="Arial"/>
              </a:defRPr>
            </a:pPr>
            <a:r>
              <a:t>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" y="923544"/>
            <a:ext cx="9436608" cy="5760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666666"/>
                </a:solidFill>
                <a:latin typeface="맑은 고딕"/>
              </a:defRPr>
            </a:pPr>
            <a:r>
              <a:t>글로벌 공급망 마비로 JIT의 3대 위험(재고 부족, 공급 중단, 생산 마비)이 현실화되었습니다.</a:t>
            </a:r>
          </a:p>
        </p:txBody>
      </p:sp>
      <p:sp>
        <p:nvSpPr>
          <p:cNvPr id="5" name="Rectangle 4"/>
          <p:cNvSpPr/>
          <p:nvPr/>
        </p:nvSpPr>
        <p:spPr>
          <a:xfrm>
            <a:off x="2743200" y="3200400"/>
            <a:ext cx="2011680" cy="640080"/>
          </a:xfrm>
          <a:prstGeom prst="rect">
            <a:avLst/>
          </a:prstGeom>
          <a:solidFill>
            <a:srgbClr val="333333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2834640" y="3364992"/>
            <a:ext cx="1828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FFFFFF"/>
                </a:solidFill>
                <a:latin typeface="맑은 고딕"/>
              </a:defRPr>
            </a:pPr>
            <a:r>
              <a:t>2020 팬데믹</a:t>
            </a:r>
            <a:br/>
            <a:r>
              <a:t>글로벌 공급망 마비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1828800"/>
            <a:ext cx="1828800" cy="1234440"/>
          </a:xfrm>
          <a:prstGeom prst="rect">
            <a:avLst/>
          </a:prstGeom>
          <a:solidFill>
            <a:srgbClr val="E6E6E6"/>
          </a:solidFill>
          <a:ln w="12700">
            <a:solidFill>
              <a:srgbClr val="6666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1901952"/>
            <a:ext cx="16459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000000"/>
                </a:solidFill>
                <a:latin typeface="맑은 고딕"/>
              </a:defRPr>
            </a:pPr>
            <a:r>
              <a:t>재고 부족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" y="2176272"/>
            <a:ext cx="9144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333333"/>
                </a:solidFill>
                <a:latin typeface="맑은 고딕"/>
              </a:defRPr>
            </a:pPr>
            <a:r>
              <a:t>•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2176272"/>
            <a:ext cx="15544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333333"/>
                </a:solidFill>
                <a:latin typeface="맑은 고딕"/>
              </a:defRPr>
            </a:pPr>
            <a:r>
              <a:t>안전재고 제로: 버퍼 없음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58368" y="2359152"/>
            <a:ext cx="9144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333333"/>
                </a:solidFill>
                <a:latin typeface="맑은 고딕"/>
              </a:defRPr>
            </a:pPr>
            <a:r>
              <a:t>•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2359152"/>
            <a:ext cx="15544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333333"/>
                </a:solidFill>
                <a:latin typeface="맑은 고딕"/>
              </a:defRPr>
            </a:pPr>
            <a:r>
              <a:t>즉시 결품: 1주 내 품절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8368" y="2542032"/>
            <a:ext cx="9144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333333"/>
                </a:solidFill>
                <a:latin typeface="맑은 고딕"/>
              </a:defRPr>
            </a:pPr>
            <a:r>
              <a:t>•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2542032"/>
            <a:ext cx="15544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333333"/>
                </a:solidFill>
                <a:latin typeface="맑은 고딕"/>
              </a:defRPr>
            </a:pPr>
            <a:r>
              <a:t>생산 차질: 라인 가동률 50%↓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8368" y="2724912"/>
            <a:ext cx="9144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333333"/>
                </a:solidFill>
                <a:latin typeface="맑은 고딕"/>
              </a:defRPr>
            </a:pPr>
            <a:r>
              <a:t>•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77240" y="2724912"/>
            <a:ext cx="15544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333333"/>
                </a:solidFill>
                <a:latin typeface="맑은 고딕"/>
              </a:defRPr>
            </a:pPr>
            <a:r>
              <a:t>긴급 조달 실패: 대체품 없음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58368" y="2907792"/>
            <a:ext cx="9144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333333"/>
                </a:solidFill>
                <a:latin typeface="맑은 고딕"/>
              </a:defRPr>
            </a:pPr>
            <a:r>
              <a:t>•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77240" y="2907792"/>
            <a:ext cx="15544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333333"/>
                </a:solidFill>
                <a:latin typeface="맑은 고딕"/>
              </a:defRPr>
            </a:pPr>
            <a:r>
              <a:t>재고 비용 급증: 3배 증가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2377440" y="2446020"/>
            <a:ext cx="365760" cy="1074420"/>
          </a:xfrm>
          <a:prstGeom prst="line">
            <a:avLst/>
          </a:prstGeom>
          <a:ln w="25400">
            <a:solidFill>
              <a:srgbClr val="66666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Rectangle 19"/>
          <p:cNvSpPr/>
          <p:nvPr/>
        </p:nvSpPr>
        <p:spPr>
          <a:xfrm>
            <a:off x="548640" y="4297680"/>
            <a:ext cx="1828800" cy="1234440"/>
          </a:xfrm>
          <a:prstGeom prst="rect">
            <a:avLst/>
          </a:prstGeom>
          <a:solidFill>
            <a:srgbClr val="E6E6E6"/>
          </a:solidFill>
          <a:ln w="12700">
            <a:solidFill>
              <a:srgbClr val="6666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40080" y="4370832"/>
            <a:ext cx="16459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000000"/>
                </a:solidFill>
                <a:latin typeface="맑은 고딕"/>
              </a:defRPr>
            </a:pPr>
            <a:r>
              <a:t>공급 중단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58368" y="4645152"/>
            <a:ext cx="9144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333333"/>
                </a:solidFill>
                <a:latin typeface="맑은 고딕"/>
              </a:defRPr>
            </a:pPr>
            <a:r>
              <a:t>•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77240" y="4645152"/>
            <a:ext cx="15544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333333"/>
                </a:solidFill>
                <a:latin typeface="맑은 고딕"/>
              </a:defRPr>
            </a:pPr>
            <a:r>
              <a:t>단일 공급원: 중국 의존 80%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58368" y="4828032"/>
            <a:ext cx="9144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333333"/>
                </a:solidFill>
                <a:latin typeface="맑은 고딕"/>
              </a:defRPr>
            </a:pPr>
            <a:r>
              <a:t>•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77240" y="4828032"/>
            <a:ext cx="15544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333333"/>
                </a:solidFill>
                <a:latin typeface="맑은 고딕"/>
              </a:defRPr>
            </a:pPr>
            <a:r>
              <a:t>대체 불가: 인증 기간 6개월+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58368" y="5010912"/>
            <a:ext cx="9144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333333"/>
                </a:solidFill>
                <a:latin typeface="맑은 고딕"/>
              </a:defRPr>
            </a:pPr>
            <a:r>
              <a:t>•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77240" y="5010912"/>
            <a:ext cx="15544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333333"/>
                </a:solidFill>
                <a:latin typeface="맑은 고딕"/>
              </a:defRPr>
            </a:pPr>
            <a:r>
              <a:t>물류 마비: 항공편 90%↓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58368" y="5193792"/>
            <a:ext cx="9144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333333"/>
                </a:solidFill>
                <a:latin typeface="맑은 고딕"/>
              </a:defRPr>
            </a:pPr>
            <a:r>
              <a:t>•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77240" y="5193792"/>
            <a:ext cx="15544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333333"/>
                </a:solidFill>
                <a:latin typeface="맑은 고딕"/>
              </a:defRPr>
            </a:pPr>
            <a:r>
              <a:t>가격 폭등: 5-10배 인상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58368" y="5376672"/>
            <a:ext cx="9144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333333"/>
                </a:solidFill>
                <a:latin typeface="맑은 고딕"/>
              </a:defRPr>
            </a:pPr>
            <a:r>
              <a:t>•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77240" y="5376672"/>
            <a:ext cx="15544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333333"/>
                </a:solidFill>
                <a:latin typeface="맑은 고딕"/>
              </a:defRPr>
            </a:pPr>
            <a:r>
              <a:t>조달 리드타임: 2주→8주</a:t>
            </a:r>
          </a:p>
        </p:txBody>
      </p:sp>
      <p:cxnSp>
        <p:nvCxnSpPr>
          <p:cNvPr id="32" name="Connector 31"/>
          <p:cNvCxnSpPr/>
          <p:nvPr/>
        </p:nvCxnSpPr>
        <p:spPr>
          <a:xfrm flipV="1">
            <a:off x="2377440" y="3520440"/>
            <a:ext cx="365760" cy="1394460"/>
          </a:xfrm>
          <a:prstGeom prst="line">
            <a:avLst/>
          </a:prstGeom>
          <a:ln w="25400">
            <a:solidFill>
              <a:srgbClr val="66666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3" name="Rectangle 32"/>
          <p:cNvSpPr/>
          <p:nvPr/>
        </p:nvSpPr>
        <p:spPr>
          <a:xfrm>
            <a:off x="5212080" y="2834640"/>
            <a:ext cx="1828800" cy="1463040"/>
          </a:xfrm>
          <a:prstGeom prst="rect">
            <a:avLst/>
          </a:prstGeom>
          <a:solidFill>
            <a:srgbClr val="E6E6E6"/>
          </a:solidFill>
          <a:ln w="12700">
            <a:solidFill>
              <a:srgbClr val="6666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5303520" y="2907792"/>
            <a:ext cx="16459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000000"/>
                </a:solidFill>
                <a:latin typeface="맑은 고딕"/>
              </a:defRPr>
            </a:pPr>
            <a:r>
              <a:t>생산 마비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321808" y="3182112"/>
            <a:ext cx="9144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333333"/>
                </a:solidFill>
                <a:latin typeface="맑은 고딕"/>
              </a:defRPr>
            </a:pPr>
            <a:r>
              <a:t>•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440680" y="3182112"/>
            <a:ext cx="15544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333333"/>
                </a:solidFill>
                <a:latin typeface="맑은 고딕"/>
              </a:defRPr>
            </a:pPr>
            <a:r>
              <a:t>라인 중단: 평균 3주 정지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321808" y="3364992"/>
            <a:ext cx="9144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333333"/>
                </a:solidFill>
                <a:latin typeface="맑은 고딕"/>
              </a:defRPr>
            </a:pPr>
            <a:r>
              <a:t>•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440680" y="3364992"/>
            <a:ext cx="15544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333333"/>
                </a:solidFill>
                <a:latin typeface="맑은 고딕"/>
              </a:defRPr>
            </a:pPr>
            <a:r>
              <a:t>가동률 하락: 30-40%로 급락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321808" y="3547872"/>
            <a:ext cx="9144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333333"/>
                </a:solidFill>
                <a:latin typeface="맑은 고딕"/>
              </a:defRPr>
            </a:pPr>
            <a:r>
              <a:t>•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5440680" y="3547872"/>
            <a:ext cx="15544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333333"/>
                </a:solidFill>
                <a:latin typeface="맑은 고딕"/>
              </a:defRPr>
            </a:pPr>
            <a:r>
              <a:t>납기 지연: 2-3개월 밀림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5321808" y="3730752"/>
            <a:ext cx="9144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333333"/>
                </a:solidFill>
                <a:latin typeface="맑은 고딕"/>
              </a:defRPr>
            </a:pPr>
            <a:r>
              <a:t>•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5440680" y="3730752"/>
            <a:ext cx="15544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333333"/>
                </a:solidFill>
                <a:latin typeface="맑은 고딕"/>
              </a:defRPr>
            </a:pPr>
            <a:r>
              <a:t>매출 손실: 월 평균 20억원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5321808" y="3913632"/>
            <a:ext cx="9144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333333"/>
                </a:solidFill>
                <a:latin typeface="맑은 고딕"/>
              </a:defRPr>
            </a:pPr>
            <a:r>
              <a:t>•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5440680" y="3913632"/>
            <a:ext cx="15544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333333"/>
                </a:solidFill>
                <a:latin typeface="맑은 고딕"/>
              </a:defRPr>
            </a:pPr>
            <a:r>
              <a:t>인력 유휴: 40% 휴업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5321808" y="4096512"/>
            <a:ext cx="9144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333333"/>
                </a:solidFill>
                <a:latin typeface="맑은 고딕"/>
              </a:defRPr>
            </a:pPr>
            <a:r>
              <a:t>•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440680" y="4096512"/>
            <a:ext cx="15544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333333"/>
                </a:solidFill>
                <a:latin typeface="맑은 고딕"/>
              </a:defRPr>
            </a:pPr>
            <a:r>
              <a:t>고객 이탈: 15% 증가</a:t>
            </a:r>
          </a:p>
        </p:txBody>
      </p:sp>
      <p:cxnSp>
        <p:nvCxnSpPr>
          <p:cNvPr id="47" name="Connector 46"/>
          <p:cNvCxnSpPr/>
          <p:nvPr/>
        </p:nvCxnSpPr>
        <p:spPr>
          <a:xfrm flipH="1" flipV="1">
            <a:off x="4754880" y="3520440"/>
            <a:ext cx="457200" cy="45720"/>
          </a:xfrm>
          <a:prstGeom prst="line">
            <a:avLst/>
          </a:prstGeom>
          <a:ln w="25400">
            <a:solidFill>
              <a:srgbClr val="66666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8" name="Rectangle 47"/>
          <p:cNvSpPr/>
          <p:nvPr/>
        </p:nvSpPr>
        <p:spPr>
          <a:xfrm>
            <a:off x="7040880" y="1783080"/>
            <a:ext cx="2377440" cy="320040"/>
          </a:xfrm>
          <a:prstGeom prst="rect">
            <a:avLst/>
          </a:prstGeom>
          <a:solidFill>
            <a:srgbClr val="666666"/>
          </a:solidFill>
          <a:ln w="1270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7132320" y="1828800"/>
            <a:ext cx="21945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  <a:latin typeface="맑은 고딕"/>
              </a:defRPr>
            </a:pPr>
            <a:r>
              <a:t>2020년 위기 진행 타임라인</a:t>
            </a:r>
          </a:p>
        </p:txBody>
      </p:sp>
      <p:sp>
        <p:nvSpPr>
          <p:cNvPr id="50" name="Rectangle 49"/>
          <p:cNvSpPr/>
          <p:nvPr/>
        </p:nvSpPr>
        <p:spPr>
          <a:xfrm>
            <a:off x="7132320" y="2240280"/>
            <a:ext cx="365760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7159752" y="2276856"/>
            <a:ext cx="310896" cy="137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000000"/>
                </a:solidFill>
                <a:latin typeface="맑은 고딕"/>
              </a:defRPr>
            </a:pPr>
            <a:r>
              <a:t>1월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7159752" y="2441448"/>
            <a:ext cx="310896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0">
                <a:solidFill>
                  <a:srgbClr val="333333"/>
                </a:solidFill>
                <a:latin typeface="맑은 고딕"/>
              </a:defRPr>
            </a:pPr>
            <a:r>
              <a:t>우한 봉쇄</a:t>
            </a:r>
          </a:p>
        </p:txBody>
      </p:sp>
      <p:sp>
        <p:nvSpPr>
          <p:cNvPr id="53" name="Rectangle 52"/>
          <p:cNvSpPr/>
          <p:nvPr/>
        </p:nvSpPr>
        <p:spPr>
          <a:xfrm>
            <a:off x="7525512" y="2240280"/>
            <a:ext cx="365760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7552944" y="2276856"/>
            <a:ext cx="310896" cy="137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000000"/>
                </a:solidFill>
                <a:latin typeface="맑은 고딕"/>
              </a:defRPr>
            </a:pPr>
            <a:r>
              <a:t>2월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7552944" y="2441448"/>
            <a:ext cx="310896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0">
                <a:solidFill>
                  <a:srgbClr val="333333"/>
                </a:solidFill>
                <a:latin typeface="맑은 고딕"/>
              </a:defRPr>
            </a:pPr>
            <a:r>
              <a:t>중국 공장 중단</a:t>
            </a:r>
          </a:p>
        </p:txBody>
      </p:sp>
      <p:sp>
        <p:nvSpPr>
          <p:cNvPr id="56" name="Rectangle 55"/>
          <p:cNvSpPr/>
          <p:nvPr/>
        </p:nvSpPr>
        <p:spPr>
          <a:xfrm>
            <a:off x="7918704" y="2240280"/>
            <a:ext cx="365760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7946136" y="2276856"/>
            <a:ext cx="310896" cy="137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000000"/>
                </a:solidFill>
                <a:latin typeface="맑은 고딕"/>
              </a:defRPr>
            </a:pPr>
            <a:r>
              <a:t>3월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7946136" y="2441448"/>
            <a:ext cx="310896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0">
                <a:solidFill>
                  <a:srgbClr val="333333"/>
                </a:solidFill>
                <a:latin typeface="맑은 고딕"/>
              </a:defRPr>
            </a:pPr>
            <a:r>
              <a:t>글로벌 확산</a:t>
            </a:r>
          </a:p>
        </p:txBody>
      </p:sp>
      <p:sp>
        <p:nvSpPr>
          <p:cNvPr id="59" name="Rectangle 58"/>
          <p:cNvSpPr/>
          <p:nvPr/>
        </p:nvSpPr>
        <p:spPr>
          <a:xfrm>
            <a:off x="8311896" y="2240280"/>
            <a:ext cx="365760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8339327" y="2276856"/>
            <a:ext cx="310896" cy="137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000000"/>
                </a:solidFill>
                <a:latin typeface="맑은 고딕"/>
              </a:defRPr>
            </a:pPr>
            <a:r>
              <a:t>4월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8339327" y="2441448"/>
            <a:ext cx="310896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0">
                <a:solidFill>
                  <a:srgbClr val="333333"/>
                </a:solidFill>
                <a:latin typeface="맑은 고딕"/>
              </a:defRPr>
            </a:pPr>
            <a:r>
              <a:t>항공편 90%↓</a:t>
            </a:r>
          </a:p>
        </p:txBody>
      </p:sp>
      <p:sp>
        <p:nvSpPr>
          <p:cNvPr id="62" name="Rectangle 61"/>
          <p:cNvSpPr/>
          <p:nvPr/>
        </p:nvSpPr>
        <p:spPr>
          <a:xfrm>
            <a:off x="8705088" y="2240280"/>
            <a:ext cx="365760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8732519" y="2276856"/>
            <a:ext cx="310896" cy="137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000000"/>
                </a:solidFill>
                <a:latin typeface="맑은 고딕"/>
              </a:defRPr>
            </a:pPr>
            <a:r>
              <a:t>5월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8732519" y="2441448"/>
            <a:ext cx="310896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0">
                <a:solidFill>
                  <a:srgbClr val="333333"/>
                </a:solidFill>
                <a:latin typeface="맑은 고딕"/>
              </a:defRPr>
            </a:pPr>
            <a:r>
              <a:t>반도체 부족</a:t>
            </a:r>
          </a:p>
        </p:txBody>
      </p:sp>
      <p:sp>
        <p:nvSpPr>
          <p:cNvPr id="65" name="Rectangle 64"/>
          <p:cNvSpPr/>
          <p:nvPr/>
        </p:nvSpPr>
        <p:spPr>
          <a:xfrm>
            <a:off x="9098280" y="2240280"/>
            <a:ext cx="365760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9125711" y="2276856"/>
            <a:ext cx="310896" cy="137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000000"/>
                </a:solidFill>
                <a:latin typeface="맑은 고딕"/>
              </a:defRPr>
            </a:pPr>
            <a:r>
              <a:t>6월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9125711" y="2441448"/>
            <a:ext cx="310896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0">
                <a:solidFill>
                  <a:srgbClr val="333333"/>
                </a:solidFill>
                <a:latin typeface="맑은 고딕"/>
              </a:defRPr>
            </a:pPr>
            <a:r>
              <a:t>자동차 감산</a:t>
            </a:r>
          </a:p>
        </p:txBody>
      </p:sp>
      <p:sp>
        <p:nvSpPr>
          <p:cNvPr id="68" name="Rectangle 67"/>
          <p:cNvSpPr/>
          <p:nvPr/>
        </p:nvSpPr>
        <p:spPr>
          <a:xfrm>
            <a:off x="7132320" y="2770632"/>
            <a:ext cx="365760" cy="457200"/>
          </a:xfrm>
          <a:prstGeom prst="rect">
            <a:avLst/>
          </a:prstGeom>
          <a:solidFill>
            <a:srgbClr val="E6E6E6"/>
          </a:solidFill>
          <a:ln w="9525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7159752" y="2807208"/>
            <a:ext cx="310896" cy="137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000000"/>
                </a:solidFill>
                <a:latin typeface="맑은 고딕"/>
              </a:defRPr>
            </a:pPr>
            <a:r>
              <a:t>7월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7159752" y="2971800"/>
            <a:ext cx="310896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0">
                <a:solidFill>
                  <a:srgbClr val="333333"/>
                </a:solidFill>
                <a:latin typeface="맑은 고딕"/>
              </a:defRPr>
            </a:pPr>
            <a:r>
              <a:t>2차 확산</a:t>
            </a:r>
          </a:p>
        </p:txBody>
      </p:sp>
      <p:sp>
        <p:nvSpPr>
          <p:cNvPr id="71" name="Rectangle 70"/>
          <p:cNvSpPr/>
          <p:nvPr/>
        </p:nvSpPr>
        <p:spPr>
          <a:xfrm>
            <a:off x="7525512" y="2770632"/>
            <a:ext cx="365760" cy="457200"/>
          </a:xfrm>
          <a:prstGeom prst="rect">
            <a:avLst/>
          </a:prstGeom>
          <a:solidFill>
            <a:srgbClr val="E6E6E6"/>
          </a:solidFill>
          <a:ln w="9525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7552944" y="2807208"/>
            <a:ext cx="310896" cy="137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000000"/>
                </a:solidFill>
                <a:latin typeface="맑은 고딕"/>
              </a:defRPr>
            </a:pPr>
            <a:r>
              <a:t>8월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7552944" y="2971800"/>
            <a:ext cx="310896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0">
                <a:solidFill>
                  <a:srgbClr val="333333"/>
                </a:solidFill>
                <a:latin typeface="맑은 고딕"/>
              </a:defRPr>
            </a:pPr>
            <a:r>
              <a:t>해운 마비</a:t>
            </a:r>
          </a:p>
        </p:txBody>
      </p:sp>
      <p:sp>
        <p:nvSpPr>
          <p:cNvPr id="74" name="Rectangle 73"/>
          <p:cNvSpPr/>
          <p:nvPr/>
        </p:nvSpPr>
        <p:spPr>
          <a:xfrm>
            <a:off x="7918704" y="2770632"/>
            <a:ext cx="365760" cy="457200"/>
          </a:xfrm>
          <a:prstGeom prst="rect">
            <a:avLst/>
          </a:prstGeom>
          <a:solidFill>
            <a:srgbClr val="E6E6E6"/>
          </a:solidFill>
          <a:ln w="9525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7946136" y="2807208"/>
            <a:ext cx="310896" cy="137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000000"/>
                </a:solidFill>
                <a:latin typeface="맑은 고딕"/>
              </a:defRPr>
            </a:pPr>
            <a:r>
              <a:t>9월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7946136" y="2971800"/>
            <a:ext cx="310896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0">
                <a:solidFill>
                  <a:srgbClr val="333333"/>
                </a:solidFill>
                <a:latin typeface="맑은 고딕"/>
              </a:defRPr>
            </a:pPr>
            <a:r>
              <a:t>부품 품귀</a:t>
            </a:r>
          </a:p>
        </p:txBody>
      </p:sp>
      <p:sp>
        <p:nvSpPr>
          <p:cNvPr id="77" name="Rectangle 76"/>
          <p:cNvSpPr/>
          <p:nvPr/>
        </p:nvSpPr>
        <p:spPr>
          <a:xfrm>
            <a:off x="8311896" y="2770632"/>
            <a:ext cx="365760" cy="457200"/>
          </a:xfrm>
          <a:prstGeom prst="rect">
            <a:avLst/>
          </a:prstGeom>
          <a:solidFill>
            <a:srgbClr val="E6E6E6"/>
          </a:solidFill>
          <a:ln w="9525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TextBox 77"/>
          <p:cNvSpPr txBox="1"/>
          <p:nvPr/>
        </p:nvSpPr>
        <p:spPr>
          <a:xfrm>
            <a:off x="8339327" y="2807208"/>
            <a:ext cx="310896" cy="137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000000"/>
                </a:solidFill>
                <a:latin typeface="맑은 고딕"/>
              </a:defRPr>
            </a:pPr>
            <a:r>
              <a:t>10월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339327" y="2971800"/>
            <a:ext cx="310896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0">
                <a:solidFill>
                  <a:srgbClr val="333333"/>
                </a:solidFill>
                <a:latin typeface="맑은 고딕"/>
              </a:defRPr>
            </a:pPr>
            <a:r>
              <a:t>생산 지연</a:t>
            </a:r>
          </a:p>
        </p:txBody>
      </p:sp>
      <p:sp>
        <p:nvSpPr>
          <p:cNvPr id="80" name="Rectangle 79"/>
          <p:cNvSpPr/>
          <p:nvPr/>
        </p:nvSpPr>
        <p:spPr>
          <a:xfrm>
            <a:off x="8705088" y="2770632"/>
            <a:ext cx="365760" cy="457200"/>
          </a:xfrm>
          <a:prstGeom prst="rect">
            <a:avLst/>
          </a:prstGeom>
          <a:solidFill>
            <a:srgbClr val="E6E6E6"/>
          </a:solidFill>
          <a:ln w="9525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8732519" y="2807208"/>
            <a:ext cx="310896" cy="137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000000"/>
                </a:solidFill>
                <a:latin typeface="맑은 고딕"/>
              </a:defRPr>
            </a:pPr>
            <a:r>
              <a:t>11월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8732519" y="2971800"/>
            <a:ext cx="310896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0">
                <a:solidFill>
                  <a:srgbClr val="333333"/>
                </a:solidFill>
                <a:latin typeface="맑은 고딕"/>
              </a:defRPr>
            </a:pPr>
            <a:r>
              <a:t>백신 개발</a:t>
            </a:r>
          </a:p>
        </p:txBody>
      </p:sp>
      <p:sp>
        <p:nvSpPr>
          <p:cNvPr id="83" name="Rectangle 82"/>
          <p:cNvSpPr/>
          <p:nvPr/>
        </p:nvSpPr>
        <p:spPr>
          <a:xfrm>
            <a:off x="9098280" y="2770632"/>
            <a:ext cx="365760" cy="457200"/>
          </a:xfrm>
          <a:prstGeom prst="rect">
            <a:avLst/>
          </a:prstGeom>
          <a:solidFill>
            <a:srgbClr val="E6E6E6"/>
          </a:solidFill>
          <a:ln w="9525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9125711" y="2807208"/>
            <a:ext cx="310896" cy="137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000000"/>
                </a:solidFill>
                <a:latin typeface="맑은 고딕"/>
              </a:defRPr>
            </a:pPr>
            <a:r>
              <a:t>12월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9125711" y="2971800"/>
            <a:ext cx="310896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0">
                <a:solidFill>
                  <a:srgbClr val="333333"/>
                </a:solidFill>
                <a:latin typeface="맑은 고딕"/>
              </a:defRPr>
            </a:pPr>
            <a:r>
              <a:t>점진 회복</a:t>
            </a:r>
          </a:p>
        </p:txBody>
      </p:sp>
      <p:sp>
        <p:nvSpPr>
          <p:cNvPr id="86" name="Rectangle 85"/>
          <p:cNvSpPr/>
          <p:nvPr/>
        </p:nvSpPr>
        <p:spPr>
          <a:xfrm>
            <a:off x="7040880" y="3438144"/>
            <a:ext cx="2377440" cy="274320"/>
          </a:xfrm>
          <a:prstGeom prst="rect">
            <a:avLst/>
          </a:prstGeom>
          <a:solidFill>
            <a:srgbClr val="333333"/>
          </a:solidFill>
          <a:ln w="1270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TextBox 86"/>
          <p:cNvSpPr txBox="1"/>
          <p:nvPr/>
        </p:nvSpPr>
        <p:spPr>
          <a:xfrm>
            <a:off x="7132320" y="3465576"/>
            <a:ext cx="2194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  <a:latin typeface="맑은 고딕"/>
              </a:defRPr>
            </a:pPr>
            <a:r>
              <a:t>산업별 피해 통계</a:t>
            </a:r>
          </a:p>
        </p:txBody>
      </p:sp>
      <p:sp>
        <p:nvSpPr>
          <p:cNvPr id="88" name="Rectangle 87"/>
          <p:cNvSpPr/>
          <p:nvPr/>
        </p:nvSpPr>
        <p:spPr>
          <a:xfrm>
            <a:off x="7040880" y="3785616"/>
            <a:ext cx="2377440" cy="384048"/>
          </a:xfrm>
          <a:prstGeom prst="rect">
            <a:avLst/>
          </a:prstGeom>
          <a:solidFill>
            <a:srgbClr val="FFFFFF"/>
          </a:solidFill>
          <a:ln w="9525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TextBox 88"/>
          <p:cNvSpPr txBox="1"/>
          <p:nvPr/>
        </p:nvSpPr>
        <p:spPr>
          <a:xfrm>
            <a:off x="7086600" y="3831336"/>
            <a:ext cx="502920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00000"/>
                </a:solidFill>
                <a:latin typeface="맑은 고딕"/>
              </a:defRPr>
            </a:pPr>
            <a:r>
              <a:t>자동차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7086600" y="3986784"/>
            <a:ext cx="1371600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333333"/>
                </a:solidFill>
                <a:latin typeface="맑은 고딕"/>
              </a:defRPr>
            </a:pPr>
            <a:r>
              <a:t>반도체 부족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8503920" y="3895344"/>
            <a:ext cx="7772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000000"/>
                </a:solidFill>
                <a:latin typeface="맑은 고딕"/>
              </a:defRPr>
            </a:pPr>
            <a:r>
              <a:t>생산 -28%</a:t>
            </a:r>
          </a:p>
        </p:txBody>
      </p:sp>
      <p:sp>
        <p:nvSpPr>
          <p:cNvPr id="92" name="Rectangle 91"/>
          <p:cNvSpPr/>
          <p:nvPr/>
        </p:nvSpPr>
        <p:spPr>
          <a:xfrm>
            <a:off x="7040880" y="4224528"/>
            <a:ext cx="2377440" cy="384048"/>
          </a:xfrm>
          <a:prstGeom prst="rect">
            <a:avLst/>
          </a:prstGeom>
          <a:solidFill>
            <a:srgbClr val="FFFFFF"/>
          </a:solidFill>
          <a:ln w="9525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TextBox 92"/>
          <p:cNvSpPr txBox="1"/>
          <p:nvPr/>
        </p:nvSpPr>
        <p:spPr>
          <a:xfrm>
            <a:off x="7086600" y="4270248"/>
            <a:ext cx="502920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00000"/>
                </a:solidFill>
                <a:latin typeface="맑은 고딕"/>
              </a:defRPr>
            </a:pPr>
            <a:r>
              <a:t>전자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7086600" y="4425696"/>
            <a:ext cx="1371600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333333"/>
                </a:solidFill>
                <a:latin typeface="맑은 고딕"/>
              </a:defRPr>
            </a:pPr>
            <a:r>
              <a:t>부품 결품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8503920" y="4334256"/>
            <a:ext cx="7772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000000"/>
                </a:solidFill>
                <a:latin typeface="맑은 고딕"/>
              </a:defRPr>
            </a:pPr>
            <a:r>
              <a:t>출시 3개월 지연</a:t>
            </a:r>
          </a:p>
        </p:txBody>
      </p:sp>
      <p:sp>
        <p:nvSpPr>
          <p:cNvPr id="96" name="Rectangle 95"/>
          <p:cNvSpPr/>
          <p:nvPr/>
        </p:nvSpPr>
        <p:spPr>
          <a:xfrm>
            <a:off x="7040880" y="4663440"/>
            <a:ext cx="2377440" cy="384048"/>
          </a:xfrm>
          <a:prstGeom prst="rect">
            <a:avLst/>
          </a:prstGeom>
          <a:solidFill>
            <a:srgbClr val="FFFFFF"/>
          </a:solidFill>
          <a:ln w="9525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TextBox 96"/>
          <p:cNvSpPr txBox="1"/>
          <p:nvPr/>
        </p:nvSpPr>
        <p:spPr>
          <a:xfrm>
            <a:off x="7086600" y="4709160"/>
            <a:ext cx="502920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00000"/>
                </a:solidFill>
                <a:latin typeface="맑은 고딕"/>
              </a:defRPr>
            </a:pPr>
            <a:r>
              <a:t>의료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7086600" y="4864608"/>
            <a:ext cx="1371600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333333"/>
                </a:solidFill>
                <a:latin typeface="맑은 고딕"/>
              </a:defRPr>
            </a:pPr>
            <a:r>
              <a:t>PPE 부족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8503920" y="4773168"/>
            <a:ext cx="7772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000000"/>
                </a:solidFill>
                <a:latin typeface="맑은 고딕"/>
              </a:defRPr>
            </a:pPr>
            <a:r>
              <a:t>가격 10배↑</a:t>
            </a:r>
          </a:p>
        </p:txBody>
      </p:sp>
      <p:sp>
        <p:nvSpPr>
          <p:cNvPr id="100" name="Rectangle 99"/>
          <p:cNvSpPr/>
          <p:nvPr/>
        </p:nvSpPr>
        <p:spPr>
          <a:xfrm>
            <a:off x="7040880" y="5102352"/>
            <a:ext cx="2377440" cy="384048"/>
          </a:xfrm>
          <a:prstGeom prst="rect">
            <a:avLst/>
          </a:prstGeom>
          <a:solidFill>
            <a:srgbClr val="FFFFFF"/>
          </a:solidFill>
          <a:ln w="9525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TextBox 100"/>
          <p:cNvSpPr txBox="1"/>
          <p:nvPr/>
        </p:nvSpPr>
        <p:spPr>
          <a:xfrm>
            <a:off x="7086600" y="5148072"/>
            <a:ext cx="502920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00000"/>
                </a:solidFill>
                <a:latin typeface="맑은 고딕"/>
              </a:defRPr>
            </a:pPr>
            <a:r>
              <a:t>식품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7086600" y="5303520"/>
            <a:ext cx="1371600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333333"/>
                </a:solidFill>
                <a:latin typeface="맑은 고딕"/>
              </a:defRPr>
            </a:pPr>
            <a:r>
              <a:t>포장재 부족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8503920" y="5212080"/>
            <a:ext cx="7772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000000"/>
                </a:solidFill>
                <a:latin typeface="맑은 고딕"/>
              </a:defRPr>
            </a:pPr>
            <a:r>
              <a:t>가동률 60%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7040880" y="5541264"/>
            <a:ext cx="2377440" cy="384048"/>
          </a:xfrm>
          <a:prstGeom prst="rect">
            <a:avLst/>
          </a:prstGeom>
          <a:solidFill>
            <a:srgbClr val="FFFFFF"/>
          </a:solidFill>
          <a:ln w="9525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7086600" y="5586984"/>
            <a:ext cx="502920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00000"/>
                </a:solidFill>
                <a:latin typeface="맑은 고딕"/>
              </a:defRPr>
            </a:pPr>
            <a:r>
              <a:t>항공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086600" y="5742432"/>
            <a:ext cx="1371600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333333"/>
                </a:solidFill>
                <a:latin typeface="맑은 고딕"/>
              </a:defRPr>
            </a:pPr>
            <a:r>
              <a:t>수요 급감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503920" y="5650992"/>
            <a:ext cx="7772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000000"/>
                </a:solidFill>
                <a:latin typeface="맑은 고딕"/>
              </a:defRPr>
            </a:pPr>
            <a:r>
              <a:t>운항 -95%</a:t>
            </a:r>
          </a:p>
        </p:txBody>
      </p:sp>
      <p:sp>
        <p:nvSpPr>
          <p:cNvPr id="108" name="Rectangle 107"/>
          <p:cNvSpPr/>
          <p:nvPr/>
        </p:nvSpPr>
        <p:spPr>
          <a:xfrm>
            <a:off x="7040880" y="5980176"/>
            <a:ext cx="2377440" cy="384048"/>
          </a:xfrm>
          <a:prstGeom prst="rect">
            <a:avLst/>
          </a:prstGeom>
          <a:solidFill>
            <a:srgbClr val="FFFFFF"/>
          </a:solidFill>
          <a:ln w="9525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" name="TextBox 108"/>
          <p:cNvSpPr txBox="1"/>
          <p:nvPr/>
        </p:nvSpPr>
        <p:spPr>
          <a:xfrm>
            <a:off x="7086600" y="6025896"/>
            <a:ext cx="502920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00000"/>
                </a:solidFill>
                <a:latin typeface="맑은 고딕"/>
              </a:defRPr>
            </a:pPr>
            <a:r>
              <a:t>물류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7086600" y="6181344"/>
            <a:ext cx="1371600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333333"/>
                </a:solidFill>
                <a:latin typeface="맑은 고딕"/>
              </a:defRPr>
            </a:pPr>
            <a:r>
              <a:t>컨테이너 부족</a:t>
            </a:r>
          </a:p>
        </p:txBody>
      </p:sp>
      <p:sp>
        <p:nvSpPr>
          <p:cNvPr id="111" name="TextBox 110"/>
          <p:cNvSpPr txBox="1"/>
          <p:nvPr/>
        </p:nvSpPr>
        <p:spPr>
          <a:xfrm>
            <a:off x="8503920" y="6089904"/>
            <a:ext cx="7772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000000"/>
                </a:solidFill>
                <a:latin typeface="맑은 고딕"/>
              </a:defRPr>
            </a:pPr>
            <a:r>
              <a:t>운임 5배↑</a:t>
            </a:r>
          </a:p>
        </p:txBody>
      </p:sp>
      <p:sp>
        <p:nvSpPr>
          <p:cNvPr id="112" name="Rectangle 111"/>
          <p:cNvSpPr/>
          <p:nvPr/>
        </p:nvSpPr>
        <p:spPr>
          <a:xfrm>
            <a:off x="822960" y="5943600"/>
            <a:ext cx="2103120" cy="548640"/>
          </a:xfrm>
          <a:prstGeom prst="rect">
            <a:avLst/>
          </a:prstGeom>
          <a:solidFill>
            <a:srgbClr val="E6E6E6"/>
          </a:solidFill>
          <a:ln w="12700">
            <a:solidFill>
              <a:srgbClr val="6666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" name="TextBox 112"/>
          <p:cNvSpPr txBox="1"/>
          <p:nvPr/>
        </p:nvSpPr>
        <p:spPr>
          <a:xfrm>
            <a:off x="868680" y="5989320"/>
            <a:ext cx="2011679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000000"/>
                </a:solidFill>
                <a:latin typeface="맑은 고딕"/>
              </a:defRPr>
            </a:pPr>
            <a:r>
              <a:t>위기 기간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68680" y="6199632"/>
            <a:ext cx="2011679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333333"/>
                </a:solidFill>
                <a:latin typeface="맑은 고딕"/>
              </a:defRPr>
            </a:pPr>
            <a:r>
              <a:t>2020.1-2021.6</a:t>
            </a:r>
            <a:br/>
            <a:r>
              <a:t>18개월</a:t>
            </a:r>
          </a:p>
        </p:txBody>
      </p:sp>
      <p:sp>
        <p:nvSpPr>
          <p:cNvPr id="115" name="Rectangle 114"/>
          <p:cNvSpPr/>
          <p:nvPr/>
        </p:nvSpPr>
        <p:spPr>
          <a:xfrm>
            <a:off x="3017520" y="5943600"/>
            <a:ext cx="2103120" cy="548640"/>
          </a:xfrm>
          <a:prstGeom prst="rect">
            <a:avLst/>
          </a:prstGeom>
          <a:solidFill>
            <a:srgbClr val="FFFFFF"/>
          </a:solidFill>
          <a:ln w="12700">
            <a:solidFill>
              <a:srgbClr val="6666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6" name="TextBox 115"/>
          <p:cNvSpPr txBox="1"/>
          <p:nvPr/>
        </p:nvSpPr>
        <p:spPr>
          <a:xfrm>
            <a:off x="3063239" y="5989320"/>
            <a:ext cx="2011679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000000"/>
                </a:solidFill>
                <a:latin typeface="맑은 고딕"/>
              </a:defRPr>
            </a:pPr>
            <a:r>
              <a:t>경제 손실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3063239" y="6199632"/>
            <a:ext cx="2011679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333333"/>
                </a:solidFill>
                <a:latin typeface="맑은 고딕"/>
              </a:defRPr>
            </a:pPr>
            <a:r>
              <a:t>글로벌 GDP</a:t>
            </a:r>
            <a:br/>
            <a:r>
              <a:t>-3.5%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5212080" y="5943600"/>
            <a:ext cx="2103120" cy="548640"/>
          </a:xfrm>
          <a:prstGeom prst="rect">
            <a:avLst/>
          </a:prstGeom>
          <a:solidFill>
            <a:srgbClr val="E6E6E6"/>
          </a:solidFill>
          <a:ln w="12700">
            <a:solidFill>
              <a:srgbClr val="6666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5257800" y="5989320"/>
            <a:ext cx="2011679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000000"/>
                </a:solidFill>
                <a:latin typeface="맑은 고딕"/>
              </a:defRPr>
            </a:pPr>
            <a:r>
              <a:t>공급망 타격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5257800" y="6199632"/>
            <a:ext cx="2011679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333333"/>
                </a:solidFill>
                <a:latin typeface="맑은 고딕"/>
              </a:defRPr>
            </a:pPr>
            <a:r>
              <a:t>생산 차질</a:t>
            </a:r>
            <a:br/>
            <a:r>
              <a:t>70% 기업</a:t>
            </a:r>
          </a:p>
        </p:txBody>
      </p:sp>
      <p:sp>
        <p:nvSpPr>
          <p:cNvPr id="121" name="Rectangle 120"/>
          <p:cNvSpPr/>
          <p:nvPr/>
        </p:nvSpPr>
        <p:spPr>
          <a:xfrm>
            <a:off x="7406640" y="5943600"/>
            <a:ext cx="2103120" cy="548640"/>
          </a:xfrm>
          <a:prstGeom prst="rect">
            <a:avLst/>
          </a:prstGeom>
          <a:solidFill>
            <a:srgbClr val="FFFFFF"/>
          </a:solidFill>
          <a:ln w="12700">
            <a:solidFill>
              <a:srgbClr val="6666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2" name="TextBox 121"/>
          <p:cNvSpPr txBox="1"/>
          <p:nvPr/>
        </p:nvSpPr>
        <p:spPr>
          <a:xfrm>
            <a:off x="7452360" y="5989320"/>
            <a:ext cx="2011679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000000"/>
                </a:solidFill>
                <a:latin typeface="맑은 고딕"/>
              </a:defRPr>
            </a:pPr>
            <a:r>
              <a:t>전환 동인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7452360" y="6199632"/>
            <a:ext cx="2011679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333333"/>
                </a:solidFill>
                <a:latin typeface="맑은 고딕"/>
              </a:defRPr>
            </a:pPr>
            <a:r>
              <a:t>JIT → JIC</a:t>
            </a:r>
            <a:br/>
            <a:r>
              <a:t>안전재고 필수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274320" y="274320"/>
            <a:ext cx="9354312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000000"/>
                </a:solidFill>
                <a:latin typeface="맑은 고딕"/>
              </a:defRPr>
            </a:pPr>
            <a:r>
              <a:t>1.3 ⚡ JIT vs 🛡️ JIC 비교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0" y="6400800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666666"/>
                </a:solidFill>
                <a:latin typeface="Arial"/>
              </a:defRPr>
            </a:pPr>
            <a:r>
              <a:t>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" y="923544"/>
            <a:ext cx="9436608" cy="5760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666666"/>
                </a:solidFill>
                <a:latin typeface="맑은 고딕"/>
              </a:defRPr>
            </a:pPr>
            <a:r>
              <a:t>JIT는 원가 절감에, JIC는 공급 안정성에 초점을 맞춰 서로 다른 리스크 환경에 대응합니다.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1828800"/>
            <a:ext cx="4114800" cy="411480"/>
          </a:xfrm>
          <a:prstGeom prst="rect">
            <a:avLst/>
          </a:prstGeom>
          <a:solidFill>
            <a:srgbClr val="666666"/>
          </a:solidFill>
          <a:ln w="190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1901952"/>
            <a:ext cx="3931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FFFFFF"/>
                </a:solidFill>
                <a:latin typeface="맑은 고딕"/>
              </a:defRPr>
            </a:pPr>
            <a:r>
              <a:t>JIT (Just-In-Time)</a:t>
            </a:r>
            <a:br/>
            <a:r>
              <a:t>적시생산 방식</a:t>
            </a:r>
          </a:p>
        </p:txBody>
      </p:sp>
      <p:sp>
        <p:nvSpPr>
          <p:cNvPr id="7" name="Rectangle 6"/>
          <p:cNvSpPr/>
          <p:nvPr/>
        </p:nvSpPr>
        <p:spPr>
          <a:xfrm>
            <a:off x="4983480" y="1828800"/>
            <a:ext cx="4114800" cy="411480"/>
          </a:xfrm>
          <a:prstGeom prst="rect">
            <a:avLst/>
          </a:prstGeom>
          <a:solidFill>
            <a:srgbClr val="333333"/>
          </a:solidFill>
          <a:ln w="190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74920" y="1901952"/>
            <a:ext cx="3931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FFFFFF"/>
                </a:solidFill>
                <a:latin typeface="맑은 고딕"/>
              </a:defRPr>
            </a:pPr>
            <a:r>
              <a:t>JIC (Just-In-Case)</a:t>
            </a:r>
            <a:br/>
            <a:r>
              <a:t>만일 대비 방식</a:t>
            </a:r>
          </a:p>
        </p:txBody>
      </p:sp>
      <p:sp>
        <p:nvSpPr>
          <p:cNvPr id="9" name="Rectangle 8"/>
          <p:cNvSpPr/>
          <p:nvPr/>
        </p:nvSpPr>
        <p:spPr>
          <a:xfrm>
            <a:off x="91440" y="2331720"/>
            <a:ext cx="548640" cy="438912"/>
          </a:xfrm>
          <a:prstGeom prst="rect">
            <a:avLst/>
          </a:prstGeom>
          <a:solidFill>
            <a:srgbClr val="E6E6E6"/>
          </a:solidFill>
          <a:ln w="9525">
            <a:solidFill>
              <a:srgbClr val="6666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9728" y="2468879"/>
            <a:ext cx="512064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000000"/>
                </a:solidFill>
                <a:latin typeface="맑은 고딕"/>
              </a:defRPr>
            </a:pPr>
            <a:r>
              <a:t>목표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31520" y="2331720"/>
            <a:ext cx="4114800" cy="438912"/>
          </a:xfrm>
          <a:prstGeom prst="rect">
            <a:avLst/>
          </a:prstGeom>
          <a:solidFill>
            <a:srgbClr val="FFFFFF"/>
          </a:solidFill>
          <a:ln w="9525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04672" y="2359151"/>
            <a:ext cx="109728" cy="1280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333333"/>
                </a:solidFill>
                <a:latin typeface="맑은 고딕"/>
              </a:defRPr>
            </a:pPr>
            <a:r>
              <a:t>•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32688" y="2359151"/>
            <a:ext cx="3840480" cy="1280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333333"/>
                </a:solidFill>
                <a:latin typeface="맑은 고딕"/>
              </a:defRPr>
            </a:pPr>
            <a:r>
              <a:t>원가 절감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04672" y="2487168"/>
            <a:ext cx="109728" cy="1280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333333"/>
                </a:solidFill>
                <a:latin typeface="맑은 고딕"/>
              </a:defRPr>
            </a:pPr>
            <a:r>
              <a:t>•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32688" y="2487168"/>
            <a:ext cx="3840480" cy="1280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333333"/>
                </a:solidFill>
                <a:latin typeface="맑은 고딕"/>
              </a:defRPr>
            </a:pPr>
            <a:r>
              <a:t>재고 최소화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04672" y="2615184"/>
            <a:ext cx="109728" cy="1280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333333"/>
                </a:solidFill>
                <a:latin typeface="맑은 고딕"/>
              </a:defRPr>
            </a:pPr>
            <a:r>
              <a:t>•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32688" y="2615184"/>
            <a:ext cx="3840480" cy="1280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333333"/>
                </a:solidFill>
                <a:latin typeface="맑은 고딕"/>
              </a:defRPr>
            </a:pPr>
            <a:r>
              <a:t>효율성 극대화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983480" y="2331720"/>
            <a:ext cx="4114800" cy="438912"/>
          </a:xfrm>
          <a:prstGeom prst="rect">
            <a:avLst/>
          </a:prstGeom>
          <a:solidFill>
            <a:srgbClr val="E6E6E6"/>
          </a:solidFill>
          <a:ln w="9525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056632" y="2359151"/>
            <a:ext cx="109728" cy="1280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000000"/>
                </a:solidFill>
                <a:latin typeface="맑은 고딕"/>
              </a:defRPr>
            </a:pPr>
            <a:r>
              <a:t>•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184648" y="2359151"/>
            <a:ext cx="3840480" cy="1280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000000"/>
                </a:solidFill>
                <a:latin typeface="맑은 고딕"/>
              </a:defRPr>
            </a:pPr>
            <a:r>
              <a:t>공급 안정성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056632" y="2487168"/>
            <a:ext cx="109728" cy="1280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000000"/>
                </a:solidFill>
                <a:latin typeface="맑은 고딕"/>
              </a:defRPr>
            </a:pPr>
            <a:r>
              <a:t>•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184648" y="2487168"/>
            <a:ext cx="3840480" cy="1280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000000"/>
                </a:solidFill>
                <a:latin typeface="맑은 고딕"/>
              </a:defRPr>
            </a:pPr>
            <a:r>
              <a:t>리스크 완화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056632" y="2615184"/>
            <a:ext cx="109728" cy="1280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000000"/>
                </a:solidFill>
                <a:latin typeface="맑은 고딕"/>
              </a:defRPr>
            </a:pPr>
            <a:r>
              <a:t>•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184648" y="2615184"/>
            <a:ext cx="3840480" cy="1280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000000"/>
                </a:solidFill>
                <a:latin typeface="맑은 고딕"/>
              </a:defRPr>
            </a:pPr>
            <a:r>
              <a:t>연속성 보장</a:t>
            </a:r>
          </a:p>
        </p:txBody>
      </p:sp>
      <p:sp>
        <p:nvSpPr>
          <p:cNvPr id="25" name="Rectangle 24"/>
          <p:cNvSpPr/>
          <p:nvPr/>
        </p:nvSpPr>
        <p:spPr>
          <a:xfrm>
            <a:off x="91440" y="2788920"/>
            <a:ext cx="548640" cy="438912"/>
          </a:xfrm>
          <a:prstGeom prst="rect">
            <a:avLst/>
          </a:prstGeom>
          <a:solidFill>
            <a:srgbClr val="E6E6E6"/>
          </a:solidFill>
          <a:ln w="9525">
            <a:solidFill>
              <a:srgbClr val="6666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09728" y="2926079"/>
            <a:ext cx="512064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000000"/>
                </a:solidFill>
                <a:latin typeface="맑은 고딕"/>
              </a:defRPr>
            </a:pPr>
            <a:r>
              <a:t>재고 정책</a:t>
            </a:r>
          </a:p>
        </p:txBody>
      </p:sp>
      <p:sp>
        <p:nvSpPr>
          <p:cNvPr id="27" name="Rectangle 26"/>
          <p:cNvSpPr/>
          <p:nvPr/>
        </p:nvSpPr>
        <p:spPr>
          <a:xfrm>
            <a:off x="731520" y="2788920"/>
            <a:ext cx="4114800" cy="438912"/>
          </a:xfrm>
          <a:prstGeom prst="rect">
            <a:avLst/>
          </a:prstGeom>
          <a:solidFill>
            <a:srgbClr val="FFFFFF"/>
          </a:solidFill>
          <a:ln w="9525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04672" y="2816351"/>
            <a:ext cx="109728" cy="1280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333333"/>
                </a:solidFill>
                <a:latin typeface="맑은 고딕"/>
              </a:defRPr>
            </a:pPr>
            <a:r>
              <a:t>•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32688" y="2816351"/>
            <a:ext cx="3840480" cy="1280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333333"/>
                </a:solidFill>
                <a:latin typeface="맑은 고딕"/>
              </a:defRPr>
            </a:pPr>
            <a:r>
              <a:t>Zero 재고 추구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04672" y="2944368"/>
            <a:ext cx="109728" cy="1280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333333"/>
                </a:solidFill>
                <a:latin typeface="맑은 고딕"/>
              </a:defRPr>
            </a:pPr>
            <a:r>
              <a:t>•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32688" y="2944368"/>
            <a:ext cx="3840480" cy="1280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333333"/>
                </a:solidFill>
                <a:latin typeface="맑은 고딕"/>
              </a:defRPr>
            </a:pPr>
            <a:r>
              <a:t>일일 납품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04672" y="3072384"/>
            <a:ext cx="109728" cy="1280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333333"/>
                </a:solidFill>
                <a:latin typeface="맑은 고딕"/>
              </a:defRPr>
            </a:pPr>
            <a:r>
              <a:t>•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32688" y="3072384"/>
            <a:ext cx="3840480" cy="1280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333333"/>
                </a:solidFill>
                <a:latin typeface="맑은 고딕"/>
              </a:defRPr>
            </a:pPr>
            <a:r>
              <a:t>버퍼 없음</a:t>
            </a:r>
          </a:p>
        </p:txBody>
      </p:sp>
      <p:sp>
        <p:nvSpPr>
          <p:cNvPr id="34" name="Rectangle 33"/>
          <p:cNvSpPr/>
          <p:nvPr/>
        </p:nvSpPr>
        <p:spPr>
          <a:xfrm>
            <a:off x="4983480" y="2788920"/>
            <a:ext cx="4114800" cy="438912"/>
          </a:xfrm>
          <a:prstGeom prst="rect">
            <a:avLst/>
          </a:prstGeom>
          <a:solidFill>
            <a:srgbClr val="E6E6E6"/>
          </a:solidFill>
          <a:ln w="9525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5056632" y="2816351"/>
            <a:ext cx="109728" cy="1280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000000"/>
                </a:solidFill>
                <a:latin typeface="맑은 고딕"/>
              </a:defRPr>
            </a:pPr>
            <a:r>
              <a:t>•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184648" y="2816351"/>
            <a:ext cx="3840480" cy="1280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000000"/>
                </a:solidFill>
                <a:latin typeface="맑은 고딕"/>
              </a:defRPr>
            </a:pPr>
            <a:r>
              <a:t>안전재고 확보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056632" y="2944368"/>
            <a:ext cx="109728" cy="1280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000000"/>
                </a:solidFill>
                <a:latin typeface="맑은 고딕"/>
              </a:defRPr>
            </a:pPr>
            <a:r>
              <a:t>•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184648" y="2944368"/>
            <a:ext cx="3840480" cy="1280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000000"/>
                </a:solidFill>
                <a:latin typeface="맑은 고딕"/>
              </a:defRPr>
            </a:pPr>
            <a:r>
              <a:t>2-3개월 버퍼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056632" y="3072384"/>
            <a:ext cx="109728" cy="1280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000000"/>
                </a:solidFill>
                <a:latin typeface="맑은 고딕"/>
              </a:defRPr>
            </a:pPr>
            <a:r>
              <a:t>•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5184648" y="3072384"/>
            <a:ext cx="3840480" cy="1280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000000"/>
                </a:solidFill>
                <a:latin typeface="맑은 고딕"/>
              </a:defRPr>
            </a:pPr>
            <a:r>
              <a:t>다단계 재고</a:t>
            </a:r>
          </a:p>
        </p:txBody>
      </p:sp>
      <p:sp>
        <p:nvSpPr>
          <p:cNvPr id="41" name="Rectangle 40"/>
          <p:cNvSpPr/>
          <p:nvPr/>
        </p:nvSpPr>
        <p:spPr>
          <a:xfrm>
            <a:off x="91440" y="3246120"/>
            <a:ext cx="548640" cy="438912"/>
          </a:xfrm>
          <a:prstGeom prst="rect">
            <a:avLst/>
          </a:prstGeom>
          <a:solidFill>
            <a:srgbClr val="E6E6E6"/>
          </a:solidFill>
          <a:ln w="9525">
            <a:solidFill>
              <a:srgbClr val="6666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109728" y="3383279"/>
            <a:ext cx="512064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000000"/>
                </a:solidFill>
                <a:latin typeface="맑은 고딕"/>
              </a:defRPr>
            </a:pPr>
            <a:r>
              <a:t>공급업체</a:t>
            </a:r>
          </a:p>
        </p:txBody>
      </p:sp>
      <p:sp>
        <p:nvSpPr>
          <p:cNvPr id="43" name="Rectangle 42"/>
          <p:cNvSpPr/>
          <p:nvPr/>
        </p:nvSpPr>
        <p:spPr>
          <a:xfrm>
            <a:off x="731520" y="3246120"/>
            <a:ext cx="4114800" cy="438912"/>
          </a:xfrm>
          <a:prstGeom prst="rect">
            <a:avLst/>
          </a:prstGeom>
          <a:solidFill>
            <a:srgbClr val="FFFFFF"/>
          </a:solidFill>
          <a:ln w="9525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804672" y="3273551"/>
            <a:ext cx="109728" cy="1280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333333"/>
                </a:solidFill>
                <a:latin typeface="맑은 고딕"/>
              </a:defRPr>
            </a:pPr>
            <a:r>
              <a:t>•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932688" y="3273551"/>
            <a:ext cx="3840480" cy="1280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333333"/>
                </a:solidFill>
                <a:latin typeface="맑은 고딕"/>
              </a:defRPr>
            </a:pPr>
            <a:r>
              <a:t>단일 공급원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804672" y="3401568"/>
            <a:ext cx="109728" cy="1280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333333"/>
                </a:solidFill>
                <a:latin typeface="맑은 고딕"/>
              </a:defRPr>
            </a:pPr>
            <a:r>
              <a:t>•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932688" y="3401568"/>
            <a:ext cx="3840480" cy="1280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333333"/>
                </a:solidFill>
                <a:latin typeface="맑은 고딕"/>
              </a:defRPr>
            </a:pPr>
            <a:r>
              <a:t>장기 고정 계약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804672" y="3529584"/>
            <a:ext cx="109728" cy="1280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333333"/>
                </a:solidFill>
                <a:latin typeface="맑은 고딕"/>
              </a:defRPr>
            </a:pPr>
            <a:r>
              <a:t>•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932688" y="3529584"/>
            <a:ext cx="3840480" cy="1280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333333"/>
                </a:solidFill>
                <a:latin typeface="맑은 고딕"/>
              </a:defRPr>
            </a:pPr>
            <a:r>
              <a:t>긴밀한 협업</a:t>
            </a:r>
          </a:p>
        </p:txBody>
      </p:sp>
      <p:sp>
        <p:nvSpPr>
          <p:cNvPr id="50" name="Rectangle 49"/>
          <p:cNvSpPr/>
          <p:nvPr/>
        </p:nvSpPr>
        <p:spPr>
          <a:xfrm>
            <a:off x="4983480" y="3246120"/>
            <a:ext cx="4114800" cy="438912"/>
          </a:xfrm>
          <a:prstGeom prst="rect">
            <a:avLst/>
          </a:prstGeom>
          <a:solidFill>
            <a:srgbClr val="E6E6E6"/>
          </a:solidFill>
          <a:ln w="9525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5056632" y="3273551"/>
            <a:ext cx="109728" cy="1280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000000"/>
                </a:solidFill>
                <a:latin typeface="맑은 고딕"/>
              </a:defRPr>
            </a:pPr>
            <a:r>
              <a:t>•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5184648" y="3273551"/>
            <a:ext cx="3840480" cy="1280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000000"/>
                </a:solidFill>
                <a:latin typeface="맑은 고딕"/>
              </a:defRPr>
            </a:pPr>
            <a:r>
              <a:t>복수 공급원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056632" y="3401568"/>
            <a:ext cx="109728" cy="1280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000000"/>
                </a:solidFill>
                <a:latin typeface="맑은 고딕"/>
              </a:defRPr>
            </a:pPr>
            <a:r>
              <a:t>•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5184648" y="3401568"/>
            <a:ext cx="3840480" cy="1280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000000"/>
                </a:solidFill>
                <a:latin typeface="맑은 고딕"/>
              </a:defRPr>
            </a:pPr>
            <a:r>
              <a:t>유연한 계약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5056632" y="3529584"/>
            <a:ext cx="109728" cy="1280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000000"/>
                </a:solidFill>
                <a:latin typeface="맑은 고딕"/>
              </a:defRPr>
            </a:pPr>
            <a:r>
              <a:t>•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5184648" y="3529584"/>
            <a:ext cx="3840480" cy="1280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000000"/>
                </a:solidFill>
                <a:latin typeface="맑은 고딕"/>
              </a:defRPr>
            </a:pPr>
            <a:r>
              <a:t>다변화 전략</a:t>
            </a:r>
          </a:p>
        </p:txBody>
      </p:sp>
      <p:sp>
        <p:nvSpPr>
          <p:cNvPr id="57" name="Rectangle 56"/>
          <p:cNvSpPr/>
          <p:nvPr/>
        </p:nvSpPr>
        <p:spPr>
          <a:xfrm>
            <a:off x="91440" y="3703320"/>
            <a:ext cx="548640" cy="438912"/>
          </a:xfrm>
          <a:prstGeom prst="rect">
            <a:avLst/>
          </a:prstGeom>
          <a:solidFill>
            <a:srgbClr val="E6E6E6"/>
          </a:solidFill>
          <a:ln w="9525">
            <a:solidFill>
              <a:srgbClr val="6666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109728" y="3840480"/>
            <a:ext cx="512064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000000"/>
                </a:solidFill>
                <a:latin typeface="맑은 고딕"/>
              </a:defRPr>
            </a:pPr>
            <a:r>
              <a:t>리스크</a:t>
            </a:r>
          </a:p>
        </p:txBody>
      </p:sp>
      <p:sp>
        <p:nvSpPr>
          <p:cNvPr id="59" name="Rectangle 58"/>
          <p:cNvSpPr/>
          <p:nvPr/>
        </p:nvSpPr>
        <p:spPr>
          <a:xfrm>
            <a:off x="731520" y="3703320"/>
            <a:ext cx="4114800" cy="438912"/>
          </a:xfrm>
          <a:prstGeom prst="rect">
            <a:avLst/>
          </a:prstGeom>
          <a:solidFill>
            <a:srgbClr val="FFFFFF"/>
          </a:solidFill>
          <a:ln w="9525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804672" y="3730752"/>
            <a:ext cx="109728" cy="1280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333333"/>
                </a:solidFill>
                <a:latin typeface="맑은 고딕"/>
              </a:defRPr>
            </a:pPr>
            <a:r>
              <a:t>•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932688" y="3730752"/>
            <a:ext cx="3840480" cy="1280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333333"/>
                </a:solidFill>
                <a:latin typeface="맑은 고딕"/>
              </a:defRPr>
            </a:pPr>
            <a:r>
              <a:t>공급 중단 취약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804672" y="3858768"/>
            <a:ext cx="109728" cy="1280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333333"/>
                </a:solidFill>
                <a:latin typeface="맑은 고딕"/>
              </a:defRPr>
            </a:pPr>
            <a:r>
              <a:t>•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932688" y="3858768"/>
            <a:ext cx="3840480" cy="1280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333333"/>
                </a:solidFill>
                <a:latin typeface="맑은 고딕"/>
              </a:defRPr>
            </a:pPr>
            <a:r>
              <a:t>수요 변동 취약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804672" y="3986783"/>
            <a:ext cx="109728" cy="1280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333333"/>
                </a:solidFill>
                <a:latin typeface="맑은 고딕"/>
              </a:defRPr>
            </a:pPr>
            <a:r>
              <a:t>•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932688" y="3986783"/>
            <a:ext cx="3840480" cy="1280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333333"/>
                </a:solidFill>
                <a:latin typeface="맑은 고딕"/>
              </a:defRPr>
            </a:pPr>
            <a:r>
              <a:t>재해 대응 어려움</a:t>
            </a:r>
          </a:p>
        </p:txBody>
      </p:sp>
      <p:sp>
        <p:nvSpPr>
          <p:cNvPr id="66" name="Rectangle 65"/>
          <p:cNvSpPr/>
          <p:nvPr/>
        </p:nvSpPr>
        <p:spPr>
          <a:xfrm>
            <a:off x="4983480" y="3703320"/>
            <a:ext cx="4114800" cy="438912"/>
          </a:xfrm>
          <a:prstGeom prst="rect">
            <a:avLst/>
          </a:prstGeom>
          <a:solidFill>
            <a:srgbClr val="E6E6E6"/>
          </a:solidFill>
          <a:ln w="9525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5056632" y="3730752"/>
            <a:ext cx="109728" cy="1280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000000"/>
                </a:solidFill>
                <a:latin typeface="맑은 고딕"/>
              </a:defRPr>
            </a:pPr>
            <a:r>
              <a:t>•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5184648" y="3730752"/>
            <a:ext cx="3840480" cy="1280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000000"/>
                </a:solidFill>
                <a:latin typeface="맑은 고딕"/>
              </a:defRPr>
            </a:pPr>
            <a:r>
              <a:t>공급 중단 대비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5056632" y="3858768"/>
            <a:ext cx="109728" cy="1280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000000"/>
                </a:solidFill>
                <a:latin typeface="맑은 고딕"/>
              </a:defRPr>
            </a:pPr>
            <a:r>
              <a:t>•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5184648" y="3858768"/>
            <a:ext cx="3840480" cy="1280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000000"/>
                </a:solidFill>
                <a:latin typeface="맑은 고딕"/>
              </a:defRPr>
            </a:pPr>
            <a:r>
              <a:t>수요 변동 흡수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5056632" y="3986783"/>
            <a:ext cx="109728" cy="1280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000000"/>
                </a:solidFill>
                <a:latin typeface="맑은 고딕"/>
              </a:defRPr>
            </a:pPr>
            <a:r>
              <a:t>•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5184648" y="3986783"/>
            <a:ext cx="3840480" cy="1280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000000"/>
                </a:solidFill>
                <a:latin typeface="맑은 고딕"/>
              </a:defRPr>
            </a:pPr>
            <a:r>
              <a:t>재해 대응 가능</a:t>
            </a:r>
          </a:p>
        </p:txBody>
      </p:sp>
      <p:sp>
        <p:nvSpPr>
          <p:cNvPr id="73" name="Rectangle 72"/>
          <p:cNvSpPr/>
          <p:nvPr/>
        </p:nvSpPr>
        <p:spPr>
          <a:xfrm>
            <a:off x="91440" y="4160520"/>
            <a:ext cx="548640" cy="438912"/>
          </a:xfrm>
          <a:prstGeom prst="rect">
            <a:avLst/>
          </a:prstGeom>
          <a:solidFill>
            <a:srgbClr val="E6E6E6"/>
          </a:solidFill>
          <a:ln w="9525">
            <a:solidFill>
              <a:srgbClr val="6666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TextBox 73"/>
          <p:cNvSpPr txBox="1"/>
          <p:nvPr/>
        </p:nvSpPr>
        <p:spPr>
          <a:xfrm>
            <a:off x="109728" y="4297680"/>
            <a:ext cx="512064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000000"/>
                </a:solidFill>
                <a:latin typeface="맑은 고딕"/>
              </a:defRPr>
            </a:pPr>
            <a:r>
              <a:t>원가</a:t>
            </a:r>
          </a:p>
        </p:txBody>
      </p:sp>
      <p:sp>
        <p:nvSpPr>
          <p:cNvPr id="75" name="Rectangle 74"/>
          <p:cNvSpPr/>
          <p:nvPr/>
        </p:nvSpPr>
        <p:spPr>
          <a:xfrm>
            <a:off x="731520" y="4160520"/>
            <a:ext cx="4114800" cy="438912"/>
          </a:xfrm>
          <a:prstGeom prst="rect">
            <a:avLst/>
          </a:prstGeom>
          <a:solidFill>
            <a:srgbClr val="FFFFFF"/>
          </a:solidFill>
          <a:ln w="9525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TextBox 75"/>
          <p:cNvSpPr txBox="1"/>
          <p:nvPr/>
        </p:nvSpPr>
        <p:spPr>
          <a:xfrm>
            <a:off x="804672" y="4187952"/>
            <a:ext cx="109728" cy="1280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333333"/>
                </a:solidFill>
                <a:latin typeface="맑은 고딕"/>
              </a:defRPr>
            </a:pPr>
            <a:r>
              <a:t>•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932688" y="4187952"/>
            <a:ext cx="3840480" cy="1280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333333"/>
                </a:solidFill>
                <a:latin typeface="맑은 고딕"/>
              </a:defRPr>
            </a:pPr>
            <a:r>
              <a:t>재고 비용 최소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804672" y="4315968"/>
            <a:ext cx="109728" cy="1280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333333"/>
                </a:solidFill>
                <a:latin typeface="맑은 고딕"/>
              </a:defRPr>
            </a:pPr>
            <a:r>
              <a:t>•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932688" y="4315968"/>
            <a:ext cx="3840480" cy="1280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333333"/>
                </a:solidFill>
                <a:latin typeface="맑은 고딕"/>
              </a:defRPr>
            </a:pPr>
            <a:r>
              <a:t>보관 비용 zero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04672" y="4443983"/>
            <a:ext cx="109728" cy="1280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333333"/>
                </a:solidFill>
                <a:latin typeface="맑은 고딕"/>
              </a:defRPr>
            </a:pPr>
            <a:r>
              <a:t>•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32688" y="4443983"/>
            <a:ext cx="3840480" cy="1280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333333"/>
                </a:solidFill>
                <a:latin typeface="맑은 고딕"/>
              </a:defRPr>
            </a:pPr>
            <a:r>
              <a:t>자본 효율 최대</a:t>
            </a:r>
          </a:p>
        </p:txBody>
      </p:sp>
      <p:sp>
        <p:nvSpPr>
          <p:cNvPr id="82" name="Rectangle 81"/>
          <p:cNvSpPr/>
          <p:nvPr/>
        </p:nvSpPr>
        <p:spPr>
          <a:xfrm>
            <a:off x="4983480" y="4160520"/>
            <a:ext cx="4114800" cy="438912"/>
          </a:xfrm>
          <a:prstGeom prst="rect">
            <a:avLst/>
          </a:prstGeom>
          <a:solidFill>
            <a:srgbClr val="E6E6E6"/>
          </a:solidFill>
          <a:ln w="9525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TextBox 82"/>
          <p:cNvSpPr txBox="1"/>
          <p:nvPr/>
        </p:nvSpPr>
        <p:spPr>
          <a:xfrm>
            <a:off x="5056632" y="4187952"/>
            <a:ext cx="109728" cy="1280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000000"/>
                </a:solidFill>
                <a:latin typeface="맑은 고딕"/>
              </a:defRPr>
            </a:pPr>
            <a:r>
              <a:t>•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5184648" y="4187952"/>
            <a:ext cx="3840480" cy="1280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000000"/>
                </a:solidFill>
                <a:latin typeface="맑은 고딕"/>
              </a:defRPr>
            </a:pPr>
            <a:r>
              <a:t>재고 비용 증가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5056632" y="4315968"/>
            <a:ext cx="109728" cy="1280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000000"/>
                </a:solidFill>
                <a:latin typeface="맑은 고딕"/>
              </a:defRPr>
            </a:pPr>
            <a:r>
              <a:t>•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5184648" y="4315968"/>
            <a:ext cx="3840480" cy="1280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000000"/>
                </a:solidFill>
                <a:latin typeface="맑은 고딕"/>
              </a:defRPr>
            </a:pPr>
            <a:r>
              <a:t>보관 비용 20%↑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5056632" y="4443983"/>
            <a:ext cx="109728" cy="1280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000000"/>
                </a:solidFill>
                <a:latin typeface="맑은 고딕"/>
              </a:defRPr>
            </a:pPr>
            <a:r>
              <a:t>•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5184648" y="4443983"/>
            <a:ext cx="3840480" cy="1280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000000"/>
                </a:solidFill>
                <a:latin typeface="맑은 고딕"/>
              </a:defRPr>
            </a:pPr>
            <a:r>
              <a:t>자본 고정 증가</a:t>
            </a:r>
          </a:p>
        </p:txBody>
      </p:sp>
      <p:sp>
        <p:nvSpPr>
          <p:cNvPr id="89" name="Rectangle 88"/>
          <p:cNvSpPr/>
          <p:nvPr/>
        </p:nvSpPr>
        <p:spPr>
          <a:xfrm>
            <a:off x="91440" y="4617720"/>
            <a:ext cx="548640" cy="438912"/>
          </a:xfrm>
          <a:prstGeom prst="rect">
            <a:avLst/>
          </a:prstGeom>
          <a:solidFill>
            <a:srgbClr val="E6E6E6"/>
          </a:solidFill>
          <a:ln w="9525">
            <a:solidFill>
              <a:srgbClr val="6666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TextBox 89"/>
          <p:cNvSpPr txBox="1"/>
          <p:nvPr/>
        </p:nvSpPr>
        <p:spPr>
          <a:xfrm>
            <a:off x="109728" y="4754880"/>
            <a:ext cx="512064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000000"/>
                </a:solidFill>
                <a:latin typeface="맑은 고딕"/>
              </a:defRPr>
            </a:pPr>
            <a:r>
              <a:t>리드타임</a:t>
            </a:r>
          </a:p>
        </p:txBody>
      </p:sp>
      <p:sp>
        <p:nvSpPr>
          <p:cNvPr id="91" name="Rectangle 90"/>
          <p:cNvSpPr/>
          <p:nvPr/>
        </p:nvSpPr>
        <p:spPr>
          <a:xfrm>
            <a:off x="731520" y="4617720"/>
            <a:ext cx="4114800" cy="438912"/>
          </a:xfrm>
          <a:prstGeom prst="rect">
            <a:avLst/>
          </a:prstGeom>
          <a:solidFill>
            <a:srgbClr val="FFFFFF"/>
          </a:solidFill>
          <a:ln w="9525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TextBox 91"/>
          <p:cNvSpPr txBox="1"/>
          <p:nvPr/>
        </p:nvSpPr>
        <p:spPr>
          <a:xfrm>
            <a:off x="804672" y="4645152"/>
            <a:ext cx="109728" cy="1280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333333"/>
                </a:solidFill>
                <a:latin typeface="맑은 고딕"/>
              </a:defRPr>
            </a:pPr>
            <a:r>
              <a:t>•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932688" y="4645152"/>
            <a:ext cx="3840480" cy="1280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333333"/>
                </a:solidFill>
                <a:latin typeface="맑은 고딕"/>
              </a:defRPr>
            </a:pPr>
            <a:r>
              <a:t>짧은 LT 필수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04672" y="4773168"/>
            <a:ext cx="109728" cy="1280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333333"/>
                </a:solidFill>
                <a:latin typeface="맑은 고딕"/>
              </a:defRPr>
            </a:pPr>
            <a:r>
              <a:t>•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32688" y="4773168"/>
            <a:ext cx="3840480" cy="1280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333333"/>
                </a:solidFill>
                <a:latin typeface="맑은 고딕"/>
              </a:defRPr>
            </a:pPr>
            <a:r>
              <a:t>1-3일 납품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804672" y="4901183"/>
            <a:ext cx="109728" cy="1280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333333"/>
                </a:solidFill>
                <a:latin typeface="맑은 고딕"/>
              </a:defRPr>
            </a:pPr>
            <a:r>
              <a:t>•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932688" y="4901183"/>
            <a:ext cx="3840480" cy="1280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333333"/>
                </a:solidFill>
                <a:latin typeface="맑은 고딕"/>
              </a:defRPr>
            </a:pPr>
            <a:r>
              <a:t>즉시 대응</a:t>
            </a:r>
          </a:p>
        </p:txBody>
      </p:sp>
      <p:sp>
        <p:nvSpPr>
          <p:cNvPr id="98" name="Rectangle 97"/>
          <p:cNvSpPr/>
          <p:nvPr/>
        </p:nvSpPr>
        <p:spPr>
          <a:xfrm>
            <a:off x="4983480" y="4617720"/>
            <a:ext cx="4114800" cy="438912"/>
          </a:xfrm>
          <a:prstGeom prst="rect">
            <a:avLst/>
          </a:prstGeom>
          <a:solidFill>
            <a:srgbClr val="E6E6E6"/>
          </a:solidFill>
          <a:ln w="9525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TextBox 98"/>
          <p:cNvSpPr txBox="1"/>
          <p:nvPr/>
        </p:nvSpPr>
        <p:spPr>
          <a:xfrm>
            <a:off x="5056632" y="4645152"/>
            <a:ext cx="109728" cy="1280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000000"/>
                </a:solidFill>
                <a:latin typeface="맑은 고딕"/>
              </a:defRPr>
            </a:pPr>
            <a:r>
              <a:t>•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5184648" y="4645152"/>
            <a:ext cx="3840480" cy="1280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000000"/>
                </a:solidFill>
                <a:latin typeface="맑은 고딕"/>
              </a:defRPr>
            </a:pPr>
            <a:r>
              <a:t>긴 LT 허용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5056632" y="4773168"/>
            <a:ext cx="109728" cy="1280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000000"/>
                </a:solidFill>
                <a:latin typeface="맑은 고딕"/>
              </a:defRPr>
            </a:pPr>
            <a:r>
              <a:t>•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5184648" y="4773168"/>
            <a:ext cx="3840480" cy="1280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000000"/>
                </a:solidFill>
                <a:latin typeface="맑은 고딕"/>
              </a:defRPr>
            </a:pPr>
            <a:r>
              <a:t>1-2주 가능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5056632" y="4901183"/>
            <a:ext cx="109728" cy="1280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000000"/>
                </a:solidFill>
                <a:latin typeface="맑은 고딕"/>
              </a:defRPr>
            </a:pPr>
            <a:r>
              <a:t>•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5184648" y="4901183"/>
            <a:ext cx="3840480" cy="1280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000000"/>
                </a:solidFill>
                <a:latin typeface="맑은 고딕"/>
              </a:defRPr>
            </a:pPr>
            <a:r>
              <a:t>계획적 대응</a:t>
            </a:r>
          </a:p>
        </p:txBody>
      </p:sp>
      <p:sp>
        <p:nvSpPr>
          <p:cNvPr id="105" name="Rectangle 104"/>
          <p:cNvSpPr/>
          <p:nvPr/>
        </p:nvSpPr>
        <p:spPr>
          <a:xfrm>
            <a:off x="91440" y="5074920"/>
            <a:ext cx="548640" cy="438912"/>
          </a:xfrm>
          <a:prstGeom prst="rect">
            <a:avLst/>
          </a:prstGeom>
          <a:solidFill>
            <a:srgbClr val="E6E6E6"/>
          </a:solidFill>
          <a:ln w="9525">
            <a:solidFill>
              <a:srgbClr val="6666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6" name="TextBox 105"/>
          <p:cNvSpPr txBox="1"/>
          <p:nvPr/>
        </p:nvSpPr>
        <p:spPr>
          <a:xfrm>
            <a:off x="109728" y="5212080"/>
            <a:ext cx="512064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000000"/>
                </a:solidFill>
                <a:latin typeface="맑은 고딕"/>
              </a:defRPr>
            </a:pPr>
            <a:r>
              <a:t>수요 대응</a:t>
            </a:r>
          </a:p>
        </p:txBody>
      </p:sp>
      <p:sp>
        <p:nvSpPr>
          <p:cNvPr id="107" name="Rectangle 106"/>
          <p:cNvSpPr/>
          <p:nvPr/>
        </p:nvSpPr>
        <p:spPr>
          <a:xfrm>
            <a:off x="731520" y="5074920"/>
            <a:ext cx="4114800" cy="438912"/>
          </a:xfrm>
          <a:prstGeom prst="rect">
            <a:avLst/>
          </a:prstGeom>
          <a:solidFill>
            <a:srgbClr val="FFFFFF"/>
          </a:solidFill>
          <a:ln w="9525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" name="TextBox 107"/>
          <p:cNvSpPr txBox="1"/>
          <p:nvPr/>
        </p:nvSpPr>
        <p:spPr>
          <a:xfrm>
            <a:off x="804672" y="5102352"/>
            <a:ext cx="109728" cy="1280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333333"/>
                </a:solidFill>
                <a:latin typeface="맑은 고딕"/>
              </a:defRPr>
            </a:pPr>
            <a:r>
              <a:t>•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32688" y="5102352"/>
            <a:ext cx="3840480" cy="1280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333333"/>
                </a:solidFill>
                <a:latin typeface="맑은 고딕"/>
              </a:defRPr>
            </a:pPr>
            <a:r>
              <a:t>예측 정확성 필수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804672" y="5230368"/>
            <a:ext cx="109728" cy="1280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333333"/>
                </a:solidFill>
                <a:latin typeface="맑은 고딕"/>
              </a:defRPr>
            </a:pPr>
            <a:r>
              <a:t>•</a:t>
            </a:r>
          </a:p>
        </p:txBody>
      </p:sp>
      <p:sp>
        <p:nvSpPr>
          <p:cNvPr id="111" name="TextBox 110"/>
          <p:cNvSpPr txBox="1"/>
          <p:nvPr/>
        </p:nvSpPr>
        <p:spPr>
          <a:xfrm>
            <a:off x="932688" y="5230368"/>
            <a:ext cx="3840480" cy="1280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333333"/>
                </a:solidFill>
                <a:latin typeface="맑은 고딕"/>
              </a:defRPr>
            </a:pPr>
            <a:r>
              <a:t>변동 흡수 어려움</a:t>
            </a:r>
          </a:p>
        </p:txBody>
      </p:sp>
      <p:sp>
        <p:nvSpPr>
          <p:cNvPr id="112" name="TextBox 111"/>
          <p:cNvSpPr txBox="1"/>
          <p:nvPr/>
        </p:nvSpPr>
        <p:spPr>
          <a:xfrm>
            <a:off x="804672" y="5358383"/>
            <a:ext cx="109728" cy="1280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333333"/>
                </a:solidFill>
                <a:latin typeface="맑은 고딕"/>
              </a:defRPr>
            </a:pPr>
            <a:r>
              <a:t>•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932688" y="5358383"/>
            <a:ext cx="3840480" cy="1280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333333"/>
                </a:solidFill>
                <a:latin typeface="맑은 고딕"/>
              </a:defRPr>
            </a:pPr>
            <a:r>
              <a:t>긴급 대응 불가</a:t>
            </a:r>
          </a:p>
        </p:txBody>
      </p:sp>
      <p:sp>
        <p:nvSpPr>
          <p:cNvPr id="114" name="Rectangle 113"/>
          <p:cNvSpPr/>
          <p:nvPr/>
        </p:nvSpPr>
        <p:spPr>
          <a:xfrm>
            <a:off x="4983480" y="5074920"/>
            <a:ext cx="4114800" cy="438912"/>
          </a:xfrm>
          <a:prstGeom prst="rect">
            <a:avLst/>
          </a:prstGeom>
          <a:solidFill>
            <a:srgbClr val="E6E6E6"/>
          </a:solidFill>
          <a:ln w="9525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" name="TextBox 114"/>
          <p:cNvSpPr txBox="1"/>
          <p:nvPr/>
        </p:nvSpPr>
        <p:spPr>
          <a:xfrm>
            <a:off x="5056632" y="5102352"/>
            <a:ext cx="109728" cy="1280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000000"/>
                </a:solidFill>
                <a:latin typeface="맑은 고딕"/>
              </a:defRPr>
            </a:pPr>
            <a:r>
              <a:t>•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5184648" y="5102352"/>
            <a:ext cx="3840480" cy="1280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000000"/>
                </a:solidFill>
                <a:latin typeface="맑은 고딕"/>
              </a:defRPr>
            </a:pPr>
            <a:r>
              <a:t>예측 오차 흡수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5056632" y="5230368"/>
            <a:ext cx="109728" cy="1280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000000"/>
                </a:solidFill>
                <a:latin typeface="맑은 고딕"/>
              </a:defRPr>
            </a:pPr>
            <a:r>
              <a:t>•</a:t>
            </a:r>
          </a:p>
        </p:txBody>
      </p:sp>
      <p:sp>
        <p:nvSpPr>
          <p:cNvPr id="118" name="TextBox 117"/>
          <p:cNvSpPr txBox="1"/>
          <p:nvPr/>
        </p:nvSpPr>
        <p:spPr>
          <a:xfrm>
            <a:off x="5184648" y="5230368"/>
            <a:ext cx="3840480" cy="1280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000000"/>
                </a:solidFill>
                <a:latin typeface="맑은 고딕"/>
              </a:defRPr>
            </a:pPr>
            <a:r>
              <a:t>변동 흡수 가능</a:t>
            </a:r>
          </a:p>
        </p:txBody>
      </p:sp>
      <p:sp>
        <p:nvSpPr>
          <p:cNvPr id="119" name="TextBox 118"/>
          <p:cNvSpPr txBox="1"/>
          <p:nvPr/>
        </p:nvSpPr>
        <p:spPr>
          <a:xfrm>
            <a:off x="5056632" y="5358383"/>
            <a:ext cx="109728" cy="1280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000000"/>
                </a:solidFill>
                <a:latin typeface="맑은 고딕"/>
              </a:defRPr>
            </a:pPr>
            <a:r>
              <a:t>•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5184648" y="5358383"/>
            <a:ext cx="3840480" cy="1280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000000"/>
                </a:solidFill>
                <a:latin typeface="맑은 고딕"/>
              </a:defRPr>
            </a:pPr>
            <a:r>
              <a:t>긴급 대응 가능</a:t>
            </a:r>
          </a:p>
        </p:txBody>
      </p:sp>
      <p:sp>
        <p:nvSpPr>
          <p:cNvPr id="121" name="Rectangle 120"/>
          <p:cNvSpPr/>
          <p:nvPr/>
        </p:nvSpPr>
        <p:spPr>
          <a:xfrm>
            <a:off x="91440" y="5532120"/>
            <a:ext cx="548640" cy="438912"/>
          </a:xfrm>
          <a:prstGeom prst="rect">
            <a:avLst/>
          </a:prstGeom>
          <a:solidFill>
            <a:srgbClr val="E6E6E6"/>
          </a:solidFill>
          <a:ln w="9525">
            <a:solidFill>
              <a:srgbClr val="6666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2" name="TextBox 121"/>
          <p:cNvSpPr txBox="1"/>
          <p:nvPr/>
        </p:nvSpPr>
        <p:spPr>
          <a:xfrm>
            <a:off x="109728" y="5669280"/>
            <a:ext cx="512064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000000"/>
                </a:solidFill>
                <a:latin typeface="맑은 고딕"/>
              </a:defRPr>
            </a:pPr>
            <a:r>
              <a:t>적합 환경</a:t>
            </a:r>
          </a:p>
        </p:txBody>
      </p:sp>
      <p:sp>
        <p:nvSpPr>
          <p:cNvPr id="123" name="Rectangle 122"/>
          <p:cNvSpPr/>
          <p:nvPr/>
        </p:nvSpPr>
        <p:spPr>
          <a:xfrm>
            <a:off x="731520" y="5532120"/>
            <a:ext cx="4114800" cy="438912"/>
          </a:xfrm>
          <a:prstGeom prst="rect">
            <a:avLst/>
          </a:prstGeom>
          <a:solidFill>
            <a:srgbClr val="FFFFFF"/>
          </a:solidFill>
          <a:ln w="9525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4" name="TextBox 123"/>
          <p:cNvSpPr txBox="1"/>
          <p:nvPr/>
        </p:nvSpPr>
        <p:spPr>
          <a:xfrm>
            <a:off x="804672" y="5559552"/>
            <a:ext cx="109728" cy="1280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333333"/>
                </a:solidFill>
                <a:latin typeface="맑은 고딕"/>
              </a:defRPr>
            </a:pPr>
            <a:r>
              <a:t>•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932688" y="5559552"/>
            <a:ext cx="3840480" cy="1280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333333"/>
                </a:solidFill>
                <a:latin typeface="맑은 고딕"/>
              </a:defRPr>
            </a:pPr>
            <a:r>
              <a:t>안정적 공급망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804672" y="5687568"/>
            <a:ext cx="109728" cy="1280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333333"/>
                </a:solidFill>
                <a:latin typeface="맑은 고딕"/>
              </a:defRPr>
            </a:pPr>
            <a:r>
              <a:t>•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932688" y="5687568"/>
            <a:ext cx="3840480" cy="1280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333333"/>
                </a:solidFill>
                <a:latin typeface="맑은 고딕"/>
              </a:defRPr>
            </a:pPr>
            <a:r>
              <a:t>예측 가능 수요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804672" y="5815583"/>
            <a:ext cx="109728" cy="1280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333333"/>
                </a:solidFill>
                <a:latin typeface="맑은 고딕"/>
              </a:defRPr>
            </a:pPr>
            <a:r>
              <a:t>•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932688" y="5815583"/>
            <a:ext cx="3840480" cy="1280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333333"/>
                </a:solidFill>
                <a:latin typeface="맑은 고딕"/>
              </a:defRPr>
            </a:pPr>
            <a:r>
              <a:t>낮은 리스크</a:t>
            </a:r>
          </a:p>
        </p:txBody>
      </p:sp>
      <p:sp>
        <p:nvSpPr>
          <p:cNvPr id="130" name="Rectangle 129"/>
          <p:cNvSpPr/>
          <p:nvPr/>
        </p:nvSpPr>
        <p:spPr>
          <a:xfrm>
            <a:off x="4983480" y="5532120"/>
            <a:ext cx="4114800" cy="438912"/>
          </a:xfrm>
          <a:prstGeom prst="rect">
            <a:avLst/>
          </a:prstGeom>
          <a:solidFill>
            <a:srgbClr val="E6E6E6"/>
          </a:solidFill>
          <a:ln w="9525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1" name="TextBox 130"/>
          <p:cNvSpPr txBox="1"/>
          <p:nvPr/>
        </p:nvSpPr>
        <p:spPr>
          <a:xfrm>
            <a:off x="5056632" y="5559552"/>
            <a:ext cx="109728" cy="1280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000000"/>
                </a:solidFill>
                <a:latin typeface="맑은 고딕"/>
              </a:defRPr>
            </a:pPr>
            <a:r>
              <a:t>•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5184648" y="5559552"/>
            <a:ext cx="3840480" cy="1280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000000"/>
                </a:solidFill>
                <a:latin typeface="맑은 고딕"/>
              </a:defRPr>
            </a:pPr>
            <a:r>
              <a:t>불안정 공급망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5056632" y="5687568"/>
            <a:ext cx="109728" cy="1280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000000"/>
                </a:solidFill>
                <a:latin typeface="맑은 고딕"/>
              </a:defRPr>
            </a:pPr>
            <a:r>
              <a:t>•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5184648" y="5687568"/>
            <a:ext cx="3840480" cy="1280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000000"/>
                </a:solidFill>
                <a:latin typeface="맑은 고딕"/>
              </a:defRPr>
            </a:pPr>
            <a:r>
              <a:t>변동성 높은 수요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5056632" y="5815583"/>
            <a:ext cx="109728" cy="1280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000000"/>
                </a:solidFill>
                <a:latin typeface="맑은 고딕"/>
              </a:defRPr>
            </a:pPr>
            <a:r>
              <a:t>•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5184648" y="5815583"/>
            <a:ext cx="3840480" cy="1280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000000"/>
                </a:solidFill>
                <a:latin typeface="맑은 고딕"/>
              </a:defRPr>
            </a:pPr>
            <a:r>
              <a:t>높은 리스크</a:t>
            </a:r>
          </a:p>
        </p:txBody>
      </p:sp>
      <p:sp>
        <p:nvSpPr>
          <p:cNvPr id="137" name="Rectangle 136"/>
          <p:cNvSpPr/>
          <p:nvPr/>
        </p:nvSpPr>
        <p:spPr>
          <a:xfrm>
            <a:off x="91440" y="5989320"/>
            <a:ext cx="548640" cy="438912"/>
          </a:xfrm>
          <a:prstGeom prst="rect">
            <a:avLst/>
          </a:prstGeom>
          <a:solidFill>
            <a:srgbClr val="E6E6E6"/>
          </a:solidFill>
          <a:ln w="9525">
            <a:solidFill>
              <a:srgbClr val="6666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8" name="TextBox 137"/>
          <p:cNvSpPr txBox="1"/>
          <p:nvPr/>
        </p:nvSpPr>
        <p:spPr>
          <a:xfrm>
            <a:off x="109728" y="6126480"/>
            <a:ext cx="512064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000000"/>
                </a:solidFill>
                <a:latin typeface="맑은 고딕"/>
              </a:defRPr>
            </a:pPr>
            <a:r>
              <a:t>대표 기업</a:t>
            </a:r>
          </a:p>
        </p:txBody>
      </p:sp>
      <p:sp>
        <p:nvSpPr>
          <p:cNvPr id="139" name="Rectangle 138"/>
          <p:cNvSpPr/>
          <p:nvPr/>
        </p:nvSpPr>
        <p:spPr>
          <a:xfrm>
            <a:off x="731520" y="5989320"/>
            <a:ext cx="4114800" cy="438912"/>
          </a:xfrm>
          <a:prstGeom prst="rect">
            <a:avLst/>
          </a:prstGeom>
          <a:solidFill>
            <a:srgbClr val="FFFFFF"/>
          </a:solidFill>
          <a:ln w="9525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0" name="TextBox 139"/>
          <p:cNvSpPr txBox="1"/>
          <p:nvPr/>
        </p:nvSpPr>
        <p:spPr>
          <a:xfrm>
            <a:off x="804672" y="6016752"/>
            <a:ext cx="109728" cy="1280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333333"/>
                </a:solidFill>
                <a:latin typeface="맑은 고딕"/>
              </a:defRPr>
            </a:pPr>
            <a:r>
              <a:t>•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932688" y="6016752"/>
            <a:ext cx="3840480" cy="1280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333333"/>
                </a:solidFill>
                <a:latin typeface="맑은 고딕"/>
              </a:defRPr>
            </a:pPr>
            <a:r>
              <a:t>Toyota (2019)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804672" y="6144768"/>
            <a:ext cx="109728" cy="1280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333333"/>
                </a:solidFill>
                <a:latin typeface="맑은 고딕"/>
              </a:defRPr>
            </a:pPr>
            <a:r>
              <a:t>•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932688" y="6144768"/>
            <a:ext cx="3840480" cy="1280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333333"/>
                </a:solidFill>
                <a:latin typeface="맑은 고딕"/>
              </a:defRPr>
            </a:pPr>
            <a:r>
              <a:t>Honda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04672" y="6272783"/>
            <a:ext cx="109728" cy="1280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333333"/>
                </a:solidFill>
                <a:latin typeface="맑은 고딕"/>
              </a:defRPr>
            </a:pPr>
            <a:r>
              <a:t>•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32688" y="6272783"/>
            <a:ext cx="3840480" cy="1280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333333"/>
                </a:solidFill>
                <a:latin typeface="맑은 고딕"/>
              </a:defRPr>
            </a:pPr>
            <a:r>
              <a:t>Dell</a:t>
            </a:r>
          </a:p>
        </p:txBody>
      </p:sp>
      <p:sp>
        <p:nvSpPr>
          <p:cNvPr id="146" name="Rectangle 145"/>
          <p:cNvSpPr/>
          <p:nvPr/>
        </p:nvSpPr>
        <p:spPr>
          <a:xfrm>
            <a:off x="4983480" y="5989320"/>
            <a:ext cx="4114800" cy="438912"/>
          </a:xfrm>
          <a:prstGeom prst="rect">
            <a:avLst/>
          </a:prstGeom>
          <a:solidFill>
            <a:srgbClr val="E6E6E6"/>
          </a:solidFill>
          <a:ln w="9525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7" name="TextBox 146"/>
          <p:cNvSpPr txBox="1"/>
          <p:nvPr/>
        </p:nvSpPr>
        <p:spPr>
          <a:xfrm>
            <a:off x="5056632" y="6016752"/>
            <a:ext cx="109728" cy="1280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000000"/>
                </a:solidFill>
                <a:latin typeface="맑은 고딕"/>
              </a:defRPr>
            </a:pPr>
            <a:r>
              <a:t>•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5184648" y="6016752"/>
            <a:ext cx="3840480" cy="1280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000000"/>
                </a:solidFill>
                <a:latin typeface="맑은 고딕"/>
              </a:defRPr>
            </a:pPr>
            <a:r>
              <a:t>Toyota (2022)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5056632" y="6144768"/>
            <a:ext cx="109728" cy="1280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000000"/>
                </a:solidFill>
                <a:latin typeface="맑은 고딕"/>
              </a:defRPr>
            </a:pPr>
            <a:r>
              <a:t>•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5184648" y="6144768"/>
            <a:ext cx="3840480" cy="1280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000000"/>
                </a:solidFill>
                <a:latin typeface="맑은 고딕"/>
              </a:defRPr>
            </a:pPr>
            <a:r>
              <a:t>Apple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5056632" y="6272783"/>
            <a:ext cx="109728" cy="1280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000000"/>
                </a:solidFill>
                <a:latin typeface="맑은 고딕"/>
              </a:defRPr>
            </a:pPr>
            <a:r>
              <a:t>•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5184648" y="6272783"/>
            <a:ext cx="3840480" cy="1280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000000"/>
                </a:solidFill>
                <a:latin typeface="맑은 고딕"/>
              </a:defRPr>
            </a:pPr>
            <a:r>
              <a:t>Samsung</a:t>
            </a:r>
          </a:p>
        </p:txBody>
      </p:sp>
      <p:sp>
        <p:nvSpPr>
          <p:cNvPr id="153" name="Rectangle 152"/>
          <p:cNvSpPr/>
          <p:nvPr/>
        </p:nvSpPr>
        <p:spPr>
          <a:xfrm>
            <a:off x="731520" y="5943600"/>
            <a:ext cx="2880360" cy="502920"/>
          </a:xfrm>
          <a:prstGeom prst="rect">
            <a:avLst/>
          </a:prstGeom>
          <a:solidFill>
            <a:srgbClr val="E6E6E6"/>
          </a:solidFill>
          <a:ln w="1270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4" name="TextBox 153"/>
          <p:cNvSpPr txBox="1"/>
          <p:nvPr/>
        </p:nvSpPr>
        <p:spPr>
          <a:xfrm>
            <a:off x="777240" y="5989320"/>
            <a:ext cx="27889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000000"/>
                </a:solidFill>
                <a:latin typeface="맑은 고딕"/>
              </a:defRPr>
            </a:pPr>
            <a:r>
              <a:t>JIT 시대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777240" y="6199632"/>
            <a:ext cx="2788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00000"/>
                </a:solidFill>
                <a:latin typeface="맑은 고딕"/>
              </a:defRPr>
            </a:pPr>
            <a:r>
              <a:t>1970-2019</a:t>
            </a:r>
            <a:br/>
            <a:r>
              <a:t>효율 중심</a:t>
            </a:r>
          </a:p>
        </p:txBody>
      </p:sp>
      <p:sp>
        <p:nvSpPr>
          <p:cNvPr id="156" name="Rectangle 155"/>
          <p:cNvSpPr/>
          <p:nvPr/>
        </p:nvSpPr>
        <p:spPr>
          <a:xfrm>
            <a:off x="3685032" y="5943600"/>
            <a:ext cx="2880360" cy="502920"/>
          </a:xfrm>
          <a:prstGeom prst="rect">
            <a:avLst/>
          </a:prstGeom>
          <a:solidFill>
            <a:srgbClr val="666666"/>
          </a:solidFill>
          <a:ln w="1270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7" name="TextBox 156"/>
          <p:cNvSpPr txBox="1"/>
          <p:nvPr/>
        </p:nvSpPr>
        <p:spPr>
          <a:xfrm>
            <a:off x="3730752" y="5989320"/>
            <a:ext cx="27889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  <a:latin typeface="맑은 고딕"/>
              </a:defRPr>
            </a:pPr>
            <a:r>
              <a:t>전환점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3730752" y="6199632"/>
            <a:ext cx="2788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FFFFFF"/>
                </a:solidFill>
                <a:latin typeface="맑은 고딕"/>
              </a:defRPr>
            </a:pPr>
            <a:r>
              <a:t>2020 팬데믹</a:t>
            </a:r>
            <a:br/>
            <a:r>
              <a:t>공급망 붕괴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6638544" y="5943600"/>
            <a:ext cx="2880360" cy="502920"/>
          </a:xfrm>
          <a:prstGeom prst="rect">
            <a:avLst/>
          </a:prstGeom>
          <a:solidFill>
            <a:srgbClr val="333333"/>
          </a:solidFill>
          <a:ln w="1270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6684264" y="5989320"/>
            <a:ext cx="27889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  <a:latin typeface="맑은 고딕"/>
              </a:defRPr>
            </a:pPr>
            <a:r>
              <a:t>JIC 시대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6684264" y="6199632"/>
            <a:ext cx="2788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FFFFFF"/>
                </a:solidFill>
                <a:latin typeface="맑은 고딕"/>
              </a:defRPr>
            </a:pPr>
            <a:r>
              <a:t>2020-현재</a:t>
            </a:r>
            <a:br/>
            <a:r>
              <a:t>안정성 중심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274320" y="274320"/>
            <a:ext cx="9354312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000000"/>
                </a:solidFill>
                <a:latin typeface="맑은 고딕"/>
              </a:defRPr>
            </a:pPr>
            <a:r>
              <a:t>1.4 JIC 채택 기업들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0" y="6400800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666666"/>
                </a:solidFill>
                <a:latin typeface="Arial"/>
              </a:defRPr>
            </a:pPr>
            <a:r>
              <a:t>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" y="923544"/>
            <a:ext cx="9436608" cy="5760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666666"/>
                </a:solidFill>
                <a:latin typeface="맑은 고딕"/>
              </a:defRPr>
            </a:pPr>
            <a:r>
              <a:t>팬데믹 이후 글로벌 제조사들은 JIC로 전환하여 안전재고와 다변화 전략을 채택했습니다.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1828800"/>
            <a:ext cx="4114800" cy="868680"/>
          </a:xfrm>
          <a:prstGeom prst="rect">
            <a:avLst/>
          </a:prstGeom>
          <a:solidFill>
            <a:srgbClr val="E6E6E6"/>
          </a:solidFill>
          <a:ln w="12700">
            <a:solidFill>
              <a:srgbClr val="6666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31520" y="1828800"/>
            <a:ext cx="4114800" cy="256032"/>
          </a:xfrm>
          <a:prstGeom prst="rect">
            <a:avLst/>
          </a:prstGeom>
          <a:solidFill>
            <a:srgbClr val="666666"/>
          </a:solidFill>
          <a:ln w="9525"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1874519"/>
            <a:ext cx="39319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  <a:latin typeface="맑은 고딕"/>
              </a:defRPr>
            </a:pPr>
            <a:r>
              <a:t>Toyota (자동차)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2121408"/>
            <a:ext cx="502920" cy="1280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000000"/>
                </a:solidFill>
                <a:latin typeface="맑은 고딕"/>
              </a:defRPr>
            </a:pPr>
            <a:r>
              <a:t>Before: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71600" y="2121408"/>
            <a:ext cx="3383280" cy="1280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333333"/>
                </a:solidFill>
                <a:latin typeface="맑은 고딕"/>
              </a:defRPr>
            </a:pPr>
            <a:r>
              <a:t>단일 공급원 80%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2286000"/>
            <a:ext cx="502920" cy="1280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000000"/>
                </a:solidFill>
                <a:latin typeface="맑은 고딕"/>
              </a:defRPr>
            </a:pPr>
            <a:r>
              <a:t>After: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71600" y="2286000"/>
            <a:ext cx="3383280" cy="1280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333333"/>
                </a:solidFill>
                <a:latin typeface="맑은 고딕"/>
              </a:defRPr>
            </a:pPr>
            <a:r>
              <a:t>복수 공급원 60%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22960" y="2450592"/>
            <a:ext cx="3931920" cy="201168"/>
          </a:xfrm>
          <a:prstGeom prst="rect">
            <a:avLst/>
          </a:prstGeom>
          <a:solidFill>
            <a:srgbClr val="FFFFFF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68680" y="2487168"/>
            <a:ext cx="3840480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000000"/>
                </a:solidFill>
                <a:latin typeface="맑은 고딕"/>
              </a:defRPr>
            </a:pPr>
            <a:r>
              <a:t>재고일수: 5일 → 45일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166359" y="1828800"/>
            <a:ext cx="4114800" cy="868680"/>
          </a:xfrm>
          <a:prstGeom prst="rect">
            <a:avLst/>
          </a:prstGeom>
          <a:solidFill>
            <a:srgbClr val="FFFFFF"/>
          </a:solidFill>
          <a:ln w="12700">
            <a:solidFill>
              <a:srgbClr val="6666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5166359" y="1828800"/>
            <a:ext cx="4114800" cy="256032"/>
          </a:xfrm>
          <a:prstGeom prst="rect">
            <a:avLst/>
          </a:prstGeom>
          <a:solidFill>
            <a:srgbClr val="666666"/>
          </a:solidFill>
          <a:ln w="9525"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257799" y="1874519"/>
            <a:ext cx="39319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  <a:latin typeface="맑은 고딕"/>
              </a:defRPr>
            </a:pPr>
            <a:r>
              <a:t>Apple (전자)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257799" y="2121408"/>
            <a:ext cx="502920" cy="1280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000000"/>
                </a:solidFill>
                <a:latin typeface="맑은 고딕"/>
              </a:defRPr>
            </a:pPr>
            <a:r>
              <a:t>Before: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806440" y="2121408"/>
            <a:ext cx="3383280" cy="1280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333333"/>
                </a:solidFill>
                <a:latin typeface="맑은 고딕"/>
              </a:defRPr>
            </a:pPr>
            <a:r>
              <a:t>중국 집중 90%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257799" y="2286000"/>
            <a:ext cx="502920" cy="1280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000000"/>
                </a:solidFill>
                <a:latin typeface="맑은 고딕"/>
              </a:defRPr>
            </a:pPr>
            <a:r>
              <a:t>After: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806440" y="2286000"/>
            <a:ext cx="3383280" cy="1280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333333"/>
                </a:solidFill>
                <a:latin typeface="맑은 고딕"/>
              </a:defRPr>
            </a:pPr>
            <a:r>
              <a:t>아시아 다변화 65%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257799" y="2450592"/>
            <a:ext cx="3931920" cy="201168"/>
          </a:xfrm>
          <a:prstGeom prst="rect">
            <a:avLst/>
          </a:prstGeom>
          <a:solidFill>
            <a:srgbClr val="E6E6E6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303520" y="2487168"/>
            <a:ext cx="3840480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000000"/>
                </a:solidFill>
                <a:latin typeface="맑은 고딕"/>
              </a:defRPr>
            </a:pPr>
            <a:r>
              <a:t>주요 부품 3개월 재고</a:t>
            </a:r>
          </a:p>
        </p:txBody>
      </p:sp>
      <p:sp>
        <p:nvSpPr>
          <p:cNvPr id="23" name="Rectangle 22"/>
          <p:cNvSpPr/>
          <p:nvPr/>
        </p:nvSpPr>
        <p:spPr>
          <a:xfrm>
            <a:off x="731520" y="2770632"/>
            <a:ext cx="4114800" cy="868680"/>
          </a:xfrm>
          <a:prstGeom prst="rect">
            <a:avLst/>
          </a:prstGeom>
          <a:solidFill>
            <a:srgbClr val="E6E6E6"/>
          </a:solidFill>
          <a:ln w="12700">
            <a:solidFill>
              <a:srgbClr val="6666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731520" y="2770632"/>
            <a:ext cx="4114800" cy="256032"/>
          </a:xfrm>
          <a:prstGeom prst="rect">
            <a:avLst/>
          </a:prstGeom>
          <a:solidFill>
            <a:srgbClr val="666666"/>
          </a:solidFill>
          <a:ln w="9525"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22960" y="2816352"/>
            <a:ext cx="39319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  <a:latin typeface="맑은 고딕"/>
              </a:defRPr>
            </a:pPr>
            <a:r>
              <a:t>Samsung (전자)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22960" y="3063240"/>
            <a:ext cx="502920" cy="1280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000000"/>
                </a:solidFill>
                <a:latin typeface="맑은 고딕"/>
              </a:defRPr>
            </a:pPr>
            <a:r>
              <a:t>Before: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71600" y="3063240"/>
            <a:ext cx="3383280" cy="1280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333333"/>
                </a:solidFill>
                <a:latin typeface="맑은 고딕"/>
              </a:defRPr>
            </a:pPr>
            <a:r>
              <a:t>JIT 전면 적용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22960" y="3227832"/>
            <a:ext cx="502920" cy="1280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000000"/>
                </a:solidFill>
                <a:latin typeface="맑은 고딕"/>
              </a:defRPr>
            </a:pPr>
            <a:r>
              <a:t>After: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371600" y="3227832"/>
            <a:ext cx="3383280" cy="1280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333333"/>
                </a:solidFill>
                <a:latin typeface="맑은 고딕"/>
              </a:defRPr>
            </a:pPr>
            <a:r>
              <a:t>전략자재 JIC 전환</a:t>
            </a:r>
          </a:p>
        </p:txBody>
      </p:sp>
      <p:sp>
        <p:nvSpPr>
          <p:cNvPr id="30" name="Rectangle 29"/>
          <p:cNvSpPr/>
          <p:nvPr/>
        </p:nvSpPr>
        <p:spPr>
          <a:xfrm>
            <a:off x="822960" y="3392424"/>
            <a:ext cx="3931920" cy="201168"/>
          </a:xfrm>
          <a:prstGeom prst="rect">
            <a:avLst/>
          </a:prstGeom>
          <a:solidFill>
            <a:srgbClr val="FFFFFF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68680" y="3429000"/>
            <a:ext cx="3840480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000000"/>
                </a:solidFill>
                <a:latin typeface="맑은 고딕"/>
              </a:defRPr>
            </a:pPr>
            <a:r>
              <a:t>반도체 8주 버퍼</a:t>
            </a:r>
          </a:p>
        </p:txBody>
      </p:sp>
      <p:sp>
        <p:nvSpPr>
          <p:cNvPr id="32" name="Rectangle 31"/>
          <p:cNvSpPr/>
          <p:nvPr/>
        </p:nvSpPr>
        <p:spPr>
          <a:xfrm>
            <a:off x="5166359" y="2770632"/>
            <a:ext cx="4114800" cy="868680"/>
          </a:xfrm>
          <a:prstGeom prst="rect">
            <a:avLst/>
          </a:prstGeom>
          <a:solidFill>
            <a:srgbClr val="FFFFFF"/>
          </a:solidFill>
          <a:ln w="12700">
            <a:solidFill>
              <a:srgbClr val="6666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5166359" y="2770632"/>
            <a:ext cx="4114800" cy="256032"/>
          </a:xfrm>
          <a:prstGeom prst="rect">
            <a:avLst/>
          </a:prstGeom>
          <a:solidFill>
            <a:srgbClr val="666666"/>
          </a:solidFill>
          <a:ln w="9525"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5257799" y="2816352"/>
            <a:ext cx="39319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  <a:latin typeface="맑은 고딕"/>
              </a:defRPr>
            </a:pPr>
            <a:r>
              <a:t>Intel (반도체)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257799" y="3063240"/>
            <a:ext cx="502920" cy="1280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000000"/>
                </a:solidFill>
                <a:latin typeface="맑은 고딕"/>
              </a:defRPr>
            </a:pPr>
            <a:r>
              <a:t>Before: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806440" y="3063240"/>
            <a:ext cx="3383280" cy="1280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333333"/>
                </a:solidFill>
                <a:latin typeface="맑은 고딕"/>
              </a:defRPr>
            </a:pPr>
            <a:r>
              <a:t>단일 소싱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257799" y="3227832"/>
            <a:ext cx="502920" cy="1280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000000"/>
                </a:solidFill>
                <a:latin typeface="맑은 고딕"/>
              </a:defRPr>
            </a:pPr>
            <a:r>
              <a:t>After: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806440" y="3227832"/>
            <a:ext cx="3383280" cy="1280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333333"/>
                </a:solidFill>
                <a:latin typeface="맑은 고딕"/>
              </a:defRPr>
            </a:pPr>
            <a:r>
              <a:t>듀얼 소싱 원칙</a:t>
            </a:r>
          </a:p>
        </p:txBody>
      </p:sp>
      <p:sp>
        <p:nvSpPr>
          <p:cNvPr id="39" name="Rectangle 38"/>
          <p:cNvSpPr/>
          <p:nvPr/>
        </p:nvSpPr>
        <p:spPr>
          <a:xfrm>
            <a:off x="5257799" y="3392424"/>
            <a:ext cx="3931920" cy="201168"/>
          </a:xfrm>
          <a:prstGeom prst="rect">
            <a:avLst/>
          </a:prstGeom>
          <a:solidFill>
            <a:srgbClr val="E6E6E6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5303520" y="3429000"/>
            <a:ext cx="3840480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000000"/>
                </a:solidFill>
                <a:latin typeface="맑은 고딕"/>
              </a:defRPr>
            </a:pPr>
            <a:r>
              <a:t>원자재 10주 재고</a:t>
            </a:r>
          </a:p>
        </p:txBody>
      </p:sp>
      <p:sp>
        <p:nvSpPr>
          <p:cNvPr id="41" name="Rectangle 40"/>
          <p:cNvSpPr/>
          <p:nvPr/>
        </p:nvSpPr>
        <p:spPr>
          <a:xfrm>
            <a:off x="731520" y="3712464"/>
            <a:ext cx="4114800" cy="868680"/>
          </a:xfrm>
          <a:prstGeom prst="rect">
            <a:avLst/>
          </a:prstGeom>
          <a:solidFill>
            <a:srgbClr val="E6E6E6"/>
          </a:solidFill>
          <a:ln w="12700">
            <a:solidFill>
              <a:srgbClr val="6666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731520" y="3712464"/>
            <a:ext cx="4114800" cy="256032"/>
          </a:xfrm>
          <a:prstGeom prst="rect">
            <a:avLst/>
          </a:prstGeom>
          <a:solidFill>
            <a:srgbClr val="666666"/>
          </a:solidFill>
          <a:ln w="9525"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822960" y="3758184"/>
            <a:ext cx="39319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  <a:latin typeface="맑은 고딕"/>
              </a:defRPr>
            </a:pPr>
            <a:r>
              <a:t>Ford (자동차)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822960" y="4005072"/>
            <a:ext cx="502920" cy="1280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000000"/>
                </a:solidFill>
                <a:latin typeface="맑은 고딕"/>
              </a:defRPr>
            </a:pPr>
            <a:r>
              <a:t>Before: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371600" y="4005072"/>
            <a:ext cx="3383280" cy="1280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333333"/>
                </a:solidFill>
                <a:latin typeface="맑은 고딕"/>
              </a:defRPr>
            </a:pPr>
            <a:r>
              <a:t>일일 납품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822960" y="4169664"/>
            <a:ext cx="502920" cy="1280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000000"/>
                </a:solidFill>
                <a:latin typeface="맑은 고딕"/>
              </a:defRPr>
            </a:pPr>
            <a:r>
              <a:t>After: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371600" y="4169664"/>
            <a:ext cx="3383280" cy="1280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333333"/>
                </a:solidFill>
                <a:latin typeface="맑은 고딕"/>
              </a:defRPr>
            </a:pPr>
            <a:r>
              <a:t>주간 납품 + 버퍼</a:t>
            </a:r>
          </a:p>
        </p:txBody>
      </p:sp>
      <p:sp>
        <p:nvSpPr>
          <p:cNvPr id="48" name="Rectangle 47"/>
          <p:cNvSpPr/>
          <p:nvPr/>
        </p:nvSpPr>
        <p:spPr>
          <a:xfrm>
            <a:off x="822960" y="4334256"/>
            <a:ext cx="3931920" cy="201168"/>
          </a:xfrm>
          <a:prstGeom prst="rect">
            <a:avLst/>
          </a:prstGeom>
          <a:solidFill>
            <a:srgbClr val="FFFFFF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868680" y="4370832"/>
            <a:ext cx="3840480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000000"/>
                </a:solidFill>
                <a:latin typeface="맑은 고딕"/>
              </a:defRPr>
            </a:pPr>
            <a:r>
              <a:t>핵심 부품 6주 재고</a:t>
            </a:r>
          </a:p>
        </p:txBody>
      </p:sp>
      <p:sp>
        <p:nvSpPr>
          <p:cNvPr id="50" name="Rectangle 49"/>
          <p:cNvSpPr/>
          <p:nvPr/>
        </p:nvSpPr>
        <p:spPr>
          <a:xfrm>
            <a:off x="5166359" y="3712464"/>
            <a:ext cx="4114800" cy="868680"/>
          </a:xfrm>
          <a:prstGeom prst="rect">
            <a:avLst/>
          </a:prstGeom>
          <a:solidFill>
            <a:srgbClr val="FFFFFF"/>
          </a:solidFill>
          <a:ln w="12700">
            <a:solidFill>
              <a:srgbClr val="6666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Rectangle 50"/>
          <p:cNvSpPr/>
          <p:nvPr/>
        </p:nvSpPr>
        <p:spPr>
          <a:xfrm>
            <a:off x="5166359" y="3712464"/>
            <a:ext cx="4114800" cy="256032"/>
          </a:xfrm>
          <a:prstGeom prst="rect">
            <a:avLst/>
          </a:prstGeom>
          <a:solidFill>
            <a:srgbClr val="666666"/>
          </a:solidFill>
          <a:ln w="9525"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5257799" y="3758184"/>
            <a:ext cx="39319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  <a:latin typeface="맑은 고딕"/>
              </a:defRPr>
            </a:pPr>
            <a:r>
              <a:t>Volkswagen (자동차)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57799" y="4005072"/>
            <a:ext cx="502920" cy="1280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000000"/>
                </a:solidFill>
                <a:latin typeface="맑은 고딕"/>
              </a:defRPr>
            </a:pPr>
            <a:r>
              <a:t>Before: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5806440" y="4005072"/>
            <a:ext cx="3383280" cy="1280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333333"/>
                </a:solidFill>
                <a:latin typeface="맑은 고딕"/>
              </a:defRPr>
            </a:pPr>
            <a:r>
              <a:t>EU 중심 소싱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5257799" y="4169664"/>
            <a:ext cx="502920" cy="1280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000000"/>
                </a:solidFill>
                <a:latin typeface="맑은 고딕"/>
              </a:defRPr>
            </a:pPr>
            <a:r>
              <a:t>After: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5806440" y="4169664"/>
            <a:ext cx="3383280" cy="1280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333333"/>
                </a:solidFill>
                <a:latin typeface="맑은 고딕"/>
              </a:defRPr>
            </a:pPr>
            <a:r>
              <a:t>글로벌 다변화</a:t>
            </a:r>
          </a:p>
        </p:txBody>
      </p:sp>
      <p:sp>
        <p:nvSpPr>
          <p:cNvPr id="57" name="Rectangle 56"/>
          <p:cNvSpPr/>
          <p:nvPr/>
        </p:nvSpPr>
        <p:spPr>
          <a:xfrm>
            <a:off x="5257799" y="4334256"/>
            <a:ext cx="3931920" cy="201168"/>
          </a:xfrm>
          <a:prstGeom prst="rect">
            <a:avLst/>
          </a:prstGeom>
          <a:solidFill>
            <a:srgbClr val="E6E6E6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5303520" y="4370832"/>
            <a:ext cx="3840480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000000"/>
                </a:solidFill>
                <a:latin typeface="맑은 고딕"/>
              </a:defRPr>
            </a:pPr>
            <a:r>
              <a:t>반도체 12주 확보</a:t>
            </a:r>
          </a:p>
        </p:txBody>
      </p:sp>
      <p:sp>
        <p:nvSpPr>
          <p:cNvPr id="59" name="Rectangle 58"/>
          <p:cNvSpPr/>
          <p:nvPr/>
        </p:nvSpPr>
        <p:spPr>
          <a:xfrm>
            <a:off x="731520" y="4654296"/>
            <a:ext cx="4114800" cy="868680"/>
          </a:xfrm>
          <a:prstGeom prst="rect">
            <a:avLst/>
          </a:prstGeom>
          <a:solidFill>
            <a:srgbClr val="E6E6E6"/>
          </a:solidFill>
          <a:ln w="12700">
            <a:solidFill>
              <a:srgbClr val="6666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Rectangle 59"/>
          <p:cNvSpPr/>
          <p:nvPr/>
        </p:nvSpPr>
        <p:spPr>
          <a:xfrm>
            <a:off x="731520" y="4654296"/>
            <a:ext cx="4114800" cy="256032"/>
          </a:xfrm>
          <a:prstGeom prst="rect">
            <a:avLst/>
          </a:prstGeom>
          <a:solidFill>
            <a:srgbClr val="666666"/>
          </a:solidFill>
          <a:ln w="9525"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822960" y="4700016"/>
            <a:ext cx="39319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  <a:latin typeface="맑은 고딕"/>
              </a:defRPr>
            </a:pPr>
            <a:r>
              <a:t>Dell (전자)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822960" y="4946904"/>
            <a:ext cx="502920" cy="1280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000000"/>
                </a:solidFill>
                <a:latin typeface="맑은 고딕"/>
              </a:defRPr>
            </a:pPr>
            <a:r>
              <a:t>Before: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371600" y="4946904"/>
            <a:ext cx="3383280" cy="1280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333333"/>
                </a:solidFill>
                <a:latin typeface="맑은 고딕"/>
              </a:defRPr>
            </a:pPr>
            <a:r>
              <a:t>JIT 선구자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822960" y="5111496"/>
            <a:ext cx="502920" cy="1280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000000"/>
                </a:solidFill>
                <a:latin typeface="맑은 고딕"/>
              </a:defRPr>
            </a:pPr>
            <a:r>
              <a:t>After: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1371600" y="5111496"/>
            <a:ext cx="3383280" cy="1280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333333"/>
                </a:solidFill>
                <a:latin typeface="맑은 고딕"/>
              </a:defRPr>
            </a:pPr>
            <a:r>
              <a:t>하이브리드 전환</a:t>
            </a:r>
          </a:p>
        </p:txBody>
      </p:sp>
      <p:sp>
        <p:nvSpPr>
          <p:cNvPr id="66" name="Rectangle 65"/>
          <p:cNvSpPr/>
          <p:nvPr/>
        </p:nvSpPr>
        <p:spPr>
          <a:xfrm>
            <a:off x="822960" y="5276088"/>
            <a:ext cx="3931920" cy="201168"/>
          </a:xfrm>
          <a:prstGeom prst="rect">
            <a:avLst/>
          </a:prstGeom>
          <a:solidFill>
            <a:srgbClr val="FFFFFF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868680" y="5312664"/>
            <a:ext cx="3840480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000000"/>
                </a:solidFill>
                <a:latin typeface="맑은 고딕"/>
              </a:defRPr>
            </a:pPr>
            <a:r>
              <a:t>CPU 4주 재고</a:t>
            </a:r>
          </a:p>
        </p:txBody>
      </p:sp>
      <p:sp>
        <p:nvSpPr>
          <p:cNvPr id="68" name="Rectangle 67"/>
          <p:cNvSpPr/>
          <p:nvPr/>
        </p:nvSpPr>
        <p:spPr>
          <a:xfrm>
            <a:off x="5166359" y="4654296"/>
            <a:ext cx="4114800" cy="868680"/>
          </a:xfrm>
          <a:prstGeom prst="rect">
            <a:avLst/>
          </a:prstGeom>
          <a:solidFill>
            <a:srgbClr val="FFFFFF"/>
          </a:solidFill>
          <a:ln w="12700">
            <a:solidFill>
              <a:srgbClr val="6666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Rectangle 68"/>
          <p:cNvSpPr/>
          <p:nvPr/>
        </p:nvSpPr>
        <p:spPr>
          <a:xfrm>
            <a:off x="5166359" y="4654296"/>
            <a:ext cx="4114800" cy="256032"/>
          </a:xfrm>
          <a:prstGeom prst="rect">
            <a:avLst/>
          </a:prstGeom>
          <a:solidFill>
            <a:srgbClr val="666666"/>
          </a:solidFill>
          <a:ln w="9525"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TextBox 69"/>
          <p:cNvSpPr txBox="1"/>
          <p:nvPr/>
        </p:nvSpPr>
        <p:spPr>
          <a:xfrm>
            <a:off x="5257799" y="4700016"/>
            <a:ext cx="39319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  <a:latin typeface="맑은 고딕"/>
              </a:defRPr>
            </a:pPr>
            <a:r>
              <a:t>Nike (의류)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5257799" y="4946904"/>
            <a:ext cx="502920" cy="1280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000000"/>
                </a:solidFill>
                <a:latin typeface="맑은 고딕"/>
              </a:defRPr>
            </a:pPr>
            <a:r>
              <a:t>Before: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5806440" y="4946904"/>
            <a:ext cx="3383280" cy="1280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333333"/>
                </a:solidFill>
                <a:latin typeface="맑은 고딕"/>
              </a:defRPr>
            </a:pPr>
            <a:r>
              <a:t>베트남 집중 70%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5257799" y="5111496"/>
            <a:ext cx="502920" cy="1280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000000"/>
                </a:solidFill>
                <a:latin typeface="맑은 고딕"/>
              </a:defRPr>
            </a:pPr>
            <a:r>
              <a:t>After: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5806440" y="5111496"/>
            <a:ext cx="3383280" cy="1280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333333"/>
                </a:solidFill>
                <a:latin typeface="맑은 고딕"/>
              </a:defRPr>
            </a:pPr>
            <a:r>
              <a:t>5개국 분산</a:t>
            </a:r>
          </a:p>
        </p:txBody>
      </p:sp>
      <p:sp>
        <p:nvSpPr>
          <p:cNvPr id="75" name="Rectangle 74"/>
          <p:cNvSpPr/>
          <p:nvPr/>
        </p:nvSpPr>
        <p:spPr>
          <a:xfrm>
            <a:off x="5257799" y="5276088"/>
            <a:ext cx="3931920" cy="201168"/>
          </a:xfrm>
          <a:prstGeom prst="rect">
            <a:avLst/>
          </a:prstGeom>
          <a:solidFill>
            <a:srgbClr val="E6E6E6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TextBox 75"/>
          <p:cNvSpPr txBox="1"/>
          <p:nvPr/>
        </p:nvSpPr>
        <p:spPr>
          <a:xfrm>
            <a:off x="5303520" y="5312664"/>
            <a:ext cx="3840480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000000"/>
                </a:solidFill>
                <a:latin typeface="맑은 고딕"/>
              </a:defRPr>
            </a:pPr>
            <a:r>
              <a:t>원자재 8주 버퍼</a:t>
            </a:r>
          </a:p>
        </p:txBody>
      </p:sp>
      <p:sp>
        <p:nvSpPr>
          <p:cNvPr id="77" name="Rectangle 76"/>
          <p:cNvSpPr/>
          <p:nvPr/>
        </p:nvSpPr>
        <p:spPr>
          <a:xfrm>
            <a:off x="731520" y="5596128"/>
            <a:ext cx="4114800" cy="868680"/>
          </a:xfrm>
          <a:prstGeom prst="rect">
            <a:avLst/>
          </a:prstGeom>
          <a:solidFill>
            <a:srgbClr val="E6E6E6"/>
          </a:solidFill>
          <a:ln w="12700">
            <a:solidFill>
              <a:srgbClr val="6666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Rectangle 77"/>
          <p:cNvSpPr/>
          <p:nvPr/>
        </p:nvSpPr>
        <p:spPr>
          <a:xfrm>
            <a:off x="731520" y="5596128"/>
            <a:ext cx="4114800" cy="256032"/>
          </a:xfrm>
          <a:prstGeom prst="rect">
            <a:avLst/>
          </a:prstGeom>
          <a:solidFill>
            <a:srgbClr val="666666"/>
          </a:solidFill>
          <a:ln w="9525"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TextBox 78"/>
          <p:cNvSpPr txBox="1"/>
          <p:nvPr/>
        </p:nvSpPr>
        <p:spPr>
          <a:xfrm>
            <a:off x="822960" y="5641848"/>
            <a:ext cx="39319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  <a:latin typeface="맑은 고딕"/>
              </a:defRPr>
            </a:pPr>
            <a:r>
              <a:t>Airbus (항공)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22960" y="5888736"/>
            <a:ext cx="502920" cy="1280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000000"/>
                </a:solidFill>
                <a:latin typeface="맑은 고딕"/>
              </a:defRPr>
            </a:pPr>
            <a:r>
              <a:t>Before: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1371600" y="5888736"/>
            <a:ext cx="3383280" cy="1280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333333"/>
                </a:solidFill>
                <a:latin typeface="맑은 고딕"/>
              </a:defRPr>
            </a:pPr>
            <a:r>
              <a:t>장기 고정 계약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822960" y="6053328"/>
            <a:ext cx="502920" cy="1280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000000"/>
                </a:solidFill>
                <a:latin typeface="맑은 고딕"/>
              </a:defRPr>
            </a:pPr>
            <a:r>
              <a:t>After: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1371600" y="6053328"/>
            <a:ext cx="3383280" cy="1280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333333"/>
                </a:solidFill>
                <a:latin typeface="맑은 고딕"/>
              </a:defRPr>
            </a:pPr>
            <a:r>
              <a:t>유연한 계약</a:t>
            </a:r>
          </a:p>
        </p:txBody>
      </p:sp>
      <p:sp>
        <p:nvSpPr>
          <p:cNvPr id="84" name="Rectangle 83"/>
          <p:cNvSpPr/>
          <p:nvPr/>
        </p:nvSpPr>
        <p:spPr>
          <a:xfrm>
            <a:off x="822960" y="6217920"/>
            <a:ext cx="3931920" cy="201168"/>
          </a:xfrm>
          <a:prstGeom prst="rect">
            <a:avLst/>
          </a:prstGeom>
          <a:solidFill>
            <a:srgbClr val="FFFFFF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868680" y="6254496"/>
            <a:ext cx="3840480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000000"/>
                </a:solidFill>
                <a:latin typeface="맑은 고딕"/>
              </a:defRPr>
            </a:pPr>
            <a:r>
              <a:t>주요 부품 16주</a:t>
            </a:r>
          </a:p>
        </p:txBody>
      </p:sp>
      <p:sp>
        <p:nvSpPr>
          <p:cNvPr id="86" name="Rectangle 85"/>
          <p:cNvSpPr/>
          <p:nvPr/>
        </p:nvSpPr>
        <p:spPr>
          <a:xfrm>
            <a:off x="5166359" y="5596128"/>
            <a:ext cx="4114800" cy="868680"/>
          </a:xfrm>
          <a:prstGeom prst="rect">
            <a:avLst/>
          </a:prstGeom>
          <a:solidFill>
            <a:srgbClr val="FFFFFF"/>
          </a:solidFill>
          <a:ln w="12700">
            <a:solidFill>
              <a:srgbClr val="6666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Rectangle 86"/>
          <p:cNvSpPr/>
          <p:nvPr/>
        </p:nvSpPr>
        <p:spPr>
          <a:xfrm>
            <a:off x="5166359" y="5596128"/>
            <a:ext cx="4114800" cy="256032"/>
          </a:xfrm>
          <a:prstGeom prst="rect">
            <a:avLst/>
          </a:prstGeom>
          <a:solidFill>
            <a:srgbClr val="666666"/>
          </a:solidFill>
          <a:ln w="9525"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TextBox 87"/>
          <p:cNvSpPr txBox="1"/>
          <p:nvPr/>
        </p:nvSpPr>
        <p:spPr>
          <a:xfrm>
            <a:off x="5257799" y="5641848"/>
            <a:ext cx="39319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  <a:latin typeface="맑은 고딕"/>
              </a:defRPr>
            </a:pPr>
            <a:r>
              <a:t>Siemens (산업재)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5257799" y="5888736"/>
            <a:ext cx="502920" cy="1280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000000"/>
                </a:solidFill>
                <a:latin typeface="맑은 고딕"/>
              </a:defRPr>
            </a:pPr>
            <a:r>
              <a:t>Before: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5806440" y="5888736"/>
            <a:ext cx="3383280" cy="1280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333333"/>
                </a:solidFill>
                <a:latin typeface="맑은 고딕"/>
              </a:defRPr>
            </a:pPr>
            <a:r>
              <a:t>단일 물류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5257799" y="6053328"/>
            <a:ext cx="502920" cy="1280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000000"/>
                </a:solidFill>
                <a:latin typeface="맑은 고딕"/>
              </a:defRPr>
            </a:pPr>
            <a:r>
              <a:t>After: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5806440" y="6053328"/>
            <a:ext cx="3383280" cy="1280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333333"/>
                </a:solidFill>
                <a:latin typeface="맑은 고딕"/>
              </a:defRPr>
            </a:pPr>
            <a:r>
              <a:t>다경로 물류</a:t>
            </a:r>
          </a:p>
        </p:txBody>
      </p:sp>
      <p:sp>
        <p:nvSpPr>
          <p:cNvPr id="93" name="Rectangle 92"/>
          <p:cNvSpPr/>
          <p:nvPr/>
        </p:nvSpPr>
        <p:spPr>
          <a:xfrm>
            <a:off x="5257799" y="6217920"/>
            <a:ext cx="3931920" cy="201168"/>
          </a:xfrm>
          <a:prstGeom prst="rect">
            <a:avLst/>
          </a:prstGeom>
          <a:solidFill>
            <a:srgbClr val="E6E6E6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" name="TextBox 93"/>
          <p:cNvSpPr txBox="1"/>
          <p:nvPr/>
        </p:nvSpPr>
        <p:spPr>
          <a:xfrm>
            <a:off x="5303520" y="6254496"/>
            <a:ext cx="3840480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000000"/>
                </a:solidFill>
                <a:latin typeface="맑은 고딕"/>
              </a:defRPr>
            </a:pPr>
            <a:r>
              <a:t>전략자재 20주</a:t>
            </a:r>
          </a:p>
        </p:txBody>
      </p:sp>
      <p:sp>
        <p:nvSpPr>
          <p:cNvPr id="95" name="Rectangle 94"/>
          <p:cNvSpPr/>
          <p:nvPr/>
        </p:nvSpPr>
        <p:spPr>
          <a:xfrm>
            <a:off x="731520" y="6263640"/>
            <a:ext cx="2148840" cy="457200"/>
          </a:xfrm>
          <a:prstGeom prst="rect">
            <a:avLst/>
          </a:prstGeom>
          <a:solidFill>
            <a:srgbClr val="E6E6E6"/>
          </a:solidFill>
          <a:ln w="12700">
            <a:solidFill>
              <a:srgbClr val="6666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TextBox 95"/>
          <p:cNvSpPr txBox="1"/>
          <p:nvPr/>
        </p:nvSpPr>
        <p:spPr>
          <a:xfrm>
            <a:off x="777240" y="6309359"/>
            <a:ext cx="2057400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000000"/>
                </a:solidFill>
                <a:latin typeface="맑은 고딕"/>
              </a:defRPr>
            </a:pPr>
            <a:r>
              <a:t>전환 기업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777240" y="6483096"/>
            <a:ext cx="2057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333333"/>
                </a:solidFill>
                <a:latin typeface="맑은 고딕"/>
              </a:defRPr>
            </a:pPr>
            <a:r>
              <a:t>글로벌 Top 100</a:t>
            </a:r>
            <a:br/>
            <a:r>
              <a:t>80% 전환</a:t>
            </a:r>
          </a:p>
        </p:txBody>
      </p:sp>
      <p:sp>
        <p:nvSpPr>
          <p:cNvPr id="98" name="Rectangle 97"/>
          <p:cNvSpPr/>
          <p:nvPr/>
        </p:nvSpPr>
        <p:spPr>
          <a:xfrm>
            <a:off x="2971800" y="6263640"/>
            <a:ext cx="2148840" cy="457200"/>
          </a:xfrm>
          <a:prstGeom prst="rect">
            <a:avLst/>
          </a:prstGeom>
          <a:solidFill>
            <a:srgbClr val="FFFFFF"/>
          </a:solidFill>
          <a:ln w="12700">
            <a:solidFill>
              <a:srgbClr val="6666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TextBox 98"/>
          <p:cNvSpPr txBox="1"/>
          <p:nvPr/>
        </p:nvSpPr>
        <p:spPr>
          <a:xfrm>
            <a:off x="3017520" y="6309359"/>
            <a:ext cx="2057400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000000"/>
                </a:solidFill>
                <a:latin typeface="맑은 고딕"/>
              </a:defRPr>
            </a:pPr>
            <a:r>
              <a:t>재고 증가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3017520" y="6483096"/>
            <a:ext cx="2057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333333"/>
                </a:solidFill>
                <a:latin typeface="맑은 고딕"/>
              </a:defRPr>
            </a:pPr>
            <a:r>
              <a:t>안전재고</a:t>
            </a:r>
            <a:br/>
            <a:r>
              <a:t>평균 8주 확보</a:t>
            </a:r>
          </a:p>
        </p:txBody>
      </p:sp>
      <p:sp>
        <p:nvSpPr>
          <p:cNvPr id="101" name="Rectangle 100"/>
          <p:cNvSpPr/>
          <p:nvPr/>
        </p:nvSpPr>
        <p:spPr>
          <a:xfrm>
            <a:off x="5212080" y="6263640"/>
            <a:ext cx="2148840" cy="457200"/>
          </a:xfrm>
          <a:prstGeom prst="rect">
            <a:avLst/>
          </a:prstGeom>
          <a:solidFill>
            <a:srgbClr val="E6E6E6"/>
          </a:solidFill>
          <a:ln w="12700">
            <a:solidFill>
              <a:srgbClr val="6666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" name="TextBox 101"/>
          <p:cNvSpPr txBox="1"/>
          <p:nvPr/>
        </p:nvSpPr>
        <p:spPr>
          <a:xfrm>
            <a:off x="5257800" y="6309359"/>
            <a:ext cx="2057400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000000"/>
                </a:solidFill>
                <a:latin typeface="맑은 고딕"/>
              </a:defRPr>
            </a:pPr>
            <a:r>
              <a:t>공급원 다변화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5257800" y="6483096"/>
            <a:ext cx="2057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333333"/>
                </a:solidFill>
                <a:latin typeface="맑은 고딕"/>
              </a:defRPr>
            </a:pPr>
            <a:r>
              <a:t>복수 공급원</a:t>
            </a:r>
            <a:br/>
            <a:r>
              <a:t>60% 이상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7452360" y="6263640"/>
            <a:ext cx="2148840" cy="457200"/>
          </a:xfrm>
          <a:prstGeom prst="rect">
            <a:avLst/>
          </a:prstGeom>
          <a:solidFill>
            <a:srgbClr val="FFFFFF"/>
          </a:solidFill>
          <a:ln w="12700">
            <a:solidFill>
              <a:srgbClr val="6666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7498080" y="6309359"/>
            <a:ext cx="2057400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000000"/>
                </a:solidFill>
                <a:latin typeface="맑은 고딕"/>
              </a:defRPr>
            </a:pPr>
            <a:r>
              <a:t>투자 규모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498080" y="6483096"/>
            <a:ext cx="2057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333333"/>
                </a:solidFill>
                <a:latin typeface="맑은 고딕"/>
              </a:defRPr>
            </a:pPr>
            <a:r>
              <a:t>재고 비용</a:t>
            </a:r>
            <a:br/>
            <a:r>
              <a:t>30-50% 증가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2286000"/>
            <a:ext cx="8961120" cy="2286000"/>
          </a:xfrm>
          <a:prstGeom prst="rect">
            <a:avLst/>
          </a:prstGeom>
          <a:solidFill>
            <a:srgbClr val="E6E6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828800" y="2560320"/>
            <a:ext cx="62179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400" b="1">
                <a:solidFill>
                  <a:srgbClr val="333333"/>
                </a:solidFill>
                <a:latin typeface="맑은 고딕"/>
              </a:defRPr>
            </a:pPr>
            <a:r>
              <a:t>2장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828800" y="3474720"/>
            <a:ext cx="62179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400" b="1">
                <a:solidFill>
                  <a:srgbClr val="000000"/>
                </a:solidFill>
                <a:latin typeface="맑은 고딕"/>
              </a:defRPr>
            </a:pPr>
            <a:r>
              <a:t>Kraljic Matrix 프레임워크</a:t>
            </a:r>
          </a:p>
        </p:txBody>
      </p:sp>
      <p:sp>
        <p:nvSpPr>
          <p:cNvPr id="5" name="Rectangle 4"/>
          <p:cNvSpPr/>
          <p:nvPr/>
        </p:nvSpPr>
        <p:spPr>
          <a:xfrm>
            <a:off x="3200400" y="4297680"/>
            <a:ext cx="3474720" cy="45720"/>
          </a:xfrm>
          <a:prstGeom prst="rect">
            <a:avLst/>
          </a:prstGeom>
          <a:solidFill>
            <a:srgbClr val="3333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274320" y="274320"/>
            <a:ext cx="9354312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000000"/>
                </a:solidFill>
                <a:latin typeface="맑은 고딕"/>
              </a:defRPr>
            </a:pPr>
            <a:r>
              <a:t>2.1 💡 Kraljic Matrix 탄생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0" y="6400800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666666"/>
                </a:solidFill>
                <a:latin typeface="Arial"/>
              </a:defRPr>
            </a:pPr>
            <a:r>
              <a:t>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" y="923544"/>
            <a:ext cx="9436608" cy="5760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666666"/>
                </a:solidFill>
                <a:latin typeface="맑은 고딕"/>
              </a:defRPr>
            </a:pPr>
            <a:r>
              <a:t>1983년 Peter Kraljic이 개발한 2×2 매트릭스는 자재 특성에 따른 차별화 전략의 기초가 되었습니다.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1828800"/>
            <a:ext cx="5943600" cy="320040"/>
          </a:xfrm>
          <a:prstGeom prst="rect">
            <a:avLst/>
          </a:prstGeom>
          <a:solidFill>
            <a:srgbClr val="666666"/>
          </a:solidFill>
          <a:ln w="1270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1874519"/>
            <a:ext cx="57607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FFFFFF"/>
                </a:solidFill>
                <a:latin typeface="맑은 고딕"/>
              </a:defRPr>
            </a:pPr>
            <a:r>
              <a:t>Kraljic Matrix 발전 타임라인 (1983-현재)</a:t>
            </a:r>
          </a:p>
        </p:txBody>
      </p:sp>
      <p:sp>
        <p:nvSpPr>
          <p:cNvPr id="7" name="Rectangle 6"/>
          <p:cNvSpPr/>
          <p:nvPr/>
        </p:nvSpPr>
        <p:spPr>
          <a:xfrm>
            <a:off x="731520" y="2286000"/>
            <a:ext cx="822960" cy="320040"/>
          </a:xfrm>
          <a:prstGeom prst="rect">
            <a:avLst/>
          </a:prstGeom>
          <a:solidFill>
            <a:srgbClr val="333333"/>
          </a:solidFill>
          <a:ln w="1270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2340864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FFFFFF"/>
                </a:solidFill>
                <a:latin typeface="맑은 고딕"/>
              </a:defRPr>
            </a:pPr>
            <a:r>
              <a:t>1983</a:t>
            </a:r>
          </a:p>
        </p:txBody>
      </p:sp>
      <p:sp>
        <p:nvSpPr>
          <p:cNvPr id="9" name="Rectangle 8"/>
          <p:cNvSpPr/>
          <p:nvPr/>
        </p:nvSpPr>
        <p:spPr>
          <a:xfrm>
            <a:off x="1645920" y="2286000"/>
            <a:ext cx="2011680" cy="320040"/>
          </a:xfrm>
          <a:prstGeom prst="rect">
            <a:avLst/>
          </a:prstGeom>
          <a:solidFill>
            <a:srgbClr val="E6E6E6"/>
          </a:solidFill>
          <a:ln w="9525">
            <a:solidFill>
              <a:srgbClr val="6666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737360" y="2340864"/>
            <a:ext cx="18288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000000"/>
                </a:solidFill>
                <a:latin typeface="맑은 고딕"/>
              </a:defRPr>
            </a:pPr>
            <a:r>
              <a:t>HBR 논문 발표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719072" y="2651760"/>
            <a:ext cx="91440" cy="1097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0">
                <a:solidFill>
                  <a:srgbClr val="333333"/>
                </a:solidFill>
                <a:latin typeface="맑은 고딕"/>
              </a:defRPr>
            </a:pPr>
            <a:r>
              <a:t>•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828800" y="2651760"/>
            <a:ext cx="1828800" cy="1097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333333"/>
                </a:solidFill>
                <a:latin typeface="맑은 고딕"/>
              </a:defRPr>
            </a:pPr>
            <a:r>
              <a:t>Peter Kraljic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719072" y="2770632"/>
            <a:ext cx="91440" cy="1097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0">
                <a:solidFill>
                  <a:srgbClr val="333333"/>
                </a:solidFill>
                <a:latin typeface="맑은 고딕"/>
              </a:defRPr>
            </a:pPr>
            <a:r>
              <a:t>•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828800" y="2770632"/>
            <a:ext cx="1828800" cy="1097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333333"/>
                </a:solidFill>
                <a:latin typeface="맑은 고딕"/>
              </a:defRPr>
            </a:pPr>
            <a:r>
              <a:t>Purchasing Must Become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719072" y="2889503"/>
            <a:ext cx="91440" cy="1097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0">
                <a:solidFill>
                  <a:srgbClr val="333333"/>
                </a:solidFill>
                <a:latin typeface="맑은 고딕"/>
              </a:defRPr>
            </a:pPr>
            <a:r>
              <a:t>•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828800" y="2889503"/>
            <a:ext cx="1828800" cy="1097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333333"/>
                </a:solidFill>
                <a:latin typeface="맑은 고딕"/>
              </a:defRPr>
            </a:pPr>
            <a:r>
              <a:t>Supply Management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749039" y="2286000"/>
            <a:ext cx="2743200" cy="640080"/>
          </a:xfrm>
          <a:prstGeom prst="rect">
            <a:avLst/>
          </a:prstGeom>
          <a:solidFill>
            <a:srgbClr val="FFFFFF"/>
          </a:solidFill>
          <a:ln w="9525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840480" y="2496312"/>
            <a:ext cx="25603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000000"/>
                </a:solidFill>
                <a:latin typeface="맑은 고딕"/>
              </a:defRPr>
            </a:pPr>
            <a:r>
              <a:t>2×2 매트릭스 최초 제안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1143000" y="2926080"/>
            <a:ext cx="0" cy="73152"/>
          </a:xfrm>
          <a:prstGeom prst="line">
            <a:avLst/>
          </a:prstGeom>
          <a:ln w="25400">
            <a:solidFill>
              <a:srgbClr val="66666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Rectangle 19"/>
          <p:cNvSpPr/>
          <p:nvPr/>
        </p:nvSpPr>
        <p:spPr>
          <a:xfrm>
            <a:off x="731520" y="2999232"/>
            <a:ext cx="822960" cy="320040"/>
          </a:xfrm>
          <a:prstGeom prst="rect">
            <a:avLst/>
          </a:prstGeom>
          <a:solidFill>
            <a:srgbClr val="333333"/>
          </a:solidFill>
          <a:ln w="1270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77240" y="3054096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FFFFFF"/>
                </a:solidFill>
                <a:latin typeface="맑은 고딕"/>
              </a:defRPr>
            </a:pPr>
            <a:r>
              <a:t>1985-90</a:t>
            </a:r>
          </a:p>
        </p:txBody>
      </p:sp>
      <p:sp>
        <p:nvSpPr>
          <p:cNvPr id="22" name="Rectangle 21"/>
          <p:cNvSpPr/>
          <p:nvPr/>
        </p:nvSpPr>
        <p:spPr>
          <a:xfrm>
            <a:off x="1645920" y="2999232"/>
            <a:ext cx="2011680" cy="320040"/>
          </a:xfrm>
          <a:prstGeom prst="rect">
            <a:avLst/>
          </a:prstGeom>
          <a:solidFill>
            <a:srgbClr val="E6E6E6"/>
          </a:solidFill>
          <a:ln w="9525">
            <a:solidFill>
              <a:srgbClr val="6666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737360" y="3054096"/>
            <a:ext cx="18288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000000"/>
                </a:solidFill>
                <a:latin typeface="맑은 고딕"/>
              </a:defRPr>
            </a:pPr>
            <a:r>
              <a:t>학계 확산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719072" y="3364991"/>
            <a:ext cx="91440" cy="1097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0">
                <a:solidFill>
                  <a:srgbClr val="333333"/>
                </a:solidFill>
                <a:latin typeface="맑은 고딕"/>
              </a:defRPr>
            </a:pPr>
            <a:r>
              <a:t>•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828800" y="3364991"/>
            <a:ext cx="1828800" cy="1097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333333"/>
                </a:solidFill>
                <a:latin typeface="맑은 고딕"/>
              </a:defRPr>
            </a:pPr>
            <a:r>
              <a:t>이론 정립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719072" y="3483863"/>
            <a:ext cx="91440" cy="1097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0">
                <a:solidFill>
                  <a:srgbClr val="333333"/>
                </a:solidFill>
                <a:latin typeface="맑은 고딕"/>
              </a:defRPr>
            </a:pPr>
            <a:r>
              <a:t>•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828800" y="3483863"/>
            <a:ext cx="1828800" cy="1097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333333"/>
                </a:solidFill>
                <a:latin typeface="맑은 고딕"/>
              </a:defRPr>
            </a:pPr>
            <a:r>
              <a:t>실증 연구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719072" y="3602735"/>
            <a:ext cx="91440" cy="1097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0">
                <a:solidFill>
                  <a:srgbClr val="333333"/>
                </a:solidFill>
                <a:latin typeface="맑은 고딕"/>
              </a:defRPr>
            </a:pPr>
            <a:r>
              <a:t>•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828800" y="3602735"/>
            <a:ext cx="1828800" cy="1097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333333"/>
                </a:solidFill>
                <a:latin typeface="맑은 고딕"/>
              </a:defRPr>
            </a:pPr>
            <a:r>
              <a:t>교육 과정 포함</a:t>
            </a:r>
          </a:p>
        </p:txBody>
      </p:sp>
      <p:sp>
        <p:nvSpPr>
          <p:cNvPr id="30" name="Rectangle 29"/>
          <p:cNvSpPr/>
          <p:nvPr/>
        </p:nvSpPr>
        <p:spPr>
          <a:xfrm>
            <a:off x="3749039" y="2999232"/>
            <a:ext cx="2743200" cy="640080"/>
          </a:xfrm>
          <a:prstGeom prst="rect">
            <a:avLst/>
          </a:prstGeom>
          <a:solidFill>
            <a:srgbClr val="FFFFFF"/>
          </a:solidFill>
          <a:ln w="9525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3840480" y="3209544"/>
            <a:ext cx="25603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000000"/>
                </a:solidFill>
                <a:latin typeface="맑은 고딕"/>
              </a:defRPr>
            </a:pPr>
            <a:r>
              <a:t>MBA 필수 교육</a:t>
            </a:r>
          </a:p>
        </p:txBody>
      </p:sp>
      <p:cxnSp>
        <p:nvCxnSpPr>
          <p:cNvPr id="32" name="Connector 31"/>
          <p:cNvCxnSpPr/>
          <p:nvPr/>
        </p:nvCxnSpPr>
        <p:spPr>
          <a:xfrm>
            <a:off x="1143000" y="3639311"/>
            <a:ext cx="0" cy="73152"/>
          </a:xfrm>
          <a:prstGeom prst="line">
            <a:avLst/>
          </a:prstGeom>
          <a:ln w="25400">
            <a:solidFill>
              <a:srgbClr val="66666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3" name="Rectangle 32"/>
          <p:cNvSpPr/>
          <p:nvPr/>
        </p:nvSpPr>
        <p:spPr>
          <a:xfrm>
            <a:off x="731520" y="3712463"/>
            <a:ext cx="822960" cy="320040"/>
          </a:xfrm>
          <a:prstGeom prst="rect">
            <a:avLst/>
          </a:prstGeom>
          <a:solidFill>
            <a:srgbClr val="333333"/>
          </a:solidFill>
          <a:ln w="1270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777240" y="3767327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FFFFFF"/>
                </a:solidFill>
                <a:latin typeface="맑은 고딕"/>
              </a:defRPr>
            </a:pPr>
            <a:r>
              <a:t>1990-2000</a:t>
            </a:r>
          </a:p>
        </p:txBody>
      </p:sp>
      <p:sp>
        <p:nvSpPr>
          <p:cNvPr id="35" name="Rectangle 34"/>
          <p:cNvSpPr/>
          <p:nvPr/>
        </p:nvSpPr>
        <p:spPr>
          <a:xfrm>
            <a:off x="1645920" y="3712463"/>
            <a:ext cx="2011680" cy="320040"/>
          </a:xfrm>
          <a:prstGeom prst="rect">
            <a:avLst/>
          </a:prstGeom>
          <a:solidFill>
            <a:srgbClr val="E6E6E6"/>
          </a:solidFill>
          <a:ln w="9525">
            <a:solidFill>
              <a:srgbClr val="6666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1737360" y="3767327"/>
            <a:ext cx="18288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000000"/>
                </a:solidFill>
                <a:latin typeface="맑은 고딕"/>
              </a:defRPr>
            </a:pPr>
            <a:r>
              <a:t>산업 적용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719072" y="4078224"/>
            <a:ext cx="91440" cy="1097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0">
                <a:solidFill>
                  <a:srgbClr val="333333"/>
                </a:solidFill>
                <a:latin typeface="맑은 고딕"/>
              </a:defRPr>
            </a:pPr>
            <a:r>
              <a:t>•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828800" y="4078224"/>
            <a:ext cx="1828800" cy="1097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333333"/>
                </a:solidFill>
                <a:latin typeface="맑은 고딕"/>
              </a:defRPr>
            </a:pPr>
            <a:r>
              <a:t>Fortune 500 채택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719072" y="4197096"/>
            <a:ext cx="91440" cy="1097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0">
                <a:solidFill>
                  <a:srgbClr val="333333"/>
                </a:solidFill>
                <a:latin typeface="맑은 고딕"/>
              </a:defRPr>
            </a:pPr>
            <a:r>
              <a:t>•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828800" y="4197096"/>
            <a:ext cx="1828800" cy="1097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333333"/>
                </a:solidFill>
                <a:latin typeface="맑은 고딕"/>
              </a:defRPr>
            </a:pPr>
            <a:r>
              <a:t>자동차·전자 확산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719072" y="4315968"/>
            <a:ext cx="91440" cy="1097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0">
                <a:solidFill>
                  <a:srgbClr val="333333"/>
                </a:solidFill>
                <a:latin typeface="맑은 고딕"/>
              </a:defRPr>
            </a:pPr>
            <a:r>
              <a:t>•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828800" y="4315968"/>
            <a:ext cx="1828800" cy="1097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333333"/>
                </a:solidFill>
                <a:latin typeface="맑은 고딕"/>
              </a:defRPr>
            </a:pPr>
            <a:r>
              <a:t>컨설팅 방법론화</a:t>
            </a:r>
          </a:p>
        </p:txBody>
      </p:sp>
      <p:sp>
        <p:nvSpPr>
          <p:cNvPr id="43" name="Rectangle 42"/>
          <p:cNvSpPr/>
          <p:nvPr/>
        </p:nvSpPr>
        <p:spPr>
          <a:xfrm>
            <a:off x="3749039" y="3712463"/>
            <a:ext cx="2743200" cy="640080"/>
          </a:xfrm>
          <a:prstGeom prst="rect">
            <a:avLst/>
          </a:prstGeom>
          <a:solidFill>
            <a:srgbClr val="FFFFFF"/>
          </a:solidFill>
          <a:ln w="9525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3840480" y="3922775"/>
            <a:ext cx="25603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000000"/>
                </a:solidFill>
                <a:latin typeface="맑은 고딕"/>
              </a:defRPr>
            </a:pPr>
            <a:r>
              <a:t>글로벌 표준 확립</a:t>
            </a:r>
          </a:p>
        </p:txBody>
      </p:sp>
      <p:cxnSp>
        <p:nvCxnSpPr>
          <p:cNvPr id="45" name="Connector 44"/>
          <p:cNvCxnSpPr/>
          <p:nvPr/>
        </p:nvCxnSpPr>
        <p:spPr>
          <a:xfrm>
            <a:off x="1143000" y="4352544"/>
            <a:ext cx="0" cy="73152"/>
          </a:xfrm>
          <a:prstGeom prst="line">
            <a:avLst/>
          </a:prstGeom>
          <a:ln w="25400">
            <a:solidFill>
              <a:srgbClr val="66666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6" name="Rectangle 45"/>
          <p:cNvSpPr/>
          <p:nvPr/>
        </p:nvSpPr>
        <p:spPr>
          <a:xfrm>
            <a:off x="731520" y="4425696"/>
            <a:ext cx="822960" cy="320040"/>
          </a:xfrm>
          <a:prstGeom prst="rect">
            <a:avLst/>
          </a:prstGeom>
          <a:solidFill>
            <a:srgbClr val="333333"/>
          </a:solidFill>
          <a:ln w="1270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777240" y="4480559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FFFFFF"/>
                </a:solidFill>
                <a:latin typeface="맑은 고딕"/>
              </a:defRPr>
            </a:pPr>
            <a:r>
              <a:t>2000-2010</a:t>
            </a:r>
          </a:p>
        </p:txBody>
      </p:sp>
      <p:sp>
        <p:nvSpPr>
          <p:cNvPr id="48" name="Rectangle 47"/>
          <p:cNvSpPr/>
          <p:nvPr/>
        </p:nvSpPr>
        <p:spPr>
          <a:xfrm>
            <a:off x="1645920" y="4425696"/>
            <a:ext cx="2011680" cy="320040"/>
          </a:xfrm>
          <a:prstGeom prst="rect">
            <a:avLst/>
          </a:prstGeom>
          <a:solidFill>
            <a:srgbClr val="E6E6E6"/>
          </a:solidFill>
          <a:ln w="9525">
            <a:solidFill>
              <a:srgbClr val="6666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1737360" y="4480559"/>
            <a:ext cx="18288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000000"/>
                </a:solidFill>
                <a:latin typeface="맑은 고딕"/>
              </a:defRPr>
            </a:pPr>
            <a:r>
              <a:t>디지털화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1719072" y="4791456"/>
            <a:ext cx="91440" cy="1097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0">
                <a:solidFill>
                  <a:srgbClr val="333333"/>
                </a:solidFill>
                <a:latin typeface="맑은 고딕"/>
              </a:defRPr>
            </a:pPr>
            <a:r>
              <a:t>•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1828800" y="4791456"/>
            <a:ext cx="1828800" cy="1097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333333"/>
                </a:solidFill>
                <a:latin typeface="맑은 고딕"/>
              </a:defRPr>
            </a:pPr>
            <a:r>
              <a:t>ERP 통합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1719072" y="4910328"/>
            <a:ext cx="91440" cy="1097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0">
                <a:solidFill>
                  <a:srgbClr val="333333"/>
                </a:solidFill>
                <a:latin typeface="맑은 고딕"/>
              </a:defRPr>
            </a:pPr>
            <a:r>
              <a:t>•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1828800" y="4910328"/>
            <a:ext cx="1828800" cy="1097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333333"/>
                </a:solidFill>
                <a:latin typeface="맑은 고딕"/>
              </a:defRPr>
            </a:pPr>
            <a:r>
              <a:t>자동 분류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1719072" y="5029200"/>
            <a:ext cx="91440" cy="1097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0">
                <a:solidFill>
                  <a:srgbClr val="333333"/>
                </a:solidFill>
                <a:latin typeface="맑은 고딕"/>
              </a:defRPr>
            </a:pPr>
            <a:r>
              <a:t>•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1828800" y="5029200"/>
            <a:ext cx="1828800" cy="1097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333333"/>
                </a:solidFill>
                <a:latin typeface="맑은 고딕"/>
              </a:defRPr>
            </a:pPr>
            <a:r>
              <a:t>데이터 기반</a:t>
            </a:r>
          </a:p>
        </p:txBody>
      </p:sp>
      <p:sp>
        <p:nvSpPr>
          <p:cNvPr id="56" name="Rectangle 55"/>
          <p:cNvSpPr/>
          <p:nvPr/>
        </p:nvSpPr>
        <p:spPr>
          <a:xfrm>
            <a:off x="3749039" y="4425696"/>
            <a:ext cx="2743200" cy="640080"/>
          </a:xfrm>
          <a:prstGeom prst="rect">
            <a:avLst/>
          </a:prstGeom>
          <a:solidFill>
            <a:srgbClr val="FFFFFF"/>
          </a:solidFill>
          <a:ln w="9525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3840480" y="4636008"/>
            <a:ext cx="25603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000000"/>
                </a:solidFill>
                <a:latin typeface="맑은 고딕"/>
              </a:defRPr>
            </a:pPr>
            <a:r>
              <a:t>시스템 자동화</a:t>
            </a:r>
          </a:p>
        </p:txBody>
      </p:sp>
      <p:cxnSp>
        <p:nvCxnSpPr>
          <p:cNvPr id="58" name="Connector 57"/>
          <p:cNvCxnSpPr/>
          <p:nvPr/>
        </p:nvCxnSpPr>
        <p:spPr>
          <a:xfrm>
            <a:off x="1143000" y="5065776"/>
            <a:ext cx="0" cy="73152"/>
          </a:xfrm>
          <a:prstGeom prst="line">
            <a:avLst/>
          </a:prstGeom>
          <a:ln w="25400">
            <a:solidFill>
              <a:srgbClr val="66666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9" name="Rectangle 58"/>
          <p:cNvSpPr/>
          <p:nvPr/>
        </p:nvSpPr>
        <p:spPr>
          <a:xfrm>
            <a:off x="731520" y="5138928"/>
            <a:ext cx="822960" cy="320040"/>
          </a:xfrm>
          <a:prstGeom prst="rect">
            <a:avLst/>
          </a:prstGeom>
          <a:solidFill>
            <a:srgbClr val="333333"/>
          </a:solidFill>
          <a:ln w="1270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777240" y="5193792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FFFFFF"/>
                </a:solidFill>
                <a:latin typeface="맑은 고딕"/>
              </a:defRPr>
            </a:pPr>
            <a:r>
              <a:t>2010-2020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1645920" y="5138928"/>
            <a:ext cx="2011680" cy="320040"/>
          </a:xfrm>
          <a:prstGeom prst="rect">
            <a:avLst/>
          </a:prstGeom>
          <a:solidFill>
            <a:srgbClr val="E6E6E6"/>
          </a:solidFill>
          <a:ln w="9525">
            <a:solidFill>
              <a:srgbClr val="6666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1737360" y="5193792"/>
            <a:ext cx="18288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000000"/>
                </a:solidFill>
                <a:latin typeface="맑은 고딕"/>
              </a:defRPr>
            </a:pPr>
            <a:r>
              <a:t>고도화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719072" y="5504688"/>
            <a:ext cx="91440" cy="1097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0">
                <a:solidFill>
                  <a:srgbClr val="333333"/>
                </a:solidFill>
                <a:latin typeface="맑은 고딕"/>
              </a:defRPr>
            </a:pPr>
            <a:r>
              <a:t>•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1828800" y="5504688"/>
            <a:ext cx="1828800" cy="1097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333333"/>
                </a:solidFill>
                <a:latin typeface="맑은 고딕"/>
              </a:defRPr>
            </a:pPr>
            <a:r>
              <a:t>AI/ML 접목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1719072" y="5623560"/>
            <a:ext cx="91440" cy="1097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0">
                <a:solidFill>
                  <a:srgbClr val="333333"/>
                </a:solidFill>
                <a:latin typeface="맑은 고딕"/>
              </a:defRPr>
            </a:pPr>
            <a:r>
              <a:t>•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1828800" y="5623560"/>
            <a:ext cx="1828800" cy="1097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333333"/>
                </a:solidFill>
                <a:latin typeface="맑은 고딕"/>
              </a:defRPr>
            </a:pPr>
            <a:r>
              <a:t>동적 분류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1719072" y="5742432"/>
            <a:ext cx="91440" cy="1097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0">
                <a:solidFill>
                  <a:srgbClr val="333333"/>
                </a:solidFill>
                <a:latin typeface="맑은 고딕"/>
              </a:defRPr>
            </a:pPr>
            <a:r>
              <a:t>•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1828800" y="5742432"/>
            <a:ext cx="1828800" cy="1097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333333"/>
                </a:solidFill>
                <a:latin typeface="맑은 고딕"/>
              </a:defRPr>
            </a:pPr>
            <a:r>
              <a:t>실시간 모니터링</a:t>
            </a:r>
          </a:p>
        </p:txBody>
      </p:sp>
      <p:sp>
        <p:nvSpPr>
          <p:cNvPr id="69" name="Rectangle 68"/>
          <p:cNvSpPr/>
          <p:nvPr/>
        </p:nvSpPr>
        <p:spPr>
          <a:xfrm>
            <a:off x="3749039" y="5138928"/>
            <a:ext cx="2743200" cy="640080"/>
          </a:xfrm>
          <a:prstGeom prst="rect">
            <a:avLst/>
          </a:prstGeom>
          <a:solidFill>
            <a:srgbClr val="FFFFFF"/>
          </a:solidFill>
          <a:ln w="9525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TextBox 69"/>
          <p:cNvSpPr txBox="1"/>
          <p:nvPr/>
        </p:nvSpPr>
        <p:spPr>
          <a:xfrm>
            <a:off x="3840480" y="5349240"/>
            <a:ext cx="25603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000000"/>
                </a:solidFill>
                <a:latin typeface="맑은 고딕"/>
              </a:defRPr>
            </a:pPr>
            <a:r>
              <a:t>지능형 SCM</a:t>
            </a:r>
          </a:p>
        </p:txBody>
      </p:sp>
      <p:cxnSp>
        <p:nvCxnSpPr>
          <p:cNvPr id="71" name="Connector 70"/>
          <p:cNvCxnSpPr/>
          <p:nvPr/>
        </p:nvCxnSpPr>
        <p:spPr>
          <a:xfrm>
            <a:off x="1143000" y="5779008"/>
            <a:ext cx="0" cy="73152"/>
          </a:xfrm>
          <a:prstGeom prst="line">
            <a:avLst/>
          </a:prstGeom>
          <a:ln w="25400">
            <a:solidFill>
              <a:srgbClr val="66666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2" name="Rectangle 71"/>
          <p:cNvSpPr/>
          <p:nvPr/>
        </p:nvSpPr>
        <p:spPr>
          <a:xfrm>
            <a:off x="731520" y="5852160"/>
            <a:ext cx="822960" cy="320040"/>
          </a:xfrm>
          <a:prstGeom prst="rect">
            <a:avLst/>
          </a:prstGeom>
          <a:solidFill>
            <a:srgbClr val="333333"/>
          </a:solidFill>
          <a:ln w="1270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777240" y="5907024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FFFFFF"/>
                </a:solidFill>
                <a:latin typeface="맑은 고딕"/>
              </a:defRPr>
            </a:pPr>
            <a:r>
              <a:t>2020-현재</a:t>
            </a:r>
          </a:p>
        </p:txBody>
      </p:sp>
      <p:sp>
        <p:nvSpPr>
          <p:cNvPr id="74" name="Rectangle 73"/>
          <p:cNvSpPr/>
          <p:nvPr/>
        </p:nvSpPr>
        <p:spPr>
          <a:xfrm>
            <a:off x="1645920" y="5852160"/>
            <a:ext cx="2011680" cy="320040"/>
          </a:xfrm>
          <a:prstGeom prst="rect">
            <a:avLst/>
          </a:prstGeom>
          <a:solidFill>
            <a:srgbClr val="E6E6E6"/>
          </a:solidFill>
          <a:ln w="9525">
            <a:solidFill>
              <a:srgbClr val="6666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1737360" y="5907024"/>
            <a:ext cx="18288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000000"/>
                </a:solidFill>
                <a:latin typeface="맑은 고딕"/>
              </a:defRPr>
            </a:pPr>
            <a:r>
              <a:t>리스크 관리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1719072" y="6217920"/>
            <a:ext cx="91440" cy="1097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0">
                <a:solidFill>
                  <a:srgbClr val="333333"/>
                </a:solidFill>
                <a:latin typeface="맑은 고딕"/>
              </a:defRPr>
            </a:pPr>
            <a:r>
              <a:t>•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1828800" y="6217920"/>
            <a:ext cx="1828800" cy="1097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333333"/>
                </a:solidFill>
                <a:latin typeface="맑은 고딕"/>
              </a:defRPr>
            </a:pPr>
            <a:r>
              <a:t>공급망 탄력성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1719072" y="6336792"/>
            <a:ext cx="91440" cy="1097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0">
                <a:solidFill>
                  <a:srgbClr val="333333"/>
                </a:solidFill>
                <a:latin typeface="맑은 고딕"/>
              </a:defRPr>
            </a:pPr>
            <a:r>
              <a:t>•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1828800" y="6336792"/>
            <a:ext cx="1828800" cy="1097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333333"/>
                </a:solidFill>
                <a:latin typeface="맑은 고딕"/>
              </a:defRPr>
            </a:pPr>
            <a:r>
              <a:t>리스크 지표 강화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1719072" y="6455664"/>
            <a:ext cx="91440" cy="1097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0">
                <a:solidFill>
                  <a:srgbClr val="333333"/>
                </a:solidFill>
                <a:latin typeface="맑은 고딕"/>
              </a:defRPr>
            </a:pPr>
            <a:r>
              <a:t>•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1828800" y="6455664"/>
            <a:ext cx="1828800" cy="1097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333333"/>
                </a:solidFill>
                <a:latin typeface="맑은 고딕"/>
              </a:defRPr>
            </a:pPr>
            <a:r>
              <a:t>시나리오 분석</a:t>
            </a:r>
          </a:p>
        </p:txBody>
      </p:sp>
      <p:sp>
        <p:nvSpPr>
          <p:cNvPr id="82" name="Rectangle 81"/>
          <p:cNvSpPr/>
          <p:nvPr/>
        </p:nvSpPr>
        <p:spPr>
          <a:xfrm>
            <a:off x="3749039" y="5852160"/>
            <a:ext cx="2743200" cy="640080"/>
          </a:xfrm>
          <a:prstGeom prst="rect">
            <a:avLst/>
          </a:prstGeom>
          <a:solidFill>
            <a:srgbClr val="FFFFFF"/>
          </a:solidFill>
          <a:ln w="9525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TextBox 82"/>
          <p:cNvSpPr txBox="1"/>
          <p:nvPr/>
        </p:nvSpPr>
        <p:spPr>
          <a:xfrm>
            <a:off x="3840480" y="6062472"/>
            <a:ext cx="25603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000000"/>
                </a:solidFill>
                <a:latin typeface="맑은 고딕"/>
              </a:defRPr>
            </a:pPr>
            <a:r>
              <a:t>필수 프레임워크</a:t>
            </a:r>
          </a:p>
        </p:txBody>
      </p:sp>
      <p:sp>
        <p:nvSpPr>
          <p:cNvPr id="84" name="Rectangle 83"/>
          <p:cNvSpPr/>
          <p:nvPr/>
        </p:nvSpPr>
        <p:spPr>
          <a:xfrm>
            <a:off x="6858000" y="1828800"/>
            <a:ext cx="2560320" cy="274320"/>
          </a:xfrm>
          <a:prstGeom prst="rect">
            <a:avLst/>
          </a:prstGeom>
          <a:solidFill>
            <a:srgbClr val="333333"/>
          </a:solidFill>
          <a:ln w="1270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6949440" y="1865376"/>
            <a:ext cx="2377439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  <a:latin typeface="맑은 고딕"/>
              </a:defRPr>
            </a:pPr>
            <a:r>
              <a:t>시사점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6931152" y="2194560"/>
            <a:ext cx="109728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333333"/>
                </a:solidFill>
                <a:latin typeface="맑은 고딕"/>
              </a:defRPr>
            </a:pPr>
            <a:r>
              <a:t>•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7059168" y="2194560"/>
            <a:ext cx="2267712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333333"/>
                </a:solidFill>
                <a:latin typeface="맑은 고딕"/>
              </a:defRPr>
            </a:pPr>
            <a:r>
              <a:t>40년간 검증된 프레임워크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6931152" y="2377440"/>
            <a:ext cx="109728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333333"/>
                </a:solidFill>
                <a:latin typeface="맑은 고딕"/>
              </a:defRPr>
            </a:pPr>
            <a:r>
              <a:t>•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7059168" y="2377440"/>
            <a:ext cx="2267712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333333"/>
                </a:solidFill>
                <a:latin typeface="맑은 고딕"/>
              </a:defRPr>
            </a:pPr>
            <a:r>
              <a:t>학계와 산업계 공동 인정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6931152" y="2560320"/>
            <a:ext cx="109728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333333"/>
                </a:solidFill>
                <a:latin typeface="맑은 고딕"/>
              </a:defRPr>
            </a:pPr>
            <a:r>
              <a:t>•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7059168" y="2560320"/>
            <a:ext cx="2267712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333333"/>
                </a:solidFill>
                <a:latin typeface="맑은 고딕"/>
              </a:defRPr>
            </a:pPr>
            <a:r>
              <a:t>시대 변화에 따라 진화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6931152" y="2743200"/>
            <a:ext cx="109728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333333"/>
                </a:solidFill>
                <a:latin typeface="맑은 고딕"/>
              </a:defRPr>
            </a:pPr>
            <a:r>
              <a:t>•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7059168" y="2743200"/>
            <a:ext cx="2267712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333333"/>
                </a:solidFill>
                <a:latin typeface="맑은 고딕"/>
              </a:defRPr>
            </a:pPr>
            <a:r>
              <a:t>현재까지 가장 널리 사용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6931152" y="2926080"/>
            <a:ext cx="109728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333333"/>
                </a:solidFill>
                <a:latin typeface="맑은 고딕"/>
              </a:defRPr>
            </a:pPr>
            <a:r>
              <a:t>•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7059168" y="2926080"/>
            <a:ext cx="2267712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333333"/>
                </a:solidFill>
                <a:latin typeface="맑은 고딕"/>
              </a:defRPr>
            </a:pPr>
            <a:r>
              <a:t>디지털 시대에도 유효성 입증</a:t>
            </a:r>
          </a:p>
        </p:txBody>
      </p:sp>
      <p:sp>
        <p:nvSpPr>
          <p:cNvPr id="96" name="Rectangle 95"/>
          <p:cNvSpPr/>
          <p:nvPr/>
        </p:nvSpPr>
        <p:spPr>
          <a:xfrm>
            <a:off x="6858000" y="3246120"/>
            <a:ext cx="2560320" cy="274320"/>
          </a:xfrm>
          <a:prstGeom prst="rect">
            <a:avLst/>
          </a:prstGeom>
          <a:solidFill>
            <a:srgbClr val="666666"/>
          </a:solidFill>
          <a:ln w="1270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TextBox 96"/>
          <p:cNvSpPr txBox="1"/>
          <p:nvPr/>
        </p:nvSpPr>
        <p:spPr>
          <a:xfrm>
            <a:off x="6949440" y="3282696"/>
            <a:ext cx="2377439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  <a:latin typeface="맑은 고딕"/>
              </a:defRPr>
            </a:pPr>
            <a:r>
              <a:t>핵심 개념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6931152" y="3611880"/>
            <a:ext cx="109728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000000"/>
                </a:solidFill>
                <a:latin typeface="맑은 고딕"/>
              </a:defRPr>
            </a:pPr>
            <a:r>
              <a:t>•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059168" y="3611880"/>
            <a:ext cx="2267712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000000"/>
                </a:solidFill>
                <a:latin typeface="맑은 고딕"/>
              </a:defRPr>
            </a:pPr>
            <a:r>
              <a:t>차별화: 획일적 관리 탈피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6931152" y="3794760"/>
            <a:ext cx="109728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000000"/>
                </a:solidFill>
                <a:latin typeface="맑은 고딕"/>
              </a:defRPr>
            </a:pPr>
            <a:r>
              <a:t>•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7059168" y="3794760"/>
            <a:ext cx="2267712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000000"/>
                </a:solidFill>
                <a:latin typeface="맑은 고딕"/>
              </a:defRPr>
            </a:pPr>
            <a:r>
              <a:t>2차원 분석: 리스크 × 임팩트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6931152" y="3977640"/>
            <a:ext cx="109728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000000"/>
                </a:solidFill>
                <a:latin typeface="맑은 고딕"/>
              </a:defRPr>
            </a:pPr>
            <a:r>
              <a:t>•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7059168" y="3977640"/>
            <a:ext cx="2267712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000000"/>
                </a:solidFill>
                <a:latin typeface="맑은 고딕"/>
              </a:defRPr>
            </a:pPr>
            <a:r>
              <a:t>4사분면: 전략·레버리지·병목·일상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6931152" y="4160520"/>
            <a:ext cx="109728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000000"/>
                </a:solidFill>
                <a:latin typeface="맑은 고딕"/>
              </a:defRPr>
            </a:pPr>
            <a:r>
              <a:t>•</a:t>
            </a:r>
          </a:p>
        </p:txBody>
      </p:sp>
      <p:sp>
        <p:nvSpPr>
          <p:cNvPr id="105" name="TextBox 104"/>
          <p:cNvSpPr txBox="1"/>
          <p:nvPr/>
        </p:nvSpPr>
        <p:spPr>
          <a:xfrm>
            <a:off x="7059168" y="4160520"/>
            <a:ext cx="2267712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000000"/>
                </a:solidFill>
                <a:latin typeface="맑은 고딕"/>
              </a:defRPr>
            </a:pPr>
            <a:r>
              <a:t>맞춤 전략: 자재군별 최적화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6931152" y="4343400"/>
            <a:ext cx="109728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000000"/>
                </a:solidFill>
                <a:latin typeface="맑은 고딕"/>
              </a:defRPr>
            </a:pPr>
            <a:r>
              <a:t>•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7059168" y="4343400"/>
            <a:ext cx="2267712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000000"/>
                </a:solidFill>
                <a:latin typeface="맑은 고딕"/>
              </a:defRPr>
            </a:pPr>
            <a:r>
              <a:t>동적 관리: 지속적 재분류</a:t>
            </a:r>
          </a:p>
        </p:txBody>
      </p:sp>
      <p:sp>
        <p:nvSpPr>
          <p:cNvPr id="108" name="Rectangle 107"/>
          <p:cNvSpPr/>
          <p:nvPr/>
        </p:nvSpPr>
        <p:spPr>
          <a:xfrm>
            <a:off x="6858000" y="4663440"/>
            <a:ext cx="2560320" cy="274320"/>
          </a:xfrm>
          <a:prstGeom prst="rect">
            <a:avLst/>
          </a:prstGeom>
          <a:solidFill>
            <a:srgbClr val="333333"/>
          </a:solidFill>
          <a:ln w="1270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" name="TextBox 108"/>
          <p:cNvSpPr txBox="1"/>
          <p:nvPr/>
        </p:nvSpPr>
        <p:spPr>
          <a:xfrm>
            <a:off x="6949440" y="4700016"/>
            <a:ext cx="2377439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  <a:latin typeface="맑은 고딕"/>
              </a:defRPr>
            </a:pPr>
            <a:r>
              <a:t>적용 현황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6931152" y="5029200"/>
            <a:ext cx="109728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333333"/>
                </a:solidFill>
                <a:latin typeface="맑은 고딕"/>
              </a:defRPr>
            </a:pPr>
            <a:r>
              <a:t>•</a:t>
            </a:r>
          </a:p>
        </p:txBody>
      </p:sp>
      <p:sp>
        <p:nvSpPr>
          <p:cNvPr id="111" name="TextBox 110"/>
          <p:cNvSpPr txBox="1"/>
          <p:nvPr/>
        </p:nvSpPr>
        <p:spPr>
          <a:xfrm>
            <a:off x="7059168" y="5029200"/>
            <a:ext cx="2267712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333333"/>
                </a:solidFill>
                <a:latin typeface="맑은 고딕"/>
              </a:defRPr>
            </a:pPr>
            <a:r>
              <a:t>Fortune 500: 95% 사용</a:t>
            </a:r>
          </a:p>
        </p:txBody>
      </p:sp>
      <p:sp>
        <p:nvSpPr>
          <p:cNvPr id="112" name="TextBox 111"/>
          <p:cNvSpPr txBox="1"/>
          <p:nvPr/>
        </p:nvSpPr>
        <p:spPr>
          <a:xfrm>
            <a:off x="6931152" y="5212080"/>
            <a:ext cx="109728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333333"/>
                </a:solidFill>
                <a:latin typeface="맑은 고딕"/>
              </a:defRPr>
            </a:pPr>
            <a:r>
              <a:t>•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059168" y="5212080"/>
            <a:ext cx="2267712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333333"/>
                </a:solidFill>
                <a:latin typeface="맑은 고딕"/>
              </a:defRPr>
            </a:pPr>
            <a:r>
              <a:t>제조업: 필수 방법론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6931152" y="5394960"/>
            <a:ext cx="109728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333333"/>
                </a:solidFill>
                <a:latin typeface="맑은 고딕"/>
              </a:defRPr>
            </a:pPr>
            <a:r>
              <a:t>•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7059168" y="5394960"/>
            <a:ext cx="2267712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333333"/>
                </a:solidFill>
                <a:latin typeface="맑은 고딕"/>
              </a:defRPr>
            </a:pPr>
            <a:r>
              <a:t>공공 조달: 정부 채택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6931152" y="5577840"/>
            <a:ext cx="109728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333333"/>
                </a:solidFill>
                <a:latin typeface="맑은 고딕"/>
              </a:defRPr>
            </a:pPr>
            <a:r>
              <a:t>•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7059168" y="5577840"/>
            <a:ext cx="2267712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333333"/>
                </a:solidFill>
                <a:latin typeface="맑은 고딕"/>
              </a:defRPr>
            </a:pPr>
            <a:r>
              <a:t>교육: MBA 핵심 과목</a:t>
            </a:r>
          </a:p>
        </p:txBody>
      </p:sp>
      <p:sp>
        <p:nvSpPr>
          <p:cNvPr id="118" name="TextBox 117"/>
          <p:cNvSpPr txBox="1"/>
          <p:nvPr/>
        </p:nvSpPr>
        <p:spPr>
          <a:xfrm>
            <a:off x="6931152" y="5760720"/>
            <a:ext cx="109728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333333"/>
                </a:solidFill>
                <a:latin typeface="맑은 고딕"/>
              </a:defRPr>
            </a:pPr>
            <a:r>
              <a:t>•</a:t>
            </a:r>
          </a:p>
        </p:txBody>
      </p:sp>
      <p:sp>
        <p:nvSpPr>
          <p:cNvPr id="119" name="TextBox 118"/>
          <p:cNvSpPr txBox="1"/>
          <p:nvPr/>
        </p:nvSpPr>
        <p:spPr>
          <a:xfrm>
            <a:off x="7059168" y="5760720"/>
            <a:ext cx="2267712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333333"/>
                </a:solidFill>
                <a:latin typeface="맑은 고딕"/>
              </a:defRPr>
            </a:pPr>
            <a:r>
              <a:t>인증: APICS/ISM 포함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274320" y="274320"/>
            <a:ext cx="9354312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000000"/>
                </a:solidFill>
                <a:latin typeface="맑은 고딕"/>
              </a:defRPr>
            </a:pPr>
            <a:r>
              <a:t>2.2 2×2 매트릭스의 두 축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0" y="6400800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666666"/>
                </a:solidFill>
                <a:latin typeface="Arial"/>
              </a:defRPr>
            </a:pPr>
            <a:r>
              <a:t>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" y="923544"/>
            <a:ext cx="9436608" cy="5760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666666"/>
                </a:solidFill>
                <a:latin typeface="맑은 고딕"/>
              </a:defRPr>
            </a:pPr>
            <a:r>
              <a:t>공급 리스크(X축)와 구매 임팩트(Y축) 두 기준으로 자재를 4개 군으로 분류합니다.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1005840" y="2011680"/>
            <a:ext cx="0" cy="4023360"/>
          </a:xfrm>
          <a:prstGeom prst="line">
            <a:avLst/>
          </a:prstGeom>
          <a:ln w="38100">
            <a:solidFill>
              <a:srgbClr val="33333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548640" y="1783080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000000"/>
                </a:solidFill>
                <a:latin typeface="맑은 고딕"/>
              </a:defRPr>
            </a:pPr>
            <a:r>
              <a:t>구매 임팩트 (Y축)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286000"/>
            <a:ext cx="1097280" cy="640080"/>
          </a:xfrm>
          <a:prstGeom prst="rect">
            <a:avLst/>
          </a:prstGeom>
          <a:solidFill>
            <a:srgbClr val="E6E6E6"/>
          </a:solidFill>
          <a:ln w="9525">
            <a:solidFill>
              <a:srgbClr val="6666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88720" y="2331720"/>
            <a:ext cx="1005840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000000"/>
                </a:solidFill>
                <a:latin typeface="맑은 고딕"/>
              </a:defRPr>
            </a:pPr>
            <a:r>
              <a:t>매우 높음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88720" y="2505456"/>
            <a:ext cx="1005840" cy="1280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333333"/>
                </a:solidFill>
                <a:latin typeface="맑은 고딕"/>
              </a:defRPr>
            </a:pPr>
            <a:r>
              <a:t>연매출 10% 이상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88720" y="26700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000000"/>
                </a:solidFill>
                <a:latin typeface="맑은 고딕"/>
              </a:defRPr>
            </a:pPr>
            <a:r>
              <a:t>100억원+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1005840" y="2606040"/>
            <a:ext cx="137160" cy="0"/>
          </a:xfrm>
          <a:prstGeom prst="line">
            <a:avLst/>
          </a:prstGeom>
          <a:ln w="12700">
            <a:solidFill>
              <a:srgbClr val="66666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Rectangle 11"/>
          <p:cNvSpPr/>
          <p:nvPr/>
        </p:nvSpPr>
        <p:spPr>
          <a:xfrm>
            <a:off x="1143000" y="3108960"/>
            <a:ext cx="1097280" cy="640080"/>
          </a:xfrm>
          <a:prstGeom prst="rect">
            <a:avLst/>
          </a:prstGeom>
          <a:solidFill>
            <a:srgbClr val="E6E6E6"/>
          </a:solidFill>
          <a:ln w="9525">
            <a:solidFill>
              <a:srgbClr val="6666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188720" y="3154679"/>
            <a:ext cx="1005840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000000"/>
                </a:solidFill>
                <a:latin typeface="맑은 고딕"/>
              </a:defRPr>
            </a:pPr>
            <a:r>
              <a:t>높음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88720" y="3328415"/>
            <a:ext cx="1005840" cy="1280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333333"/>
                </a:solidFill>
                <a:latin typeface="맑은 고딕"/>
              </a:defRPr>
            </a:pPr>
            <a:r>
              <a:t>연매출 5-10%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88720" y="349300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000000"/>
                </a:solidFill>
                <a:latin typeface="맑은 고딕"/>
              </a:defRPr>
            </a:pPr>
            <a:r>
              <a:t>50-100억원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1005840" y="3429000"/>
            <a:ext cx="137160" cy="0"/>
          </a:xfrm>
          <a:prstGeom prst="line">
            <a:avLst/>
          </a:prstGeom>
          <a:ln w="12700">
            <a:solidFill>
              <a:srgbClr val="66666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Rectangle 16"/>
          <p:cNvSpPr/>
          <p:nvPr/>
        </p:nvSpPr>
        <p:spPr>
          <a:xfrm>
            <a:off x="1143000" y="3931920"/>
            <a:ext cx="1097280" cy="640080"/>
          </a:xfrm>
          <a:prstGeom prst="rect">
            <a:avLst/>
          </a:prstGeom>
          <a:solidFill>
            <a:srgbClr val="E6E6E6"/>
          </a:solidFill>
          <a:ln w="9525">
            <a:solidFill>
              <a:srgbClr val="6666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188720" y="3977639"/>
            <a:ext cx="1005840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000000"/>
                </a:solidFill>
                <a:latin typeface="맑은 고딕"/>
              </a:defRPr>
            </a:pPr>
            <a:r>
              <a:t>중간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88720" y="4151376"/>
            <a:ext cx="1005840" cy="1280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333333"/>
                </a:solidFill>
                <a:latin typeface="맑은 고딕"/>
              </a:defRPr>
            </a:pPr>
            <a:r>
              <a:t>연매출 2-5%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88720" y="431596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000000"/>
                </a:solidFill>
                <a:latin typeface="맑은 고딕"/>
              </a:defRPr>
            </a:pPr>
            <a:r>
              <a:t>10-50억원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1005840" y="4251959"/>
            <a:ext cx="137160" cy="0"/>
          </a:xfrm>
          <a:prstGeom prst="line">
            <a:avLst/>
          </a:prstGeom>
          <a:ln w="12700">
            <a:solidFill>
              <a:srgbClr val="66666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Rectangle 21"/>
          <p:cNvSpPr/>
          <p:nvPr/>
        </p:nvSpPr>
        <p:spPr>
          <a:xfrm>
            <a:off x="1143000" y="4754880"/>
            <a:ext cx="1097280" cy="640080"/>
          </a:xfrm>
          <a:prstGeom prst="rect">
            <a:avLst/>
          </a:prstGeom>
          <a:solidFill>
            <a:srgbClr val="E6E6E6"/>
          </a:solidFill>
          <a:ln w="9525">
            <a:solidFill>
              <a:srgbClr val="6666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188720" y="4800600"/>
            <a:ext cx="1005840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000000"/>
                </a:solidFill>
                <a:latin typeface="맑은 고딕"/>
              </a:defRPr>
            </a:pPr>
            <a:r>
              <a:t>낮음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188720" y="4974336"/>
            <a:ext cx="1005840" cy="1280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333333"/>
                </a:solidFill>
                <a:latin typeface="맑은 고딕"/>
              </a:defRPr>
            </a:pPr>
            <a:r>
              <a:t>연매출 1-2%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88720" y="513892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000000"/>
                </a:solidFill>
                <a:latin typeface="맑은 고딕"/>
              </a:defRPr>
            </a:pPr>
            <a:r>
              <a:t>5-10억원</a:t>
            </a:r>
          </a:p>
        </p:txBody>
      </p:sp>
      <p:cxnSp>
        <p:nvCxnSpPr>
          <p:cNvPr id="26" name="Connector 25"/>
          <p:cNvCxnSpPr/>
          <p:nvPr/>
        </p:nvCxnSpPr>
        <p:spPr>
          <a:xfrm>
            <a:off x="1005840" y="5074920"/>
            <a:ext cx="137160" cy="0"/>
          </a:xfrm>
          <a:prstGeom prst="line">
            <a:avLst/>
          </a:prstGeom>
          <a:ln w="12700">
            <a:solidFill>
              <a:srgbClr val="66666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Rectangle 26"/>
          <p:cNvSpPr/>
          <p:nvPr/>
        </p:nvSpPr>
        <p:spPr>
          <a:xfrm>
            <a:off x="1143000" y="5577840"/>
            <a:ext cx="1097280" cy="640080"/>
          </a:xfrm>
          <a:prstGeom prst="rect">
            <a:avLst/>
          </a:prstGeom>
          <a:solidFill>
            <a:srgbClr val="E6E6E6"/>
          </a:solidFill>
          <a:ln w="9525">
            <a:solidFill>
              <a:srgbClr val="6666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1188720" y="5623559"/>
            <a:ext cx="1005840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000000"/>
                </a:solidFill>
                <a:latin typeface="맑은 고딕"/>
              </a:defRPr>
            </a:pPr>
            <a:r>
              <a:t>매우 낮음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88720" y="5797296"/>
            <a:ext cx="1005840" cy="1280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333333"/>
                </a:solidFill>
                <a:latin typeface="맑은 고딕"/>
              </a:defRPr>
            </a:pPr>
            <a:r>
              <a:t>연매출 1% 미만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188720" y="596188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000000"/>
                </a:solidFill>
                <a:latin typeface="맑은 고딕"/>
              </a:defRPr>
            </a:pPr>
            <a:r>
              <a:t>5억원 이하</a:t>
            </a:r>
          </a:p>
        </p:txBody>
      </p:sp>
      <p:cxnSp>
        <p:nvCxnSpPr>
          <p:cNvPr id="31" name="Connector 30"/>
          <p:cNvCxnSpPr/>
          <p:nvPr/>
        </p:nvCxnSpPr>
        <p:spPr>
          <a:xfrm>
            <a:off x="1005840" y="5897879"/>
            <a:ext cx="137160" cy="0"/>
          </a:xfrm>
          <a:prstGeom prst="line">
            <a:avLst/>
          </a:prstGeom>
          <a:ln w="12700">
            <a:solidFill>
              <a:srgbClr val="66666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2560320" y="6126480"/>
            <a:ext cx="4114800" cy="0"/>
          </a:xfrm>
          <a:prstGeom prst="line">
            <a:avLst/>
          </a:prstGeom>
          <a:ln w="38100">
            <a:solidFill>
              <a:srgbClr val="33333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3" name="TextBox 32"/>
          <p:cNvSpPr txBox="1"/>
          <p:nvPr/>
        </p:nvSpPr>
        <p:spPr>
          <a:xfrm>
            <a:off x="6309359" y="6263640"/>
            <a:ext cx="7315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000000"/>
                </a:solidFill>
                <a:latin typeface="맑은 고딕"/>
              </a:defRPr>
            </a:pPr>
            <a:r>
              <a:t>공급 리스크 (X축)</a:t>
            </a:r>
          </a:p>
        </p:txBody>
      </p:sp>
      <p:sp>
        <p:nvSpPr>
          <p:cNvPr id="34" name="Rectangle 33"/>
          <p:cNvSpPr/>
          <p:nvPr/>
        </p:nvSpPr>
        <p:spPr>
          <a:xfrm>
            <a:off x="1920240" y="5166360"/>
            <a:ext cx="731520" cy="822960"/>
          </a:xfrm>
          <a:prstGeom prst="rect">
            <a:avLst/>
          </a:prstGeom>
          <a:solidFill>
            <a:srgbClr val="FFFFFF"/>
          </a:solidFill>
          <a:ln w="9525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1965960" y="5212080"/>
            <a:ext cx="640080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000000"/>
                </a:solidFill>
                <a:latin typeface="맑은 고딕"/>
              </a:defRPr>
            </a:pPr>
            <a:r>
              <a:t>매우 낮음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965960" y="5413248"/>
            <a:ext cx="6400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0">
                <a:solidFill>
                  <a:srgbClr val="333333"/>
                </a:solidFill>
                <a:latin typeface="맑은 고딕"/>
              </a:defRPr>
            </a:pPr>
            <a:r>
              <a:t>공급원 10개+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965960" y="5687568"/>
            <a:ext cx="6400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000000"/>
                </a:solidFill>
                <a:latin typeface="맑은 고딕"/>
              </a:defRPr>
            </a:pPr>
            <a:r>
              <a:t>선택 다양</a:t>
            </a:r>
          </a:p>
        </p:txBody>
      </p:sp>
      <p:cxnSp>
        <p:nvCxnSpPr>
          <p:cNvPr id="38" name="Connector 37"/>
          <p:cNvCxnSpPr/>
          <p:nvPr/>
        </p:nvCxnSpPr>
        <p:spPr>
          <a:xfrm>
            <a:off x="2286000" y="5989320"/>
            <a:ext cx="0" cy="137160"/>
          </a:xfrm>
          <a:prstGeom prst="line">
            <a:avLst/>
          </a:prstGeom>
          <a:ln w="12700">
            <a:solidFill>
              <a:srgbClr val="66666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9" name="Rectangle 38"/>
          <p:cNvSpPr/>
          <p:nvPr/>
        </p:nvSpPr>
        <p:spPr>
          <a:xfrm>
            <a:off x="2743200" y="5166360"/>
            <a:ext cx="731520" cy="822960"/>
          </a:xfrm>
          <a:prstGeom prst="rect">
            <a:avLst/>
          </a:prstGeom>
          <a:solidFill>
            <a:srgbClr val="FFFFFF"/>
          </a:solidFill>
          <a:ln w="9525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2788920" y="5212080"/>
            <a:ext cx="640080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000000"/>
                </a:solidFill>
                <a:latin typeface="맑은 고딕"/>
              </a:defRPr>
            </a:pPr>
            <a:r>
              <a:t>낮음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2788920" y="5413248"/>
            <a:ext cx="6400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0">
                <a:solidFill>
                  <a:srgbClr val="333333"/>
                </a:solidFill>
                <a:latin typeface="맑은 고딕"/>
              </a:defRPr>
            </a:pPr>
            <a:r>
              <a:t>공급원 5-10개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2788920" y="5687568"/>
            <a:ext cx="6400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000000"/>
                </a:solidFill>
                <a:latin typeface="맑은 고딕"/>
              </a:defRPr>
            </a:pPr>
            <a:r>
              <a:t>대체 용이</a:t>
            </a:r>
          </a:p>
        </p:txBody>
      </p:sp>
      <p:cxnSp>
        <p:nvCxnSpPr>
          <p:cNvPr id="43" name="Connector 42"/>
          <p:cNvCxnSpPr/>
          <p:nvPr/>
        </p:nvCxnSpPr>
        <p:spPr>
          <a:xfrm>
            <a:off x="3108960" y="5989320"/>
            <a:ext cx="0" cy="137160"/>
          </a:xfrm>
          <a:prstGeom prst="line">
            <a:avLst/>
          </a:prstGeom>
          <a:ln w="12700">
            <a:solidFill>
              <a:srgbClr val="66666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4" name="Rectangle 43"/>
          <p:cNvSpPr/>
          <p:nvPr/>
        </p:nvSpPr>
        <p:spPr>
          <a:xfrm>
            <a:off x="3566160" y="5166360"/>
            <a:ext cx="731520" cy="822960"/>
          </a:xfrm>
          <a:prstGeom prst="rect">
            <a:avLst/>
          </a:prstGeom>
          <a:solidFill>
            <a:srgbClr val="FFFFFF"/>
          </a:solidFill>
          <a:ln w="9525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3611879" y="5212080"/>
            <a:ext cx="640080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000000"/>
                </a:solidFill>
                <a:latin typeface="맑은 고딕"/>
              </a:defRPr>
            </a:pPr>
            <a:r>
              <a:t>중간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3611879" y="5413248"/>
            <a:ext cx="6400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0">
                <a:solidFill>
                  <a:srgbClr val="333333"/>
                </a:solidFill>
                <a:latin typeface="맑은 고딕"/>
              </a:defRPr>
            </a:pPr>
            <a:r>
              <a:t>공급원 3-5개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3611879" y="5687568"/>
            <a:ext cx="6400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000000"/>
                </a:solidFill>
                <a:latin typeface="맑은 고딕"/>
              </a:defRPr>
            </a:pPr>
            <a:r>
              <a:t>대체 가능</a:t>
            </a:r>
          </a:p>
        </p:txBody>
      </p:sp>
      <p:cxnSp>
        <p:nvCxnSpPr>
          <p:cNvPr id="48" name="Connector 47"/>
          <p:cNvCxnSpPr/>
          <p:nvPr/>
        </p:nvCxnSpPr>
        <p:spPr>
          <a:xfrm>
            <a:off x="3931920" y="5989320"/>
            <a:ext cx="0" cy="137160"/>
          </a:xfrm>
          <a:prstGeom prst="line">
            <a:avLst/>
          </a:prstGeom>
          <a:ln w="12700">
            <a:solidFill>
              <a:srgbClr val="66666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9" name="Rectangle 48"/>
          <p:cNvSpPr/>
          <p:nvPr/>
        </p:nvSpPr>
        <p:spPr>
          <a:xfrm>
            <a:off x="4389120" y="5166360"/>
            <a:ext cx="731520" cy="822960"/>
          </a:xfrm>
          <a:prstGeom prst="rect">
            <a:avLst/>
          </a:prstGeom>
          <a:solidFill>
            <a:srgbClr val="FFFFFF"/>
          </a:solidFill>
          <a:ln w="9525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4434840" y="5212080"/>
            <a:ext cx="640080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000000"/>
                </a:solidFill>
                <a:latin typeface="맑은 고딕"/>
              </a:defRPr>
            </a:pPr>
            <a:r>
              <a:t>높음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4434840" y="5413248"/>
            <a:ext cx="6400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0">
                <a:solidFill>
                  <a:srgbClr val="333333"/>
                </a:solidFill>
                <a:latin typeface="맑은 고딕"/>
              </a:defRPr>
            </a:pPr>
            <a:r>
              <a:t>공급원 1-2개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434840" y="5687568"/>
            <a:ext cx="6400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000000"/>
                </a:solidFill>
                <a:latin typeface="맑은 고딕"/>
              </a:defRPr>
            </a:pPr>
            <a:r>
              <a:t>대체 어려움</a:t>
            </a:r>
          </a:p>
        </p:txBody>
      </p:sp>
      <p:cxnSp>
        <p:nvCxnSpPr>
          <p:cNvPr id="53" name="Connector 52"/>
          <p:cNvCxnSpPr/>
          <p:nvPr/>
        </p:nvCxnSpPr>
        <p:spPr>
          <a:xfrm>
            <a:off x="4754880" y="5989320"/>
            <a:ext cx="0" cy="137160"/>
          </a:xfrm>
          <a:prstGeom prst="line">
            <a:avLst/>
          </a:prstGeom>
          <a:ln w="12700">
            <a:solidFill>
              <a:srgbClr val="66666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4" name="Rectangle 53"/>
          <p:cNvSpPr/>
          <p:nvPr/>
        </p:nvSpPr>
        <p:spPr>
          <a:xfrm>
            <a:off x="5212080" y="5166360"/>
            <a:ext cx="731520" cy="822960"/>
          </a:xfrm>
          <a:prstGeom prst="rect">
            <a:avLst/>
          </a:prstGeom>
          <a:solidFill>
            <a:srgbClr val="FFFFFF"/>
          </a:solidFill>
          <a:ln w="9525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5257800" y="5212080"/>
            <a:ext cx="640080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000000"/>
                </a:solidFill>
                <a:latin typeface="맑은 고딕"/>
              </a:defRPr>
            </a:pPr>
            <a:r>
              <a:t>매우 높음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5257800" y="5413248"/>
            <a:ext cx="6400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0">
                <a:solidFill>
                  <a:srgbClr val="333333"/>
                </a:solidFill>
                <a:latin typeface="맑은 고딕"/>
              </a:defRPr>
            </a:pPr>
            <a:r>
              <a:t>공급원 1개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5257800" y="5687568"/>
            <a:ext cx="6400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000000"/>
                </a:solidFill>
                <a:latin typeface="맑은 고딕"/>
              </a:defRPr>
            </a:pPr>
            <a:r>
              <a:t>대체 불가</a:t>
            </a:r>
          </a:p>
        </p:txBody>
      </p:sp>
      <p:cxnSp>
        <p:nvCxnSpPr>
          <p:cNvPr id="58" name="Connector 57"/>
          <p:cNvCxnSpPr/>
          <p:nvPr/>
        </p:nvCxnSpPr>
        <p:spPr>
          <a:xfrm>
            <a:off x="5577840" y="5989320"/>
            <a:ext cx="0" cy="137160"/>
          </a:xfrm>
          <a:prstGeom prst="line">
            <a:avLst/>
          </a:prstGeom>
          <a:ln w="12700">
            <a:solidFill>
              <a:srgbClr val="66666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9" name="Rectangle 58"/>
          <p:cNvSpPr/>
          <p:nvPr/>
        </p:nvSpPr>
        <p:spPr>
          <a:xfrm>
            <a:off x="6858000" y="1828800"/>
            <a:ext cx="2560320" cy="274320"/>
          </a:xfrm>
          <a:prstGeom prst="rect">
            <a:avLst/>
          </a:prstGeom>
          <a:solidFill>
            <a:srgbClr val="333333"/>
          </a:solidFill>
          <a:ln w="1270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6949440" y="1865376"/>
            <a:ext cx="2377439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  <a:latin typeface="맑은 고딕"/>
              </a:defRPr>
            </a:pPr>
            <a:r>
              <a:t>구매 임팩트 평가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6931152" y="2194560"/>
            <a:ext cx="109728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333333"/>
                </a:solidFill>
                <a:latin typeface="맑은 고딕"/>
              </a:defRPr>
            </a:pPr>
            <a:r>
              <a:t>•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7059168" y="2194560"/>
            <a:ext cx="2267712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333333"/>
                </a:solidFill>
                <a:latin typeface="맑은 고딕"/>
              </a:defRPr>
            </a:pPr>
            <a:r>
              <a:t>연간 구매 금액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6931152" y="2368296"/>
            <a:ext cx="109728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333333"/>
                </a:solidFill>
                <a:latin typeface="맑은 고딕"/>
              </a:defRPr>
            </a:pPr>
            <a:r>
              <a:t>•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7059168" y="2368296"/>
            <a:ext cx="2267712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333333"/>
                </a:solidFill>
                <a:latin typeface="맑은 고딕"/>
              </a:defRPr>
            </a:pPr>
            <a:r>
              <a:t>매출 대비 비중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6931152" y="2542032"/>
            <a:ext cx="109728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333333"/>
                </a:solidFill>
                <a:latin typeface="맑은 고딕"/>
              </a:defRPr>
            </a:pPr>
            <a:r>
              <a:t>•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7059168" y="2542032"/>
            <a:ext cx="2267712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333333"/>
                </a:solidFill>
                <a:latin typeface="맑은 고딕"/>
              </a:defRPr>
            </a:pPr>
            <a:r>
              <a:t>수익성 영향도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6931152" y="2715768"/>
            <a:ext cx="109728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333333"/>
                </a:solidFill>
                <a:latin typeface="맑은 고딕"/>
              </a:defRPr>
            </a:pPr>
            <a:r>
              <a:t>•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7059168" y="2715768"/>
            <a:ext cx="2267712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333333"/>
                </a:solidFill>
                <a:latin typeface="맑은 고딕"/>
              </a:defRPr>
            </a:pPr>
            <a:r>
              <a:t>전략적 중요도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6931152" y="2889503"/>
            <a:ext cx="109728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333333"/>
                </a:solidFill>
                <a:latin typeface="맑은 고딕"/>
              </a:defRPr>
            </a:pPr>
            <a:r>
              <a:t>•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7059168" y="2889503"/>
            <a:ext cx="2267712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333333"/>
                </a:solidFill>
                <a:latin typeface="맑은 고딕"/>
              </a:defRPr>
            </a:pPr>
            <a:r>
              <a:t>대체 비용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6931152" y="3063239"/>
            <a:ext cx="109728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333333"/>
                </a:solidFill>
                <a:latin typeface="맑은 고딕"/>
              </a:defRPr>
            </a:pPr>
            <a:r>
              <a:t>•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7059168" y="3063239"/>
            <a:ext cx="2267712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333333"/>
                </a:solidFill>
                <a:latin typeface="맑은 고딕"/>
              </a:defRPr>
            </a:pPr>
            <a:r>
              <a:t>품질 영향도</a:t>
            </a:r>
          </a:p>
        </p:txBody>
      </p:sp>
      <p:sp>
        <p:nvSpPr>
          <p:cNvPr id="73" name="Rectangle 72"/>
          <p:cNvSpPr/>
          <p:nvPr/>
        </p:nvSpPr>
        <p:spPr>
          <a:xfrm>
            <a:off x="6858000" y="3346703"/>
            <a:ext cx="2560320" cy="274320"/>
          </a:xfrm>
          <a:prstGeom prst="rect">
            <a:avLst/>
          </a:prstGeom>
          <a:solidFill>
            <a:srgbClr val="666666"/>
          </a:solidFill>
          <a:ln w="1270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TextBox 73"/>
          <p:cNvSpPr txBox="1"/>
          <p:nvPr/>
        </p:nvSpPr>
        <p:spPr>
          <a:xfrm>
            <a:off x="6949440" y="3383279"/>
            <a:ext cx="2377439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  <a:latin typeface="맑은 고딕"/>
              </a:defRPr>
            </a:pPr>
            <a:r>
              <a:t>공급 리스크 평가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6931152" y="3712463"/>
            <a:ext cx="109728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000000"/>
                </a:solidFill>
                <a:latin typeface="맑은 고딕"/>
              </a:defRPr>
            </a:pPr>
            <a:r>
              <a:t>•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7059168" y="3712463"/>
            <a:ext cx="2267712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000000"/>
                </a:solidFill>
                <a:latin typeface="맑은 고딕"/>
              </a:defRPr>
            </a:pPr>
            <a:r>
              <a:t>공급업체 수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6931152" y="3886200"/>
            <a:ext cx="109728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000000"/>
                </a:solidFill>
                <a:latin typeface="맑은 고딕"/>
              </a:defRPr>
            </a:pPr>
            <a:r>
              <a:t>•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059168" y="3886200"/>
            <a:ext cx="2267712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000000"/>
                </a:solidFill>
                <a:latin typeface="맑은 고딕"/>
              </a:defRPr>
            </a:pPr>
            <a:r>
              <a:t>대체 가능성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6931152" y="4059936"/>
            <a:ext cx="109728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000000"/>
                </a:solidFill>
                <a:latin typeface="맑은 고딕"/>
              </a:defRPr>
            </a:pPr>
            <a:r>
              <a:t>•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7059168" y="4059936"/>
            <a:ext cx="2267712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000000"/>
                </a:solidFill>
                <a:latin typeface="맑은 고딕"/>
              </a:defRPr>
            </a:pPr>
            <a:r>
              <a:t>납기 리드타임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6931152" y="4233672"/>
            <a:ext cx="109728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000000"/>
                </a:solidFill>
                <a:latin typeface="맑은 고딕"/>
              </a:defRPr>
            </a:pPr>
            <a:r>
              <a:t>•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7059168" y="4233672"/>
            <a:ext cx="2267712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000000"/>
                </a:solidFill>
                <a:latin typeface="맑은 고딕"/>
              </a:defRPr>
            </a:pPr>
            <a:r>
              <a:t>품질 안정성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6931152" y="4407408"/>
            <a:ext cx="109728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000000"/>
                </a:solidFill>
                <a:latin typeface="맑은 고딕"/>
              </a:defRPr>
            </a:pPr>
            <a:r>
              <a:t>•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7059168" y="4407408"/>
            <a:ext cx="2267712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000000"/>
                </a:solidFill>
                <a:latin typeface="맑은 고딕"/>
              </a:defRPr>
            </a:pPr>
            <a:r>
              <a:t>지역 집중도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6931152" y="4581144"/>
            <a:ext cx="109728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000000"/>
                </a:solidFill>
                <a:latin typeface="맑은 고딕"/>
              </a:defRPr>
            </a:pPr>
            <a:r>
              <a:t>•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7059168" y="4581144"/>
            <a:ext cx="2267712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000000"/>
                </a:solidFill>
                <a:latin typeface="맑은 고딕"/>
              </a:defRPr>
            </a:pPr>
            <a:r>
              <a:t>기술 의존도</a:t>
            </a:r>
          </a:p>
        </p:txBody>
      </p:sp>
      <p:sp>
        <p:nvSpPr>
          <p:cNvPr id="87" name="Rectangle 86"/>
          <p:cNvSpPr/>
          <p:nvPr/>
        </p:nvSpPr>
        <p:spPr>
          <a:xfrm>
            <a:off x="6858000" y="4864608"/>
            <a:ext cx="2560320" cy="274320"/>
          </a:xfrm>
          <a:prstGeom prst="rect">
            <a:avLst/>
          </a:prstGeom>
          <a:solidFill>
            <a:srgbClr val="333333"/>
          </a:solidFill>
          <a:ln w="1270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TextBox 87"/>
          <p:cNvSpPr txBox="1"/>
          <p:nvPr/>
        </p:nvSpPr>
        <p:spPr>
          <a:xfrm>
            <a:off x="6949440" y="4901184"/>
            <a:ext cx="2377439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  <a:latin typeface="맑은 고딕"/>
              </a:defRPr>
            </a:pPr>
            <a:r>
              <a:t>측정 방법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6931152" y="5230368"/>
            <a:ext cx="109728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333333"/>
                </a:solidFill>
                <a:latin typeface="맑은 고딕"/>
              </a:defRPr>
            </a:pPr>
            <a:r>
              <a:t>•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7059168" y="5230368"/>
            <a:ext cx="2267712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333333"/>
                </a:solidFill>
                <a:latin typeface="맑은 고딕"/>
              </a:defRPr>
            </a:pPr>
            <a:r>
              <a:t>정량 데이터: ERP 추출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6931152" y="5404104"/>
            <a:ext cx="109728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333333"/>
                </a:solidFill>
                <a:latin typeface="맑은 고딕"/>
              </a:defRPr>
            </a:pPr>
            <a:r>
              <a:t>•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059168" y="5404104"/>
            <a:ext cx="2267712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333333"/>
                </a:solidFill>
                <a:latin typeface="맑은 고딕"/>
              </a:defRPr>
            </a:pPr>
            <a:r>
              <a:t>정성 평가: 전문가 점수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6931152" y="5577840"/>
            <a:ext cx="109728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333333"/>
                </a:solidFill>
                <a:latin typeface="맑은 고딕"/>
              </a:defRPr>
            </a:pPr>
            <a:r>
              <a:t>•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7059168" y="5577840"/>
            <a:ext cx="2267712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333333"/>
                </a:solidFill>
                <a:latin typeface="맑은 고딕"/>
              </a:defRPr>
            </a:pPr>
            <a:r>
              <a:t>가중치 적용: 중요도 반영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6931152" y="5751576"/>
            <a:ext cx="109728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333333"/>
                </a:solidFill>
                <a:latin typeface="맑은 고딕"/>
              </a:defRPr>
            </a:pPr>
            <a:r>
              <a:t>•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7059168" y="5751576"/>
            <a:ext cx="2267712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333333"/>
                </a:solidFill>
                <a:latin typeface="맑은 고딕"/>
              </a:defRPr>
            </a:pPr>
            <a:r>
              <a:t>스코어링: 0-100점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6931152" y="5925312"/>
            <a:ext cx="109728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333333"/>
                </a:solidFill>
                <a:latin typeface="맑은 고딕"/>
              </a:defRPr>
            </a:pPr>
            <a:r>
              <a:t>•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7059168" y="5925312"/>
            <a:ext cx="2267712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333333"/>
                </a:solidFill>
                <a:latin typeface="맑은 고딕"/>
              </a:defRPr>
            </a:pPr>
            <a:r>
              <a:t>매트릭스 매핑: 자동 분류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6931152" y="6099048"/>
            <a:ext cx="109728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333333"/>
                </a:solidFill>
                <a:latin typeface="맑은 고딕"/>
              </a:defRPr>
            </a:pPr>
            <a:r>
              <a:t>•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7059168" y="6099048"/>
            <a:ext cx="2267712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333333"/>
                </a:solidFill>
                <a:latin typeface="맑은 고딕"/>
              </a:defRPr>
            </a:pPr>
            <a:r>
              <a:t>주기적 재평가: 분기/반기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274320" y="274320"/>
            <a:ext cx="9354312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000000"/>
                </a:solidFill>
                <a:latin typeface="맑은 고딕"/>
              </a:defRPr>
            </a:pPr>
            <a:r>
              <a:t>2.3 📊 Kraljic Matrix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0" y="6400800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666666"/>
                </a:solidFill>
                <a:latin typeface="Arial"/>
              </a:defRPr>
            </a:pPr>
            <a:r>
              <a:t>11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" y="923544"/>
            <a:ext cx="9436608" cy="5760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666666"/>
                </a:solidFill>
                <a:latin typeface="맑은 고딕"/>
              </a:defRPr>
            </a:pPr>
            <a:r>
              <a:t>Kraljic Matrix는 공급 리스크와 구매 금액을 기준으로 자재를 4개 군으로 분류하여 차별화 전략을 수립합니다.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611880"/>
            <a:ext cx="73152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000000"/>
                </a:solidFill>
                <a:latin typeface="맑은 고딕"/>
              </a:defRPr>
            </a:pPr>
            <a:r>
              <a:t>구매 임팩트</a:t>
            </a:r>
            <a:br/>
            <a:r>
              <a:t>(Purchase Impact)</a:t>
            </a:r>
            <a:br/>
            <a:r>
              <a:t>→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71600" y="5577840"/>
            <a:ext cx="6858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000000"/>
                </a:solidFill>
                <a:latin typeface="맑은 고딕"/>
              </a:defRPr>
            </a:pPr>
            <a:r>
              <a:t>공급 리스크 (Supply Risk) →</a:t>
            </a:r>
          </a:p>
        </p:txBody>
      </p:sp>
      <p:sp>
        <p:nvSpPr>
          <p:cNvPr id="7" name="Rectangle 6"/>
          <p:cNvSpPr/>
          <p:nvPr/>
        </p:nvSpPr>
        <p:spPr>
          <a:xfrm>
            <a:off x="4846320" y="1920240"/>
            <a:ext cx="3383280" cy="1691640"/>
          </a:xfrm>
          <a:prstGeom prst="rect">
            <a:avLst/>
          </a:prstGeom>
          <a:solidFill>
            <a:srgbClr val="8E44AD"/>
          </a:solidFill>
          <a:ln w="2540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937759" y="1993392"/>
            <a:ext cx="3200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맑은 고딕"/>
              </a:defRPr>
            </a:pPr>
            <a:r>
              <a:t>💎 전략자재 (Strategic)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956048" y="2286000"/>
            <a:ext cx="91440" cy="822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0">
                <a:solidFill>
                  <a:srgbClr val="FFFFFF"/>
                </a:solidFill>
                <a:latin typeface="맑은 고딕"/>
              </a:defRPr>
            </a:pPr>
            <a:r>
              <a:t>•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65776" y="2286000"/>
            <a:ext cx="3054096" cy="822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FFFFFF"/>
                </a:solidFill>
                <a:latin typeface="맑은 고딕"/>
              </a:defRPr>
            </a:pPr>
            <a:r>
              <a:t>특성: 고리스크 + 고임팩트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956048" y="2354580"/>
            <a:ext cx="91440" cy="822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0">
                <a:solidFill>
                  <a:srgbClr val="FFFFFF"/>
                </a:solidFill>
                <a:latin typeface="맑은 고딕"/>
              </a:defRPr>
            </a:pPr>
            <a:r>
              <a:t>•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065776" y="2354580"/>
            <a:ext cx="3054096" cy="822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FFFFFF"/>
                </a:solidFill>
                <a:latin typeface="맑은 고딕"/>
              </a:defRPr>
            </a:pPr>
            <a:r>
              <a:t>공급원: 소수 (1-3개)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956048" y="2423160"/>
            <a:ext cx="91440" cy="822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0">
                <a:solidFill>
                  <a:srgbClr val="FFFFFF"/>
                </a:solidFill>
                <a:latin typeface="맑은 고딕"/>
              </a:defRPr>
            </a:pPr>
            <a:r>
              <a:t>•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065776" y="2423160"/>
            <a:ext cx="3054096" cy="822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FFFFFF"/>
                </a:solidFill>
                <a:latin typeface="맑은 고딕"/>
              </a:defRPr>
            </a:pPr>
            <a:r>
              <a:t>구매금액: 매출 10% 이상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956048" y="2491740"/>
            <a:ext cx="91440" cy="822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0">
                <a:solidFill>
                  <a:srgbClr val="FFFFFF"/>
                </a:solidFill>
                <a:latin typeface="맑은 고딕"/>
              </a:defRPr>
            </a:pPr>
            <a:r>
              <a:t>•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065776" y="2491740"/>
            <a:ext cx="3054096" cy="822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FFFFFF"/>
                </a:solidFill>
                <a:latin typeface="맑은 고딕"/>
              </a:defRPr>
            </a:pPr>
            <a:r>
              <a:t>사례: 반도체, 핵심 원자재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956048" y="2560320"/>
            <a:ext cx="3163824" cy="91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FFFFFF"/>
                </a:solidFill>
                <a:latin typeface="맑은 고딕"/>
              </a:defRPr>
            </a:pPr>
            <a:r>
              <a:t>--- 전략 ---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956048" y="2651760"/>
            <a:ext cx="91440" cy="822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0">
                <a:solidFill>
                  <a:srgbClr val="FFFFFF"/>
                </a:solidFill>
                <a:latin typeface="맑은 고딕"/>
              </a:defRPr>
            </a:pPr>
            <a:r>
              <a:t>•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065776" y="2651760"/>
            <a:ext cx="3054096" cy="822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FFFFFF"/>
                </a:solidFill>
                <a:latin typeface="맑은 고딕"/>
              </a:defRPr>
            </a:pPr>
            <a:r>
              <a:t>장기 파트너십 구축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956048" y="2720340"/>
            <a:ext cx="91440" cy="822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0">
                <a:solidFill>
                  <a:srgbClr val="FFFFFF"/>
                </a:solidFill>
                <a:latin typeface="맑은 고딕"/>
              </a:defRPr>
            </a:pPr>
            <a:r>
              <a:t>•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065776" y="2720340"/>
            <a:ext cx="3054096" cy="822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FFFFFF"/>
                </a:solidFill>
                <a:latin typeface="맑은 고딕"/>
              </a:defRPr>
            </a:pPr>
            <a:r>
              <a:t>협력적 관계 강화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956048" y="2788920"/>
            <a:ext cx="91440" cy="822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0">
                <a:solidFill>
                  <a:srgbClr val="FFFFFF"/>
                </a:solidFill>
                <a:latin typeface="맑은 고딕"/>
              </a:defRPr>
            </a:pPr>
            <a:r>
              <a:t>•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065776" y="2788920"/>
            <a:ext cx="3054096" cy="822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FFFFFF"/>
                </a:solidFill>
                <a:latin typeface="맑은 고딕"/>
              </a:defRPr>
            </a:pPr>
            <a:r>
              <a:t>공동 기술 개발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956048" y="2857500"/>
            <a:ext cx="91440" cy="822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0">
                <a:solidFill>
                  <a:srgbClr val="FFFFFF"/>
                </a:solidFill>
                <a:latin typeface="맑은 고딕"/>
              </a:defRPr>
            </a:pPr>
            <a:r>
              <a:t>•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065776" y="2857500"/>
            <a:ext cx="3054096" cy="822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FFFFFF"/>
                </a:solidFill>
                <a:latin typeface="맑은 고딕"/>
              </a:defRPr>
            </a:pPr>
            <a:r>
              <a:t>리스크 공유 계약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956048" y="2926080"/>
            <a:ext cx="3163824" cy="91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FFFFFF"/>
                </a:solidFill>
                <a:latin typeface="맑은 고딕"/>
              </a:defRPr>
            </a:pPr>
            <a:r>
              <a:t>--- 계획 ---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956048" y="3017520"/>
            <a:ext cx="91440" cy="822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0">
                <a:solidFill>
                  <a:srgbClr val="FFFFFF"/>
                </a:solidFill>
                <a:latin typeface="맑은 고딕"/>
              </a:defRPr>
            </a:pPr>
            <a:r>
              <a:t>•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065776" y="3017520"/>
            <a:ext cx="3054096" cy="822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FFFFFF"/>
                </a:solidFill>
                <a:latin typeface="맑은 고딕"/>
              </a:defRPr>
            </a:pPr>
            <a:r>
              <a:t>하이브리드: LTP + MRP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956048" y="3086100"/>
            <a:ext cx="91440" cy="822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0">
                <a:solidFill>
                  <a:srgbClr val="FFFFFF"/>
                </a:solidFill>
                <a:latin typeface="맑은 고딕"/>
              </a:defRPr>
            </a:pPr>
            <a:r>
              <a:t>•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065776" y="3086100"/>
            <a:ext cx="3054096" cy="822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FFFFFF"/>
                </a:solidFill>
                <a:latin typeface="맑은 고딕"/>
              </a:defRPr>
            </a:pPr>
            <a:r>
              <a:t>예측 + 수요 결합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956048" y="3154680"/>
            <a:ext cx="91440" cy="822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0">
                <a:solidFill>
                  <a:srgbClr val="FFFFFF"/>
                </a:solidFill>
                <a:latin typeface="맑은 고딕"/>
              </a:defRPr>
            </a:pPr>
            <a:r>
              <a:t>•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065776" y="3154680"/>
            <a:ext cx="3054096" cy="822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FFFFFF"/>
                </a:solidFill>
                <a:latin typeface="맑은 고딕"/>
              </a:defRPr>
            </a:pPr>
            <a:r>
              <a:t>전략적 안전재고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956048" y="3223260"/>
            <a:ext cx="3163824" cy="91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FFFFFF"/>
                </a:solidFill>
                <a:latin typeface="맑은 고딕"/>
              </a:defRPr>
            </a:pPr>
            <a:r>
              <a:t>--- KPI ---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956048" y="3314700"/>
            <a:ext cx="91440" cy="822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0">
                <a:solidFill>
                  <a:srgbClr val="FFFFFF"/>
                </a:solidFill>
                <a:latin typeface="맑은 고딕"/>
              </a:defRPr>
            </a:pPr>
            <a:r>
              <a:t>•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065776" y="3314700"/>
            <a:ext cx="3054096" cy="822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FFFFFF"/>
                </a:solidFill>
                <a:latin typeface="맑은 고딕"/>
              </a:defRPr>
            </a:pPr>
            <a:r>
              <a:t>공급 안정성 95%+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956048" y="3383280"/>
            <a:ext cx="91440" cy="822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0">
                <a:solidFill>
                  <a:srgbClr val="FFFFFF"/>
                </a:solidFill>
                <a:latin typeface="맑은 고딕"/>
              </a:defRPr>
            </a:pPr>
            <a:r>
              <a:t>•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065776" y="3383280"/>
            <a:ext cx="3054096" cy="822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FFFFFF"/>
                </a:solidFill>
                <a:latin typeface="맑은 고딕"/>
              </a:defRPr>
            </a:pPr>
            <a:r>
              <a:t>품질 불량률 0.1% 이하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956048" y="3451860"/>
            <a:ext cx="91440" cy="822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0">
                <a:solidFill>
                  <a:srgbClr val="FFFFFF"/>
                </a:solidFill>
                <a:latin typeface="맑은 고딕"/>
              </a:defRPr>
            </a:pPr>
            <a:r>
              <a:t>•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065776" y="3451860"/>
            <a:ext cx="3054096" cy="822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FFFFFF"/>
                </a:solidFill>
                <a:latin typeface="맑은 고딕"/>
              </a:defRPr>
            </a:pPr>
            <a:r>
              <a:t>납기 준수율 98%+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4956048" y="3520440"/>
            <a:ext cx="91440" cy="822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0">
                <a:solidFill>
                  <a:srgbClr val="FFFFFF"/>
                </a:solidFill>
                <a:latin typeface="맑은 고딕"/>
              </a:defRPr>
            </a:pPr>
            <a:r>
              <a:t>•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5065776" y="3520440"/>
            <a:ext cx="3054096" cy="822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FFFFFF"/>
                </a:solidFill>
                <a:latin typeface="맑은 고딕"/>
              </a:defRPr>
            </a:pPr>
            <a:r>
              <a:t>협력 지수 4.5/5.0</a:t>
            </a:r>
          </a:p>
        </p:txBody>
      </p:sp>
      <p:sp>
        <p:nvSpPr>
          <p:cNvPr id="42" name="Rectangle 41"/>
          <p:cNvSpPr/>
          <p:nvPr/>
        </p:nvSpPr>
        <p:spPr>
          <a:xfrm>
            <a:off x="1371600" y="1920240"/>
            <a:ext cx="3383280" cy="1691640"/>
          </a:xfrm>
          <a:prstGeom prst="rect">
            <a:avLst/>
          </a:prstGeom>
          <a:solidFill>
            <a:srgbClr val="E67E22"/>
          </a:solidFill>
          <a:ln w="2540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1463040" y="1993392"/>
            <a:ext cx="3200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맑은 고딕"/>
              </a:defRPr>
            </a:pPr>
            <a:r>
              <a:t>⚠️ 병목자재 (Bottleneck)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481328" y="2286000"/>
            <a:ext cx="91440" cy="822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0">
                <a:solidFill>
                  <a:srgbClr val="FFFFFF"/>
                </a:solidFill>
                <a:latin typeface="맑은 고딕"/>
              </a:defRPr>
            </a:pPr>
            <a:r>
              <a:t>•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591056" y="2286000"/>
            <a:ext cx="3054096" cy="822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FFFFFF"/>
                </a:solidFill>
                <a:latin typeface="맑은 고딕"/>
              </a:defRPr>
            </a:pPr>
            <a:r>
              <a:t>특성: 고리스크 + 저임팩트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1481328" y="2354580"/>
            <a:ext cx="91440" cy="822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0">
                <a:solidFill>
                  <a:srgbClr val="FFFFFF"/>
                </a:solidFill>
                <a:latin typeface="맑은 고딕"/>
              </a:defRPr>
            </a:pPr>
            <a:r>
              <a:t>•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591056" y="2354580"/>
            <a:ext cx="3054096" cy="822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FFFFFF"/>
                </a:solidFill>
                <a:latin typeface="맑은 고딕"/>
              </a:defRPr>
            </a:pPr>
            <a:r>
              <a:t>공급원: 매우 소수 (1-2개)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1481328" y="2423160"/>
            <a:ext cx="91440" cy="822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0">
                <a:solidFill>
                  <a:srgbClr val="FFFFFF"/>
                </a:solidFill>
                <a:latin typeface="맑은 고딕"/>
              </a:defRPr>
            </a:pPr>
            <a:r>
              <a:t>•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591056" y="2423160"/>
            <a:ext cx="3054096" cy="822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FFFFFF"/>
                </a:solidFill>
                <a:latin typeface="맑은 고딕"/>
              </a:defRPr>
            </a:pPr>
            <a:r>
              <a:t>구매금액: 매출 2% 미만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1481328" y="2491740"/>
            <a:ext cx="91440" cy="822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0">
                <a:solidFill>
                  <a:srgbClr val="FFFFFF"/>
                </a:solidFill>
                <a:latin typeface="맑은 고딕"/>
              </a:defRPr>
            </a:pPr>
            <a:r>
              <a:t>•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1591056" y="2491740"/>
            <a:ext cx="3054096" cy="822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FFFFFF"/>
                </a:solidFill>
                <a:latin typeface="맑은 고딕"/>
              </a:defRPr>
            </a:pPr>
            <a:r>
              <a:t>사례: 특수 부품, 인증 자재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1481328" y="2560320"/>
            <a:ext cx="3163824" cy="91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FFFFFF"/>
                </a:solidFill>
                <a:latin typeface="맑은 고딕"/>
              </a:defRPr>
            </a:pPr>
            <a:r>
              <a:t>--- 전략 ---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1481328" y="2651760"/>
            <a:ext cx="91440" cy="822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0">
                <a:solidFill>
                  <a:srgbClr val="FFFFFF"/>
                </a:solidFill>
                <a:latin typeface="맑은 고딕"/>
              </a:defRPr>
            </a:pPr>
            <a:r>
              <a:t>•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1591056" y="2651760"/>
            <a:ext cx="3054096" cy="822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FFFFFF"/>
                </a:solidFill>
                <a:latin typeface="맑은 고딕"/>
              </a:defRPr>
            </a:pPr>
            <a:r>
              <a:t>공급 안정성 최우선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1481328" y="2720340"/>
            <a:ext cx="91440" cy="822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0">
                <a:solidFill>
                  <a:srgbClr val="FFFFFF"/>
                </a:solidFill>
                <a:latin typeface="맑은 고딕"/>
              </a:defRPr>
            </a:pPr>
            <a:r>
              <a:t>•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591056" y="2720340"/>
            <a:ext cx="3054096" cy="822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FFFFFF"/>
                </a:solidFill>
                <a:latin typeface="맑은 고딕"/>
              </a:defRPr>
            </a:pPr>
            <a:r>
              <a:t>안전재고 충분 확보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1481328" y="2788920"/>
            <a:ext cx="91440" cy="822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0">
                <a:solidFill>
                  <a:srgbClr val="FFFFFF"/>
                </a:solidFill>
                <a:latin typeface="맑은 고딕"/>
              </a:defRPr>
            </a:pPr>
            <a:r>
              <a:t>•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1591056" y="2788920"/>
            <a:ext cx="3054096" cy="822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FFFFFF"/>
                </a:solidFill>
                <a:latin typeface="맑은 고딕"/>
              </a:defRPr>
            </a:pPr>
            <a:r>
              <a:t>대체품 개발 추진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1481328" y="2857500"/>
            <a:ext cx="91440" cy="822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0">
                <a:solidFill>
                  <a:srgbClr val="FFFFFF"/>
                </a:solidFill>
                <a:latin typeface="맑은 고딕"/>
              </a:defRPr>
            </a:pPr>
            <a:r>
              <a:t>•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1591056" y="2857500"/>
            <a:ext cx="3054096" cy="822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FFFFFF"/>
                </a:solidFill>
                <a:latin typeface="맑은 고딕"/>
              </a:defRPr>
            </a:pPr>
            <a:r>
              <a:t>복수 공급원 발굴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1481328" y="2926080"/>
            <a:ext cx="3163824" cy="91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FFFFFF"/>
                </a:solidFill>
                <a:latin typeface="맑은 고딕"/>
              </a:defRPr>
            </a:pPr>
            <a:r>
              <a:t>--- 계획 ---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1481328" y="3017520"/>
            <a:ext cx="91440" cy="822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0">
                <a:solidFill>
                  <a:srgbClr val="FFFFFF"/>
                </a:solidFill>
                <a:latin typeface="맑은 고딕"/>
              </a:defRPr>
            </a:pPr>
            <a:r>
              <a:t>•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591056" y="3017520"/>
            <a:ext cx="3054096" cy="822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FFFFFF"/>
                </a:solidFill>
                <a:latin typeface="맑은 고딕"/>
              </a:defRPr>
            </a:pPr>
            <a:r>
              <a:t>ROP (재주문점) 방식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1481328" y="3086100"/>
            <a:ext cx="91440" cy="822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0">
                <a:solidFill>
                  <a:srgbClr val="FFFFFF"/>
                </a:solidFill>
                <a:latin typeface="맑은 고딕"/>
              </a:defRPr>
            </a:pPr>
            <a:r>
              <a:t>•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1591056" y="3086100"/>
            <a:ext cx="3054096" cy="822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FFFFFF"/>
                </a:solidFill>
                <a:latin typeface="맑은 고딕"/>
              </a:defRPr>
            </a:pPr>
            <a:r>
              <a:t>Min-Max 재고 관리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1481328" y="3154680"/>
            <a:ext cx="91440" cy="822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0">
                <a:solidFill>
                  <a:srgbClr val="FFFFFF"/>
                </a:solidFill>
                <a:latin typeface="맑은 고딕"/>
              </a:defRPr>
            </a:pPr>
            <a:r>
              <a:t>•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1591056" y="3154680"/>
            <a:ext cx="3054096" cy="822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FFFFFF"/>
                </a:solidFill>
                <a:latin typeface="맑은 고딕"/>
              </a:defRPr>
            </a:pPr>
            <a:r>
              <a:t>높은 안전재고율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1481328" y="3223260"/>
            <a:ext cx="3163824" cy="91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FFFFFF"/>
                </a:solidFill>
                <a:latin typeface="맑은 고딕"/>
              </a:defRPr>
            </a:pPr>
            <a:r>
              <a:t>--- KPI ---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1481328" y="3314700"/>
            <a:ext cx="91440" cy="822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0">
                <a:solidFill>
                  <a:srgbClr val="FFFFFF"/>
                </a:solidFill>
                <a:latin typeface="맑은 고딕"/>
              </a:defRPr>
            </a:pPr>
            <a:r>
              <a:t>•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1591056" y="3314700"/>
            <a:ext cx="3054096" cy="822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FFFFFF"/>
                </a:solidFill>
                <a:latin typeface="맑은 고딕"/>
              </a:defRPr>
            </a:pPr>
            <a:r>
              <a:t>재고 가용률 98%+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1481328" y="3383280"/>
            <a:ext cx="91440" cy="822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0">
                <a:solidFill>
                  <a:srgbClr val="FFFFFF"/>
                </a:solidFill>
                <a:latin typeface="맑은 고딕"/>
              </a:defRPr>
            </a:pPr>
            <a:r>
              <a:t>•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1591056" y="3383280"/>
            <a:ext cx="3054096" cy="822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FFFFFF"/>
                </a:solidFill>
                <a:latin typeface="맑은 고딕"/>
              </a:defRPr>
            </a:pPr>
            <a:r>
              <a:t>결품률 0.5% 이하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1481328" y="3451860"/>
            <a:ext cx="91440" cy="822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0">
                <a:solidFill>
                  <a:srgbClr val="FFFFFF"/>
                </a:solidFill>
                <a:latin typeface="맑은 고딕"/>
              </a:defRPr>
            </a:pPr>
            <a:r>
              <a:t>•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1591056" y="3451860"/>
            <a:ext cx="3054096" cy="822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FFFFFF"/>
                </a:solidFill>
                <a:latin typeface="맑은 고딕"/>
              </a:defRPr>
            </a:pPr>
            <a:r>
              <a:t>리드타임 준수 95%+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481328" y="3520440"/>
            <a:ext cx="91440" cy="822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0">
                <a:solidFill>
                  <a:srgbClr val="FFFFFF"/>
                </a:solidFill>
                <a:latin typeface="맑은 고딕"/>
              </a:defRPr>
            </a:pPr>
            <a:r>
              <a:t>•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1591056" y="3520440"/>
            <a:ext cx="3054096" cy="822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FFFFFF"/>
                </a:solidFill>
                <a:latin typeface="맑은 고딕"/>
              </a:defRPr>
            </a:pPr>
            <a:r>
              <a:t>비상 재고 8주+</a:t>
            </a:r>
          </a:p>
        </p:txBody>
      </p:sp>
      <p:sp>
        <p:nvSpPr>
          <p:cNvPr id="77" name="Rectangle 76"/>
          <p:cNvSpPr/>
          <p:nvPr/>
        </p:nvSpPr>
        <p:spPr>
          <a:xfrm>
            <a:off x="4846320" y="3703320"/>
            <a:ext cx="3383280" cy="1691640"/>
          </a:xfrm>
          <a:prstGeom prst="rect">
            <a:avLst/>
          </a:prstGeom>
          <a:solidFill>
            <a:srgbClr val="27AE60"/>
          </a:solidFill>
          <a:ln w="2540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TextBox 77"/>
          <p:cNvSpPr txBox="1"/>
          <p:nvPr/>
        </p:nvSpPr>
        <p:spPr>
          <a:xfrm>
            <a:off x="4937759" y="3776472"/>
            <a:ext cx="3200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맑은 고딕"/>
              </a:defRPr>
            </a:pPr>
            <a:r>
              <a:t>💰 레버리지자재 (Leverage)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4956048" y="4069080"/>
            <a:ext cx="91440" cy="822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0">
                <a:solidFill>
                  <a:srgbClr val="FFFFFF"/>
                </a:solidFill>
                <a:latin typeface="맑은 고딕"/>
              </a:defRPr>
            </a:pPr>
            <a:r>
              <a:t>•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5065776" y="4069080"/>
            <a:ext cx="3054096" cy="822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FFFFFF"/>
                </a:solidFill>
                <a:latin typeface="맑은 고딕"/>
              </a:defRPr>
            </a:pPr>
            <a:r>
              <a:t>특성: 저리스크 + 고임팩트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4956048" y="4137660"/>
            <a:ext cx="91440" cy="822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0">
                <a:solidFill>
                  <a:srgbClr val="FFFFFF"/>
                </a:solidFill>
                <a:latin typeface="맑은 고딕"/>
              </a:defRPr>
            </a:pPr>
            <a:r>
              <a:t>•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5065776" y="4137660"/>
            <a:ext cx="3054096" cy="822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FFFFFF"/>
                </a:solidFill>
                <a:latin typeface="맑은 고딕"/>
              </a:defRPr>
            </a:pPr>
            <a:r>
              <a:t>공급원: 다수 (10개+)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4956048" y="4206240"/>
            <a:ext cx="91440" cy="822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0">
                <a:solidFill>
                  <a:srgbClr val="FFFFFF"/>
                </a:solidFill>
                <a:latin typeface="맑은 고딕"/>
              </a:defRPr>
            </a:pPr>
            <a:r>
              <a:t>•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5065776" y="4206240"/>
            <a:ext cx="3054096" cy="822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FFFFFF"/>
                </a:solidFill>
                <a:latin typeface="맑은 고딕"/>
              </a:defRPr>
            </a:pPr>
            <a:r>
              <a:t>구매금액: 매출 5-10%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4956048" y="4274820"/>
            <a:ext cx="91440" cy="822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0">
                <a:solidFill>
                  <a:srgbClr val="FFFFFF"/>
                </a:solidFill>
                <a:latin typeface="맑은 고딕"/>
              </a:defRPr>
            </a:pPr>
            <a:r>
              <a:t>•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5065776" y="4274820"/>
            <a:ext cx="3054096" cy="822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FFFFFF"/>
                </a:solidFill>
                <a:latin typeface="맑은 고딕"/>
              </a:defRPr>
            </a:pPr>
            <a:r>
              <a:t>사례: 표준 부품, 원자재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4956048" y="4343400"/>
            <a:ext cx="3163824" cy="91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FFFFFF"/>
                </a:solidFill>
                <a:latin typeface="맑은 고딕"/>
              </a:defRPr>
            </a:pPr>
            <a:r>
              <a:t>--- 전략 ---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4956048" y="4434840"/>
            <a:ext cx="91440" cy="822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0">
                <a:solidFill>
                  <a:srgbClr val="FFFFFF"/>
                </a:solidFill>
                <a:latin typeface="맑은 고딕"/>
              </a:defRPr>
            </a:pPr>
            <a:r>
              <a:t>•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5065776" y="4434840"/>
            <a:ext cx="3054096" cy="822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FFFFFF"/>
                </a:solidFill>
                <a:latin typeface="맑은 고딕"/>
              </a:defRPr>
            </a:pPr>
            <a:r>
              <a:t>경쟁 입찰 활용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4956048" y="4503420"/>
            <a:ext cx="91440" cy="822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0">
                <a:solidFill>
                  <a:srgbClr val="FFFFFF"/>
                </a:solidFill>
                <a:latin typeface="맑은 고딕"/>
              </a:defRPr>
            </a:pPr>
            <a:r>
              <a:t>•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5065776" y="4503420"/>
            <a:ext cx="3054096" cy="822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FFFFFF"/>
                </a:solidFill>
                <a:latin typeface="맑은 고딕"/>
              </a:defRPr>
            </a:pPr>
            <a:r>
              <a:t>가격 협상 중점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4956048" y="4572000"/>
            <a:ext cx="91440" cy="822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0">
                <a:solidFill>
                  <a:srgbClr val="FFFFFF"/>
                </a:solidFill>
                <a:latin typeface="맑은 고딕"/>
              </a:defRPr>
            </a:pPr>
            <a:r>
              <a:t>•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5065776" y="4572000"/>
            <a:ext cx="3054096" cy="822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FFFFFF"/>
                </a:solidFill>
                <a:latin typeface="맑은 고딕"/>
              </a:defRPr>
            </a:pPr>
            <a:r>
              <a:t>물량 레버리지 활용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4956048" y="4640580"/>
            <a:ext cx="91440" cy="822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0">
                <a:solidFill>
                  <a:srgbClr val="FFFFFF"/>
                </a:solidFill>
                <a:latin typeface="맑은 고딕"/>
              </a:defRPr>
            </a:pPr>
            <a:r>
              <a:t>•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5065776" y="4640580"/>
            <a:ext cx="3054096" cy="822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FFFFFF"/>
                </a:solidFill>
                <a:latin typeface="맑은 고딕"/>
              </a:defRPr>
            </a:pPr>
            <a:r>
              <a:t>단기 계약 체결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4956048" y="4709160"/>
            <a:ext cx="3163824" cy="91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FFFFFF"/>
                </a:solidFill>
                <a:latin typeface="맑은 고딕"/>
              </a:defRPr>
            </a:pPr>
            <a:r>
              <a:t>--- 계획 ---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4956048" y="4800600"/>
            <a:ext cx="91440" cy="822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0">
                <a:solidFill>
                  <a:srgbClr val="FFFFFF"/>
                </a:solidFill>
                <a:latin typeface="맑은 고딕"/>
              </a:defRPr>
            </a:pPr>
            <a:r>
              <a:t>•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5065776" y="4800600"/>
            <a:ext cx="3054096" cy="822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FFFFFF"/>
                </a:solidFill>
                <a:latin typeface="맑은 고딕"/>
              </a:defRPr>
            </a:pPr>
            <a:r>
              <a:t>MRP (자재소요계획)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4956048" y="4869180"/>
            <a:ext cx="91440" cy="822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0">
                <a:solidFill>
                  <a:srgbClr val="FFFFFF"/>
                </a:solidFill>
                <a:latin typeface="맑은 고딕"/>
              </a:defRPr>
            </a:pPr>
            <a:r>
              <a:t>•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5065776" y="4869180"/>
            <a:ext cx="3054096" cy="822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FFFFFF"/>
                </a:solidFill>
                <a:latin typeface="맑은 고딕"/>
              </a:defRPr>
            </a:pPr>
            <a:r>
              <a:t>수요 기반 발주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4956048" y="4937760"/>
            <a:ext cx="91440" cy="822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0">
                <a:solidFill>
                  <a:srgbClr val="FFFFFF"/>
                </a:solidFill>
                <a:latin typeface="맑은 고딕"/>
              </a:defRPr>
            </a:pPr>
            <a:r>
              <a:t>•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5065776" y="4937760"/>
            <a:ext cx="3054096" cy="822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FFFFFF"/>
                </a:solidFill>
                <a:latin typeface="맑은 고딕"/>
              </a:defRPr>
            </a:pPr>
            <a:r>
              <a:t>최소 안전재고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4956048" y="5006340"/>
            <a:ext cx="3163824" cy="91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FFFFFF"/>
                </a:solidFill>
                <a:latin typeface="맑은 고딕"/>
              </a:defRPr>
            </a:pPr>
            <a:r>
              <a:t>--- KPI ---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4956048" y="5097780"/>
            <a:ext cx="91440" cy="822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0">
                <a:solidFill>
                  <a:srgbClr val="FFFFFF"/>
                </a:solidFill>
                <a:latin typeface="맑은 고딕"/>
              </a:defRPr>
            </a:pPr>
            <a:r>
              <a:t>•</a:t>
            </a:r>
          </a:p>
        </p:txBody>
      </p:sp>
      <p:sp>
        <p:nvSpPr>
          <p:cNvPr id="105" name="TextBox 104"/>
          <p:cNvSpPr txBox="1"/>
          <p:nvPr/>
        </p:nvSpPr>
        <p:spPr>
          <a:xfrm>
            <a:off x="5065776" y="5097780"/>
            <a:ext cx="3054096" cy="822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FFFFFF"/>
                </a:solidFill>
                <a:latin typeface="맑은 고딕"/>
              </a:defRPr>
            </a:pPr>
            <a:r>
              <a:t>원가 절감률 5%+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4956048" y="5166360"/>
            <a:ext cx="91440" cy="822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0">
                <a:solidFill>
                  <a:srgbClr val="FFFFFF"/>
                </a:solidFill>
                <a:latin typeface="맑은 고딕"/>
              </a:defRPr>
            </a:pPr>
            <a:r>
              <a:t>•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5065776" y="5166360"/>
            <a:ext cx="3054096" cy="822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FFFFFF"/>
                </a:solidFill>
                <a:latin typeface="맑은 고딕"/>
              </a:defRPr>
            </a:pPr>
            <a:r>
              <a:t>재고 회전율 12회+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4956048" y="5234940"/>
            <a:ext cx="91440" cy="822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0">
                <a:solidFill>
                  <a:srgbClr val="FFFFFF"/>
                </a:solidFill>
                <a:latin typeface="맑은 고딕"/>
              </a:defRPr>
            </a:pPr>
            <a:r>
              <a:t>•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5065776" y="5234940"/>
            <a:ext cx="3054096" cy="822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FFFFFF"/>
                </a:solidFill>
                <a:latin typeface="맑은 고딕"/>
              </a:defRPr>
            </a:pPr>
            <a:r>
              <a:t>가격 경쟁력 상위 10%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4956048" y="5303520"/>
            <a:ext cx="91440" cy="822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0">
                <a:solidFill>
                  <a:srgbClr val="FFFFFF"/>
                </a:solidFill>
                <a:latin typeface="맑은 고딕"/>
              </a:defRPr>
            </a:pPr>
            <a:r>
              <a:t>•</a:t>
            </a:r>
          </a:p>
        </p:txBody>
      </p:sp>
      <p:sp>
        <p:nvSpPr>
          <p:cNvPr id="111" name="TextBox 110"/>
          <p:cNvSpPr txBox="1"/>
          <p:nvPr/>
        </p:nvSpPr>
        <p:spPr>
          <a:xfrm>
            <a:off x="5065776" y="5303520"/>
            <a:ext cx="3054096" cy="822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FFFFFF"/>
                </a:solidFill>
                <a:latin typeface="맑은 고딕"/>
              </a:defRPr>
            </a:pPr>
            <a:r>
              <a:t>조달 효율 90%+</a:t>
            </a:r>
          </a:p>
        </p:txBody>
      </p:sp>
      <p:sp>
        <p:nvSpPr>
          <p:cNvPr id="112" name="Rectangle 111"/>
          <p:cNvSpPr/>
          <p:nvPr/>
        </p:nvSpPr>
        <p:spPr>
          <a:xfrm>
            <a:off x="1371600" y="3703320"/>
            <a:ext cx="3383280" cy="1691640"/>
          </a:xfrm>
          <a:prstGeom prst="rect">
            <a:avLst/>
          </a:prstGeom>
          <a:solidFill>
            <a:srgbClr val="95A5A6"/>
          </a:solidFill>
          <a:ln w="2540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" name="TextBox 112"/>
          <p:cNvSpPr txBox="1"/>
          <p:nvPr/>
        </p:nvSpPr>
        <p:spPr>
          <a:xfrm>
            <a:off x="1463040" y="3776472"/>
            <a:ext cx="3200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맑은 고딕"/>
              </a:defRPr>
            </a:pPr>
            <a:r>
              <a:t>📦 일상자재 (Routine)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1481328" y="4069080"/>
            <a:ext cx="91440" cy="822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0">
                <a:solidFill>
                  <a:srgbClr val="FFFFFF"/>
                </a:solidFill>
                <a:latin typeface="맑은 고딕"/>
              </a:defRPr>
            </a:pPr>
            <a:r>
              <a:t>•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1591056" y="4069080"/>
            <a:ext cx="3054096" cy="822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FFFFFF"/>
                </a:solidFill>
                <a:latin typeface="맑은 고딕"/>
              </a:defRPr>
            </a:pPr>
            <a:r>
              <a:t>특성: 저리스크 + 저임팩트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1481328" y="4137660"/>
            <a:ext cx="91440" cy="822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0">
                <a:solidFill>
                  <a:srgbClr val="FFFFFF"/>
                </a:solidFill>
                <a:latin typeface="맑은 고딕"/>
              </a:defRPr>
            </a:pPr>
            <a:r>
              <a:t>•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591056" y="4137660"/>
            <a:ext cx="3054096" cy="822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FFFFFF"/>
                </a:solidFill>
                <a:latin typeface="맑은 고딕"/>
              </a:defRPr>
            </a:pPr>
            <a:r>
              <a:t>공급원: 매우 다수 (20개+)</a:t>
            </a:r>
          </a:p>
        </p:txBody>
      </p:sp>
      <p:sp>
        <p:nvSpPr>
          <p:cNvPr id="118" name="TextBox 117"/>
          <p:cNvSpPr txBox="1"/>
          <p:nvPr/>
        </p:nvSpPr>
        <p:spPr>
          <a:xfrm>
            <a:off x="1481328" y="4206240"/>
            <a:ext cx="91440" cy="822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0">
                <a:solidFill>
                  <a:srgbClr val="FFFFFF"/>
                </a:solidFill>
                <a:latin typeface="맑은 고딕"/>
              </a:defRPr>
            </a:pPr>
            <a:r>
              <a:t>•</a:t>
            </a:r>
          </a:p>
        </p:txBody>
      </p:sp>
      <p:sp>
        <p:nvSpPr>
          <p:cNvPr id="119" name="TextBox 118"/>
          <p:cNvSpPr txBox="1"/>
          <p:nvPr/>
        </p:nvSpPr>
        <p:spPr>
          <a:xfrm>
            <a:off x="1591056" y="4206240"/>
            <a:ext cx="3054096" cy="822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FFFFFF"/>
                </a:solidFill>
                <a:latin typeface="맑은 고딕"/>
              </a:defRPr>
            </a:pPr>
            <a:r>
              <a:t>구매금액: 매출 1% 미만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1481328" y="4274820"/>
            <a:ext cx="91440" cy="822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0">
                <a:solidFill>
                  <a:srgbClr val="FFFFFF"/>
                </a:solidFill>
                <a:latin typeface="맑은 고딕"/>
              </a:defRPr>
            </a:pPr>
            <a:r>
              <a:t>•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1591056" y="4274820"/>
            <a:ext cx="3054096" cy="822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FFFFFF"/>
                </a:solidFill>
                <a:latin typeface="맑은 고딕"/>
              </a:defRPr>
            </a:pPr>
            <a:r>
              <a:t>사례: 소모품, MRO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1481328" y="4343400"/>
            <a:ext cx="3163824" cy="91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FFFFFF"/>
                </a:solidFill>
                <a:latin typeface="맑은 고딕"/>
              </a:defRPr>
            </a:pPr>
            <a:r>
              <a:t>--- 전략 ---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1481328" y="4434840"/>
            <a:ext cx="91440" cy="822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0">
                <a:solidFill>
                  <a:srgbClr val="FFFFFF"/>
                </a:solidFill>
                <a:latin typeface="맑은 고딕"/>
              </a:defRPr>
            </a:pPr>
            <a:r>
              <a:t>•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1591056" y="4434840"/>
            <a:ext cx="3054096" cy="822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FFFFFF"/>
                </a:solidFill>
                <a:latin typeface="맑은 고딕"/>
              </a:defRPr>
            </a:pPr>
            <a:r>
              <a:t>프로세스 효율화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1481328" y="4503420"/>
            <a:ext cx="91440" cy="822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0">
                <a:solidFill>
                  <a:srgbClr val="FFFFFF"/>
                </a:solidFill>
                <a:latin typeface="맑은 고딕"/>
              </a:defRPr>
            </a:pPr>
            <a:r>
              <a:t>•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1591056" y="4503420"/>
            <a:ext cx="3054096" cy="822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FFFFFF"/>
                </a:solidFill>
                <a:latin typeface="맑은 고딕"/>
              </a:defRPr>
            </a:pPr>
            <a:r>
              <a:t>자동 발주 시스템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1481328" y="4572000"/>
            <a:ext cx="91440" cy="822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0">
                <a:solidFill>
                  <a:srgbClr val="FFFFFF"/>
                </a:solidFill>
                <a:latin typeface="맑은 고딕"/>
              </a:defRPr>
            </a:pPr>
            <a:r>
              <a:t>•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1591056" y="4572000"/>
            <a:ext cx="3054096" cy="822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FFFFFF"/>
                </a:solidFill>
                <a:latin typeface="맑은 고딕"/>
              </a:defRPr>
            </a:pPr>
            <a:r>
              <a:t>통합 구매 (카탈로그)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1481328" y="4640580"/>
            <a:ext cx="91440" cy="822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0">
                <a:solidFill>
                  <a:srgbClr val="FFFFFF"/>
                </a:solidFill>
                <a:latin typeface="맑은 고딕"/>
              </a:defRPr>
            </a:pPr>
            <a:r>
              <a:t>•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1591056" y="4640580"/>
            <a:ext cx="3054096" cy="822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FFFFFF"/>
                </a:solidFill>
                <a:latin typeface="맑은 고딕"/>
              </a:defRPr>
            </a:pPr>
            <a:r>
              <a:t>관리 비용 최소화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1481328" y="4709160"/>
            <a:ext cx="3163824" cy="91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FFFFFF"/>
                </a:solidFill>
                <a:latin typeface="맑은 고딕"/>
              </a:defRPr>
            </a:pPr>
            <a:r>
              <a:t>--- 계획 ---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1481328" y="4800600"/>
            <a:ext cx="91440" cy="822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0">
                <a:solidFill>
                  <a:srgbClr val="FFFFFF"/>
                </a:solidFill>
                <a:latin typeface="맑은 고딕"/>
              </a:defRPr>
            </a:pPr>
            <a:r>
              <a:t>•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1591056" y="4800600"/>
            <a:ext cx="3054096" cy="822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FFFFFF"/>
                </a:solidFill>
                <a:latin typeface="맑은 고딕"/>
              </a:defRPr>
            </a:pPr>
            <a:r>
              <a:t>Min-Max 자동 발주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81328" y="4869180"/>
            <a:ext cx="91440" cy="822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0">
                <a:solidFill>
                  <a:srgbClr val="FFFFFF"/>
                </a:solidFill>
                <a:latin typeface="맑은 고딕"/>
              </a:defRPr>
            </a:pPr>
            <a:r>
              <a:t>•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1591056" y="4869180"/>
            <a:ext cx="3054096" cy="822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FFFFFF"/>
                </a:solidFill>
                <a:latin typeface="맑은 고딕"/>
              </a:defRPr>
            </a:pPr>
            <a:r>
              <a:t>VMI (공급자 관리 재고)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1481328" y="4937760"/>
            <a:ext cx="91440" cy="822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0">
                <a:solidFill>
                  <a:srgbClr val="FFFFFF"/>
                </a:solidFill>
                <a:latin typeface="맑은 고딕"/>
              </a:defRPr>
            </a:pPr>
            <a:r>
              <a:t>•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1591056" y="4937760"/>
            <a:ext cx="3054096" cy="822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FFFFFF"/>
                </a:solidFill>
                <a:latin typeface="맑은 고딕"/>
              </a:defRPr>
            </a:pPr>
            <a:r>
              <a:t>E-Procurement 활용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1481328" y="5006340"/>
            <a:ext cx="3163824" cy="91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FFFFFF"/>
                </a:solidFill>
                <a:latin typeface="맑은 고딕"/>
              </a:defRPr>
            </a:pPr>
            <a:r>
              <a:t>--- KPI ---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1481328" y="5097780"/>
            <a:ext cx="91440" cy="822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0">
                <a:solidFill>
                  <a:srgbClr val="FFFFFF"/>
                </a:solidFill>
                <a:latin typeface="맑은 고딕"/>
              </a:defRPr>
            </a:pPr>
            <a:r>
              <a:t>•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1591056" y="5097780"/>
            <a:ext cx="3054096" cy="822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FFFFFF"/>
                </a:solidFill>
                <a:latin typeface="맑은 고딕"/>
              </a:defRPr>
            </a:pPr>
            <a:r>
              <a:t>처리 시간 단축 50%+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1481328" y="5166360"/>
            <a:ext cx="91440" cy="822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0">
                <a:solidFill>
                  <a:srgbClr val="FFFFFF"/>
                </a:solidFill>
                <a:latin typeface="맑은 고딕"/>
              </a:defRPr>
            </a:pPr>
            <a:r>
              <a:t>•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1591056" y="5166360"/>
            <a:ext cx="3054096" cy="822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FFFFFF"/>
                </a:solidFill>
                <a:latin typeface="맑은 고딕"/>
              </a:defRPr>
            </a:pPr>
            <a:r>
              <a:t>발주 비용 최소화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1481328" y="5234940"/>
            <a:ext cx="91440" cy="822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0">
                <a:solidFill>
                  <a:srgbClr val="FFFFFF"/>
                </a:solidFill>
                <a:latin typeface="맑은 고딕"/>
              </a:defRPr>
            </a:pPr>
            <a:r>
              <a:t>•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1591056" y="5234940"/>
            <a:ext cx="3054096" cy="822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FFFFFF"/>
                </a:solidFill>
                <a:latin typeface="맑은 고딕"/>
              </a:defRPr>
            </a:pPr>
            <a:r>
              <a:t>자동화율 80%+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1481328" y="5303520"/>
            <a:ext cx="91440" cy="822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0">
                <a:solidFill>
                  <a:srgbClr val="FFFFFF"/>
                </a:solidFill>
                <a:latin typeface="맑은 고딕"/>
              </a:defRPr>
            </a:pPr>
            <a:r>
              <a:t>•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1591056" y="5303520"/>
            <a:ext cx="3054096" cy="822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FFFFFF"/>
                </a:solidFill>
                <a:latin typeface="맑은 고딕"/>
              </a:defRPr>
            </a:pPr>
            <a:r>
              <a:t>사용자 만족도 4.0/5.0</a:t>
            </a:r>
          </a:p>
        </p:txBody>
      </p:sp>
      <p:sp>
        <p:nvSpPr>
          <p:cNvPr id="147" name="Rectangle 146"/>
          <p:cNvSpPr/>
          <p:nvPr/>
        </p:nvSpPr>
        <p:spPr>
          <a:xfrm>
            <a:off x="8595360" y="1965960"/>
            <a:ext cx="868680" cy="274320"/>
          </a:xfrm>
          <a:prstGeom prst="rect">
            <a:avLst/>
          </a:prstGeom>
          <a:solidFill>
            <a:srgbClr val="000000"/>
          </a:solidFill>
          <a:ln w="1270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8" name="TextBox 147"/>
          <p:cNvSpPr txBox="1"/>
          <p:nvPr/>
        </p:nvSpPr>
        <p:spPr>
          <a:xfrm>
            <a:off x="8641080" y="2002536"/>
            <a:ext cx="7772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FFFFFF"/>
                </a:solidFill>
                <a:latin typeface="맑은 고딕"/>
              </a:defRPr>
            </a:pPr>
            <a:r>
              <a:t>비중</a:t>
            </a:r>
          </a:p>
        </p:txBody>
      </p:sp>
      <p:sp>
        <p:nvSpPr>
          <p:cNvPr id="149" name="Rectangle 148"/>
          <p:cNvSpPr/>
          <p:nvPr/>
        </p:nvSpPr>
        <p:spPr>
          <a:xfrm>
            <a:off x="8595360" y="2331720"/>
            <a:ext cx="868680" cy="502920"/>
          </a:xfrm>
          <a:prstGeom prst="rect">
            <a:avLst/>
          </a:prstGeom>
          <a:solidFill>
            <a:srgbClr val="8E44AD"/>
          </a:solidFill>
          <a:ln w="1270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0" name="TextBox 149"/>
          <p:cNvSpPr txBox="1"/>
          <p:nvPr/>
        </p:nvSpPr>
        <p:spPr>
          <a:xfrm>
            <a:off x="8641080" y="2377440"/>
            <a:ext cx="77724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FFFFFF"/>
                </a:solidFill>
                <a:latin typeface="맑은 고딕"/>
              </a:defRPr>
            </a:pPr>
            <a:r>
              <a:t>전략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8641080" y="2587752"/>
            <a:ext cx="7772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FFFFFF"/>
                </a:solidFill>
                <a:latin typeface="맑은 고딕"/>
              </a:defRPr>
            </a:pPr>
            <a:r>
              <a:t>15-20%</a:t>
            </a:r>
          </a:p>
        </p:txBody>
      </p:sp>
      <p:sp>
        <p:nvSpPr>
          <p:cNvPr id="152" name="Rectangle 151"/>
          <p:cNvSpPr/>
          <p:nvPr/>
        </p:nvSpPr>
        <p:spPr>
          <a:xfrm>
            <a:off x="8595360" y="2971800"/>
            <a:ext cx="868680" cy="502920"/>
          </a:xfrm>
          <a:prstGeom prst="rect">
            <a:avLst/>
          </a:prstGeom>
          <a:solidFill>
            <a:srgbClr val="E67E22"/>
          </a:solidFill>
          <a:ln w="1270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3" name="TextBox 152"/>
          <p:cNvSpPr txBox="1"/>
          <p:nvPr/>
        </p:nvSpPr>
        <p:spPr>
          <a:xfrm>
            <a:off x="8641080" y="3017520"/>
            <a:ext cx="77724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FFFFFF"/>
                </a:solidFill>
                <a:latin typeface="맑은 고딕"/>
              </a:defRPr>
            </a:pPr>
            <a:r>
              <a:t>병목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8641080" y="3227832"/>
            <a:ext cx="7772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FFFFFF"/>
                </a:solidFill>
                <a:latin typeface="맑은 고딕"/>
              </a:defRPr>
            </a:pPr>
            <a:r>
              <a:t>5-10%</a:t>
            </a:r>
          </a:p>
        </p:txBody>
      </p:sp>
      <p:sp>
        <p:nvSpPr>
          <p:cNvPr id="155" name="Rectangle 154"/>
          <p:cNvSpPr/>
          <p:nvPr/>
        </p:nvSpPr>
        <p:spPr>
          <a:xfrm>
            <a:off x="8595360" y="4251960"/>
            <a:ext cx="868680" cy="502920"/>
          </a:xfrm>
          <a:prstGeom prst="rect">
            <a:avLst/>
          </a:prstGeom>
          <a:solidFill>
            <a:srgbClr val="27AE60"/>
          </a:solidFill>
          <a:ln w="1270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6" name="TextBox 155"/>
          <p:cNvSpPr txBox="1"/>
          <p:nvPr/>
        </p:nvSpPr>
        <p:spPr>
          <a:xfrm>
            <a:off x="8641080" y="4297680"/>
            <a:ext cx="77724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FFFFFF"/>
                </a:solidFill>
                <a:latin typeface="맑은 고딕"/>
              </a:defRPr>
            </a:pPr>
            <a:r>
              <a:t>레버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641080" y="4507992"/>
            <a:ext cx="7772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FFFFFF"/>
                </a:solidFill>
                <a:latin typeface="맑은 고딕"/>
              </a:defRPr>
            </a:pPr>
            <a:r>
              <a:t>50-60%</a:t>
            </a:r>
          </a:p>
        </p:txBody>
      </p:sp>
      <p:sp>
        <p:nvSpPr>
          <p:cNvPr id="158" name="Rectangle 157"/>
          <p:cNvSpPr/>
          <p:nvPr/>
        </p:nvSpPr>
        <p:spPr>
          <a:xfrm>
            <a:off x="8595360" y="4892040"/>
            <a:ext cx="868680" cy="502920"/>
          </a:xfrm>
          <a:prstGeom prst="rect">
            <a:avLst/>
          </a:prstGeom>
          <a:solidFill>
            <a:srgbClr val="95A5A6"/>
          </a:solidFill>
          <a:ln w="1270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9" name="TextBox 158"/>
          <p:cNvSpPr txBox="1"/>
          <p:nvPr/>
        </p:nvSpPr>
        <p:spPr>
          <a:xfrm>
            <a:off x="8641080" y="4937759"/>
            <a:ext cx="77724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FFFFFF"/>
                </a:solidFill>
                <a:latin typeface="맑은 고딕"/>
              </a:defRPr>
            </a:pPr>
            <a:r>
              <a:t>일상</a:t>
            </a:r>
          </a:p>
        </p:txBody>
      </p:sp>
      <p:sp>
        <p:nvSpPr>
          <p:cNvPr id="160" name="TextBox 159"/>
          <p:cNvSpPr txBox="1"/>
          <p:nvPr/>
        </p:nvSpPr>
        <p:spPr>
          <a:xfrm>
            <a:off x="8641080" y="5148072"/>
            <a:ext cx="7772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FFFFFF"/>
                </a:solidFill>
                <a:latin typeface="맑은 고딕"/>
              </a:defRPr>
            </a:pPr>
            <a:r>
              <a:t>20-25%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274320" y="274320"/>
            <a:ext cx="9354312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000000"/>
                </a:solidFill>
                <a:latin typeface="맑은 고딕"/>
              </a:defRPr>
            </a:pPr>
            <a:r>
              <a:t>2.4 ⚠️ 병목자재 (Bottleneck)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0" y="6400800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666666"/>
                </a:solidFill>
                <a:latin typeface="Arial"/>
              </a:defRPr>
            </a:pPr>
            <a:r>
              <a:t>12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" y="923544"/>
            <a:ext cx="9436608" cy="5760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666666"/>
                </a:solidFill>
                <a:latin typeface="맑은 고딕"/>
              </a:defRPr>
            </a:pPr>
            <a:r>
              <a:t>병목자재는 공급 리스크가 높지만 구매 금액이 낮아 공급 안정성 확보가 최우선 과제입니다.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1828800"/>
            <a:ext cx="8686800" cy="548640"/>
          </a:xfrm>
          <a:prstGeom prst="rect">
            <a:avLst/>
          </a:prstGeom>
          <a:solidFill>
            <a:srgbClr val="E67E22"/>
          </a:solidFill>
          <a:ln w="2540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901952"/>
            <a:ext cx="83210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FFFFFF"/>
                </a:solidFill>
                <a:latin typeface="맑은 고딕"/>
              </a:defRPr>
            </a:pPr>
            <a:r>
              <a:t>병목자재 (Bottleneck Materials)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2121408"/>
            <a:ext cx="83210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0">
                <a:solidFill>
                  <a:srgbClr val="FFFFFF"/>
                </a:solidFill>
                <a:latin typeface="맑은 고딕"/>
              </a:defRPr>
            </a:pPr>
            <a:r>
              <a:t>공급 리스크는 높지만 구매 금액이 낮은 자재 - 공급 안정성 확보가 최우선</a:t>
            </a:r>
          </a:p>
        </p:txBody>
      </p:sp>
      <p:sp>
        <p:nvSpPr>
          <p:cNvPr id="8" name="Rectangle 7"/>
          <p:cNvSpPr/>
          <p:nvPr/>
        </p:nvSpPr>
        <p:spPr>
          <a:xfrm>
            <a:off x="731520" y="2514600"/>
            <a:ext cx="4206240" cy="256032"/>
          </a:xfrm>
          <a:prstGeom prst="rect">
            <a:avLst/>
          </a:prstGeom>
          <a:solidFill>
            <a:srgbClr val="333333"/>
          </a:solidFill>
          <a:ln w="1270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2542032"/>
            <a:ext cx="4023359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  <a:latin typeface="맑은 고딕"/>
              </a:defRPr>
            </a:pPr>
            <a:r>
              <a:t>특성 (Characteristics)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2788920"/>
            <a:ext cx="109728" cy="1280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333333"/>
                </a:solidFill>
                <a:latin typeface="맑은 고딕"/>
              </a:defRPr>
            </a:pPr>
            <a:r>
              <a:t>•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60120" y="2788920"/>
            <a:ext cx="3886200" cy="1280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333333"/>
                </a:solidFill>
                <a:latin typeface="맑은 고딕"/>
              </a:defRPr>
            </a:pPr>
            <a:r>
              <a:t>공급 리스크: 매우 높음 (공급원 1-2개)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2960" y="2916936"/>
            <a:ext cx="109728" cy="1280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333333"/>
                </a:solidFill>
                <a:latin typeface="맑은 고딕"/>
              </a:defRPr>
            </a:pPr>
            <a:r>
              <a:t>•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60120" y="2916936"/>
            <a:ext cx="3886200" cy="1280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333333"/>
                </a:solidFill>
                <a:latin typeface="맑은 고딕"/>
              </a:defRPr>
            </a:pPr>
            <a:r>
              <a:t>구매 금액: 낮음 (매출 2% 미만)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2960" y="3044952"/>
            <a:ext cx="109728" cy="1280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333333"/>
                </a:solidFill>
                <a:latin typeface="맑은 고딕"/>
              </a:defRPr>
            </a:pPr>
            <a:r>
              <a:t>•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60120" y="3044952"/>
            <a:ext cx="3886200" cy="1280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333333"/>
                </a:solidFill>
                <a:latin typeface="맑은 고딕"/>
              </a:defRPr>
            </a:pPr>
            <a:r>
              <a:t>대체 가능성: 어려움 (인증/규격)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2960" y="3172968"/>
            <a:ext cx="109728" cy="1280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333333"/>
                </a:solidFill>
                <a:latin typeface="맑은 고딕"/>
              </a:defRPr>
            </a:pPr>
            <a:r>
              <a:t>•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60120" y="3172968"/>
            <a:ext cx="3886200" cy="1280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333333"/>
                </a:solidFill>
                <a:latin typeface="맑은 고딕"/>
              </a:defRPr>
            </a:pPr>
            <a:r>
              <a:t>리드타임: 긴 편 (4-12주)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22960" y="3300984"/>
            <a:ext cx="109728" cy="1280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333333"/>
                </a:solidFill>
                <a:latin typeface="맑은 고딕"/>
              </a:defRPr>
            </a:pPr>
            <a:r>
              <a:t>•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60120" y="3300984"/>
            <a:ext cx="3886200" cy="1280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333333"/>
                </a:solidFill>
                <a:latin typeface="맑은 고딕"/>
              </a:defRPr>
            </a:pPr>
            <a:r>
              <a:t>시장 특성: 과점 또는 독점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2960" y="3429000"/>
            <a:ext cx="109728" cy="1280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333333"/>
                </a:solidFill>
                <a:latin typeface="맑은 고딕"/>
              </a:defRPr>
            </a:pPr>
            <a:r>
              <a:t>•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60120" y="3429000"/>
            <a:ext cx="3886200" cy="1280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333333"/>
                </a:solidFill>
                <a:latin typeface="맑은 고딕"/>
              </a:defRPr>
            </a:pPr>
            <a:r>
              <a:t>비중: 전체 자재의 5-10%</a:t>
            </a:r>
          </a:p>
        </p:txBody>
      </p:sp>
      <p:sp>
        <p:nvSpPr>
          <p:cNvPr id="22" name="Rectangle 21"/>
          <p:cNvSpPr/>
          <p:nvPr/>
        </p:nvSpPr>
        <p:spPr>
          <a:xfrm>
            <a:off x="731520" y="3630168"/>
            <a:ext cx="4206240" cy="256032"/>
          </a:xfrm>
          <a:prstGeom prst="rect">
            <a:avLst/>
          </a:prstGeom>
          <a:solidFill>
            <a:srgbClr val="666666"/>
          </a:solidFill>
          <a:ln w="1270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22960" y="3657600"/>
            <a:ext cx="4023359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  <a:latin typeface="맑은 고딕"/>
              </a:defRPr>
            </a:pPr>
            <a:r>
              <a:t>전략 (Strategy)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22960" y="3904488"/>
            <a:ext cx="109728" cy="1280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000000"/>
                </a:solidFill>
                <a:latin typeface="맑은 고딕"/>
              </a:defRPr>
            </a:pPr>
            <a:r>
              <a:t>•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60120" y="3904488"/>
            <a:ext cx="3886200" cy="1280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000000"/>
                </a:solidFill>
                <a:latin typeface="맑은 고딕"/>
              </a:defRPr>
            </a:pPr>
            <a:r>
              <a:t>공급 안정성 최우선 확보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22960" y="4032504"/>
            <a:ext cx="109728" cy="1280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000000"/>
                </a:solidFill>
                <a:latin typeface="맑은 고딕"/>
              </a:defRPr>
            </a:pPr>
            <a:r>
              <a:t>•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60120" y="4032504"/>
            <a:ext cx="3886200" cy="1280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000000"/>
                </a:solidFill>
                <a:latin typeface="맑은 고딕"/>
              </a:defRPr>
            </a:pPr>
            <a:r>
              <a:t>충분한 안전재고 유지 (8-12주)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22960" y="4160520"/>
            <a:ext cx="109728" cy="1280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000000"/>
                </a:solidFill>
                <a:latin typeface="맑은 고딕"/>
              </a:defRPr>
            </a:pPr>
            <a:r>
              <a:t>•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60120" y="4160520"/>
            <a:ext cx="3886200" cy="1280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000000"/>
                </a:solidFill>
                <a:latin typeface="맑은 고딕"/>
              </a:defRPr>
            </a:pPr>
            <a:r>
              <a:t>복수 공급원 개발 추진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22960" y="4288536"/>
            <a:ext cx="109728" cy="1280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000000"/>
                </a:solidFill>
                <a:latin typeface="맑은 고딕"/>
              </a:defRPr>
            </a:pPr>
            <a:r>
              <a:t>•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60120" y="4288536"/>
            <a:ext cx="3886200" cy="1280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000000"/>
                </a:solidFill>
                <a:latin typeface="맑은 고딕"/>
              </a:defRPr>
            </a:pPr>
            <a:r>
              <a:t>대체 자재 R&amp;D 투자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22960" y="4416551"/>
            <a:ext cx="109728" cy="1280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000000"/>
                </a:solidFill>
                <a:latin typeface="맑은 고딕"/>
              </a:defRPr>
            </a:pPr>
            <a:r>
              <a:t>•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60120" y="4416551"/>
            <a:ext cx="3886200" cy="1280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000000"/>
                </a:solidFill>
                <a:latin typeface="맑은 고딕"/>
              </a:defRPr>
            </a:pPr>
            <a:r>
              <a:t>장기 공급 계약 체결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22960" y="4544567"/>
            <a:ext cx="109728" cy="1280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000000"/>
                </a:solidFill>
                <a:latin typeface="맑은 고딕"/>
              </a:defRPr>
            </a:pPr>
            <a:r>
              <a:t>•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60120" y="4544567"/>
            <a:ext cx="3886200" cy="1280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000000"/>
                </a:solidFill>
                <a:latin typeface="맑은 고딕"/>
              </a:defRPr>
            </a:pPr>
            <a:r>
              <a:t>공급업체와 긴밀한 관계 유지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22960" y="4672583"/>
            <a:ext cx="109728" cy="1280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000000"/>
                </a:solidFill>
                <a:latin typeface="맑은 고딕"/>
              </a:defRPr>
            </a:pPr>
            <a:r>
              <a:t>•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60120" y="4672583"/>
            <a:ext cx="3886200" cy="1280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000000"/>
                </a:solidFill>
                <a:latin typeface="맑은 고딕"/>
              </a:defRPr>
            </a:pPr>
            <a:r>
              <a:t>수요 예측 정확도 향상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22960" y="4800599"/>
            <a:ext cx="109728" cy="1280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000000"/>
                </a:solidFill>
                <a:latin typeface="맑은 고딕"/>
              </a:defRPr>
            </a:pPr>
            <a:r>
              <a:t>•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960120" y="4800599"/>
            <a:ext cx="3886200" cy="1280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000000"/>
                </a:solidFill>
                <a:latin typeface="맑은 고딕"/>
              </a:defRPr>
            </a:pPr>
            <a:r>
              <a:t>비상 조달 계획 수립</a:t>
            </a:r>
          </a:p>
        </p:txBody>
      </p:sp>
      <p:sp>
        <p:nvSpPr>
          <p:cNvPr id="40" name="Rectangle 39"/>
          <p:cNvSpPr/>
          <p:nvPr/>
        </p:nvSpPr>
        <p:spPr>
          <a:xfrm>
            <a:off x="731520" y="5001767"/>
            <a:ext cx="4206240" cy="256032"/>
          </a:xfrm>
          <a:prstGeom prst="rect">
            <a:avLst/>
          </a:prstGeom>
          <a:solidFill>
            <a:srgbClr val="333333"/>
          </a:solidFill>
          <a:ln w="1270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822960" y="5029199"/>
            <a:ext cx="4023359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  <a:latin typeface="맑은 고딕"/>
              </a:defRPr>
            </a:pPr>
            <a:r>
              <a:t>계획 방법론: ROP (Re-Order Point)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22960" y="5276087"/>
            <a:ext cx="109728" cy="1280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333333"/>
                </a:solidFill>
                <a:latin typeface="맑은 고딕"/>
              </a:defRPr>
            </a:pPr>
            <a:r>
              <a:t>•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960120" y="5276087"/>
            <a:ext cx="3886200" cy="1280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333333"/>
                </a:solidFill>
                <a:latin typeface="맑은 고딕"/>
              </a:defRPr>
            </a:pPr>
            <a:r>
              <a:t>재주문점 방식 (ROP = 리드타임 수요 + 안전재고)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822960" y="5404103"/>
            <a:ext cx="109728" cy="1280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333333"/>
                </a:solidFill>
                <a:latin typeface="맑은 고딕"/>
              </a:defRPr>
            </a:pPr>
            <a:r>
              <a:t>•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960120" y="5404103"/>
            <a:ext cx="3886200" cy="1280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333333"/>
                </a:solidFill>
                <a:latin typeface="맑은 고딕"/>
              </a:defRPr>
            </a:pPr>
            <a:r>
              <a:t>안전재고율 높게 설정 (50-100%)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822960" y="5532119"/>
            <a:ext cx="109728" cy="1280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333333"/>
                </a:solidFill>
                <a:latin typeface="맑은 고딕"/>
              </a:defRPr>
            </a:pPr>
            <a:r>
              <a:t>•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960120" y="5532119"/>
            <a:ext cx="3886200" cy="1280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333333"/>
                </a:solidFill>
                <a:latin typeface="맑은 고딕"/>
              </a:defRPr>
            </a:pPr>
            <a:r>
              <a:t>Min-Max 재고 관리 병행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822960" y="5660135"/>
            <a:ext cx="109728" cy="1280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333333"/>
                </a:solidFill>
                <a:latin typeface="맑은 고딕"/>
              </a:defRPr>
            </a:pPr>
            <a:r>
              <a:t>•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960120" y="5660135"/>
            <a:ext cx="3886200" cy="1280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333333"/>
                </a:solidFill>
                <a:latin typeface="맑은 고딕"/>
              </a:defRPr>
            </a:pPr>
            <a:r>
              <a:t>재고 모니터링 일일 점검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822960" y="5788151"/>
            <a:ext cx="109728" cy="1280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333333"/>
                </a:solidFill>
                <a:latin typeface="맑은 고딕"/>
              </a:defRPr>
            </a:pPr>
            <a:r>
              <a:t>•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960120" y="5788151"/>
            <a:ext cx="3886200" cy="1280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333333"/>
                </a:solidFill>
                <a:latin typeface="맑은 고딕"/>
              </a:defRPr>
            </a:pPr>
            <a:r>
              <a:t>긴급 발주 프로세스 구축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822960" y="5916167"/>
            <a:ext cx="109728" cy="1280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333333"/>
                </a:solidFill>
                <a:latin typeface="맑은 고딕"/>
              </a:defRPr>
            </a:pPr>
            <a:r>
              <a:t>•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960120" y="5916167"/>
            <a:ext cx="3886200" cy="1280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333333"/>
                </a:solidFill>
                <a:latin typeface="맑은 고딕"/>
              </a:defRPr>
            </a:pPr>
            <a:r>
              <a:t>비상 재고 별도 확보</a:t>
            </a:r>
          </a:p>
        </p:txBody>
      </p:sp>
      <p:sp>
        <p:nvSpPr>
          <p:cNvPr id="54" name="Rectangle 53"/>
          <p:cNvSpPr/>
          <p:nvPr/>
        </p:nvSpPr>
        <p:spPr>
          <a:xfrm>
            <a:off x="5212080" y="2514600"/>
            <a:ext cx="4206240" cy="256032"/>
          </a:xfrm>
          <a:prstGeom prst="rect">
            <a:avLst/>
          </a:prstGeom>
          <a:solidFill>
            <a:srgbClr val="666666"/>
          </a:solidFill>
          <a:ln w="1270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5303520" y="2542032"/>
            <a:ext cx="4023359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  <a:latin typeface="맑은 고딕"/>
              </a:defRPr>
            </a:pPr>
            <a:r>
              <a:t>실제 사례 (Examples)</a:t>
            </a:r>
          </a:p>
        </p:txBody>
      </p:sp>
      <p:sp>
        <p:nvSpPr>
          <p:cNvPr id="56" name="Rectangle 55"/>
          <p:cNvSpPr/>
          <p:nvPr/>
        </p:nvSpPr>
        <p:spPr>
          <a:xfrm>
            <a:off x="5303520" y="2788920"/>
            <a:ext cx="4023359" cy="411480"/>
          </a:xfrm>
          <a:prstGeom prst="rect">
            <a:avLst/>
          </a:prstGeom>
          <a:solidFill>
            <a:srgbClr val="E6E6E6"/>
          </a:solidFill>
          <a:ln w="9525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5349240" y="2825496"/>
            <a:ext cx="3931920" cy="1280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00000"/>
                </a:solidFill>
                <a:latin typeface="맑은 고딕"/>
              </a:defRPr>
            </a:pPr>
            <a:r>
              <a:t>현대자동차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5349240" y="2980944"/>
            <a:ext cx="3931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333333"/>
                </a:solidFill>
                <a:latin typeface="맑은 고딕"/>
              </a:defRPr>
            </a:pPr>
            <a:r>
              <a:t>자재: 특수 반도체 칩 (독일 Bosch 독점)</a:t>
            </a:r>
          </a:p>
        </p:txBody>
      </p:sp>
      <p:sp>
        <p:nvSpPr>
          <p:cNvPr id="59" name="Rectangle 58"/>
          <p:cNvSpPr/>
          <p:nvPr/>
        </p:nvSpPr>
        <p:spPr>
          <a:xfrm>
            <a:off x="5303520" y="3246120"/>
            <a:ext cx="4023359" cy="411480"/>
          </a:xfrm>
          <a:prstGeom prst="rect">
            <a:avLst/>
          </a:prstGeom>
          <a:solidFill>
            <a:srgbClr val="E6E6E6"/>
          </a:solidFill>
          <a:ln w="9525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5349240" y="3282696"/>
            <a:ext cx="3931920" cy="1280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00000"/>
                </a:solidFill>
                <a:latin typeface="맑은 고딕"/>
              </a:defRPr>
            </a:pPr>
            <a:r>
              <a:t>삼성전자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5349240" y="3438144"/>
            <a:ext cx="3931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333333"/>
                </a:solidFill>
                <a:latin typeface="맑은 고딕"/>
              </a:defRPr>
            </a:pPr>
            <a:r>
              <a:t>자재: 희토류 원소 (중국 의존 95%)</a:t>
            </a:r>
          </a:p>
        </p:txBody>
      </p:sp>
      <p:sp>
        <p:nvSpPr>
          <p:cNvPr id="62" name="Rectangle 61"/>
          <p:cNvSpPr/>
          <p:nvPr/>
        </p:nvSpPr>
        <p:spPr>
          <a:xfrm>
            <a:off x="5303520" y="3703320"/>
            <a:ext cx="4023359" cy="411480"/>
          </a:xfrm>
          <a:prstGeom prst="rect">
            <a:avLst/>
          </a:prstGeom>
          <a:solidFill>
            <a:srgbClr val="E6E6E6"/>
          </a:solidFill>
          <a:ln w="9525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5349240" y="3739896"/>
            <a:ext cx="3931920" cy="1280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00000"/>
                </a:solidFill>
                <a:latin typeface="맑은 고딕"/>
              </a:defRPr>
            </a:pPr>
            <a:r>
              <a:t>LG화학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5349240" y="3895344"/>
            <a:ext cx="3931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333333"/>
                </a:solidFill>
                <a:latin typeface="맑은 고딕"/>
              </a:defRPr>
            </a:pPr>
            <a:r>
              <a:t>자재: 특수 촉매제 (일본 3개사 과점)</a:t>
            </a:r>
          </a:p>
        </p:txBody>
      </p:sp>
      <p:sp>
        <p:nvSpPr>
          <p:cNvPr id="65" name="Rectangle 64"/>
          <p:cNvSpPr/>
          <p:nvPr/>
        </p:nvSpPr>
        <p:spPr>
          <a:xfrm>
            <a:off x="5303520" y="4160520"/>
            <a:ext cx="4023359" cy="411480"/>
          </a:xfrm>
          <a:prstGeom prst="rect">
            <a:avLst/>
          </a:prstGeom>
          <a:solidFill>
            <a:srgbClr val="E6E6E6"/>
          </a:solidFill>
          <a:ln w="9525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5349240" y="4197096"/>
            <a:ext cx="3931920" cy="1280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00000"/>
                </a:solidFill>
                <a:latin typeface="맑은 고딕"/>
              </a:defRPr>
            </a:pPr>
            <a:r>
              <a:t>포스코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349240" y="4352544"/>
            <a:ext cx="3931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333333"/>
                </a:solidFill>
                <a:latin typeface="맑은 고딕"/>
              </a:defRPr>
            </a:pPr>
            <a:r>
              <a:t>자재: 특수 합금 원료 (호주 2개 광산)</a:t>
            </a:r>
          </a:p>
        </p:txBody>
      </p:sp>
      <p:sp>
        <p:nvSpPr>
          <p:cNvPr id="68" name="Rectangle 67"/>
          <p:cNvSpPr/>
          <p:nvPr/>
        </p:nvSpPr>
        <p:spPr>
          <a:xfrm>
            <a:off x="5303520" y="4617720"/>
            <a:ext cx="4023359" cy="411480"/>
          </a:xfrm>
          <a:prstGeom prst="rect">
            <a:avLst/>
          </a:prstGeom>
          <a:solidFill>
            <a:srgbClr val="E6E6E6"/>
          </a:solidFill>
          <a:ln w="9525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5349240" y="4654296"/>
            <a:ext cx="3931920" cy="1280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00000"/>
                </a:solidFill>
                <a:latin typeface="맑은 고딕"/>
              </a:defRPr>
            </a:pPr>
            <a:r>
              <a:t>두산중공업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5349240" y="4809744"/>
            <a:ext cx="3931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333333"/>
                </a:solidFill>
                <a:latin typeface="맑은 고딕"/>
              </a:defRPr>
            </a:pPr>
            <a:r>
              <a:t>자재: 항공 인증 부품 (미국 1개사)</a:t>
            </a:r>
          </a:p>
        </p:txBody>
      </p:sp>
      <p:sp>
        <p:nvSpPr>
          <p:cNvPr id="71" name="Rectangle 70"/>
          <p:cNvSpPr/>
          <p:nvPr/>
        </p:nvSpPr>
        <p:spPr>
          <a:xfrm>
            <a:off x="5212080" y="5148072"/>
            <a:ext cx="4206240" cy="256032"/>
          </a:xfrm>
          <a:prstGeom prst="rect">
            <a:avLst/>
          </a:prstGeom>
          <a:solidFill>
            <a:srgbClr val="333333"/>
          </a:solidFill>
          <a:ln w="1270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5303520" y="5175504"/>
            <a:ext cx="4023359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  <a:latin typeface="맑은 고딕"/>
              </a:defRPr>
            </a:pPr>
            <a:r>
              <a:t>KPI 목표 (Targets)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5303520" y="5422392"/>
            <a:ext cx="109728" cy="1280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333333"/>
                </a:solidFill>
                <a:latin typeface="맑은 고딕"/>
              </a:defRPr>
            </a:pPr>
            <a:r>
              <a:t>•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5440680" y="5422392"/>
            <a:ext cx="3886200" cy="1280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333333"/>
                </a:solidFill>
                <a:latin typeface="맑은 고딕"/>
              </a:defRPr>
            </a:pPr>
            <a:r>
              <a:t>재고 가용률 98% 이상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5303520" y="5550407"/>
            <a:ext cx="109728" cy="1280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333333"/>
                </a:solidFill>
                <a:latin typeface="맑은 고딕"/>
              </a:defRPr>
            </a:pPr>
            <a:r>
              <a:t>•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5440680" y="5550407"/>
            <a:ext cx="3886200" cy="1280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333333"/>
                </a:solidFill>
                <a:latin typeface="맑은 고딕"/>
              </a:defRPr>
            </a:pPr>
            <a:r>
              <a:t>결품률 0.5% 이하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5303520" y="5678423"/>
            <a:ext cx="109728" cy="1280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333333"/>
                </a:solidFill>
                <a:latin typeface="맑은 고딕"/>
              </a:defRPr>
            </a:pPr>
            <a:r>
              <a:t>•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5440680" y="5678423"/>
            <a:ext cx="3886200" cy="1280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333333"/>
                </a:solidFill>
                <a:latin typeface="맑은 고딕"/>
              </a:defRPr>
            </a:pPr>
            <a:r>
              <a:t>리드타임 준수율 95% 이상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5303520" y="5806439"/>
            <a:ext cx="109728" cy="1280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333333"/>
                </a:solidFill>
                <a:latin typeface="맑은 고딕"/>
              </a:defRPr>
            </a:pPr>
            <a:r>
              <a:t>•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5440680" y="5806439"/>
            <a:ext cx="3886200" cy="1280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333333"/>
                </a:solidFill>
                <a:latin typeface="맑은 고딕"/>
              </a:defRPr>
            </a:pPr>
            <a:r>
              <a:t>비상 재고 8주 이상 확보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5303520" y="5934455"/>
            <a:ext cx="109728" cy="1280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333333"/>
                </a:solidFill>
                <a:latin typeface="맑은 고딕"/>
              </a:defRPr>
            </a:pPr>
            <a:r>
              <a:t>•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5440680" y="5934455"/>
            <a:ext cx="3886200" cy="1280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333333"/>
                </a:solidFill>
                <a:latin typeface="맑은 고딕"/>
              </a:defRPr>
            </a:pPr>
            <a:r>
              <a:t>공급업체 관계 점수 4.0/5.0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5303520" y="6062471"/>
            <a:ext cx="109728" cy="1280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333333"/>
                </a:solidFill>
                <a:latin typeface="맑은 고딕"/>
              </a:defRPr>
            </a:pPr>
            <a:r>
              <a:t>•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5440680" y="6062471"/>
            <a:ext cx="3886200" cy="1280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333333"/>
                </a:solidFill>
                <a:latin typeface="맑은 고딕"/>
              </a:defRPr>
            </a:pPr>
            <a:r>
              <a:t>대체품 개발 진행률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274320" y="274320"/>
            <a:ext cx="9354312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000000"/>
                </a:solidFill>
                <a:latin typeface="맑은 고딕"/>
              </a:defRPr>
            </a:pPr>
            <a:r>
              <a:t>2.5 💰 레버리지자재 (Leverage)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0" y="6400800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666666"/>
                </a:solidFill>
                <a:latin typeface="Arial"/>
              </a:defRPr>
            </a:pPr>
            <a:r>
              <a:t>13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" y="923544"/>
            <a:ext cx="9436608" cy="5760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666666"/>
                </a:solidFill>
                <a:latin typeface="맑은 고딕"/>
              </a:defRPr>
            </a:pPr>
            <a:r>
              <a:t>레버리지자재는 공급 리스크가 낮고 구매 금액이 높아 경쟁입찰과 가격협상으로 원가 절감을 추구합니다.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1828800"/>
            <a:ext cx="8686800" cy="548640"/>
          </a:xfrm>
          <a:prstGeom prst="rect">
            <a:avLst/>
          </a:prstGeom>
          <a:solidFill>
            <a:srgbClr val="27AE60"/>
          </a:solidFill>
          <a:ln w="2540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901952"/>
            <a:ext cx="83210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FFFFFF"/>
                </a:solidFill>
                <a:latin typeface="맑은 고딕"/>
              </a:defRPr>
            </a:pPr>
            <a:r>
              <a:t>레버리지자재 (Leverage Materials)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2121408"/>
            <a:ext cx="83210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0">
                <a:solidFill>
                  <a:srgbClr val="FFFFFF"/>
                </a:solidFill>
                <a:latin typeface="맑은 고딕"/>
              </a:defRPr>
            </a:pPr>
            <a:r>
              <a:t>공급 리스크는 낮지만 구매 금액이 높은 자재 - 가격 협상과 원가 절감이 핵심</a:t>
            </a:r>
          </a:p>
        </p:txBody>
      </p:sp>
      <p:sp>
        <p:nvSpPr>
          <p:cNvPr id="8" name="Rectangle 7"/>
          <p:cNvSpPr/>
          <p:nvPr/>
        </p:nvSpPr>
        <p:spPr>
          <a:xfrm>
            <a:off x="731520" y="2514600"/>
            <a:ext cx="4206240" cy="256032"/>
          </a:xfrm>
          <a:prstGeom prst="rect">
            <a:avLst/>
          </a:prstGeom>
          <a:solidFill>
            <a:srgbClr val="333333"/>
          </a:solidFill>
          <a:ln w="1270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2542032"/>
            <a:ext cx="4023359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  <a:latin typeface="맑은 고딕"/>
              </a:defRPr>
            </a:pPr>
            <a:r>
              <a:t>특성 (Characteristics)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2788920"/>
            <a:ext cx="109728" cy="1280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333333"/>
                </a:solidFill>
                <a:latin typeface="맑은 고딕"/>
              </a:defRPr>
            </a:pPr>
            <a:r>
              <a:t>•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60120" y="2788920"/>
            <a:ext cx="3886200" cy="1280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333333"/>
                </a:solidFill>
                <a:latin typeface="맑은 고딕"/>
              </a:defRPr>
            </a:pPr>
            <a:r>
              <a:t>공급 리스크: 낮음 (공급원 10개+)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2960" y="2916936"/>
            <a:ext cx="109728" cy="1280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333333"/>
                </a:solidFill>
                <a:latin typeface="맑은 고딕"/>
              </a:defRPr>
            </a:pPr>
            <a:r>
              <a:t>•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60120" y="2916936"/>
            <a:ext cx="3886200" cy="1280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333333"/>
                </a:solidFill>
                <a:latin typeface="맑은 고딕"/>
              </a:defRPr>
            </a:pPr>
            <a:r>
              <a:t>구매 금액: 높음 (매출 5-10%)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2960" y="3044952"/>
            <a:ext cx="109728" cy="1280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333333"/>
                </a:solidFill>
                <a:latin typeface="맑은 고딕"/>
              </a:defRPr>
            </a:pPr>
            <a:r>
              <a:t>•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60120" y="3044952"/>
            <a:ext cx="3886200" cy="1280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333333"/>
                </a:solidFill>
                <a:latin typeface="맑은 고딕"/>
              </a:defRPr>
            </a:pPr>
            <a:r>
              <a:t>대체 가능성: 용이 (표준화)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2960" y="3172968"/>
            <a:ext cx="109728" cy="1280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333333"/>
                </a:solidFill>
                <a:latin typeface="맑은 고딕"/>
              </a:defRPr>
            </a:pPr>
            <a:r>
              <a:t>•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60120" y="3172968"/>
            <a:ext cx="3886200" cy="1280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333333"/>
                </a:solidFill>
                <a:latin typeface="맑은 고딕"/>
              </a:defRPr>
            </a:pPr>
            <a:r>
              <a:t>리드타임: 짧은 편 (1-4주)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22960" y="3300984"/>
            <a:ext cx="109728" cy="1280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333333"/>
                </a:solidFill>
                <a:latin typeface="맑은 고딕"/>
              </a:defRPr>
            </a:pPr>
            <a:r>
              <a:t>•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60120" y="3300984"/>
            <a:ext cx="3886200" cy="1280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333333"/>
                </a:solidFill>
                <a:latin typeface="맑은 고딕"/>
              </a:defRPr>
            </a:pPr>
            <a:r>
              <a:t>시장 특성: 완전 경쟁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2960" y="3429000"/>
            <a:ext cx="109728" cy="1280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333333"/>
                </a:solidFill>
                <a:latin typeface="맑은 고딕"/>
              </a:defRPr>
            </a:pPr>
            <a:r>
              <a:t>•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60120" y="3429000"/>
            <a:ext cx="3886200" cy="1280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333333"/>
                </a:solidFill>
                <a:latin typeface="맑은 고딕"/>
              </a:defRPr>
            </a:pPr>
            <a:r>
              <a:t>비중: 전체 자재의 50-60%</a:t>
            </a:r>
          </a:p>
        </p:txBody>
      </p:sp>
      <p:sp>
        <p:nvSpPr>
          <p:cNvPr id="22" name="Rectangle 21"/>
          <p:cNvSpPr/>
          <p:nvPr/>
        </p:nvSpPr>
        <p:spPr>
          <a:xfrm>
            <a:off x="731520" y="3630168"/>
            <a:ext cx="4206240" cy="256032"/>
          </a:xfrm>
          <a:prstGeom prst="rect">
            <a:avLst/>
          </a:prstGeom>
          <a:solidFill>
            <a:srgbClr val="666666"/>
          </a:solidFill>
          <a:ln w="1270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22960" y="3657600"/>
            <a:ext cx="4023359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  <a:latin typeface="맑은 고딕"/>
              </a:defRPr>
            </a:pPr>
            <a:r>
              <a:t>전략 (Strategy)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22960" y="3904488"/>
            <a:ext cx="109728" cy="1280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000000"/>
                </a:solidFill>
                <a:latin typeface="맑은 고딕"/>
              </a:defRPr>
            </a:pPr>
            <a:r>
              <a:t>•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60120" y="3904488"/>
            <a:ext cx="3886200" cy="1280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000000"/>
                </a:solidFill>
                <a:latin typeface="맑은 고딕"/>
              </a:defRPr>
            </a:pPr>
            <a:r>
              <a:t>경쟁 입찰 적극 활용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22960" y="4032504"/>
            <a:ext cx="109728" cy="1280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000000"/>
                </a:solidFill>
                <a:latin typeface="맑은 고딕"/>
              </a:defRPr>
            </a:pPr>
            <a:r>
              <a:t>•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60120" y="4032504"/>
            <a:ext cx="3886200" cy="1280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000000"/>
                </a:solidFill>
                <a:latin typeface="맑은 고딕"/>
              </a:defRPr>
            </a:pPr>
            <a:r>
              <a:t>가격 협상력 극대화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22960" y="4160520"/>
            <a:ext cx="109728" cy="1280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000000"/>
                </a:solidFill>
                <a:latin typeface="맑은 고딕"/>
              </a:defRPr>
            </a:pPr>
            <a:r>
              <a:t>•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60120" y="4160520"/>
            <a:ext cx="3886200" cy="1280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000000"/>
                </a:solidFill>
                <a:latin typeface="맑은 고딕"/>
              </a:defRPr>
            </a:pPr>
            <a:r>
              <a:t>물량 레버리지 활용 (Volume Discount)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22960" y="4288536"/>
            <a:ext cx="109728" cy="1280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000000"/>
                </a:solidFill>
                <a:latin typeface="맑은 고딕"/>
              </a:defRPr>
            </a:pPr>
            <a:r>
              <a:t>•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60120" y="4288536"/>
            <a:ext cx="3886200" cy="1280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000000"/>
                </a:solidFill>
                <a:latin typeface="맑은 고딕"/>
              </a:defRPr>
            </a:pPr>
            <a:r>
              <a:t>단기 계약 체결 (시장 가격 반영)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22960" y="4416551"/>
            <a:ext cx="109728" cy="1280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000000"/>
                </a:solidFill>
                <a:latin typeface="맑은 고딕"/>
              </a:defRPr>
            </a:pPr>
            <a:r>
              <a:t>•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60120" y="4416551"/>
            <a:ext cx="3886200" cy="1280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000000"/>
                </a:solidFill>
                <a:latin typeface="맑은 고딕"/>
              </a:defRPr>
            </a:pPr>
            <a:r>
              <a:t>공급업체 다변화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22960" y="4544567"/>
            <a:ext cx="109728" cy="1280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000000"/>
                </a:solidFill>
                <a:latin typeface="맑은 고딕"/>
              </a:defRPr>
            </a:pPr>
            <a:r>
              <a:t>•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60120" y="4544567"/>
            <a:ext cx="3886200" cy="1280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000000"/>
                </a:solidFill>
                <a:latin typeface="맑은 고딕"/>
              </a:defRPr>
            </a:pPr>
            <a:r>
              <a:t>글로벌 소싱 추진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22960" y="4672583"/>
            <a:ext cx="109728" cy="1280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000000"/>
                </a:solidFill>
                <a:latin typeface="맑은 고딕"/>
              </a:defRPr>
            </a:pPr>
            <a:r>
              <a:t>•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60120" y="4672583"/>
            <a:ext cx="3886200" cy="1280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000000"/>
                </a:solidFill>
                <a:latin typeface="맑은 고딕"/>
              </a:defRPr>
            </a:pPr>
            <a:r>
              <a:t>e-Auction 활용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22960" y="4800599"/>
            <a:ext cx="109728" cy="1280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000000"/>
                </a:solidFill>
                <a:latin typeface="맑은 고딕"/>
              </a:defRPr>
            </a:pPr>
            <a:r>
              <a:t>•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960120" y="4800599"/>
            <a:ext cx="3886200" cy="1280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000000"/>
                </a:solidFill>
                <a:latin typeface="맑은 고딕"/>
              </a:defRPr>
            </a:pPr>
            <a:r>
              <a:t>원가 절감 목표 설정 (연 5%+)</a:t>
            </a:r>
          </a:p>
        </p:txBody>
      </p:sp>
      <p:sp>
        <p:nvSpPr>
          <p:cNvPr id="40" name="Rectangle 39"/>
          <p:cNvSpPr/>
          <p:nvPr/>
        </p:nvSpPr>
        <p:spPr>
          <a:xfrm>
            <a:off x="731520" y="5001767"/>
            <a:ext cx="4206240" cy="256032"/>
          </a:xfrm>
          <a:prstGeom prst="rect">
            <a:avLst/>
          </a:prstGeom>
          <a:solidFill>
            <a:srgbClr val="333333"/>
          </a:solidFill>
          <a:ln w="1270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822960" y="5029199"/>
            <a:ext cx="4023359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  <a:latin typeface="맑은 고딕"/>
              </a:defRPr>
            </a:pPr>
            <a:r>
              <a:t>계획 방법론: MRP (Material Requirements Planning)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22960" y="5276087"/>
            <a:ext cx="109728" cy="1280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333333"/>
                </a:solidFill>
                <a:latin typeface="맑은 고딕"/>
              </a:defRPr>
            </a:pPr>
            <a:r>
              <a:t>•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960120" y="5276087"/>
            <a:ext cx="3886200" cy="1280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333333"/>
                </a:solidFill>
                <a:latin typeface="맑은 고딕"/>
              </a:defRPr>
            </a:pPr>
            <a:r>
              <a:t>수요 기반 발주 (MRP 연동)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822960" y="5404103"/>
            <a:ext cx="109728" cy="1280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333333"/>
                </a:solidFill>
                <a:latin typeface="맑은 고딕"/>
              </a:defRPr>
            </a:pPr>
            <a:r>
              <a:t>•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960120" y="5404103"/>
            <a:ext cx="3886200" cy="1280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333333"/>
                </a:solidFill>
                <a:latin typeface="맑은 고딕"/>
              </a:defRPr>
            </a:pPr>
            <a:r>
              <a:t>최소 안전재고 유지 (1-2주)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822960" y="5532119"/>
            <a:ext cx="109728" cy="1280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333333"/>
                </a:solidFill>
                <a:latin typeface="맑은 고딕"/>
              </a:defRPr>
            </a:pPr>
            <a:r>
              <a:t>•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960120" y="5532119"/>
            <a:ext cx="3886200" cy="1280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333333"/>
                </a:solidFill>
                <a:latin typeface="맑은 고딕"/>
              </a:defRPr>
            </a:pPr>
            <a:r>
              <a:t>JIT 방식 적용 가능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822960" y="5660135"/>
            <a:ext cx="109728" cy="1280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333333"/>
                </a:solidFill>
                <a:latin typeface="맑은 고딕"/>
              </a:defRPr>
            </a:pPr>
            <a:r>
              <a:t>•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960120" y="5660135"/>
            <a:ext cx="3886200" cy="1280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333333"/>
                </a:solidFill>
                <a:latin typeface="맑은 고딕"/>
              </a:defRPr>
            </a:pPr>
            <a:r>
              <a:t>생산 계획 연동 발주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822960" y="5788151"/>
            <a:ext cx="109728" cy="1280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333333"/>
                </a:solidFill>
                <a:latin typeface="맑은 고딕"/>
              </a:defRPr>
            </a:pPr>
            <a:r>
              <a:t>•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960120" y="5788151"/>
            <a:ext cx="3886200" cy="1280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333333"/>
                </a:solidFill>
                <a:latin typeface="맑은 고딕"/>
              </a:defRPr>
            </a:pPr>
            <a:r>
              <a:t>재고 회전율 극대화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822960" y="5916167"/>
            <a:ext cx="109728" cy="1280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333333"/>
                </a:solidFill>
                <a:latin typeface="맑은 고딕"/>
              </a:defRPr>
            </a:pPr>
            <a:r>
              <a:t>•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960120" y="5916167"/>
            <a:ext cx="3886200" cy="1280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333333"/>
                </a:solidFill>
                <a:latin typeface="맑은 고딕"/>
              </a:defRPr>
            </a:pPr>
            <a:r>
              <a:t>원가 절감 우선</a:t>
            </a:r>
          </a:p>
        </p:txBody>
      </p:sp>
      <p:sp>
        <p:nvSpPr>
          <p:cNvPr id="54" name="Rectangle 53"/>
          <p:cNvSpPr/>
          <p:nvPr/>
        </p:nvSpPr>
        <p:spPr>
          <a:xfrm>
            <a:off x="5212080" y="2514600"/>
            <a:ext cx="4206240" cy="256032"/>
          </a:xfrm>
          <a:prstGeom prst="rect">
            <a:avLst/>
          </a:prstGeom>
          <a:solidFill>
            <a:srgbClr val="666666"/>
          </a:solidFill>
          <a:ln w="1270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5303520" y="2542032"/>
            <a:ext cx="4023359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  <a:latin typeface="맑은 고딕"/>
              </a:defRPr>
            </a:pPr>
            <a:r>
              <a:t>실제 사례 (Examples)</a:t>
            </a:r>
          </a:p>
        </p:txBody>
      </p:sp>
      <p:sp>
        <p:nvSpPr>
          <p:cNvPr id="56" name="Rectangle 55"/>
          <p:cNvSpPr/>
          <p:nvPr/>
        </p:nvSpPr>
        <p:spPr>
          <a:xfrm>
            <a:off x="5303520" y="2788920"/>
            <a:ext cx="4023359" cy="411480"/>
          </a:xfrm>
          <a:prstGeom prst="rect">
            <a:avLst/>
          </a:prstGeom>
          <a:solidFill>
            <a:srgbClr val="E6E6E6"/>
          </a:solidFill>
          <a:ln w="9525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5349240" y="2825496"/>
            <a:ext cx="3931920" cy="1280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00000"/>
                </a:solidFill>
                <a:latin typeface="맑은 고딕"/>
              </a:defRPr>
            </a:pPr>
            <a:r>
              <a:t>현대자동차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5349240" y="2980944"/>
            <a:ext cx="3931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333333"/>
                </a:solidFill>
                <a:latin typeface="맑은 고딕"/>
              </a:defRPr>
            </a:pPr>
            <a:r>
              <a:t>자재: 철강 원자재 (POSCO 등 다수)</a:t>
            </a:r>
          </a:p>
        </p:txBody>
      </p:sp>
      <p:sp>
        <p:nvSpPr>
          <p:cNvPr id="59" name="Rectangle 58"/>
          <p:cNvSpPr/>
          <p:nvPr/>
        </p:nvSpPr>
        <p:spPr>
          <a:xfrm>
            <a:off x="5303520" y="3246120"/>
            <a:ext cx="4023359" cy="411480"/>
          </a:xfrm>
          <a:prstGeom prst="rect">
            <a:avLst/>
          </a:prstGeom>
          <a:solidFill>
            <a:srgbClr val="E6E6E6"/>
          </a:solidFill>
          <a:ln w="9525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5349240" y="3282696"/>
            <a:ext cx="3931920" cy="1280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00000"/>
                </a:solidFill>
                <a:latin typeface="맑은 고딕"/>
              </a:defRPr>
            </a:pPr>
            <a:r>
              <a:t>삼성전자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5349240" y="3438144"/>
            <a:ext cx="3931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333333"/>
                </a:solidFill>
                <a:latin typeface="맑은 고딕"/>
              </a:defRPr>
            </a:pPr>
            <a:r>
              <a:t>자재: 표준 PCB (국내외 20개사)</a:t>
            </a:r>
          </a:p>
        </p:txBody>
      </p:sp>
      <p:sp>
        <p:nvSpPr>
          <p:cNvPr id="62" name="Rectangle 61"/>
          <p:cNvSpPr/>
          <p:nvPr/>
        </p:nvSpPr>
        <p:spPr>
          <a:xfrm>
            <a:off x="5303520" y="3703320"/>
            <a:ext cx="4023359" cy="411480"/>
          </a:xfrm>
          <a:prstGeom prst="rect">
            <a:avLst/>
          </a:prstGeom>
          <a:solidFill>
            <a:srgbClr val="E6E6E6"/>
          </a:solidFill>
          <a:ln w="9525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5349240" y="3739896"/>
            <a:ext cx="3931920" cy="1280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00000"/>
                </a:solidFill>
                <a:latin typeface="맑은 고딕"/>
              </a:defRPr>
            </a:pPr>
            <a:r>
              <a:t>LG생활건강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5349240" y="3895344"/>
            <a:ext cx="3931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333333"/>
                </a:solidFill>
                <a:latin typeface="맑은 고딕"/>
              </a:defRPr>
            </a:pPr>
            <a:r>
              <a:t>자재: 화장품 용기 (플라스틱)</a:t>
            </a:r>
          </a:p>
        </p:txBody>
      </p:sp>
      <p:sp>
        <p:nvSpPr>
          <p:cNvPr id="65" name="Rectangle 64"/>
          <p:cNvSpPr/>
          <p:nvPr/>
        </p:nvSpPr>
        <p:spPr>
          <a:xfrm>
            <a:off x="5303520" y="4160520"/>
            <a:ext cx="4023359" cy="411480"/>
          </a:xfrm>
          <a:prstGeom prst="rect">
            <a:avLst/>
          </a:prstGeom>
          <a:solidFill>
            <a:srgbClr val="E6E6E6"/>
          </a:solidFill>
          <a:ln w="9525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5349240" y="4197096"/>
            <a:ext cx="3931920" cy="1280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00000"/>
                </a:solidFill>
                <a:latin typeface="맑은 고딕"/>
              </a:defRPr>
            </a:pPr>
            <a:r>
              <a:t>SK하이닉스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349240" y="4352544"/>
            <a:ext cx="3931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333333"/>
                </a:solidFill>
                <a:latin typeface="맑은 고딕"/>
              </a:defRPr>
            </a:pPr>
            <a:r>
              <a:t>자재: 표준 화학약품 (글로벌 소싱)</a:t>
            </a:r>
          </a:p>
        </p:txBody>
      </p:sp>
      <p:sp>
        <p:nvSpPr>
          <p:cNvPr id="68" name="Rectangle 67"/>
          <p:cNvSpPr/>
          <p:nvPr/>
        </p:nvSpPr>
        <p:spPr>
          <a:xfrm>
            <a:off x="5303520" y="4617720"/>
            <a:ext cx="4023359" cy="411480"/>
          </a:xfrm>
          <a:prstGeom prst="rect">
            <a:avLst/>
          </a:prstGeom>
          <a:solidFill>
            <a:srgbClr val="E6E6E6"/>
          </a:solidFill>
          <a:ln w="9525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5349240" y="4654296"/>
            <a:ext cx="3931920" cy="1280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00000"/>
                </a:solidFill>
                <a:latin typeface="맑은 고딕"/>
              </a:defRPr>
            </a:pPr>
            <a:r>
              <a:t>롯데케미칼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5349240" y="4809744"/>
            <a:ext cx="3931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333333"/>
                </a:solidFill>
                <a:latin typeface="맑은 고딕"/>
              </a:defRPr>
            </a:pPr>
            <a:r>
              <a:t>자재: 원유 (글로벌 시장 거래)</a:t>
            </a:r>
          </a:p>
        </p:txBody>
      </p:sp>
      <p:sp>
        <p:nvSpPr>
          <p:cNvPr id="71" name="Rectangle 70"/>
          <p:cNvSpPr/>
          <p:nvPr/>
        </p:nvSpPr>
        <p:spPr>
          <a:xfrm>
            <a:off x="5212080" y="5148072"/>
            <a:ext cx="4206240" cy="256032"/>
          </a:xfrm>
          <a:prstGeom prst="rect">
            <a:avLst/>
          </a:prstGeom>
          <a:solidFill>
            <a:srgbClr val="333333"/>
          </a:solidFill>
          <a:ln w="1270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5303520" y="5175504"/>
            <a:ext cx="4023359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  <a:latin typeface="맑은 고딕"/>
              </a:defRPr>
            </a:pPr>
            <a:r>
              <a:t>KPI 목표 (Targets)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5303520" y="5422392"/>
            <a:ext cx="109728" cy="1280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333333"/>
                </a:solidFill>
                <a:latin typeface="맑은 고딕"/>
              </a:defRPr>
            </a:pPr>
            <a:r>
              <a:t>•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5440680" y="5422392"/>
            <a:ext cx="3886200" cy="1280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333333"/>
                </a:solidFill>
                <a:latin typeface="맑은 고딕"/>
              </a:defRPr>
            </a:pPr>
            <a:r>
              <a:t>원가 절감률 5% 이상/년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5303520" y="5550407"/>
            <a:ext cx="109728" cy="1280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333333"/>
                </a:solidFill>
                <a:latin typeface="맑은 고딕"/>
              </a:defRPr>
            </a:pPr>
            <a:r>
              <a:t>•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5440680" y="5550407"/>
            <a:ext cx="3886200" cy="1280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333333"/>
                </a:solidFill>
                <a:latin typeface="맑은 고딕"/>
              </a:defRPr>
            </a:pPr>
            <a:r>
              <a:t>재고 회전율 12회 이상/년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5303520" y="5678423"/>
            <a:ext cx="109728" cy="1280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333333"/>
                </a:solidFill>
                <a:latin typeface="맑은 고딕"/>
              </a:defRPr>
            </a:pPr>
            <a:r>
              <a:t>•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5440680" y="5678423"/>
            <a:ext cx="3886200" cy="1280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333333"/>
                </a:solidFill>
                <a:latin typeface="맑은 고딕"/>
              </a:defRPr>
            </a:pPr>
            <a:r>
              <a:t>가격 경쟁력 시장 상위 10%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5303520" y="5806439"/>
            <a:ext cx="109728" cy="1280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333333"/>
                </a:solidFill>
                <a:latin typeface="맑은 고딕"/>
              </a:defRPr>
            </a:pPr>
            <a:r>
              <a:t>•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5440680" y="5806439"/>
            <a:ext cx="3886200" cy="1280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333333"/>
                </a:solidFill>
                <a:latin typeface="맑은 고딕"/>
              </a:defRPr>
            </a:pPr>
            <a:r>
              <a:t>조달 효율 90% 이상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5303520" y="5934455"/>
            <a:ext cx="109728" cy="1280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333333"/>
                </a:solidFill>
                <a:latin typeface="맑은 고딕"/>
              </a:defRPr>
            </a:pPr>
            <a:r>
              <a:t>•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5440680" y="5934455"/>
            <a:ext cx="3886200" cy="1280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333333"/>
                </a:solidFill>
                <a:latin typeface="맑은 고딕"/>
              </a:defRPr>
            </a:pPr>
            <a:r>
              <a:t>공급업체 수 10개 이상 유지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5303520" y="6062471"/>
            <a:ext cx="109728" cy="1280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333333"/>
                </a:solidFill>
                <a:latin typeface="맑은 고딕"/>
              </a:defRPr>
            </a:pPr>
            <a:r>
              <a:t>•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5440680" y="6062471"/>
            <a:ext cx="3886200" cy="1280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333333"/>
                </a:solidFill>
                <a:latin typeface="맑은 고딕"/>
              </a:defRPr>
            </a:pPr>
            <a:r>
              <a:t>e-Auction 활용률 80% 이상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274320" y="274320"/>
            <a:ext cx="9354312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000000"/>
                </a:solidFill>
                <a:latin typeface="맑은 고딕"/>
              </a:defRPr>
            </a:pPr>
            <a:r>
              <a:t>2.6 💎 전략자재 (Strategic)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0" y="6400800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666666"/>
                </a:solidFill>
                <a:latin typeface="Arial"/>
              </a:defRPr>
            </a:pPr>
            <a:r>
              <a:t>14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" y="923544"/>
            <a:ext cx="9436608" cy="5760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666666"/>
                </a:solidFill>
                <a:latin typeface="맑은 고딕"/>
              </a:defRPr>
            </a:pPr>
            <a:r>
              <a:t>전략자재는 공급 리스크와 구매 금액이 모두 높아 장기 파트너십과 리스크 관리가 핵심입니다.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1828800"/>
            <a:ext cx="8686800" cy="548640"/>
          </a:xfrm>
          <a:prstGeom prst="rect">
            <a:avLst/>
          </a:prstGeom>
          <a:solidFill>
            <a:srgbClr val="8E44AD"/>
          </a:solidFill>
          <a:ln w="2540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901952"/>
            <a:ext cx="83210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FFFFFF"/>
                </a:solidFill>
                <a:latin typeface="맑은 고딕"/>
              </a:defRPr>
            </a:pPr>
            <a:r>
              <a:t>전략자재 (Strategic Materials)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2121408"/>
            <a:ext cx="83210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0">
                <a:solidFill>
                  <a:srgbClr val="FFFFFF"/>
                </a:solidFill>
                <a:latin typeface="맑은 고딕"/>
              </a:defRPr>
            </a:pPr>
            <a:r>
              <a:t>공급 리스크와 구매 금액이 모두 높은 자재 - 장기 파트너십과 리스크 관리가 핵심</a:t>
            </a:r>
          </a:p>
        </p:txBody>
      </p:sp>
      <p:sp>
        <p:nvSpPr>
          <p:cNvPr id="8" name="Rectangle 7"/>
          <p:cNvSpPr/>
          <p:nvPr/>
        </p:nvSpPr>
        <p:spPr>
          <a:xfrm>
            <a:off x="731520" y="2514600"/>
            <a:ext cx="4206240" cy="256032"/>
          </a:xfrm>
          <a:prstGeom prst="rect">
            <a:avLst/>
          </a:prstGeom>
          <a:solidFill>
            <a:srgbClr val="333333"/>
          </a:solidFill>
          <a:ln w="1270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2542032"/>
            <a:ext cx="4023359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  <a:latin typeface="맑은 고딕"/>
              </a:defRPr>
            </a:pPr>
            <a:r>
              <a:t>특성 (Characteristics)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2788920"/>
            <a:ext cx="109728" cy="1280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333333"/>
                </a:solidFill>
                <a:latin typeface="맑은 고딕"/>
              </a:defRPr>
            </a:pPr>
            <a:r>
              <a:t>•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60120" y="2788920"/>
            <a:ext cx="3886200" cy="1280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333333"/>
                </a:solidFill>
                <a:latin typeface="맑은 고딕"/>
              </a:defRPr>
            </a:pPr>
            <a:r>
              <a:t>공급 리스크: 매우 높음 (공급원 1-3개)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2960" y="2916936"/>
            <a:ext cx="109728" cy="1280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333333"/>
                </a:solidFill>
                <a:latin typeface="맑은 고딕"/>
              </a:defRPr>
            </a:pPr>
            <a:r>
              <a:t>•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60120" y="2916936"/>
            <a:ext cx="3886200" cy="1280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333333"/>
                </a:solidFill>
                <a:latin typeface="맑은 고딕"/>
              </a:defRPr>
            </a:pPr>
            <a:r>
              <a:t>구매 금액: 매우 높음 (매출 10% 이상)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2960" y="3044952"/>
            <a:ext cx="109728" cy="1280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333333"/>
                </a:solidFill>
                <a:latin typeface="맑은 고딕"/>
              </a:defRPr>
            </a:pPr>
            <a:r>
              <a:t>•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60120" y="3044952"/>
            <a:ext cx="3886200" cy="1280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333333"/>
                </a:solidFill>
                <a:latin typeface="맑은 고딕"/>
              </a:defRPr>
            </a:pPr>
            <a:r>
              <a:t>대체 가능성: 매우 어려움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2960" y="3172968"/>
            <a:ext cx="109728" cy="1280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333333"/>
                </a:solidFill>
                <a:latin typeface="맑은 고딕"/>
              </a:defRPr>
            </a:pPr>
            <a:r>
              <a:t>•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60120" y="3172968"/>
            <a:ext cx="3886200" cy="1280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333333"/>
                </a:solidFill>
                <a:latin typeface="맑은 고딕"/>
              </a:defRPr>
            </a:pPr>
            <a:r>
              <a:t>리드타임: 매우 긴 편 (8-24주)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22960" y="3300984"/>
            <a:ext cx="109728" cy="1280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333333"/>
                </a:solidFill>
                <a:latin typeface="맑은 고딕"/>
              </a:defRPr>
            </a:pPr>
            <a:r>
              <a:t>•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60120" y="3300984"/>
            <a:ext cx="3886200" cy="1280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333333"/>
                </a:solidFill>
                <a:latin typeface="맑은 고딕"/>
              </a:defRPr>
            </a:pPr>
            <a:r>
              <a:t>시장 특성: 과점, 기술 집약적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2960" y="3429000"/>
            <a:ext cx="109728" cy="1280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333333"/>
                </a:solidFill>
                <a:latin typeface="맑은 고딕"/>
              </a:defRPr>
            </a:pPr>
            <a:r>
              <a:t>•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60120" y="3429000"/>
            <a:ext cx="3886200" cy="1280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333333"/>
                </a:solidFill>
                <a:latin typeface="맑은 고딕"/>
              </a:defRPr>
            </a:pPr>
            <a:r>
              <a:t>비중: 전체 자재의 15-20%</a:t>
            </a:r>
          </a:p>
        </p:txBody>
      </p:sp>
      <p:sp>
        <p:nvSpPr>
          <p:cNvPr id="22" name="Rectangle 21"/>
          <p:cNvSpPr/>
          <p:nvPr/>
        </p:nvSpPr>
        <p:spPr>
          <a:xfrm>
            <a:off x="731520" y="3630168"/>
            <a:ext cx="4206240" cy="256032"/>
          </a:xfrm>
          <a:prstGeom prst="rect">
            <a:avLst/>
          </a:prstGeom>
          <a:solidFill>
            <a:srgbClr val="666666"/>
          </a:solidFill>
          <a:ln w="1270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22960" y="3657600"/>
            <a:ext cx="4023359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  <a:latin typeface="맑은 고딕"/>
              </a:defRPr>
            </a:pPr>
            <a:r>
              <a:t>전략 (Strategy)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22960" y="3904488"/>
            <a:ext cx="109728" cy="1280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000000"/>
                </a:solidFill>
                <a:latin typeface="맑은 고딕"/>
              </a:defRPr>
            </a:pPr>
            <a:r>
              <a:t>•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60120" y="3904488"/>
            <a:ext cx="3886200" cy="1280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000000"/>
                </a:solidFill>
                <a:latin typeface="맑은 고딕"/>
              </a:defRPr>
            </a:pPr>
            <a:r>
              <a:t>장기 전략적 파트너십 구축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22960" y="4032504"/>
            <a:ext cx="109728" cy="1280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000000"/>
                </a:solidFill>
                <a:latin typeface="맑은 고딕"/>
              </a:defRPr>
            </a:pPr>
            <a:r>
              <a:t>•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60120" y="4032504"/>
            <a:ext cx="3886200" cy="1280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000000"/>
                </a:solidFill>
                <a:latin typeface="맑은 고딕"/>
              </a:defRPr>
            </a:pPr>
            <a:r>
              <a:t>협력적 관계 강화 (Win-Win)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22960" y="4160520"/>
            <a:ext cx="109728" cy="1280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000000"/>
                </a:solidFill>
                <a:latin typeface="맑은 고딕"/>
              </a:defRPr>
            </a:pPr>
            <a:r>
              <a:t>•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60120" y="4160520"/>
            <a:ext cx="3886200" cy="1280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000000"/>
                </a:solidFill>
                <a:latin typeface="맑은 고딕"/>
              </a:defRPr>
            </a:pPr>
            <a:r>
              <a:t>공동 기술 개발 및 R&amp;D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22960" y="4288536"/>
            <a:ext cx="109728" cy="1280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000000"/>
                </a:solidFill>
                <a:latin typeface="맑은 고딕"/>
              </a:defRPr>
            </a:pPr>
            <a:r>
              <a:t>•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60120" y="4288536"/>
            <a:ext cx="3886200" cy="1280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000000"/>
                </a:solidFill>
                <a:latin typeface="맑은 고딕"/>
              </a:defRPr>
            </a:pPr>
            <a:r>
              <a:t>리스크 공유 계약 (Take-or-Pay)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22960" y="4416551"/>
            <a:ext cx="109728" cy="1280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000000"/>
                </a:solidFill>
                <a:latin typeface="맑은 고딕"/>
              </a:defRPr>
            </a:pPr>
            <a:r>
              <a:t>•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60120" y="4416551"/>
            <a:ext cx="3886200" cy="1280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000000"/>
                </a:solidFill>
                <a:latin typeface="맑은 고딕"/>
              </a:defRPr>
            </a:pPr>
            <a:r>
              <a:t>수직 통합 검토 (M&amp;A)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22960" y="4544567"/>
            <a:ext cx="109728" cy="1280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000000"/>
                </a:solidFill>
                <a:latin typeface="맑은 고딕"/>
              </a:defRPr>
            </a:pPr>
            <a:r>
              <a:t>•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60120" y="4544567"/>
            <a:ext cx="3886200" cy="1280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000000"/>
                </a:solidFill>
                <a:latin typeface="맑은 고딕"/>
              </a:defRPr>
            </a:pPr>
            <a:r>
              <a:t>복수 지역 소싱 전략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22960" y="4672583"/>
            <a:ext cx="109728" cy="1280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000000"/>
                </a:solidFill>
                <a:latin typeface="맑은 고딕"/>
              </a:defRPr>
            </a:pPr>
            <a:r>
              <a:t>•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60120" y="4672583"/>
            <a:ext cx="3886200" cy="1280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000000"/>
                </a:solidFill>
                <a:latin typeface="맑은 고딕"/>
              </a:defRPr>
            </a:pPr>
            <a:r>
              <a:t>공급망 가시성 확보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22960" y="4800599"/>
            <a:ext cx="109728" cy="1280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000000"/>
                </a:solidFill>
                <a:latin typeface="맑은 고딕"/>
              </a:defRPr>
            </a:pPr>
            <a:r>
              <a:t>•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960120" y="4800599"/>
            <a:ext cx="3886200" cy="1280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000000"/>
                </a:solidFill>
                <a:latin typeface="맑은 고딕"/>
              </a:defRPr>
            </a:pPr>
            <a:r>
              <a:t>정기적 리스크 평가</a:t>
            </a:r>
          </a:p>
        </p:txBody>
      </p:sp>
      <p:sp>
        <p:nvSpPr>
          <p:cNvPr id="40" name="Rectangle 39"/>
          <p:cNvSpPr/>
          <p:nvPr/>
        </p:nvSpPr>
        <p:spPr>
          <a:xfrm>
            <a:off x="731520" y="5001767"/>
            <a:ext cx="4206240" cy="256032"/>
          </a:xfrm>
          <a:prstGeom prst="rect">
            <a:avLst/>
          </a:prstGeom>
          <a:solidFill>
            <a:srgbClr val="333333"/>
          </a:solidFill>
          <a:ln w="1270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822960" y="5029199"/>
            <a:ext cx="4023359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  <a:latin typeface="맑은 고딕"/>
              </a:defRPr>
            </a:pPr>
            <a:r>
              <a:t>계획 방법론: 하이브리드 (LTP + MRP)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22960" y="5276087"/>
            <a:ext cx="109728" cy="1280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333333"/>
                </a:solidFill>
                <a:latin typeface="맑은 고딕"/>
              </a:defRPr>
            </a:pPr>
            <a:r>
              <a:t>•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960120" y="5276087"/>
            <a:ext cx="3886200" cy="1280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333333"/>
                </a:solidFill>
                <a:latin typeface="맑은 고딕"/>
              </a:defRPr>
            </a:pPr>
            <a:r>
              <a:t>예측 기반 장기 계획 (LTP: 12-24개월)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822960" y="5404103"/>
            <a:ext cx="109728" cy="1280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333333"/>
                </a:solidFill>
                <a:latin typeface="맑은 고딕"/>
              </a:defRPr>
            </a:pPr>
            <a:r>
              <a:t>•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960120" y="5404103"/>
            <a:ext cx="3886200" cy="1280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333333"/>
                </a:solidFill>
                <a:latin typeface="맑은 고딕"/>
              </a:defRPr>
            </a:pPr>
            <a:r>
              <a:t>수요 기반 단기 조정 (MRP: 월간)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822960" y="5532119"/>
            <a:ext cx="109728" cy="1280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333333"/>
                </a:solidFill>
                <a:latin typeface="맑은 고딕"/>
              </a:defRPr>
            </a:pPr>
            <a:r>
              <a:t>•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960120" y="5532119"/>
            <a:ext cx="3886200" cy="1280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333333"/>
                </a:solidFill>
                <a:latin typeface="맑은 고딕"/>
              </a:defRPr>
            </a:pPr>
            <a:r>
              <a:t>전략적 안전재고 확보 (4-8주)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822960" y="5660135"/>
            <a:ext cx="109728" cy="1280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333333"/>
                </a:solidFill>
                <a:latin typeface="맑은 고딕"/>
              </a:defRPr>
            </a:pPr>
            <a:r>
              <a:t>•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960120" y="5660135"/>
            <a:ext cx="3886200" cy="1280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333333"/>
                </a:solidFill>
                <a:latin typeface="맑은 고딕"/>
              </a:defRPr>
            </a:pPr>
            <a:r>
              <a:t>공급업체와 계획 공유 (VMI)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822960" y="5788151"/>
            <a:ext cx="109728" cy="1280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333333"/>
                </a:solidFill>
                <a:latin typeface="맑은 고딕"/>
              </a:defRPr>
            </a:pPr>
            <a:r>
              <a:t>•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960120" y="5788151"/>
            <a:ext cx="3886200" cy="1280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333333"/>
                </a:solidFill>
                <a:latin typeface="맑은 고딕"/>
              </a:defRPr>
            </a:pPr>
            <a:r>
              <a:t>시나리오 플래닝 수행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822960" y="5916167"/>
            <a:ext cx="109728" cy="1280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333333"/>
                </a:solidFill>
                <a:latin typeface="맑은 고딕"/>
              </a:defRPr>
            </a:pPr>
            <a:r>
              <a:t>•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960120" y="5916167"/>
            <a:ext cx="3886200" cy="1280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333333"/>
                </a:solidFill>
                <a:latin typeface="맑은 고딕"/>
              </a:defRPr>
            </a:pPr>
            <a:r>
              <a:t>리스크 헤지 전략 수립</a:t>
            </a:r>
          </a:p>
        </p:txBody>
      </p:sp>
      <p:sp>
        <p:nvSpPr>
          <p:cNvPr id="54" name="Rectangle 53"/>
          <p:cNvSpPr/>
          <p:nvPr/>
        </p:nvSpPr>
        <p:spPr>
          <a:xfrm>
            <a:off x="5212080" y="2514600"/>
            <a:ext cx="4206240" cy="256032"/>
          </a:xfrm>
          <a:prstGeom prst="rect">
            <a:avLst/>
          </a:prstGeom>
          <a:solidFill>
            <a:srgbClr val="666666"/>
          </a:solidFill>
          <a:ln w="1270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5303520" y="2542032"/>
            <a:ext cx="4023359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  <a:latin typeface="맑은 고딕"/>
              </a:defRPr>
            </a:pPr>
            <a:r>
              <a:t>실제 사례 (Examples)</a:t>
            </a:r>
          </a:p>
        </p:txBody>
      </p:sp>
      <p:sp>
        <p:nvSpPr>
          <p:cNvPr id="56" name="Rectangle 55"/>
          <p:cNvSpPr/>
          <p:nvPr/>
        </p:nvSpPr>
        <p:spPr>
          <a:xfrm>
            <a:off x="5303520" y="2788920"/>
            <a:ext cx="4023359" cy="411480"/>
          </a:xfrm>
          <a:prstGeom prst="rect">
            <a:avLst/>
          </a:prstGeom>
          <a:solidFill>
            <a:srgbClr val="E6E6E6"/>
          </a:solidFill>
          <a:ln w="9525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5349240" y="2825496"/>
            <a:ext cx="3931920" cy="1280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00000"/>
                </a:solidFill>
                <a:latin typeface="맑은 고딕"/>
              </a:defRPr>
            </a:pPr>
            <a:r>
              <a:t>삼성전자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5349240" y="2980944"/>
            <a:ext cx="3931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333333"/>
                </a:solidFill>
                <a:latin typeface="맑은 고딕"/>
              </a:defRPr>
            </a:pPr>
            <a:r>
              <a:t>자재: 최첨단 반도체 장비 (ASML 독점)</a:t>
            </a:r>
          </a:p>
        </p:txBody>
      </p:sp>
      <p:sp>
        <p:nvSpPr>
          <p:cNvPr id="59" name="Rectangle 58"/>
          <p:cNvSpPr/>
          <p:nvPr/>
        </p:nvSpPr>
        <p:spPr>
          <a:xfrm>
            <a:off x="5303520" y="3246120"/>
            <a:ext cx="4023359" cy="411480"/>
          </a:xfrm>
          <a:prstGeom prst="rect">
            <a:avLst/>
          </a:prstGeom>
          <a:solidFill>
            <a:srgbClr val="E6E6E6"/>
          </a:solidFill>
          <a:ln w="9525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5349240" y="3282696"/>
            <a:ext cx="3931920" cy="1280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00000"/>
                </a:solidFill>
                <a:latin typeface="맑은 고딕"/>
              </a:defRPr>
            </a:pPr>
            <a:r>
              <a:t>현대자동차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5349240" y="3438144"/>
            <a:ext cx="3931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333333"/>
                </a:solidFill>
                <a:latin typeface="맑은 고딕"/>
              </a:defRPr>
            </a:pPr>
            <a:r>
              <a:t>자재: 차세대 배터리 (LG·CATL)</a:t>
            </a:r>
          </a:p>
        </p:txBody>
      </p:sp>
      <p:sp>
        <p:nvSpPr>
          <p:cNvPr id="62" name="Rectangle 61"/>
          <p:cNvSpPr/>
          <p:nvPr/>
        </p:nvSpPr>
        <p:spPr>
          <a:xfrm>
            <a:off x="5303520" y="3703320"/>
            <a:ext cx="4023359" cy="411480"/>
          </a:xfrm>
          <a:prstGeom prst="rect">
            <a:avLst/>
          </a:prstGeom>
          <a:solidFill>
            <a:srgbClr val="E6E6E6"/>
          </a:solidFill>
          <a:ln w="9525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5349240" y="3739896"/>
            <a:ext cx="3931920" cy="1280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00000"/>
                </a:solidFill>
                <a:latin typeface="맑은 고딕"/>
              </a:defRPr>
            </a:pPr>
            <a:r>
              <a:t>SK하이닉스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5349240" y="3895344"/>
            <a:ext cx="3931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333333"/>
                </a:solidFill>
                <a:latin typeface="맑은 고딕"/>
              </a:defRPr>
            </a:pPr>
            <a:r>
              <a:t>자재: EUV 포토레지스트 (일본 2개사)</a:t>
            </a:r>
          </a:p>
        </p:txBody>
      </p:sp>
      <p:sp>
        <p:nvSpPr>
          <p:cNvPr id="65" name="Rectangle 64"/>
          <p:cNvSpPr/>
          <p:nvPr/>
        </p:nvSpPr>
        <p:spPr>
          <a:xfrm>
            <a:off x="5303520" y="4160520"/>
            <a:ext cx="4023359" cy="411480"/>
          </a:xfrm>
          <a:prstGeom prst="rect">
            <a:avLst/>
          </a:prstGeom>
          <a:solidFill>
            <a:srgbClr val="E6E6E6"/>
          </a:solidFill>
          <a:ln w="9525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5349240" y="4197096"/>
            <a:ext cx="3931920" cy="1280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00000"/>
                </a:solidFill>
                <a:latin typeface="맑은 고딕"/>
              </a:defRPr>
            </a:pPr>
            <a:r>
              <a:t>두산밥캣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349240" y="4352544"/>
            <a:ext cx="3931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333333"/>
                </a:solidFill>
                <a:latin typeface="맑은 고딕"/>
              </a:defRPr>
            </a:pPr>
            <a:r>
              <a:t>자재: 특수 엔진 (Perkins 독점)</a:t>
            </a:r>
          </a:p>
        </p:txBody>
      </p:sp>
      <p:sp>
        <p:nvSpPr>
          <p:cNvPr id="68" name="Rectangle 67"/>
          <p:cNvSpPr/>
          <p:nvPr/>
        </p:nvSpPr>
        <p:spPr>
          <a:xfrm>
            <a:off x="5303520" y="4617720"/>
            <a:ext cx="4023359" cy="411480"/>
          </a:xfrm>
          <a:prstGeom prst="rect">
            <a:avLst/>
          </a:prstGeom>
          <a:solidFill>
            <a:srgbClr val="E6E6E6"/>
          </a:solidFill>
          <a:ln w="9525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5349240" y="4654296"/>
            <a:ext cx="3931920" cy="1280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00000"/>
                </a:solidFill>
                <a:latin typeface="맑은 고딕"/>
              </a:defRPr>
            </a:pPr>
            <a:r>
              <a:t>한화에어로스페이스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5349240" y="4809744"/>
            <a:ext cx="3931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333333"/>
                </a:solidFill>
                <a:latin typeface="맑은 고딕"/>
              </a:defRPr>
            </a:pPr>
            <a:r>
              <a:t>자재: 항공 엔진 부품 (GE/RR)</a:t>
            </a:r>
          </a:p>
        </p:txBody>
      </p:sp>
      <p:sp>
        <p:nvSpPr>
          <p:cNvPr id="71" name="Rectangle 70"/>
          <p:cNvSpPr/>
          <p:nvPr/>
        </p:nvSpPr>
        <p:spPr>
          <a:xfrm>
            <a:off x="5212080" y="5148072"/>
            <a:ext cx="4206240" cy="256032"/>
          </a:xfrm>
          <a:prstGeom prst="rect">
            <a:avLst/>
          </a:prstGeom>
          <a:solidFill>
            <a:srgbClr val="333333"/>
          </a:solidFill>
          <a:ln w="1270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5303520" y="5175504"/>
            <a:ext cx="4023359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  <a:latin typeface="맑은 고딕"/>
              </a:defRPr>
            </a:pPr>
            <a:r>
              <a:t>KPI 목표 (Targets)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5303520" y="5422392"/>
            <a:ext cx="109728" cy="1280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333333"/>
                </a:solidFill>
                <a:latin typeface="맑은 고딕"/>
              </a:defRPr>
            </a:pPr>
            <a:r>
              <a:t>•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5440680" y="5422392"/>
            <a:ext cx="3886200" cy="1280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333333"/>
                </a:solidFill>
                <a:latin typeface="맑은 고딕"/>
              </a:defRPr>
            </a:pPr>
            <a:r>
              <a:t>공급 안정성 95% 이상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5303520" y="5550407"/>
            <a:ext cx="109728" cy="1280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333333"/>
                </a:solidFill>
                <a:latin typeface="맑은 고딕"/>
              </a:defRPr>
            </a:pPr>
            <a:r>
              <a:t>•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5440680" y="5550407"/>
            <a:ext cx="3886200" cy="1280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333333"/>
                </a:solidFill>
                <a:latin typeface="맑은 고딕"/>
              </a:defRPr>
            </a:pPr>
            <a:r>
              <a:t>품질 불량률 0.1% 이하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5303520" y="5678423"/>
            <a:ext cx="109728" cy="1280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333333"/>
                </a:solidFill>
                <a:latin typeface="맑은 고딕"/>
              </a:defRPr>
            </a:pPr>
            <a:r>
              <a:t>•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5440680" y="5678423"/>
            <a:ext cx="3886200" cy="1280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333333"/>
                </a:solidFill>
                <a:latin typeface="맑은 고딕"/>
              </a:defRPr>
            </a:pPr>
            <a:r>
              <a:t>납기 준수율 98% 이상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5303520" y="5806439"/>
            <a:ext cx="109728" cy="1280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333333"/>
                </a:solidFill>
                <a:latin typeface="맑은 고딕"/>
              </a:defRPr>
            </a:pPr>
            <a:r>
              <a:t>•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5440680" y="5806439"/>
            <a:ext cx="3886200" cy="1280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333333"/>
                </a:solidFill>
                <a:latin typeface="맑은 고딕"/>
              </a:defRPr>
            </a:pPr>
            <a:r>
              <a:t>협력 지수 4.5/5.0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5303520" y="5934455"/>
            <a:ext cx="109728" cy="1280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333333"/>
                </a:solidFill>
                <a:latin typeface="맑은 고딕"/>
              </a:defRPr>
            </a:pPr>
            <a:r>
              <a:t>•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5440680" y="5934455"/>
            <a:ext cx="3886200" cy="1280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333333"/>
                </a:solidFill>
                <a:latin typeface="맑은 고딕"/>
              </a:defRPr>
            </a:pPr>
            <a:r>
              <a:t>혁신 프로젝트 2건/년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5303520" y="6062471"/>
            <a:ext cx="109728" cy="1280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333333"/>
                </a:solidFill>
                <a:latin typeface="맑은 고딕"/>
              </a:defRPr>
            </a:pPr>
            <a:r>
              <a:t>•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5440680" y="6062471"/>
            <a:ext cx="3886200" cy="1280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333333"/>
                </a:solidFill>
                <a:latin typeface="맑은 고딕"/>
              </a:defRPr>
            </a:pPr>
            <a:r>
              <a:t>리스크 시나리오 대응율 100%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274320" y="274320"/>
            <a:ext cx="9354312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000000"/>
                </a:solidFill>
                <a:latin typeface="맑은 고딕"/>
              </a:defRPr>
            </a:pPr>
            <a:r>
              <a:t>2.7 📦 일상자재 (Routine)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0" y="6400800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666666"/>
                </a:solidFill>
                <a:latin typeface="Arial"/>
              </a:defRPr>
            </a:pPr>
            <a:r>
              <a:t>15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" y="923544"/>
            <a:ext cx="9436608" cy="5760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666666"/>
                </a:solidFill>
                <a:latin typeface="맑은 고딕"/>
              </a:defRPr>
            </a:pPr>
            <a:r>
              <a:t>일상자재는 공급 리스크와 구매 금액이 모두 낮아 프로세스 효율화와 자동화로 관리합니다.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1828800"/>
            <a:ext cx="8686800" cy="548640"/>
          </a:xfrm>
          <a:prstGeom prst="rect">
            <a:avLst/>
          </a:prstGeom>
          <a:solidFill>
            <a:srgbClr val="95A5A6"/>
          </a:solidFill>
          <a:ln w="2540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901952"/>
            <a:ext cx="83210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FFFFFF"/>
                </a:solidFill>
                <a:latin typeface="맑은 고딕"/>
              </a:defRPr>
            </a:pPr>
            <a:r>
              <a:t>일상자재 (Routine Materials)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2121408"/>
            <a:ext cx="83210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0">
                <a:solidFill>
                  <a:srgbClr val="FFFFFF"/>
                </a:solidFill>
                <a:latin typeface="맑은 고딕"/>
              </a:defRPr>
            </a:pPr>
            <a:r>
              <a:t>공급 리스크와 구매 금액이 모두 낮은 자재 - 프로세스 효율화와 자동화가 핵심</a:t>
            </a:r>
          </a:p>
        </p:txBody>
      </p:sp>
      <p:sp>
        <p:nvSpPr>
          <p:cNvPr id="8" name="Rectangle 7"/>
          <p:cNvSpPr/>
          <p:nvPr/>
        </p:nvSpPr>
        <p:spPr>
          <a:xfrm>
            <a:off x="731520" y="2514600"/>
            <a:ext cx="4206240" cy="256032"/>
          </a:xfrm>
          <a:prstGeom prst="rect">
            <a:avLst/>
          </a:prstGeom>
          <a:solidFill>
            <a:srgbClr val="333333"/>
          </a:solidFill>
          <a:ln w="1270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2542032"/>
            <a:ext cx="4023359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  <a:latin typeface="맑은 고딕"/>
              </a:defRPr>
            </a:pPr>
            <a:r>
              <a:t>특성 (Characteristics)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2788920"/>
            <a:ext cx="109728" cy="1280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333333"/>
                </a:solidFill>
                <a:latin typeface="맑은 고딕"/>
              </a:defRPr>
            </a:pPr>
            <a:r>
              <a:t>•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60120" y="2788920"/>
            <a:ext cx="3886200" cy="1280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333333"/>
                </a:solidFill>
                <a:latin typeface="맑은 고딕"/>
              </a:defRPr>
            </a:pPr>
            <a:r>
              <a:t>공급 리스크: 매우 낮음 (공급원 20개+)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2960" y="2916936"/>
            <a:ext cx="109728" cy="1280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333333"/>
                </a:solidFill>
                <a:latin typeface="맑은 고딕"/>
              </a:defRPr>
            </a:pPr>
            <a:r>
              <a:t>•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60120" y="2916936"/>
            <a:ext cx="3886200" cy="1280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333333"/>
                </a:solidFill>
                <a:latin typeface="맑은 고딕"/>
              </a:defRPr>
            </a:pPr>
            <a:r>
              <a:t>구매 금액: 매우 낮음 (매출 1% 미만)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2960" y="3044952"/>
            <a:ext cx="109728" cy="1280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333333"/>
                </a:solidFill>
                <a:latin typeface="맑은 고딕"/>
              </a:defRPr>
            </a:pPr>
            <a:r>
              <a:t>•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60120" y="3044952"/>
            <a:ext cx="3886200" cy="1280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333333"/>
                </a:solidFill>
                <a:latin typeface="맑은 고딕"/>
              </a:defRPr>
            </a:pPr>
            <a:r>
              <a:t>대체 가능성: 매우 용이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2960" y="3172968"/>
            <a:ext cx="109728" cy="1280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333333"/>
                </a:solidFill>
                <a:latin typeface="맑은 고딕"/>
              </a:defRPr>
            </a:pPr>
            <a:r>
              <a:t>•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60120" y="3172968"/>
            <a:ext cx="3886200" cy="1280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333333"/>
                </a:solidFill>
                <a:latin typeface="맑은 고딕"/>
              </a:defRPr>
            </a:pPr>
            <a:r>
              <a:t>리드타임: 매우 짧음 (1-2주)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22960" y="3300984"/>
            <a:ext cx="109728" cy="1280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333333"/>
                </a:solidFill>
                <a:latin typeface="맑은 고딕"/>
              </a:defRPr>
            </a:pPr>
            <a:r>
              <a:t>•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60120" y="3300984"/>
            <a:ext cx="3886200" cy="1280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333333"/>
                </a:solidFill>
                <a:latin typeface="맑은 고딕"/>
              </a:defRPr>
            </a:pPr>
            <a:r>
              <a:t>시장 특성: 완전 경쟁, 상품화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2960" y="3429000"/>
            <a:ext cx="109728" cy="1280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333333"/>
                </a:solidFill>
                <a:latin typeface="맑은 고딕"/>
              </a:defRPr>
            </a:pPr>
            <a:r>
              <a:t>•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60120" y="3429000"/>
            <a:ext cx="3886200" cy="1280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333333"/>
                </a:solidFill>
                <a:latin typeface="맑은 고딕"/>
              </a:defRPr>
            </a:pPr>
            <a:r>
              <a:t>비중: 전체 자재의 20-25%</a:t>
            </a:r>
          </a:p>
        </p:txBody>
      </p:sp>
      <p:sp>
        <p:nvSpPr>
          <p:cNvPr id="22" name="Rectangle 21"/>
          <p:cNvSpPr/>
          <p:nvPr/>
        </p:nvSpPr>
        <p:spPr>
          <a:xfrm>
            <a:off x="731520" y="3630168"/>
            <a:ext cx="4206240" cy="256032"/>
          </a:xfrm>
          <a:prstGeom prst="rect">
            <a:avLst/>
          </a:prstGeom>
          <a:solidFill>
            <a:srgbClr val="666666"/>
          </a:solidFill>
          <a:ln w="1270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22960" y="3657600"/>
            <a:ext cx="4023359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  <a:latin typeface="맑은 고딕"/>
              </a:defRPr>
            </a:pPr>
            <a:r>
              <a:t>전략 (Strategy)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22960" y="3904488"/>
            <a:ext cx="109728" cy="1280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000000"/>
                </a:solidFill>
                <a:latin typeface="맑은 고딕"/>
              </a:defRPr>
            </a:pPr>
            <a:r>
              <a:t>•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60120" y="3904488"/>
            <a:ext cx="3886200" cy="1280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000000"/>
                </a:solidFill>
                <a:latin typeface="맑은 고딕"/>
              </a:defRPr>
            </a:pPr>
            <a:r>
              <a:t>프로세스 효율화 최우선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22960" y="4032504"/>
            <a:ext cx="109728" cy="1280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000000"/>
                </a:solidFill>
                <a:latin typeface="맑은 고딕"/>
              </a:defRPr>
            </a:pPr>
            <a:r>
              <a:t>•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60120" y="4032504"/>
            <a:ext cx="3886200" cy="1280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000000"/>
                </a:solidFill>
                <a:latin typeface="맑은 고딕"/>
              </a:defRPr>
            </a:pPr>
            <a:r>
              <a:t>자동 발주 시스템 구축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22960" y="4160520"/>
            <a:ext cx="109728" cy="1280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000000"/>
                </a:solidFill>
                <a:latin typeface="맑은 고딕"/>
              </a:defRPr>
            </a:pPr>
            <a:r>
              <a:t>•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60120" y="4160520"/>
            <a:ext cx="3886200" cy="1280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000000"/>
                </a:solidFill>
                <a:latin typeface="맑은 고딕"/>
              </a:defRPr>
            </a:pPr>
            <a:r>
              <a:t>통합 구매 (카탈로그/e-Mall)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22960" y="4288536"/>
            <a:ext cx="109728" cy="1280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000000"/>
                </a:solidFill>
                <a:latin typeface="맑은 고딕"/>
              </a:defRPr>
            </a:pPr>
            <a:r>
              <a:t>•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60120" y="4288536"/>
            <a:ext cx="3886200" cy="1280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000000"/>
                </a:solidFill>
                <a:latin typeface="맑은 고딕"/>
              </a:defRPr>
            </a:pPr>
            <a:r>
              <a:t>관리 비용 최소화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22960" y="4416551"/>
            <a:ext cx="109728" cy="1280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000000"/>
                </a:solidFill>
                <a:latin typeface="맑은 고딕"/>
              </a:defRPr>
            </a:pPr>
            <a:r>
              <a:t>•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60120" y="4416551"/>
            <a:ext cx="3886200" cy="1280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000000"/>
                </a:solidFill>
                <a:latin typeface="맑은 고딕"/>
              </a:defRPr>
            </a:pPr>
            <a:r>
              <a:t>셀프 서비스 구매 (P-Card)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22960" y="4544567"/>
            <a:ext cx="109728" cy="1280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000000"/>
                </a:solidFill>
                <a:latin typeface="맑은 고딕"/>
              </a:defRPr>
            </a:pPr>
            <a:r>
              <a:t>•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60120" y="4544567"/>
            <a:ext cx="3886200" cy="1280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000000"/>
                </a:solidFill>
                <a:latin typeface="맑은 고딕"/>
              </a:defRPr>
            </a:pPr>
            <a:r>
              <a:t>공급업체 통합 (소수화)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22960" y="4672583"/>
            <a:ext cx="109728" cy="1280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000000"/>
                </a:solidFill>
                <a:latin typeface="맑은 고딕"/>
              </a:defRPr>
            </a:pPr>
            <a:r>
              <a:t>•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60120" y="4672583"/>
            <a:ext cx="3886200" cy="1280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000000"/>
                </a:solidFill>
                <a:latin typeface="맑은 고딕"/>
              </a:defRPr>
            </a:pPr>
            <a:r>
              <a:t>표준화 및 집약화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22960" y="4800599"/>
            <a:ext cx="109728" cy="1280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000000"/>
                </a:solidFill>
                <a:latin typeface="맑은 고딕"/>
              </a:defRPr>
            </a:pPr>
            <a:r>
              <a:t>•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960120" y="4800599"/>
            <a:ext cx="3886200" cy="1280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000000"/>
                </a:solidFill>
                <a:latin typeface="맑은 고딕"/>
              </a:defRPr>
            </a:pPr>
            <a:r>
              <a:t>사용자 만족도 중심</a:t>
            </a:r>
          </a:p>
        </p:txBody>
      </p:sp>
      <p:sp>
        <p:nvSpPr>
          <p:cNvPr id="40" name="Rectangle 39"/>
          <p:cNvSpPr/>
          <p:nvPr/>
        </p:nvSpPr>
        <p:spPr>
          <a:xfrm>
            <a:off x="731520" y="5001767"/>
            <a:ext cx="4206240" cy="256032"/>
          </a:xfrm>
          <a:prstGeom prst="rect">
            <a:avLst/>
          </a:prstGeom>
          <a:solidFill>
            <a:srgbClr val="333333"/>
          </a:solidFill>
          <a:ln w="1270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822960" y="5029199"/>
            <a:ext cx="4023359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  <a:latin typeface="맑은 고딕"/>
              </a:defRPr>
            </a:pPr>
            <a:r>
              <a:t>계획 방법론: Min-Max 자동화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22960" y="5276087"/>
            <a:ext cx="109728" cy="1280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333333"/>
                </a:solidFill>
                <a:latin typeface="맑은 고딕"/>
              </a:defRPr>
            </a:pPr>
            <a:r>
              <a:t>•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960120" y="5276087"/>
            <a:ext cx="3886200" cy="1280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333333"/>
                </a:solidFill>
                <a:latin typeface="맑은 고딕"/>
              </a:defRPr>
            </a:pPr>
            <a:r>
              <a:t>Min-Max 자동 발주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822960" y="5404103"/>
            <a:ext cx="109728" cy="1280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333333"/>
                </a:solidFill>
                <a:latin typeface="맑은 고딕"/>
              </a:defRPr>
            </a:pPr>
            <a:r>
              <a:t>•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960120" y="5404103"/>
            <a:ext cx="3886200" cy="1280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333333"/>
                </a:solidFill>
                <a:latin typeface="맑은 고딕"/>
              </a:defRPr>
            </a:pPr>
            <a:r>
              <a:t>VMI (Vendor Managed Inventory)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822960" y="5532119"/>
            <a:ext cx="109728" cy="1280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333333"/>
                </a:solidFill>
                <a:latin typeface="맑은 고딕"/>
              </a:defRPr>
            </a:pPr>
            <a:r>
              <a:t>•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960120" y="5532119"/>
            <a:ext cx="3886200" cy="1280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333333"/>
                </a:solidFill>
                <a:latin typeface="맑은 고딕"/>
              </a:defRPr>
            </a:pPr>
            <a:r>
              <a:t>e-Procurement 시스템 활용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822960" y="5660135"/>
            <a:ext cx="109728" cy="1280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333333"/>
                </a:solidFill>
                <a:latin typeface="맑은 고딕"/>
              </a:defRPr>
            </a:pPr>
            <a:r>
              <a:t>•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960120" y="5660135"/>
            <a:ext cx="3886200" cy="1280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333333"/>
                </a:solidFill>
                <a:latin typeface="맑은 고딕"/>
              </a:defRPr>
            </a:pPr>
            <a:r>
              <a:t>재고 모니터링 자동화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822960" y="5788151"/>
            <a:ext cx="109728" cy="1280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333333"/>
                </a:solidFill>
                <a:latin typeface="맑은 고딕"/>
              </a:defRPr>
            </a:pPr>
            <a:r>
              <a:t>•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960120" y="5788151"/>
            <a:ext cx="3886200" cy="1280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333333"/>
                </a:solidFill>
                <a:latin typeface="맑은 고딕"/>
              </a:defRPr>
            </a:pPr>
            <a:r>
              <a:t>예외 관리만 수동 처리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822960" y="5916167"/>
            <a:ext cx="109728" cy="1280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333333"/>
                </a:solidFill>
                <a:latin typeface="맑은 고딕"/>
              </a:defRPr>
            </a:pPr>
            <a:r>
              <a:t>•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960120" y="5916167"/>
            <a:ext cx="3886200" cy="1280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333333"/>
                </a:solidFill>
                <a:latin typeface="맑은 고딕"/>
              </a:defRPr>
            </a:pPr>
            <a:r>
              <a:t>최소 안전재고 (1주 미만)</a:t>
            </a:r>
          </a:p>
        </p:txBody>
      </p:sp>
      <p:sp>
        <p:nvSpPr>
          <p:cNvPr id="54" name="Rectangle 53"/>
          <p:cNvSpPr/>
          <p:nvPr/>
        </p:nvSpPr>
        <p:spPr>
          <a:xfrm>
            <a:off x="5212080" y="2514600"/>
            <a:ext cx="4206240" cy="256032"/>
          </a:xfrm>
          <a:prstGeom prst="rect">
            <a:avLst/>
          </a:prstGeom>
          <a:solidFill>
            <a:srgbClr val="666666"/>
          </a:solidFill>
          <a:ln w="1270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5303520" y="2542032"/>
            <a:ext cx="4023359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  <a:latin typeface="맑은 고딕"/>
              </a:defRPr>
            </a:pPr>
            <a:r>
              <a:t>실제 사례 (Examples)</a:t>
            </a:r>
          </a:p>
        </p:txBody>
      </p:sp>
      <p:sp>
        <p:nvSpPr>
          <p:cNvPr id="56" name="Rectangle 55"/>
          <p:cNvSpPr/>
          <p:nvPr/>
        </p:nvSpPr>
        <p:spPr>
          <a:xfrm>
            <a:off x="5303520" y="2788920"/>
            <a:ext cx="4023359" cy="411480"/>
          </a:xfrm>
          <a:prstGeom prst="rect">
            <a:avLst/>
          </a:prstGeom>
          <a:solidFill>
            <a:srgbClr val="E6E6E6"/>
          </a:solidFill>
          <a:ln w="9525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5349240" y="2825496"/>
            <a:ext cx="3931920" cy="1280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00000"/>
                </a:solidFill>
                <a:latin typeface="맑은 고딕"/>
              </a:defRPr>
            </a:pPr>
            <a:r>
              <a:t>삼성전자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5349240" y="2980944"/>
            <a:ext cx="3931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333333"/>
                </a:solidFill>
                <a:latin typeface="맑은 고딕"/>
              </a:defRPr>
            </a:pPr>
            <a:r>
              <a:t>자재: 사무용품 (펜, 종이 등)</a:t>
            </a:r>
          </a:p>
        </p:txBody>
      </p:sp>
      <p:sp>
        <p:nvSpPr>
          <p:cNvPr id="59" name="Rectangle 58"/>
          <p:cNvSpPr/>
          <p:nvPr/>
        </p:nvSpPr>
        <p:spPr>
          <a:xfrm>
            <a:off x="5303520" y="3246120"/>
            <a:ext cx="4023359" cy="411480"/>
          </a:xfrm>
          <a:prstGeom prst="rect">
            <a:avLst/>
          </a:prstGeom>
          <a:solidFill>
            <a:srgbClr val="E6E6E6"/>
          </a:solidFill>
          <a:ln w="9525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5349240" y="3282696"/>
            <a:ext cx="3931920" cy="1280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00000"/>
                </a:solidFill>
                <a:latin typeface="맑은 고딕"/>
              </a:defRPr>
            </a:pPr>
            <a:r>
              <a:t>현대자동차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5349240" y="3438144"/>
            <a:ext cx="3931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333333"/>
                </a:solidFill>
                <a:latin typeface="맑은 고딕"/>
              </a:defRPr>
            </a:pPr>
            <a:r>
              <a:t>자재: MRO 소모품 (볼트, 너트 등)</a:t>
            </a:r>
          </a:p>
        </p:txBody>
      </p:sp>
      <p:sp>
        <p:nvSpPr>
          <p:cNvPr id="62" name="Rectangle 61"/>
          <p:cNvSpPr/>
          <p:nvPr/>
        </p:nvSpPr>
        <p:spPr>
          <a:xfrm>
            <a:off x="5303520" y="3703320"/>
            <a:ext cx="4023359" cy="411480"/>
          </a:xfrm>
          <a:prstGeom prst="rect">
            <a:avLst/>
          </a:prstGeom>
          <a:solidFill>
            <a:srgbClr val="E6E6E6"/>
          </a:solidFill>
          <a:ln w="9525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5349240" y="3739896"/>
            <a:ext cx="3931920" cy="1280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00000"/>
                </a:solidFill>
                <a:latin typeface="맑은 고딕"/>
              </a:defRPr>
            </a:pPr>
            <a:r>
              <a:t>LG화학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5349240" y="3895344"/>
            <a:ext cx="3931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333333"/>
                </a:solidFill>
                <a:latin typeface="맑은 고딕"/>
              </a:defRPr>
            </a:pPr>
            <a:r>
              <a:t>자재: 청소·안전 용품</a:t>
            </a:r>
          </a:p>
        </p:txBody>
      </p:sp>
      <p:sp>
        <p:nvSpPr>
          <p:cNvPr id="65" name="Rectangle 64"/>
          <p:cNvSpPr/>
          <p:nvPr/>
        </p:nvSpPr>
        <p:spPr>
          <a:xfrm>
            <a:off x="5303520" y="4160520"/>
            <a:ext cx="4023359" cy="411480"/>
          </a:xfrm>
          <a:prstGeom prst="rect">
            <a:avLst/>
          </a:prstGeom>
          <a:solidFill>
            <a:srgbClr val="E6E6E6"/>
          </a:solidFill>
          <a:ln w="9525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5349240" y="4197096"/>
            <a:ext cx="3931920" cy="1280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00000"/>
                </a:solidFill>
                <a:latin typeface="맑은 고딕"/>
              </a:defRPr>
            </a:pPr>
            <a:r>
              <a:t>SK텔레콤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349240" y="4352544"/>
            <a:ext cx="3931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333333"/>
                </a:solidFill>
                <a:latin typeface="맑은 고딕"/>
              </a:defRPr>
            </a:pPr>
            <a:r>
              <a:t>자재: IT 소모품 (케이블, USB 등)</a:t>
            </a:r>
          </a:p>
        </p:txBody>
      </p:sp>
      <p:sp>
        <p:nvSpPr>
          <p:cNvPr id="68" name="Rectangle 67"/>
          <p:cNvSpPr/>
          <p:nvPr/>
        </p:nvSpPr>
        <p:spPr>
          <a:xfrm>
            <a:off x="5303520" y="4617720"/>
            <a:ext cx="4023359" cy="411480"/>
          </a:xfrm>
          <a:prstGeom prst="rect">
            <a:avLst/>
          </a:prstGeom>
          <a:solidFill>
            <a:srgbClr val="E6E6E6"/>
          </a:solidFill>
          <a:ln w="9525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5349240" y="4654296"/>
            <a:ext cx="3931920" cy="1280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00000"/>
                </a:solidFill>
                <a:latin typeface="맑은 고딕"/>
              </a:defRPr>
            </a:pPr>
            <a:r>
              <a:t>포스코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5349240" y="4809744"/>
            <a:ext cx="3931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333333"/>
                </a:solidFill>
                <a:latin typeface="맑은 고딕"/>
              </a:defRPr>
            </a:pPr>
            <a:r>
              <a:t>자재: 일반 공구류</a:t>
            </a:r>
          </a:p>
        </p:txBody>
      </p:sp>
      <p:sp>
        <p:nvSpPr>
          <p:cNvPr id="71" name="Rectangle 70"/>
          <p:cNvSpPr/>
          <p:nvPr/>
        </p:nvSpPr>
        <p:spPr>
          <a:xfrm>
            <a:off x="5212080" y="5148072"/>
            <a:ext cx="4206240" cy="256032"/>
          </a:xfrm>
          <a:prstGeom prst="rect">
            <a:avLst/>
          </a:prstGeom>
          <a:solidFill>
            <a:srgbClr val="333333"/>
          </a:solidFill>
          <a:ln w="1270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5303520" y="5175504"/>
            <a:ext cx="4023359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  <a:latin typeface="맑은 고딕"/>
              </a:defRPr>
            </a:pPr>
            <a:r>
              <a:t>KPI 목표 (Targets)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5303520" y="5422392"/>
            <a:ext cx="109728" cy="1280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333333"/>
                </a:solidFill>
                <a:latin typeface="맑은 고딕"/>
              </a:defRPr>
            </a:pPr>
            <a:r>
              <a:t>•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5440680" y="5422392"/>
            <a:ext cx="3886200" cy="1280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333333"/>
                </a:solidFill>
                <a:latin typeface="맑은 고딕"/>
              </a:defRPr>
            </a:pPr>
            <a:r>
              <a:t>처리 시간 단축 50% 이상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5303520" y="5550407"/>
            <a:ext cx="109728" cy="1280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333333"/>
                </a:solidFill>
                <a:latin typeface="맑은 고딕"/>
              </a:defRPr>
            </a:pPr>
            <a:r>
              <a:t>•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5440680" y="5550407"/>
            <a:ext cx="3886200" cy="1280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333333"/>
                </a:solidFill>
                <a:latin typeface="맑은 고딕"/>
              </a:defRPr>
            </a:pPr>
            <a:r>
              <a:t>발주 비용 최소화 (건당 1만원 미만)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5303520" y="5678423"/>
            <a:ext cx="109728" cy="1280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333333"/>
                </a:solidFill>
                <a:latin typeface="맑은 고딕"/>
              </a:defRPr>
            </a:pPr>
            <a:r>
              <a:t>•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5440680" y="5678423"/>
            <a:ext cx="3886200" cy="1280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333333"/>
                </a:solidFill>
                <a:latin typeface="맑은 고딕"/>
              </a:defRPr>
            </a:pPr>
            <a:r>
              <a:t>자동화율 80% 이상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5303520" y="5806439"/>
            <a:ext cx="109728" cy="1280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333333"/>
                </a:solidFill>
                <a:latin typeface="맑은 고딕"/>
              </a:defRPr>
            </a:pPr>
            <a:r>
              <a:t>•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5440680" y="5806439"/>
            <a:ext cx="3886200" cy="1280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333333"/>
                </a:solidFill>
                <a:latin typeface="맑은 고딕"/>
              </a:defRPr>
            </a:pPr>
            <a:r>
              <a:t>사용자 만족도 4.0/5.0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5303520" y="5934455"/>
            <a:ext cx="109728" cy="1280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333333"/>
                </a:solidFill>
                <a:latin typeface="맑은 고딕"/>
              </a:defRPr>
            </a:pPr>
            <a:r>
              <a:t>•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5440680" y="5934455"/>
            <a:ext cx="3886200" cy="1280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333333"/>
                </a:solidFill>
                <a:latin typeface="맑은 고딕"/>
              </a:defRPr>
            </a:pPr>
            <a:r>
              <a:t>재고 회전율 24회 이상/년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5303520" y="6062471"/>
            <a:ext cx="109728" cy="1280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333333"/>
                </a:solidFill>
                <a:latin typeface="맑은 고딕"/>
              </a:defRPr>
            </a:pPr>
            <a:r>
              <a:t>•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5440680" y="6062471"/>
            <a:ext cx="3886200" cy="1280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333333"/>
                </a:solidFill>
                <a:latin typeface="맑은 고딕"/>
              </a:defRPr>
            </a:pPr>
            <a:r>
              <a:t>관리 공수 50% 절감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2286000"/>
            <a:ext cx="8961120" cy="2286000"/>
          </a:xfrm>
          <a:prstGeom prst="rect">
            <a:avLst/>
          </a:prstGeom>
          <a:solidFill>
            <a:srgbClr val="E6E6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828800" y="2560320"/>
            <a:ext cx="62179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400" b="1">
                <a:solidFill>
                  <a:srgbClr val="333333"/>
                </a:solidFill>
                <a:latin typeface="맑은 고딕"/>
              </a:defRPr>
            </a:pPr>
            <a:r>
              <a:t>3장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828800" y="3474720"/>
            <a:ext cx="62179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400" b="1">
                <a:solidFill>
                  <a:srgbClr val="000000"/>
                </a:solidFill>
                <a:latin typeface="맑은 고딕"/>
              </a:defRPr>
            </a:pPr>
            <a:r>
              <a:t>차별화 전략</a:t>
            </a:r>
          </a:p>
        </p:txBody>
      </p:sp>
      <p:sp>
        <p:nvSpPr>
          <p:cNvPr id="5" name="Rectangle 4"/>
          <p:cNvSpPr/>
          <p:nvPr/>
        </p:nvSpPr>
        <p:spPr>
          <a:xfrm>
            <a:off x="3200400" y="4297680"/>
            <a:ext cx="3474720" cy="45720"/>
          </a:xfrm>
          <a:prstGeom prst="rect">
            <a:avLst/>
          </a:prstGeom>
          <a:solidFill>
            <a:srgbClr val="3333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274320" y="274320"/>
            <a:ext cx="9354312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000000"/>
                </a:solidFill>
                <a:latin typeface="맑은 고딕"/>
              </a:defRPr>
            </a:pPr>
            <a:r>
              <a:t>3.1 차별화의 필요성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0" y="6400800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666666"/>
                </a:solidFill>
                <a:latin typeface="Arial"/>
              </a:defRPr>
            </a:pPr>
            <a:r>
              <a:t>17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" y="923544"/>
            <a:ext cx="9436608" cy="5760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666666"/>
                </a:solidFill>
                <a:latin typeface="맑은 고딕"/>
              </a:defRPr>
            </a:pPr>
            <a:r>
              <a:t>자재군 특성을 무시한 획일적 관리는 비효율과 리스크를 초래하며 차별화 전략이 필수입니다.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1828800"/>
            <a:ext cx="8686800" cy="256032"/>
          </a:xfrm>
          <a:prstGeom prst="rect">
            <a:avLst/>
          </a:prstGeom>
          <a:solidFill>
            <a:srgbClr val="666666"/>
          </a:solidFill>
          <a:ln w="1270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1856231"/>
            <a:ext cx="8503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FFFFFF"/>
                </a:solidFill>
                <a:latin typeface="맑은 고딕"/>
              </a:defRPr>
            </a:pPr>
            <a:r>
              <a:t>획일적 관리의 문제점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2103120"/>
            <a:ext cx="109728" cy="1280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333333"/>
                </a:solidFill>
                <a:latin typeface="맑은 고딕"/>
              </a:defRPr>
            </a:pPr>
            <a:r>
              <a:t>•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" y="2103120"/>
            <a:ext cx="8366760" cy="1280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333333"/>
                </a:solidFill>
                <a:latin typeface="맑은 고딕"/>
              </a:defRPr>
            </a:pPr>
            <a:r>
              <a:t>모든 자재에 동일한 프로세스 적용 → 비효율 발생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2231136"/>
            <a:ext cx="109728" cy="1280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333333"/>
                </a:solidFill>
                <a:latin typeface="맑은 고딕"/>
              </a:defRPr>
            </a:pPr>
            <a:r>
              <a:t>•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0120" y="2231136"/>
            <a:ext cx="8366760" cy="1280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333333"/>
                </a:solidFill>
                <a:latin typeface="맑은 고딕"/>
              </a:defRPr>
            </a:pPr>
            <a:r>
              <a:t>전략자재: 과도한 경쟁입찰 → 공급업체 관계 악화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60" y="2359152"/>
            <a:ext cx="109728" cy="1280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333333"/>
                </a:solidFill>
                <a:latin typeface="맑은 고딕"/>
              </a:defRPr>
            </a:pPr>
            <a:r>
              <a:t>•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60120" y="2359152"/>
            <a:ext cx="8366760" cy="1280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333333"/>
                </a:solidFill>
                <a:latin typeface="맑은 고딕"/>
              </a:defRPr>
            </a:pPr>
            <a:r>
              <a:t>일상자재: 과도한 관리 → 비용 낭비 (관리 비용 &gt; 자재 가치)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2960" y="2487168"/>
            <a:ext cx="109728" cy="1280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333333"/>
                </a:solidFill>
                <a:latin typeface="맑은 고딕"/>
              </a:defRPr>
            </a:pPr>
            <a:r>
              <a:t>•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60120" y="2487168"/>
            <a:ext cx="8366760" cy="1280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333333"/>
                </a:solidFill>
                <a:latin typeface="맑은 고딕"/>
              </a:defRPr>
            </a:pPr>
            <a:r>
              <a:t>병목자재: 안전재고 부족 → 결품 리스크 증가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2960" y="2615184"/>
            <a:ext cx="109728" cy="1280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333333"/>
                </a:solidFill>
                <a:latin typeface="맑은 고딕"/>
              </a:defRPr>
            </a:pPr>
            <a:r>
              <a:t>•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60120" y="2615184"/>
            <a:ext cx="8366760" cy="1280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333333"/>
                </a:solidFill>
                <a:latin typeface="맑은 고딕"/>
              </a:defRPr>
            </a:pPr>
            <a:r>
              <a:t>레버리지자재: 가격 협상력 미활용 → 원가 절감 기회 상실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31520" y="2816352"/>
            <a:ext cx="8686800" cy="256032"/>
          </a:xfrm>
          <a:prstGeom prst="rect">
            <a:avLst/>
          </a:prstGeom>
          <a:solidFill>
            <a:srgbClr val="666666"/>
          </a:solidFill>
          <a:ln w="1270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22960" y="2843784"/>
            <a:ext cx="8503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FFFFFF"/>
                </a:solidFill>
                <a:latin typeface="맑은 고딕"/>
              </a:defRPr>
            </a:pPr>
            <a:r>
              <a:t>차별화 전략의 효과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2960" y="3090672"/>
            <a:ext cx="109728" cy="1280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333333"/>
                </a:solidFill>
                <a:latin typeface="맑은 고딕"/>
              </a:defRPr>
            </a:pPr>
            <a:r>
              <a:t>•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60120" y="3090672"/>
            <a:ext cx="8366760" cy="1280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333333"/>
                </a:solidFill>
                <a:latin typeface="맑은 고딕"/>
              </a:defRPr>
            </a:pPr>
            <a:r>
              <a:t>전략자재: 장기 파트너십 → 안정적 공급 + 협력 혁신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22960" y="3218688"/>
            <a:ext cx="109728" cy="1280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333333"/>
                </a:solidFill>
                <a:latin typeface="맑은 고딕"/>
              </a:defRPr>
            </a:pPr>
            <a:r>
              <a:t>•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60120" y="3218688"/>
            <a:ext cx="8366760" cy="1280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333333"/>
                </a:solidFill>
                <a:latin typeface="맑은 고딕"/>
              </a:defRPr>
            </a:pPr>
            <a:r>
              <a:t>레버리지자재: 경쟁입찰 → 연간 5-10% 원가 절감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22960" y="3346704"/>
            <a:ext cx="109728" cy="1280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333333"/>
                </a:solidFill>
                <a:latin typeface="맑은 고딕"/>
              </a:defRPr>
            </a:pPr>
            <a:r>
              <a:t>•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60120" y="3346704"/>
            <a:ext cx="8366760" cy="1280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333333"/>
                </a:solidFill>
                <a:latin typeface="맑은 고딕"/>
              </a:defRPr>
            </a:pPr>
            <a:r>
              <a:t>병목자재: 충분한 재고 → 결품률 0.5% 이하 달성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22960" y="3474720"/>
            <a:ext cx="109728" cy="1280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333333"/>
                </a:solidFill>
                <a:latin typeface="맑은 고딕"/>
              </a:defRPr>
            </a:pPr>
            <a:r>
              <a:t>•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60120" y="3474720"/>
            <a:ext cx="8366760" cy="1280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333333"/>
                </a:solidFill>
                <a:latin typeface="맑은 고딕"/>
              </a:defRPr>
            </a:pPr>
            <a:r>
              <a:t>일상자재: 프로세스 자동화 → 관리 비용 50% 절감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22960" y="3602736"/>
            <a:ext cx="109728" cy="1280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333333"/>
                </a:solidFill>
                <a:latin typeface="맑은 고딕"/>
              </a:defRPr>
            </a:pPr>
            <a:r>
              <a:t>•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60120" y="3602736"/>
            <a:ext cx="8366760" cy="1280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333333"/>
                </a:solidFill>
                <a:latin typeface="맑은 고딕"/>
              </a:defRPr>
            </a:pPr>
            <a:r>
              <a:t>전체: 최적의 자원 배분 → ROI 극대화</a:t>
            </a:r>
          </a:p>
        </p:txBody>
      </p:sp>
      <p:sp>
        <p:nvSpPr>
          <p:cNvPr id="29" name="Rectangle 28"/>
          <p:cNvSpPr/>
          <p:nvPr/>
        </p:nvSpPr>
        <p:spPr>
          <a:xfrm>
            <a:off x="731520" y="3803904"/>
            <a:ext cx="8686800" cy="256032"/>
          </a:xfrm>
          <a:prstGeom prst="rect">
            <a:avLst/>
          </a:prstGeom>
          <a:solidFill>
            <a:srgbClr val="666666"/>
          </a:solidFill>
          <a:ln w="1270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22960" y="3831336"/>
            <a:ext cx="8503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FFFFFF"/>
                </a:solidFill>
                <a:latin typeface="맑은 고딕"/>
              </a:defRPr>
            </a:pPr>
            <a:r>
              <a:t>차별화 구현 방법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22960" y="4078224"/>
            <a:ext cx="109728" cy="1280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333333"/>
                </a:solidFill>
                <a:latin typeface="맑은 고딕"/>
              </a:defRPr>
            </a:pPr>
            <a:r>
              <a:t>•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60120" y="4078224"/>
            <a:ext cx="8366760" cy="1280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333333"/>
                </a:solidFill>
                <a:latin typeface="맑은 고딕"/>
              </a:defRPr>
            </a:pPr>
            <a:r>
              <a:t>1단계: Kraljic Matrix로 자재 분류 (분기별)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22960" y="4206240"/>
            <a:ext cx="109728" cy="1280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333333"/>
                </a:solidFill>
                <a:latin typeface="맑은 고딕"/>
              </a:defRPr>
            </a:pPr>
            <a:r>
              <a:t>•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60120" y="4206240"/>
            <a:ext cx="8366760" cy="1280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333333"/>
                </a:solidFill>
                <a:latin typeface="맑은 고딕"/>
              </a:defRPr>
            </a:pPr>
            <a:r>
              <a:t>2단계: 자재군별 전략 수립 (소싱, 재고, 관계)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22960" y="4334256"/>
            <a:ext cx="109728" cy="1280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333333"/>
                </a:solidFill>
                <a:latin typeface="맑은 고딕"/>
              </a:defRPr>
            </a:pPr>
            <a:r>
              <a:t>•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60120" y="4334256"/>
            <a:ext cx="8366760" cy="1280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333333"/>
                </a:solidFill>
                <a:latin typeface="맑은 고딕"/>
              </a:defRPr>
            </a:pPr>
            <a:r>
              <a:t>3단계: 계획 방법론 선택 (ROP, MRP, Hybrid)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22960" y="4462272"/>
            <a:ext cx="109728" cy="1280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333333"/>
                </a:solidFill>
                <a:latin typeface="맑은 고딕"/>
              </a:defRPr>
            </a:pPr>
            <a:r>
              <a:t>•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60120" y="4462272"/>
            <a:ext cx="8366760" cy="1280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333333"/>
                </a:solidFill>
                <a:latin typeface="맑은 고딕"/>
              </a:defRPr>
            </a:pPr>
            <a:r>
              <a:t>4단계: KPI 설정 및 모니터링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22960" y="4590288"/>
            <a:ext cx="109728" cy="1280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333333"/>
                </a:solidFill>
                <a:latin typeface="맑은 고딕"/>
              </a:defRPr>
            </a:pPr>
            <a:r>
              <a:t>•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960120" y="4590288"/>
            <a:ext cx="8366760" cy="1280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333333"/>
                </a:solidFill>
                <a:latin typeface="맑은 고딕"/>
              </a:defRPr>
            </a:pPr>
            <a:r>
              <a:t>5단계: 정기 재분류 및 전략 조정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274320" y="274320"/>
            <a:ext cx="9354312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000000"/>
                </a:solidFill>
                <a:latin typeface="맑은 고딕"/>
              </a:defRPr>
            </a:pPr>
            <a:r>
              <a:t>3.2 자재군별 전략 매트릭스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0" y="6400800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666666"/>
                </a:solidFill>
                <a:latin typeface="Arial"/>
              </a:defRPr>
            </a:pPr>
            <a:r>
              <a:t>18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" y="923544"/>
            <a:ext cx="9436608" cy="5760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666666"/>
                </a:solidFill>
                <a:latin typeface="맑은 고딕"/>
              </a:defRPr>
            </a:pPr>
            <a:r>
              <a:t>4개 자재군별로 소싱 전략, 재고 정책, 공급업체 관리 방식을 차별화하여 최적의 성과를 달성합니다.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1920240"/>
            <a:ext cx="1645920" cy="868680"/>
          </a:xfrm>
          <a:prstGeom prst="rect">
            <a:avLst/>
          </a:prstGeom>
          <a:solidFill>
            <a:srgbClr val="666666"/>
          </a:solidFill>
          <a:ln w="1270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2240280"/>
            <a:ext cx="14630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FFFFFF"/>
                </a:solidFill>
                <a:latin typeface="맑은 고딕"/>
              </a:defRPr>
            </a:pPr>
            <a:r>
              <a:t>전략자재</a:t>
            </a:r>
          </a:p>
        </p:txBody>
      </p:sp>
      <p:sp>
        <p:nvSpPr>
          <p:cNvPr id="7" name="Rectangle 6"/>
          <p:cNvSpPr/>
          <p:nvPr/>
        </p:nvSpPr>
        <p:spPr>
          <a:xfrm>
            <a:off x="2468880" y="1920240"/>
            <a:ext cx="1737360" cy="868680"/>
          </a:xfrm>
          <a:prstGeom prst="rect">
            <a:avLst/>
          </a:prstGeom>
          <a:solidFill>
            <a:srgbClr val="E6E6E6"/>
          </a:solidFill>
          <a:ln w="9525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514600" y="2194560"/>
            <a:ext cx="1645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333333"/>
                </a:solidFill>
                <a:latin typeface="맑은 고딕"/>
              </a:defRPr>
            </a:pPr>
            <a:r>
              <a:t>장기 파트너십</a:t>
            </a:r>
          </a:p>
        </p:txBody>
      </p:sp>
      <p:sp>
        <p:nvSpPr>
          <p:cNvPr id="9" name="Rectangle 8"/>
          <p:cNvSpPr/>
          <p:nvPr/>
        </p:nvSpPr>
        <p:spPr>
          <a:xfrm>
            <a:off x="4297680" y="1920240"/>
            <a:ext cx="1737360" cy="868680"/>
          </a:xfrm>
          <a:prstGeom prst="rect">
            <a:avLst/>
          </a:prstGeom>
          <a:solidFill>
            <a:srgbClr val="E6E6E6"/>
          </a:solidFill>
          <a:ln w="9525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343400" y="2194560"/>
            <a:ext cx="1645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333333"/>
                </a:solidFill>
                <a:latin typeface="맑은 고딕"/>
              </a:defRPr>
            </a:pPr>
            <a:r>
              <a:t>전략적 재고 4-8주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126480" y="1920240"/>
            <a:ext cx="1737360" cy="868680"/>
          </a:xfrm>
          <a:prstGeom prst="rect">
            <a:avLst/>
          </a:prstGeom>
          <a:solidFill>
            <a:srgbClr val="E6E6E6"/>
          </a:solidFill>
          <a:ln w="9525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172200" y="2194560"/>
            <a:ext cx="1645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333333"/>
                </a:solidFill>
                <a:latin typeface="맑은 고딕"/>
              </a:defRPr>
            </a:pPr>
            <a:r>
              <a:t>협력적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955279" y="1920240"/>
            <a:ext cx="1737360" cy="868680"/>
          </a:xfrm>
          <a:prstGeom prst="rect">
            <a:avLst/>
          </a:prstGeom>
          <a:solidFill>
            <a:srgbClr val="E6E6E6"/>
          </a:solidFill>
          <a:ln w="9525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001000" y="2194560"/>
            <a:ext cx="1645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333333"/>
                </a:solidFill>
                <a:latin typeface="맑은 고딕"/>
              </a:defRPr>
            </a:pPr>
            <a:r>
              <a:t>Hybrid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31520" y="2880360"/>
            <a:ext cx="1645920" cy="868680"/>
          </a:xfrm>
          <a:prstGeom prst="rect">
            <a:avLst/>
          </a:prstGeom>
          <a:solidFill>
            <a:srgbClr val="666666"/>
          </a:solidFill>
          <a:ln w="1270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22960" y="3200400"/>
            <a:ext cx="14630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FFFFFF"/>
                </a:solidFill>
                <a:latin typeface="맑은 고딕"/>
              </a:defRPr>
            </a:pPr>
            <a:r>
              <a:t>레버리지자재</a:t>
            </a:r>
          </a:p>
        </p:txBody>
      </p:sp>
      <p:sp>
        <p:nvSpPr>
          <p:cNvPr id="17" name="Rectangle 16"/>
          <p:cNvSpPr/>
          <p:nvPr/>
        </p:nvSpPr>
        <p:spPr>
          <a:xfrm>
            <a:off x="2468880" y="2880360"/>
            <a:ext cx="1737360" cy="868680"/>
          </a:xfrm>
          <a:prstGeom prst="rect">
            <a:avLst/>
          </a:prstGeom>
          <a:solidFill>
            <a:srgbClr val="FFFFFF"/>
          </a:solidFill>
          <a:ln w="9525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2514600" y="3154680"/>
            <a:ext cx="1645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333333"/>
                </a:solidFill>
                <a:latin typeface="맑은 고딕"/>
              </a:defRPr>
            </a:pPr>
            <a:r>
              <a:t>경쟁 입찰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297680" y="2880360"/>
            <a:ext cx="1737360" cy="868680"/>
          </a:xfrm>
          <a:prstGeom prst="rect">
            <a:avLst/>
          </a:prstGeom>
          <a:solidFill>
            <a:srgbClr val="FFFFFF"/>
          </a:solidFill>
          <a:ln w="9525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343400" y="3154680"/>
            <a:ext cx="1645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333333"/>
                </a:solidFill>
                <a:latin typeface="맑은 고딕"/>
              </a:defRPr>
            </a:pPr>
            <a:r>
              <a:t>최소 재고 1-2주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126480" y="2880360"/>
            <a:ext cx="1737360" cy="868680"/>
          </a:xfrm>
          <a:prstGeom prst="rect">
            <a:avLst/>
          </a:prstGeom>
          <a:solidFill>
            <a:srgbClr val="FFFFFF"/>
          </a:solidFill>
          <a:ln w="9525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172200" y="3154680"/>
            <a:ext cx="1645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333333"/>
                </a:solidFill>
                <a:latin typeface="맑은 고딕"/>
              </a:defRPr>
            </a:pPr>
            <a:r>
              <a:t>거래적</a:t>
            </a:r>
          </a:p>
        </p:txBody>
      </p:sp>
      <p:sp>
        <p:nvSpPr>
          <p:cNvPr id="23" name="Rectangle 22"/>
          <p:cNvSpPr/>
          <p:nvPr/>
        </p:nvSpPr>
        <p:spPr>
          <a:xfrm>
            <a:off x="7955279" y="2880360"/>
            <a:ext cx="1737360" cy="868680"/>
          </a:xfrm>
          <a:prstGeom prst="rect">
            <a:avLst/>
          </a:prstGeom>
          <a:solidFill>
            <a:srgbClr val="FFFFFF"/>
          </a:solidFill>
          <a:ln w="9525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001000" y="3154680"/>
            <a:ext cx="1645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333333"/>
                </a:solidFill>
                <a:latin typeface="맑은 고딕"/>
              </a:defRPr>
            </a:pPr>
            <a:r>
              <a:t>MRP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31520" y="3840480"/>
            <a:ext cx="1645920" cy="868680"/>
          </a:xfrm>
          <a:prstGeom prst="rect">
            <a:avLst/>
          </a:prstGeom>
          <a:solidFill>
            <a:srgbClr val="666666"/>
          </a:solidFill>
          <a:ln w="1270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22960" y="4160520"/>
            <a:ext cx="14630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FFFFFF"/>
                </a:solidFill>
                <a:latin typeface="맑은 고딕"/>
              </a:defRPr>
            </a:pPr>
            <a:r>
              <a:t>병목자재</a:t>
            </a:r>
          </a:p>
        </p:txBody>
      </p:sp>
      <p:sp>
        <p:nvSpPr>
          <p:cNvPr id="27" name="Rectangle 26"/>
          <p:cNvSpPr/>
          <p:nvPr/>
        </p:nvSpPr>
        <p:spPr>
          <a:xfrm>
            <a:off x="2468880" y="3840480"/>
            <a:ext cx="1737360" cy="868680"/>
          </a:xfrm>
          <a:prstGeom prst="rect">
            <a:avLst/>
          </a:prstGeom>
          <a:solidFill>
            <a:srgbClr val="E6E6E6"/>
          </a:solidFill>
          <a:ln w="9525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2514600" y="4114800"/>
            <a:ext cx="1645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333333"/>
                </a:solidFill>
                <a:latin typeface="맑은 고딕"/>
              </a:defRPr>
            </a:pPr>
            <a:r>
              <a:t>복수화 추진</a:t>
            </a:r>
          </a:p>
        </p:txBody>
      </p:sp>
      <p:sp>
        <p:nvSpPr>
          <p:cNvPr id="29" name="Rectangle 28"/>
          <p:cNvSpPr/>
          <p:nvPr/>
        </p:nvSpPr>
        <p:spPr>
          <a:xfrm>
            <a:off x="4297680" y="3840480"/>
            <a:ext cx="1737360" cy="868680"/>
          </a:xfrm>
          <a:prstGeom prst="rect">
            <a:avLst/>
          </a:prstGeom>
          <a:solidFill>
            <a:srgbClr val="E6E6E6"/>
          </a:solidFill>
          <a:ln w="9525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4343400" y="4114800"/>
            <a:ext cx="1645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333333"/>
                </a:solidFill>
                <a:latin typeface="맑은 고딕"/>
              </a:defRPr>
            </a:pPr>
            <a:r>
              <a:t>높은 재고 8-12주</a:t>
            </a:r>
          </a:p>
        </p:txBody>
      </p:sp>
      <p:sp>
        <p:nvSpPr>
          <p:cNvPr id="31" name="Rectangle 30"/>
          <p:cNvSpPr/>
          <p:nvPr/>
        </p:nvSpPr>
        <p:spPr>
          <a:xfrm>
            <a:off x="6126480" y="3840480"/>
            <a:ext cx="1737360" cy="868680"/>
          </a:xfrm>
          <a:prstGeom prst="rect">
            <a:avLst/>
          </a:prstGeom>
          <a:solidFill>
            <a:srgbClr val="E6E6E6"/>
          </a:solidFill>
          <a:ln w="9525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172200" y="4114800"/>
            <a:ext cx="1645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333333"/>
                </a:solidFill>
                <a:latin typeface="맑은 고딕"/>
              </a:defRPr>
            </a:pPr>
            <a:r>
              <a:t>긴밀한</a:t>
            </a:r>
          </a:p>
        </p:txBody>
      </p:sp>
      <p:sp>
        <p:nvSpPr>
          <p:cNvPr id="33" name="Rectangle 32"/>
          <p:cNvSpPr/>
          <p:nvPr/>
        </p:nvSpPr>
        <p:spPr>
          <a:xfrm>
            <a:off x="7955279" y="3840480"/>
            <a:ext cx="1737360" cy="868680"/>
          </a:xfrm>
          <a:prstGeom prst="rect">
            <a:avLst/>
          </a:prstGeom>
          <a:solidFill>
            <a:srgbClr val="E6E6E6"/>
          </a:solidFill>
          <a:ln w="9525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8001000" y="4114800"/>
            <a:ext cx="1645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333333"/>
                </a:solidFill>
                <a:latin typeface="맑은 고딕"/>
              </a:defRPr>
            </a:pPr>
            <a:r>
              <a:t>ROP</a:t>
            </a:r>
          </a:p>
        </p:txBody>
      </p:sp>
      <p:sp>
        <p:nvSpPr>
          <p:cNvPr id="35" name="Rectangle 34"/>
          <p:cNvSpPr/>
          <p:nvPr/>
        </p:nvSpPr>
        <p:spPr>
          <a:xfrm>
            <a:off x="731520" y="4800600"/>
            <a:ext cx="1645920" cy="868680"/>
          </a:xfrm>
          <a:prstGeom prst="rect">
            <a:avLst/>
          </a:prstGeom>
          <a:solidFill>
            <a:srgbClr val="666666"/>
          </a:solidFill>
          <a:ln w="1270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822960" y="5120640"/>
            <a:ext cx="14630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FFFFFF"/>
                </a:solidFill>
                <a:latin typeface="맑은 고딕"/>
              </a:defRPr>
            </a:pPr>
            <a:r>
              <a:t>일상자재</a:t>
            </a:r>
          </a:p>
        </p:txBody>
      </p:sp>
      <p:sp>
        <p:nvSpPr>
          <p:cNvPr id="37" name="Rectangle 36"/>
          <p:cNvSpPr/>
          <p:nvPr/>
        </p:nvSpPr>
        <p:spPr>
          <a:xfrm>
            <a:off x="2468880" y="4800600"/>
            <a:ext cx="1737360" cy="868680"/>
          </a:xfrm>
          <a:prstGeom prst="rect">
            <a:avLst/>
          </a:prstGeom>
          <a:solidFill>
            <a:srgbClr val="FFFFFF"/>
          </a:solidFill>
          <a:ln w="9525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2514600" y="5074920"/>
            <a:ext cx="1645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333333"/>
                </a:solidFill>
                <a:latin typeface="맑은 고딕"/>
              </a:defRPr>
            </a:pPr>
            <a:r>
              <a:t>통합 구매</a:t>
            </a:r>
          </a:p>
        </p:txBody>
      </p:sp>
      <p:sp>
        <p:nvSpPr>
          <p:cNvPr id="39" name="Rectangle 38"/>
          <p:cNvSpPr/>
          <p:nvPr/>
        </p:nvSpPr>
        <p:spPr>
          <a:xfrm>
            <a:off x="4297680" y="4800600"/>
            <a:ext cx="1737360" cy="868680"/>
          </a:xfrm>
          <a:prstGeom prst="rect">
            <a:avLst/>
          </a:prstGeom>
          <a:solidFill>
            <a:srgbClr val="FFFFFF"/>
          </a:solidFill>
          <a:ln w="9525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4343400" y="5074920"/>
            <a:ext cx="1645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333333"/>
                </a:solidFill>
                <a:latin typeface="맑은 고딕"/>
              </a:defRPr>
            </a:pPr>
            <a:r>
              <a:t>자동 발주</a:t>
            </a:r>
          </a:p>
        </p:txBody>
      </p:sp>
      <p:sp>
        <p:nvSpPr>
          <p:cNvPr id="41" name="Rectangle 40"/>
          <p:cNvSpPr/>
          <p:nvPr/>
        </p:nvSpPr>
        <p:spPr>
          <a:xfrm>
            <a:off x="6126480" y="4800600"/>
            <a:ext cx="1737360" cy="868680"/>
          </a:xfrm>
          <a:prstGeom prst="rect">
            <a:avLst/>
          </a:prstGeom>
          <a:solidFill>
            <a:srgbClr val="FFFFFF"/>
          </a:solidFill>
          <a:ln w="9525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6172200" y="5074920"/>
            <a:ext cx="1645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333333"/>
                </a:solidFill>
                <a:latin typeface="맑은 고딕"/>
              </a:defRPr>
            </a:pPr>
            <a:r>
              <a:t>최소 접촉</a:t>
            </a:r>
          </a:p>
        </p:txBody>
      </p:sp>
      <p:sp>
        <p:nvSpPr>
          <p:cNvPr id="43" name="Rectangle 42"/>
          <p:cNvSpPr/>
          <p:nvPr/>
        </p:nvSpPr>
        <p:spPr>
          <a:xfrm>
            <a:off x="7955279" y="4800600"/>
            <a:ext cx="1737360" cy="868680"/>
          </a:xfrm>
          <a:prstGeom prst="rect">
            <a:avLst/>
          </a:prstGeom>
          <a:solidFill>
            <a:srgbClr val="FFFFFF"/>
          </a:solidFill>
          <a:ln w="9525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8001000" y="5074920"/>
            <a:ext cx="1645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333333"/>
                </a:solidFill>
                <a:latin typeface="맑은 고딕"/>
              </a:defRPr>
            </a:pPr>
            <a:r>
              <a:t>Min-Max</a:t>
            </a:r>
          </a:p>
        </p:txBody>
      </p:sp>
      <p:sp>
        <p:nvSpPr>
          <p:cNvPr id="45" name="Rectangle 44"/>
          <p:cNvSpPr/>
          <p:nvPr/>
        </p:nvSpPr>
        <p:spPr>
          <a:xfrm>
            <a:off x="2468880" y="1463040"/>
            <a:ext cx="1737360" cy="320040"/>
          </a:xfrm>
          <a:prstGeom prst="rect">
            <a:avLst/>
          </a:prstGeom>
          <a:solidFill>
            <a:srgbClr val="333333"/>
          </a:solidFill>
          <a:ln w="1270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2514600" y="1508760"/>
            <a:ext cx="16459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  <a:latin typeface="맑은 고딕"/>
              </a:defRPr>
            </a:pPr>
            <a:r>
              <a:t>소싱 전략</a:t>
            </a:r>
          </a:p>
        </p:txBody>
      </p:sp>
      <p:sp>
        <p:nvSpPr>
          <p:cNvPr id="47" name="Rectangle 46"/>
          <p:cNvSpPr/>
          <p:nvPr/>
        </p:nvSpPr>
        <p:spPr>
          <a:xfrm>
            <a:off x="4297680" y="1463040"/>
            <a:ext cx="1737360" cy="320040"/>
          </a:xfrm>
          <a:prstGeom prst="rect">
            <a:avLst/>
          </a:prstGeom>
          <a:solidFill>
            <a:srgbClr val="333333"/>
          </a:solidFill>
          <a:ln w="1270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4343400" y="1508760"/>
            <a:ext cx="16459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  <a:latin typeface="맑은 고딕"/>
              </a:defRPr>
            </a:pPr>
            <a:r>
              <a:t>재고 정책</a:t>
            </a:r>
          </a:p>
        </p:txBody>
      </p:sp>
      <p:sp>
        <p:nvSpPr>
          <p:cNvPr id="49" name="Rectangle 48"/>
          <p:cNvSpPr/>
          <p:nvPr/>
        </p:nvSpPr>
        <p:spPr>
          <a:xfrm>
            <a:off x="6126480" y="1463040"/>
            <a:ext cx="1737360" cy="320040"/>
          </a:xfrm>
          <a:prstGeom prst="rect">
            <a:avLst/>
          </a:prstGeom>
          <a:solidFill>
            <a:srgbClr val="333333"/>
          </a:solidFill>
          <a:ln w="1270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6172200" y="1508760"/>
            <a:ext cx="16459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  <a:latin typeface="맑은 고딕"/>
              </a:defRPr>
            </a:pPr>
            <a:r>
              <a:t>공급업체 관계</a:t>
            </a:r>
          </a:p>
        </p:txBody>
      </p:sp>
      <p:sp>
        <p:nvSpPr>
          <p:cNvPr id="51" name="Rectangle 50"/>
          <p:cNvSpPr/>
          <p:nvPr/>
        </p:nvSpPr>
        <p:spPr>
          <a:xfrm>
            <a:off x="7955279" y="1463040"/>
            <a:ext cx="1737360" cy="320040"/>
          </a:xfrm>
          <a:prstGeom prst="rect">
            <a:avLst/>
          </a:prstGeom>
          <a:solidFill>
            <a:srgbClr val="333333"/>
          </a:solidFill>
          <a:ln w="1270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8001000" y="1508760"/>
            <a:ext cx="16459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  <a:latin typeface="맑은 고딕"/>
              </a:defRPr>
            </a:pPr>
            <a:r>
              <a:t>계획 방법론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2286000"/>
            <a:ext cx="8961120" cy="2286000"/>
          </a:xfrm>
          <a:prstGeom prst="rect">
            <a:avLst/>
          </a:prstGeom>
          <a:solidFill>
            <a:srgbClr val="E6E6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828800" y="2560320"/>
            <a:ext cx="62179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400" b="1">
                <a:solidFill>
                  <a:srgbClr val="333333"/>
                </a:solidFill>
                <a:latin typeface="맑은 고딕"/>
              </a:defRPr>
            </a:pPr>
            <a:r>
              <a:t>4장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828800" y="3474720"/>
            <a:ext cx="62179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400" b="1">
                <a:solidFill>
                  <a:srgbClr val="000000"/>
                </a:solidFill>
                <a:latin typeface="맑은 고딕"/>
              </a:defRPr>
            </a:pPr>
            <a:r>
              <a:t>계획 방법론</a:t>
            </a:r>
          </a:p>
        </p:txBody>
      </p:sp>
      <p:sp>
        <p:nvSpPr>
          <p:cNvPr id="5" name="Rectangle 4"/>
          <p:cNvSpPr/>
          <p:nvPr/>
        </p:nvSpPr>
        <p:spPr>
          <a:xfrm>
            <a:off x="3200400" y="4297680"/>
            <a:ext cx="3474720" cy="45720"/>
          </a:xfrm>
          <a:prstGeom prst="rect">
            <a:avLst/>
          </a:prstGeom>
          <a:solidFill>
            <a:srgbClr val="3333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274320" y="274320"/>
            <a:ext cx="9354312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000000"/>
                </a:solidFill>
                <a:latin typeface="맑은 고딕"/>
              </a:defRPr>
            </a:pPr>
            <a:r>
              <a:t>4.1 5대 방법론 개요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0" y="6400800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666666"/>
                </a:solidFill>
                <a:latin typeface="Arial"/>
              </a:defRPr>
            </a:pPr>
            <a:r>
              <a:t>20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" y="923544"/>
            <a:ext cx="9436608" cy="5760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666666"/>
                </a:solidFill>
                <a:latin typeface="맑은 고딕"/>
              </a:defRPr>
            </a:pPr>
            <a:r>
              <a:t>ROP, MRP, LTP, Min-Max, VMI 등 5대 방법론을 자재 특성에 맞춰 선택하여 재고 효율을 극대화합니다.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1828800"/>
            <a:ext cx="8686800" cy="256032"/>
          </a:xfrm>
          <a:prstGeom prst="rect">
            <a:avLst/>
          </a:prstGeom>
          <a:solidFill>
            <a:srgbClr val="666666"/>
          </a:solidFill>
          <a:ln w="1270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1856231"/>
            <a:ext cx="8503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FFFFFF"/>
                </a:solidFill>
                <a:latin typeface="맑은 고딕"/>
              </a:defRPr>
            </a:pPr>
            <a:r>
              <a:t>ROP (Re-Order Point) - 병목자재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2103120"/>
            <a:ext cx="109728" cy="1280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333333"/>
                </a:solidFill>
                <a:latin typeface="맑은 고딕"/>
              </a:defRPr>
            </a:pPr>
            <a:r>
              <a:t>•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" y="2103120"/>
            <a:ext cx="8366760" cy="1280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333333"/>
                </a:solidFill>
                <a:latin typeface="맑은 고딕"/>
              </a:defRPr>
            </a:pPr>
            <a:r>
              <a:t>재주문점 = 리드타임 수요 + 안전재고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2231136"/>
            <a:ext cx="109728" cy="1280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333333"/>
                </a:solidFill>
                <a:latin typeface="맑은 고딕"/>
              </a:defRPr>
            </a:pPr>
            <a:r>
              <a:t>•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0120" y="2231136"/>
            <a:ext cx="8366760" cy="1280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333333"/>
                </a:solidFill>
                <a:latin typeface="맑은 고딕"/>
              </a:defRPr>
            </a:pPr>
            <a:r>
              <a:t>재고가 ROP 이하로 떨어지면 자동 발주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60" y="2359152"/>
            <a:ext cx="109728" cy="1280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333333"/>
                </a:solidFill>
                <a:latin typeface="맑은 고딕"/>
              </a:defRPr>
            </a:pPr>
            <a:r>
              <a:t>•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60120" y="2359152"/>
            <a:ext cx="8366760" cy="1280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333333"/>
                </a:solidFill>
                <a:latin typeface="맑은 고딕"/>
              </a:defRPr>
            </a:pPr>
            <a:r>
              <a:t>안전재고율 높게 설정 (50-100%)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2960" y="2487168"/>
            <a:ext cx="109728" cy="1280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333333"/>
                </a:solidFill>
                <a:latin typeface="맑은 고딕"/>
              </a:defRPr>
            </a:pPr>
            <a:r>
              <a:t>•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60120" y="2487168"/>
            <a:ext cx="8366760" cy="1280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333333"/>
                </a:solidFill>
                <a:latin typeface="맑은 고딕"/>
              </a:defRPr>
            </a:pPr>
            <a:r>
              <a:t>적용: 공급 리스크 높고 수요 안정적인 자재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31520" y="2688336"/>
            <a:ext cx="8686800" cy="256032"/>
          </a:xfrm>
          <a:prstGeom prst="rect">
            <a:avLst/>
          </a:prstGeom>
          <a:solidFill>
            <a:srgbClr val="666666"/>
          </a:solidFill>
          <a:ln w="1270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22960" y="2715768"/>
            <a:ext cx="8503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FFFFFF"/>
                </a:solidFill>
                <a:latin typeface="맑은 고딕"/>
              </a:defRPr>
            </a:pPr>
            <a:r>
              <a:t>MRP (Material Requirements Planning) - 레버리지자재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2960" y="2962656"/>
            <a:ext cx="109728" cy="1280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333333"/>
                </a:solidFill>
                <a:latin typeface="맑은 고딕"/>
              </a:defRPr>
            </a:pPr>
            <a:r>
              <a:t>•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60120" y="2962656"/>
            <a:ext cx="8366760" cy="1280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333333"/>
                </a:solidFill>
                <a:latin typeface="맑은 고딕"/>
              </a:defRPr>
            </a:pPr>
            <a:r>
              <a:t>생산 계획 기반 역산 발주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2960" y="3090672"/>
            <a:ext cx="109728" cy="1280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333333"/>
                </a:solidFill>
                <a:latin typeface="맑은 고딕"/>
              </a:defRPr>
            </a:pPr>
            <a:r>
              <a:t>•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60120" y="3090672"/>
            <a:ext cx="8366760" cy="1280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333333"/>
                </a:solidFill>
                <a:latin typeface="맑은 고딕"/>
              </a:defRPr>
            </a:pPr>
            <a:r>
              <a:t>BOM(Bill of Materials) 전개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22960" y="3218688"/>
            <a:ext cx="109728" cy="1280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333333"/>
                </a:solidFill>
                <a:latin typeface="맑은 고딕"/>
              </a:defRPr>
            </a:pPr>
            <a:r>
              <a:t>•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60120" y="3218688"/>
            <a:ext cx="8366760" cy="1280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333333"/>
                </a:solidFill>
                <a:latin typeface="맑은 고딕"/>
              </a:defRPr>
            </a:pPr>
            <a:r>
              <a:t>최소 안전재고, 높은 회전율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22960" y="3346704"/>
            <a:ext cx="109728" cy="1280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333333"/>
                </a:solidFill>
                <a:latin typeface="맑은 고딕"/>
              </a:defRPr>
            </a:pPr>
            <a:r>
              <a:t>•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60120" y="3346704"/>
            <a:ext cx="8366760" cy="1280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333333"/>
                </a:solidFill>
                <a:latin typeface="맑은 고딕"/>
              </a:defRPr>
            </a:pPr>
            <a:r>
              <a:t>적용: 공급 안정적이고 수요 예측 가능한 자재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31520" y="3547872"/>
            <a:ext cx="8686800" cy="256032"/>
          </a:xfrm>
          <a:prstGeom prst="rect">
            <a:avLst/>
          </a:prstGeom>
          <a:solidFill>
            <a:srgbClr val="666666"/>
          </a:solidFill>
          <a:ln w="1270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22960" y="3575304"/>
            <a:ext cx="8503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FFFFFF"/>
                </a:solidFill>
                <a:latin typeface="맑은 고딕"/>
              </a:defRPr>
            </a:pPr>
            <a:r>
              <a:t>LTP (Long-Term Planning) - 전략자재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22960" y="3822192"/>
            <a:ext cx="109728" cy="1280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333333"/>
                </a:solidFill>
                <a:latin typeface="맑은 고딕"/>
              </a:defRPr>
            </a:pPr>
            <a:r>
              <a:t>•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60120" y="3822192"/>
            <a:ext cx="8366760" cy="1280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333333"/>
                </a:solidFill>
                <a:latin typeface="맑은 고딕"/>
              </a:defRPr>
            </a:pPr>
            <a:r>
              <a:t>12-24개월 장기 예측 기반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22960" y="3950208"/>
            <a:ext cx="109728" cy="1280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333333"/>
                </a:solidFill>
                <a:latin typeface="맑은 고딕"/>
              </a:defRPr>
            </a:pPr>
            <a:r>
              <a:t>•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60120" y="3950208"/>
            <a:ext cx="8366760" cy="1280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333333"/>
                </a:solidFill>
                <a:latin typeface="맑은 고딕"/>
              </a:defRPr>
            </a:pPr>
            <a:r>
              <a:t>공급업체와 계획 공유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22960" y="4078224"/>
            <a:ext cx="109728" cy="1280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333333"/>
                </a:solidFill>
                <a:latin typeface="맑은 고딕"/>
              </a:defRPr>
            </a:pPr>
            <a:r>
              <a:t>•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60120" y="4078224"/>
            <a:ext cx="8366760" cy="1280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333333"/>
                </a:solidFill>
                <a:latin typeface="맑은 고딕"/>
              </a:defRPr>
            </a:pPr>
            <a:r>
              <a:t>분기별 조정 (Rolling Forecast)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22960" y="4206240"/>
            <a:ext cx="109728" cy="1280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333333"/>
                </a:solidFill>
                <a:latin typeface="맑은 고딕"/>
              </a:defRPr>
            </a:pPr>
            <a:r>
              <a:t>•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60120" y="4206240"/>
            <a:ext cx="8366760" cy="1280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333333"/>
                </a:solidFill>
                <a:latin typeface="맑은 고딕"/>
              </a:defRPr>
            </a:pPr>
            <a:r>
              <a:t>적용: 리드타임 길고 전략적으로 중요한 자재</a:t>
            </a:r>
          </a:p>
        </p:txBody>
      </p:sp>
      <p:sp>
        <p:nvSpPr>
          <p:cNvPr id="35" name="Rectangle 34"/>
          <p:cNvSpPr/>
          <p:nvPr/>
        </p:nvSpPr>
        <p:spPr>
          <a:xfrm>
            <a:off x="731520" y="4407407"/>
            <a:ext cx="8686800" cy="256032"/>
          </a:xfrm>
          <a:prstGeom prst="rect">
            <a:avLst/>
          </a:prstGeom>
          <a:solidFill>
            <a:srgbClr val="666666"/>
          </a:solidFill>
          <a:ln w="1270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822960" y="4434840"/>
            <a:ext cx="8503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FFFFFF"/>
                </a:solidFill>
                <a:latin typeface="맑은 고딕"/>
              </a:defRPr>
            </a:pPr>
            <a:r>
              <a:t>Min-Max 자동화 - 일상자재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22960" y="4681727"/>
            <a:ext cx="109728" cy="1280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333333"/>
                </a:solidFill>
                <a:latin typeface="맑은 고딕"/>
              </a:defRPr>
            </a:pPr>
            <a:r>
              <a:t>•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60120" y="4681727"/>
            <a:ext cx="8366760" cy="1280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333333"/>
                </a:solidFill>
                <a:latin typeface="맑은 고딕"/>
              </a:defRPr>
            </a:pPr>
            <a:r>
              <a:t>최소 재고(Min)와 최대 재고(Max) 설정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22960" y="4809743"/>
            <a:ext cx="109728" cy="1280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333333"/>
                </a:solidFill>
                <a:latin typeface="맑은 고딕"/>
              </a:defRPr>
            </a:pPr>
            <a:r>
              <a:t>•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960120" y="4809743"/>
            <a:ext cx="8366760" cy="1280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333333"/>
                </a:solidFill>
                <a:latin typeface="맑은 고딕"/>
              </a:defRPr>
            </a:pPr>
            <a:r>
              <a:t>Min 도달 시 Max까지 자동 발주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822960" y="4937759"/>
            <a:ext cx="109728" cy="1280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333333"/>
                </a:solidFill>
                <a:latin typeface="맑은 고딕"/>
              </a:defRPr>
            </a:pPr>
            <a:r>
              <a:t>•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960120" y="4937759"/>
            <a:ext cx="8366760" cy="1280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333333"/>
                </a:solidFill>
                <a:latin typeface="맑은 고딕"/>
              </a:defRPr>
            </a:pPr>
            <a:r>
              <a:t>시스템 자동화, 예외 관리만 수동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22960" y="5065775"/>
            <a:ext cx="109728" cy="1280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333333"/>
                </a:solidFill>
                <a:latin typeface="맑은 고딕"/>
              </a:defRPr>
            </a:pPr>
            <a:r>
              <a:t>•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960120" y="5065775"/>
            <a:ext cx="8366760" cy="1280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333333"/>
                </a:solidFill>
                <a:latin typeface="맑은 고딕"/>
              </a:defRPr>
            </a:pPr>
            <a:r>
              <a:t>적용: 저가 소모품, MRO 자재</a:t>
            </a:r>
          </a:p>
        </p:txBody>
      </p:sp>
      <p:sp>
        <p:nvSpPr>
          <p:cNvPr id="45" name="Rectangle 44"/>
          <p:cNvSpPr/>
          <p:nvPr/>
        </p:nvSpPr>
        <p:spPr>
          <a:xfrm>
            <a:off x="731520" y="5266943"/>
            <a:ext cx="8686800" cy="256032"/>
          </a:xfrm>
          <a:prstGeom prst="rect">
            <a:avLst/>
          </a:prstGeom>
          <a:solidFill>
            <a:srgbClr val="666666"/>
          </a:solidFill>
          <a:ln w="1270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822960" y="5294375"/>
            <a:ext cx="8503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FFFFFF"/>
                </a:solidFill>
                <a:latin typeface="맑은 고딕"/>
              </a:defRPr>
            </a:pPr>
            <a:r>
              <a:t>VMI (Vendor Managed Inventory)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822960" y="5541263"/>
            <a:ext cx="109728" cy="1280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333333"/>
                </a:solidFill>
                <a:latin typeface="맑은 고딕"/>
              </a:defRPr>
            </a:pPr>
            <a:r>
              <a:t>•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960120" y="5541263"/>
            <a:ext cx="8366760" cy="1280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333333"/>
                </a:solidFill>
                <a:latin typeface="맑은 고딕"/>
              </a:defRPr>
            </a:pPr>
            <a:r>
              <a:t>공급업체가 고객 재고 모니터링 및 보충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822960" y="5669279"/>
            <a:ext cx="109728" cy="1280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333333"/>
                </a:solidFill>
                <a:latin typeface="맑은 고딕"/>
              </a:defRPr>
            </a:pPr>
            <a:r>
              <a:t>•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960120" y="5669279"/>
            <a:ext cx="8366760" cy="1280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333333"/>
                </a:solidFill>
                <a:latin typeface="맑은 고딕"/>
              </a:defRPr>
            </a:pPr>
            <a:r>
              <a:t>재고 책임 공급업체 이전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822960" y="5797295"/>
            <a:ext cx="109728" cy="1280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333333"/>
                </a:solidFill>
                <a:latin typeface="맑은 고딕"/>
              </a:defRPr>
            </a:pPr>
            <a:r>
              <a:t>•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960120" y="5797295"/>
            <a:ext cx="8366760" cy="1280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333333"/>
                </a:solidFill>
                <a:latin typeface="맑은 고딕"/>
              </a:defRPr>
            </a:pPr>
            <a:r>
              <a:t>재고 가시성 향상, 관리 비용 절감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822960" y="5925311"/>
            <a:ext cx="109728" cy="1280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333333"/>
                </a:solidFill>
                <a:latin typeface="맑은 고딕"/>
              </a:defRPr>
            </a:pPr>
            <a:r>
              <a:t>•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960120" y="5925311"/>
            <a:ext cx="8366760" cy="1280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333333"/>
                </a:solidFill>
                <a:latin typeface="맑은 고딕"/>
              </a:defRPr>
            </a:pPr>
            <a:r>
              <a:t>적용: 일상자재, 일부 레버리지자재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274320" y="274320"/>
            <a:ext cx="9354312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000000"/>
                </a:solidFill>
                <a:latin typeface="맑은 고딕"/>
              </a:defRPr>
            </a:pPr>
            <a:r>
              <a:t>4.2 하이브리드 접근법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0" y="6400800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666666"/>
                </a:solidFill>
                <a:latin typeface="Arial"/>
              </a:defRPr>
            </a:pPr>
            <a:r>
              <a:t>21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" y="923544"/>
            <a:ext cx="9436608" cy="5760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666666"/>
                </a:solidFill>
                <a:latin typeface="맑은 고딕"/>
              </a:defRPr>
            </a:pPr>
            <a:r>
              <a:t>전략자재는 예측 기반 LTP와 수요 기반 MRP를 결합한 하이브리드 방식으로 유연성을 확보합니다.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1828800"/>
            <a:ext cx="8686800" cy="256032"/>
          </a:xfrm>
          <a:prstGeom prst="rect">
            <a:avLst/>
          </a:prstGeom>
          <a:solidFill>
            <a:srgbClr val="666666"/>
          </a:solidFill>
          <a:ln w="1270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1856231"/>
            <a:ext cx="8503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FFFFFF"/>
                </a:solidFill>
                <a:latin typeface="맑은 고딕"/>
              </a:defRPr>
            </a:pPr>
            <a:r>
              <a:t>하이브리드 방식이 필요한 이유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2103120"/>
            <a:ext cx="109728" cy="1280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333333"/>
                </a:solidFill>
                <a:latin typeface="맑은 고딕"/>
              </a:defRPr>
            </a:pPr>
            <a:r>
              <a:t>•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" y="2103120"/>
            <a:ext cx="8366760" cy="1280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333333"/>
                </a:solidFill>
                <a:latin typeface="맑은 고딕"/>
              </a:defRPr>
            </a:pPr>
            <a:r>
              <a:t>전략자재: 리드타임 길고(8-24주) + 수요 변동 있음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2231136"/>
            <a:ext cx="109728" cy="1280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333333"/>
                </a:solidFill>
                <a:latin typeface="맑은 고딕"/>
              </a:defRPr>
            </a:pPr>
            <a:r>
              <a:t>•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0120" y="2231136"/>
            <a:ext cx="8366760" cy="1280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333333"/>
                </a:solidFill>
                <a:latin typeface="맑은 고딕"/>
              </a:defRPr>
            </a:pPr>
            <a:r>
              <a:t>LTP만 사용: 수요 변동 대응 어려움 → 과잉/부족 재고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60" y="2359152"/>
            <a:ext cx="109728" cy="1280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333333"/>
                </a:solidFill>
                <a:latin typeface="맑은 고딕"/>
              </a:defRPr>
            </a:pPr>
            <a:r>
              <a:t>•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60120" y="2359152"/>
            <a:ext cx="8366760" cy="1280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333333"/>
                </a:solidFill>
                <a:latin typeface="맑은 고딕"/>
              </a:defRPr>
            </a:pPr>
            <a:r>
              <a:t>MRP만 사용: 긴 리드타임 대응 불가 → 결품 위험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2960" y="2487168"/>
            <a:ext cx="109728" cy="1280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333333"/>
                </a:solidFill>
                <a:latin typeface="맑은 고딕"/>
              </a:defRPr>
            </a:pPr>
            <a:r>
              <a:t>•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60120" y="2487168"/>
            <a:ext cx="8366760" cy="1280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333333"/>
                </a:solidFill>
                <a:latin typeface="맑은 고딕"/>
              </a:defRPr>
            </a:pPr>
            <a:r>
              <a:t>하이브리드: 장기 안정성 + 단기 유연성 확보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31520" y="2688336"/>
            <a:ext cx="8686800" cy="256032"/>
          </a:xfrm>
          <a:prstGeom prst="rect">
            <a:avLst/>
          </a:prstGeom>
          <a:solidFill>
            <a:srgbClr val="666666"/>
          </a:solidFill>
          <a:ln w="1270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22960" y="2715768"/>
            <a:ext cx="8503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FFFFFF"/>
                </a:solidFill>
                <a:latin typeface="맑은 고딕"/>
              </a:defRPr>
            </a:pPr>
            <a:r>
              <a:t>하이브리드 운영 방법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2960" y="2962656"/>
            <a:ext cx="109728" cy="1280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333333"/>
                </a:solidFill>
                <a:latin typeface="맑은 고딕"/>
              </a:defRPr>
            </a:pPr>
            <a:r>
              <a:t>•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60120" y="2962656"/>
            <a:ext cx="8366760" cy="1280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333333"/>
                </a:solidFill>
                <a:latin typeface="맑은 고딕"/>
              </a:defRPr>
            </a:pPr>
            <a:r>
              <a:t>장기(12개월): LTP로 공급업체와 계약 물량 합의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2960" y="3090672"/>
            <a:ext cx="109728" cy="1280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333333"/>
                </a:solidFill>
                <a:latin typeface="맑은 고딕"/>
              </a:defRPr>
            </a:pPr>
            <a:r>
              <a:t>•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60120" y="3090672"/>
            <a:ext cx="8366760" cy="1280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333333"/>
                </a:solidFill>
                <a:latin typeface="맑은 고딕"/>
              </a:defRPr>
            </a:pPr>
            <a:r>
              <a:t>중기(분기): Rolling Forecast로 수요 재조정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22960" y="3218688"/>
            <a:ext cx="109728" cy="1280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333333"/>
                </a:solidFill>
                <a:latin typeface="맑은 고딕"/>
              </a:defRPr>
            </a:pPr>
            <a:r>
              <a:t>•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60120" y="3218688"/>
            <a:ext cx="8366760" cy="1280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333333"/>
                </a:solidFill>
                <a:latin typeface="맑은 고딕"/>
              </a:defRPr>
            </a:pPr>
            <a:r>
              <a:t>단기(월간): MRP로 실제 생산 계획 반영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22960" y="3346704"/>
            <a:ext cx="109728" cy="1280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333333"/>
                </a:solidFill>
                <a:latin typeface="맑은 고딕"/>
              </a:defRPr>
            </a:pPr>
            <a:r>
              <a:t>•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60120" y="3346704"/>
            <a:ext cx="8366760" cy="1280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333333"/>
                </a:solidFill>
                <a:latin typeface="맑은 고딕"/>
              </a:defRPr>
            </a:pPr>
            <a:r>
              <a:t>안전재고: 전략적 버퍼 4-8주 유지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22960" y="3474720"/>
            <a:ext cx="109728" cy="1280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333333"/>
                </a:solidFill>
                <a:latin typeface="맑은 고딕"/>
              </a:defRPr>
            </a:pPr>
            <a:r>
              <a:t>•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60120" y="3474720"/>
            <a:ext cx="8366760" cy="1280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333333"/>
                </a:solidFill>
                <a:latin typeface="맑은 고딕"/>
              </a:defRPr>
            </a:pPr>
            <a:r>
              <a:t>정기 리뷰: 월별 공급업체와 계획 조율 회의</a:t>
            </a:r>
          </a:p>
        </p:txBody>
      </p:sp>
      <p:sp>
        <p:nvSpPr>
          <p:cNvPr id="27" name="Rectangle 26"/>
          <p:cNvSpPr/>
          <p:nvPr/>
        </p:nvSpPr>
        <p:spPr>
          <a:xfrm>
            <a:off x="731520" y="3675888"/>
            <a:ext cx="8686800" cy="256032"/>
          </a:xfrm>
          <a:prstGeom prst="rect">
            <a:avLst/>
          </a:prstGeom>
          <a:solidFill>
            <a:srgbClr val="666666"/>
          </a:solidFill>
          <a:ln w="1270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22960" y="3703320"/>
            <a:ext cx="8503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FFFFFF"/>
                </a:solidFill>
                <a:latin typeface="맑은 고딕"/>
              </a:defRPr>
            </a:pPr>
            <a:r>
              <a:t>하이브리드 성공 사례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22960" y="3950208"/>
            <a:ext cx="109728" cy="1280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333333"/>
                </a:solidFill>
                <a:latin typeface="맑은 고딕"/>
              </a:defRPr>
            </a:pPr>
            <a:r>
              <a:t>•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60120" y="3950208"/>
            <a:ext cx="8366760" cy="1280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333333"/>
                </a:solidFill>
                <a:latin typeface="맑은 고딕"/>
              </a:defRPr>
            </a:pPr>
            <a:r>
              <a:t>삼성전자: 반도체 장비 (ASML) - LTP 12개월 + MRP 조정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22960" y="4078224"/>
            <a:ext cx="109728" cy="1280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333333"/>
                </a:solidFill>
                <a:latin typeface="맑은 고딕"/>
              </a:defRPr>
            </a:pPr>
            <a:r>
              <a:t>•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60120" y="4078224"/>
            <a:ext cx="8366760" cy="1280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333333"/>
                </a:solidFill>
                <a:latin typeface="맑은 고딕"/>
              </a:defRPr>
            </a:pPr>
            <a:r>
              <a:t>현대차: 배터리 (LG·CATL) - LTP 계약 + 분기 조정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22960" y="4206240"/>
            <a:ext cx="109728" cy="1280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333333"/>
                </a:solidFill>
                <a:latin typeface="맑은 고딕"/>
              </a:defRPr>
            </a:pPr>
            <a:r>
              <a:t>•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60120" y="4206240"/>
            <a:ext cx="8366760" cy="1280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333333"/>
                </a:solidFill>
                <a:latin typeface="맑은 고딕"/>
              </a:defRPr>
            </a:pPr>
            <a:r>
              <a:t>SK하이닉스: EUV 재료 - 6개월 LTP + 월간 MRP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22960" y="4334255"/>
            <a:ext cx="109728" cy="1280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333333"/>
                </a:solidFill>
                <a:latin typeface="맑은 고딕"/>
              </a:defRPr>
            </a:pPr>
            <a:r>
              <a:t>•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60120" y="4334255"/>
            <a:ext cx="8366760" cy="1280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333333"/>
                </a:solidFill>
                <a:latin typeface="맑은 고딕"/>
              </a:defRPr>
            </a:pPr>
            <a:r>
              <a:t>효과: 결품률 0.2% 이하 + 재고 최적화 20% 개선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274320" y="274320"/>
            <a:ext cx="9354312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000000"/>
                </a:solidFill>
                <a:latin typeface="맑은 고딕"/>
              </a:defRPr>
            </a:pPr>
            <a:r>
              <a:t>5장 통합 KPI 프레임워크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0" y="6400800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666666"/>
                </a:solidFill>
                <a:latin typeface="Arial"/>
              </a:defRPr>
            </a:pPr>
            <a:r>
              <a:t>22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" y="923544"/>
            <a:ext cx="9436608" cy="5760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666666"/>
                </a:solidFill>
                <a:latin typeface="맑은 고딕"/>
              </a:defRPr>
            </a:pPr>
            <a:r>
              <a:t>원가, 서비스 수준, 재고 회전율, 공급 안정성 4대 KPI로 자재군별 성과를 측정하고 개선합니다.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1828800"/>
            <a:ext cx="8686800" cy="256032"/>
          </a:xfrm>
          <a:prstGeom prst="rect">
            <a:avLst/>
          </a:prstGeom>
          <a:solidFill>
            <a:srgbClr val="666666"/>
          </a:solidFill>
          <a:ln w="1270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1856231"/>
            <a:ext cx="8503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FFFFFF"/>
                </a:solidFill>
                <a:latin typeface="맑은 고딕"/>
              </a:defRPr>
            </a:pPr>
            <a:r>
              <a:t>4대 핵심 KPI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2103120"/>
            <a:ext cx="109728" cy="1280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333333"/>
                </a:solidFill>
                <a:latin typeface="맑은 고딕"/>
              </a:defRPr>
            </a:pPr>
            <a:r>
              <a:t>•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" y="2103120"/>
            <a:ext cx="8366760" cy="1280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333333"/>
                </a:solidFill>
                <a:latin typeface="맑은 고딕"/>
              </a:defRPr>
            </a:pPr>
            <a:r>
              <a:t>원가 효율: 구매 단가, YoY 절감률, TCO(Total Cost)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2231136"/>
            <a:ext cx="109728" cy="1280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333333"/>
                </a:solidFill>
                <a:latin typeface="맑은 고딕"/>
              </a:defRPr>
            </a:pPr>
            <a:r>
              <a:t>•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0120" y="2231136"/>
            <a:ext cx="8366760" cy="1280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333333"/>
                </a:solidFill>
                <a:latin typeface="맑은 고딕"/>
              </a:defRPr>
            </a:pPr>
            <a:r>
              <a:t>서비스 수준: 재고 가용률, 결품률, 납기 준수율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60" y="2359152"/>
            <a:ext cx="109728" cy="1280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333333"/>
                </a:solidFill>
                <a:latin typeface="맑은 고딕"/>
              </a:defRPr>
            </a:pPr>
            <a:r>
              <a:t>•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60120" y="2359152"/>
            <a:ext cx="8366760" cy="1280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333333"/>
                </a:solidFill>
                <a:latin typeface="맑은 고딕"/>
              </a:defRPr>
            </a:pPr>
            <a:r>
              <a:t>재고 효율: 재고 회전율, 재고일수, 재고 금액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2960" y="2487168"/>
            <a:ext cx="109728" cy="1280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333333"/>
                </a:solidFill>
                <a:latin typeface="맑은 고딕"/>
              </a:defRPr>
            </a:pPr>
            <a:r>
              <a:t>•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60120" y="2487168"/>
            <a:ext cx="8366760" cy="1280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333333"/>
                </a:solidFill>
                <a:latin typeface="맑은 고딕"/>
              </a:defRPr>
            </a:pPr>
            <a:r>
              <a:t>공급 안정성: 공급업체 수, 리스크 점수, 대체 가능성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31520" y="2688336"/>
            <a:ext cx="8686800" cy="256032"/>
          </a:xfrm>
          <a:prstGeom prst="rect">
            <a:avLst/>
          </a:prstGeom>
          <a:solidFill>
            <a:srgbClr val="666666"/>
          </a:solidFill>
          <a:ln w="1270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22960" y="2715768"/>
            <a:ext cx="8503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FFFFFF"/>
                </a:solidFill>
                <a:latin typeface="맑은 고딕"/>
              </a:defRPr>
            </a:pPr>
            <a:r>
              <a:t>자재군별 KPI 가중치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2960" y="2962656"/>
            <a:ext cx="109728" cy="1280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333333"/>
                </a:solidFill>
                <a:latin typeface="맑은 고딕"/>
              </a:defRPr>
            </a:pPr>
            <a:r>
              <a:t>•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60120" y="2962656"/>
            <a:ext cx="8366760" cy="1280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333333"/>
                </a:solidFill>
                <a:latin typeface="맑은 고딕"/>
              </a:defRPr>
            </a:pPr>
            <a:r>
              <a:t>전략자재: 공급 안정성 40% + 품질 30% + 원가 30%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2960" y="3090672"/>
            <a:ext cx="109728" cy="1280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333333"/>
                </a:solidFill>
                <a:latin typeface="맑은 고딕"/>
              </a:defRPr>
            </a:pPr>
            <a:r>
              <a:t>•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60120" y="3090672"/>
            <a:ext cx="8366760" cy="1280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333333"/>
                </a:solidFill>
                <a:latin typeface="맑은 고딕"/>
              </a:defRPr>
            </a:pPr>
            <a:r>
              <a:t>레버리지자재: 원가 50% + 재고 효율 30% + 서비스 20%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22960" y="3218688"/>
            <a:ext cx="109728" cy="1280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333333"/>
                </a:solidFill>
                <a:latin typeface="맑은 고딕"/>
              </a:defRPr>
            </a:pPr>
            <a:r>
              <a:t>•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60120" y="3218688"/>
            <a:ext cx="8366760" cy="1280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333333"/>
                </a:solidFill>
                <a:latin typeface="맑은 고딕"/>
              </a:defRPr>
            </a:pPr>
            <a:r>
              <a:t>병목자재: 공급 안정성 60% + 서비스 수준 30% + 원가 10%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22960" y="3346704"/>
            <a:ext cx="109728" cy="1280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333333"/>
                </a:solidFill>
                <a:latin typeface="맑은 고딕"/>
              </a:defRPr>
            </a:pPr>
            <a:r>
              <a:t>•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60120" y="3346704"/>
            <a:ext cx="8366760" cy="1280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333333"/>
                </a:solidFill>
                <a:latin typeface="맑은 고딕"/>
              </a:defRPr>
            </a:pPr>
            <a:r>
              <a:t>일상자재: 프로세스 효율 50% + 원가 30% + 만족도 20%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31520" y="3547872"/>
            <a:ext cx="8686800" cy="256032"/>
          </a:xfrm>
          <a:prstGeom prst="rect">
            <a:avLst/>
          </a:prstGeom>
          <a:solidFill>
            <a:srgbClr val="666666"/>
          </a:solidFill>
          <a:ln w="1270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22960" y="3575304"/>
            <a:ext cx="8503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FFFFFF"/>
                </a:solidFill>
                <a:latin typeface="맑은 고딕"/>
              </a:defRPr>
            </a:pPr>
            <a:r>
              <a:t>KPI 모니터링 체계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22960" y="3822192"/>
            <a:ext cx="109728" cy="1280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333333"/>
                </a:solidFill>
                <a:latin typeface="맑은 고딕"/>
              </a:defRPr>
            </a:pPr>
            <a:r>
              <a:t>•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60120" y="3822192"/>
            <a:ext cx="8366760" cy="1280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333333"/>
                </a:solidFill>
                <a:latin typeface="맑은 고딕"/>
              </a:defRPr>
            </a:pPr>
            <a:r>
              <a:t>일간: 재고 가용률, 결품 발생 (시스템 자동)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22960" y="3950208"/>
            <a:ext cx="109728" cy="1280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333333"/>
                </a:solidFill>
                <a:latin typeface="맑은 고딕"/>
              </a:defRPr>
            </a:pPr>
            <a:r>
              <a:t>•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60120" y="3950208"/>
            <a:ext cx="8366760" cy="1280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333333"/>
                </a:solidFill>
                <a:latin typeface="맑은 고딕"/>
              </a:defRPr>
            </a:pPr>
            <a:r>
              <a:t>주간: 납기 준수율, 긴급 발주 건수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22960" y="4078224"/>
            <a:ext cx="109728" cy="1280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333333"/>
                </a:solidFill>
                <a:latin typeface="맑은 고딕"/>
              </a:defRPr>
            </a:pPr>
            <a:r>
              <a:t>•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60120" y="4078224"/>
            <a:ext cx="8366760" cy="1280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333333"/>
                </a:solidFill>
                <a:latin typeface="맑은 고딕"/>
              </a:defRPr>
            </a:pPr>
            <a:r>
              <a:t>월간: 원가 절감, 재고 회전율, 공급업체 성과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22960" y="4206240"/>
            <a:ext cx="109728" cy="1280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333333"/>
                </a:solidFill>
                <a:latin typeface="맑은 고딕"/>
              </a:defRPr>
            </a:pPr>
            <a:r>
              <a:t>•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60120" y="4206240"/>
            <a:ext cx="8366760" cy="1280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333333"/>
                </a:solidFill>
                <a:latin typeface="맑은 고딕"/>
              </a:defRPr>
            </a:pPr>
            <a:r>
              <a:t>분기: Kraljic 재분류, 전략 조정, 공급업체 리뷰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22960" y="4334255"/>
            <a:ext cx="109728" cy="1280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333333"/>
                </a:solidFill>
                <a:latin typeface="맑은 고딕"/>
              </a:defRPr>
            </a:pPr>
            <a:r>
              <a:t>•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60120" y="4334255"/>
            <a:ext cx="8366760" cy="1280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333333"/>
                </a:solidFill>
                <a:latin typeface="맑은 고딕"/>
              </a:defRPr>
            </a:pPr>
            <a:r>
              <a:t>연간: 종합 성과 평가, 목표 재설정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274320" y="274320"/>
            <a:ext cx="9354312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000000"/>
                </a:solidFill>
                <a:latin typeface="맑은 고딕"/>
              </a:defRPr>
            </a:pPr>
            <a:r>
              <a:t>6장 산업별 적용 사례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0" y="6400800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666666"/>
                </a:solidFill>
                <a:latin typeface="Arial"/>
              </a:defRPr>
            </a:pPr>
            <a:r>
              <a:t>23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" y="923544"/>
            <a:ext cx="9436608" cy="5760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666666"/>
                </a:solidFill>
                <a:latin typeface="맑은 고딕"/>
              </a:defRPr>
            </a:pPr>
            <a:r>
              <a:t>자동차, 전자, 화학, 식품, 건설 등 산업별 Kraljic Matrix 적용 사례와 베스트 프랙티스를 학습합니다.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1828800"/>
            <a:ext cx="8686800" cy="256032"/>
          </a:xfrm>
          <a:prstGeom prst="rect">
            <a:avLst/>
          </a:prstGeom>
          <a:solidFill>
            <a:srgbClr val="666666"/>
          </a:solidFill>
          <a:ln w="1270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1856231"/>
            <a:ext cx="8503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FFFFFF"/>
                </a:solidFill>
                <a:latin typeface="맑은 고딕"/>
              </a:defRPr>
            </a:pPr>
            <a:r>
              <a:t>자동차 산업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2103120"/>
            <a:ext cx="109728" cy="1280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333333"/>
                </a:solidFill>
                <a:latin typeface="맑은 고딕"/>
              </a:defRPr>
            </a:pPr>
            <a:r>
              <a:t>•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" y="2103120"/>
            <a:ext cx="8366760" cy="1280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333333"/>
                </a:solidFill>
                <a:latin typeface="맑은 고딕"/>
              </a:defRPr>
            </a:pPr>
            <a:r>
              <a:t>전략자재: 차세대 배터리, 자율주행 센서 → LG·CATL 장기 계약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2231136"/>
            <a:ext cx="109728" cy="1280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333333"/>
                </a:solidFill>
                <a:latin typeface="맑은 고딕"/>
              </a:defRPr>
            </a:pPr>
            <a:r>
              <a:t>•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0120" y="2231136"/>
            <a:ext cx="8366760" cy="1280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333333"/>
                </a:solidFill>
                <a:latin typeface="맑은 고딕"/>
              </a:defRPr>
            </a:pPr>
            <a:r>
              <a:t>레버리지자재: 철강, 타이어 → 경쟁입찰로 5% 절감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60" y="2359152"/>
            <a:ext cx="109728" cy="1280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333333"/>
                </a:solidFill>
                <a:latin typeface="맑은 고딕"/>
              </a:defRPr>
            </a:pPr>
            <a:r>
              <a:t>•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60120" y="2359152"/>
            <a:ext cx="8366760" cy="1280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333333"/>
                </a:solidFill>
                <a:latin typeface="맑은 고딕"/>
              </a:defRPr>
            </a:pPr>
            <a:r>
              <a:t>병목자재: 특수 반도체 → 12주 안전재고 확보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2960" y="2487168"/>
            <a:ext cx="109728" cy="1280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333333"/>
                </a:solidFill>
                <a:latin typeface="맑은 고딕"/>
              </a:defRPr>
            </a:pPr>
            <a:r>
              <a:t>•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60120" y="2487168"/>
            <a:ext cx="8366760" cy="1280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333333"/>
                </a:solidFill>
                <a:latin typeface="맑은 고딕"/>
              </a:defRPr>
            </a:pPr>
            <a:r>
              <a:t>일상자재: MRO 소모품 → VMI로 관리 비용 40% 절감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31520" y="2688336"/>
            <a:ext cx="8686800" cy="256032"/>
          </a:xfrm>
          <a:prstGeom prst="rect">
            <a:avLst/>
          </a:prstGeom>
          <a:solidFill>
            <a:srgbClr val="666666"/>
          </a:solidFill>
          <a:ln w="1270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22960" y="2715768"/>
            <a:ext cx="8503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FFFFFF"/>
                </a:solidFill>
                <a:latin typeface="맑은 고딕"/>
              </a:defRPr>
            </a:pPr>
            <a:r>
              <a:t>전자 산업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2960" y="2962656"/>
            <a:ext cx="109728" cy="1280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333333"/>
                </a:solidFill>
                <a:latin typeface="맑은 고딕"/>
              </a:defRPr>
            </a:pPr>
            <a:r>
              <a:t>•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60120" y="2962656"/>
            <a:ext cx="8366760" cy="1280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333333"/>
                </a:solidFill>
                <a:latin typeface="맑은 고딕"/>
              </a:defRPr>
            </a:pPr>
            <a:r>
              <a:t>전략자재: 최첨단 반도체 장비(ASML) → 24개월 LTP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2960" y="3090672"/>
            <a:ext cx="109728" cy="1280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333333"/>
                </a:solidFill>
                <a:latin typeface="맑은 고딕"/>
              </a:defRPr>
            </a:pPr>
            <a:r>
              <a:t>•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60120" y="3090672"/>
            <a:ext cx="8366760" cy="1280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333333"/>
                </a:solidFill>
                <a:latin typeface="맑은 고딕"/>
              </a:defRPr>
            </a:pPr>
            <a:r>
              <a:t>레버리지자재: PCB, 표준 부품 → e-Auction 활용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22960" y="3218688"/>
            <a:ext cx="109728" cy="1280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333333"/>
                </a:solidFill>
                <a:latin typeface="맑은 고딕"/>
              </a:defRPr>
            </a:pPr>
            <a:r>
              <a:t>•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60120" y="3218688"/>
            <a:ext cx="8366760" cy="1280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333333"/>
                </a:solidFill>
                <a:latin typeface="맑은 고딕"/>
              </a:defRPr>
            </a:pPr>
            <a:r>
              <a:t>병목자재: 희토류 원소 → 복수 지역 소싱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22960" y="3346704"/>
            <a:ext cx="109728" cy="1280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333333"/>
                </a:solidFill>
                <a:latin typeface="맑은 고딕"/>
              </a:defRPr>
            </a:pPr>
            <a:r>
              <a:t>•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60120" y="3346704"/>
            <a:ext cx="8366760" cy="1280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333333"/>
                </a:solidFill>
                <a:latin typeface="맑은 고딕"/>
              </a:defRPr>
            </a:pPr>
            <a:r>
              <a:t>일상자재: 포장재 → 자동 발주 시스템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31520" y="3547872"/>
            <a:ext cx="8686800" cy="256032"/>
          </a:xfrm>
          <a:prstGeom prst="rect">
            <a:avLst/>
          </a:prstGeom>
          <a:solidFill>
            <a:srgbClr val="666666"/>
          </a:solidFill>
          <a:ln w="1270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22960" y="3575304"/>
            <a:ext cx="8503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FFFFFF"/>
                </a:solidFill>
                <a:latin typeface="맑은 고딕"/>
              </a:defRPr>
            </a:pPr>
            <a:r>
              <a:t>화학 산업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22960" y="3822192"/>
            <a:ext cx="109728" cy="1280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333333"/>
                </a:solidFill>
                <a:latin typeface="맑은 고딕"/>
              </a:defRPr>
            </a:pPr>
            <a:r>
              <a:t>•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60120" y="3822192"/>
            <a:ext cx="8366760" cy="1280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333333"/>
                </a:solidFill>
                <a:latin typeface="맑은 고딕"/>
              </a:defRPr>
            </a:pPr>
            <a:r>
              <a:t>전략자재: 특수 촉매 → 일본 3개사 분산 소싱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22960" y="3950208"/>
            <a:ext cx="109728" cy="1280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333333"/>
                </a:solidFill>
                <a:latin typeface="맑은 고딕"/>
              </a:defRPr>
            </a:pPr>
            <a:r>
              <a:t>•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60120" y="3950208"/>
            <a:ext cx="8366760" cy="1280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333333"/>
                </a:solidFill>
                <a:latin typeface="맑은 고딕"/>
              </a:defRPr>
            </a:pPr>
            <a:r>
              <a:t>레버리지자재: 원유, 기초 화학품 → 글로벌 시장 연동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22960" y="4078224"/>
            <a:ext cx="109728" cy="1280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333333"/>
                </a:solidFill>
                <a:latin typeface="맑은 고딕"/>
              </a:defRPr>
            </a:pPr>
            <a:r>
              <a:t>•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60120" y="4078224"/>
            <a:ext cx="8366760" cy="1280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333333"/>
                </a:solidFill>
                <a:latin typeface="맑은 고딕"/>
              </a:defRPr>
            </a:pPr>
            <a:r>
              <a:t>병목자재: 특수 첨가제 → ROP + 8주 재고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22960" y="4206240"/>
            <a:ext cx="109728" cy="1280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333333"/>
                </a:solidFill>
                <a:latin typeface="맑은 고딕"/>
              </a:defRPr>
            </a:pPr>
            <a:r>
              <a:t>•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60120" y="4206240"/>
            <a:ext cx="8366760" cy="1280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333333"/>
                </a:solidFill>
                <a:latin typeface="맑은 고딕"/>
              </a:defRPr>
            </a:pPr>
            <a:r>
              <a:t>일상자재: 안전 장비 → 카탈로그 구매</a:t>
            </a:r>
          </a:p>
        </p:txBody>
      </p:sp>
      <p:sp>
        <p:nvSpPr>
          <p:cNvPr id="35" name="Rectangle 34"/>
          <p:cNvSpPr/>
          <p:nvPr/>
        </p:nvSpPr>
        <p:spPr>
          <a:xfrm>
            <a:off x="731520" y="4407407"/>
            <a:ext cx="8686800" cy="256032"/>
          </a:xfrm>
          <a:prstGeom prst="rect">
            <a:avLst/>
          </a:prstGeom>
          <a:solidFill>
            <a:srgbClr val="666666"/>
          </a:solidFill>
          <a:ln w="1270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822960" y="4434840"/>
            <a:ext cx="8503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FFFFFF"/>
                </a:solidFill>
                <a:latin typeface="맑은 고딕"/>
              </a:defRPr>
            </a:pPr>
            <a:r>
              <a:t>식품·제약 산업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22960" y="4681727"/>
            <a:ext cx="109728" cy="1280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333333"/>
                </a:solidFill>
                <a:latin typeface="맑은 고딕"/>
              </a:defRPr>
            </a:pPr>
            <a:r>
              <a:t>•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60120" y="4681727"/>
            <a:ext cx="8366760" cy="1280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333333"/>
                </a:solidFill>
                <a:latin typeface="맑은 고딕"/>
              </a:defRPr>
            </a:pPr>
            <a:r>
              <a:t>전략자재: API(원료의약품) → 장기 계약 + FDA 인증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22960" y="4809743"/>
            <a:ext cx="109728" cy="1280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333333"/>
                </a:solidFill>
                <a:latin typeface="맑은 고딕"/>
              </a:defRPr>
            </a:pPr>
            <a:r>
              <a:t>•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960120" y="4809743"/>
            <a:ext cx="8366760" cy="1280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333333"/>
                </a:solidFill>
                <a:latin typeface="맑은 고딕"/>
              </a:defRPr>
            </a:pPr>
            <a:r>
              <a:t>레버리지자재: 포장재, 용기 → 대량 구매 할인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822960" y="4937759"/>
            <a:ext cx="109728" cy="1280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333333"/>
                </a:solidFill>
                <a:latin typeface="맑은 고딕"/>
              </a:defRPr>
            </a:pPr>
            <a:r>
              <a:t>•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960120" y="4937759"/>
            <a:ext cx="8366760" cy="1280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333333"/>
                </a:solidFill>
                <a:latin typeface="맑은 고딕"/>
              </a:defRPr>
            </a:pPr>
            <a:r>
              <a:t>병목자재: 특수 향료 → 복수 공급원 확보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22960" y="5065775"/>
            <a:ext cx="109728" cy="1280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333333"/>
                </a:solidFill>
                <a:latin typeface="맑은 고딕"/>
              </a:defRPr>
            </a:pPr>
            <a:r>
              <a:t>•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960120" y="5065775"/>
            <a:ext cx="8366760" cy="1280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333333"/>
                </a:solidFill>
                <a:latin typeface="맑은 고딕"/>
              </a:defRPr>
            </a:pPr>
            <a:r>
              <a:t>일상자재: 라벨, 박스 → Min-Max 자동화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274320" y="274320"/>
            <a:ext cx="9354312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000000"/>
                </a:solidFill>
                <a:latin typeface="맑은 고딕"/>
              </a:defRPr>
            </a:pPr>
            <a:r>
              <a:t>7장 9회차 학습 여정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0" y="6400800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666666"/>
                </a:solidFill>
                <a:latin typeface="Arial"/>
              </a:defRPr>
            </a:pPr>
            <a:r>
              <a:t>24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" y="923544"/>
            <a:ext cx="9436608" cy="5760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666666"/>
                </a:solidFill>
                <a:latin typeface="맑은 고딕"/>
              </a:defRPr>
            </a:pPr>
            <a:r>
              <a:t>9회차 과정을 통해 Kraljic 이론부터 실전 워크샵까지 단계적으로 학습하여 실무 적용 역량을 확보합니다.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1828800"/>
            <a:ext cx="8686800" cy="256032"/>
          </a:xfrm>
          <a:prstGeom prst="rect">
            <a:avLst/>
          </a:prstGeom>
          <a:solidFill>
            <a:srgbClr val="666666"/>
          </a:solidFill>
          <a:ln w="1270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1856231"/>
            <a:ext cx="8503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FFFFFF"/>
                </a:solidFill>
                <a:latin typeface="맑은 고딕"/>
              </a:defRPr>
            </a:pPr>
            <a:r>
              <a:t>Overview (1-3회차)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2103120"/>
            <a:ext cx="109728" cy="1280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333333"/>
                </a:solidFill>
                <a:latin typeface="맑은 고딕"/>
              </a:defRPr>
            </a:pPr>
            <a:r>
              <a:t>•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" y="2103120"/>
            <a:ext cx="8366760" cy="1280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333333"/>
                </a:solidFill>
                <a:latin typeface="맑은 고딕"/>
              </a:defRPr>
            </a:pPr>
            <a:r>
              <a:t>1회차: JIT → JIC 패러다임 전환 + Kraljic 기초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2231136"/>
            <a:ext cx="109728" cy="1280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333333"/>
                </a:solidFill>
                <a:latin typeface="맑은 고딕"/>
              </a:defRPr>
            </a:pPr>
            <a:r>
              <a:t>•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0120" y="2231136"/>
            <a:ext cx="8366760" cy="1280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333333"/>
                </a:solidFill>
                <a:latin typeface="맑은 고딕"/>
              </a:defRPr>
            </a:pPr>
            <a:r>
              <a:t>2회차: 소싱 전략 &amp; 공급업체 관리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60" y="2359152"/>
            <a:ext cx="109728" cy="1280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333333"/>
                </a:solidFill>
                <a:latin typeface="맑은 고딕"/>
              </a:defRPr>
            </a:pPr>
            <a:r>
              <a:t>•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60120" y="2359152"/>
            <a:ext cx="8366760" cy="1280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333333"/>
                </a:solidFill>
                <a:latin typeface="맑은 고딕"/>
              </a:defRPr>
            </a:pPr>
            <a:r>
              <a:t>3회차: ABC-XYZ 재고 분류 &amp; 분석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31520" y="2560320"/>
            <a:ext cx="8686800" cy="256032"/>
          </a:xfrm>
          <a:prstGeom prst="rect">
            <a:avLst/>
          </a:prstGeom>
          <a:solidFill>
            <a:srgbClr val="666666"/>
          </a:solidFill>
          <a:ln w="1270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22960" y="2587752"/>
            <a:ext cx="8503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FFFFFF"/>
                </a:solidFill>
                <a:latin typeface="맑은 고딕"/>
              </a:defRPr>
            </a:pPr>
            <a:r>
              <a:t>자재군별 Deep Dive (4-7회차)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2960" y="2834640"/>
            <a:ext cx="109728" cy="1280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333333"/>
                </a:solidFill>
                <a:latin typeface="맑은 고딕"/>
              </a:defRPr>
            </a:pPr>
            <a:r>
              <a:t>•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60120" y="2834640"/>
            <a:ext cx="8366760" cy="1280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333333"/>
                </a:solidFill>
                <a:latin typeface="맑은 고딕"/>
              </a:defRPr>
            </a:pPr>
            <a:r>
              <a:t>4회차: 병목자재 전략 &amp; ROP 계획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2960" y="2962656"/>
            <a:ext cx="109728" cy="1280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333333"/>
                </a:solidFill>
                <a:latin typeface="맑은 고딕"/>
              </a:defRPr>
            </a:pPr>
            <a:r>
              <a:t>•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60120" y="2962656"/>
            <a:ext cx="8366760" cy="1280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333333"/>
                </a:solidFill>
                <a:latin typeface="맑은 고딕"/>
              </a:defRPr>
            </a:pPr>
            <a:r>
              <a:t>5회차: 레버리지자재 전략 &amp; MRP 계획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2960" y="3090672"/>
            <a:ext cx="109728" cy="1280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333333"/>
                </a:solidFill>
                <a:latin typeface="맑은 고딕"/>
              </a:defRPr>
            </a:pPr>
            <a:r>
              <a:t>•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60120" y="3090672"/>
            <a:ext cx="8366760" cy="1280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333333"/>
                </a:solidFill>
                <a:latin typeface="맑은 고딕"/>
              </a:defRPr>
            </a:pPr>
            <a:r>
              <a:t>6회차: 전략자재 전략 &amp; 하이브리드 계획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22960" y="3218688"/>
            <a:ext cx="109728" cy="1280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333333"/>
                </a:solidFill>
                <a:latin typeface="맑은 고딕"/>
              </a:defRPr>
            </a:pPr>
            <a:r>
              <a:t>•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60120" y="3218688"/>
            <a:ext cx="8366760" cy="1280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333333"/>
                </a:solidFill>
                <a:latin typeface="맑은 고딕"/>
              </a:defRPr>
            </a:pPr>
            <a:r>
              <a:t>7회차: 일상자재 효율화 &amp; 자동화</a:t>
            </a:r>
          </a:p>
        </p:txBody>
      </p:sp>
      <p:sp>
        <p:nvSpPr>
          <p:cNvPr id="23" name="Rectangle 22"/>
          <p:cNvSpPr/>
          <p:nvPr/>
        </p:nvSpPr>
        <p:spPr>
          <a:xfrm>
            <a:off x="731520" y="3419856"/>
            <a:ext cx="8686800" cy="256032"/>
          </a:xfrm>
          <a:prstGeom prst="rect">
            <a:avLst/>
          </a:prstGeom>
          <a:solidFill>
            <a:srgbClr val="666666"/>
          </a:solidFill>
          <a:ln w="1270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22960" y="3447288"/>
            <a:ext cx="8503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FFFFFF"/>
                </a:solidFill>
                <a:latin typeface="맑은 고딕"/>
              </a:defRPr>
            </a:pPr>
            <a:r>
              <a:t>실전 Workshop (8-9회차)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22960" y="3694176"/>
            <a:ext cx="109728" cy="1280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333333"/>
                </a:solidFill>
                <a:latin typeface="맑은 고딕"/>
              </a:defRPr>
            </a:pPr>
            <a:r>
              <a:t>•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60120" y="3694176"/>
            <a:ext cx="8366760" cy="1280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333333"/>
                </a:solidFill>
                <a:latin typeface="맑은 고딕"/>
              </a:defRPr>
            </a:pPr>
            <a:r>
              <a:t>8회차: Kraljic Matrix 실전 워크샵 (자사 자재 분류)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22960" y="3822192"/>
            <a:ext cx="109728" cy="1280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333333"/>
                </a:solidFill>
                <a:latin typeface="맑은 고딕"/>
              </a:defRPr>
            </a:pPr>
            <a:r>
              <a:t>•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60120" y="3822192"/>
            <a:ext cx="8366760" cy="1280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333333"/>
                </a:solidFill>
                <a:latin typeface="맑은 고딕"/>
              </a:defRPr>
            </a:pPr>
            <a:r>
              <a:t>9회차: 통합 워크샵 (전략 수립 + 실행 계획)</a:t>
            </a:r>
          </a:p>
        </p:txBody>
      </p:sp>
      <p:sp>
        <p:nvSpPr>
          <p:cNvPr id="29" name="Rectangle 28"/>
          <p:cNvSpPr/>
          <p:nvPr/>
        </p:nvSpPr>
        <p:spPr>
          <a:xfrm>
            <a:off x="731520" y="4023360"/>
            <a:ext cx="8686800" cy="256032"/>
          </a:xfrm>
          <a:prstGeom prst="rect">
            <a:avLst/>
          </a:prstGeom>
          <a:solidFill>
            <a:srgbClr val="666666"/>
          </a:solidFill>
          <a:ln w="1270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22960" y="4050792"/>
            <a:ext cx="8503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FFFFFF"/>
                </a:solidFill>
                <a:latin typeface="맑은 고딕"/>
              </a:defRPr>
            </a:pPr>
            <a:r>
              <a:t>학습 성과물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22960" y="4297680"/>
            <a:ext cx="109728" cy="1280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333333"/>
                </a:solidFill>
                <a:latin typeface="맑은 고딕"/>
              </a:defRPr>
            </a:pPr>
            <a:r>
              <a:t>•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60120" y="4297680"/>
            <a:ext cx="8366760" cy="1280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333333"/>
                </a:solidFill>
                <a:latin typeface="맑은 고딕"/>
              </a:defRPr>
            </a:pPr>
            <a:r>
              <a:t>자사 자재 Kraljic Matrix 분류 결과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22960" y="4425696"/>
            <a:ext cx="109728" cy="1280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333333"/>
                </a:solidFill>
                <a:latin typeface="맑은 고딕"/>
              </a:defRPr>
            </a:pPr>
            <a:r>
              <a:t>•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60120" y="4425696"/>
            <a:ext cx="8366760" cy="1280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333333"/>
                </a:solidFill>
                <a:latin typeface="맑은 고딕"/>
              </a:defRPr>
            </a:pPr>
            <a:r>
              <a:t>자재군별 차별화 전략 수립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22960" y="4553712"/>
            <a:ext cx="109728" cy="1280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333333"/>
                </a:solidFill>
                <a:latin typeface="맑은 고딕"/>
              </a:defRPr>
            </a:pPr>
            <a:r>
              <a:t>•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60120" y="4553712"/>
            <a:ext cx="8366760" cy="1280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333333"/>
                </a:solidFill>
                <a:latin typeface="맑은 고딕"/>
              </a:defRPr>
            </a:pPr>
            <a:r>
              <a:t>계획 방법론 선택 및 적용 방안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22960" y="4681727"/>
            <a:ext cx="109728" cy="1280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333333"/>
                </a:solidFill>
                <a:latin typeface="맑은 고딕"/>
              </a:defRPr>
            </a:pPr>
            <a:r>
              <a:t>•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60120" y="4681727"/>
            <a:ext cx="8366760" cy="1280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333333"/>
                </a:solidFill>
                <a:latin typeface="맑은 고딕"/>
              </a:defRPr>
            </a:pPr>
            <a:r>
              <a:t>실행 로드맵 및 KPI 설정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274320" y="274320"/>
            <a:ext cx="9354312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000000"/>
                </a:solidFill>
                <a:latin typeface="맑은 고딕"/>
              </a:defRPr>
            </a:pPr>
            <a:r>
              <a:t>Summary &amp; Next Steps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0" y="6400800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666666"/>
                </a:solidFill>
                <a:latin typeface="Arial"/>
              </a:defRPr>
            </a:pPr>
            <a:r>
              <a:t>25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" y="923544"/>
            <a:ext cx="9436608" cy="5760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666666"/>
                </a:solidFill>
                <a:latin typeface="맑은 고딕"/>
              </a:defRPr>
            </a:pPr>
            <a:r>
              <a:t>Kraljic Matrix 프레임워크와 차별화 전략을 학습했으며 다음 세션에서 소싱 전략과 공급업체 관리를 다룹니다.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2011680"/>
            <a:ext cx="2743200" cy="320040"/>
          </a:xfrm>
          <a:prstGeom prst="rect">
            <a:avLst/>
          </a:prstGeom>
          <a:solidFill>
            <a:srgbClr val="333333"/>
          </a:solidFill>
          <a:ln w="1270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2057400"/>
            <a:ext cx="25603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FFFFFF"/>
                </a:solidFill>
                <a:latin typeface="맑은 고딕"/>
              </a:defRPr>
            </a:pPr>
            <a:r>
              <a:t>핵심 학습 내용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2423160"/>
            <a:ext cx="109728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333333"/>
                </a:solidFill>
                <a:latin typeface="맑은 고딕"/>
              </a:defRPr>
            </a:pPr>
            <a:r>
              <a:t>•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" y="2423160"/>
            <a:ext cx="24688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333333"/>
                </a:solidFill>
                <a:latin typeface="맑은 고딕"/>
              </a:defRPr>
            </a:pPr>
            <a:r>
              <a:t>JIT → JIC 전환 배경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2642615"/>
            <a:ext cx="109728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333333"/>
                </a:solidFill>
                <a:latin typeface="맑은 고딕"/>
              </a:defRPr>
            </a:pPr>
            <a:r>
              <a:t>•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51560" y="2642615"/>
            <a:ext cx="24688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333333"/>
                </a:solidFill>
                <a:latin typeface="맑은 고딕"/>
              </a:defRPr>
            </a:pPr>
            <a:r>
              <a:t>Kraljic Matrix 4사분면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2862072"/>
            <a:ext cx="109728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333333"/>
                </a:solidFill>
                <a:latin typeface="맑은 고딕"/>
              </a:defRPr>
            </a:pPr>
            <a:r>
              <a:t>•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51560" y="2862072"/>
            <a:ext cx="24688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333333"/>
                </a:solidFill>
                <a:latin typeface="맑은 고딕"/>
              </a:defRPr>
            </a:pPr>
            <a:r>
              <a:t>자재군별 차별화 전략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3081528"/>
            <a:ext cx="109728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333333"/>
                </a:solidFill>
                <a:latin typeface="맑은 고딕"/>
              </a:defRPr>
            </a:pPr>
            <a:r>
              <a:t>•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51560" y="3081528"/>
            <a:ext cx="24688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333333"/>
                </a:solidFill>
                <a:latin typeface="맑은 고딕"/>
              </a:defRPr>
            </a:pPr>
            <a:r>
              <a:t>5대 계획 방법론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14400" y="3300984"/>
            <a:ext cx="109728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333333"/>
                </a:solidFill>
                <a:latin typeface="맑은 고딕"/>
              </a:defRPr>
            </a:pPr>
            <a:r>
              <a:t>•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51560" y="3300984"/>
            <a:ext cx="24688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333333"/>
                </a:solidFill>
                <a:latin typeface="맑은 고딕"/>
              </a:defRPr>
            </a:pPr>
            <a:r>
              <a:t>통합 KPI 체계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703320" y="2011680"/>
            <a:ext cx="2743200" cy="320040"/>
          </a:xfrm>
          <a:prstGeom prst="rect">
            <a:avLst/>
          </a:prstGeom>
          <a:solidFill>
            <a:srgbClr val="333333"/>
          </a:solidFill>
          <a:ln w="1270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794759" y="2057400"/>
            <a:ext cx="25603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FFFFFF"/>
                </a:solidFill>
                <a:latin typeface="맑은 고딕"/>
              </a:defRPr>
            </a:pPr>
            <a:r>
              <a:t>주요 성과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794759" y="2423160"/>
            <a:ext cx="109728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333333"/>
                </a:solidFill>
                <a:latin typeface="맑은 고딕"/>
              </a:defRPr>
            </a:pPr>
            <a:r>
              <a:t>•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931920" y="2423160"/>
            <a:ext cx="24688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333333"/>
                </a:solidFill>
                <a:latin typeface="맑은 고딕"/>
              </a:defRPr>
            </a:pPr>
            <a:r>
              <a:t>자재 특성 이해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794759" y="2642615"/>
            <a:ext cx="109728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333333"/>
                </a:solidFill>
                <a:latin typeface="맑은 고딕"/>
              </a:defRPr>
            </a:pPr>
            <a:r>
              <a:t>•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931920" y="2642615"/>
            <a:ext cx="24688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333333"/>
                </a:solidFill>
                <a:latin typeface="맑은 고딕"/>
              </a:defRPr>
            </a:pPr>
            <a:r>
              <a:t>전략적 사고 강화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794759" y="2862072"/>
            <a:ext cx="109728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333333"/>
                </a:solidFill>
                <a:latin typeface="맑은 고딕"/>
              </a:defRPr>
            </a:pPr>
            <a:r>
              <a:t>•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931920" y="2862072"/>
            <a:ext cx="24688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333333"/>
                </a:solidFill>
                <a:latin typeface="맑은 고딕"/>
              </a:defRPr>
            </a:pPr>
            <a:r>
              <a:t>방법론 선택 역량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794759" y="3081528"/>
            <a:ext cx="109728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333333"/>
                </a:solidFill>
                <a:latin typeface="맑은 고딕"/>
              </a:defRPr>
            </a:pPr>
            <a:r>
              <a:t>•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931920" y="3081528"/>
            <a:ext cx="24688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333333"/>
                </a:solidFill>
                <a:latin typeface="맑은 고딕"/>
              </a:defRPr>
            </a:pPr>
            <a:r>
              <a:t>실무 적용 준비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794759" y="3300984"/>
            <a:ext cx="109728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333333"/>
                </a:solidFill>
                <a:latin typeface="맑은 고딕"/>
              </a:defRPr>
            </a:pPr>
            <a:r>
              <a:t>•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931920" y="3300984"/>
            <a:ext cx="24688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333333"/>
                </a:solidFill>
                <a:latin typeface="맑은 고딕"/>
              </a:defRPr>
            </a:pPr>
            <a:r>
              <a:t>워크샵 실습 완료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583680" y="2011680"/>
            <a:ext cx="2743200" cy="320040"/>
          </a:xfrm>
          <a:prstGeom prst="rect">
            <a:avLst/>
          </a:prstGeom>
          <a:solidFill>
            <a:srgbClr val="333333"/>
          </a:solidFill>
          <a:ln w="1270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675120" y="2057400"/>
            <a:ext cx="25603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FFFFFF"/>
                </a:solidFill>
                <a:latin typeface="맑은 고딕"/>
              </a:defRPr>
            </a:pPr>
            <a:r>
              <a:t>Next Steps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675120" y="2423160"/>
            <a:ext cx="109728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333333"/>
                </a:solidFill>
                <a:latin typeface="맑은 고딕"/>
              </a:defRPr>
            </a:pPr>
            <a:r>
              <a:t>•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812280" y="2423160"/>
            <a:ext cx="24688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333333"/>
                </a:solidFill>
                <a:latin typeface="맑은 고딕"/>
              </a:defRPr>
            </a:pPr>
            <a:r>
              <a:t>2회차: 소싱 전략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675120" y="2642615"/>
            <a:ext cx="109728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333333"/>
                </a:solidFill>
                <a:latin typeface="맑은 고딕"/>
              </a:defRPr>
            </a:pPr>
            <a:r>
              <a:t>•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812280" y="2642615"/>
            <a:ext cx="24688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333333"/>
                </a:solidFill>
                <a:latin typeface="맑은 고딕"/>
              </a:defRPr>
            </a:pPr>
            <a:r>
              <a:t>공급업체 평가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675120" y="2862072"/>
            <a:ext cx="109728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333333"/>
                </a:solidFill>
                <a:latin typeface="맑은 고딕"/>
              </a:defRPr>
            </a:pPr>
            <a:r>
              <a:t>•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812280" y="2862072"/>
            <a:ext cx="24688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333333"/>
                </a:solidFill>
                <a:latin typeface="맑은 고딕"/>
              </a:defRPr>
            </a:pPr>
            <a:r>
              <a:t>성과 관리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675120" y="3081528"/>
            <a:ext cx="109728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333333"/>
                </a:solidFill>
                <a:latin typeface="맑은 고딕"/>
              </a:defRPr>
            </a:pPr>
            <a:r>
              <a:t>•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812280" y="3081528"/>
            <a:ext cx="24688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333333"/>
                </a:solidFill>
                <a:latin typeface="맑은 고딕"/>
              </a:defRPr>
            </a:pPr>
            <a:r>
              <a:t>자사 데이터 준비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675120" y="3300984"/>
            <a:ext cx="109728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333333"/>
                </a:solidFill>
                <a:latin typeface="맑은 고딕"/>
              </a:defRPr>
            </a:pPr>
            <a:r>
              <a:t>•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812280" y="3300984"/>
            <a:ext cx="24688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333333"/>
                </a:solidFill>
                <a:latin typeface="맑은 고딕"/>
              </a:defRPr>
            </a:pPr>
            <a:r>
              <a:t>실전 적용 시작</a:t>
            </a:r>
          </a:p>
        </p:txBody>
      </p:sp>
      <p:sp>
        <p:nvSpPr>
          <p:cNvPr id="41" name="Rectangle 40"/>
          <p:cNvSpPr/>
          <p:nvPr/>
        </p:nvSpPr>
        <p:spPr>
          <a:xfrm>
            <a:off x="1371600" y="5486400"/>
            <a:ext cx="7132320" cy="548640"/>
          </a:xfrm>
          <a:prstGeom prst="rect">
            <a:avLst/>
          </a:prstGeom>
          <a:solidFill>
            <a:srgbClr val="666666"/>
          </a:solidFill>
          <a:ln w="2540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1463040" y="5623560"/>
            <a:ext cx="6949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맑은 고딕"/>
              </a:defRPr>
            </a:pPr>
            <a:r>
              <a:t>감사합니다! 2회차에서 만나요 👋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